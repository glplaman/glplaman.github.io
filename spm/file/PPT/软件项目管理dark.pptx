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ebp" ContentType="image/webp"/>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33.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36"/>
  </p:notesMasterIdLst>
  <p:sldIdLst>
    <p:sldId id="311" r:id="rId2"/>
    <p:sldId id="444" r:id="rId3"/>
    <p:sldId id="256" r:id="rId4"/>
    <p:sldId id="262" r:id="rId5"/>
    <p:sldId id="496" r:id="rId6"/>
    <p:sldId id="266" r:id="rId7"/>
    <p:sldId id="488" r:id="rId8"/>
    <p:sldId id="257" r:id="rId9"/>
    <p:sldId id="258" r:id="rId10"/>
    <p:sldId id="479" r:id="rId11"/>
    <p:sldId id="270" r:id="rId12"/>
    <p:sldId id="491" r:id="rId13"/>
    <p:sldId id="489" r:id="rId14"/>
    <p:sldId id="490" r:id="rId15"/>
    <p:sldId id="282" r:id="rId16"/>
    <p:sldId id="283" r:id="rId17"/>
    <p:sldId id="492" r:id="rId18"/>
    <p:sldId id="480" r:id="rId19"/>
    <p:sldId id="494" r:id="rId20"/>
    <p:sldId id="493" r:id="rId21"/>
    <p:sldId id="261" r:id="rId22"/>
    <p:sldId id="497" r:id="rId23"/>
    <p:sldId id="260" r:id="rId24"/>
    <p:sldId id="476" r:id="rId25"/>
    <p:sldId id="482" r:id="rId26"/>
    <p:sldId id="484" r:id="rId27"/>
    <p:sldId id="517" r:id="rId28"/>
    <p:sldId id="483" r:id="rId29"/>
    <p:sldId id="485" r:id="rId30"/>
    <p:sldId id="498" r:id="rId31"/>
    <p:sldId id="518" r:id="rId32"/>
    <p:sldId id="477" r:id="rId33"/>
    <p:sldId id="500" r:id="rId34"/>
    <p:sldId id="303" r:id="rId35"/>
    <p:sldId id="314" r:id="rId36"/>
    <p:sldId id="285" r:id="rId37"/>
    <p:sldId id="286" r:id="rId38"/>
    <p:sldId id="519" r:id="rId39"/>
    <p:sldId id="495" r:id="rId40"/>
    <p:sldId id="501" r:id="rId41"/>
    <p:sldId id="271" r:id="rId42"/>
    <p:sldId id="539" r:id="rId43"/>
    <p:sldId id="502" r:id="rId44"/>
    <p:sldId id="514" r:id="rId45"/>
    <p:sldId id="515" r:id="rId46"/>
    <p:sldId id="516" r:id="rId47"/>
    <p:sldId id="409" r:id="rId48"/>
    <p:sldId id="503" r:id="rId49"/>
    <p:sldId id="508" r:id="rId50"/>
    <p:sldId id="510" r:id="rId51"/>
    <p:sldId id="509" r:id="rId52"/>
    <p:sldId id="410" r:id="rId53"/>
    <p:sldId id="541" r:id="rId54"/>
    <p:sldId id="542" r:id="rId55"/>
    <p:sldId id="544" r:id="rId56"/>
    <p:sldId id="543" r:id="rId57"/>
    <p:sldId id="545" r:id="rId58"/>
    <p:sldId id="540" r:id="rId59"/>
    <p:sldId id="511" r:id="rId60"/>
    <p:sldId id="512" r:id="rId61"/>
    <p:sldId id="513" r:id="rId62"/>
    <p:sldId id="333" r:id="rId63"/>
    <p:sldId id="520" r:id="rId64"/>
    <p:sldId id="334" r:id="rId65"/>
    <p:sldId id="386" r:id="rId66"/>
    <p:sldId id="387" r:id="rId67"/>
    <p:sldId id="547" r:id="rId68"/>
    <p:sldId id="335" r:id="rId69"/>
    <p:sldId id="564" r:id="rId70"/>
    <p:sldId id="336" r:id="rId71"/>
    <p:sldId id="549" r:id="rId72"/>
    <p:sldId id="565" r:id="rId73"/>
    <p:sldId id="548" r:id="rId74"/>
    <p:sldId id="337" r:id="rId75"/>
    <p:sldId id="521" r:id="rId76"/>
    <p:sldId id="338" r:id="rId77"/>
    <p:sldId id="551" r:id="rId78"/>
    <p:sldId id="557" r:id="rId79"/>
    <p:sldId id="556" r:id="rId80"/>
    <p:sldId id="555" r:id="rId81"/>
    <p:sldId id="566" r:id="rId82"/>
    <p:sldId id="582" r:id="rId83"/>
    <p:sldId id="583" r:id="rId84"/>
    <p:sldId id="552" r:id="rId85"/>
    <p:sldId id="554" r:id="rId86"/>
    <p:sldId id="567" r:id="rId87"/>
    <p:sldId id="568" r:id="rId88"/>
    <p:sldId id="553" r:id="rId89"/>
    <p:sldId id="560" r:id="rId90"/>
    <p:sldId id="562" r:id="rId91"/>
    <p:sldId id="563" r:id="rId92"/>
    <p:sldId id="561" r:id="rId93"/>
    <p:sldId id="600" r:id="rId94"/>
    <p:sldId id="599" r:id="rId95"/>
    <p:sldId id="601" r:id="rId96"/>
    <p:sldId id="504" r:id="rId97"/>
    <p:sldId id="380" r:id="rId98"/>
    <p:sldId id="345" r:id="rId99"/>
    <p:sldId id="343" r:id="rId100"/>
    <p:sldId id="584" r:id="rId101"/>
    <p:sldId id="585" r:id="rId102"/>
    <p:sldId id="588" r:id="rId103"/>
    <p:sldId id="593" r:id="rId104"/>
    <p:sldId id="586" r:id="rId105"/>
    <p:sldId id="589" r:id="rId106"/>
    <p:sldId id="359" r:id="rId107"/>
    <p:sldId id="344" r:id="rId108"/>
    <p:sldId id="594" r:id="rId109"/>
    <p:sldId id="595" r:id="rId110"/>
    <p:sldId id="596" r:id="rId111"/>
    <p:sldId id="597" r:id="rId112"/>
    <p:sldId id="598" r:id="rId113"/>
    <p:sldId id="365" r:id="rId114"/>
    <p:sldId id="590" r:id="rId115"/>
    <p:sldId id="591" r:id="rId116"/>
    <p:sldId id="592" r:id="rId117"/>
    <p:sldId id="550" r:id="rId118"/>
    <p:sldId id="558" r:id="rId119"/>
    <p:sldId id="559" r:id="rId120"/>
    <p:sldId id="273" r:id="rId121"/>
    <p:sldId id="538" r:id="rId122"/>
    <p:sldId id="657" r:id="rId123"/>
    <p:sldId id="656" r:id="rId124"/>
    <p:sldId id="603" r:id="rId125"/>
    <p:sldId id="602" r:id="rId126"/>
    <p:sldId id="605" r:id="rId127"/>
    <p:sldId id="619" r:id="rId128"/>
    <p:sldId id="618" r:id="rId129"/>
    <p:sldId id="622" r:id="rId130"/>
    <p:sldId id="620" r:id="rId131"/>
    <p:sldId id="621" r:id="rId132"/>
    <p:sldId id="623" r:id="rId133"/>
    <p:sldId id="606" r:id="rId134"/>
    <p:sldId id="607" r:id="rId135"/>
    <p:sldId id="628" r:id="rId136"/>
    <p:sldId id="639" r:id="rId137"/>
    <p:sldId id="627" r:id="rId138"/>
    <p:sldId id="641" r:id="rId139"/>
    <p:sldId id="642" r:id="rId140"/>
    <p:sldId id="640" r:id="rId141"/>
    <p:sldId id="610" r:id="rId142"/>
    <p:sldId id="634" r:id="rId143"/>
    <p:sldId id="631" r:id="rId144"/>
    <p:sldId id="632" r:id="rId145"/>
    <p:sldId id="612" r:id="rId146"/>
    <p:sldId id="644" r:id="rId147"/>
    <p:sldId id="614" r:id="rId148"/>
    <p:sldId id="635" r:id="rId149"/>
    <p:sldId id="629" r:id="rId150"/>
    <p:sldId id="630" r:id="rId151"/>
    <p:sldId id="613" r:id="rId152"/>
    <p:sldId id="617" r:id="rId153"/>
    <p:sldId id="633" r:id="rId154"/>
    <p:sldId id="615" r:id="rId155"/>
    <p:sldId id="616" r:id="rId156"/>
    <p:sldId id="638" r:id="rId157"/>
    <p:sldId id="637" r:id="rId158"/>
    <p:sldId id="645" r:id="rId159"/>
    <p:sldId id="646" r:id="rId160"/>
    <p:sldId id="647" r:id="rId161"/>
    <p:sldId id="636" r:id="rId162"/>
    <p:sldId id="299" r:id="rId163"/>
    <p:sldId id="300" r:id="rId164"/>
    <p:sldId id="301" r:id="rId165"/>
    <p:sldId id="294" r:id="rId166"/>
    <p:sldId id="569" r:id="rId167"/>
    <p:sldId id="649" r:id="rId168"/>
    <p:sldId id="570" r:id="rId169"/>
    <p:sldId id="648" r:id="rId170"/>
    <p:sldId id="650" r:id="rId171"/>
    <p:sldId id="572" r:id="rId172"/>
    <p:sldId id="654" r:id="rId173"/>
    <p:sldId id="652" r:id="rId174"/>
    <p:sldId id="653" r:id="rId175"/>
    <p:sldId id="573" r:id="rId176"/>
    <p:sldId id="574" r:id="rId177"/>
    <p:sldId id="575" r:id="rId178"/>
    <p:sldId id="576" r:id="rId179"/>
    <p:sldId id="655" r:id="rId180"/>
    <p:sldId id="579" r:id="rId181"/>
    <p:sldId id="651" r:id="rId182"/>
    <p:sldId id="445" r:id="rId183"/>
    <p:sldId id="536" r:id="rId184"/>
    <p:sldId id="658" r:id="rId185"/>
    <p:sldId id="679" r:id="rId186"/>
    <p:sldId id="447" r:id="rId187"/>
    <p:sldId id="677" r:id="rId188"/>
    <p:sldId id="443" r:id="rId189"/>
    <p:sldId id="680" r:id="rId190"/>
    <p:sldId id="702" r:id="rId191"/>
    <p:sldId id="678" r:id="rId192"/>
    <p:sldId id="670" r:id="rId193"/>
    <p:sldId id="672" r:id="rId194"/>
    <p:sldId id="673" r:id="rId195"/>
    <p:sldId id="674" r:id="rId196"/>
    <p:sldId id="681" r:id="rId197"/>
    <p:sldId id="682" r:id="rId198"/>
    <p:sldId id="659" r:id="rId199"/>
    <p:sldId id="668" r:id="rId200"/>
    <p:sldId id="683" r:id="rId201"/>
    <p:sldId id="684" r:id="rId202"/>
    <p:sldId id="685" r:id="rId203"/>
    <p:sldId id="686" r:id="rId204"/>
    <p:sldId id="660" r:id="rId205"/>
    <p:sldId id="661" r:id="rId206"/>
    <p:sldId id="662" r:id="rId207"/>
    <p:sldId id="675" r:id="rId208"/>
    <p:sldId id="688" r:id="rId209"/>
    <p:sldId id="689" r:id="rId210"/>
    <p:sldId id="663" r:id="rId211"/>
    <p:sldId id="676" r:id="rId212"/>
    <p:sldId id="687" r:id="rId213"/>
    <p:sldId id="664" r:id="rId214"/>
    <p:sldId id="665" r:id="rId215"/>
    <p:sldId id="667" r:id="rId216"/>
    <p:sldId id="666" r:id="rId217"/>
    <p:sldId id="669" r:id="rId218"/>
    <p:sldId id="690" r:id="rId219"/>
    <p:sldId id="692" r:id="rId220"/>
    <p:sldId id="691" r:id="rId221"/>
    <p:sldId id="703" r:id="rId222"/>
    <p:sldId id="693" r:id="rId223"/>
    <p:sldId id="671" r:id="rId224"/>
    <p:sldId id="694" r:id="rId225"/>
    <p:sldId id="696" r:id="rId226"/>
    <p:sldId id="698" r:id="rId227"/>
    <p:sldId id="695" r:id="rId228"/>
    <p:sldId id="697" r:id="rId229"/>
    <p:sldId id="448" r:id="rId230"/>
    <p:sldId id="704" r:id="rId231"/>
    <p:sldId id="699" r:id="rId232"/>
    <p:sldId id="449" r:id="rId233"/>
    <p:sldId id="700" r:id="rId234"/>
    <p:sldId id="701" r:id="rId235"/>
    <p:sldId id="274" r:id="rId236"/>
    <p:sldId id="535" r:id="rId237"/>
    <p:sldId id="419" r:id="rId238"/>
    <p:sldId id="420" r:id="rId239"/>
    <p:sldId id="421" r:id="rId240"/>
    <p:sldId id="422" r:id="rId241"/>
    <p:sldId id="424" r:id="rId242"/>
    <p:sldId id="423" r:id="rId243"/>
    <p:sldId id="426" r:id="rId244"/>
    <p:sldId id="267" r:id="rId245"/>
    <p:sldId id="425" r:id="rId246"/>
    <p:sldId id="429" r:id="rId247"/>
    <p:sldId id="428" r:id="rId248"/>
    <p:sldId id="430" r:id="rId249"/>
    <p:sldId id="427" r:id="rId250"/>
    <p:sldId id="440" r:id="rId251"/>
    <p:sldId id="441" r:id="rId252"/>
    <p:sldId id="442" r:id="rId253"/>
    <p:sldId id="436" r:id="rId254"/>
    <p:sldId id="437" r:id="rId255"/>
    <p:sldId id="438" r:id="rId256"/>
    <p:sldId id="439" r:id="rId257"/>
    <p:sldId id="275" r:id="rId258"/>
    <p:sldId id="529" r:id="rId259"/>
    <p:sldId id="433" r:id="rId260"/>
    <p:sldId id="434" r:id="rId261"/>
    <p:sldId id="432" r:id="rId262"/>
    <p:sldId id="452" r:id="rId263"/>
    <p:sldId id="453" r:id="rId264"/>
    <p:sldId id="276" r:id="rId265"/>
    <p:sldId id="525" r:id="rId266"/>
    <p:sldId id="526" r:id="rId267"/>
    <p:sldId id="527" r:id="rId268"/>
    <p:sldId id="467" r:id="rId269"/>
    <p:sldId id="522" r:id="rId270"/>
    <p:sldId id="626" r:id="rId271"/>
    <p:sldId id="524" r:id="rId272"/>
    <p:sldId id="466" r:id="rId273"/>
    <p:sldId id="528" r:id="rId274"/>
    <p:sldId id="625" r:id="rId275"/>
    <p:sldId id="624" r:id="rId276"/>
    <p:sldId id="523" r:id="rId277"/>
    <p:sldId id="468" r:id="rId278"/>
    <p:sldId id="470" r:id="rId279"/>
    <p:sldId id="469" r:id="rId280"/>
    <p:sldId id="277" r:id="rId281"/>
    <p:sldId id="530" r:id="rId282"/>
    <p:sldId id="313" r:id="rId283"/>
    <p:sldId id="454" r:id="rId284"/>
    <p:sldId id="455" r:id="rId285"/>
    <p:sldId id="457" r:id="rId286"/>
    <p:sldId id="458" r:id="rId287"/>
    <p:sldId id="459" r:id="rId288"/>
    <p:sldId id="456" r:id="rId289"/>
    <p:sldId id="475" r:id="rId290"/>
    <p:sldId id="460" r:id="rId291"/>
    <p:sldId id="263" r:id="rId292"/>
    <p:sldId id="264" r:id="rId293"/>
    <p:sldId id="265" r:id="rId294"/>
    <p:sldId id="461" r:id="rId295"/>
    <p:sldId id="278" r:id="rId296"/>
    <p:sldId id="531" r:id="rId297"/>
    <p:sldId id="390" r:id="rId298"/>
    <p:sldId id="435" r:id="rId299"/>
    <p:sldId id="431" r:id="rId300"/>
    <p:sldId id="391" r:id="rId301"/>
    <p:sldId id="388" r:id="rId302"/>
    <p:sldId id="389" r:id="rId303"/>
    <p:sldId id="471" r:id="rId304"/>
    <p:sldId id="279" r:id="rId305"/>
    <p:sldId id="532" r:id="rId306"/>
    <p:sldId id="463" r:id="rId307"/>
    <p:sldId id="393" r:id="rId308"/>
    <p:sldId id="392" r:id="rId309"/>
    <p:sldId id="462" r:id="rId310"/>
    <p:sldId id="394" r:id="rId311"/>
    <p:sldId id="395" r:id="rId312"/>
    <p:sldId id="396" r:id="rId313"/>
    <p:sldId id="397" r:id="rId314"/>
    <p:sldId id="398" r:id="rId315"/>
    <p:sldId id="464" r:id="rId316"/>
    <p:sldId id="465" r:id="rId317"/>
    <p:sldId id="280" r:id="rId318"/>
    <p:sldId id="533" r:id="rId319"/>
    <p:sldId id="399" r:id="rId320"/>
    <p:sldId id="287" r:id="rId321"/>
    <p:sldId id="288" r:id="rId322"/>
    <p:sldId id="289" r:id="rId323"/>
    <p:sldId id="290" r:id="rId324"/>
    <p:sldId id="281" r:id="rId325"/>
    <p:sldId id="534" r:id="rId326"/>
    <p:sldId id="400" r:id="rId327"/>
    <p:sldId id="402" r:id="rId328"/>
    <p:sldId id="401" r:id="rId329"/>
    <p:sldId id="412" r:id="rId330"/>
    <p:sldId id="472" r:id="rId331"/>
    <p:sldId id="473" r:id="rId332"/>
    <p:sldId id="474" r:id="rId333"/>
    <p:sldId id="367" r:id="rId334"/>
    <p:sldId id="643" r:id="rId335"/>
  </p:sldIdLst>
  <p:sldSz cx="12192000" cy="6858000"/>
  <p:notesSz cx="6858000" cy="9144000"/>
  <p:embeddedFontLst>
    <p:embeddedFont>
      <p:font typeface="等线" panose="02010600030101010101" pitchFamily="2" charset="-122"/>
      <p:regular r:id="rId337"/>
      <p:bold r:id="rId338"/>
    </p:embeddedFont>
    <p:embeddedFont>
      <p:font typeface="微软雅黑 Light" panose="020B0502040204020203" pitchFamily="34" charset="-122"/>
      <p:regular r:id="rId339"/>
    </p:embeddedFont>
    <p:embeddedFont>
      <p:font typeface="Cambria Math" panose="02040503050406030204" pitchFamily="18" charset="0"/>
      <p:regular r:id="rId340"/>
    </p:embeddedFont>
    <p:embeddedFont>
      <p:font typeface="Montserrat" panose="00000500000000000000" pitchFamily="2" charset="0"/>
      <p:regular r:id="rId341"/>
    </p:embeddedFont>
    <p:embeddedFont>
      <p:font typeface="Roboto Mono" pitchFamily="2" charset="0"/>
      <p:regular r:id="rId342"/>
      <p:bold r:id="rId343"/>
    </p:embeddedFont>
    <p:embeddedFont>
      <p:font typeface="Roboto Mono Light" pitchFamily="2" charset="0"/>
      <p:regular r:id="rId344"/>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CCA94"/>
    <a:srgbClr val="001F3F"/>
    <a:srgbClr val="E05F73"/>
    <a:srgbClr val="E7886E"/>
    <a:srgbClr val="F6BA4F"/>
    <a:srgbClr val="6DB6E6"/>
    <a:srgbClr val="6D96E8"/>
    <a:srgbClr val="FFFFFF"/>
    <a:srgbClr val="5B9BD5"/>
    <a:srgbClr val="F4B18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92071" autoAdjust="0"/>
  </p:normalViewPr>
  <p:slideViewPr>
    <p:cSldViewPr snapToGrid="0">
      <p:cViewPr>
        <p:scale>
          <a:sx n="100" d="100"/>
          <a:sy n="100" d="100"/>
        </p:scale>
        <p:origin x="954" y="174"/>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viewProps" Target="viewProps.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font" Target="fonts/font1.fntdata"/><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tableStyles" Target="tableStyles.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17" Type="http://schemas.openxmlformats.org/officeDocument/2006/relationships/slide" Target="slides/slide316.xml"/><Relationship Id="rId338" Type="http://schemas.openxmlformats.org/officeDocument/2006/relationships/font" Target="fonts/font2.fntdata"/><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font" Target="fonts/font3.fntdata"/><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font" Target="fonts/font4.fntdata"/><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font" Target="fonts/font5.fntdata"/><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font" Target="fonts/font6.fntdata"/><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font" Target="fonts/font7.fntdata"/><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font" Target="fonts/font8.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presProps" Target="presProps.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notesMaster" Target="notesMasters/notesMaster1.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theme" Target="theme/theme1.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24037;&#20316;&#31807;1" TargetMode="External"/><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bg1"/>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solidFill>
            <a:schemeClr val="bg1"/>
          </a:solidFill>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spPr>
            <a:ln>
              <a:noFill/>
            </a:ln>
          </c:spPr>
          <c:dPt>
            <c:idx val="0"/>
            <c:bubble3D val="0"/>
            <c:spPr>
              <a:solidFill>
                <a:schemeClr val="accent1"/>
              </a:solidFill>
              <a:ln w="19050">
                <a:no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no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bg1"/>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bg1"/>
              </a:solidFill>
              <a:latin typeface="+mn-lt"/>
              <a:ea typeface="+mn-ea"/>
              <a:cs typeface="+mn-cs"/>
            </a:defRPr>
          </a:pPr>
          <a:endParaRPr lang="zh-CN"/>
        </a:p>
      </c:txPr>
    </c:title>
    <c:autoTitleDeleted val="0"/>
    <c:plotArea>
      <c:layout/>
      <c:lineChart>
        <c:grouping val="standard"/>
        <c:varyColors val="0"/>
        <c:ser>
          <c:idx val="0"/>
          <c:order val="0"/>
          <c:tx>
            <c:strRef>
              <c:f>Sheet1!$C$1</c:f>
              <c:strCache>
                <c:ptCount val="1"/>
                <c:pt idx="0">
                  <c:v>成本</c:v>
                </c:pt>
              </c:strCache>
            </c:strRef>
          </c:tx>
          <c:spPr>
            <a:ln w="28575" cap="rnd">
              <a:solidFill>
                <a:schemeClr val="accent2"/>
              </a:solidFill>
              <a:round/>
            </a:ln>
            <a:effectLst/>
          </c:spPr>
          <c:marker>
            <c:symbol val="triangle"/>
            <c:size val="10"/>
            <c:spPr>
              <a:solidFill>
                <a:srgbClr val="FFFF00"/>
              </a:solidFill>
              <a:ln w="9525">
                <a:noFill/>
              </a:ln>
              <a:effectLst/>
            </c:spPr>
          </c:marker>
          <c:dLbls>
            <c:spPr>
              <a:noFill/>
              <a:ln>
                <a:noFill/>
              </a:ln>
              <a:effectLst/>
            </c:spPr>
            <c:txPr>
              <a:bodyPr rot="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multiLvlStrRef>
              <c:f>Sheet1!$A$2:$B$9</c:f>
              <c:multiLvlStrCache>
                <c:ptCount val="8"/>
                <c:lvl>
                  <c:pt idx="0">
                    <c:v>规划</c:v>
                  </c:pt>
                  <c:pt idx="1">
                    <c:v>需求</c:v>
                  </c:pt>
                  <c:pt idx="2">
                    <c:v>概要设计</c:v>
                  </c:pt>
                  <c:pt idx="3">
                    <c:v>详细设计</c:v>
                  </c:pt>
                  <c:pt idx="4">
                    <c:v>开发 1</c:v>
                  </c:pt>
                  <c:pt idx="5">
                    <c:v>开发 2</c:v>
                  </c:pt>
                  <c:pt idx="6">
                    <c:v>测试</c:v>
                  </c:pt>
                  <c:pt idx="7">
                    <c:v>验收</c:v>
                  </c:pt>
                </c:lvl>
                <c:lvl>
                  <c:pt idx="0">
                    <c:v>1</c:v>
                  </c:pt>
                  <c:pt idx="1">
                    <c:v>2</c:v>
                  </c:pt>
                  <c:pt idx="2">
                    <c:v>3</c:v>
                  </c:pt>
                  <c:pt idx="3">
                    <c:v>4</c:v>
                  </c:pt>
                  <c:pt idx="4">
                    <c:v>5</c:v>
                  </c:pt>
                  <c:pt idx="5">
                    <c:v>6</c:v>
                  </c:pt>
                  <c:pt idx="6">
                    <c:v>7</c:v>
                  </c:pt>
                  <c:pt idx="7">
                    <c:v>8</c:v>
                  </c:pt>
                </c:lvl>
              </c:multiLvlStrCache>
            </c:multiLvlStrRef>
          </c:cat>
          <c:val>
            <c:numRef>
              <c:f>Sheet1!$C$2:$C$9</c:f>
              <c:numCache>
                <c:formatCode>General</c:formatCode>
                <c:ptCount val="8"/>
                <c:pt idx="0">
                  <c:v>1</c:v>
                </c:pt>
                <c:pt idx="1">
                  <c:v>3</c:v>
                </c:pt>
                <c:pt idx="2">
                  <c:v>4</c:v>
                </c:pt>
                <c:pt idx="3">
                  <c:v>5</c:v>
                </c:pt>
                <c:pt idx="4">
                  <c:v>8</c:v>
                </c:pt>
                <c:pt idx="5">
                  <c:v>12</c:v>
                </c:pt>
                <c:pt idx="6">
                  <c:v>14</c:v>
                </c:pt>
                <c:pt idx="7">
                  <c:v>16</c:v>
                </c:pt>
              </c:numCache>
            </c:numRef>
          </c:val>
          <c:smooth val="0"/>
          <c:extLst>
            <c:ext xmlns:c16="http://schemas.microsoft.com/office/drawing/2014/chart" uri="{C3380CC4-5D6E-409C-BE32-E72D297353CC}">
              <c16:uniqueId val="{00000000-F088-48C0-BA14-16B0612D3F89}"/>
            </c:ext>
          </c:extLst>
        </c:ser>
        <c:dLbls>
          <c:showLegendKey val="0"/>
          <c:showVal val="0"/>
          <c:showCatName val="0"/>
          <c:showSerName val="0"/>
          <c:showPercent val="0"/>
          <c:showBubbleSize val="0"/>
        </c:dLbls>
        <c:marker val="1"/>
        <c:smooth val="0"/>
        <c:axId val="1105525232"/>
        <c:axId val="1105522832"/>
      </c:lineChart>
      <c:catAx>
        <c:axId val="1105525232"/>
        <c:scaling>
          <c:orientation val="minMax"/>
        </c:scaling>
        <c:delete val="0"/>
        <c:axPos val="b"/>
        <c:numFmt formatCode="General" sourceLinked="1"/>
        <c:majorTickMark val="none"/>
        <c:minorTickMark val="none"/>
        <c:tickLblPos val="nextTo"/>
        <c:spPr>
          <a:noFill/>
          <a:ln w="9525" cap="flat" cmpd="sng" algn="ctr">
            <a:noFill/>
            <a:round/>
          </a:ln>
          <a:effectLst/>
        </c:spPr>
        <c:txPr>
          <a:bodyPr rot="0" spcFirstLastPara="1" vertOverflow="ellipsis" vert="wordArtVertRtl" wrap="square" anchor="ctr" anchorCtr="1"/>
          <a:lstStyle/>
          <a:p>
            <a:pPr>
              <a:defRPr sz="1400" b="0" i="0" u="none" strike="noStrike" kern="1200" baseline="0">
                <a:solidFill>
                  <a:schemeClr val="bg1"/>
                </a:solidFill>
                <a:latin typeface="+mn-lt"/>
                <a:ea typeface="+mn-ea"/>
                <a:cs typeface="+mn-cs"/>
              </a:defRPr>
            </a:pPr>
            <a:endParaRPr lang="zh-CN"/>
          </a:p>
        </c:txPr>
        <c:crossAx val="1105522832"/>
        <c:crosses val="autoZero"/>
        <c:auto val="1"/>
        <c:lblAlgn val="ctr"/>
        <c:lblOffset val="100"/>
        <c:noMultiLvlLbl val="0"/>
      </c:catAx>
      <c:valAx>
        <c:axId val="110552283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solidFill>
              <a:schemeClr val="bg1"/>
            </a:solidFill>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zh-CN"/>
          </a:p>
        </c:txPr>
        <c:crossAx val="110552523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solidFill>
            <a:schemeClr val="bg1"/>
          </a:solidFill>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dirty="0"/>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F3E9E37-291C-4D4C-B1BB-A8991B28623F}" type="doc">
      <dgm:prSet loTypeId="urn:microsoft.com/office/officeart/2005/8/layout/process1" loCatId="process" qsTypeId="urn:microsoft.com/office/officeart/2005/8/quickstyle/simple1" qsCatId="simple" csTypeId="urn:microsoft.com/office/officeart/2005/8/colors/colorful5" csCatId="colorful" phldr="1"/>
      <dgm:spPr/>
      <dgm:t>
        <a:bodyPr/>
        <a:lstStyle/>
        <a:p>
          <a:endParaRPr lang="zh-CN" altLang="en-US"/>
        </a:p>
      </dgm:t>
    </dgm:pt>
    <dgm:pt modelId="{45A063F2-3639-425E-9E76-0A5E0638B134}">
      <dgm:prSet phldrT="[文本]" custT="1"/>
      <dgm:spPr>
        <a:ln>
          <a:noFill/>
        </a:ln>
      </dgm:spPr>
      <dgm:t>
        <a:bodyPr/>
        <a:lstStyle/>
        <a:p>
          <a:r>
            <a:rPr lang="zh-CN" altLang="en-US" sz="1600"/>
            <a:t>作坊式</a:t>
          </a:r>
        </a:p>
      </dgm:t>
    </dgm:pt>
    <dgm:pt modelId="{313DD0CB-EC56-499E-8064-75FD083E95D8}" type="parTrans" cxnId="{22F300E6-47C9-4759-9B04-0B214AB22D7F}">
      <dgm:prSet/>
      <dgm:spPr/>
      <dgm:t>
        <a:bodyPr/>
        <a:lstStyle/>
        <a:p>
          <a:endParaRPr lang="zh-CN" altLang="en-US" sz="1600"/>
        </a:p>
      </dgm:t>
    </dgm:pt>
    <dgm:pt modelId="{C37A157C-E645-48D2-A14E-E0A7F5BD0D02}" type="sibTrans" cxnId="{22F300E6-47C9-4759-9B04-0B214AB22D7F}">
      <dgm:prSet custT="1"/>
      <dgm:spPr/>
      <dgm:t>
        <a:bodyPr/>
        <a:lstStyle/>
        <a:p>
          <a:endParaRPr lang="zh-CN" altLang="en-US" sz="1600"/>
        </a:p>
      </dgm:t>
    </dgm:pt>
    <dgm:pt modelId="{4BECE392-011A-4E54-9255-2119A8652C45}">
      <dgm:prSet phldrT="[文本]" custT="1"/>
      <dgm:spPr>
        <a:ln>
          <a:noFill/>
        </a:ln>
      </dgm:spPr>
      <dgm:t>
        <a:bodyPr/>
        <a:lstStyle/>
        <a:p>
          <a:r>
            <a:rPr lang="zh-CN" altLang="en-US" sz="1600"/>
            <a:t>瀑布模型</a:t>
          </a:r>
        </a:p>
      </dgm:t>
    </dgm:pt>
    <dgm:pt modelId="{9216F320-C87F-46B9-B813-632B6FC773C4}" type="parTrans" cxnId="{89955FDC-2BDE-458C-A621-AB8AC381CC07}">
      <dgm:prSet/>
      <dgm:spPr/>
      <dgm:t>
        <a:bodyPr/>
        <a:lstStyle/>
        <a:p>
          <a:endParaRPr lang="zh-CN" altLang="en-US" sz="1600"/>
        </a:p>
      </dgm:t>
    </dgm:pt>
    <dgm:pt modelId="{7D234A58-58CC-4598-AF90-1578FC7C7407}" type="sibTrans" cxnId="{89955FDC-2BDE-458C-A621-AB8AC381CC07}">
      <dgm:prSet custT="1"/>
      <dgm:spPr/>
      <dgm:t>
        <a:bodyPr/>
        <a:lstStyle/>
        <a:p>
          <a:endParaRPr lang="zh-CN" altLang="en-US" sz="1600"/>
        </a:p>
      </dgm:t>
    </dgm:pt>
    <dgm:pt modelId="{77AF46B1-89A3-4856-B3F5-176392745D13}">
      <dgm:prSet phldrT="[文本]" custT="1"/>
      <dgm:spPr>
        <a:ln>
          <a:noFill/>
        </a:ln>
      </dgm:spPr>
      <dgm:t>
        <a:bodyPr/>
        <a:lstStyle/>
        <a:p>
          <a:r>
            <a:rPr lang="zh-CN" altLang="en-US" sz="1600"/>
            <a:t>敏捷模型</a:t>
          </a:r>
        </a:p>
      </dgm:t>
    </dgm:pt>
    <dgm:pt modelId="{D5533124-AFBF-4271-B8E5-CB5150CAFA1B}" type="parTrans" cxnId="{4AEC1405-13D7-48D3-AB56-CE9A13880D5A}">
      <dgm:prSet/>
      <dgm:spPr/>
      <dgm:t>
        <a:bodyPr/>
        <a:lstStyle/>
        <a:p>
          <a:endParaRPr lang="zh-CN" altLang="en-US" sz="1600"/>
        </a:p>
      </dgm:t>
    </dgm:pt>
    <dgm:pt modelId="{3CE9A17E-FDF4-4977-981A-D06CBB8B520E}" type="sibTrans" cxnId="{4AEC1405-13D7-48D3-AB56-CE9A13880D5A}">
      <dgm:prSet custT="1"/>
      <dgm:spPr/>
      <dgm:t>
        <a:bodyPr/>
        <a:lstStyle/>
        <a:p>
          <a:endParaRPr lang="zh-CN" altLang="en-US" sz="1600"/>
        </a:p>
      </dgm:t>
    </dgm:pt>
    <dgm:pt modelId="{37BC4C1E-8FE2-4DAE-803A-8CC31439CC38}">
      <dgm:prSet phldrT="[文本]" custT="1"/>
      <dgm:spPr>
        <a:ln>
          <a:noFill/>
        </a:ln>
      </dgm:spPr>
      <dgm:t>
        <a:bodyPr/>
        <a:lstStyle/>
        <a:p>
          <a:r>
            <a:rPr lang="en-US" altLang="zh-CN" sz="1600"/>
            <a:t>DevOps</a:t>
          </a:r>
          <a:endParaRPr lang="zh-CN" altLang="en-US" sz="1600"/>
        </a:p>
      </dgm:t>
    </dgm:pt>
    <dgm:pt modelId="{A80DE59C-E769-4C9F-B960-9632E0CD5384}" type="parTrans" cxnId="{3AA0F50C-1D84-4B55-AFDE-BB9FA0B3B5B9}">
      <dgm:prSet/>
      <dgm:spPr/>
      <dgm:t>
        <a:bodyPr/>
        <a:lstStyle/>
        <a:p>
          <a:endParaRPr lang="zh-CN" altLang="en-US" sz="1600"/>
        </a:p>
      </dgm:t>
    </dgm:pt>
    <dgm:pt modelId="{AF7ED507-8DC7-480D-9897-17D7CEA0B618}" type="sibTrans" cxnId="{3AA0F50C-1D84-4B55-AFDE-BB9FA0B3B5B9}">
      <dgm:prSet custT="1"/>
      <dgm:spPr/>
      <dgm:t>
        <a:bodyPr/>
        <a:lstStyle/>
        <a:p>
          <a:endParaRPr lang="zh-CN" altLang="en-US" sz="1600"/>
        </a:p>
      </dgm:t>
    </dgm:pt>
    <dgm:pt modelId="{4AA724EC-B299-45CD-A65E-BF3638111A84}">
      <dgm:prSet phldrT="[文本]" custT="1"/>
      <dgm:spPr>
        <a:ln>
          <a:noFill/>
        </a:ln>
      </dgm:spPr>
      <dgm:t>
        <a:bodyPr/>
        <a:lstStyle/>
        <a:p>
          <a:r>
            <a:rPr lang="en-US" altLang="zh-CN" sz="1600"/>
            <a:t>AI</a:t>
          </a:r>
          <a:r>
            <a:rPr lang="zh-CN" altLang="en-US" sz="1600"/>
            <a:t>驱动模型</a:t>
          </a:r>
        </a:p>
      </dgm:t>
    </dgm:pt>
    <dgm:pt modelId="{AB224C86-DE0E-4404-8A83-10EF4057E7FF}" type="parTrans" cxnId="{6DFD2BF1-F917-44F6-BDD8-A95DABAC5EA1}">
      <dgm:prSet/>
      <dgm:spPr/>
      <dgm:t>
        <a:bodyPr/>
        <a:lstStyle/>
        <a:p>
          <a:endParaRPr lang="zh-CN" altLang="en-US" sz="1600"/>
        </a:p>
      </dgm:t>
    </dgm:pt>
    <dgm:pt modelId="{55C33A74-8BB2-4A89-807C-51133EDFD67C}" type="sibTrans" cxnId="{6DFD2BF1-F917-44F6-BDD8-A95DABAC5EA1}">
      <dgm:prSet/>
      <dgm:spPr/>
      <dgm:t>
        <a:bodyPr/>
        <a:lstStyle/>
        <a:p>
          <a:endParaRPr lang="zh-CN" altLang="en-US" sz="1600"/>
        </a:p>
      </dgm:t>
    </dgm:pt>
    <dgm:pt modelId="{E715C269-7822-4E76-AC93-6F2E0DED81D0}" type="pres">
      <dgm:prSet presAssocID="{9F3E9E37-291C-4D4C-B1BB-A8991B28623F}" presName="Name0" presStyleCnt="0">
        <dgm:presLayoutVars>
          <dgm:dir/>
          <dgm:resizeHandles val="exact"/>
        </dgm:presLayoutVars>
      </dgm:prSet>
      <dgm:spPr/>
    </dgm:pt>
    <dgm:pt modelId="{D1ADF158-A952-4B9F-88F4-275DFAB1FA29}" type="pres">
      <dgm:prSet presAssocID="{45A063F2-3639-425E-9E76-0A5E0638B134}" presName="node" presStyleLbl="node1" presStyleIdx="0" presStyleCnt="5">
        <dgm:presLayoutVars>
          <dgm:bulletEnabled val="1"/>
        </dgm:presLayoutVars>
      </dgm:prSet>
      <dgm:spPr/>
    </dgm:pt>
    <dgm:pt modelId="{0C32FBFE-10C4-4FF3-A267-AFC801A00F14}" type="pres">
      <dgm:prSet presAssocID="{C37A157C-E645-48D2-A14E-E0A7F5BD0D02}" presName="sibTrans" presStyleLbl="sibTrans2D1" presStyleIdx="0" presStyleCnt="4"/>
      <dgm:spPr/>
    </dgm:pt>
    <dgm:pt modelId="{ACAA2BFE-75BC-444B-A601-3BE24D264BE2}" type="pres">
      <dgm:prSet presAssocID="{C37A157C-E645-48D2-A14E-E0A7F5BD0D02}" presName="connectorText" presStyleLbl="sibTrans2D1" presStyleIdx="0" presStyleCnt="4"/>
      <dgm:spPr/>
    </dgm:pt>
    <dgm:pt modelId="{29D3DA87-0011-4A76-A65D-494B23BD45F4}" type="pres">
      <dgm:prSet presAssocID="{4BECE392-011A-4E54-9255-2119A8652C45}" presName="node" presStyleLbl="node1" presStyleIdx="1" presStyleCnt="5">
        <dgm:presLayoutVars>
          <dgm:bulletEnabled val="1"/>
        </dgm:presLayoutVars>
      </dgm:prSet>
      <dgm:spPr/>
    </dgm:pt>
    <dgm:pt modelId="{78B75696-CB8E-4C49-ABC6-35FEF9623411}" type="pres">
      <dgm:prSet presAssocID="{7D234A58-58CC-4598-AF90-1578FC7C7407}" presName="sibTrans" presStyleLbl="sibTrans2D1" presStyleIdx="1" presStyleCnt="4"/>
      <dgm:spPr/>
    </dgm:pt>
    <dgm:pt modelId="{B425A1D9-910B-4763-A55A-CDE2A87781CF}" type="pres">
      <dgm:prSet presAssocID="{7D234A58-58CC-4598-AF90-1578FC7C7407}" presName="connectorText" presStyleLbl="sibTrans2D1" presStyleIdx="1" presStyleCnt="4"/>
      <dgm:spPr/>
    </dgm:pt>
    <dgm:pt modelId="{E34925CE-CD92-45F4-9B3C-C0882D6C98D0}" type="pres">
      <dgm:prSet presAssocID="{77AF46B1-89A3-4856-B3F5-176392745D13}" presName="node" presStyleLbl="node1" presStyleIdx="2" presStyleCnt="5">
        <dgm:presLayoutVars>
          <dgm:bulletEnabled val="1"/>
        </dgm:presLayoutVars>
      </dgm:prSet>
      <dgm:spPr/>
    </dgm:pt>
    <dgm:pt modelId="{0DDC3F8B-CF94-4636-AE2B-718D5DBA7077}" type="pres">
      <dgm:prSet presAssocID="{3CE9A17E-FDF4-4977-981A-D06CBB8B520E}" presName="sibTrans" presStyleLbl="sibTrans2D1" presStyleIdx="2" presStyleCnt="4"/>
      <dgm:spPr/>
    </dgm:pt>
    <dgm:pt modelId="{8E8E6DF6-8F95-4917-9E95-AAC934755CDB}" type="pres">
      <dgm:prSet presAssocID="{3CE9A17E-FDF4-4977-981A-D06CBB8B520E}" presName="connectorText" presStyleLbl="sibTrans2D1" presStyleIdx="2" presStyleCnt="4"/>
      <dgm:spPr/>
    </dgm:pt>
    <dgm:pt modelId="{0A97E01C-1896-44B0-9620-B2654069C781}" type="pres">
      <dgm:prSet presAssocID="{37BC4C1E-8FE2-4DAE-803A-8CC31439CC38}" presName="node" presStyleLbl="node1" presStyleIdx="3" presStyleCnt="5">
        <dgm:presLayoutVars>
          <dgm:bulletEnabled val="1"/>
        </dgm:presLayoutVars>
      </dgm:prSet>
      <dgm:spPr/>
    </dgm:pt>
    <dgm:pt modelId="{41ECFA7A-E58A-431E-B695-C2E027DF06D5}" type="pres">
      <dgm:prSet presAssocID="{AF7ED507-8DC7-480D-9897-17D7CEA0B618}" presName="sibTrans" presStyleLbl="sibTrans2D1" presStyleIdx="3" presStyleCnt="4"/>
      <dgm:spPr/>
    </dgm:pt>
    <dgm:pt modelId="{A8EB0445-861C-4718-AD7A-17989C4E7BBC}" type="pres">
      <dgm:prSet presAssocID="{AF7ED507-8DC7-480D-9897-17D7CEA0B618}" presName="connectorText" presStyleLbl="sibTrans2D1" presStyleIdx="3" presStyleCnt="4"/>
      <dgm:spPr/>
    </dgm:pt>
    <dgm:pt modelId="{3774C801-6DD1-4DCA-AEC0-FF5F277F7766}" type="pres">
      <dgm:prSet presAssocID="{4AA724EC-B299-45CD-A65E-BF3638111A84}" presName="node" presStyleLbl="node1" presStyleIdx="4" presStyleCnt="5">
        <dgm:presLayoutVars>
          <dgm:bulletEnabled val="1"/>
        </dgm:presLayoutVars>
      </dgm:prSet>
      <dgm:spPr/>
    </dgm:pt>
  </dgm:ptLst>
  <dgm:cxnLst>
    <dgm:cxn modelId="{4AEC1405-13D7-48D3-AB56-CE9A13880D5A}" srcId="{9F3E9E37-291C-4D4C-B1BB-A8991B28623F}" destId="{77AF46B1-89A3-4856-B3F5-176392745D13}" srcOrd="2" destOrd="0" parTransId="{D5533124-AFBF-4271-B8E5-CB5150CAFA1B}" sibTransId="{3CE9A17E-FDF4-4977-981A-D06CBB8B520E}"/>
    <dgm:cxn modelId="{3AA0F50C-1D84-4B55-AFDE-BB9FA0B3B5B9}" srcId="{9F3E9E37-291C-4D4C-B1BB-A8991B28623F}" destId="{37BC4C1E-8FE2-4DAE-803A-8CC31439CC38}" srcOrd="3" destOrd="0" parTransId="{A80DE59C-E769-4C9F-B960-9632E0CD5384}" sibTransId="{AF7ED507-8DC7-480D-9897-17D7CEA0B618}"/>
    <dgm:cxn modelId="{40B0F333-813E-462A-AA16-9E09B928F614}" type="presOf" srcId="{C37A157C-E645-48D2-A14E-E0A7F5BD0D02}" destId="{0C32FBFE-10C4-4FF3-A267-AFC801A00F14}" srcOrd="0" destOrd="0" presId="urn:microsoft.com/office/officeart/2005/8/layout/process1"/>
    <dgm:cxn modelId="{C208E63E-4739-40D3-A453-9E4328844EE8}" type="presOf" srcId="{7D234A58-58CC-4598-AF90-1578FC7C7407}" destId="{B425A1D9-910B-4763-A55A-CDE2A87781CF}" srcOrd="1" destOrd="0" presId="urn:microsoft.com/office/officeart/2005/8/layout/process1"/>
    <dgm:cxn modelId="{90DBA340-42C4-4DF0-9F76-B0D2594DCB93}" type="presOf" srcId="{AF7ED507-8DC7-480D-9897-17D7CEA0B618}" destId="{A8EB0445-861C-4718-AD7A-17989C4E7BBC}" srcOrd="1" destOrd="0" presId="urn:microsoft.com/office/officeart/2005/8/layout/process1"/>
    <dgm:cxn modelId="{8D1FB15C-D01B-435E-8604-3F7891850EA9}" type="presOf" srcId="{9F3E9E37-291C-4D4C-B1BB-A8991B28623F}" destId="{E715C269-7822-4E76-AC93-6F2E0DED81D0}" srcOrd="0" destOrd="0" presId="urn:microsoft.com/office/officeart/2005/8/layout/process1"/>
    <dgm:cxn modelId="{8383C770-7469-40A0-82F5-5F7E710AC8E9}" type="presOf" srcId="{4AA724EC-B299-45CD-A65E-BF3638111A84}" destId="{3774C801-6DD1-4DCA-AEC0-FF5F277F7766}" srcOrd="0" destOrd="0" presId="urn:microsoft.com/office/officeart/2005/8/layout/process1"/>
    <dgm:cxn modelId="{FE6C128C-538E-4D75-BC32-88C4209FAB07}" type="presOf" srcId="{77AF46B1-89A3-4856-B3F5-176392745D13}" destId="{E34925CE-CD92-45F4-9B3C-C0882D6C98D0}" srcOrd="0" destOrd="0" presId="urn:microsoft.com/office/officeart/2005/8/layout/process1"/>
    <dgm:cxn modelId="{2137A3A1-1802-40E7-B425-061ECD632D72}" type="presOf" srcId="{C37A157C-E645-48D2-A14E-E0A7F5BD0D02}" destId="{ACAA2BFE-75BC-444B-A601-3BE24D264BE2}" srcOrd="1" destOrd="0" presId="urn:microsoft.com/office/officeart/2005/8/layout/process1"/>
    <dgm:cxn modelId="{690A2DB3-1F1C-4DF0-9F93-763512744B93}" type="presOf" srcId="{3CE9A17E-FDF4-4977-981A-D06CBB8B520E}" destId="{8E8E6DF6-8F95-4917-9E95-AAC934755CDB}" srcOrd="1" destOrd="0" presId="urn:microsoft.com/office/officeart/2005/8/layout/process1"/>
    <dgm:cxn modelId="{CE3ABEBF-E9B5-4ADD-99B0-482DFE756795}" type="presOf" srcId="{3CE9A17E-FDF4-4977-981A-D06CBB8B520E}" destId="{0DDC3F8B-CF94-4636-AE2B-718D5DBA7077}" srcOrd="0" destOrd="0" presId="urn:microsoft.com/office/officeart/2005/8/layout/process1"/>
    <dgm:cxn modelId="{F021DFC7-8ECD-468B-9C9A-4CA635E19027}" type="presOf" srcId="{37BC4C1E-8FE2-4DAE-803A-8CC31439CC38}" destId="{0A97E01C-1896-44B0-9620-B2654069C781}" srcOrd="0" destOrd="0" presId="urn:microsoft.com/office/officeart/2005/8/layout/process1"/>
    <dgm:cxn modelId="{B6C798D4-A886-4747-A589-40AEB52C6934}" type="presOf" srcId="{7D234A58-58CC-4598-AF90-1578FC7C7407}" destId="{78B75696-CB8E-4C49-ABC6-35FEF9623411}" srcOrd="0" destOrd="0" presId="urn:microsoft.com/office/officeart/2005/8/layout/process1"/>
    <dgm:cxn modelId="{D03CB7D7-EBC3-4F50-8FDE-70F5BD0E22C6}" type="presOf" srcId="{AF7ED507-8DC7-480D-9897-17D7CEA0B618}" destId="{41ECFA7A-E58A-431E-B695-C2E027DF06D5}" srcOrd="0" destOrd="0" presId="urn:microsoft.com/office/officeart/2005/8/layout/process1"/>
    <dgm:cxn modelId="{89955FDC-2BDE-458C-A621-AB8AC381CC07}" srcId="{9F3E9E37-291C-4D4C-B1BB-A8991B28623F}" destId="{4BECE392-011A-4E54-9255-2119A8652C45}" srcOrd="1" destOrd="0" parTransId="{9216F320-C87F-46B9-B813-632B6FC773C4}" sibTransId="{7D234A58-58CC-4598-AF90-1578FC7C7407}"/>
    <dgm:cxn modelId="{F9647ADC-C538-4B12-BFAD-19B4DF00DD36}" type="presOf" srcId="{45A063F2-3639-425E-9E76-0A5E0638B134}" destId="{D1ADF158-A952-4B9F-88F4-275DFAB1FA29}" srcOrd="0" destOrd="0" presId="urn:microsoft.com/office/officeart/2005/8/layout/process1"/>
    <dgm:cxn modelId="{22F300E6-47C9-4759-9B04-0B214AB22D7F}" srcId="{9F3E9E37-291C-4D4C-B1BB-A8991B28623F}" destId="{45A063F2-3639-425E-9E76-0A5E0638B134}" srcOrd="0" destOrd="0" parTransId="{313DD0CB-EC56-499E-8064-75FD083E95D8}" sibTransId="{C37A157C-E645-48D2-A14E-E0A7F5BD0D02}"/>
    <dgm:cxn modelId="{AA0F85E8-9779-49FD-B1D8-2AAF107DEB84}" type="presOf" srcId="{4BECE392-011A-4E54-9255-2119A8652C45}" destId="{29D3DA87-0011-4A76-A65D-494B23BD45F4}" srcOrd="0" destOrd="0" presId="urn:microsoft.com/office/officeart/2005/8/layout/process1"/>
    <dgm:cxn modelId="{6DFD2BF1-F917-44F6-BDD8-A95DABAC5EA1}" srcId="{9F3E9E37-291C-4D4C-B1BB-A8991B28623F}" destId="{4AA724EC-B299-45CD-A65E-BF3638111A84}" srcOrd="4" destOrd="0" parTransId="{AB224C86-DE0E-4404-8A83-10EF4057E7FF}" sibTransId="{55C33A74-8BB2-4A89-807C-51133EDFD67C}"/>
    <dgm:cxn modelId="{66975801-1CC9-40BD-8762-ACCB9E6DB55A}" type="presParOf" srcId="{E715C269-7822-4E76-AC93-6F2E0DED81D0}" destId="{D1ADF158-A952-4B9F-88F4-275DFAB1FA29}" srcOrd="0" destOrd="0" presId="urn:microsoft.com/office/officeart/2005/8/layout/process1"/>
    <dgm:cxn modelId="{D9A1C992-6302-4DFD-86E9-B7EBF5B5F9EA}" type="presParOf" srcId="{E715C269-7822-4E76-AC93-6F2E0DED81D0}" destId="{0C32FBFE-10C4-4FF3-A267-AFC801A00F14}" srcOrd="1" destOrd="0" presId="urn:microsoft.com/office/officeart/2005/8/layout/process1"/>
    <dgm:cxn modelId="{FC07D2F9-E07C-49D3-AE67-32231979AB85}" type="presParOf" srcId="{0C32FBFE-10C4-4FF3-A267-AFC801A00F14}" destId="{ACAA2BFE-75BC-444B-A601-3BE24D264BE2}" srcOrd="0" destOrd="0" presId="urn:microsoft.com/office/officeart/2005/8/layout/process1"/>
    <dgm:cxn modelId="{2F780AE9-9D62-4B3E-8D5C-E3AA09C46689}" type="presParOf" srcId="{E715C269-7822-4E76-AC93-6F2E0DED81D0}" destId="{29D3DA87-0011-4A76-A65D-494B23BD45F4}" srcOrd="2" destOrd="0" presId="urn:microsoft.com/office/officeart/2005/8/layout/process1"/>
    <dgm:cxn modelId="{EBC2D4A1-FB9E-4A9E-B458-C980A5381F6D}" type="presParOf" srcId="{E715C269-7822-4E76-AC93-6F2E0DED81D0}" destId="{78B75696-CB8E-4C49-ABC6-35FEF9623411}" srcOrd="3" destOrd="0" presId="urn:microsoft.com/office/officeart/2005/8/layout/process1"/>
    <dgm:cxn modelId="{57238E67-65F9-4991-BD8A-CF2C79E309A6}" type="presParOf" srcId="{78B75696-CB8E-4C49-ABC6-35FEF9623411}" destId="{B425A1D9-910B-4763-A55A-CDE2A87781CF}" srcOrd="0" destOrd="0" presId="urn:microsoft.com/office/officeart/2005/8/layout/process1"/>
    <dgm:cxn modelId="{16258512-A6C3-495B-801A-4B5307AB470A}" type="presParOf" srcId="{E715C269-7822-4E76-AC93-6F2E0DED81D0}" destId="{E34925CE-CD92-45F4-9B3C-C0882D6C98D0}" srcOrd="4" destOrd="0" presId="urn:microsoft.com/office/officeart/2005/8/layout/process1"/>
    <dgm:cxn modelId="{DB1D14EE-DEDD-41A2-88E6-9B9BF56E17C3}" type="presParOf" srcId="{E715C269-7822-4E76-AC93-6F2E0DED81D0}" destId="{0DDC3F8B-CF94-4636-AE2B-718D5DBA7077}" srcOrd="5" destOrd="0" presId="urn:microsoft.com/office/officeart/2005/8/layout/process1"/>
    <dgm:cxn modelId="{7C8B965D-AF4B-41C2-8520-9A5D4B9D9598}" type="presParOf" srcId="{0DDC3F8B-CF94-4636-AE2B-718D5DBA7077}" destId="{8E8E6DF6-8F95-4917-9E95-AAC934755CDB}" srcOrd="0" destOrd="0" presId="urn:microsoft.com/office/officeart/2005/8/layout/process1"/>
    <dgm:cxn modelId="{A61241A2-D8D5-437F-B241-AF902E640AAD}" type="presParOf" srcId="{E715C269-7822-4E76-AC93-6F2E0DED81D0}" destId="{0A97E01C-1896-44B0-9620-B2654069C781}" srcOrd="6" destOrd="0" presId="urn:microsoft.com/office/officeart/2005/8/layout/process1"/>
    <dgm:cxn modelId="{E2626D3B-38FD-443B-928A-9E17AB3F6244}" type="presParOf" srcId="{E715C269-7822-4E76-AC93-6F2E0DED81D0}" destId="{41ECFA7A-E58A-431E-B695-C2E027DF06D5}" srcOrd="7" destOrd="0" presId="urn:microsoft.com/office/officeart/2005/8/layout/process1"/>
    <dgm:cxn modelId="{80C9BD48-7B61-452C-B08A-9FB89E7A2362}" type="presParOf" srcId="{41ECFA7A-E58A-431E-B695-C2E027DF06D5}" destId="{A8EB0445-861C-4718-AD7A-17989C4E7BBC}" srcOrd="0" destOrd="0" presId="urn:microsoft.com/office/officeart/2005/8/layout/process1"/>
    <dgm:cxn modelId="{0252ED1A-9215-4A46-9E2C-08C7985CBEEF}" type="presParOf" srcId="{E715C269-7822-4E76-AC93-6F2E0DED81D0}" destId="{3774C801-6DD1-4DCA-AEC0-FF5F277F7766}" srcOrd="8"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6DC7F6-74F3-4371-9E1A-B757AC8F79E1}" type="doc">
      <dgm:prSet loTypeId="urn:microsoft.com/office/officeart/2005/8/layout/venn1" loCatId="relationship" qsTypeId="urn:microsoft.com/office/officeart/2005/8/quickstyle/simple1" qsCatId="simple" csTypeId="urn:microsoft.com/office/officeart/2005/8/colors/colorful5" csCatId="colorful" phldr="1"/>
      <dgm:spPr/>
      <dgm:t>
        <a:bodyPr/>
        <a:lstStyle/>
        <a:p>
          <a:endParaRPr lang="zh-CN" altLang="en-US"/>
        </a:p>
      </dgm:t>
    </dgm:pt>
    <dgm:pt modelId="{B4E00CB3-00EA-4088-9FEB-F965E78BEB3C}">
      <dgm:prSet phldrT="[文本]" phldr="0" custT="1"/>
      <dgm:spPr>
        <a:solidFill>
          <a:schemeClr val="accent2">
            <a:alpha val="50000"/>
          </a:schemeClr>
        </a:solidFill>
      </dgm:spPr>
      <dgm:t>
        <a:bodyPr/>
        <a:lstStyle/>
        <a:p>
          <a:r>
            <a:rPr lang="zh-CN" altLang="en-US" sz="1800">
              <a:solidFill>
                <a:schemeClr val="bg1"/>
              </a:solidFill>
            </a:rPr>
            <a:t>快速反馈</a:t>
          </a:r>
        </a:p>
      </dgm:t>
    </dgm:pt>
    <dgm:pt modelId="{16FB5CC1-86A9-4E44-85C9-ADB3A968274C}" type="parTrans" cxnId="{EB3F0510-2310-4A41-8771-4D3DCB9A265C}">
      <dgm:prSet/>
      <dgm:spPr/>
      <dgm:t>
        <a:bodyPr/>
        <a:lstStyle/>
        <a:p>
          <a:endParaRPr lang="zh-CN" altLang="en-US" sz="1800"/>
        </a:p>
      </dgm:t>
    </dgm:pt>
    <dgm:pt modelId="{2DE1E5AE-488F-4651-BDBE-7A3FE2ADF3E6}" type="sibTrans" cxnId="{EB3F0510-2310-4A41-8771-4D3DCB9A265C}">
      <dgm:prSet/>
      <dgm:spPr/>
      <dgm:t>
        <a:bodyPr/>
        <a:lstStyle/>
        <a:p>
          <a:endParaRPr lang="zh-CN" altLang="en-US" sz="1800"/>
        </a:p>
      </dgm:t>
    </dgm:pt>
    <dgm:pt modelId="{BCA2FFA4-82D9-4BCF-BE45-3244B738E58C}">
      <dgm:prSet phldrT="[文本]" phldr="0" custT="1"/>
      <dgm:spPr>
        <a:solidFill>
          <a:schemeClr val="accent5">
            <a:alpha val="50000"/>
          </a:schemeClr>
        </a:solidFill>
      </dgm:spPr>
      <dgm:t>
        <a:bodyPr/>
        <a:lstStyle/>
        <a:p>
          <a:r>
            <a:rPr lang="zh-CN" altLang="en-US" sz="1800">
              <a:solidFill>
                <a:schemeClr val="bg1"/>
              </a:solidFill>
            </a:rPr>
            <a:t>假设简单</a:t>
          </a:r>
        </a:p>
      </dgm:t>
    </dgm:pt>
    <dgm:pt modelId="{3BFB141F-9E2E-436A-ADD2-5D8F35F32869}" type="parTrans" cxnId="{2BF65046-37D5-4E8D-AE83-B39FFC2261E1}">
      <dgm:prSet/>
      <dgm:spPr/>
      <dgm:t>
        <a:bodyPr/>
        <a:lstStyle/>
        <a:p>
          <a:endParaRPr lang="zh-CN" altLang="en-US" sz="1800"/>
        </a:p>
      </dgm:t>
    </dgm:pt>
    <dgm:pt modelId="{AAC08AFC-B389-4BF3-BD09-306CE29D7288}" type="sibTrans" cxnId="{2BF65046-37D5-4E8D-AE83-B39FFC2261E1}">
      <dgm:prSet/>
      <dgm:spPr/>
      <dgm:t>
        <a:bodyPr/>
        <a:lstStyle/>
        <a:p>
          <a:endParaRPr lang="zh-CN" altLang="en-US" sz="1800"/>
        </a:p>
      </dgm:t>
    </dgm:pt>
    <dgm:pt modelId="{9EB9DD2F-BDEA-4A89-958F-A68216D7E3FB}">
      <dgm:prSet phldrT="[文本]" phldr="0" custT="1"/>
      <dgm:spPr>
        <a:solidFill>
          <a:schemeClr val="accent6">
            <a:alpha val="50000"/>
          </a:schemeClr>
        </a:solidFill>
      </dgm:spPr>
      <dgm:t>
        <a:bodyPr/>
        <a:lstStyle/>
        <a:p>
          <a:r>
            <a:rPr lang="zh-CN" altLang="en-US" sz="1800">
              <a:solidFill>
                <a:schemeClr val="bg1"/>
              </a:solidFill>
            </a:rPr>
            <a:t>包容变化</a:t>
          </a:r>
        </a:p>
      </dgm:t>
    </dgm:pt>
    <dgm:pt modelId="{37448F79-61D4-4933-878F-A730D2EE1A58}" type="parTrans" cxnId="{A36F126A-A8A3-4397-BFC1-7EB20099FD86}">
      <dgm:prSet/>
      <dgm:spPr/>
      <dgm:t>
        <a:bodyPr/>
        <a:lstStyle/>
        <a:p>
          <a:endParaRPr lang="zh-CN" altLang="en-US" sz="1800"/>
        </a:p>
      </dgm:t>
    </dgm:pt>
    <dgm:pt modelId="{31E5C963-67C5-4515-AD3E-5E267D962303}" type="sibTrans" cxnId="{A36F126A-A8A3-4397-BFC1-7EB20099FD86}">
      <dgm:prSet/>
      <dgm:spPr/>
      <dgm:t>
        <a:bodyPr/>
        <a:lstStyle/>
        <a:p>
          <a:endParaRPr lang="zh-CN" altLang="en-US" sz="1800"/>
        </a:p>
      </dgm:t>
    </dgm:pt>
    <dgm:pt modelId="{3A01B6E1-1497-4EBB-9705-73B65B3F0959}" type="pres">
      <dgm:prSet presAssocID="{F16DC7F6-74F3-4371-9E1A-B757AC8F79E1}" presName="compositeShape" presStyleCnt="0">
        <dgm:presLayoutVars>
          <dgm:chMax val="7"/>
          <dgm:dir/>
          <dgm:resizeHandles val="exact"/>
        </dgm:presLayoutVars>
      </dgm:prSet>
      <dgm:spPr/>
    </dgm:pt>
    <dgm:pt modelId="{F755F96C-5F62-403D-B720-2827523383BB}" type="pres">
      <dgm:prSet presAssocID="{B4E00CB3-00EA-4088-9FEB-F965E78BEB3C}" presName="circ1" presStyleLbl="vennNode1" presStyleIdx="0" presStyleCnt="3"/>
      <dgm:spPr/>
    </dgm:pt>
    <dgm:pt modelId="{ED78947E-3D2B-4CEC-924F-2226ECD09E69}" type="pres">
      <dgm:prSet presAssocID="{B4E00CB3-00EA-4088-9FEB-F965E78BEB3C}" presName="circ1Tx" presStyleLbl="revTx" presStyleIdx="0" presStyleCnt="0">
        <dgm:presLayoutVars>
          <dgm:chMax val="0"/>
          <dgm:chPref val="0"/>
          <dgm:bulletEnabled val="1"/>
        </dgm:presLayoutVars>
      </dgm:prSet>
      <dgm:spPr/>
    </dgm:pt>
    <dgm:pt modelId="{C472F469-9BB5-4B9A-98E1-8523C6F24AA2}" type="pres">
      <dgm:prSet presAssocID="{BCA2FFA4-82D9-4BCF-BE45-3244B738E58C}" presName="circ2" presStyleLbl="vennNode1" presStyleIdx="1" presStyleCnt="3"/>
      <dgm:spPr/>
    </dgm:pt>
    <dgm:pt modelId="{89193024-3BD6-4082-9D4C-18AC48DCCD7D}" type="pres">
      <dgm:prSet presAssocID="{BCA2FFA4-82D9-4BCF-BE45-3244B738E58C}" presName="circ2Tx" presStyleLbl="revTx" presStyleIdx="0" presStyleCnt="0">
        <dgm:presLayoutVars>
          <dgm:chMax val="0"/>
          <dgm:chPref val="0"/>
          <dgm:bulletEnabled val="1"/>
        </dgm:presLayoutVars>
      </dgm:prSet>
      <dgm:spPr/>
    </dgm:pt>
    <dgm:pt modelId="{82BCCE81-EF41-4482-A478-D30C5E69613C}" type="pres">
      <dgm:prSet presAssocID="{9EB9DD2F-BDEA-4A89-958F-A68216D7E3FB}" presName="circ3" presStyleLbl="vennNode1" presStyleIdx="2" presStyleCnt="3"/>
      <dgm:spPr/>
    </dgm:pt>
    <dgm:pt modelId="{C97C4EC2-EF4B-469F-A81B-6B833978441F}" type="pres">
      <dgm:prSet presAssocID="{9EB9DD2F-BDEA-4A89-958F-A68216D7E3FB}" presName="circ3Tx" presStyleLbl="revTx" presStyleIdx="0" presStyleCnt="0">
        <dgm:presLayoutVars>
          <dgm:chMax val="0"/>
          <dgm:chPref val="0"/>
          <dgm:bulletEnabled val="1"/>
        </dgm:presLayoutVars>
      </dgm:prSet>
      <dgm:spPr/>
    </dgm:pt>
  </dgm:ptLst>
  <dgm:cxnLst>
    <dgm:cxn modelId="{7BF4B703-CDD5-4980-AA56-E23140F6DE64}" type="presOf" srcId="{9EB9DD2F-BDEA-4A89-958F-A68216D7E3FB}" destId="{82BCCE81-EF41-4482-A478-D30C5E69613C}" srcOrd="0" destOrd="0" presId="urn:microsoft.com/office/officeart/2005/8/layout/venn1"/>
    <dgm:cxn modelId="{DA559A05-BE48-4A74-8443-2B038A1F4ADC}" type="presOf" srcId="{BCA2FFA4-82D9-4BCF-BE45-3244B738E58C}" destId="{C472F469-9BB5-4B9A-98E1-8523C6F24AA2}" srcOrd="0" destOrd="0" presId="urn:microsoft.com/office/officeart/2005/8/layout/venn1"/>
    <dgm:cxn modelId="{EB3F0510-2310-4A41-8771-4D3DCB9A265C}" srcId="{F16DC7F6-74F3-4371-9E1A-B757AC8F79E1}" destId="{B4E00CB3-00EA-4088-9FEB-F965E78BEB3C}" srcOrd="0" destOrd="0" parTransId="{16FB5CC1-86A9-4E44-85C9-ADB3A968274C}" sibTransId="{2DE1E5AE-488F-4651-BDBE-7A3FE2ADF3E6}"/>
    <dgm:cxn modelId="{F3301D1E-2B1D-4588-8BAC-F9428F370966}" type="presOf" srcId="{9EB9DD2F-BDEA-4A89-958F-A68216D7E3FB}" destId="{C97C4EC2-EF4B-469F-A81B-6B833978441F}" srcOrd="1" destOrd="0" presId="urn:microsoft.com/office/officeart/2005/8/layout/venn1"/>
    <dgm:cxn modelId="{2BF65046-37D5-4E8D-AE83-B39FFC2261E1}" srcId="{F16DC7F6-74F3-4371-9E1A-B757AC8F79E1}" destId="{BCA2FFA4-82D9-4BCF-BE45-3244B738E58C}" srcOrd="1" destOrd="0" parTransId="{3BFB141F-9E2E-436A-ADD2-5D8F35F32869}" sibTransId="{AAC08AFC-B389-4BF3-BD09-306CE29D7288}"/>
    <dgm:cxn modelId="{A36F126A-A8A3-4397-BFC1-7EB20099FD86}" srcId="{F16DC7F6-74F3-4371-9E1A-B757AC8F79E1}" destId="{9EB9DD2F-BDEA-4A89-958F-A68216D7E3FB}" srcOrd="2" destOrd="0" parTransId="{37448F79-61D4-4933-878F-A730D2EE1A58}" sibTransId="{31E5C963-67C5-4515-AD3E-5E267D962303}"/>
    <dgm:cxn modelId="{1CBFF977-FD8B-43F5-82F7-1774811BD058}" type="presOf" srcId="{B4E00CB3-00EA-4088-9FEB-F965E78BEB3C}" destId="{F755F96C-5F62-403D-B720-2827523383BB}" srcOrd="0" destOrd="0" presId="urn:microsoft.com/office/officeart/2005/8/layout/venn1"/>
    <dgm:cxn modelId="{FAD1F696-14B2-4452-AA8D-02212F13DB44}" type="presOf" srcId="{F16DC7F6-74F3-4371-9E1A-B757AC8F79E1}" destId="{3A01B6E1-1497-4EBB-9705-73B65B3F0959}" srcOrd="0" destOrd="0" presId="urn:microsoft.com/office/officeart/2005/8/layout/venn1"/>
    <dgm:cxn modelId="{7A45E9D1-A34A-4A92-9643-7D1BB338BECE}" type="presOf" srcId="{BCA2FFA4-82D9-4BCF-BE45-3244B738E58C}" destId="{89193024-3BD6-4082-9D4C-18AC48DCCD7D}" srcOrd="1" destOrd="0" presId="urn:microsoft.com/office/officeart/2005/8/layout/venn1"/>
    <dgm:cxn modelId="{BD6B4BFD-C516-482B-A2C1-BDD46602F136}" type="presOf" srcId="{B4E00CB3-00EA-4088-9FEB-F965E78BEB3C}" destId="{ED78947E-3D2B-4CEC-924F-2226ECD09E69}" srcOrd="1" destOrd="0" presId="urn:microsoft.com/office/officeart/2005/8/layout/venn1"/>
    <dgm:cxn modelId="{BE852964-553F-4E29-94E5-9A15827741C2}" type="presParOf" srcId="{3A01B6E1-1497-4EBB-9705-73B65B3F0959}" destId="{F755F96C-5F62-403D-B720-2827523383BB}" srcOrd="0" destOrd="0" presId="urn:microsoft.com/office/officeart/2005/8/layout/venn1"/>
    <dgm:cxn modelId="{E68ACB82-0C40-492A-899A-6F63AD0FA0DC}" type="presParOf" srcId="{3A01B6E1-1497-4EBB-9705-73B65B3F0959}" destId="{ED78947E-3D2B-4CEC-924F-2226ECD09E69}" srcOrd="1" destOrd="0" presId="urn:microsoft.com/office/officeart/2005/8/layout/venn1"/>
    <dgm:cxn modelId="{E2D25703-5D1C-4A80-B811-56DEC6507C7A}" type="presParOf" srcId="{3A01B6E1-1497-4EBB-9705-73B65B3F0959}" destId="{C472F469-9BB5-4B9A-98E1-8523C6F24AA2}" srcOrd="2" destOrd="0" presId="urn:microsoft.com/office/officeart/2005/8/layout/venn1"/>
    <dgm:cxn modelId="{320BD546-29ED-4839-BB1C-B3AEA29580B6}" type="presParOf" srcId="{3A01B6E1-1497-4EBB-9705-73B65B3F0959}" destId="{89193024-3BD6-4082-9D4C-18AC48DCCD7D}" srcOrd="3" destOrd="0" presId="urn:microsoft.com/office/officeart/2005/8/layout/venn1"/>
    <dgm:cxn modelId="{2D78047B-A8CC-4C9F-A3FA-B0DCCE0112DE}" type="presParOf" srcId="{3A01B6E1-1497-4EBB-9705-73B65B3F0959}" destId="{82BCCE81-EF41-4482-A478-D30C5E69613C}" srcOrd="4" destOrd="0" presId="urn:microsoft.com/office/officeart/2005/8/layout/venn1"/>
    <dgm:cxn modelId="{FAD459C3-2D17-45DF-B768-6F6BFFF2D218}" type="presParOf" srcId="{3A01B6E1-1497-4EBB-9705-73B65B3F0959}" destId="{C97C4EC2-EF4B-469F-A81B-6B833978441F}"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a:ln>
          <a:noFill/>
        </a:ln>
      </dgm:spPr>
      <dgm:t>
        <a:bodyPr/>
        <a:lstStyle/>
        <a:p>
          <a:pPr>
            <a:lnSpc>
              <a:spcPct val="100000"/>
            </a:lnSpc>
            <a:spcBef>
              <a:spcPts val="0"/>
            </a:spcBef>
            <a:spcAft>
              <a:spcPts val="0"/>
            </a:spcAft>
          </a:pPr>
          <a:r>
            <a:rPr lang="en-US" altLang="zh-CN"/>
            <a:t>Product Backlog </a:t>
          </a:r>
          <a:r>
            <a:rPr lang="zh-CN" altLang="en-US"/>
            <a:t>产品待办事项 </a:t>
          </a:r>
        </a:p>
      </dgm:t>
    </dgm:pt>
    <dgm:pt modelId="{35B26F15-481E-4980-8B11-9EE0F478DD59}" type="parTrans" cxnId="{D79B505B-9D89-4968-8277-F0D430410105}">
      <dgm:prSet/>
      <dgm:spPr/>
      <dgm:t>
        <a:bodyPr/>
        <a:lstStyle/>
        <a:p>
          <a:pPr>
            <a:lnSpc>
              <a:spcPct val="100000"/>
            </a:lnSpc>
            <a:spcBef>
              <a:spcPts val="0"/>
            </a:spcBef>
            <a:spcAft>
              <a:spcPts val="0"/>
            </a:spcAft>
          </a:pPr>
          <a:endParaRPr lang="zh-CN" altLang="en-US"/>
        </a:p>
      </dgm:t>
    </dgm:pt>
    <dgm:pt modelId="{A94150D4-C492-46EB-B1AC-9F736396AA0D}" type="sibTrans" cxnId="{D79B505B-9D89-4968-8277-F0D430410105}">
      <dgm:prSet/>
      <dgm:spPr/>
      <dgm:t>
        <a:bodyPr/>
        <a:lstStyle/>
        <a:p>
          <a:pPr>
            <a:lnSpc>
              <a:spcPct val="100000"/>
            </a:lnSpc>
            <a:spcBef>
              <a:spcPts val="0"/>
            </a:spcBef>
            <a:spcAft>
              <a:spcPts val="0"/>
            </a:spcAft>
          </a:pPr>
          <a:endParaRPr lang="zh-CN" altLang="en-US"/>
        </a:p>
      </dgm:t>
    </dgm:pt>
    <dgm:pt modelId="{CFB0D99E-28ED-4902-8D61-7ACF91349FF3}">
      <dgm:prSet phldrT="[文本]"/>
      <dgm:spPr>
        <a:ln>
          <a:noFill/>
        </a:ln>
      </dgm:spPr>
      <dgm:t>
        <a:bodyPr/>
        <a:lstStyle/>
        <a:p>
          <a:pPr>
            <a:lnSpc>
              <a:spcPct val="100000"/>
            </a:lnSpc>
            <a:spcBef>
              <a:spcPts val="0"/>
            </a:spcBef>
            <a:spcAft>
              <a:spcPts val="0"/>
            </a:spcAft>
          </a:pPr>
          <a:r>
            <a:rPr lang="en-US" altLang="zh-CN"/>
            <a:t>Sprint Backlog </a:t>
          </a:r>
          <a:r>
            <a:rPr lang="zh-CN" altLang="en-US"/>
            <a:t>冲刺待办事项</a:t>
          </a:r>
        </a:p>
      </dgm:t>
    </dgm:pt>
    <dgm:pt modelId="{99722672-1784-4400-81B7-D0DF21E97805}" type="parTrans" cxnId="{E1AF4824-10A9-4F9E-8664-538DE83A0D90}">
      <dgm:prSet/>
      <dgm:spPr/>
      <dgm:t>
        <a:bodyPr/>
        <a:lstStyle/>
        <a:p>
          <a:pPr>
            <a:lnSpc>
              <a:spcPct val="100000"/>
            </a:lnSpc>
            <a:spcBef>
              <a:spcPts val="0"/>
            </a:spcBef>
            <a:spcAft>
              <a:spcPts val="0"/>
            </a:spcAft>
          </a:pPr>
          <a:endParaRPr lang="zh-CN" altLang="en-US"/>
        </a:p>
      </dgm:t>
    </dgm:pt>
    <dgm:pt modelId="{F3F17E05-AEAE-4D48-8949-759579CCD152}" type="sibTrans" cxnId="{E1AF4824-10A9-4F9E-8664-538DE83A0D90}">
      <dgm:prSet/>
      <dgm:spPr/>
      <dgm:t>
        <a:bodyPr/>
        <a:lstStyle/>
        <a:p>
          <a:pPr>
            <a:lnSpc>
              <a:spcPct val="100000"/>
            </a:lnSpc>
            <a:spcBef>
              <a:spcPts val="0"/>
            </a:spcBef>
            <a:spcAft>
              <a:spcPts val="0"/>
            </a:spcAft>
          </a:pPr>
          <a:endParaRPr lang="zh-CN" altLang="en-US"/>
        </a:p>
      </dgm:t>
    </dgm:pt>
    <dgm:pt modelId="{0BE932A6-6974-4FF5-9D55-B28BE60115AD}">
      <dgm:prSet phldrT="[文本]"/>
      <dgm:spPr>
        <a:ln>
          <a:noFill/>
        </a:ln>
      </dgm:spPr>
      <dgm:t>
        <a:bodyPr/>
        <a:lstStyle/>
        <a:p>
          <a:pPr>
            <a:lnSpc>
              <a:spcPct val="100000"/>
            </a:lnSpc>
            <a:spcBef>
              <a:spcPts val="0"/>
            </a:spcBef>
            <a:spcAft>
              <a:spcPts val="0"/>
            </a:spcAft>
          </a:pPr>
          <a:r>
            <a:rPr lang="en-US" altLang="zh-CN"/>
            <a:t>Increment </a:t>
          </a:r>
          <a:r>
            <a:rPr lang="zh-CN" altLang="en-US"/>
            <a:t>增量</a:t>
          </a:r>
        </a:p>
      </dgm:t>
    </dgm:pt>
    <dgm:pt modelId="{17D82F36-9F94-4776-98C5-AE3B3F0F3E6C}" type="parTrans" cxnId="{A392CC0F-611C-4D9E-BCC9-4711500668CE}">
      <dgm:prSet/>
      <dgm:spPr/>
      <dgm:t>
        <a:bodyPr/>
        <a:lstStyle/>
        <a:p>
          <a:pPr>
            <a:lnSpc>
              <a:spcPct val="100000"/>
            </a:lnSpc>
            <a:spcBef>
              <a:spcPts val="0"/>
            </a:spcBef>
            <a:spcAft>
              <a:spcPts val="0"/>
            </a:spcAft>
          </a:pPr>
          <a:endParaRPr lang="zh-CN" altLang="en-US"/>
        </a:p>
      </dgm:t>
    </dgm:pt>
    <dgm:pt modelId="{AB964673-9E14-4EF3-BC35-34F63573595B}" type="sibTrans" cxnId="{A392CC0F-611C-4D9E-BCC9-4711500668CE}">
      <dgm:prSet/>
      <dgm:spPr/>
      <dgm:t>
        <a:bodyPr/>
        <a:lstStyle/>
        <a:p>
          <a:pPr>
            <a:lnSpc>
              <a:spcPct val="100000"/>
            </a:lnSpc>
            <a:spcBef>
              <a:spcPts val="0"/>
            </a:spcBef>
            <a:spcAft>
              <a:spcPts val="0"/>
            </a:spcAft>
          </a:pPr>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a:noFill/>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a:noFill/>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a:noFill/>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2D7379E-7F4D-4A9A-9BDC-6F43CC5D50E5}" type="doc">
      <dgm:prSet loTypeId="urn:microsoft.com/office/officeart/2005/8/layout/process1" loCatId="process" qsTypeId="urn:microsoft.com/office/officeart/2005/8/quickstyle/simple1" qsCatId="simple" csTypeId="urn:microsoft.com/office/officeart/2005/8/colors/colorful4" csCatId="colorful" phldr="1"/>
      <dgm:spPr/>
    </dgm:pt>
    <dgm:pt modelId="{662BD4FF-7C1B-43B4-9E4D-5AF9EB8DE1AA}">
      <dgm:prSet phldrT="[文本]" custT="1"/>
      <dgm:spPr/>
      <dgm:t>
        <a:bodyPr/>
        <a:lstStyle/>
        <a:p>
          <a:r>
            <a:rPr lang="zh-CN" altLang="en-US" sz="1400" dirty="0"/>
            <a:t>规模估算</a:t>
          </a:r>
        </a:p>
      </dgm:t>
    </dgm:pt>
    <dgm:pt modelId="{B64E13FF-4330-4C87-BD4A-B3795A70F053}" type="parTrans" cxnId="{9152BF54-26F0-491E-8AAA-2DCA805FB85A}">
      <dgm:prSet/>
      <dgm:spPr/>
      <dgm:t>
        <a:bodyPr/>
        <a:lstStyle/>
        <a:p>
          <a:endParaRPr lang="zh-CN" altLang="en-US" sz="1400"/>
        </a:p>
      </dgm:t>
    </dgm:pt>
    <dgm:pt modelId="{8DF4F3F0-F2B4-40CB-906F-844E22D37CBE}" type="sibTrans" cxnId="{9152BF54-26F0-491E-8AAA-2DCA805FB85A}">
      <dgm:prSet custT="1"/>
      <dgm:spPr/>
      <dgm:t>
        <a:bodyPr/>
        <a:lstStyle/>
        <a:p>
          <a:endParaRPr lang="zh-CN" altLang="en-US" sz="1400"/>
        </a:p>
      </dgm:t>
    </dgm:pt>
    <dgm:pt modelId="{F4EA69CC-DCF6-4953-9AE8-8C5E3D517669}">
      <dgm:prSet phldrT="[文本]" custT="1"/>
      <dgm:spPr/>
      <dgm:t>
        <a:bodyPr/>
        <a:lstStyle/>
        <a:p>
          <a:r>
            <a:rPr lang="zh-CN" altLang="en-US" sz="1400" dirty="0"/>
            <a:t>工作量估算</a:t>
          </a:r>
        </a:p>
      </dgm:t>
    </dgm:pt>
    <dgm:pt modelId="{1F96AE25-51D7-459E-9D43-C9E826B57087}" type="parTrans" cxnId="{03531220-1387-4C3C-AA8D-FF8B68146F75}">
      <dgm:prSet/>
      <dgm:spPr/>
      <dgm:t>
        <a:bodyPr/>
        <a:lstStyle/>
        <a:p>
          <a:endParaRPr lang="zh-CN" altLang="en-US" sz="1400"/>
        </a:p>
      </dgm:t>
    </dgm:pt>
    <dgm:pt modelId="{EA12215D-9D83-43A1-AA5F-2B3DF111A85A}" type="sibTrans" cxnId="{03531220-1387-4C3C-AA8D-FF8B68146F75}">
      <dgm:prSet custT="1"/>
      <dgm:spPr/>
      <dgm:t>
        <a:bodyPr/>
        <a:lstStyle/>
        <a:p>
          <a:endParaRPr lang="zh-CN" altLang="en-US" sz="1400"/>
        </a:p>
      </dgm:t>
    </dgm:pt>
    <dgm:pt modelId="{6A03495E-99E9-451E-BF20-CFF16C500E13}">
      <dgm:prSet phldrT="[文本]" custT="1"/>
      <dgm:spPr/>
      <dgm:t>
        <a:bodyPr/>
        <a:lstStyle/>
        <a:p>
          <a:r>
            <a:rPr lang="zh-CN" altLang="en-US" sz="1400" dirty="0"/>
            <a:t>成本估算</a:t>
          </a:r>
        </a:p>
      </dgm:t>
    </dgm:pt>
    <dgm:pt modelId="{4AC44A7E-F9AB-4823-8CAC-F4497EA8B4BF}" type="parTrans" cxnId="{0CCCA869-F665-4EDE-8D22-2493289C8DB8}">
      <dgm:prSet/>
      <dgm:spPr/>
      <dgm:t>
        <a:bodyPr/>
        <a:lstStyle/>
        <a:p>
          <a:endParaRPr lang="zh-CN" altLang="en-US" sz="1400"/>
        </a:p>
      </dgm:t>
    </dgm:pt>
    <dgm:pt modelId="{44AB70A4-C563-4A82-B1FC-C7104725E49C}" type="sibTrans" cxnId="{0CCCA869-F665-4EDE-8D22-2493289C8DB8}">
      <dgm:prSet/>
      <dgm:spPr/>
      <dgm:t>
        <a:bodyPr/>
        <a:lstStyle/>
        <a:p>
          <a:endParaRPr lang="zh-CN" altLang="en-US" sz="1400"/>
        </a:p>
      </dgm:t>
    </dgm:pt>
    <dgm:pt modelId="{4E57E4B5-909F-4D0D-865E-439618408A8D}" type="pres">
      <dgm:prSet presAssocID="{A2D7379E-7F4D-4A9A-9BDC-6F43CC5D50E5}" presName="Name0" presStyleCnt="0">
        <dgm:presLayoutVars>
          <dgm:dir/>
          <dgm:resizeHandles val="exact"/>
        </dgm:presLayoutVars>
      </dgm:prSet>
      <dgm:spPr/>
    </dgm:pt>
    <dgm:pt modelId="{FC332A65-A83D-4ADE-AEAA-94BD3A499623}" type="pres">
      <dgm:prSet presAssocID="{662BD4FF-7C1B-43B4-9E4D-5AF9EB8DE1AA}" presName="node" presStyleLbl="node1" presStyleIdx="0" presStyleCnt="3">
        <dgm:presLayoutVars>
          <dgm:bulletEnabled val="1"/>
        </dgm:presLayoutVars>
      </dgm:prSet>
      <dgm:spPr/>
    </dgm:pt>
    <dgm:pt modelId="{0EA024C3-660E-4EEA-920A-0399489AEA61}" type="pres">
      <dgm:prSet presAssocID="{8DF4F3F0-F2B4-40CB-906F-844E22D37CBE}" presName="sibTrans" presStyleLbl="sibTrans2D1" presStyleIdx="0" presStyleCnt="2"/>
      <dgm:spPr/>
    </dgm:pt>
    <dgm:pt modelId="{71E72EC9-6211-4F41-8CF0-B2146CEE16E4}" type="pres">
      <dgm:prSet presAssocID="{8DF4F3F0-F2B4-40CB-906F-844E22D37CBE}" presName="connectorText" presStyleLbl="sibTrans2D1" presStyleIdx="0" presStyleCnt="2"/>
      <dgm:spPr/>
    </dgm:pt>
    <dgm:pt modelId="{39E9393F-1572-40D6-8CE6-9937E533BF75}" type="pres">
      <dgm:prSet presAssocID="{F4EA69CC-DCF6-4953-9AE8-8C5E3D517669}" presName="node" presStyleLbl="node1" presStyleIdx="1" presStyleCnt="3">
        <dgm:presLayoutVars>
          <dgm:bulletEnabled val="1"/>
        </dgm:presLayoutVars>
      </dgm:prSet>
      <dgm:spPr/>
    </dgm:pt>
    <dgm:pt modelId="{20B82462-F0DD-4787-85C5-C4D3F19D4F11}" type="pres">
      <dgm:prSet presAssocID="{EA12215D-9D83-43A1-AA5F-2B3DF111A85A}" presName="sibTrans" presStyleLbl="sibTrans2D1" presStyleIdx="1" presStyleCnt="2"/>
      <dgm:spPr/>
    </dgm:pt>
    <dgm:pt modelId="{4455B4FA-A09C-4F66-A51C-19FEFD7E14BF}" type="pres">
      <dgm:prSet presAssocID="{EA12215D-9D83-43A1-AA5F-2B3DF111A85A}" presName="connectorText" presStyleLbl="sibTrans2D1" presStyleIdx="1" presStyleCnt="2"/>
      <dgm:spPr/>
    </dgm:pt>
    <dgm:pt modelId="{925EEC6C-95EF-4EBE-9A19-4B003EB411ED}" type="pres">
      <dgm:prSet presAssocID="{6A03495E-99E9-451E-BF20-CFF16C500E13}" presName="node" presStyleLbl="node1" presStyleIdx="2" presStyleCnt="3">
        <dgm:presLayoutVars>
          <dgm:bulletEnabled val="1"/>
        </dgm:presLayoutVars>
      </dgm:prSet>
      <dgm:spPr/>
    </dgm:pt>
  </dgm:ptLst>
  <dgm:cxnLst>
    <dgm:cxn modelId="{C46B1F0C-B8CE-4304-9FE3-542EE6FFA1A7}" type="presOf" srcId="{8DF4F3F0-F2B4-40CB-906F-844E22D37CBE}" destId="{0EA024C3-660E-4EEA-920A-0399489AEA61}" srcOrd="0" destOrd="0" presId="urn:microsoft.com/office/officeart/2005/8/layout/process1"/>
    <dgm:cxn modelId="{D19B7C1E-DD01-4E0B-94C5-16B1D2C51DE1}" type="presOf" srcId="{662BD4FF-7C1B-43B4-9E4D-5AF9EB8DE1AA}" destId="{FC332A65-A83D-4ADE-AEAA-94BD3A499623}" srcOrd="0" destOrd="0" presId="urn:microsoft.com/office/officeart/2005/8/layout/process1"/>
    <dgm:cxn modelId="{03531220-1387-4C3C-AA8D-FF8B68146F75}" srcId="{A2D7379E-7F4D-4A9A-9BDC-6F43CC5D50E5}" destId="{F4EA69CC-DCF6-4953-9AE8-8C5E3D517669}" srcOrd="1" destOrd="0" parTransId="{1F96AE25-51D7-459E-9D43-C9E826B57087}" sibTransId="{EA12215D-9D83-43A1-AA5F-2B3DF111A85A}"/>
    <dgm:cxn modelId="{AD585C35-39C0-4763-9B21-BFB80AE54823}" type="presOf" srcId="{6A03495E-99E9-451E-BF20-CFF16C500E13}" destId="{925EEC6C-95EF-4EBE-9A19-4B003EB411ED}" srcOrd="0" destOrd="0" presId="urn:microsoft.com/office/officeart/2005/8/layout/process1"/>
    <dgm:cxn modelId="{617B7641-01BA-4FBC-B7BB-AEF046E666B6}" type="presOf" srcId="{EA12215D-9D83-43A1-AA5F-2B3DF111A85A}" destId="{4455B4FA-A09C-4F66-A51C-19FEFD7E14BF}" srcOrd="1" destOrd="0" presId="urn:microsoft.com/office/officeart/2005/8/layout/process1"/>
    <dgm:cxn modelId="{0CCCA869-F665-4EDE-8D22-2493289C8DB8}" srcId="{A2D7379E-7F4D-4A9A-9BDC-6F43CC5D50E5}" destId="{6A03495E-99E9-451E-BF20-CFF16C500E13}" srcOrd="2" destOrd="0" parTransId="{4AC44A7E-F9AB-4823-8CAC-F4497EA8B4BF}" sibTransId="{44AB70A4-C563-4A82-B1FC-C7104725E49C}"/>
    <dgm:cxn modelId="{9152BF54-26F0-491E-8AAA-2DCA805FB85A}" srcId="{A2D7379E-7F4D-4A9A-9BDC-6F43CC5D50E5}" destId="{662BD4FF-7C1B-43B4-9E4D-5AF9EB8DE1AA}" srcOrd="0" destOrd="0" parTransId="{B64E13FF-4330-4C87-BD4A-B3795A70F053}" sibTransId="{8DF4F3F0-F2B4-40CB-906F-844E22D37CBE}"/>
    <dgm:cxn modelId="{51DAEF55-CE78-4B61-BC8A-57C9B031FB75}" type="presOf" srcId="{8DF4F3F0-F2B4-40CB-906F-844E22D37CBE}" destId="{71E72EC9-6211-4F41-8CF0-B2146CEE16E4}" srcOrd="1" destOrd="0" presId="urn:microsoft.com/office/officeart/2005/8/layout/process1"/>
    <dgm:cxn modelId="{1A8E3092-3199-4D78-9369-8BCCD11F20B3}" type="presOf" srcId="{F4EA69CC-DCF6-4953-9AE8-8C5E3D517669}" destId="{39E9393F-1572-40D6-8CE6-9937E533BF75}" srcOrd="0" destOrd="0" presId="urn:microsoft.com/office/officeart/2005/8/layout/process1"/>
    <dgm:cxn modelId="{8C5875A1-9334-43D7-8A05-AB8049828BB6}" type="presOf" srcId="{A2D7379E-7F4D-4A9A-9BDC-6F43CC5D50E5}" destId="{4E57E4B5-909F-4D0D-865E-439618408A8D}" srcOrd="0" destOrd="0" presId="urn:microsoft.com/office/officeart/2005/8/layout/process1"/>
    <dgm:cxn modelId="{A96D96B9-055F-4F3C-B0F2-6E894070991D}" type="presOf" srcId="{EA12215D-9D83-43A1-AA5F-2B3DF111A85A}" destId="{20B82462-F0DD-4787-85C5-C4D3F19D4F11}" srcOrd="0" destOrd="0" presId="urn:microsoft.com/office/officeart/2005/8/layout/process1"/>
    <dgm:cxn modelId="{A31DD4E7-43EE-465D-AF38-AF07A001C1AF}" type="presParOf" srcId="{4E57E4B5-909F-4D0D-865E-439618408A8D}" destId="{FC332A65-A83D-4ADE-AEAA-94BD3A499623}" srcOrd="0" destOrd="0" presId="urn:microsoft.com/office/officeart/2005/8/layout/process1"/>
    <dgm:cxn modelId="{49897B85-67F8-4403-BA5D-AF4A29410273}" type="presParOf" srcId="{4E57E4B5-909F-4D0D-865E-439618408A8D}" destId="{0EA024C3-660E-4EEA-920A-0399489AEA61}" srcOrd="1" destOrd="0" presId="urn:microsoft.com/office/officeart/2005/8/layout/process1"/>
    <dgm:cxn modelId="{B6CD72C1-4788-4398-AF2E-0D26B89C7B23}" type="presParOf" srcId="{0EA024C3-660E-4EEA-920A-0399489AEA61}" destId="{71E72EC9-6211-4F41-8CF0-B2146CEE16E4}" srcOrd="0" destOrd="0" presId="urn:microsoft.com/office/officeart/2005/8/layout/process1"/>
    <dgm:cxn modelId="{93D0D31A-69E4-4585-88F4-7C43FF4DBDB7}" type="presParOf" srcId="{4E57E4B5-909F-4D0D-865E-439618408A8D}" destId="{39E9393F-1572-40D6-8CE6-9937E533BF75}" srcOrd="2" destOrd="0" presId="urn:microsoft.com/office/officeart/2005/8/layout/process1"/>
    <dgm:cxn modelId="{1AD683F5-8E86-4978-A6F2-5E76B7452A94}" type="presParOf" srcId="{4E57E4B5-909F-4D0D-865E-439618408A8D}" destId="{20B82462-F0DD-4787-85C5-C4D3F19D4F11}" srcOrd="3" destOrd="0" presId="urn:microsoft.com/office/officeart/2005/8/layout/process1"/>
    <dgm:cxn modelId="{3A3D8BBF-4641-447A-B9D6-E9E4CF20ACE7}" type="presParOf" srcId="{20B82462-F0DD-4787-85C5-C4D3F19D4F11}" destId="{4455B4FA-A09C-4F66-A51C-19FEFD7E14BF}" srcOrd="0" destOrd="0" presId="urn:microsoft.com/office/officeart/2005/8/layout/process1"/>
    <dgm:cxn modelId="{F353EB4A-910E-42D6-9801-A5EC51943D31}" type="presParOf" srcId="{4E57E4B5-909F-4D0D-865E-439618408A8D}" destId="{925EEC6C-95EF-4EBE-9A19-4B003EB411ED}"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614370D5-89E5-4B33-A8D8-4BD44B447421}" type="doc">
      <dgm:prSet loTypeId="urn:microsoft.com/office/officeart/2005/8/layout/hierarchy4" loCatId="hierarchy" qsTypeId="urn:microsoft.com/office/officeart/2005/8/quickstyle/simple1" qsCatId="simple" csTypeId="urn:microsoft.com/office/officeart/2005/8/colors/colorful5" csCatId="colorful" phldr="1"/>
      <dgm:spPr/>
      <dgm:t>
        <a:bodyPr/>
        <a:lstStyle/>
        <a:p>
          <a:endParaRPr lang="zh-CN" altLang="en-US"/>
        </a:p>
      </dgm:t>
    </dgm:pt>
    <dgm:pt modelId="{E765D36A-1693-487D-AF3B-09A5909785B6}">
      <dgm:prSet phldrT="[文本]" phldr="0" custT="1"/>
      <dgm:spPr/>
      <dgm:t>
        <a:bodyPr/>
        <a:lstStyle/>
        <a:p>
          <a:r>
            <a:rPr lang="zh-CN" altLang="en-US" sz="2400" dirty="0"/>
            <a:t>估算方法</a:t>
          </a:r>
        </a:p>
      </dgm:t>
    </dgm:pt>
    <dgm:pt modelId="{9890EEB3-15A1-4E78-BEBB-675559C7E2AF}" type="parTrans" cxnId="{B1644270-860D-44F1-8447-A4BA3F3B6724}">
      <dgm:prSet/>
      <dgm:spPr/>
      <dgm:t>
        <a:bodyPr/>
        <a:lstStyle/>
        <a:p>
          <a:endParaRPr lang="zh-CN" altLang="en-US"/>
        </a:p>
      </dgm:t>
    </dgm:pt>
    <dgm:pt modelId="{F1759BF5-F894-4B1B-8F01-811345136FDA}" type="sibTrans" cxnId="{B1644270-860D-44F1-8447-A4BA3F3B6724}">
      <dgm:prSet/>
      <dgm:spPr/>
      <dgm:t>
        <a:bodyPr/>
        <a:lstStyle/>
        <a:p>
          <a:endParaRPr lang="zh-CN" altLang="en-US"/>
        </a:p>
      </dgm:t>
    </dgm:pt>
    <dgm:pt modelId="{9A2BC7AE-0A55-4D05-AF34-1765ADE837AD}">
      <dgm:prSet phldrT="[文本]" custT="1"/>
      <dgm:spPr/>
      <dgm:t>
        <a:bodyPr/>
        <a:lstStyle/>
        <a:p>
          <a:r>
            <a:rPr lang="zh-CN" altLang="en-US" sz="2000" dirty="0"/>
            <a:t>传统估算</a:t>
          </a:r>
        </a:p>
      </dgm:t>
    </dgm:pt>
    <dgm:pt modelId="{3978A61C-5D02-4965-A23B-BED3EBB7B079}" type="parTrans" cxnId="{5A078FA1-5A63-4FCA-9057-5C578D35D6DB}">
      <dgm:prSet/>
      <dgm:spPr/>
      <dgm:t>
        <a:bodyPr/>
        <a:lstStyle/>
        <a:p>
          <a:endParaRPr lang="zh-CN" altLang="en-US"/>
        </a:p>
      </dgm:t>
    </dgm:pt>
    <dgm:pt modelId="{955CD87C-8622-476B-B792-512BF81FBC12}" type="sibTrans" cxnId="{5A078FA1-5A63-4FCA-9057-5C578D35D6DB}">
      <dgm:prSet/>
      <dgm:spPr/>
      <dgm:t>
        <a:bodyPr/>
        <a:lstStyle/>
        <a:p>
          <a:endParaRPr lang="zh-CN" altLang="en-US"/>
        </a:p>
      </dgm:t>
    </dgm:pt>
    <dgm:pt modelId="{CE4DEAA6-A22E-4FEA-8C8D-FD92B570B609}">
      <dgm:prSet phldrT="[文本]" custT="1"/>
      <dgm:spPr/>
      <dgm:t>
        <a:bodyPr/>
        <a:lstStyle/>
        <a:p>
          <a:r>
            <a:rPr lang="zh-CN" altLang="en-US" sz="2000" dirty="0"/>
            <a:t>敏捷估算</a:t>
          </a:r>
        </a:p>
      </dgm:t>
    </dgm:pt>
    <dgm:pt modelId="{23B48031-F243-48F5-B97B-D6A27B2E7F79}" type="parTrans" cxnId="{154E3303-6C3A-4822-8A07-7D876286FF97}">
      <dgm:prSet/>
      <dgm:spPr/>
      <dgm:t>
        <a:bodyPr/>
        <a:lstStyle/>
        <a:p>
          <a:endParaRPr lang="zh-CN" altLang="en-US"/>
        </a:p>
      </dgm:t>
    </dgm:pt>
    <dgm:pt modelId="{E879500F-C0CB-4C77-B41F-9D63317382B7}" type="sibTrans" cxnId="{154E3303-6C3A-4822-8A07-7D876286FF97}">
      <dgm:prSet/>
      <dgm:spPr/>
      <dgm:t>
        <a:bodyPr/>
        <a:lstStyle/>
        <a:p>
          <a:endParaRPr lang="zh-CN" altLang="en-US"/>
        </a:p>
      </dgm:t>
    </dgm:pt>
    <dgm:pt modelId="{D5DF3A4A-6387-47AA-A3A1-3BF50C5AA62C}">
      <dgm:prSet phldrT="[文本]" custT="1"/>
      <dgm:spPr/>
      <dgm:t>
        <a:bodyPr/>
        <a:lstStyle/>
        <a:p>
          <a:r>
            <a:rPr lang="zh-CN" altLang="en-US" sz="1800" dirty="0"/>
            <a:t>故事点估算</a:t>
          </a:r>
        </a:p>
      </dgm:t>
    </dgm:pt>
    <dgm:pt modelId="{1A0DB2F5-A3AB-4F6E-B68D-3787361D25C3}" type="parTrans" cxnId="{D8D81377-2935-4BF0-ACA9-C41CEC6FA795}">
      <dgm:prSet/>
      <dgm:spPr/>
      <dgm:t>
        <a:bodyPr/>
        <a:lstStyle/>
        <a:p>
          <a:endParaRPr lang="zh-CN" altLang="en-US"/>
        </a:p>
      </dgm:t>
    </dgm:pt>
    <dgm:pt modelId="{0B42E666-4C57-459C-8806-79EDAC309F44}" type="sibTrans" cxnId="{D8D81377-2935-4BF0-ACA9-C41CEC6FA795}">
      <dgm:prSet/>
      <dgm:spPr/>
      <dgm:t>
        <a:bodyPr/>
        <a:lstStyle/>
        <a:p>
          <a:endParaRPr lang="zh-CN" altLang="en-US"/>
        </a:p>
      </dgm:t>
    </dgm:pt>
    <dgm:pt modelId="{05A92644-5BB4-45F2-8D20-B36BEABDC4DB}">
      <dgm:prSet phldrT="[文本]" custT="1"/>
      <dgm:spPr/>
      <dgm:t>
        <a:bodyPr vert="eaVert"/>
        <a:lstStyle/>
        <a:p>
          <a:r>
            <a:rPr lang="zh-CN" altLang="en-US" sz="1600" dirty="0"/>
            <a:t>快速故事点</a:t>
          </a:r>
        </a:p>
      </dgm:t>
    </dgm:pt>
    <dgm:pt modelId="{2F8E17AC-4B2F-45AD-984B-76F2B616566E}" type="parTrans" cxnId="{A5F585A8-2A37-410D-804C-D53B46FCEE97}">
      <dgm:prSet/>
      <dgm:spPr/>
      <dgm:t>
        <a:bodyPr/>
        <a:lstStyle/>
        <a:p>
          <a:endParaRPr lang="zh-CN" altLang="en-US"/>
        </a:p>
      </dgm:t>
    </dgm:pt>
    <dgm:pt modelId="{DD9351A0-BAA7-4E71-9FE2-7A26BFC109AA}" type="sibTrans" cxnId="{A5F585A8-2A37-410D-804C-D53B46FCEE97}">
      <dgm:prSet/>
      <dgm:spPr/>
      <dgm:t>
        <a:bodyPr/>
        <a:lstStyle/>
        <a:p>
          <a:endParaRPr lang="zh-CN" altLang="en-US"/>
        </a:p>
      </dgm:t>
    </dgm:pt>
    <dgm:pt modelId="{57E32FD7-0D24-424F-BAFA-50862258E178}">
      <dgm:prSet phldrT="[文本]" custT="1"/>
      <dgm:spPr/>
      <dgm:t>
        <a:bodyPr vert="eaVert"/>
        <a:lstStyle/>
        <a:p>
          <a:r>
            <a:rPr lang="zh-CN" altLang="en-US" sz="1600" dirty="0"/>
            <a:t>扑克牌估算</a:t>
          </a:r>
        </a:p>
      </dgm:t>
    </dgm:pt>
    <dgm:pt modelId="{9D2E40E9-B00C-4140-908E-9F451A9FAD4B}" type="parTrans" cxnId="{24BC8749-6EE2-4519-8260-69960BEBD9A1}">
      <dgm:prSet/>
      <dgm:spPr/>
      <dgm:t>
        <a:bodyPr/>
        <a:lstStyle/>
        <a:p>
          <a:endParaRPr lang="zh-CN" altLang="en-US"/>
        </a:p>
      </dgm:t>
    </dgm:pt>
    <dgm:pt modelId="{1FC05850-9D8C-4713-BAAB-4890ACA9DA0E}" type="sibTrans" cxnId="{24BC8749-6EE2-4519-8260-69960BEBD9A1}">
      <dgm:prSet/>
      <dgm:spPr/>
      <dgm:t>
        <a:bodyPr/>
        <a:lstStyle/>
        <a:p>
          <a:endParaRPr lang="zh-CN" altLang="en-US"/>
        </a:p>
      </dgm:t>
    </dgm:pt>
    <dgm:pt modelId="{F19320D2-2479-45BC-8483-C20DCC7D4BF3}">
      <dgm:prSet phldrT="[文本]" custT="1"/>
      <dgm:spPr/>
      <dgm:t>
        <a:bodyPr vert="eaVert"/>
        <a:lstStyle/>
        <a:p>
          <a:r>
            <a:rPr lang="zh-CN" altLang="en-US" sz="1800" dirty="0"/>
            <a:t>代码行</a:t>
          </a:r>
        </a:p>
      </dgm:t>
    </dgm:pt>
    <dgm:pt modelId="{777A02CA-9DAF-40D0-9562-1ED9C779AC00}" type="parTrans" cxnId="{966933FB-5F6D-4FBB-BF5C-CEBA1805B012}">
      <dgm:prSet/>
      <dgm:spPr/>
      <dgm:t>
        <a:bodyPr/>
        <a:lstStyle/>
        <a:p>
          <a:endParaRPr lang="zh-CN" altLang="en-US"/>
        </a:p>
      </dgm:t>
    </dgm:pt>
    <dgm:pt modelId="{29A95B6B-2FC6-4432-AF9F-5B240AAFDFFB}" type="sibTrans" cxnId="{966933FB-5F6D-4FBB-BF5C-CEBA1805B012}">
      <dgm:prSet/>
      <dgm:spPr/>
      <dgm:t>
        <a:bodyPr/>
        <a:lstStyle/>
        <a:p>
          <a:endParaRPr lang="zh-CN" altLang="en-US"/>
        </a:p>
      </dgm:t>
    </dgm:pt>
    <dgm:pt modelId="{FCA58394-3E2D-4757-B049-C2F01D84C265}">
      <dgm:prSet phldrT="[文本]" custT="1"/>
      <dgm:spPr/>
      <dgm:t>
        <a:bodyPr vert="eaVert"/>
        <a:lstStyle/>
        <a:p>
          <a:r>
            <a:rPr lang="zh-CN" altLang="en-US" sz="1800" dirty="0"/>
            <a:t>功能点</a:t>
          </a:r>
        </a:p>
      </dgm:t>
    </dgm:pt>
    <dgm:pt modelId="{9BDEEFDF-BFC1-475E-B9B2-6DFE65DB1363}" type="parTrans" cxnId="{B9C71C1D-46EB-48DB-83B5-980B93A8CFB2}">
      <dgm:prSet/>
      <dgm:spPr/>
      <dgm:t>
        <a:bodyPr/>
        <a:lstStyle/>
        <a:p>
          <a:endParaRPr lang="zh-CN" altLang="en-US"/>
        </a:p>
      </dgm:t>
    </dgm:pt>
    <dgm:pt modelId="{9D8AC6D0-BDB6-4009-8EEA-6D4D2A345F99}" type="sibTrans" cxnId="{B9C71C1D-46EB-48DB-83B5-980B93A8CFB2}">
      <dgm:prSet/>
      <dgm:spPr/>
      <dgm:t>
        <a:bodyPr/>
        <a:lstStyle/>
        <a:p>
          <a:endParaRPr lang="zh-CN" altLang="en-US"/>
        </a:p>
      </dgm:t>
    </dgm:pt>
    <dgm:pt modelId="{19DD8BFA-BA31-407B-B482-3A618EC1A2DB}">
      <dgm:prSet phldrT="[文本]" custT="1"/>
      <dgm:spPr/>
      <dgm:t>
        <a:bodyPr vert="eaVert"/>
        <a:lstStyle/>
        <a:p>
          <a:r>
            <a:rPr lang="zh-CN" altLang="en-US" sz="1800" dirty="0"/>
            <a:t>用例点</a:t>
          </a:r>
        </a:p>
      </dgm:t>
    </dgm:pt>
    <dgm:pt modelId="{D1EC9A2E-61CC-44A3-9C65-3E37CBDF851C}" type="parTrans" cxnId="{C7135757-5CBB-40A0-8AE3-8E38A8BF3D42}">
      <dgm:prSet/>
      <dgm:spPr/>
      <dgm:t>
        <a:bodyPr/>
        <a:lstStyle/>
        <a:p>
          <a:endParaRPr lang="zh-CN" altLang="en-US"/>
        </a:p>
      </dgm:t>
    </dgm:pt>
    <dgm:pt modelId="{6D1D02D2-2870-4D50-A17E-F7368132369A}" type="sibTrans" cxnId="{C7135757-5CBB-40A0-8AE3-8E38A8BF3D42}">
      <dgm:prSet/>
      <dgm:spPr/>
      <dgm:t>
        <a:bodyPr/>
        <a:lstStyle/>
        <a:p>
          <a:endParaRPr lang="zh-CN" altLang="en-US"/>
        </a:p>
      </dgm:t>
    </dgm:pt>
    <dgm:pt modelId="{3AFD0579-7059-4F02-8EA4-6AAC40079D7C}">
      <dgm:prSet phldrT="[文本]" custT="1"/>
      <dgm:spPr/>
      <dgm:t>
        <a:bodyPr vert="eaVert"/>
        <a:lstStyle/>
        <a:p>
          <a:r>
            <a:rPr lang="zh-CN" altLang="en-US" sz="1800" dirty="0"/>
            <a:t>类比</a:t>
          </a:r>
        </a:p>
      </dgm:t>
    </dgm:pt>
    <dgm:pt modelId="{8C31254D-DDEE-4748-9D79-F469915BE18A}" type="parTrans" cxnId="{D6F41F0A-04FC-4919-B0C1-D245178706F4}">
      <dgm:prSet/>
      <dgm:spPr/>
      <dgm:t>
        <a:bodyPr/>
        <a:lstStyle/>
        <a:p>
          <a:endParaRPr lang="zh-CN" altLang="en-US"/>
        </a:p>
      </dgm:t>
    </dgm:pt>
    <dgm:pt modelId="{14C2561D-B3D5-4664-A483-06511E561F38}" type="sibTrans" cxnId="{D6F41F0A-04FC-4919-B0C1-D245178706F4}">
      <dgm:prSet/>
      <dgm:spPr/>
      <dgm:t>
        <a:bodyPr/>
        <a:lstStyle/>
        <a:p>
          <a:endParaRPr lang="zh-CN" altLang="en-US"/>
        </a:p>
      </dgm:t>
    </dgm:pt>
    <dgm:pt modelId="{BCA4EA6B-EECB-4766-B79B-34B220192072}">
      <dgm:prSet phldrT="[文本]" custT="1"/>
      <dgm:spPr/>
      <dgm:t>
        <a:bodyPr vert="eaVert"/>
        <a:lstStyle/>
        <a:p>
          <a:r>
            <a:rPr lang="zh-CN" altLang="en-US" sz="1800" dirty="0"/>
            <a:t>自下而上</a:t>
          </a:r>
        </a:p>
      </dgm:t>
    </dgm:pt>
    <dgm:pt modelId="{E7839576-61F5-41B0-9C90-FA54F22DF1D1}" type="parTrans" cxnId="{46269406-43D8-4EA6-8250-B61598A3A24A}">
      <dgm:prSet/>
      <dgm:spPr/>
      <dgm:t>
        <a:bodyPr/>
        <a:lstStyle/>
        <a:p>
          <a:endParaRPr lang="zh-CN" altLang="en-US"/>
        </a:p>
      </dgm:t>
    </dgm:pt>
    <dgm:pt modelId="{CB5BA34D-A4DF-411C-A894-7B2E36448FF6}" type="sibTrans" cxnId="{46269406-43D8-4EA6-8250-B61598A3A24A}">
      <dgm:prSet/>
      <dgm:spPr/>
      <dgm:t>
        <a:bodyPr/>
        <a:lstStyle/>
        <a:p>
          <a:endParaRPr lang="zh-CN" altLang="en-US"/>
        </a:p>
      </dgm:t>
    </dgm:pt>
    <dgm:pt modelId="{A754C273-F50B-473E-AB24-57EB047DCDA8}">
      <dgm:prSet phldrT="[文本]" custT="1"/>
      <dgm:spPr/>
      <dgm:t>
        <a:bodyPr vert="eaVert"/>
        <a:lstStyle/>
        <a:p>
          <a:r>
            <a:rPr lang="zh-CN" altLang="en-US" sz="1800" dirty="0"/>
            <a:t>自上而下</a:t>
          </a:r>
        </a:p>
      </dgm:t>
    </dgm:pt>
    <dgm:pt modelId="{C8C239D6-14AD-403D-9AEA-34DDB7EDC80D}" type="parTrans" cxnId="{641F43FC-C729-4921-9F15-2FC17972FE36}">
      <dgm:prSet/>
      <dgm:spPr/>
      <dgm:t>
        <a:bodyPr/>
        <a:lstStyle/>
        <a:p>
          <a:endParaRPr lang="zh-CN" altLang="en-US"/>
        </a:p>
      </dgm:t>
    </dgm:pt>
    <dgm:pt modelId="{76C726E1-4517-4254-A0ED-D49170AC503A}" type="sibTrans" cxnId="{641F43FC-C729-4921-9F15-2FC17972FE36}">
      <dgm:prSet/>
      <dgm:spPr/>
      <dgm:t>
        <a:bodyPr/>
        <a:lstStyle/>
        <a:p>
          <a:endParaRPr lang="zh-CN" altLang="en-US"/>
        </a:p>
      </dgm:t>
    </dgm:pt>
    <dgm:pt modelId="{4356710B-FF5F-40DF-9EA2-5D193CD07331}">
      <dgm:prSet phldrT="[文本]" custT="1"/>
      <dgm:spPr/>
      <dgm:t>
        <a:bodyPr vert="eaVert"/>
        <a:lstStyle/>
        <a:p>
          <a:r>
            <a:rPr lang="zh-CN" altLang="en-US" sz="1800" dirty="0"/>
            <a:t>参数</a:t>
          </a:r>
        </a:p>
      </dgm:t>
    </dgm:pt>
    <dgm:pt modelId="{775ADC81-F363-4C46-AC58-C175FF026F8C}" type="parTrans" cxnId="{D06E6F69-1D07-4A79-B00C-6B37B0255CED}">
      <dgm:prSet/>
      <dgm:spPr/>
      <dgm:t>
        <a:bodyPr/>
        <a:lstStyle/>
        <a:p>
          <a:endParaRPr lang="zh-CN" altLang="en-US"/>
        </a:p>
      </dgm:t>
    </dgm:pt>
    <dgm:pt modelId="{C84792CF-D437-4E6D-A584-EEEAA58E7550}" type="sibTrans" cxnId="{D06E6F69-1D07-4A79-B00C-6B37B0255CED}">
      <dgm:prSet/>
      <dgm:spPr/>
      <dgm:t>
        <a:bodyPr/>
        <a:lstStyle/>
        <a:p>
          <a:endParaRPr lang="zh-CN" altLang="en-US"/>
        </a:p>
      </dgm:t>
    </dgm:pt>
    <dgm:pt modelId="{B209E0D5-BB9D-4E5D-88AB-BEB82CF4339D}">
      <dgm:prSet phldrT="[文本]" custT="1"/>
      <dgm:spPr/>
      <dgm:t>
        <a:bodyPr vert="eaVert"/>
        <a:lstStyle/>
        <a:p>
          <a:r>
            <a:rPr lang="zh-CN" altLang="en-US" sz="1800" dirty="0"/>
            <a:t>专家估</a:t>
          </a:r>
        </a:p>
      </dgm:t>
    </dgm:pt>
    <dgm:pt modelId="{85EAA161-BB68-40D5-B8F3-F2AF02AD2454}" type="parTrans" cxnId="{6ABBB44C-7F05-4121-B370-C862E4562BAF}">
      <dgm:prSet/>
      <dgm:spPr/>
      <dgm:t>
        <a:bodyPr/>
        <a:lstStyle/>
        <a:p>
          <a:endParaRPr lang="zh-CN" altLang="en-US"/>
        </a:p>
      </dgm:t>
    </dgm:pt>
    <dgm:pt modelId="{016AEFF5-6C64-48C6-AC08-2888E5CB4EA0}" type="sibTrans" cxnId="{6ABBB44C-7F05-4121-B370-C862E4562BAF}">
      <dgm:prSet/>
      <dgm:spPr/>
      <dgm:t>
        <a:bodyPr/>
        <a:lstStyle/>
        <a:p>
          <a:endParaRPr lang="zh-CN" altLang="en-US"/>
        </a:p>
      </dgm:t>
    </dgm:pt>
    <dgm:pt modelId="{B81C9BE0-0A56-46E3-ABB3-C7084CDD9B75}">
      <dgm:prSet phldrT="[文本]" custT="1"/>
      <dgm:spPr/>
      <dgm:t>
        <a:bodyPr vert="eaVert"/>
        <a:lstStyle/>
        <a:p>
          <a:r>
            <a:rPr lang="zh-CN" altLang="en-US" sz="1800" dirty="0"/>
            <a:t>三点</a:t>
          </a:r>
        </a:p>
      </dgm:t>
    </dgm:pt>
    <dgm:pt modelId="{B58ECB46-7D70-4E77-B6C3-F4A4D41ECFBE}" type="parTrans" cxnId="{B0CD899E-F0E6-420F-98C3-2A801DDEC30B}">
      <dgm:prSet/>
      <dgm:spPr/>
      <dgm:t>
        <a:bodyPr/>
        <a:lstStyle/>
        <a:p>
          <a:endParaRPr lang="zh-CN" altLang="en-US"/>
        </a:p>
      </dgm:t>
    </dgm:pt>
    <dgm:pt modelId="{7D769DB1-C27D-4FC4-94E8-857D49C46AB2}" type="sibTrans" cxnId="{B0CD899E-F0E6-420F-98C3-2A801DDEC30B}">
      <dgm:prSet/>
      <dgm:spPr/>
      <dgm:t>
        <a:bodyPr/>
        <a:lstStyle/>
        <a:p>
          <a:endParaRPr lang="zh-CN" altLang="en-US"/>
        </a:p>
      </dgm:t>
    </dgm:pt>
    <dgm:pt modelId="{2E6B2AFB-C458-41BB-8CB8-D2CD00F5324E}" type="pres">
      <dgm:prSet presAssocID="{614370D5-89E5-4B33-A8D8-4BD44B447421}" presName="Name0" presStyleCnt="0">
        <dgm:presLayoutVars>
          <dgm:chPref val="1"/>
          <dgm:dir/>
          <dgm:animOne val="branch"/>
          <dgm:animLvl val="lvl"/>
          <dgm:resizeHandles/>
        </dgm:presLayoutVars>
      </dgm:prSet>
      <dgm:spPr/>
    </dgm:pt>
    <dgm:pt modelId="{143E018F-A373-4773-91E3-87BB687876A5}" type="pres">
      <dgm:prSet presAssocID="{E765D36A-1693-487D-AF3B-09A5909785B6}" presName="vertOne" presStyleCnt="0"/>
      <dgm:spPr/>
    </dgm:pt>
    <dgm:pt modelId="{E37E18C7-CBC3-4730-8BE6-C8FC497852AC}" type="pres">
      <dgm:prSet presAssocID="{E765D36A-1693-487D-AF3B-09A5909785B6}" presName="txOne" presStyleLbl="node0" presStyleIdx="0" presStyleCnt="1" custLinFactNeighborX="-10017" custLinFactNeighborY="63093">
        <dgm:presLayoutVars>
          <dgm:chPref val="3"/>
        </dgm:presLayoutVars>
      </dgm:prSet>
      <dgm:spPr/>
    </dgm:pt>
    <dgm:pt modelId="{86CB37B4-F605-424A-A706-BB42B86F5902}" type="pres">
      <dgm:prSet presAssocID="{E765D36A-1693-487D-AF3B-09A5909785B6}" presName="parTransOne" presStyleCnt="0"/>
      <dgm:spPr/>
    </dgm:pt>
    <dgm:pt modelId="{2F366C28-43A4-49FD-9074-D5A857A6084B}" type="pres">
      <dgm:prSet presAssocID="{E765D36A-1693-487D-AF3B-09A5909785B6}" presName="horzOne" presStyleCnt="0"/>
      <dgm:spPr/>
    </dgm:pt>
    <dgm:pt modelId="{4A3CC460-6169-4FF6-8A9C-B691E769CD7B}" type="pres">
      <dgm:prSet presAssocID="{9A2BC7AE-0A55-4D05-AF34-1765ADE837AD}" presName="vertTwo" presStyleCnt="0"/>
      <dgm:spPr/>
    </dgm:pt>
    <dgm:pt modelId="{8221DA9F-B757-470B-863A-DFF6F04D8841}" type="pres">
      <dgm:prSet presAssocID="{9A2BC7AE-0A55-4D05-AF34-1765ADE837AD}" presName="txTwo" presStyleLbl="node2" presStyleIdx="0" presStyleCnt="2">
        <dgm:presLayoutVars>
          <dgm:chPref val="3"/>
        </dgm:presLayoutVars>
      </dgm:prSet>
      <dgm:spPr/>
    </dgm:pt>
    <dgm:pt modelId="{C0AA20FE-79CB-4F6B-9381-5959CA44790D}" type="pres">
      <dgm:prSet presAssocID="{9A2BC7AE-0A55-4D05-AF34-1765ADE837AD}" presName="parTransTwo" presStyleCnt="0"/>
      <dgm:spPr/>
    </dgm:pt>
    <dgm:pt modelId="{081045DC-725E-413A-BA86-E682F432140E}" type="pres">
      <dgm:prSet presAssocID="{9A2BC7AE-0A55-4D05-AF34-1765ADE837AD}" presName="horzTwo" presStyleCnt="0"/>
      <dgm:spPr/>
    </dgm:pt>
    <dgm:pt modelId="{59E5FAAB-1A65-4D45-8E32-FCF9E5D8D250}" type="pres">
      <dgm:prSet presAssocID="{F19320D2-2479-45BC-8483-C20DCC7D4BF3}" presName="vertThree" presStyleCnt="0"/>
      <dgm:spPr/>
    </dgm:pt>
    <dgm:pt modelId="{BE1A90AD-6294-4CDD-B09F-20F725ED9449}" type="pres">
      <dgm:prSet presAssocID="{F19320D2-2479-45BC-8483-C20DCC7D4BF3}" presName="txThree" presStyleLbl="node3" presStyleIdx="0" presStyleCnt="10" custScaleY="146555">
        <dgm:presLayoutVars>
          <dgm:chPref val="3"/>
        </dgm:presLayoutVars>
      </dgm:prSet>
      <dgm:spPr/>
    </dgm:pt>
    <dgm:pt modelId="{BA666A20-0ACF-43D0-9106-4AA919D90F15}" type="pres">
      <dgm:prSet presAssocID="{F19320D2-2479-45BC-8483-C20DCC7D4BF3}" presName="horzThree" presStyleCnt="0"/>
      <dgm:spPr/>
    </dgm:pt>
    <dgm:pt modelId="{1283B669-265D-43D0-B2EB-9CEB61D9E638}" type="pres">
      <dgm:prSet presAssocID="{29A95B6B-2FC6-4432-AF9F-5B240AAFDFFB}" presName="sibSpaceThree" presStyleCnt="0"/>
      <dgm:spPr/>
    </dgm:pt>
    <dgm:pt modelId="{1A5464E4-12D9-432E-A228-D990A60DE1D3}" type="pres">
      <dgm:prSet presAssocID="{FCA58394-3E2D-4757-B049-C2F01D84C265}" presName="vertThree" presStyleCnt="0"/>
      <dgm:spPr/>
    </dgm:pt>
    <dgm:pt modelId="{3D86A9A7-DE93-41CD-BE81-662A97CD51C4}" type="pres">
      <dgm:prSet presAssocID="{FCA58394-3E2D-4757-B049-C2F01D84C265}" presName="txThree" presStyleLbl="node3" presStyleIdx="1" presStyleCnt="10" custScaleY="146555">
        <dgm:presLayoutVars>
          <dgm:chPref val="3"/>
        </dgm:presLayoutVars>
      </dgm:prSet>
      <dgm:spPr/>
    </dgm:pt>
    <dgm:pt modelId="{01001E55-2C9E-4796-81F8-D76E937D3B42}" type="pres">
      <dgm:prSet presAssocID="{FCA58394-3E2D-4757-B049-C2F01D84C265}" presName="horzThree" presStyleCnt="0"/>
      <dgm:spPr/>
    </dgm:pt>
    <dgm:pt modelId="{61AFCC08-ABF5-4EBA-BE52-FD3A60891A00}" type="pres">
      <dgm:prSet presAssocID="{9D8AC6D0-BDB6-4009-8EEA-6D4D2A345F99}" presName="sibSpaceThree" presStyleCnt="0"/>
      <dgm:spPr/>
    </dgm:pt>
    <dgm:pt modelId="{D7C7F0F7-637D-43EC-BEF2-DD8BDD7AF5E1}" type="pres">
      <dgm:prSet presAssocID="{19DD8BFA-BA31-407B-B482-3A618EC1A2DB}" presName="vertThree" presStyleCnt="0"/>
      <dgm:spPr/>
    </dgm:pt>
    <dgm:pt modelId="{5AFEC762-1C1A-421E-BE77-6213FB889098}" type="pres">
      <dgm:prSet presAssocID="{19DD8BFA-BA31-407B-B482-3A618EC1A2DB}" presName="txThree" presStyleLbl="node3" presStyleIdx="2" presStyleCnt="10" custScaleY="146555">
        <dgm:presLayoutVars>
          <dgm:chPref val="3"/>
        </dgm:presLayoutVars>
      </dgm:prSet>
      <dgm:spPr/>
    </dgm:pt>
    <dgm:pt modelId="{E463FA49-46BA-4611-B7B5-8912B3D6864D}" type="pres">
      <dgm:prSet presAssocID="{19DD8BFA-BA31-407B-B482-3A618EC1A2DB}" presName="horzThree" presStyleCnt="0"/>
      <dgm:spPr/>
    </dgm:pt>
    <dgm:pt modelId="{6C23CA4A-DA2D-415F-8B7B-20D59149FB61}" type="pres">
      <dgm:prSet presAssocID="{6D1D02D2-2870-4D50-A17E-F7368132369A}" presName="sibSpaceThree" presStyleCnt="0"/>
      <dgm:spPr/>
    </dgm:pt>
    <dgm:pt modelId="{87A52698-444D-4FE2-B9BE-8D62E971B104}" type="pres">
      <dgm:prSet presAssocID="{3AFD0579-7059-4F02-8EA4-6AAC40079D7C}" presName="vertThree" presStyleCnt="0"/>
      <dgm:spPr/>
    </dgm:pt>
    <dgm:pt modelId="{6391160F-7BA5-4A89-A236-4487FA932310}" type="pres">
      <dgm:prSet presAssocID="{3AFD0579-7059-4F02-8EA4-6AAC40079D7C}" presName="txThree" presStyleLbl="node3" presStyleIdx="3" presStyleCnt="10" custScaleY="146555">
        <dgm:presLayoutVars>
          <dgm:chPref val="3"/>
        </dgm:presLayoutVars>
      </dgm:prSet>
      <dgm:spPr/>
    </dgm:pt>
    <dgm:pt modelId="{F1A3B2E0-4506-4396-AD2B-21BCDFDEA7ED}" type="pres">
      <dgm:prSet presAssocID="{3AFD0579-7059-4F02-8EA4-6AAC40079D7C}" presName="horzThree" presStyleCnt="0"/>
      <dgm:spPr/>
    </dgm:pt>
    <dgm:pt modelId="{3B7B911A-C0DA-4FE2-A5C0-CB22BC10551E}" type="pres">
      <dgm:prSet presAssocID="{14C2561D-B3D5-4664-A483-06511E561F38}" presName="sibSpaceThree" presStyleCnt="0"/>
      <dgm:spPr/>
    </dgm:pt>
    <dgm:pt modelId="{DC9DEA9F-E11F-4647-A687-8E3F5A0E1E0E}" type="pres">
      <dgm:prSet presAssocID="{BCA4EA6B-EECB-4766-B79B-34B220192072}" presName="vertThree" presStyleCnt="0"/>
      <dgm:spPr/>
    </dgm:pt>
    <dgm:pt modelId="{B34C258D-C358-473B-B5A7-EC94CF55CB34}" type="pres">
      <dgm:prSet presAssocID="{BCA4EA6B-EECB-4766-B79B-34B220192072}" presName="txThree" presStyleLbl="node3" presStyleIdx="4" presStyleCnt="10" custScaleY="146555">
        <dgm:presLayoutVars>
          <dgm:chPref val="3"/>
        </dgm:presLayoutVars>
      </dgm:prSet>
      <dgm:spPr/>
    </dgm:pt>
    <dgm:pt modelId="{0C2061BA-B21A-4754-97CF-B63C82B3812B}" type="pres">
      <dgm:prSet presAssocID="{BCA4EA6B-EECB-4766-B79B-34B220192072}" presName="horzThree" presStyleCnt="0"/>
      <dgm:spPr/>
    </dgm:pt>
    <dgm:pt modelId="{3844FFF6-22A3-4CFC-94F2-22A799C111E4}" type="pres">
      <dgm:prSet presAssocID="{CB5BA34D-A4DF-411C-A894-7B2E36448FF6}" presName="sibSpaceThree" presStyleCnt="0"/>
      <dgm:spPr/>
    </dgm:pt>
    <dgm:pt modelId="{4F71BDA3-CE23-4FD0-880E-EE690DBCEE7F}" type="pres">
      <dgm:prSet presAssocID="{A754C273-F50B-473E-AB24-57EB047DCDA8}" presName="vertThree" presStyleCnt="0"/>
      <dgm:spPr/>
    </dgm:pt>
    <dgm:pt modelId="{B054D4D0-B725-4E85-93D2-89FEE11F5B62}" type="pres">
      <dgm:prSet presAssocID="{A754C273-F50B-473E-AB24-57EB047DCDA8}" presName="txThree" presStyleLbl="node3" presStyleIdx="5" presStyleCnt="10" custScaleY="146555">
        <dgm:presLayoutVars>
          <dgm:chPref val="3"/>
        </dgm:presLayoutVars>
      </dgm:prSet>
      <dgm:spPr/>
    </dgm:pt>
    <dgm:pt modelId="{FD08CCC4-6320-4950-82BB-63A4FFA0BBAF}" type="pres">
      <dgm:prSet presAssocID="{A754C273-F50B-473E-AB24-57EB047DCDA8}" presName="horzThree" presStyleCnt="0"/>
      <dgm:spPr/>
    </dgm:pt>
    <dgm:pt modelId="{1B4F3906-8206-4B10-B8BE-D802BA9CE2D6}" type="pres">
      <dgm:prSet presAssocID="{76C726E1-4517-4254-A0ED-D49170AC503A}" presName="sibSpaceThree" presStyleCnt="0"/>
      <dgm:spPr/>
    </dgm:pt>
    <dgm:pt modelId="{346AFE16-8966-4AE4-A862-8135796B6673}" type="pres">
      <dgm:prSet presAssocID="{4356710B-FF5F-40DF-9EA2-5D193CD07331}" presName="vertThree" presStyleCnt="0"/>
      <dgm:spPr/>
    </dgm:pt>
    <dgm:pt modelId="{4D467419-B93B-431F-B8D5-630E57343842}" type="pres">
      <dgm:prSet presAssocID="{4356710B-FF5F-40DF-9EA2-5D193CD07331}" presName="txThree" presStyleLbl="node3" presStyleIdx="6" presStyleCnt="10" custScaleY="146555">
        <dgm:presLayoutVars>
          <dgm:chPref val="3"/>
        </dgm:presLayoutVars>
      </dgm:prSet>
      <dgm:spPr/>
    </dgm:pt>
    <dgm:pt modelId="{0D31EFEB-D099-47D5-80AD-FD4A57BA8757}" type="pres">
      <dgm:prSet presAssocID="{4356710B-FF5F-40DF-9EA2-5D193CD07331}" presName="horzThree" presStyleCnt="0"/>
      <dgm:spPr/>
    </dgm:pt>
    <dgm:pt modelId="{25A0601F-819F-4A6D-96FE-84F59DA188E2}" type="pres">
      <dgm:prSet presAssocID="{C84792CF-D437-4E6D-A584-EEEAA58E7550}" presName="sibSpaceThree" presStyleCnt="0"/>
      <dgm:spPr/>
    </dgm:pt>
    <dgm:pt modelId="{75A4E504-E408-4202-8F4D-235F8FC544A2}" type="pres">
      <dgm:prSet presAssocID="{B209E0D5-BB9D-4E5D-88AB-BEB82CF4339D}" presName="vertThree" presStyleCnt="0"/>
      <dgm:spPr/>
    </dgm:pt>
    <dgm:pt modelId="{A39D9AF8-1069-469E-BDB5-64CEEB5953BB}" type="pres">
      <dgm:prSet presAssocID="{B209E0D5-BB9D-4E5D-88AB-BEB82CF4339D}" presName="txThree" presStyleLbl="node3" presStyleIdx="7" presStyleCnt="10" custScaleY="146555">
        <dgm:presLayoutVars>
          <dgm:chPref val="3"/>
        </dgm:presLayoutVars>
      </dgm:prSet>
      <dgm:spPr/>
    </dgm:pt>
    <dgm:pt modelId="{C83F0103-BCFE-4336-A027-475B4179608E}" type="pres">
      <dgm:prSet presAssocID="{B209E0D5-BB9D-4E5D-88AB-BEB82CF4339D}" presName="horzThree" presStyleCnt="0"/>
      <dgm:spPr/>
    </dgm:pt>
    <dgm:pt modelId="{3C4D14B2-71CD-4899-9E8D-3BACD9F57A56}" type="pres">
      <dgm:prSet presAssocID="{016AEFF5-6C64-48C6-AC08-2888E5CB4EA0}" presName="sibSpaceThree" presStyleCnt="0"/>
      <dgm:spPr/>
    </dgm:pt>
    <dgm:pt modelId="{5CB6AC89-B589-4034-BC14-365C59F7BE47}" type="pres">
      <dgm:prSet presAssocID="{B81C9BE0-0A56-46E3-ABB3-C7084CDD9B75}" presName="vertThree" presStyleCnt="0"/>
      <dgm:spPr/>
    </dgm:pt>
    <dgm:pt modelId="{FD2D810A-2388-4805-A9D6-AD137CF0FD98}" type="pres">
      <dgm:prSet presAssocID="{B81C9BE0-0A56-46E3-ABB3-C7084CDD9B75}" presName="txThree" presStyleLbl="node3" presStyleIdx="8" presStyleCnt="10" custScaleY="146555">
        <dgm:presLayoutVars>
          <dgm:chPref val="3"/>
        </dgm:presLayoutVars>
      </dgm:prSet>
      <dgm:spPr/>
    </dgm:pt>
    <dgm:pt modelId="{D5CC7077-6719-4A6A-9D62-5F72368F56A4}" type="pres">
      <dgm:prSet presAssocID="{B81C9BE0-0A56-46E3-ABB3-C7084CDD9B75}" presName="horzThree" presStyleCnt="0"/>
      <dgm:spPr/>
    </dgm:pt>
    <dgm:pt modelId="{98A9BD2F-1074-45D9-A8A3-726ED03F0801}" type="pres">
      <dgm:prSet presAssocID="{955CD87C-8622-476B-B792-512BF81FBC12}" presName="sibSpaceTwo" presStyleCnt="0"/>
      <dgm:spPr/>
    </dgm:pt>
    <dgm:pt modelId="{7B3AAC3D-AA37-4645-BF80-5BE06C3F2541}" type="pres">
      <dgm:prSet presAssocID="{CE4DEAA6-A22E-4FEA-8C8D-FD92B570B609}" presName="vertTwo" presStyleCnt="0"/>
      <dgm:spPr/>
    </dgm:pt>
    <dgm:pt modelId="{7E9961C4-29AB-4443-A6E1-E3F0F2CBDE34}" type="pres">
      <dgm:prSet presAssocID="{CE4DEAA6-A22E-4FEA-8C8D-FD92B570B609}" presName="txTwo" presStyleLbl="node2" presStyleIdx="1" presStyleCnt="2">
        <dgm:presLayoutVars>
          <dgm:chPref val="3"/>
        </dgm:presLayoutVars>
      </dgm:prSet>
      <dgm:spPr/>
    </dgm:pt>
    <dgm:pt modelId="{88B4D3E5-B8D3-46F8-8CE3-3951F937FED8}" type="pres">
      <dgm:prSet presAssocID="{CE4DEAA6-A22E-4FEA-8C8D-FD92B570B609}" presName="parTransTwo" presStyleCnt="0"/>
      <dgm:spPr/>
    </dgm:pt>
    <dgm:pt modelId="{B9B8EE67-CFED-4AA1-99D2-94ED8B784915}" type="pres">
      <dgm:prSet presAssocID="{CE4DEAA6-A22E-4FEA-8C8D-FD92B570B609}" presName="horzTwo" presStyleCnt="0"/>
      <dgm:spPr/>
    </dgm:pt>
    <dgm:pt modelId="{083B1AB5-8189-4D60-B5D8-F5311BC3A5BC}" type="pres">
      <dgm:prSet presAssocID="{D5DF3A4A-6387-47AA-A3A1-3BF50C5AA62C}" presName="vertThree" presStyleCnt="0"/>
      <dgm:spPr/>
    </dgm:pt>
    <dgm:pt modelId="{CDDEC979-F1A2-4409-8FF0-293406F051D4}" type="pres">
      <dgm:prSet presAssocID="{D5DF3A4A-6387-47AA-A3A1-3BF50C5AA62C}" presName="txThree" presStyleLbl="node3" presStyleIdx="9" presStyleCnt="10" custScaleY="146555">
        <dgm:presLayoutVars>
          <dgm:chPref val="3"/>
        </dgm:presLayoutVars>
      </dgm:prSet>
      <dgm:spPr/>
    </dgm:pt>
    <dgm:pt modelId="{23EF2601-CA9A-4601-B2E5-60B16A764DE0}" type="pres">
      <dgm:prSet presAssocID="{D5DF3A4A-6387-47AA-A3A1-3BF50C5AA62C}" presName="parTransThree" presStyleCnt="0"/>
      <dgm:spPr/>
    </dgm:pt>
    <dgm:pt modelId="{7C360DB0-7071-412C-BDF2-FC9B8EC9EB23}" type="pres">
      <dgm:prSet presAssocID="{D5DF3A4A-6387-47AA-A3A1-3BF50C5AA62C}" presName="horzThree" presStyleCnt="0"/>
      <dgm:spPr/>
    </dgm:pt>
    <dgm:pt modelId="{967C8E1F-BE2F-4F71-BF51-EEDC066BA6C5}" type="pres">
      <dgm:prSet presAssocID="{05A92644-5BB4-45F2-8D20-B36BEABDC4DB}" presName="vertFour" presStyleCnt="0">
        <dgm:presLayoutVars>
          <dgm:chPref val="3"/>
        </dgm:presLayoutVars>
      </dgm:prSet>
      <dgm:spPr/>
    </dgm:pt>
    <dgm:pt modelId="{62CDD4D5-9FC5-425A-98C9-2E56C3098C88}" type="pres">
      <dgm:prSet presAssocID="{05A92644-5BB4-45F2-8D20-B36BEABDC4DB}" presName="txFour" presStyleLbl="node4" presStyleIdx="0" presStyleCnt="2" custScaleY="151312">
        <dgm:presLayoutVars>
          <dgm:chPref val="3"/>
        </dgm:presLayoutVars>
      </dgm:prSet>
      <dgm:spPr/>
    </dgm:pt>
    <dgm:pt modelId="{027C17C0-A4F1-4FF2-8017-0587BA2F9198}" type="pres">
      <dgm:prSet presAssocID="{05A92644-5BB4-45F2-8D20-B36BEABDC4DB}" presName="horzFour" presStyleCnt="0"/>
      <dgm:spPr/>
    </dgm:pt>
    <dgm:pt modelId="{BDB666F2-4B71-42DA-8099-86E8A4D5D314}" type="pres">
      <dgm:prSet presAssocID="{DD9351A0-BAA7-4E71-9FE2-7A26BFC109AA}" presName="sibSpaceFour" presStyleCnt="0"/>
      <dgm:spPr/>
    </dgm:pt>
    <dgm:pt modelId="{91272072-E735-4D24-8989-2373D508BEC8}" type="pres">
      <dgm:prSet presAssocID="{57E32FD7-0D24-424F-BAFA-50862258E178}" presName="vertFour" presStyleCnt="0">
        <dgm:presLayoutVars>
          <dgm:chPref val="3"/>
        </dgm:presLayoutVars>
      </dgm:prSet>
      <dgm:spPr/>
    </dgm:pt>
    <dgm:pt modelId="{478024EF-49B2-4F32-9141-62FE4E0D9782}" type="pres">
      <dgm:prSet presAssocID="{57E32FD7-0D24-424F-BAFA-50862258E178}" presName="txFour" presStyleLbl="node4" presStyleIdx="1" presStyleCnt="2" custScaleY="151312">
        <dgm:presLayoutVars>
          <dgm:chPref val="3"/>
        </dgm:presLayoutVars>
      </dgm:prSet>
      <dgm:spPr/>
    </dgm:pt>
    <dgm:pt modelId="{4D08D0C4-4618-494D-86BE-5E595127227F}" type="pres">
      <dgm:prSet presAssocID="{57E32FD7-0D24-424F-BAFA-50862258E178}" presName="horzFour" presStyleCnt="0"/>
      <dgm:spPr/>
    </dgm:pt>
  </dgm:ptLst>
  <dgm:cxnLst>
    <dgm:cxn modelId="{154E3303-6C3A-4822-8A07-7D876286FF97}" srcId="{E765D36A-1693-487D-AF3B-09A5909785B6}" destId="{CE4DEAA6-A22E-4FEA-8C8D-FD92B570B609}" srcOrd="1" destOrd="0" parTransId="{23B48031-F243-48F5-B97B-D6A27B2E7F79}" sibTransId="{E879500F-C0CB-4C77-B41F-9D63317382B7}"/>
    <dgm:cxn modelId="{F4022806-F011-4652-B9E9-11921D7A16E6}" type="presOf" srcId="{F19320D2-2479-45BC-8483-C20DCC7D4BF3}" destId="{BE1A90AD-6294-4CDD-B09F-20F725ED9449}" srcOrd="0" destOrd="0" presId="urn:microsoft.com/office/officeart/2005/8/layout/hierarchy4"/>
    <dgm:cxn modelId="{46269406-43D8-4EA6-8250-B61598A3A24A}" srcId="{9A2BC7AE-0A55-4D05-AF34-1765ADE837AD}" destId="{BCA4EA6B-EECB-4766-B79B-34B220192072}" srcOrd="4" destOrd="0" parTransId="{E7839576-61F5-41B0-9C90-FA54F22DF1D1}" sibTransId="{CB5BA34D-A4DF-411C-A894-7B2E36448FF6}"/>
    <dgm:cxn modelId="{948DC006-046D-485E-AC6F-F287E83E89D1}" type="presOf" srcId="{B81C9BE0-0A56-46E3-ABB3-C7084CDD9B75}" destId="{FD2D810A-2388-4805-A9D6-AD137CF0FD98}" srcOrd="0" destOrd="0" presId="urn:microsoft.com/office/officeart/2005/8/layout/hierarchy4"/>
    <dgm:cxn modelId="{D6F41F0A-04FC-4919-B0C1-D245178706F4}" srcId="{9A2BC7AE-0A55-4D05-AF34-1765ADE837AD}" destId="{3AFD0579-7059-4F02-8EA4-6AAC40079D7C}" srcOrd="3" destOrd="0" parTransId="{8C31254D-DDEE-4748-9D79-F469915BE18A}" sibTransId="{14C2561D-B3D5-4664-A483-06511E561F38}"/>
    <dgm:cxn modelId="{B4C5340A-51D7-47DA-B9CD-AC4B752E7F67}" type="presOf" srcId="{9A2BC7AE-0A55-4D05-AF34-1765ADE837AD}" destId="{8221DA9F-B757-470B-863A-DFF6F04D8841}" srcOrd="0" destOrd="0" presId="urn:microsoft.com/office/officeart/2005/8/layout/hierarchy4"/>
    <dgm:cxn modelId="{B9C71C1D-46EB-48DB-83B5-980B93A8CFB2}" srcId="{9A2BC7AE-0A55-4D05-AF34-1765ADE837AD}" destId="{FCA58394-3E2D-4757-B049-C2F01D84C265}" srcOrd="1" destOrd="0" parTransId="{9BDEEFDF-BFC1-475E-B9B2-6DFE65DB1363}" sibTransId="{9D8AC6D0-BDB6-4009-8EEA-6D4D2A345F99}"/>
    <dgm:cxn modelId="{498D932C-56C3-4404-8B78-A29A8B0D43F4}" type="presOf" srcId="{B209E0D5-BB9D-4E5D-88AB-BEB82CF4339D}" destId="{A39D9AF8-1069-469E-BDB5-64CEEB5953BB}" srcOrd="0" destOrd="0" presId="urn:microsoft.com/office/officeart/2005/8/layout/hierarchy4"/>
    <dgm:cxn modelId="{1FE0F52F-5053-4411-919F-2379E3A7A701}" type="presOf" srcId="{3AFD0579-7059-4F02-8EA4-6AAC40079D7C}" destId="{6391160F-7BA5-4A89-A236-4487FA932310}" srcOrd="0" destOrd="0" presId="urn:microsoft.com/office/officeart/2005/8/layout/hierarchy4"/>
    <dgm:cxn modelId="{507CAE3A-FA17-4A90-A3DD-8B47CA43514E}" type="presOf" srcId="{D5DF3A4A-6387-47AA-A3A1-3BF50C5AA62C}" destId="{CDDEC979-F1A2-4409-8FF0-293406F051D4}" srcOrd="0" destOrd="0" presId="urn:microsoft.com/office/officeart/2005/8/layout/hierarchy4"/>
    <dgm:cxn modelId="{78BDFE68-770C-4667-BDA0-CDC73D93DD9C}" type="presOf" srcId="{CE4DEAA6-A22E-4FEA-8C8D-FD92B570B609}" destId="{7E9961C4-29AB-4443-A6E1-E3F0F2CBDE34}" srcOrd="0" destOrd="0" presId="urn:microsoft.com/office/officeart/2005/8/layout/hierarchy4"/>
    <dgm:cxn modelId="{D06E6F69-1D07-4A79-B00C-6B37B0255CED}" srcId="{9A2BC7AE-0A55-4D05-AF34-1765ADE837AD}" destId="{4356710B-FF5F-40DF-9EA2-5D193CD07331}" srcOrd="6" destOrd="0" parTransId="{775ADC81-F363-4C46-AC58-C175FF026F8C}" sibTransId="{C84792CF-D437-4E6D-A584-EEEAA58E7550}"/>
    <dgm:cxn modelId="{24BC8749-6EE2-4519-8260-69960BEBD9A1}" srcId="{D5DF3A4A-6387-47AA-A3A1-3BF50C5AA62C}" destId="{57E32FD7-0D24-424F-BAFA-50862258E178}" srcOrd="1" destOrd="0" parTransId="{9D2E40E9-B00C-4140-908E-9F451A9FAD4B}" sibTransId="{1FC05850-9D8C-4713-BAAB-4890ACA9DA0E}"/>
    <dgm:cxn modelId="{104E644A-76EA-4DF7-8C09-03BA29B64166}" type="presOf" srcId="{BCA4EA6B-EECB-4766-B79B-34B220192072}" destId="{B34C258D-C358-473B-B5A7-EC94CF55CB34}" srcOrd="0" destOrd="0" presId="urn:microsoft.com/office/officeart/2005/8/layout/hierarchy4"/>
    <dgm:cxn modelId="{6ABBB44C-7F05-4121-B370-C862E4562BAF}" srcId="{9A2BC7AE-0A55-4D05-AF34-1765ADE837AD}" destId="{B209E0D5-BB9D-4E5D-88AB-BEB82CF4339D}" srcOrd="7" destOrd="0" parTransId="{85EAA161-BB68-40D5-B8F3-F2AF02AD2454}" sibTransId="{016AEFF5-6C64-48C6-AC08-2888E5CB4EA0}"/>
    <dgm:cxn modelId="{B1644270-860D-44F1-8447-A4BA3F3B6724}" srcId="{614370D5-89E5-4B33-A8D8-4BD44B447421}" destId="{E765D36A-1693-487D-AF3B-09A5909785B6}" srcOrd="0" destOrd="0" parTransId="{9890EEB3-15A1-4E78-BEBB-675559C7E2AF}" sibTransId="{F1759BF5-F894-4B1B-8F01-811345136FDA}"/>
    <dgm:cxn modelId="{CA716D74-D584-4CED-88BE-4B3EFAA1A8E3}" type="presOf" srcId="{A754C273-F50B-473E-AB24-57EB047DCDA8}" destId="{B054D4D0-B725-4E85-93D2-89FEE11F5B62}" srcOrd="0" destOrd="0" presId="urn:microsoft.com/office/officeart/2005/8/layout/hierarchy4"/>
    <dgm:cxn modelId="{D8D81377-2935-4BF0-ACA9-C41CEC6FA795}" srcId="{CE4DEAA6-A22E-4FEA-8C8D-FD92B570B609}" destId="{D5DF3A4A-6387-47AA-A3A1-3BF50C5AA62C}" srcOrd="0" destOrd="0" parTransId="{1A0DB2F5-A3AB-4F6E-B68D-3787361D25C3}" sibTransId="{0B42E666-4C57-459C-8806-79EDAC309F44}"/>
    <dgm:cxn modelId="{C7135757-5CBB-40A0-8AE3-8E38A8BF3D42}" srcId="{9A2BC7AE-0A55-4D05-AF34-1765ADE837AD}" destId="{19DD8BFA-BA31-407B-B482-3A618EC1A2DB}" srcOrd="2" destOrd="0" parTransId="{D1EC9A2E-61CC-44A3-9C65-3E37CBDF851C}" sibTransId="{6D1D02D2-2870-4D50-A17E-F7368132369A}"/>
    <dgm:cxn modelId="{75B58980-D94F-430D-BBBE-7808716CEDA8}" type="presOf" srcId="{57E32FD7-0D24-424F-BAFA-50862258E178}" destId="{478024EF-49B2-4F32-9141-62FE4E0D9782}" srcOrd="0" destOrd="0" presId="urn:microsoft.com/office/officeart/2005/8/layout/hierarchy4"/>
    <dgm:cxn modelId="{B0CD899E-F0E6-420F-98C3-2A801DDEC30B}" srcId="{9A2BC7AE-0A55-4D05-AF34-1765ADE837AD}" destId="{B81C9BE0-0A56-46E3-ABB3-C7084CDD9B75}" srcOrd="8" destOrd="0" parTransId="{B58ECB46-7D70-4E77-B6C3-F4A4D41ECFBE}" sibTransId="{7D769DB1-C27D-4FC4-94E8-857D49C46AB2}"/>
    <dgm:cxn modelId="{5A078FA1-5A63-4FCA-9057-5C578D35D6DB}" srcId="{E765D36A-1693-487D-AF3B-09A5909785B6}" destId="{9A2BC7AE-0A55-4D05-AF34-1765ADE837AD}" srcOrd="0" destOrd="0" parTransId="{3978A61C-5D02-4965-A23B-BED3EBB7B079}" sibTransId="{955CD87C-8622-476B-B792-512BF81FBC12}"/>
    <dgm:cxn modelId="{A5F585A8-2A37-410D-804C-D53B46FCEE97}" srcId="{D5DF3A4A-6387-47AA-A3A1-3BF50C5AA62C}" destId="{05A92644-5BB4-45F2-8D20-B36BEABDC4DB}" srcOrd="0" destOrd="0" parTransId="{2F8E17AC-4B2F-45AD-984B-76F2B616566E}" sibTransId="{DD9351A0-BAA7-4E71-9FE2-7A26BFC109AA}"/>
    <dgm:cxn modelId="{3C1CCDA8-EFE5-442A-8A03-C7E443FED75D}" type="presOf" srcId="{E765D36A-1693-487D-AF3B-09A5909785B6}" destId="{E37E18C7-CBC3-4730-8BE6-C8FC497852AC}" srcOrd="0" destOrd="0" presId="urn:microsoft.com/office/officeart/2005/8/layout/hierarchy4"/>
    <dgm:cxn modelId="{2C2CADB9-9131-40DE-A4D7-8C5724B3D316}" type="presOf" srcId="{19DD8BFA-BA31-407B-B482-3A618EC1A2DB}" destId="{5AFEC762-1C1A-421E-BE77-6213FB889098}" srcOrd="0" destOrd="0" presId="urn:microsoft.com/office/officeart/2005/8/layout/hierarchy4"/>
    <dgm:cxn modelId="{1F6E37BB-741E-4060-828E-77A1C4DEF639}" type="presOf" srcId="{05A92644-5BB4-45F2-8D20-B36BEABDC4DB}" destId="{62CDD4D5-9FC5-425A-98C9-2E56C3098C88}" srcOrd="0" destOrd="0" presId="urn:microsoft.com/office/officeart/2005/8/layout/hierarchy4"/>
    <dgm:cxn modelId="{A663FFC7-4537-451C-A72E-C9D3A563FA8F}" type="presOf" srcId="{614370D5-89E5-4B33-A8D8-4BD44B447421}" destId="{2E6B2AFB-C458-41BB-8CB8-D2CD00F5324E}" srcOrd="0" destOrd="0" presId="urn:microsoft.com/office/officeart/2005/8/layout/hierarchy4"/>
    <dgm:cxn modelId="{1DAE91CA-A2EB-430D-BA6C-BF55BEBD6193}" type="presOf" srcId="{FCA58394-3E2D-4757-B049-C2F01D84C265}" destId="{3D86A9A7-DE93-41CD-BE81-662A97CD51C4}" srcOrd="0" destOrd="0" presId="urn:microsoft.com/office/officeart/2005/8/layout/hierarchy4"/>
    <dgm:cxn modelId="{966933FB-5F6D-4FBB-BF5C-CEBA1805B012}" srcId="{9A2BC7AE-0A55-4D05-AF34-1765ADE837AD}" destId="{F19320D2-2479-45BC-8483-C20DCC7D4BF3}" srcOrd="0" destOrd="0" parTransId="{777A02CA-9DAF-40D0-9562-1ED9C779AC00}" sibTransId="{29A95B6B-2FC6-4432-AF9F-5B240AAFDFFB}"/>
    <dgm:cxn modelId="{641F43FC-C729-4921-9F15-2FC17972FE36}" srcId="{9A2BC7AE-0A55-4D05-AF34-1765ADE837AD}" destId="{A754C273-F50B-473E-AB24-57EB047DCDA8}" srcOrd="5" destOrd="0" parTransId="{C8C239D6-14AD-403D-9AEA-34DDB7EDC80D}" sibTransId="{76C726E1-4517-4254-A0ED-D49170AC503A}"/>
    <dgm:cxn modelId="{972761FE-3BDD-48C8-AF1B-611781D057AD}" type="presOf" srcId="{4356710B-FF5F-40DF-9EA2-5D193CD07331}" destId="{4D467419-B93B-431F-B8D5-630E57343842}" srcOrd="0" destOrd="0" presId="urn:microsoft.com/office/officeart/2005/8/layout/hierarchy4"/>
    <dgm:cxn modelId="{F7058D00-9692-401A-9397-349FA6F01C0F}" type="presParOf" srcId="{2E6B2AFB-C458-41BB-8CB8-D2CD00F5324E}" destId="{143E018F-A373-4773-91E3-87BB687876A5}" srcOrd="0" destOrd="0" presId="urn:microsoft.com/office/officeart/2005/8/layout/hierarchy4"/>
    <dgm:cxn modelId="{E4D49062-5530-475F-BCB4-9070352E8282}" type="presParOf" srcId="{143E018F-A373-4773-91E3-87BB687876A5}" destId="{E37E18C7-CBC3-4730-8BE6-C8FC497852AC}" srcOrd="0" destOrd="0" presId="urn:microsoft.com/office/officeart/2005/8/layout/hierarchy4"/>
    <dgm:cxn modelId="{C02EA4D5-FF52-441E-A111-836825ED71CD}" type="presParOf" srcId="{143E018F-A373-4773-91E3-87BB687876A5}" destId="{86CB37B4-F605-424A-A706-BB42B86F5902}" srcOrd="1" destOrd="0" presId="urn:microsoft.com/office/officeart/2005/8/layout/hierarchy4"/>
    <dgm:cxn modelId="{3D4AD0E1-DAB0-4CB5-8A66-EE09B10B70E5}" type="presParOf" srcId="{143E018F-A373-4773-91E3-87BB687876A5}" destId="{2F366C28-43A4-49FD-9074-D5A857A6084B}" srcOrd="2" destOrd="0" presId="urn:microsoft.com/office/officeart/2005/8/layout/hierarchy4"/>
    <dgm:cxn modelId="{1ABF0637-3BC8-49F8-BC38-9BB5991539F8}" type="presParOf" srcId="{2F366C28-43A4-49FD-9074-D5A857A6084B}" destId="{4A3CC460-6169-4FF6-8A9C-B691E769CD7B}" srcOrd="0" destOrd="0" presId="urn:microsoft.com/office/officeart/2005/8/layout/hierarchy4"/>
    <dgm:cxn modelId="{E5294539-B9C0-499A-88D1-0D43C96952EC}" type="presParOf" srcId="{4A3CC460-6169-4FF6-8A9C-B691E769CD7B}" destId="{8221DA9F-B757-470B-863A-DFF6F04D8841}" srcOrd="0" destOrd="0" presId="urn:microsoft.com/office/officeart/2005/8/layout/hierarchy4"/>
    <dgm:cxn modelId="{40D910B9-B87C-4036-BC49-88F0BC6079C6}" type="presParOf" srcId="{4A3CC460-6169-4FF6-8A9C-B691E769CD7B}" destId="{C0AA20FE-79CB-4F6B-9381-5959CA44790D}" srcOrd="1" destOrd="0" presId="urn:microsoft.com/office/officeart/2005/8/layout/hierarchy4"/>
    <dgm:cxn modelId="{01D2FCEC-B36C-4CBC-9A16-1ECF4CE48E92}" type="presParOf" srcId="{4A3CC460-6169-4FF6-8A9C-B691E769CD7B}" destId="{081045DC-725E-413A-BA86-E682F432140E}" srcOrd="2" destOrd="0" presId="urn:microsoft.com/office/officeart/2005/8/layout/hierarchy4"/>
    <dgm:cxn modelId="{36226F26-3481-4C03-9009-B7FBDB2E64E0}" type="presParOf" srcId="{081045DC-725E-413A-BA86-E682F432140E}" destId="{59E5FAAB-1A65-4D45-8E32-FCF9E5D8D250}" srcOrd="0" destOrd="0" presId="urn:microsoft.com/office/officeart/2005/8/layout/hierarchy4"/>
    <dgm:cxn modelId="{5A325FD0-9057-4FAE-8574-FD8072F6AFEE}" type="presParOf" srcId="{59E5FAAB-1A65-4D45-8E32-FCF9E5D8D250}" destId="{BE1A90AD-6294-4CDD-B09F-20F725ED9449}" srcOrd="0" destOrd="0" presId="urn:microsoft.com/office/officeart/2005/8/layout/hierarchy4"/>
    <dgm:cxn modelId="{AEB4642A-EC6D-4C62-B215-CC43667A2BB7}" type="presParOf" srcId="{59E5FAAB-1A65-4D45-8E32-FCF9E5D8D250}" destId="{BA666A20-0ACF-43D0-9106-4AA919D90F15}" srcOrd="1" destOrd="0" presId="urn:microsoft.com/office/officeart/2005/8/layout/hierarchy4"/>
    <dgm:cxn modelId="{86DB457D-AA63-4423-84B6-0E50D15AA36E}" type="presParOf" srcId="{081045DC-725E-413A-BA86-E682F432140E}" destId="{1283B669-265D-43D0-B2EB-9CEB61D9E638}" srcOrd="1" destOrd="0" presId="urn:microsoft.com/office/officeart/2005/8/layout/hierarchy4"/>
    <dgm:cxn modelId="{EC2760B5-B3B8-42F1-9B99-259DC12CA6D8}" type="presParOf" srcId="{081045DC-725E-413A-BA86-E682F432140E}" destId="{1A5464E4-12D9-432E-A228-D990A60DE1D3}" srcOrd="2" destOrd="0" presId="urn:microsoft.com/office/officeart/2005/8/layout/hierarchy4"/>
    <dgm:cxn modelId="{0454AF18-D447-4954-A4E4-BC997C438F80}" type="presParOf" srcId="{1A5464E4-12D9-432E-A228-D990A60DE1D3}" destId="{3D86A9A7-DE93-41CD-BE81-662A97CD51C4}" srcOrd="0" destOrd="0" presId="urn:microsoft.com/office/officeart/2005/8/layout/hierarchy4"/>
    <dgm:cxn modelId="{0D522E8F-E919-4375-8190-311B76C96BDF}" type="presParOf" srcId="{1A5464E4-12D9-432E-A228-D990A60DE1D3}" destId="{01001E55-2C9E-4796-81F8-D76E937D3B42}" srcOrd="1" destOrd="0" presId="urn:microsoft.com/office/officeart/2005/8/layout/hierarchy4"/>
    <dgm:cxn modelId="{8953D3F7-9FC4-4B23-B61F-2B31E7D3BA2F}" type="presParOf" srcId="{081045DC-725E-413A-BA86-E682F432140E}" destId="{61AFCC08-ABF5-4EBA-BE52-FD3A60891A00}" srcOrd="3" destOrd="0" presId="urn:microsoft.com/office/officeart/2005/8/layout/hierarchy4"/>
    <dgm:cxn modelId="{231B09D1-1700-4AD2-83C1-A7785569D30F}" type="presParOf" srcId="{081045DC-725E-413A-BA86-E682F432140E}" destId="{D7C7F0F7-637D-43EC-BEF2-DD8BDD7AF5E1}" srcOrd="4" destOrd="0" presId="urn:microsoft.com/office/officeart/2005/8/layout/hierarchy4"/>
    <dgm:cxn modelId="{6AF3ADE2-40DD-4BBE-97F3-8F17A773FD23}" type="presParOf" srcId="{D7C7F0F7-637D-43EC-BEF2-DD8BDD7AF5E1}" destId="{5AFEC762-1C1A-421E-BE77-6213FB889098}" srcOrd="0" destOrd="0" presId="urn:microsoft.com/office/officeart/2005/8/layout/hierarchy4"/>
    <dgm:cxn modelId="{C468EF9F-360C-4619-9DCF-38A37889A69B}" type="presParOf" srcId="{D7C7F0F7-637D-43EC-BEF2-DD8BDD7AF5E1}" destId="{E463FA49-46BA-4611-B7B5-8912B3D6864D}" srcOrd="1" destOrd="0" presId="urn:microsoft.com/office/officeart/2005/8/layout/hierarchy4"/>
    <dgm:cxn modelId="{BF475F99-3BFD-4168-B48D-D3693D984EA2}" type="presParOf" srcId="{081045DC-725E-413A-BA86-E682F432140E}" destId="{6C23CA4A-DA2D-415F-8B7B-20D59149FB61}" srcOrd="5" destOrd="0" presId="urn:microsoft.com/office/officeart/2005/8/layout/hierarchy4"/>
    <dgm:cxn modelId="{9E52CF28-2CF0-4820-9F16-82870B8E5699}" type="presParOf" srcId="{081045DC-725E-413A-BA86-E682F432140E}" destId="{87A52698-444D-4FE2-B9BE-8D62E971B104}" srcOrd="6" destOrd="0" presId="urn:microsoft.com/office/officeart/2005/8/layout/hierarchy4"/>
    <dgm:cxn modelId="{2634B5E5-0E32-425D-BC63-8CDF30F04D23}" type="presParOf" srcId="{87A52698-444D-4FE2-B9BE-8D62E971B104}" destId="{6391160F-7BA5-4A89-A236-4487FA932310}" srcOrd="0" destOrd="0" presId="urn:microsoft.com/office/officeart/2005/8/layout/hierarchy4"/>
    <dgm:cxn modelId="{87FC3032-1827-459F-B1C7-CFB83DEEA7D5}" type="presParOf" srcId="{87A52698-444D-4FE2-B9BE-8D62E971B104}" destId="{F1A3B2E0-4506-4396-AD2B-21BCDFDEA7ED}" srcOrd="1" destOrd="0" presId="urn:microsoft.com/office/officeart/2005/8/layout/hierarchy4"/>
    <dgm:cxn modelId="{DAE9BF20-046A-47D8-A6C8-3BFDFDC86201}" type="presParOf" srcId="{081045DC-725E-413A-BA86-E682F432140E}" destId="{3B7B911A-C0DA-4FE2-A5C0-CB22BC10551E}" srcOrd="7" destOrd="0" presId="urn:microsoft.com/office/officeart/2005/8/layout/hierarchy4"/>
    <dgm:cxn modelId="{92E4D5D5-A82F-4C54-880A-FDDE7C89105F}" type="presParOf" srcId="{081045DC-725E-413A-BA86-E682F432140E}" destId="{DC9DEA9F-E11F-4647-A687-8E3F5A0E1E0E}" srcOrd="8" destOrd="0" presId="urn:microsoft.com/office/officeart/2005/8/layout/hierarchy4"/>
    <dgm:cxn modelId="{150ACD3E-7912-4E36-80A0-37C5A092E34A}" type="presParOf" srcId="{DC9DEA9F-E11F-4647-A687-8E3F5A0E1E0E}" destId="{B34C258D-C358-473B-B5A7-EC94CF55CB34}" srcOrd="0" destOrd="0" presId="urn:microsoft.com/office/officeart/2005/8/layout/hierarchy4"/>
    <dgm:cxn modelId="{6034A003-8647-4ED8-8B29-4D661FDFEC0E}" type="presParOf" srcId="{DC9DEA9F-E11F-4647-A687-8E3F5A0E1E0E}" destId="{0C2061BA-B21A-4754-97CF-B63C82B3812B}" srcOrd="1" destOrd="0" presId="urn:microsoft.com/office/officeart/2005/8/layout/hierarchy4"/>
    <dgm:cxn modelId="{4A48B865-2ABE-45EF-AE9D-C692AAB11760}" type="presParOf" srcId="{081045DC-725E-413A-BA86-E682F432140E}" destId="{3844FFF6-22A3-4CFC-94F2-22A799C111E4}" srcOrd="9" destOrd="0" presId="urn:microsoft.com/office/officeart/2005/8/layout/hierarchy4"/>
    <dgm:cxn modelId="{D7947259-ABB1-4969-B0C9-6B5C75E43307}" type="presParOf" srcId="{081045DC-725E-413A-BA86-E682F432140E}" destId="{4F71BDA3-CE23-4FD0-880E-EE690DBCEE7F}" srcOrd="10" destOrd="0" presId="urn:microsoft.com/office/officeart/2005/8/layout/hierarchy4"/>
    <dgm:cxn modelId="{5C204016-2DB3-4E6F-92DD-569FFA642A51}" type="presParOf" srcId="{4F71BDA3-CE23-4FD0-880E-EE690DBCEE7F}" destId="{B054D4D0-B725-4E85-93D2-89FEE11F5B62}" srcOrd="0" destOrd="0" presId="urn:microsoft.com/office/officeart/2005/8/layout/hierarchy4"/>
    <dgm:cxn modelId="{222FA552-8BD6-4091-8014-2F24D2A90997}" type="presParOf" srcId="{4F71BDA3-CE23-4FD0-880E-EE690DBCEE7F}" destId="{FD08CCC4-6320-4950-82BB-63A4FFA0BBAF}" srcOrd="1" destOrd="0" presId="urn:microsoft.com/office/officeart/2005/8/layout/hierarchy4"/>
    <dgm:cxn modelId="{AD9FACCE-5E0E-4328-BAE9-76DA419903E9}" type="presParOf" srcId="{081045DC-725E-413A-BA86-E682F432140E}" destId="{1B4F3906-8206-4B10-B8BE-D802BA9CE2D6}" srcOrd="11" destOrd="0" presId="urn:microsoft.com/office/officeart/2005/8/layout/hierarchy4"/>
    <dgm:cxn modelId="{A829E4A4-D7E5-41A7-BA98-3C3FD784F374}" type="presParOf" srcId="{081045DC-725E-413A-BA86-E682F432140E}" destId="{346AFE16-8966-4AE4-A862-8135796B6673}" srcOrd="12" destOrd="0" presId="urn:microsoft.com/office/officeart/2005/8/layout/hierarchy4"/>
    <dgm:cxn modelId="{2C762943-9C0C-4ACC-8D25-040B59149D6B}" type="presParOf" srcId="{346AFE16-8966-4AE4-A862-8135796B6673}" destId="{4D467419-B93B-431F-B8D5-630E57343842}" srcOrd="0" destOrd="0" presId="urn:microsoft.com/office/officeart/2005/8/layout/hierarchy4"/>
    <dgm:cxn modelId="{83AD7AC3-98FD-4A5D-AB90-1BD923032B96}" type="presParOf" srcId="{346AFE16-8966-4AE4-A862-8135796B6673}" destId="{0D31EFEB-D099-47D5-80AD-FD4A57BA8757}" srcOrd="1" destOrd="0" presId="urn:microsoft.com/office/officeart/2005/8/layout/hierarchy4"/>
    <dgm:cxn modelId="{7E7C1B14-63C8-413B-A150-EC7C56ED1BA9}" type="presParOf" srcId="{081045DC-725E-413A-BA86-E682F432140E}" destId="{25A0601F-819F-4A6D-96FE-84F59DA188E2}" srcOrd="13" destOrd="0" presId="urn:microsoft.com/office/officeart/2005/8/layout/hierarchy4"/>
    <dgm:cxn modelId="{86783FB4-6A89-4F19-9485-003391780D74}" type="presParOf" srcId="{081045DC-725E-413A-BA86-E682F432140E}" destId="{75A4E504-E408-4202-8F4D-235F8FC544A2}" srcOrd="14" destOrd="0" presId="urn:microsoft.com/office/officeart/2005/8/layout/hierarchy4"/>
    <dgm:cxn modelId="{1F004AF7-FC2F-4CFB-93CC-087AA110E70C}" type="presParOf" srcId="{75A4E504-E408-4202-8F4D-235F8FC544A2}" destId="{A39D9AF8-1069-469E-BDB5-64CEEB5953BB}" srcOrd="0" destOrd="0" presId="urn:microsoft.com/office/officeart/2005/8/layout/hierarchy4"/>
    <dgm:cxn modelId="{20171720-7AB8-46FB-A9F2-9D0C76CB1037}" type="presParOf" srcId="{75A4E504-E408-4202-8F4D-235F8FC544A2}" destId="{C83F0103-BCFE-4336-A027-475B4179608E}" srcOrd="1" destOrd="0" presId="urn:microsoft.com/office/officeart/2005/8/layout/hierarchy4"/>
    <dgm:cxn modelId="{A42588D0-AE30-4F01-8F2F-3FDB13E44757}" type="presParOf" srcId="{081045DC-725E-413A-BA86-E682F432140E}" destId="{3C4D14B2-71CD-4899-9E8D-3BACD9F57A56}" srcOrd="15" destOrd="0" presId="urn:microsoft.com/office/officeart/2005/8/layout/hierarchy4"/>
    <dgm:cxn modelId="{9DA98170-67CC-4CBD-B2AD-8AA16055C24F}" type="presParOf" srcId="{081045DC-725E-413A-BA86-E682F432140E}" destId="{5CB6AC89-B589-4034-BC14-365C59F7BE47}" srcOrd="16" destOrd="0" presId="urn:microsoft.com/office/officeart/2005/8/layout/hierarchy4"/>
    <dgm:cxn modelId="{86141C64-B99F-4845-88CB-39CC3750499F}" type="presParOf" srcId="{5CB6AC89-B589-4034-BC14-365C59F7BE47}" destId="{FD2D810A-2388-4805-A9D6-AD137CF0FD98}" srcOrd="0" destOrd="0" presId="urn:microsoft.com/office/officeart/2005/8/layout/hierarchy4"/>
    <dgm:cxn modelId="{3B35DFF6-D75E-4952-849B-245857A354B3}" type="presParOf" srcId="{5CB6AC89-B589-4034-BC14-365C59F7BE47}" destId="{D5CC7077-6719-4A6A-9D62-5F72368F56A4}" srcOrd="1" destOrd="0" presId="urn:microsoft.com/office/officeart/2005/8/layout/hierarchy4"/>
    <dgm:cxn modelId="{B8DB0339-6DFC-4F18-8615-FC4298C0B2BC}" type="presParOf" srcId="{2F366C28-43A4-49FD-9074-D5A857A6084B}" destId="{98A9BD2F-1074-45D9-A8A3-726ED03F0801}" srcOrd="1" destOrd="0" presId="urn:microsoft.com/office/officeart/2005/8/layout/hierarchy4"/>
    <dgm:cxn modelId="{09F2D323-072B-4165-AF86-DD0685D45D8F}" type="presParOf" srcId="{2F366C28-43A4-49FD-9074-D5A857A6084B}" destId="{7B3AAC3D-AA37-4645-BF80-5BE06C3F2541}" srcOrd="2" destOrd="0" presId="urn:microsoft.com/office/officeart/2005/8/layout/hierarchy4"/>
    <dgm:cxn modelId="{F2985F86-7B1A-4099-8673-DA53EC7E06EF}" type="presParOf" srcId="{7B3AAC3D-AA37-4645-BF80-5BE06C3F2541}" destId="{7E9961C4-29AB-4443-A6E1-E3F0F2CBDE34}" srcOrd="0" destOrd="0" presId="urn:microsoft.com/office/officeart/2005/8/layout/hierarchy4"/>
    <dgm:cxn modelId="{919EDF49-16D1-446A-A192-7E2094500506}" type="presParOf" srcId="{7B3AAC3D-AA37-4645-BF80-5BE06C3F2541}" destId="{88B4D3E5-B8D3-46F8-8CE3-3951F937FED8}" srcOrd="1" destOrd="0" presId="urn:microsoft.com/office/officeart/2005/8/layout/hierarchy4"/>
    <dgm:cxn modelId="{23657ED2-B33B-4A3F-9A23-0C2A50AB7331}" type="presParOf" srcId="{7B3AAC3D-AA37-4645-BF80-5BE06C3F2541}" destId="{B9B8EE67-CFED-4AA1-99D2-94ED8B784915}" srcOrd="2" destOrd="0" presId="urn:microsoft.com/office/officeart/2005/8/layout/hierarchy4"/>
    <dgm:cxn modelId="{2DE97003-A1B1-4C35-9E3E-5497BFF0D043}" type="presParOf" srcId="{B9B8EE67-CFED-4AA1-99D2-94ED8B784915}" destId="{083B1AB5-8189-4D60-B5D8-F5311BC3A5BC}" srcOrd="0" destOrd="0" presId="urn:microsoft.com/office/officeart/2005/8/layout/hierarchy4"/>
    <dgm:cxn modelId="{F9188BB0-7DC1-412A-9866-324633FBB870}" type="presParOf" srcId="{083B1AB5-8189-4D60-B5D8-F5311BC3A5BC}" destId="{CDDEC979-F1A2-4409-8FF0-293406F051D4}" srcOrd="0" destOrd="0" presId="urn:microsoft.com/office/officeart/2005/8/layout/hierarchy4"/>
    <dgm:cxn modelId="{CFAD942B-5F48-4E3E-AEA3-4B698E42E2F3}" type="presParOf" srcId="{083B1AB5-8189-4D60-B5D8-F5311BC3A5BC}" destId="{23EF2601-CA9A-4601-B2E5-60B16A764DE0}" srcOrd="1" destOrd="0" presId="urn:microsoft.com/office/officeart/2005/8/layout/hierarchy4"/>
    <dgm:cxn modelId="{EA1FF327-5424-49EC-AEB1-39B98AC619CF}" type="presParOf" srcId="{083B1AB5-8189-4D60-B5D8-F5311BC3A5BC}" destId="{7C360DB0-7071-412C-BDF2-FC9B8EC9EB23}" srcOrd="2" destOrd="0" presId="urn:microsoft.com/office/officeart/2005/8/layout/hierarchy4"/>
    <dgm:cxn modelId="{AF2EE709-3F09-457F-8AAF-1E150997AEC2}" type="presParOf" srcId="{7C360DB0-7071-412C-BDF2-FC9B8EC9EB23}" destId="{967C8E1F-BE2F-4F71-BF51-EEDC066BA6C5}" srcOrd="0" destOrd="0" presId="urn:microsoft.com/office/officeart/2005/8/layout/hierarchy4"/>
    <dgm:cxn modelId="{EF81F832-3C37-4B44-9F46-2910F9EFB929}" type="presParOf" srcId="{967C8E1F-BE2F-4F71-BF51-EEDC066BA6C5}" destId="{62CDD4D5-9FC5-425A-98C9-2E56C3098C88}" srcOrd="0" destOrd="0" presId="urn:microsoft.com/office/officeart/2005/8/layout/hierarchy4"/>
    <dgm:cxn modelId="{7A9503AB-D262-4953-AC0F-075D2E830BD9}" type="presParOf" srcId="{967C8E1F-BE2F-4F71-BF51-EEDC066BA6C5}" destId="{027C17C0-A4F1-4FF2-8017-0587BA2F9198}" srcOrd="1" destOrd="0" presId="urn:microsoft.com/office/officeart/2005/8/layout/hierarchy4"/>
    <dgm:cxn modelId="{964E233A-151C-4F02-AB98-508935991049}" type="presParOf" srcId="{7C360DB0-7071-412C-BDF2-FC9B8EC9EB23}" destId="{BDB666F2-4B71-42DA-8099-86E8A4D5D314}" srcOrd="1" destOrd="0" presId="urn:microsoft.com/office/officeart/2005/8/layout/hierarchy4"/>
    <dgm:cxn modelId="{967233B7-462E-492F-A1F9-FD40DD00A824}" type="presParOf" srcId="{7C360DB0-7071-412C-BDF2-FC9B8EC9EB23}" destId="{91272072-E735-4D24-8989-2373D508BEC8}" srcOrd="2" destOrd="0" presId="urn:microsoft.com/office/officeart/2005/8/layout/hierarchy4"/>
    <dgm:cxn modelId="{2188EEC0-A412-4BAF-BE2E-54D80303E3BF}" type="presParOf" srcId="{91272072-E735-4D24-8989-2373D508BEC8}" destId="{478024EF-49B2-4F32-9141-62FE4E0D9782}" srcOrd="0" destOrd="0" presId="urn:microsoft.com/office/officeart/2005/8/layout/hierarchy4"/>
    <dgm:cxn modelId="{11861149-EDEC-4BF6-A27D-3644DC66BACA}" type="presParOf" srcId="{91272072-E735-4D24-8989-2373D508BEC8}" destId="{4D08D0C4-4618-494D-86BE-5E595127227F}"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B15A947D-FB95-42D4-8983-CC973A333386}" type="doc">
      <dgm:prSet loTypeId="urn:microsoft.com/office/officeart/2005/8/layout/pyramid1" loCatId="pyramid" qsTypeId="urn:microsoft.com/office/officeart/2005/8/quickstyle/simple1" qsCatId="simple" csTypeId="urn:microsoft.com/office/officeart/2005/8/colors/colorful4" csCatId="colorful" phldr="1"/>
      <dgm:spPr/>
      <dgm:t>
        <a:bodyPr/>
        <a:lstStyle/>
        <a:p>
          <a:endParaRPr lang="zh-CN" altLang="en-US"/>
        </a:p>
      </dgm:t>
    </dgm:pt>
    <dgm:pt modelId="{C375B018-F1AF-428A-B76F-062D56F817CE}">
      <dgm:prSet phldrT="[文本]" phldr="0"/>
      <dgm:spPr/>
      <dgm:t>
        <a:bodyPr/>
        <a:lstStyle/>
        <a:p>
          <a:r>
            <a:rPr lang="zh-CN" altLang="en-US"/>
            <a:t>自我实现</a:t>
          </a:r>
        </a:p>
      </dgm:t>
    </dgm:pt>
    <dgm:pt modelId="{A22C3948-A156-47C1-9BD3-11CDDF4022FA}" type="parTrans" cxnId="{72BED893-CA83-4B66-9093-4AF30AC81240}">
      <dgm:prSet/>
      <dgm:spPr/>
      <dgm:t>
        <a:bodyPr/>
        <a:lstStyle/>
        <a:p>
          <a:endParaRPr lang="zh-CN" altLang="en-US"/>
        </a:p>
      </dgm:t>
    </dgm:pt>
    <dgm:pt modelId="{84ABE469-796B-4D53-B408-5D573D0D0C05}" type="sibTrans" cxnId="{72BED893-CA83-4B66-9093-4AF30AC81240}">
      <dgm:prSet/>
      <dgm:spPr/>
      <dgm:t>
        <a:bodyPr/>
        <a:lstStyle/>
        <a:p>
          <a:endParaRPr lang="zh-CN" altLang="en-US"/>
        </a:p>
      </dgm:t>
    </dgm:pt>
    <dgm:pt modelId="{D3E09607-E16E-40DE-B347-3141481171A2}">
      <dgm:prSet phldrT="[文本]"/>
      <dgm:spPr/>
      <dgm:t>
        <a:bodyPr/>
        <a:lstStyle/>
        <a:p>
          <a:r>
            <a:rPr lang="zh-CN" altLang="en-US"/>
            <a:t>自尊</a:t>
          </a:r>
        </a:p>
      </dgm:t>
    </dgm:pt>
    <dgm:pt modelId="{424A0A61-E6F6-47F6-9065-0E2339DE18D9}" type="parTrans" cxnId="{BC439408-2BD3-4CA0-8645-9E00A88CF042}">
      <dgm:prSet/>
      <dgm:spPr/>
      <dgm:t>
        <a:bodyPr/>
        <a:lstStyle/>
        <a:p>
          <a:endParaRPr lang="zh-CN" altLang="en-US"/>
        </a:p>
      </dgm:t>
    </dgm:pt>
    <dgm:pt modelId="{CB0361BF-3E2F-4C9C-B4E7-3CB028961CF3}" type="sibTrans" cxnId="{BC439408-2BD3-4CA0-8645-9E00A88CF042}">
      <dgm:prSet/>
      <dgm:spPr/>
      <dgm:t>
        <a:bodyPr/>
        <a:lstStyle/>
        <a:p>
          <a:endParaRPr lang="zh-CN" altLang="en-US"/>
        </a:p>
      </dgm:t>
    </dgm:pt>
    <dgm:pt modelId="{F8B1F041-A910-4B57-B9F6-332BC3910B3E}">
      <dgm:prSet phldrT="[文本]"/>
      <dgm:spPr/>
      <dgm:t>
        <a:bodyPr/>
        <a:lstStyle/>
        <a:p>
          <a:r>
            <a:rPr lang="zh-CN" altLang="en-US"/>
            <a:t>社会交往</a:t>
          </a:r>
        </a:p>
      </dgm:t>
    </dgm:pt>
    <dgm:pt modelId="{A5880B14-8BBC-4A68-9CC7-3B884E97FB99}" type="parTrans" cxnId="{FB39353C-4523-4E23-B662-E3EBC2C29903}">
      <dgm:prSet/>
      <dgm:spPr/>
      <dgm:t>
        <a:bodyPr/>
        <a:lstStyle/>
        <a:p>
          <a:endParaRPr lang="zh-CN" altLang="en-US"/>
        </a:p>
      </dgm:t>
    </dgm:pt>
    <dgm:pt modelId="{382261E2-ED80-414D-8A74-5EF189A15DA6}" type="sibTrans" cxnId="{FB39353C-4523-4E23-B662-E3EBC2C29903}">
      <dgm:prSet/>
      <dgm:spPr/>
      <dgm:t>
        <a:bodyPr/>
        <a:lstStyle/>
        <a:p>
          <a:endParaRPr lang="zh-CN" altLang="en-US"/>
        </a:p>
      </dgm:t>
    </dgm:pt>
    <dgm:pt modelId="{FC256E7C-95BF-48E8-8B97-8BFE068B8E12}">
      <dgm:prSet phldrT="[文本]"/>
      <dgm:spPr/>
      <dgm:t>
        <a:bodyPr/>
        <a:lstStyle/>
        <a:p>
          <a:r>
            <a:rPr lang="zh-CN" altLang="en-US"/>
            <a:t>生理</a:t>
          </a:r>
        </a:p>
      </dgm:t>
    </dgm:pt>
    <dgm:pt modelId="{AA98D051-1600-4B6D-9C6E-DC7CA7A645FE}" type="parTrans" cxnId="{282C9CD9-A772-4DB9-B5BF-37C3F8F0F88F}">
      <dgm:prSet/>
      <dgm:spPr/>
      <dgm:t>
        <a:bodyPr/>
        <a:lstStyle/>
        <a:p>
          <a:endParaRPr lang="zh-CN" altLang="en-US"/>
        </a:p>
      </dgm:t>
    </dgm:pt>
    <dgm:pt modelId="{370EDE43-808A-4ECA-9913-D6729A54A07B}" type="sibTrans" cxnId="{282C9CD9-A772-4DB9-B5BF-37C3F8F0F88F}">
      <dgm:prSet/>
      <dgm:spPr/>
      <dgm:t>
        <a:bodyPr/>
        <a:lstStyle/>
        <a:p>
          <a:endParaRPr lang="zh-CN" altLang="en-US"/>
        </a:p>
      </dgm:t>
    </dgm:pt>
    <dgm:pt modelId="{5EE006FA-8454-4DDE-9F27-873DD486CE5A}">
      <dgm:prSet phldrT="[文本]"/>
      <dgm:spPr/>
      <dgm:t>
        <a:bodyPr/>
        <a:lstStyle/>
        <a:p>
          <a:r>
            <a:rPr lang="zh-CN" altLang="en-US"/>
            <a:t>安全</a:t>
          </a:r>
        </a:p>
      </dgm:t>
    </dgm:pt>
    <dgm:pt modelId="{9AD0A352-4983-44B1-A2F0-D5C2004825B8}" type="parTrans" cxnId="{5D9AAB25-DF04-4864-9E13-56604F78D28D}">
      <dgm:prSet/>
      <dgm:spPr/>
      <dgm:t>
        <a:bodyPr/>
        <a:lstStyle/>
        <a:p>
          <a:endParaRPr lang="zh-CN" altLang="en-US"/>
        </a:p>
      </dgm:t>
    </dgm:pt>
    <dgm:pt modelId="{451FE425-7D27-435B-B88C-DAFB10AE3EE8}" type="sibTrans" cxnId="{5D9AAB25-DF04-4864-9E13-56604F78D28D}">
      <dgm:prSet/>
      <dgm:spPr/>
      <dgm:t>
        <a:bodyPr/>
        <a:lstStyle/>
        <a:p>
          <a:endParaRPr lang="zh-CN" altLang="en-US"/>
        </a:p>
      </dgm:t>
    </dgm:pt>
    <dgm:pt modelId="{C8042BAB-60F4-43F0-A09B-8BABA9F67ACE}" type="pres">
      <dgm:prSet presAssocID="{B15A947D-FB95-42D4-8983-CC973A333386}" presName="Name0" presStyleCnt="0">
        <dgm:presLayoutVars>
          <dgm:dir/>
          <dgm:animLvl val="lvl"/>
          <dgm:resizeHandles val="exact"/>
        </dgm:presLayoutVars>
      </dgm:prSet>
      <dgm:spPr/>
    </dgm:pt>
    <dgm:pt modelId="{E5835DF1-32F9-4BE1-AB4A-28CA303730CA}" type="pres">
      <dgm:prSet presAssocID="{C375B018-F1AF-428A-B76F-062D56F817CE}" presName="Name8" presStyleCnt="0"/>
      <dgm:spPr/>
    </dgm:pt>
    <dgm:pt modelId="{44321236-7E97-488C-9025-7B1510750C97}" type="pres">
      <dgm:prSet presAssocID="{C375B018-F1AF-428A-B76F-062D56F817CE}" presName="level" presStyleLbl="node1" presStyleIdx="0" presStyleCnt="5">
        <dgm:presLayoutVars>
          <dgm:chMax val="1"/>
          <dgm:bulletEnabled val="1"/>
        </dgm:presLayoutVars>
      </dgm:prSet>
      <dgm:spPr/>
    </dgm:pt>
    <dgm:pt modelId="{58972435-7CDC-4141-ABF6-38421A5BB8B5}" type="pres">
      <dgm:prSet presAssocID="{C375B018-F1AF-428A-B76F-062D56F817CE}" presName="levelTx" presStyleLbl="revTx" presStyleIdx="0" presStyleCnt="0">
        <dgm:presLayoutVars>
          <dgm:chMax val="1"/>
          <dgm:bulletEnabled val="1"/>
        </dgm:presLayoutVars>
      </dgm:prSet>
      <dgm:spPr/>
    </dgm:pt>
    <dgm:pt modelId="{2CCBD2ED-0460-4033-A52E-CBFE6FD68B11}" type="pres">
      <dgm:prSet presAssocID="{D3E09607-E16E-40DE-B347-3141481171A2}" presName="Name8" presStyleCnt="0"/>
      <dgm:spPr/>
    </dgm:pt>
    <dgm:pt modelId="{2F299D70-5224-4C9C-9CB1-AFD882711B69}" type="pres">
      <dgm:prSet presAssocID="{D3E09607-E16E-40DE-B347-3141481171A2}" presName="level" presStyleLbl="node1" presStyleIdx="1" presStyleCnt="5">
        <dgm:presLayoutVars>
          <dgm:chMax val="1"/>
          <dgm:bulletEnabled val="1"/>
        </dgm:presLayoutVars>
      </dgm:prSet>
      <dgm:spPr/>
    </dgm:pt>
    <dgm:pt modelId="{9715F03A-45B5-43EC-A6D6-2B34988299E5}" type="pres">
      <dgm:prSet presAssocID="{D3E09607-E16E-40DE-B347-3141481171A2}" presName="levelTx" presStyleLbl="revTx" presStyleIdx="0" presStyleCnt="0">
        <dgm:presLayoutVars>
          <dgm:chMax val="1"/>
          <dgm:bulletEnabled val="1"/>
        </dgm:presLayoutVars>
      </dgm:prSet>
      <dgm:spPr/>
    </dgm:pt>
    <dgm:pt modelId="{00A5EBB5-55F8-4A54-B1F6-1A8DF9EC1D8A}" type="pres">
      <dgm:prSet presAssocID="{F8B1F041-A910-4B57-B9F6-332BC3910B3E}" presName="Name8" presStyleCnt="0"/>
      <dgm:spPr/>
    </dgm:pt>
    <dgm:pt modelId="{76D34559-A530-45C2-A0B6-720AD4C0207E}" type="pres">
      <dgm:prSet presAssocID="{F8B1F041-A910-4B57-B9F6-332BC3910B3E}" presName="level" presStyleLbl="node1" presStyleIdx="2" presStyleCnt="5">
        <dgm:presLayoutVars>
          <dgm:chMax val="1"/>
          <dgm:bulletEnabled val="1"/>
        </dgm:presLayoutVars>
      </dgm:prSet>
      <dgm:spPr/>
    </dgm:pt>
    <dgm:pt modelId="{50BF56CD-A2AD-4F81-AF53-4F016C96E080}" type="pres">
      <dgm:prSet presAssocID="{F8B1F041-A910-4B57-B9F6-332BC3910B3E}" presName="levelTx" presStyleLbl="revTx" presStyleIdx="0" presStyleCnt="0">
        <dgm:presLayoutVars>
          <dgm:chMax val="1"/>
          <dgm:bulletEnabled val="1"/>
        </dgm:presLayoutVars>
      </dgm:prSet>
      <dgm:spPr/>
    </dgm:pt>
    <dgm:pt modelId="{0AB00CFD-CFE7-427F-912D-A85FDED66C52}" type="pres">
      <dgm:prSet presAssocID="{5EE006FA-8454-4DDE-9F27-873DD486CE5A}" presName="Name8" presStyleCnt="0"/>
      <dgm:spPr/>
    </dgm:pt>
    <dgm:pt modelId="{8F6F6EB1-74EE-4946-86A7-A5F9FCDABEE5}" type="pres">
      <dgm:prSet presAssocID="{5EE006FA-8454-4DDE-9F27-873DD486CE5A}" presName="level" presStyleLbl="node1" presStyleIdx="3" presStyleCnt="5">
        <dgm:presLayoutVars>
          <dgm:chMax val="1"/>
          <dgm:bulletEnabled val="1"/>
        </dgm:presLayoutVars>
      </dgm:prSet>
      <dgm:spPr/>
    </dgm:pt>
    <dgm:pt modelId="{96828562-C1EE-45E4-B018-5A466DAD0F7F}" type="pres">
      <dgm:prSet presAssocID="{5EE006FA-8454-4DDE-9F27-873DD486CE5A}" presName="levelTx" presStyleLbl="revTx" presStyleIdx="0" presStyleCnt="0">
        <dgm:presLayoutVars>
          <dgm:chMax val="1"/>
          <dgm:bulletEnabled val="1"/>
        </dgm:presLayoutVars>
      </dgm:prSet>
      <dgm:spPr/>
    </dgm:pt>
    <dgm:pt modelId="{4DCE7DBD-5467-4CF4-9EAB-B5C940D66910}" type="pres">
      <dgm:prSet presAssocID="{FC256E7C-95BF-48E8-8B97-8BFE068B8E12}" presName="Name8" presStyleCnt="0"/>
      <dgm:spPr/>
    </dgm:pt>
    <dgm:pt modelId="{50DFD313-CB4A-4B94-8CDD-8D2917A17D7E}" type="pres">
      <dgm:prSet presAssocID="{FC256E7C-95BF-48E8-8B97-8BFE068B8E12}" presName="level" presStyleLbl="node1" presStyleIdx="4" presStyleCnt="5">
        <dgm:presLayoutVars>
          <dgm:chMax val="1"/>
          <dgm:bulletEnabled val="1"/>
        </dgm:presLayoutVars>
      </dgm:prSet>
      <dgm:spPr/>
    </dgm:pt>
    <dgm:pt modelId="{0A12BD7C-1EA8-45E1-8EE0-30E61446098F}" type="pres">
      <dgm:prSet presAssocID="{FC256E7C-95BF-48E8-8B97-8BFE068B8E12}" presName="levelTx" presStyleLbl="revTx" presStyleIdx="0" presStyleCnt="0">
        <dgm:presLayoutVars>
          <dgm:chMax val="1"/>
          <dgm:bulletEnabled val="1"/>
        </dgm:presLayoutVars>
      </dgm:prSet>
      <dgm:spPr/>
    </dgm:pt>
  </dgm:ptLst>
  <dgm:cxnLst>
    <dgm:cxn modelId="{BC439408-2BD3-4CA0-8645-9E00A88CF042}" srcId="{B15A947D-FB95-42D4-8983-CC973A333386}" destId="{D3E09607-E16E-40DE-B347-3141481171A2}" srcOrd="1" destOrd="0" parTransId="{424A0A61-E6F6-47F6-9065-0E2339DE18D9}" sibTransId="{CB0361BF-3E2F-4C9C-B4E7-3CB028961CF3}"/>
    <dgm:cxn modelId="{AE3E1D0C-04B5-481D-97CD-382001B6CE98}" type="presOf" srcId="{D3E09607-E16E-40DE-B347-3141481171A2}" destId="{2F299D70-5224-4C9C-9CB1-AFD882711B69}" srcOrd="0" destOrd="0" presId="urn:microsoft.com/office/officeart/2005/8/layout/pyramid1"/>
    <dgm:cxn modelId="{0F62281D-AA74-4857-928E-B314E6C70906}" type="presOf" srcId="{C375B018-F1AF-428A-B76F-062D56F817CE}" destId="{44321236-7E97-488C-9025-7B1510750C97}" srcOrd="0" destOrd="0" presId="urn:microsoft.com/office/officeart/2005/8/layout/pyramid1"/>
    <dgm:cxn modelId="{46E1631F-C668-456C-BB6E-0C641602ABB6}" type="presOf" srcId="{C375B018-F1AF-428A-B76F-062D56F817CE}" destId="{58972435-7CDC-4141-ABF6-38421A5BB8B5}" srcOrd="1" destOrd="0" presId="urn:microsoft.com/office/officeart/2005/8/layout/pyramid1"/>
    <dgm:cxn modelId="{9D488721-23BF-46D7-9C6D-E34F21B8B26E}" type="presOf" srcId="{F8B1F041-A910-4B57-B9F6-332BC3910B3E}" destId="{50BF56CD-A2AD-4F81-AF53-4F016C96E080}" srcOrd="1" destOrd="0" presId="urn:microsoft.com/office/officeart/2005/8/layout/pyramid1"/>
    <dgm:cxn modelId="{5D9AAB25-DF04-4864-9E13-56604F78D28D}" srcId="{B15A947D-FB95-42D4-8983-CC973A333386}" destId="{5EE006FA-8454-4DDE-9F27-873DD486CE5A}" srcOrd="3" destOrd="0" parTransId="{9AD0A352-4983-44B1-A2F0-D5C2004825B8}" sibTransId="{451FE425-7D27-435B-B88C-DAFB10AE3EE8}"/>
    <dgm:cxn modelId="{717B2935-38AD-42F9-A619-3FAD9940C0B5}" type="presOf" srcId="{5EE006FA-8454-4DDE-9F27-873DD486CE5A}" destId="{96828562-C1EE-45E4-B018-5A466DAD0F7F}" srcOrd="1" destOrd="0" presId="urn:microsoft.com/office/officeart/2005/8/layout/pyramid1"/>
    <dgm:cxn modelId="{0038A136-FA5D-4725-AF4D-41AFE58E72E8}" type="presOf" srcId="{5EE006FA-8454-4DDE-9F27-873DD486CE5A}" destId="{8F6F6EB1-74EE-4946-86A7-A5F9FCDABEE5}" srcOrd="0" destOrd="0" presId="urn:microsoft.com/office/officeart/2005/8/layout/pyramid1"/>
    <dgm:cxn modelId="{FB39353C-4523-4E23-B662-E3EBC2C29903}" srcId="{B15A947D-FB95-42D4-8983-CC973A333386}" destId="{F8B1F041-A910-4B57-B9F6-332BC3910B3E}" srcOrd="2" destOrd="0" parTransId="{A5880B14-8BBC-4A68-9CC7-3B884E97FB99}" sibTransId="{382261E2-ED80-414D-8A74-5EF189A15DA6}"/>
    <dgm:cxn modelId="{28773D46-6F8D-4823-977D-9EC0B9D7CEDA}" type="presOf" srcId="{FC256E7C-95BF-48E8-8B97-8BFE068B8E12}" destId="{50DFD313-CB4A-4B94-8CDD-8D2917A17D7E}" srcOrd="0" destOrd="0" presId="urn:microsoft.com/office/officeart/2005/8/layout/pyramid1"/>
    <dgm:cxn modelId="{72BED893-CA83-4B66-9093-4AF30AC81240}" srcId="{B15A947D-FB95-42D4-8983-CC973A333386}" destId="{C375B018-F1AF-428A-B76F-062D56F817CE}" srcOrd="0" destOrd="0" parTransId="{A22C3948-A156-47C1-9BD3-11CDDF4022FA}" sibTransId="{84ABE469-796B-4D53-B408-5D573D0D0C05}"/>
    <dgm:cxn modelId="{74A89F95-4CAB-40A1-9BFC-C3FA0378BA43}" type="presOf" srcId="{D3E09607-E16E-40DE-B347-3141481171A2}" destId="{9715F03A-45B5-43EC-A6D6-2B34988299E5}" srcOrd="1" destOrd="0" presId="urn:microsoft.com/office/officeart/2005/8/layout/pyramid1"/>
    <dgm:cxn modelId="{EC3C9BB7-EC85-4B25-BFA2-766349963312}" type="presOf" srcId="{FC256E7C-95BF-48E8-8B97-8BFE068B8E12}" destId="{0A12BD7C-1EA8-45E1-8EE0-30E61446098F}" srcOrd="1" destOrd="0" presId="urn:microsoft.com/office/officeart/2005/8/layout/pyramid1"/>
    <dgm:cxn modelId="{8C97F4C5-5AC8-4B92-83BA-D742F7959096}" type="presOf" srcId="{F8B1F041-A910-4B57-B9F6-332BC3910B3E}" destId="{76D34559-A530-45C2-A0B6-720AD4C0207E}" srcOrd="0" destOrd="0" presId="urn:microsoft.com/office/officeart/2005/8/layout/pyramid1"/>
    <dgm:cxn modelId="{282C9CD9-A772-4DB9-B5BF-37C3F8F0F88F}" srcId="{B15A947D-FB95-42D4-8983-CC973A333386}" destId="{FC256E7C-95BF-48E8-8B97-8BFE068B8E12}" srcOrd="4" destOrd="0" parTransId="{AA98D051-1600-4B6D-9C6E-DC7CA7A645FE}" sibTransId="{370EDE43-808A-4ECA-9913-D6729A54A07B}"/>
    <dgm:cxn modelId="{4FF948F7-B2B5-48A1-B5F5-B52E65CDD35B}" type="presOf" srcId="{B15A947D-FB95-42D4-8983-CC973A333386}" destId="{C8042BAB-60F4-43F0-A09B-8BABA9F67ACE}" srcOrd="0" destOrd="0" presId="urn:microsoft.com/office/officeart/2005/8/layout/pyramid1"/>
    <dgm:cxn modelId="{91086788-A296-44CB-ADC6-1D50F817DE03}" type="presParOf" srcId="{C8042BAB-60F4-43F0-A09B-8BABA9F67ACE}" destId="{E5835DF1-32F9-4BE1-AB4A-28CA303730CA}" srcOrd="0" destOrd="0" presId="urn:microsoft.com/office/officeart/2005/8/layout/pyramid1"/>
    <dgm:cxn modelId="{FD077357-3D00-4020-BBCD-F02294DE24AF}" type="presParOf" srcId="{E5835DF1-32F9-4BE1-AB4A-28CA303730CA}" destId="{44321236-7E97-488C-9025-7B1510750C97}" srcOrd="0" destOrd="0" presId="urn:microsoft.com/office/officeart/2005/8/layout/pyramid1"/>
    <dgm:cxn modelId="{45DEA2D5-D4D0-4AE0-AF07-D59A90BCF7D8}" type="presParOf" srcId="{E5835DF1-32F9-4BE1-AB4A-28CA303730CA}" destId="{58972435-7CDC-4141-ABF6-38421A5BB8B5}" srcOrd="1" destOrd="0" presId="urn:microsoft.com/office/officeart/2005/8/layout/pyramid1"/>
    <dgm:cxn modelId="{43EC1F5F-BED3-4699-8BB1-4F567878DECE}" type="presParOf" srcId="{C8042BAB-60F4-43F0-A09B-8BABA9F67ACE}" destId="{2CCBD2ED-0460-4033-A52E-CBFE6FD68B11}" srcOrd="1" destOrd="0" presId="urn:microsoft.com/office/officeart/2005/8/layout/pyramid1"/>
    <dgm:cxn modelId="{A3E72B10-FAA4-4910-B87C-44A7980F9717}" type="presParOf" srcId="{2CCBD2ED-0460-4033-A52E-CBFE6FD68B11}" destId="{2F299D70-5224-4C9C-9CB1-AFD882711B69}" srcOrd="0" destOrd="0" presId="urn:microsoft.com/office/officeart/2005/8/layout/pyramid1"/>
    <dgm:cxn modelId="{25BC898E-CFF3-452F-AEE7-2EEABA3BFBBD}" type="presParOf" srcId="{2CCBD2ED-0460-4033-A52E-CBFE6FD68B11}" destId="{9715F03A-45B5-43EC-A6D6-2B34988299E5}" srcOrd="1" destOrd="0" presId="urn:microsoft.com/office/officeart/2005/8/layout/pyramid1"/>
    <dgm:cxn modelId="{F18DEAF8-1774-4D01-9FFA-455520C4D34D}" type="presParOf" srcId="{C8042BAB-60F4-43F0-A09B-8BABA9F67ACE}" destId="{00A5EBB5-55F8-4A54-B1F6-1A8DF9EC1D8A}" srcOrd="2" destOrd="0" presId="urn:microsoft.com/office/officeart/2005/8/layout/pyramid1"/>
    <dgm:cxn modelId="{7B8D9004-C631-4E73-9A17-E56699BDD351}" type="presParOf" srcId="{00A5EBB5-55F8-4A54-B1F6-1A8DF9EC1D8A}" destId="{76D34559-A530-45C2-A0B6-720AD4C0207E}" srcOrd="0" destOrd="0" presId="urn:microsoft.com/office/officeart/2005/8/layout/pyramid1"/>
    <dgm:cxn modelId="{E439476F-F676-453C-9727-59E3971EC697}" type="presParOf" srcId="{00A5EBB5-55F8-4A54-B1F6-1A8DF9EC1D8A}" destId="{50BF56CD-A2AD-4F81-AF53-4F016C96E080}" srcOrd="1" destOrd="0" presId="urn:microsoft.com/office/officeart/2005/8/layout/pyramid1"/>
    <dgm:cxn modelId="{1A693B34-18B0-4C51-8D89-A58931C24F1A}" type="presParOf" srcId="{C8042BAB-60F4-43F0-A09B-8BABA9F67ACE}" destId="{0AB00CFD-CFE7-427F-912D-A85FDED66C52}" srcOrd="3" destOrd="0" presId="urn:microsoft.com/office/officeart/2005/8/layout/pyramid1"/>
    <dgm:cxn modelId="{10D4B1F1-8215-45CD-9758-1250856CFF6B}" type="presParOf" srcId="{0AB00CFD-CFE7-427F-912D-A85FDED66C52}" destId="{8F6F6EB1-74EE-4946-86A7-A5F9FCDABEE5}" srcOrd="0" destOrd="0" presId="urn:microsoft.com/office/officeart/2005/8/layout/pyramid1"/>
    <dgm:cxn modelId="{9511A730-D596-4241-82E8-E24A301AB80C}" type="presParOf" srcId="{0AB00CFD-CFE7-427F-912D-A85FDED66C52}" destId="{96828562-C1EE-45E4-B018-5A466DAD0F7F}" srcOrd="1" destOrd="0" presId="urn:microsoft.com/office/officeart/2005/8/layout/pyramid1"/>
    <dgm:cxn modelId="{B3FEFDEC-0765-4766-B1D1-33F7D5A067D0}" type="presParOf" srcId="{C8042BAB-60F4-43F0-A09B-8BABA9F67ACE}" destId="{4DCE7DBD-5467-4CF4-9EAB-B5C940D66910}" srcOrd="4" destOrd="0" presId="urn:microsoft.com/office/officeart/2005/8/layout/pyramid1"/>
    <dgm:cxn modelId="{F01AC76D-5E94-4E92-B114-112E500C013A}" type="presParOf" srcId="{4DCE7DBD-5467-4CF4-9EAB-B5C940D66910}" destId="{50DFD313-CB4A-4B94-8CDD-8D2917A17D7E}" srcOrd="0" destOrd="0" presId="urn:microsoft.com/office/officeart/2005/8/layout/pyramid1"/>
    <dgm:cxn modelId="{06A3F380-0C7B-4D99-81CA-099340016C36}" type="presParOf" srcId="{4DCE7DBD-5467-4CF4-9EAB-B5C940D66910}" destId="{0A12BD7C-1EA8-45E1-8EE0-30E61446098F}" srcOrd="1" destOrd="0" presId="urn:microsoft.com/office/officeart/2005/8/layout/pyramid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a:ln>
          <a:noFill/>
        </a:ln>
      </dgm:spPr>
      <dgm:t>
        <a:bodyPr/>
        <a:lstStyle/>
        <a:p>
          <a:r>
            <a:rPr lang="zh-CN" altLang="en-US"/>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a:ln>
          <a:noFill/>
        </a:ln>
      </dgm:spPr>
      <dgm:t>
        <a:bodyPr/>
        <a:lstStyle/>
        <a:p>
          <a:r>
            <a:rPr lang="zh-CN" altLang="en-US"/>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a:ln>
          <a:noFill/>
        </a:ln>
      </dgm:spPr>
      <dgm:t>
        <a:bodyPr/>
        <a:lstStyle/>
        <a:p>
          <a:r>
            <a:rPr lang="zh-CN" altLang="en-US"/>
            <a:t>事件影响</a:t>
          </a:r>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a:ln>
          <a:noFill/>
        </a:ln>
      </dgm:spPr>
      <dgm:t>
        <a:bodyPr/>
        <a:lstStyle/>
        <a:p>
          <a:r>
            <a:rPr lang="zh-CN" altLang="en-US"/>
            <a:t>事件概率</a:t>
          </a:r>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AACCFAB-3586-4C89-82F5-30CA64F870D8}" type="doc">
      <dgm:prSet loTypeId="urn:microsoft.com/office/officeart/2005/8/layout/hList6" loCatId="list" qsTypeId="urn:microsoft.com/office/officeart/2005/8/quickstyle/simple1" qsCatId="simple" csTypeId="urn:microsoft.com/office/officeart/2005/8/colors/colorful4" csCatId="colorful" phldr="1"/>
      <dgm:spPr/>
      <dgm:t>
        <a:bodyPr/>
        <a:lstStyle/>
        <a:p>
          <a:endParaRPr lang="zh-CN" altLang="en-US"/>
        </a:p>
      </dgm:t>
    </dgm:pt>
    <dgm:pt modelId="{8A8A65F4-3297-48D4-BA56-5E009D932CE9}">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总价合同</a:t>
          </a:r>
        </a:p>
      </dgm:t>
    </dgm:pt>
    <dgm:pt modelId="{334A39A2-FF71-4BDD-9616-86C39CE7B69C}" type="par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03D3FB13-FD44-4B83-8171-008A3801D643}" type="sib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446430FD-F2F4-476B-98F5-9A925A78FC3A}">
      <dgm:prSet phldrT="[Text]" custT="1"/>
      <dgm:spPr>
        <a:ln>
          <a:noFill/>
        </a:ln>
      </dgm:spPr>
      <dgm:t>
        <a:bodyPr/>
        <a:lstStyle/>
        <a:p>
          <a:r>
            <a:rPr lang="zh-CN" sz="2000" baseline="0">
              <a:latin typeface="Montserrat" panose="00000500000000000000" pitchFamily="2" charset="0"/>
              <a:ea typeface="微软雅黑 Light" panose="020B0502040204020203" pitchFamily="34" charset="-122"/>
            </a:rPr>
            <a:t>工料合同</a:t>
          </a:r>
          <a:r>
            <a:rPr lang="en-US" sz="2000" baseline="0">
              <a:latin typeface="Montserrat" panose="00000500000000000000" pitchFamily="2" charset="0"/>
              <a:ea typeface="微软雅黑 Light" panose="020B0502040204020203" pitchFamily="34" charset="-122"/>
            </a:rPr>
            <a:t> (T&amp;M)</a:t>
          </a:r>
          <a:endParaRPr lang="zh-CN" altLang="en-US" sz="2000" baseline="0">
            <a:latin typeface="Montserrat" panose="00000500000000000000" pitchFamily="2" charset="0"/>
            <a:ea typeface="微软雅黑 Light" panose="020B0502040204020203" pitchFamily="34" charset="-122"/>
          </a:endParaRPr>
        </a:p>
      </dgm:t>
    </dgm:pt>
    <dgm:pt modelId="{02E8D32E-D7F0-4144-AD3E-2C1C18F83F1A}" type="par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7D0852B4-8680-47AF-BD9B-F9EB79E56F9F}" type="sib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57EC28DB-B8CC-4FA6-BFA0-D285A16E219A}">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成本补偿合同</a:t>
          </a:r>
        </a:p>
      </dgm:t>
    </dgm:pt>
    <dgm:pt modelId="{DE13C03E-0559-4483-8BD4-D101362B01A6}" type="parTrans" cxnId="{85AC08F9-1B3C-4FB9-817F-DF515D14E8D8}">
      <dgm:prSet/>
      <dgm:spPr/>
      <dgm:t>
        <a:bodyPr/>
        <a:lstStyle/>
        <a:p>
          <a:endParaRPr lang="zh-CN" altLang="en-US"/>
        </a:p>
      </dgm:t>
    </dgm:pt>
    <dgm:pt modelId="{B6F603EF-FD68-4E5B-911D-CF2D65B4A795}" type="sibTrans" cxnId="{85AC08F9-1B3C-4FB9-817F-DF515D14E8D8}">
      <dgm:prSet/>
      <dgm:spPr/>
      <dgm:t>
        <a:bodyPr/>
        <a:lstStyle/>
        <a:p>
          <a:endParaRPr lang="zh-CN" altLang="en-US"/>
        </a:p>
      </dgm:t>
    </dgm:pt>
    <dgm:pt modelId="{4A310EC1-FE5F-4F20-9E01-29ACD37F6A17}" type="pres">
      <dgm:prSet presAssocID="{BAACCFAB-3586-4C89-82F5-30CA64F870D8}" presName="Name0" presStyleCnt="0">
        <dgm:presLayoutVars>
          <dgm:dir/>
          <dgm:resizeHandles val="exact"/>
        </dgm:presLayoutVars>
      </dgm:prSet>
      <dgm:spPr/>
    </dgm:pt>
    <dgm:pt modelId="{AA1DEA56-CC33-43BE-8735-4441E7C69179}" type="pres">
      <dgm:prSet presAssocID="{8A8A65F4-3297-48D4-BA56-5E009D932CE9}" presName="node" presStyleLbl="node1" presStyleIdx="0" presStyleCnt="3">
        <dgm:presLayoutVars>
          <dgm:bulletEnabled val="1"/>
        </dgm:presLayoutVars>
      </dgm:prSet>
      <dgm:spPr/>
    </dgm:pt>
    <dgm:pt modelId="{C1C59A16-AED7-4FAB-8FAC-6F8EC110EF93}" type="pres">
      <dgm:prSet presAssocID="{03D3FB13-FD44-4B83-8171-008A3801D643}" presName="sibTrans" presStyleCnt="0"/>
      <dgm:spPr/>
    </dgm:pt>
    <dgm:pt modelId="{CC23A85F-B3C2-4016-B27B-80BB483ECD01}" type="pres">
      <dgm:prSet presAssocID="{57EC28DB-B8CC-4FA6-BFA0-D285A16E219A}" presName="node" presStyleLbl="node1" presStyleIdx="1" presStyleCnt="3">
        <dgm:presLayoutVars>
          <dgm:bulletEnabled val="1"/>
        </dgm:presLayoutVars>
      </dgm:prSet>
      <dgm:spPr/>
    </dgm:pt>
    <dgm:pt modelId="{1E12A7E7-692A-4FDF-B7FB-97F34CFEFF4D}" type="pres">
      <dgm:prSet presAssocID="{B6F603EF-FD68-4E5B-911D-CF2D65B4A795}" presName="sibTrans" presStyleCnt="0"/>
      <dgm:spPr/>
    </dgm:pt>
    <dgm:pt modelId="{16BA34B7-974C-4F6C-94BC-484155B2C518}" type="pres">
      <dgm:prSet presAssocID="{446430FD-F2F4-476B-98F5-9A925A78FC3A}" presName="node" presStyleLbl="node1" presStyleIdx="2" presStyleCnt="3">
        <dgm:presLayoutVars>
          <dgm:bulletEnabled val="1"/>
        </dgm:presLayoutVars>
      </dgm:prSet>
      <dgm:spPr/>
    </dgm:pt>
  </dgm:ptLst>
  <dgm:cxnLst>
    <dgm:cxn modelId="{60C3DF45-C853-4813-AD15-7DB3C26D687D}" type="presOf" srcId="{57EC28DB-B8CC-4FA6-BFA0-D285A16E219A}" destId="{CC23A85F-B3C2-4016-B27B-80BB483ECD01}" srcOrd="0" destOrd="0" presId="urn:microsoft.com/office/officeart/2005/8/layout/hList6"/>
    <dgm:cxn modelId="{F3E6E699-0927-489E-92C4-80B6E4AA6199}" type="presOf" srcId="{BAACCFAB-3586-4C89-82F5-30CA64F870D8}" destId="{4A310EC1-FE5F-4F20-9E01-29ACD37F6A17}" srcOrd="0" destOrd="0" presId="urn:microsoft.com/office/officeart/2005/8/layout/hList6"/>
    <dgm:cxn modelId="{EA1E26A0-B55A-483C-93D6-CE65C1AE0420}" srcId="{BAACCFAB-3586-4C89-82F5-30CA64F870D8}" destId="{8A8A65F4-3297-48D4-BA56-5E009D932CE9}" srcOrd="0" destOrd="0" parTransId="{334A39A2-FF71-4BDD-9616-86C39CE7B69C}" sibTransId="{03D3FB13-FD44-4B83-8171-008A3801D643}"/>
    <dgm:cxn modelId="{56FA3BB1-9135-448C-95D7-9E55A572A619}" type="presOf" srcId="{446430FD-F2F4-476B-98F5-9A925A78FC3A}" destId="{16BA34B7-974C-4F6C-94BC-484155B2C518}" srcOrd="0" destOrd="0" presId="urn:microsoft.com/office/officeart/2005/8/layout/hList6"/>
    <dgm:cxn modelId="{97B3D9F1-38B7-4163-A4F8-5AA1E9B42352}" type="presOf" srcId="{8A8A65F4-3297-48D4-BA56-5E009D932CE9}" destId="{AA1DEA56-CC33-43BE-8735-4441E7C69179}" srcOrd="0" destOrd="0" presId="urn:microsoft.com/office/officeart/2005/8/layout/hList6"/>
    <dgm:cxn modelId="{31AF39F6-3C31-4C06-8BE6-D647A8EC59D0}" srcId="{BAACCFAB-3586-4C89-82F5-30CA64F870D8}" destId="{446430FD-F2F4-476B-98F5-9A925A78FC3A}" srcOrd="2" destOrd="0" parTransId="{02E8D32E-D7F0-4144-AD3E-2C1C18F83F1A}" sibTransId="{7D0852B4-8680-47AF-BD9B-F9EB79E56F9F}"/>
    <dgm:cxn modelId="{85AC08F9-1B3C-4FB9-817F-DF515D14E8D8}" srcId="{BAACCFAB-3586-4C89-82F5-30CA64F870D8}" destId="{57EC28DB-B8CC-4FA6-BFA0-D285A16E219A}" srcOrd="1" destOrd="0" parTransId="{DE13C03E-0559-4483-8BD4-D101362B01A6}" sibTransId="{B6F603EF-FD68-4E5B-911D-CF2D65B4A795}"/>
    <dgm:cxn modelId="{EE942C26-C297-4C23-9332-0DD0B13092A4}" type="presParOf" srcId="{4A310EC1-FE5F-4F20-9E01-29ACD37F6A17}" destId="{AA1DEA56-CC33-43BE-8735-4441E7C69179}" srcOrd="0" destOrd="0" presId="urn:microsoft.com/office/officeart/2005/8/layout/hList6"/>
    <dgm:cxn modelId="{74A6A0AA-7F28-4B4A-A3BD-B65A2D721E9C}" type="presParOf" srcId="{4A310EC1-FE5F-4F20-9E01-29ACD37F6A17}" destId="{C1C59A16-AED7-4FAB-8FAC-6F8EC110EF93}" srcOrd="1" destOrd="0" presId="urn:microsoft.com/office/officeart/2005/8/layout/hList6"/>
    <dgm:cxn modelId="{F16028D6-E6F6-4545-A577-C4789A65C1D0}" type="presParOf" srcId="{4A310EC1-FE5F-4F20-9E01-29ACD37F6A17}" destId="{CC23A85F-B3C2-4016-B27B-80BB483ECD01}" srcOrd="2" destOrd="0" presId="urn:microsoft.com/office/officeart/2005/8/layout/hList6"/>
    <dgm:cxn modelId="{E976A187-E42B-4E3F-A655-61A59CD8A1C6}" type="presParOf" srcId="{4A310EC1-FE5F-4F20-9E01-29ACD37F6A17}" destId="{1E12A7E7-692A-4FDF-B7FB-97F34CFEFF4D}" srcOrd="3" destOrd="0" presId="urn:microsoft.com/office/officeart/2005/8/layout/hList6"/>
    <dgm:cxn modelId="{3D51D667-9852-4F9A-9C93-2282D0F97544}" type="presParOf" srcId="{4A310EC1-FE5F-4F20-9E01-29ACD37F6A17}" destId="{16BA34B7-974C-4F6C-94BC-484155B2C518}" srcOrd="4"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a:t>Scope</a:t>
          </a:r>
          <a:endParaRPr lang="zh-CN" altLang="en-US"/>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01512CD1-0C27-4A7D-BDBF-37445F9866A6}" type="doc">
      <dgm:prSet loTypeId="urn:microsoft.com/office/officeart/2008/layout/AscendingPictureAccentProcess" loCatId="picture" qsTypeId="urn:microsoft.com/office/officeart/2005/8/quickstyle/simple1" qsCatId="simple" csTypeId="urn:microsoft.com/office/officeart/2005/8/colors/colorful5" csCatId="colorful" phldr="1"/>
      <dgm:spPr/>
    </dgm:pt>
    <dgm:pt modelId="{BEA28C3D-C999-4D2B-ACEF-BB6386790377}">
      <dgm:prSet phldrT="[文本]"/>
      <dgm:spPr>
        <a:ln>
          <a:noFill/>
        </a:ln>
      </dgm:spPr>
      <dgm:t>
        <a:bodyPr/>
        <a:lstStyle/>
        <a:p>
          <a:r>
            <a:rPr lang="zh-CN" altLang="en-US"/>
            <a:t>项目验收</a:t>
          </a:r>
        </a:p>
      </dgm:t>
    </dgm:pt>
    <dgm:pt modelId="{199F9488-57BA-4C00-8B7F-0AA21C5F5E4D}" type="parTrans" cxnId="{0BEA772C-5276-4402-A1FD-6AFF7F367CEC}">
      <dgm:prSet/>
      <dgm:spPr/>
      <dgm:t>
        <a:bodyPr/>
        <a:lstStyle/>
        <a:p>
          <a:endParaRPr lang="zh-CN" altLang="en-US"/>
        </a:p>
      </dgm:t>
    </dgm:pt>
    <dgm:pt modelId="{D45716AA-7F7E-4E47-9883-4CE4E6D02F3F}" type="sibTrans" cxnId="{0BEA772C-5276-4402-A1FD-6AFF7F367CEC}">
      <dgm:prSet/>
      <dgm:spPr/>
      <dgm:t>
        <a:bodyPr/>
        <a:lstStyle/>
        <a:p>
          <a:endParaRPr lang="zh-CN" altLang="en-US"/>
        </a:p>
      </dgm:t>
    </dgm:pt>
    <dgm:pt modelId="{4628FF22-A938-4E1F-A998-8F0ECD4082C0}">
      <dgm:prSet phldrT="[文本]"/>
      <dgm:spPr>
        <a:ln>
          <a:noFill/>
        </a:ln>
      </dgm:spPr>
      <dgm:t>
        <a:bodyPr/>
        <a:lstStyle/>
        <a:p>
          <a:r>
            <a:rPr lang="zh-CN" altLang="en-US"/>
            <a:t>合同终止</a:t>
          </a:r>
        </a:p>
      </dgm:t>
    </dgm:pt>
    <dgm:pt modelId="{FF1F14AC-D6DE-4439-9747-0392D6D1E2BB}" type="parTrans" cxnId="{A5CE13A3-8DD9-4DAC-9EF6-A5044BB96565}">
      <dgm:prSet/>
      <dgm:spPr/>
      <dgm:t>
        <a:bodyPr/>
        <a:lstStyle/>
        <a:p>
          <a:endParaRPr lang="zh-CN" altLang="en-US"/>
        </a:p>
      </dgm:t>
    </dgm:pt>
    <dgm:pt modelId="{A3AE1904-6BA6-40EA-AEC5-E26C366DEF9D}" type="sibTrans" cxnId="{A5CE13A3-8DD9-4DAC-9EF6-A5044BB96565}">
      <dgm:prSet/>
      <dgm:spPr/>
      <dgm:t>
        <a:bodyPr/>
        <a:lstStyle/>
        <a:p>
          <a:endParaRPr lang="zh-CN" altLang="en-US"/>
        </a:p>
      </dgm:t>
    </dgm:pt>
    <dgm:pt modelId="{39C81503-D47E-4820-A49E-75471A80276C}">
      <dgm:prSet phldrT="[文本]"/>
      <dgm:spPr>
        <a:ln>
          <a:noFill/>
        </a:ln>
      </dgm:spPr>
      <dgm:t>
        <a:bodyPr/>
        <a:lstStyle/>
        <a:p>
          <a:r>
            <a:rPr lang="zh-CN" altLang="en-US"/>
            <a:t>项目最后评审</a:t>
          </a:r>
        </a:p>
      </dgm:t>
    </dgm:pt>
    <dgm:pt modelId="{1D701A97-F5E5-4936-B59B-93BBF8D811C2}" type="parTrans" cxnId="{8A4FC1FC-E363-4C13-B074-42490557B45F}">
      <dgm:prSet/>
      <dgm:spPr/>
      <dgm:t>
        <a:bodyPr/>
        <a:lstStyle/>
        <a:p>
          <a:endParaRPr lang="zh-CN" altLang="en-US"/>
        </a:p>
      </dgm:t>
    </dgm:pt>
    <dgm:pt modelId="{5F82DC52-A1B8-484A-B26D-C3C606035339}" type="sibTrans" cxnId="{8A4FC1FC-E363-4C13-B074-42490557B45F}">
      <dgm:prSet/>
      <dgm:spPr/>
      <dgm:t>
        <a:bodyPr/>
        <a:lstStyle/>
        <a:p>
          <a:endParaRPr lang="zh-CN" altLang="en-US"/>
        </a:p>
      </dgm:t>
    </dgm:pt>
    <dgm:pt modelId="{45A51376-644B-46CD-93CC-FF61A033D948}">
      <dgm:prSet phldrT="[文本]"/>
      <dgm:spPr>
        <a:ln>
          <a:noFill/>
        </a:ln>
      </dgm:spPr>
      <dgm:t>
        <a:bodyPr/>
        <a:lstStyle/>
        <a:p>
          <a:r>
            <a:rPr lang="zh-CN" altLang="en-US"/>
            <a:t>项目总结报告</a:t>
          </a:r>
        </a:p>
      </dgm:t>
    </dgm:pt>
    <dgm:pt modelId="{6C86E0C1-52D2-4E7A-AA89-00BFD1D3432E}" type="parTrans" cxnId="{946A6002-6B3F-487C-B8DB-B08B97BDD1EF}">
      <dgm:prSet/>
      <dgm:spPr/>
      <dgm:t>
        <a:bodyPr/>
        <a:lstStyle/>
        <a:p>
          <a:endParaRPr lang="zh-CN" altLang="en-US"/>
        </a:p>
      </dgm:t>
    </dgm:pt>
    <dgm:pt modelId="{9D1832CB-100D-4EF8-8345-4292109EC15F}" type="sibTrans" cxnId="{946A6002-6B3F-487C-B8DB-B08B97BDD1EF}">
      <dgm:prSet/>
      <dgm:spPr/>
      <dgm:t>
        <a:bodyPr/>
        <a:lstStyle/>
        <a:p>
          <a:endParaRPr lang="zh-CN" altLang="en-US"/>
        </a:p>
      </dgm:t>
    </dgm:pt>
    <dgm:pt modelId="{61233899-0404-423C-8881-37D9A9640AB0}" type="pres">
      <dgm:prSet presAssocID="{01512CD1-0C27-4A7D-BDBF-37445F9866A6}" presName="Name0" presStyleCnt="0">
        <dgm:presLayoutVars>
          <dgm:chMax val="7"/>
          <dgm:chPref val="7"/>
          <dgm:dir/>
        </dgm:presLayoutVars>
      </dgm:prSet>
      <dgm:spPr/>
    </dgm:pt>
    <dgm:pt modelId="{7FBF205D-9977-4197-B218-6546F80E8725}" type="pres">
      <dgm:prSet presAssocID="{01512CD1-0C27-4A7D-BDBF-37445F9866A6}" presName="dot1" presStyleLbl="alignNode1" presStyleIdx="0" presStyleCnt="13"/>
      <dgm:spPr/>
    </dgm:pt>
    <dgm:pt modelId="{1E288050-D3C1-43B7-A40C-33CA4EAF871D}" type="pres">
      <dgm:prSet presAssocID="{01512CD1-0C27-4A7D-BDBF-37445F9866A6}" presName="dot2" presStyleLbl="alignNode1" presStyleIdx="1" presStyleCnt="13"/>
      <dgm:spPr/>
    </dgm:pt>
    <dgm:pt modelId="{70650512-A9F8-4507-8DAA-B360DB4B8446}" type="pres">
      <dgm:prSet presAssocID="{01512CD1-0C27-4A7D-BDBF-37445F9866A6}" presName="dot3" presStyleLbl="alignNode1" presStyleIdx="2" presStyleCnt="13"/>
      <dgm:spPr/>
    </dgm:pt>
    <dgm:pt modelId="{D88E4492-38BE-4A53-B47D-620257A76880}" type="pres">
      <dgm:prSet presAssocID="{01512CD1-0C27-4A7D-BDBF-37445F9866A6}" presName="dot4" presStyleLbl="alignNode1" presStyleIdx="3" presStyleCnt="13"/>
      <dgm:spPr/>
    </dgm:pt>
    <dgm:pt modelId="{27D1C86B-3030-4A29-BCB3-9F7FB7F4A81C}" type="pres">
      <dgm:prSet presAssocID="{01512CD1-0C27-4A7D-BDBF-37445F9866A6}" presName="dot5" presStyleLbl="alignNode1" presStyleIdx="4" presStyleCnt="13"/>
      <dgm:spPr/>
    </dgm:pt>
    <dgm:pt modelId="{5C44CD02-1B5B-407F-BA68-36A5C5225080}" type="pres">
      <dgm:prSet presAssocID="{01512CD1-0C27-4A7D-BDBF-37445F9866A6}" presName="dot6" presStyleLbl="alignNode1" presStyleIdx="5" presStyleCnt="13"/>
      <dgm:spPr/>
    </dgm:pt>
    <dgm:pt modelId="{DCB553B9-2D29-463B-885B-2AB3654FC5DC}" type="pres">
      <dgm:prSet presAssocID="{01512CD1-0C27-4A7D-BDBF-37445F9866A6}" presName="dotArrow1" presStyleLbl="alignNode1" presStyleIdx="6" presStyleCnt="13"/>
      <dgm:spPr/>
    </dgm:pt>
    <dgm:pt modelId="{E03DEB45-4767-484B-B07F-8035D4FF8144}" type="pres">
      <dgm:prSet presAssocID="{01512CD1-0C27-4A7D-BDBF-37445F9866A6}" presName="dotArrow2" presStyleLbl="alignNode1" presStyleIdx="7" presStyleCnt="13"/>
      <dgm:spPr/>
    </dgm:pt>
    <dgm:pt modelId="{E4587F2D-8A77-4784-A432-D531B1A31BD4}" type="pres">
      <dgm:prSet presAssocID="{01512CD1-0C27-4A7D-BDBF-37445F9866A6}" presName="dotArrow3" presStyleLbl="alignNode1" presStyleIdx="8" presStyleCnt="13"/>
      <dgm:spPr/>
    </dgm:pt>
    <dgm:pt modelId="{8F7AA7A6-BE78-4C47-96D0-A9778FD08B06}" type="pres">
      <dgm:prSet presAssocID="{01512CD1-0C27-4A7D-BDBF-37445F9866A6}" presName="dotArrow4" presStyleLbl="alignNode1" presStyleIdx="9" presStyleCnt="13"/>
      <dgm:spPr/>
    </dgm:pt>
    <dgm:pt modelId="{6787A4BE-5EB2-474E-9C43-8D94334B42F9}" type="pres">
      <dgm:prSet presAssocID="{01512CD1-0C27-4A7D-BDBF-37445F9866A6}" presName="dotArrow5" presStyleLbl="alignNode1" presStyleIdx="10" presStyleCnt="13"/>
      <dgm:spPr/>
    </dgm:pt>
    <dgm:pt modelId="{80BEC77D-3080-4C6D-9B8C-C10A40531F9D}" type="pres">
      <dgm:prSet presAssocID="{01512CD1-0C27-4A7D-BDBF-37445F9866A6}" presName="dotArrow6" presStyleLbl="alignNode1" presStyleIdx="11" presStyleCnt="13"/>
      <dgm:spPr/>
    </dgm:pt>
    <dgm:pt modelId="{24B063D7-86FA-4070-B7D4-32507B925161}" type="pres">
      <dgm:prSet presAssocID="{01512CD1-0C27-4A7D-BDBF-37445F9866A6}" presName="dotArrow7" presStyleLbl="alignNode1" presStyleIdx="12" presStyleCnt="13"/>
      <dgm:spPr/>
    </dgm:pt>
    <dgm:pt modelId="{D21F8134-CC38-4E63-8BBC-848694C9088E}" type="pres">
      <dgm:prSet presAssocID="{BEA28C3D-C999-4D2B-ACEF-BB6386790377}" presName="parTx1" presStyleLbl="node1" presStyleIdx="0" presStyleCnt="4"/>
      <dgm:spPr/>
    </dgm:pt>
    <dgm:pt modelId="{8CACBBF8-B01E-43D0-A6EB-B1C375AD5B1D}" type="pres">
      <dgm:prSet presAssocID="{D45716AA-7F7E-4E47-9883-4CE4E6D02F3F}" presName="picture1" presStyleCnt="0"/>
      <dgm:spPr/>
    </dgm:pt>
    <dgm:pt modelId="{FEE3AF7A-A9B6-49E6-B161-ACE803504278}" type="pres">
      <dgm:prSet presAssocID="{D45716AA-7F7E-4E47-9883-4CE4E6D02F3F}" presName="imageRepeatNode" presStyleLbl="fgImgPlace1" presStyleIdx="0" presStyleCnt="4"/>
      <dgm:spPr/>
    </dgm:pt>
    <dgm:pt modelId="{AC366577-85F8-4446-BF40-16D146BD8EDA}" type="pres">
      <dgm:prSet presAssocID="{4628FF22-A938-4E1F-A998-8F0ECD4082C0}" presName="parTx2" presStyleLbl="node1" presStyleIdx="1" presStyleCnt="4"/>
      <dgm:spPr/>
    </dgm:pt>
    <dgm:pt modelId="{DC5A6A50-2307-4A3A-AD6C-BE41B2C7CC5F}" type="pres">
      <dgm:prSet presAssocID="{A3AE1904-6BA6-40EA-AEC5-E26C366DEF9D}" presName="picture2" presStyleCnt="0"/>
      <dgm:spPr/>
    </dgm:pt>
    <dgm:pt modelId="{F4F6C737-765C-4321-A1C5-C8099FFECEF0}" type="pres">
      <dgm:prSet presAssocID="{A3AE1904-6BA6-40EA-AEC5-E26C366DEF9D}" presName="imageRepeatNode" presStyleLbl="fgImgPlace1" presStyleIdx="1" presStyleCnt="4"/>
      <dgm:spPr/>
    </dgm:pt>
    <dgm:pt modelId="{FE7EC5B8-832C-4FA6-94AE-814683D00B05}" type="pres">
      <dgm:prSet presAssocID="{39C81503-D47E-4820-A49E-75471A80276C}" presName="parTx3" presStyleLbl="node1" presStyleIdx="2" presStyleCnt="4"/>
      <dgm:spPr/>
    </dgm:pt>
    <dgm:pt modelId="{C684E5E1-9D8D-4CD6-B313-36C95FD59288}" type="pres">
      <dgm:prSet presAssocID="{5F82DC52-A1B8-484A-B26D-C3C606035339}" presName="picture3" presStyleCnt="0"/>
      <dgm:spPr/>
    </dgm:pt>
    <dgm:pt modelId="{B5BB9956-3C30-4A7A-A1E1-C16D4B177626}" type="pres">
      <dgm:prSet presAssocID="{5F82DC52-A1B8-484A-B26D-C3C606035339}" presName="imageRepeatNode" presStyleLbl="fgImgPlace1" presStyleIdx="2" presStyleCnt="4"/>
      <dgm:spPr/>
    </dgm:pt>
    <dgm:pt modelId="{6CFDDF2C-90A3-4F81-8F4D-27DD03C2C285}" type="pres">
      <dgm:prSet presAssocID="{45A51376-644B-46CD-93CC-FF61A033D948}" presName="parTx4" presStyleLbl="node1" presStyleIdx="3" presStyleCnt="4" custScaleX="99988"/>
      <dgm:spPr/>
    </dgm:pt>
    <dgm:pt modelId="{509EFC82-59D4-4618-940F-41EDBB45C4B1}" type="pres">
      <dgm:prSet presAssocID="{9D1832CB-100D-4EF8-8345-4292109EC15F}" presName="picture4" presStyleCnt="0"/>
      <dgm:spPr/>
    </dgm:pt>
    <dgm:pt modelId="{75EE274E-6437-449B-ABCA-AF8787CF15E9}" type="pres">
      <dgm:prSet presAssocID="{9D1832CB-100D-4EF8-8345-4292109EC15F}" presName="imageRepeatNode" presStyleLbl="fgImgPlace1" presStyleIdx="3" presStyleCnt="4"/>
      <dgm:spPr/>
    </dgm:pt>
  </dgm:ptLst>
  <dgm:cxnLst>
    <dgm:cxn modelId="{946A6002-6B3F-487C-B8DB-B08B97BDD1EF}" srcId="{01512CD1-0C27-4A7D-BDBF-37445F9866A6}" destId="{45A51376-644B-46CD-93CC-FF61A033D948}" srcOrd="3" destOrd="0" parTransId="{6C86E0C1-52D2-4E7A-AA89-00BFD1D3432E}" sibTransId="{9D1832CB-100D-4EF8-8345-4292109EC15F}"/>
    <dgm:cxn modelId="{0BEA772C-5276-4402-A1FD-6AFF7F367CEC}" srcId="{01512CD1-0C27-4A7D-BDBF-37445F9866A6}" destId="{BEA28C3D-C999-4D2B-ACEF-BB6386790377}" srcOrd="0" destOrd="0" parTransId="{199F9488-57BA-4C00-8B7F-0AA21C5F5E4D}" sibTransId="{D45716AA-7F7E-4E47-9883-4CE4E6D02F3F}"/>
    <dgm:cxn modelId="{2C918B30-2711-458B-9B5A-5CF7E890BF37}" type="presOf" srcId="{D45716AA-7F7E-4E47-9883-4CE4E6D02F3F}" destId="{FEE3AF7A-A9B6-49E6-B161-ACE803504278}" srcOrd="0" destOrd="0" presId="urn:microsoft.com/office/officeart/2008/layout/AscendingPictureAccentProcess"/>
    <dgm:cxn modelId="{93232434-6E87-405E-B1E5-B1EF49A01BAE}" type="presOf" srcId="{BEA28C3D-C999-4D2B-ACEF-BB6386790377}" destId="{D21F8134-CC38-4E63-8BBC-848694C9088E}" srcOrd="0" destOrd="0" presId="urn:microsoft.com/office/officeart/2008/layout/AscendingPictureAccentProcess"/>
    <dgm:cxn modelId="{9A287841-EA9F-47C3-8A4A-128F7752225B}" type="presOf" srcId="{4628FF22-A938-4E1F-A998-8F0ECD4082C0}" destId="{AC366577-85F8-4446-BF40-16D146BD8EDA}" srcOrd="0" destOrd="0" presId="urn:microsoft.com/office/officeart/2008/layout/AscendingPictureAccentProcess"/>
    <dgm:cxn modelId="{628BC156-FB41-4BBE-937B-E0586C80D8F5}" type="presOf" srcId="{01512CD1-0C27-4A7D-BDBF-37445F9866A6}" destId="{61233899-0404-423C-8881-37D9A9640AB0}" srcOrd="0" destOrd="0" presId="urn:microsoft.com/office/officeart/2008/layout/AscendingPictureAccentProcess"/>
    <dgm:cxn modelId="{BBCC697A-60D7-4F26-B247-0B3C50C0A0B9}" type="presOf" srcId="{A3AE1904-6BA6-40EA-AEC5-E26C366DEF9D}" destId="{F4F6C737-765C-4321-A1C5-C8099FFECEF0}" srcOrd="0" destOrd="0" presId="urn:microsoft.com/office/officeart/2008/layout/AscendingPictureAccentProcess"/>
    <dgm:cxn modelId="{744E7A85-7491-483E-9E56-E1DE77C0F085}" type="presOf" srcId="{45A51376-644B-46CD-93CC-FF61A033D948}" destId="{6CFDDF2C-90A3-4F81-8F4D-27DD03C2C285}" srcOrd="0" destOrd="0" presId="urn:microsoft.com/office/officeart/2008/layout/AscendingPictureAccentProcess"/>
    <dgm:cxn modelId="{A5CE13A3-8DD9-4DAC-9EF6-A5044BB96565}" srcId="{01512CD1-0C27-4A7D-BDBF-37445F9866A6}" destId="{4628FF22-A938-4E1F-A998-8F0ECD4082C0}" srcOrd="1" destOrd="0" parTransId="{FF1F14AC-D6DE-4439-9747-0392D6D1E2BB}" sibTransId="{A3AE1904-6BA6-40EA-AEC5-E26C366DEF9D}"/>
    <dgm:cxn modelId="{BC10BDA7-318F-4F47-BAC8-006EA47FF79D}" type="presOf" srcId="{5F82DC52-A1B8-484A-B26D-C3C606035339}" destId="{B5BB9956-3C30-4A7A-A1E1-C16D4B177626}" srcOrd="0" destOrd="0" presId="urn:microsoft.com/office/officeart/2008/layout/AscendingPictureAccentProcess"/>
    <dgm:cxn modelId="{55ABE5AA-B993-4C80-AE71-44F2C843AB7E}" type="presOf" srcId="{9D1832CB-100D-4EF8-8345-4292109EC15F}" destId="{75EE274E-6437-449B-ABCA-AF8787CF15E9}" srcOrd="0" destOrd="0" presId="urn:microsoft.com/office/officeart/2008/layout/AscendingPictureAccentProcess"/>
    <dgm:cxn modelId="{AF3744F9-4602-419F-ABC1-8F21BB7B416F}" type="presOf" srcId="{39C81503-D47E-4820-A49E-75471A80276C}" destId="{FE7EC5B8-832C-4FA6-94AE-814683D00B05}" srcOrd="0" destOrd="0" presId="urn:microsoft.com/office/officeart/2008/layout/AscendingPictureAccentProcess"/>
    <dgm:cxn modelId="{8A4FC1FC-E363-4C13-B074-42490557B45F}" srcId="{01512CD1-0C27-4A7D-BDBF-37445F9866A6}" destId="{39C81503-D47E-4820-A49E-75471A80276C}" srcOrd="2" destOrd="0" parTransId="{1D701A97-F5E5-4936-B59B-93BBF8D811C2}" sibTransId="{5F82DC52-A1B8-484A-B26D-C3C606035339}"/>
    <dgm:cxn modelId="{D455048A-0191-407A-BBDD-6DCEA5C1EACE}" type="presParOf" srcId="{61233899-0404-423C-8881-37D9A9640AB0}" destId="{7FBF205D-9977-4197-B218-6546F80E8725}" srcOrd="0" destOrd="0" presId="urn:microsoft.com/office/officeart/2008/layout/AscendingPictureAccentProcess"/>
    <dgm:cxn modelId="{1E3B69ED-BD04-4E63-A7A8-255792483C9E}" type="presParOf" srcId="{61233899-0404-423C-8881-37D9A9640AB0}" destId="{1E288050-D3C1-43B7-A40C-33CA4EAF871D}" srcOrd="1" destOrd="0" presId="urn:microsoft.com/office/officeart/2008/layout/AscendingPictureAccentProcess"/>
    <dgm:cxn modelId="{B7AF14BE-C3BD-434D-9A8A-BD99EF882191}" type="presParOf" srcId="{61233899-0404-423C-8881-37D9A9640AB0}" destId="{70650512-A9F8-4507-8DAA-B360DB4B8446}" srcOrd="2" destOrd="0" presId="urn:microsoft.com/office/officeart/2008/layout/AscendingPictureAccentProcess"/>
    <dgm:cxn modelId="{DACD38B1-DB3A-4337-8D43-2589CB1F1BFD}" type="presParOf" srcId="{61233899-0404-423C-8881-37D9A9640AB0}" destId="{D88E4492-38BE-4A53-B47D-620257A76880}" srcOrd="3" destOrd="0" presId="urn:microsoft.com/office/officeart/2008/layout/AscendingPictureAccentProcess"/>
    <dgm:cxn modelId="{C543BFA0-6286-4831-BA0A-CC8D0BBC6299}" type="presParOf" srcId="{61233899-0404-423C-8881-37D9A9640AB0}" destId="{27D1C86B-3030-4A29-BCB3-9F7FB7F4A81C}" srcOrd="4" destOrd="0" presId="urn:microsoft.com/office/officeart/2008/layout/AscendingPictureAccentProcess"/>
    <dgm:cxn modelId="{373EB663-7D54-418B-91CC-BCF5EECA987F}" type="presParOf" srcId="{61233899-0404-423C-8881-37D9A9640AB0}" destId="{5C44CD02-1B5B-407F-BA68-36A5C5225080}" srcOrd="5" destOrd="0" presId="urn:microsoft.com/office/officeart/2008/layout/AscendingPictureAccentProcess"/>
    <dgm:cxn modelId="{4EC7043C-4C73-47EB-A891-0B24F0A98E29}" type="presParOf" srcId="{61233899-0404-423C-8881-37D9A9640AB0}" destId="{DCB553B9-2D29-463B-885B-2AB3654FC5DC}" srcOrd="6" destOrd="0" presId="urn:microsoft.com/office/officeart/2008/layout/AscendingPictureAccentProcess"/>
    <dgm:cxn modelId="{72280ED0-D2A4-4173-8FE8-70139DDFD6B0}" type="presParOf" srcId="{61233899-0404-423C-8881-37D9A9640AB0}" destId="{E03DEB45-4767-484B-B07F-8035D4FF8144}" srcOrd="7" destOrd="0" presId="urn:microsoft.com/office/officeart/2008/layout/AscendingPictureAccentProcess"/>
    <dgm:cxn modelId="{2ED49F6A-165F-4C12-8A40-6DDE83B42C65}" type="presParOf" srcId="{61233899-0404-423C-8881-37D9A9640AB0}" destId="{E4587F2D-8A77-4784-A432-D531B1A31BD4}" srcOrd="8" destOrd="0" presId="urn:microsoft.com/office/officeart/2008/layout/AscendingPictureAccentProcess"/>
    <dgm:cxn modelId="{42BADE2B-9234-4B3A-8478-6F5950B461F4}" type="presParOf" srcId="{61233899-0404-423C-8881-37D9A9640AB0}" destId="{8F7AA7A6-BE78-4C47-96D0-A9778FD08B06}" srcOrd="9" destOrd="0" presId="urn:microsoft.com/office/officeart/2008/layout/AscendingPictureAccentProcess"/>
    <dgm:cxn modelId="{4A5B156C-1147-416D-B26C-42BA2AF583B7}" type="presParOf" srcId="{61233899-0404-423C-8881-37D9A9640AB0}" destId="{6787A4BE-5EB2-474E-9C43-8D94334B42F9}" srcOrd="10" destOrd="0" presId="urn:microsoft.com/office/officeart/2008/layout/AscendingPictureAccentProcess"/>
    <dgm:cxn modelId="{A7D4E7F7-E3B1-46BD-B011-6219F85C24B9}" type="presParOf" srcId="{61233899-0404-423C-8881-37D9A9640AB0}" destId="{80BEC77D-3080-4C6D-9B8C-C10A40531F9D}" srcOrd="11" destOrd="0" presId="urn:microsoft.com/office/officeart/2008/layout/AscendingPictureAccentProcess"/>
    <dgm:cxn modelId="{F45B4C73-5270-4C9C-AE2E-6E3EA18EA05E}" type="presParOf" srcId="{61233899-0404-423C-8881-37D9A9640AB0}" destId="{24B063D7-86FA-4070-B7D4-32507B925161}" srcOrd="12" destOrd="0" presId="urn:microsoft.com/office/officeart/2008/layout/AscendingPictureAccentProcess"/>
    <dgm:cxn modelId="{7FDCDECD-0CE6-48CB-8D19-7676CD4F21BA}" type="presParOf" srcId="{61233899-0404-423C-8881-37D9A9640AB0}" destId="{D21F8134-CC38-4E63-8BBC-848694C9088E}" srcOrd="13" destOrd="0" presId="urn:microsoft.com/office/officeart/2008/layout/AscendingPictureAccentProcess"/>
    <dgm:cxn modelId="{76E08A51-582F-47DB-AD38-7A929D102801}" type="presParOf" srcId="{61233899-0404-423C-8881-37D9A9640AB0}" destId="{8CACBBF8-B01E-43D0-A6EB-B1C375AD5B1D}" srcOrd="14" destOrd="0" presId="urn:microsoft.com/office/officeart/2008/layout/AscendingPictureAccentProcess"/>
    <dgm:cxn modelId="{69EC03CF-6FFA-45C2-8D78-BAAE5204E4AB}" type="presParOf" srcId="{8CACBBF8-B01E-43D0-A6EB-B1C375AD5B1D}" destId="{FEE3AF7A-A9B6-49E6-B161-ACE803504278}" srcOrd="0" destOrd="0" presId="urn:microsoft.com/office/officeart/2008/layout/AscendingPictureAccentProcess"/>
    <dgm:cxn modelId="{8F17DCF3-7BB6-4A5E-B31F-CA4A8ECD3204}" type="presParOf" srcId="{61233899-0404-423C-8881-37D9A9640AB0}" destId="{AC366577-85F8-4446-BF40-16D146BD8EDA}" srcOrd="15" destOrd="0" presId="urn:microsoft.com/office/officeart/2008/layout/AscendingPictureAccentProcess"/>
    <dgm:cxn modelId="{8CA7A085-BDF0-460F-9601-63DBEEFF3A69}" type="presParOf" srcId="{61233899-0404-423C-8881-37D9A9640AB0}" destId="{DC5A6A50-2307-4A3A-AD6C-BE41B2C7CC5F}" srcOrd="16" destOrd="0" presId="urn:microsoft.com/office/officeart/2008/layout/AscendingPictureAccentProcess"/>
    <dgm:cxn modelId="{A5295E68-F6A3-4A80-99F0-CDD47017B200}" type="presParOf" srcId="{DC5A6A50-2307-4A3A-AD6C-BE41B2C7CC5F}" destId="{F4F6C737-765C-4321-A1C5-C8099FFECEF0}" srcOrd="0" destOrd="0" presId="urn:microsoft.com/office/officeart/2008/layout/AscendingPictureAccentProcess"/>
    <dgm:cxn modelId="{45E3E106-33D8-4E79-BC87-E298EB6769C2}" type="presParOf" srcId="{61233899-0404-423C-8881-37D9A9640AB0}" destId="{FE7EC5B8-832C-4FA6-94AE-814683D00B05}" srcOrd="17" destOrd="0" presId="urn:microsoft.com/office/officeart/2008/layout/AscendingPictureAccentProcess"/>
    <dgm:cxn modelId="{0987450A-4C58-41D2-BF48-61ED59CBE70A}" type="presParOf" srcId="{61233899-0404-423C-8881-37D9A9640AB0}" destId="{C684E5E1-9D8D-4CD6-B313-36C95FD59288}" srcOrd="18" destOrd="0" presId="urn:microsoft.com/office/officeart/2008/layout/AscendingPictureAccentProcess"/>
    <dgm:cxn modelId="{0FD6FEC4-6C63-45EB-99C6-6225B5E58E77}" type="presParOf" srcId="{C684E5E1-9D8D-4CD6-B313-36C95FD59288}" destId="{B5BB9956-3C30-4A7A-A1E1-C16D4B177626}" srcOrd="0" destOrd="0" presId="urn:microsoft.com/office/officeart/2008/layout/AscendingPictureAccentProcess"/>
    <dgm:cxn modelId="{7453A153-10CC-4861-A57E-8DAF6E892FE7}" type="presParOf" srcId="{61233899-0404-423C-8881-37D9A9640AB0}" destId="{6CFDDF2C-90A3-4F81-8F4D-27DD03C2C285}" srcOrd="19" destOrd="0" presId="urn:microsoft.com/office/officeart/2008/layout/AscendingPictureAccentProcess"/>
    <dgm:cxn modelId="{214A8E04-F39F-4BCF-94DB-40225B5145C3}" type="presParOf" srcId="{61233899-0404-423C-8881-37D9A9640AB0}" destId="{509EFC82-59D4-4618-940F-41EDBB45C4B1}" srcOrd="20" destOrd="0" presId="urn:microsoft.com/office/officeart/2008/layout/AscendingPictureAccentProcess"/>
    <dgm:cxn modelId="{C6B4DE5F-E2BE-4E48-BB02-1AF141DC7A5C}" type="presParOf" srcId="{509EFC82-59D4-4618-940F-41EDBB45C4B1}" destId="{75EE274E-6437-449B-ABCA-AF8787CF15E9}" srcOrd="0" destOrd="0" presId="urn:microsoft.com/office/officeart/2008/layout/AscendingPictureAccent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ADF158-A952-4B9F-88F4-275DFAB1FA29}">
      <dsp:nvSpPr>
        <dsp:cNvPr id="0" name=""/>
        <dsp:cNvSpPr/>
      </dsp:nvSpPr>
      <dsp:spPr>
        <a:xfrm>
          <a:off x="10541" y="0"/>
          <a:ext cx="1633169" cy="435622"/>
        </a:xfrm>
        <a:prstGeom prst="roundRect">
          <a:avLst>
            <a:gd name="adj" fmla="val 10000"/>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作坊式</a:t>
          </a:r>
        </a:p>
      </dsp:txBody>
      <dsp:txXfrm>
        <a:off x="23300" y="12759"/>
        <a:ext cx="1607651" cy="410104"/>
      </dsp:txXfrm>
    </dsp:sp>
    <dsp:sp modelId="{0C32FBFE-10C4-4FF3-A267-AFC801A00F14}">
      <dsp:nvSpPr>
        <dsp:cNvPr id="0" name=""/>
        <dsp:cNvSpPr/>
      </dsp:nvSpPr>
      <dsp:spPr>
        <a:xfrm>
          <a:off x="1807027" y="15298"/>
          <a:ext cx="346231" cy="405025"/>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1807027" y="96303"/>
        <a:ext cx="242362" cy="243015"/>
      </dsp:txXfrm>
    </dsp:sp>
    <dsp:sp modelId="{29D3DA87-0011-4A76-A65D-494B23BD45F4}">
      <dsp:nvSpPr>
        <dsp:cNvPr id="0" name=""/>
        <dsp:cNvSpPr/>
      </dsp:nvSpPr>
      <dsp:spPr>
        <a:xfrm>
          <a:off x="2296978" y="0"/>
          <a:ext cx="1633169" cy="435622"/>
        </a:xfrm>
        <a:prstGeom prst="roundRect">
          <a:avLst>
            <a:gd name="adj" fmla="val 10000"/>
          </a:avLst>
        </a:prstGeom>
        <a:solidFill>
          <a:schemeClr val="accent5">
            <a:hueOff val="-1689636"/>
            <a:satOff val="-4355"/>
            <a:lumOff val="-2941"/>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瀑布模型</a:t>
          </a:r>
        </a:p>
      </dsp:txBody>
      <dsp:txXfrm>
        <a:off x="2309737" y="12759"/>
        <a:ext cx="1607651" cy="410104"/>
      </dsp:txXfrm>
    </dsp:sp>
    <dsp:sp modelId="{78B75696-CB8E-4C49-ABC6-35FEF9623411}">
      <dsp:nvSpPr>
        <dsp:cNvPr id="0" name=""/>
        <dsp:cNvSpPr/>
      </dsp:nvSpPr>
      <dsp:spPr>
        <a:xfrm>
          <a:off x="4093464" y="15298"/>
          <a:ext cx="346231" cy="405025"/>
        </a:xfrm>
        <a:prstGeom prst="rightArrow">
          <a:avLst>
            <a:gd name="adj1" fmla="val 60000"/>
            <a:gd name="adj2" fmla="val 50000"/>
          </a:avLst>
        </a:prstGeom>
        <a:solidFill>
          <a:schemeClr val="accent5">
            <a:hueOff val="-2252848"/>
            <a:satOff val="-5806"/>
            <a:lumOff val="-3922"/>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4093464" y="96303"/>
        <a:ext cx="242362" cy="243015"/>
      </dsp:txXfrm>
    </dsp:sp>
    <dsp:sp modelId="{E34925CE-CD92-45F4-9B3C-C0882D6C98D0}">
      <dsp:nvSpPr>
        <dsp:cNvPr id="0" name=""/>
        <dsp:cNvSpPr/>
      </dsp:nvSpPr>
      <dsp:spPr>
        <a:xfrm>
          <a:off x="4583414" y="0"/>
          <a:ext cx="1633169" cy="435622"/>
        </a:xfrm>
        <a:prstGeom prst="roundRect">
          <a:avLst>
            <a:gd name="adj" fmla="val 10000"/>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敏捷模型</a:t>
          </a:r>
        </a:p>
      </dsp:txBody>
      <dsp:txXfrm>
        <a:off x="4596173" y="12759"/>
        <a:ext cx="1607651" cy="410104"/>
      </dsp:txXfrm>
    </dsp:sp>
    <dsp:sp modelId="{0DDC3F8B-CF94-4636-AE2B-718D5DBA7077}">
      <dsp:nvSpPr>
        <dsp:cNvPr id="0" name=""/>
        <dsp:cNvSpPr/>
      </dsp:nvSpPr>
      <dsp:spPr>
        <a:xfrm>
          <a:off x="6379900" y="15298"/>
          <a:ext cx="346231" cy="405025"/>
        </a:xfrm>
        <a:prstGeom prst="rightArrow">
          <a:avLst>
            <a:gd name="adj1" fmla="val 60000"/>
            <a:gd name="adj2" fmla="val 50000"/>
          </a:avLst>
        </a:prstGeom>
        <a:solidFill>
          <a:schemeClr val="accent5">
            <a:hueOff val="-4505695"/>
            <a:satOff val="-11613"/>
            <a:lumOff val="-7843"/>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6379900" y="96303"/>
        <a:ext cx="242362" cy="243015"/>
      </dsp:txXfrm>
    </dsp:sp>
    <dsp:sp modelId="{0A97E01C-1896-44B0-9620-B2654069C781}">
      <dsp:nvSpPr>
        <dsp:cNvPr id="0" name=""/>
        <dsp:cNvSpPr/>
      </dsp:nvSpPr>
      <dsp:spPr>
        <a:xfrm>
          <a:off x="6869851" y="0"/>
          <a:ext cx="1633169" cy="435622"/>
        </a:xfrm>
        <a:prstGeom prst="roundRect">
          <a:avLst>
            <a:gd name="adj" fmla="val 10000"/>
          </a:avLst>
        </a:prstGeom>
        <a:solidFill>
          <a:schemeClr val="accent5">
            <a:hueOff val="-5068907"/>
            <a:satOff val="-13064"/>
            <a:lumOff val="-882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DevOps</a:t>
          </a:r>
          <a:endParaRPr lang="zh-CN" altLang="en-US" sz="1600" kern="1200"/>
        </a:p>
      </dsp:txBody>
      <dsp:txXfrm>
        <a:off x="6882610" y="12759"/>
        <a:ext cx="1607651" cy="410104"/>
      </dsp:txXfrm>
    </dsp:sp>
    <dsp:sp modelId="{41ECFA7A-E58A-431E-B695-C2E027DF06D5}">
      <dsp:nvSpPr>
        <dsp:cNvPr id="0" name=""/>
        <dsp:cNvSpPr/>
      </dsp:nvSpPr>
      <dsp:spPr>
        <a:xfrm>
          <a:off x="8666337" y="15298"/>
          <a:ext cx="346231" cy="405025"/>
        </a:xfrm>
        <a:prstGeom prst="rightArrow">
          <a:avLst>
            <a:gd name="adj1" fmla="val 60000"/>
            <a:gd name="adj2" fmla="val 50000"/>
          </a:avLst>
        </a:prstGeom>
        <a:solidFill>
          <a:schemeClr val="accent5">
            <a:hueOff val="-6758543"/>
            <a:satOff val="-17419"/>
            <a:lumOff val="-1176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8666337" y="96303"/>
        <a:ext cx="242362" cy="243015"/>
      </dsp:txXfrm>
    </dsp:sp>
    <dsp:sp modelId="{3774C801-6DD1-4DCA-AEC0-FF5F277F7766}">
      <dsp:nvSpPr>
        <dsp:cNvPr id="0" name=""/>
        <dsp:cNvSpPr/>
      </dsp:nvSpPr>
      <dsp:spPr>
        <a:xfrm>
          <a:off x="9156288" y="0"/>
          <a:ext cx="1633169" cy="435622"/>
        </a:xfrm>
        <a:prstGeom prst="roundRect">
          <a:avLst>
            <a:gd name="adj" fmla="val 10000"/>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AI</a:t>
          </a:r>
          <a:r>
            <a:rPr lang="zh-CN" altLang="en-US" sz="1600" kern="1200"/>
            <a:t>驱动模型</a:t>
          </a:r>
        </a:p>
      </dsp:txBody>
      <dsp:txXfrm>
        <a:off x="9169047" y="12759"/>
        <a:ext cx="1607651" cy="41010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55F96C-5F62-403D-B720-2827523383BB}">
      <dsp:nvSpPr>
        <dsp:cNvPr id="0" name=""/>
        <dsp:cNvSpPr/>
      </dsp:nvSpPr>
      <dsp:spPr>
        <a:xfrm>
          <a:off x="1463039" y="40639"/>
          <a:ext cx="1950720" cy="1950720"/>
        </a:xfrm>
        <a:prstGeom prst="ellipse">
          <a:avLst/>
        </a:prstGeom>
        <a:solidFill>
          <a:schemeClr val="accent2">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快速反馈</a:t>
          </a:r>
        </a:p>
      </dsp:txBody>
      <dsp:txXfrm>
        <a:off x="1723136" y="382015"/>
        <a:ext cx="1430528" cy="877824"/>
      </dsp:txXfrm>
    </dsp:sp>
    <dsp:sp modelId="{C472F469-9BB5-4B9A-98E1-8523C6F24AA2}">
      <dsp:nvSpPr>
        <dsp:cNvPr id="0" name=""/>
        <dsp:cNvSpPr/>
      </dsp:nvSpPr>
      <dsp:spPr>
        <a:xfrm>
          <a:off x="2166924" y="1259840"/>
          <a:ext cx="1950720" cy="1950720"/>
        </a:xfrm>
        <a:prstGeom prst="ellipse">
          <a:avLst/>
        </a:prstGeom>
        <a:solidFill>
          <a:schemeClr val="accent5">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假设简单</a:t>
          </a:r>
        </a:p>
      </dsp:txBody>
      <dsp:txXfrm>
        <a:off x="2763520" y="1763776"/>
        <a:ext cx="1170432" cy="1072896"/>
      </dsp:txXfrm>
    </dsp:sp>
    <dsp:sp modelId="{82BCCE81-EF41-4482-A478-D30C5E69613C}">
      <dsp:nvSpPr>
        <dsp:cNvPr id="0" name=""/>
        <dsp:cNvSpPr/>
      </dsp:nvSpPr>
      <dsp:spPr>
        <a:xfrm>
          <a:off x="759155" y="1259840"/>
          <a:ext cx="1950720" cy="1950720"/>
        </a:xfrm>
        <a:prstGeom prst="ellipse">
          <a:avLst/>
        </a:prstGeom>
        <a:solidFill>
          <a:schemeClr val="accent6">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包容变化</a:t>
          </a:r>
        </a:p>
      </dsp:txBody>
      <dsp:txXfrm>
        <a:off x="942847" y="1763776"/>
        <a:ext cx="1170432" cy="107289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no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Product Backlog </a:t>
          </a:r>
          <a:r>
            <a:rPr lang="zh-CN" altLang="en-US" sz="1800" kern="120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no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Sprint Backlog </a:t>
          </a:r>
          <a:r>
            <a:rPr lang="zh-CN" altLang="en-US" sz="1800" kern="120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no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Increment </a:t>
          </a:r>
          <a:r>
            <a:rPr lang="zh-CN" altLang="en-US" sz="1800" kern="1200"/>
            <a:t>增量</a:t>
          </a:r>
        </a:p>
      </dsp:txBody>
      <dsp:txXfrm>
        <a:off x="295939" y="2282779"/>
        <a:ext cx="3728122" cy="47948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332A65-A83D-4ADE-AEAA-94BD3A499623}">
      <dsp:nvSpPr>
        <dsp:cNvPr id="0" name=""/>
        <dsp:cNvSpPr/>
      </dsp:nvSpPr>
      <dsp:spPr>
        <a:xfrm>
          <a:off x="4166" y="811538"/>
          <a:ext cx="1245315" cy="74718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规模估算</a:t>
          </a:r>
        </a:p>
      </dsp:txBody>
      <dsp:txXfrm>
        <a:off x="26050" y="833422"/>
        <a:ext cx="1201547" cy="703421"/>
      </dsp:txXfrm>
    </dsp:sp>
    <dsp:sp modelId="{0EA024C3-660E-4EEA-920A-0399489AEA61}">
      <dsp:nvSpPr>
        <dsp:cNvPr id="0" name=""/>
        <dsp:cNvSpPr/>
      </dsp:nvSpPr>
      <dsp:spPr>
        <a:xfrm>
          <a:off x="1374013" y="1030713"/>
          <a:ext cx="264006" cy="308838"/>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1374013" y="1092481"/>
        <a:ext cx="184804" cy="185302"/>
      </dsp:txXfrm>
    </dsp:sp>
    <dsp:sp modelId="{39E9393F-1572-40D6-8CE6-9937E533BF75}">
      <dsp:nvSpPr>
        <dsp:cNvPr id="0" name=""/>
        <dsp:cNvSpPr/>
      </dsp:nvSpPr>
      <dsp:spPr>
        <a:xfrm>
          <a:off x="1747608" y="811538"/>
          <a:ext cx="1245315" cy="747189"/>
        </a:xfrm>
        <a:prstGeom prst="roundRect">
          <a:avLst>
            <a:gd name="adj" fmla="val 10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工作量估算</a:t>
          </a:r>
        </a:p>
      </dsp:txBody>
      <dsp:txXfrm>
        <a:off x="1769492" y="833422"/>
        <a:ext cx="1201547" cy="703421"/>
      </dsp:txXfrm>
    </dsp:sp>
    <dsp:sp modelId="{20B82462-F0DD-4787-85C5-C4D3F19D4F11}">
      <dsp:nvSpPr>
        <dsp:cNvPr id="0" name=""/>
        <dsp:cNvSpPr/>
      </dsp:nvSpPr>
      <dsp:spPr>
        <a:xfrm>
          <a:off x="3117455" y="1030713"/>
          <a:ext cx="264006" cy="308838"/>
        </a:xfrm>
        <a:prstGeom prst="rightArrow">
          <a:avLst>
            <a:gd name="adj1" fmla="val 60000"/>
            <a:gd name="adj2" fmla="val 50000"/>
          </a:avLst>
        </a:prstGeom>
        <a:solidFill>
          <a:schemeClr val="accent4">
            <a:hueOff val="9800891"/>
            <a:satOff val="-40777"/>
            <a:lumOff val="9608"/>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3117455" y="1092481"/>
        <a:ext cx="184804" cy="185302"/>
      </dsp:txXfrm>
    </dsp:sp>
    <dsp:sp modelId="{925EEC6C-95EF-4EBE-9A19-4B003EB411ED}">
      <dsp:nvSpPr>
        <dsp:cNvPr id="0" name=""/>
        <dsp:cNvSpPr/>
      </dsp:nvSpPr>
      <dsp:spPr>
        <a:xfrm>
          <a:off x="3491049" y="811538"/>
          <a:ext cx="1245315" cy="747189"/>
        </a:xfrm>
        <a:prstGeom prst="roundRect">
          <a:avLst>
            <a:gd name="adj" fmla="val 10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成本估算</a:t>
          </a:r>
        </a:p>
      </dsp:txBody>
      <dsp:txXfrm>
        <a:off x="3512933" y="833422"/>
        <a:ext cx="1201547" cy="70342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7E18C7-CBC3-4730-8BE6-C8FC497852AC}">
      <dsp:nvSpPr>
        <dsp:cNvPr id="0" name=""/>
        <dsp:cNvSpPr/>
      </dsp:nvSpPr>
      <dsp:spPr>
        <a:xfrm>
          <a:off x="0" y="56934"/>
          <a:ext cx="8442664" cy="921056"/>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估算方法</a:t>
          </a:r>
        </a:p>
      </dsp:txBody>
      <dsp:txXfrm>
        <a:off x="26977" y="83911"/>
        <a:ext cx="8388710" cy="867102"/>
      </dsp:txXfrm>
    </dsp:sp>
    <dsp:sp modelId="{8221DA9F-B757-470B-863A-DFF6F04D8841}">
      <dsp:nvSpPr>
        <dsp:cNvPr id="0" name=""/>
        <dsp:cNvSpPr/>
      </dsp:nvSpPr>
      <dsp:spPr>
        <a:xfrm>
          <a:off x="8494" y="1011093"/>
          <a:ext cx="6876080"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传统估算</a:t>
          </a:r>
        </a:p>
      </dsp:txBody>
      <dsp:txXfrm>
        <a:off x="35471" y="1038070"/>
        <a:ext cx="6822126" cy="867102"/>
      </dsp:txXfrm>
    </dsp:sp>
    <dsp:sp modelId="{BE1A90AD-6294-4CDD-B09F-20F725ED9449}">
      <dsp:nvSpPr>
        <dsp:cNvPr id="0" name=""/>
        <dsp:cNvSpPr/>
      </dsp:nvSpPr>
      <dsp:spPr>
        <a:xfrm>
          <a:off x="2190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代码行</a:t>
          </a:r>
        </a:p>
      </dsp:txBody>
      <dsp:txXfrm>
        <a:off x="43393" y="2043330"/>
        <a:ext cx="690663" cy="1306878"/>
      </dsp:txXfrm>
    </dsp:sp>
    <dsp:sp modelId="{3D86A9A7-DE93-41CD-BE81-662A97CD51C4}">
      <dsp:nvSpPr>
        <dsp:cNvPr id="0" name=""/>
        <dsp:cNvSpPr/>
      </dsp:nvSpPr>
      <dsp:spPr>
        <a:xfrm>
          <a:off x="786357"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功能点</a:t>
          </a:r>
        </a:p>
      </dsp:txBody>
      <dsp:txXfrm>
        <a:off x="807845" y="2043330"/>
        <a:ext cx="690663" cy="1306878"/>
      </dsp:txXfrm>
    </dsp:sp>
    <dsp:sp modelId="{5AFEC762-1C1A-421E-BE77-6213FB889098}">
      <dsp:nvSpPr>
        <dsp:cNvPr id="0" name=""/>
        <dsp:cNvSpPr/>
      </dsp:nvSpPr>
      <dsp:spPr>
        <a:xfrm>
          <a:off x="155081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用例点</a:t>
          </a:r>
        </a:p>
      </dsp:txBody>
      <dsp:txXfrm>
        <a:off x="1572298" y="2043330"/>
        <a:ext cx="690663" cy="1306878"/>
      </dsp:txXfrm>
    </dsp:sp>
    <dsp:sp modelId="{6391160F-7BA5-4A89-A236-4487FA932310}">
      <dsp:nvSpPr>
        <dsp:cNvPr id="0" name=""/>
        <dsp:cNvSpPr/>
      </dsp:nvSpPr>
      <dsp:spPr>
        <a:xfrm>
          <a:off x="2315262"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类比</a:t>
          </a:r>
        </a:p>
      </dsp:txBody>
      <dsp:txXfrm>
        <a:off x="2336750" y="2043330"/>
        <a:ext cx="690663" cy="1306878"/>
      </dsp:txXfrm>
    </dsp:sp>
    <dsp:sp modelId="{B34C258D-C358-473B-B5A7-EC94CF55CB34}">
      <dsp:nvSpPr>
        <dsp:cNvPr id="0" name=""/>
        <dsp:cNvSpPr/>
      </dsp:nvSpPr>
      <dsp:spPr>
        <a:xfrm>
          <a:off x="307971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自下而上</a:t>
          </a:r>
        </a:p>
      </dsp:txBody>
      <dsp:txXfrm>
        <a:off x="3101203" y="2043330"/>
        <a:ext cx="690663" cy="1306878"/>
      </dsp:txXfrm>
    </dsp:sp>
    <dsp:sp modelId="{B054D4D0-B725-4E85-93D2-89FEE11F5B62}">
      <dsp:nvSpPr>
        <dsp:cNvPr id="0" name=""/>
        <dsp:cNvSpPr/>
      </dsp:nvSpPr>
      <dsp:spPr>
        <a:xfrm>
          <a:off x="3844168"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自上而下</a:t>
          </a:r>
        </a:p>
      </dsp:txBody>
      <dsp:txXfrm>
        <a:off x="3865656" y="2043330"/>
        <a:ext cx="690663" cy="1306878"/>
      </dsp:txXfrm>
    </dsp:sp>
    <dsp:sp modelId="{4D467419-B93B-431F-B8D5-630E57343842}">
      <dsp:nvSpPr>
        <dsp:cNvPr id="0" name=""/>
        <dsp:cNvSpPr/>
      </dsp:nvSpPr>
      <dsp:spPr>
        <a:xfrm>
          <a:off x="460862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参数</a:t>
          </a:r>
        </a:p>
      </dsp:txBody>
      <dsp:txXfrm>
        <a:off x="4630108" y="2043330"/>
        <a:ext cx="690663" cy="1306878"/>
      </dsp:txXfrm>
    </dsp:sp>
    <dsp:sp modelId="{A39D9AF8-1069-469E-BDB5-64CEEB5953BB}">
      <dsp:nvSpPr>
        <dsp:cNvPr id="0" name=""/>
        <dsp:cNvSpPr/>
      </dsp:nvSpPr>
      <dsp:spPr>
        <a:xfrm>
          <a:off x="5373073"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专家估</a:t>
          </a:r>
        </a:p>
      </dsp:txBody>
      <dsp:txXfrm>
        <a:off x="5394561" y="2043330"/>
        <a:ext cx="690663" cy="1306878"/>
      </dsp:txXfrm>
    </dsp:sp>
    <dsp:sp modelId="{FD2D810A-2388-4805-A9D6-AD137CF0FD98}">
      <dsp:nvSpPr>
        <dsp:cNvPr id="0" name=""/>
        <dsp:cNvSpPr/>
      </dsp:nvSpPr>
      <dsp:spPr>
        <a:xfrm>
          <a:off x="613752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三点</a:t>
          </a:r>
        </a:p>
      </dsp:txBody>
      <dsp:txXfrm>
        <a:off x="6159013" y="2043330"/>
        <a:ext cx="690663" cy="1306878"/>
      </dsp:txXfrm>
    </dsp:sp>
    <dsp:sp modelId="{7E9961C4-29AB-4443-A6E1-E3F0F2CBDE34}">
      <dsp:nvSpPr>
        <dsp:cNvPr id="0" name=""/>
        <dsp:cNvSpPr/>
      </dsp:nvSpPr>
      <dsp:spPr>
        <a:xfrm>
          <a:off x="6946201" y="1011093"/>
          <a:ext cx="1488476"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敏捷估算</a:t>
          </a:r>
        </a:p>
      </dsp:txBody>
      <dsp:txXfrm>
        <a:off x="6973178" y="1038070"/>
        <a:ext cx="1434522" cy="867102"/>
      </dsp:txXfrm>
    </dsp:sp>
    <dsp:sp modelId="{CDDEC979-F1A2-4409-8FF0-293406F051D4}">
      <dsp:nvSpPr>
        <dsp:cNvPr id="0" name=""/>
        <dsp:cNvSpPr/>
      </dsp:nvSpPr>
      <dsp:spPr>
        <a:xfrm>
          <a:off x="6949104" y="2021842"/>
          <a:ext cx="1482670"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故事点估算</a:t>
          </a:r>
        </a:p>
      </dsp:txBody>
      <dsp:txXfrm>
        <a:off x="6988640" y="2061378"/>
        <a:ext cx="1403598" cy="1270782"/>
      </dsp:txXfrm>
    </dsp:sp>
    <dsp:sp modelId="{62CDD4D5-9FC5-425A-98C9-2E56C3098C88}">
      <dsp:nvSpPr>
        <dsp:cNvPr id="0" name=""/>
        <dsp:cNvSpPr/>
      </dsp:nvSpPr>
      <dsp:spPr>
        <a:xfrm>
          <a:off x="6954876"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快速故事点</a:t>
          </a:r>
        </a:p>
      </dsp:txBody>
      <dsp:txXfrm>
        <a:off x="6976196" y="3482709"/>
        <a:ext cx="685287" cy="1351029"/>
      </dsp:txXfrm>
    </dsp:sp>
    <dsp:sp modelId="{478024EF-49B2-4F32-9141-62FE4E0D9782}">
      <dsp:nvSpPr>
        <dsp:cNvPr id="0" name=""/>
        <dsp:cNvSpPr/>
      </dsp:nvSpPr>
      <dsp:spPr>
        <a:xfrm>
          <a:off x="7698075"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扑克牌估算</a:t>
          </a:r>
        </a:p>
      </dsp:txBody>
      <dsp:txXfrm>
        <a:off x="7719395" y="3482709"/>
        <a:ext cx="685287" cy="135102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321236-7E97-488C-9025-7B1510750C97}">
      <dsp:nvSpPr>
        <dsp:cNvPr id="0" name=""/>
        <dsp:cNvSpPr/>
      </dsp:nvSpPr>
      <dsp:spPr>
        <a:xfrm>
          <a:off x="2160000" y="0"/>
          <a:ext cx="1080000" cy="720000"/>
        </a:xfrm>
        <a:prstGeom prst="trapezoid">
          <a:avLst>
            <a:gd name="adj" fmla="val 75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自我实现</a:t>
          </a:r>
        </a:p>
      </dsp:txBody>
      <dsp:txXfrm>
        <a:off x="2160000" y="0"/>
        <a:ext cx="1080000" cy="720000"/>
      </dsp:txXfrm>
    </dsp:sp>
    <dsp:sp modelId="{2F299D70-5224-4C9C-9CB1-AFD882711B69}">
      <dsp:nvSpPr>
        <dsp:cNvPr id="0" name=""/>
        <dsp:cNvSpPr/>
      </dsp:nvSpPr>
      <dsp:spPr>
        <a:xfrm>
          <a:off x="1620000" y="720000"/>
          <a:ext cx="2160000" cy="720000"/>
        </a:xfrm>
        <a:prstGeom prst="trapezoid">
          <a:avLst>
            <a:gd name="adj" fmla="val 75000"/>
          </a:avLst>
        </a:prstGeom>
        <a:solidFill>
          <a:schemeClr val="accent4">
            <a:hueOff val="2450223"/>
            <a:satOff val="-10194"/>
            <a:lumOff val="24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自尊</a:t>
          </a:r>
        </a:p>
      </dsp:txBody>
      <dsp:txXfrm>
        <a:off x="1998000" y="720000"/>
        <a:ext cx="1404000" cy="720000"/>
      </dsp:txXfrm>
    </dsp:sp>
    <dsp:sp modelId="{76D34559-A530-45C2-A0B6-720AD4C0207E}">
      <dsp:nvSpPr>
        <dsp:cNvPr id="0" name=""/>
        <dsp:cNvSpPr/>
      </dsp:nvSpPr>
      <dsp:spPr>
        <a:xfrm>
          <a:off x="1080000" y="1440000"/>
          <a:ext cx="3240000" cy="720000"/>
        </a:xfrm>
        <a:prstGeom prst="trapezoid">
          <a:avLst>
            <a:gd name="adj" fmla="val 75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社会交往</a:t>
          </a:r>
        </a:p>
      </dsp:txBody>
      <dsp:txXfrm>
        <a:off x="1646999" y="1440000"/>
        <a:ext cx="2106000" cy="720000"/>
      </dsp:txXfrm>
    </dsp:sp>
    <dsp:sp modelId="{8F6F6EB1-74EE-4946-86A7-A5F9FCDABEE5}">
      <dsp:nvSpPr>
        <dsp:cNvPr id="0" name=""/>
        <dsp:cNvSpPr/>
      </dsp:nvSpPr>
      <dsp:spPr>
        <a:xfrm>
          <a:off x="540000" y="2160000"/>
          <a:ext cx="4320000" cy="720000"/>
        </a:xfrm>
        <a:prstGeom prst="trapezoid">
          <a:avLst>
            <a:gd name="adj" fmla="val 75000"/>
          </a:avLst>
        </a:prstGeom>
        <a:solidFill>
          <a:schemeClr val="accent4">
            <a:hueOff val="7350668"/>
            <a:satOff val="-30583"/>
            <a:lumOff val="72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安全</a:t>
          </a:r>
        </a:p>
      </dsp:txBody>
      <dsp:txXfrm>
        <a:off x="1295999" y="2160000"/>
        <a:ext cx="2808000" cy="720000"/>
      </dsp:txXfrm>
    </dsp:sp>
    <dsp:sp modelId="{50DFD313-CB4A-4B94-8CDD-8D2917A17D7E}">
      <dsp:nvSpPr>
        <dsp:cNvPr id="0" name=""/>
        <dsp:cNvSpPr/>
      </dsp:nvSpPr>
      <dsp:spPr>
        <a:xfrm>
          <a:off x="0" y="2880000"/>
          <a:ext cx="5400000" cy="720000"/>
        </a:xfrm>
        <a:prstGeom prst="trapezoid">
          <a:avLst>
            <a:gd name="adj" fmla="val 75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生理</a:t>
          </a:r>
        </a:p>
      </dsp:txBody>
      <dsp:txXfrm>
        <a:off x="944999" y="2880000"/>
        <a:ext cx="3510000" cy="720000"/>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dirty="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p>
      </dsp:txBody>
      <dsp:txXfrm>
        <a:off x="1950322" y="2387135"/>
        <a:ext cx="990638" cy="57345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1DEA56-CC33-43BE-8735-4441E7C69179}">
      <dsp:nvSpPr>
        <dsp:cNvPr id="0" name=""/>
        <dsp:cNvSpPr/>
      </dsp:nvSpPr>
      <dsp:spPr>
        <a:xfrm rot="16200000">
          <a:off x="-796279" y="797029"/>
          <a:ext cx="3544168" cy="1950109"/>
        </a:xfrm>
        <a:prstGeom prst="flowChartManualOperation">
          <a:avLst/>
        </a:prstGeom>
        <a:solidFill>
          <a:schemeClr val="accent4">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dirty="0">
              <a:latin typeface="Montserrat" panose="00000500000000000000" pitchFamily="2" charset="0"/>
              <a:ea typeface="微软雅黑 Light" panose="020B0502040204020203" pitchFamily="34" charset="-122"/>
            </a:rPr>
            <a:t>总价合同</a:t>
          </a:r>
        </a:p>
      </dsp:txBody>
      <dsp:txXfrm rot="5400000">
        <a:off x="750" y="708834"/>
        <a:ext cx="1950109" cy="2126500"/>
      </dsp:txXfrm>
    </dsp:sp>
    <dsp:sp modelId="{CC23A85F-B3C2-4016-B27B-80BB483ECD01}">
      <dsp:nvSpPr>
        <dsp:cNvPr id="0" name=""/>
        <dsp:cNvSpPr/>
      </dsp:nvSpPr>
      <dsp:spPr>
        <a:xfrm rot="16200000">
          <a:off x="1300088" y="797029"/>
          <a:ext cx="3544168" cy="1950109"/>
        </a:xfrm>
        <a:prstGeom prst="flowChartManualOperation">
          <a:avLst/>
        </a:prstGeom>
        <a:solidFill>
          <a:schemeClr val="accent4">
            <a:hueOff val="4900445"/>
            <a:satOff val="-20388"/>
            <a:lumOff val="480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成本补偿合同</a:t>
          </a:r>
        </a:p>
      </dsp:txBody>
      <dsp:txXfrm rot="5400000">
        <a:off x="2097117" y="708834"/>
        <a:ext cx="1950109" cy="2126500"/>
      </dsp:txXfrm>
    </dsp:sp>
    <dsp:sp modelId="{16BA34B7-974C-4F6C-94BC-484155B2C518}">
      <dsp:nvSpPr>
        <dsp:cNvPr id="0" name=""/>
        <dsp:cNvSpPr/>
      </dsp:nvSpPr>
      <dsp:spPr>
        <a:xfrm rot="16200000">
          <a:off x="3396455" y="797029"/>
          <a:ext cx="3544168" cy="1950109"/>
        </a:xfrm>
        <a:prstGeom prst="flowChartManualOperation">
          <a:avLst/>
        </a:prstGeom>
        <a:solidFill>
          <a:schemeClr val="accent4">
            <a:hueOff val="9800891"/>
            <a:satOff val="-40777"/>
            <a:lumOff val="9608"/>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sz="2000" kern="1200" baseline="0" dirty="0">
              <a:latin typeface="Montserrat" panose="00000500000000000000" pitchFamily="2" charset="0"/>
              <a:ea typeface="微软雅黑 Light" panose="020B0502040204020203" pitchFamily="34" charset="-122"/>
            </a:rPr>
            <a:t>工料合同</a:t>
          </a:r>
          <a:r>
            <a:rPr lang="en-US" sz="2000" kern="1200" baseline="0" dirty="0">
              <a:latin typeface="Montserrat" panose="00000500000000000000" pitchFamily="2" charset="0"/>
              <a:ea typeface="微软雅黑 Light" panose="020B0502040204020203" pitchFamily="34" charset="-122"/>
            </a:rPr>
            <a:t> (T&amp;M)</a:t>
          </a:r>
          <a:endParaRPr lang="zh-CN" altLang="en-US" sz="2000" kern="1200" baseline="0" dirty="0">
            <a:latin typeface="Montserrat" panose="00000500000000000000" pitchFamily="2" charset="0"/>
            <a:ea typeface="微软雅黑 Light" panose="020B0502040204020203" pitchFamily="34" charset="-122"/>
          </a:endParaRPr>
        </a:p>
      </dsp:txBody>
      <dsp:txXfrm rot="5400000">
        <a:off x="4193484" y="708834"/>
        <a:ext cx="1950109" cy="212650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Scope</a:t>
          </a:r>
          <a:endParaRPr lang="zh-CN" altLang="en-US" sz="2200" kern="120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FBF205D-9977-4197-B218-6546F80E8725}">
      <dsp:nvSpPr>
        <dsp:cNvPr id="0" name=""/>
        <dsp:cNvSpPr/>
      </dsp:nvSpPr>
      <dsp:spPr>
        <a:xfrm>
          <a:off x="1951954" y="3992413"/>
          <a:ext cx="101856" cy="101856"/>
        </a:xfrm>
        <a:prstGeom prst="ellipse">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E288050-D3C1-43B7-A40C-33CA4EAF871D}">
      <dsp:nvSpPr>
        <dsp:cNvPr id="0" name=""/>
        <dsp:cNvSpPr/>
      </dsp:nvSpPr>
      <dsp:spPr>
        <a:xfrm>
          <a:off x="1725065" y="4095870"/>
          <a:ext cx="101856" cy="101856"/>
        </a:xfrm>
        <a:prstGeom prst="ellipse">
          <a:avLst/>
        </a:prstGeom>
        <a:solidFill>
          <a:schemeClr val="accent5">
            <a:hueOff val="-563212"/>
            <a:satOff val="-1452"/>
            <a:lumOff val="-980"/>
            <a:alphaOff val="0"/>
          </a:schemeClr>
        </a:solidFill>
        <a:ln w="12700" cap="flat" cmpd="sng" algn="ctr">
          <a:solidFill>
            <a:schemeClr val="accent5">
              <a:hueOff val="-563212"/>
              <a:satOff val="-1452"/>
              <a:lumOff val="-98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0650512-A9F8-4507-8DAA-B360DB4B8446}">
      <dsp:nvSpPr>
        <dsp:cNvPr id="0" name=""/>
        <dsp:cNvSpPr/>
      </dsp:nvSpPr>
      <dsp:spPr>
        <a:xfrm>
          <a:off x="1491466" y="4181042"/>
          <a:ext cx="101856" cy="101856"/>
        </a:xfrm>
        <a:prstGeom prst="ellipse">
          <a:avLst/>
        </a:prstGeom>
        <a:solidFill>
          <a:schemeClr val="accent5">
            <a:hueOff val="-1126424"/>
            <a:satOff val="-2903"/>
            <a:lumOff val="-1961"/>
            <a:alphaOff val="0"/>
          </a:schemeClr>
        </a:solidFill>
        <a:ln w="12700" cap="flat" cmpd="sng" algn="ctr">
          <a:solidFill>
            <a:schemeClr val="accent5">
              <a:hueOff val="-1126424"/>
              <a:satOff val="-2903"/>
              <a:lumOff val="-196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8E4492-38BE-4A53-B47D-620257A76880}">
      <dsp:nvSpPr>
        <dsp:cNvPr id="0" name=""/>
        <dsp:cNvSpPr/>
      </dsp:nvSpPr>
      <dsp:spPr>
        <a:xfrm>
          <a:off x="1251159" y="4247447"/>
          <a:ext cx="101856" cy="101856"/>
        </a:xfrm>
        <a:prstGeom prst="ellipse">
          <a:avLst/>
        </a:prstGeom>
        <a:solidFill>
          <a:schemeClr val="accent5">
            <a:hueOff val="-1689636"/>
            <a:satOff val="-4355"/>
            <a:lumOff val="-2941"/>
            <a:alphaOff val="0"/>
          </a:schemeClr>
        </a:solidFill>
        <a:ln w="12700" cap="flat" cmpd="sng" algn="ctr">
          <a:solidFill>
            <a:schemeClr val="accent5">
              <a:hueOff val="-1689636"/>
              <a:satOff val="-4355"/>
              <a:lumOff val="-294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1C86B-3030-4A29-BCB3-9F7FB7F4A81C}">
      <dsp:nvSpPr>
        <dsp:cNvPr id="0" name=""/>
        <dsp:cNvSpPr/>
      </dsp:nvSpPr>
      <dsp:spPr>
        <a:xfrm>
          <a:off x="3012601" y="3128183"/>
          <a:ext cx="101856" cy="101856"/>
        </a:xfrm>
        <a:prstGeom prst="ellipse">
          <a:avLst/>
        </a:prstGeom>
        <a:solidFill>
          <a:schemeClr val="accent5">
            <a:hueOff val="-2252848"/>
            <a:satOff val="-5806"/>
            <a:lumOff val="-3922"/>
            <a:alphaOff val="0"/>
          </a:schemeClr>
        </a:solidFill>
        <a:ln w="12700" cap="flat" cmpd="sng" algn="ctr">
          <a:solidFill>
            <a:schemeClr val="accent5">
              <a:hueOff val="-2252848"/>
              <a:satOff val="-5806"/>
              <a:lumOff val="-392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44CD02-1B5B-407F-BA68-36A5C5225080}">
      <dsp:nvSpPr>
        <dsp:cNvPr id="0" name=""/>
        <dsp:cNvSpPr/>
      </dsp:nvSpPr>
      <dsp:spPr>
        <a:xfrm>
          <a:off x="3617639" y="1860228"/>
          <a:ext cx="101856" cy="101856"/>
        </a:xfrm>
        <a:prstGeom prst="ellipse">
          <a:avLst/>
        </a:prstGeom>
        <a:solidFill>
          <a:schemeClr val="accent5">
            <a:hueOff val="-2816059"/>
            <a:satOff val="-7258"/>
            <a:lumOff val="-4902"/>
            <a:alphaOff val="0"/>
          </a:schemeClr>
        </a:solidFill>
        <a:ln w="12700" cap="flat" cmpd="sng" algn="ctr">
          <a:solidFill>
            <a:schemeClr val="accent5">
              <a:hueOff val="-2816059"/>
              <a:satOff val="-7258"/>
              <a:lumOff val="-490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CB553B9-2D29-463B-885B-2AB3654FC5DC}">
      <dsp:nvSpPr>
        <dsp:cNvPr id="0" name=""/>
        <dsp:cNvSpPr/>
      </dsp:nvSpPr>
      <dsp:spPr>
        <a:xfrm>
          <a:off x="3454181" y="278051"/>
          <a:ext cx="101856" cy="101856"/>
        </a:xfrm>
        <a:prstGeom prst="ellipse">
          <a:avLst/>
        </a:prstGeom>
        <a:solidFill>
          <a:schemeClr val="accent5">
            <a:hueOff val="-3379271"/>
            <a:satOff val="-8710"/>
            <a:lumOff val="-5883"/>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3DEB45-4767-484B-B07F-8035D4FF8144}">
      <dsp:nvSpPr>
        <dsp:cNvPr id="0" name=""/>
        <dsp:cNvSpPr/>
      </dsp:nvSpPr>
      <dsp:spPr>
        <a:xfrm>
          <a:off x="3599342" y="175075"/>
          <a:ext cx="101856" cy="101856"/>
        </a:xfrm>
        <a:prstGeom prst="ellipse">
          <a:avLst/>
        </a:prstGeom>
        <a:solidFill>
          <a:schemeClr val="accent5">
            <a:hueOff val="-3942483"/>
            <a:satOff val="-10161"/>
            <a:lumOff val="-6863"/>
            <a:alphaOff val="0"/>
          </a:schemeClr>
        </a:solidFill>
        <a:ln w="12700" cap="flat" cmpd="sng" algn="ctr">
          <a:solidFill>
            <a:schemeClr val="accent5">
              <a:hueOff val="-3942483"/>
              <a:satOff val="-10161"/>
              <a:lumOff val="-686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4587F2D-8A77-4784-A432-D531B1A31BD4}">
      <dsp:nvSpPr>
        <dsp:cNvPr id="0" name=""/>
        <dsp:cNvSpPr/>
      </dsp:nvSpPr>
      <dsp:spPr>
        <a:xfrm>
          <a:off x="3744502" y="72098"/>
          <a:ext cx="101856" cy="101856"/>
        </a:xfrm>
        <a:prstGeom prst="ellipse">
          <a:avLst/>
        </a:prstGeom>
        <a:solidFill>
          <a:schemeClr val="accent5">
            <a:hueOff val="-4505695"/>
            <a:satOff val="-11613"/>
            <a:lumOff val="-7843"/>
            <a:alphaOff val="0"/>
          </a:schemeClr>
        </a:solidFill>
        <a:ln w="12700" cap="flat" cmpd="sng" algn="ctr">
          <a:solidFill>
            <a:schemeClr val="accent5">
              <a:hueOff val="-4505695"/>
              <a:satOff val="-11613"/>
              <a:lumOff val="-784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F7AA7A6-BE78-4C47-96D0-A9778FD08B06}">
      <dsp:nvSpPr>
        <dsp:cNvPr id="0" name=""/>
        <dsp:cNvSpPr/>
      </dsp:nvSpPr>
      <dsp:spPr>
        <a:xfrm>
          <a:off x="3889662" y="175075"/>
          <a:ext cx="101856" cy="101856"/>
        </a:xfrm>
        <a:prstGeom prst="ellipse">
          <a:avLst/>
        </a:prstGeom>
        <a:solidFill>
          <a:schemeClr val="accent5">
            <a:hueOff val="-5068907"/>
            <a:satOff val="-13064"/>
            <a:lumOff val="-8824"/>
            <a:alphaOff val="0"/>
          </a:schemeClr>
        </a:solidFill>
        <a:ln w="12700" cap="flat" cmpd="sng" algn="ctr">
          <a:solidFill>
            <a:schemeClr val="accent5">
              <a:hueOff val="-5068907"/>
              <a:satOff val="-13064"/>
              <a:lumOff val="-882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787A4BE-5EB2-474E-9C43-8D94334B42F9}">
      <dsp:nvSpPr>
        <dsp:cNvPr id="0" name=""/>
        <dsp:cNvSpPr/>
      </dsp:nvSpPr>
      <dsp:spPr>
        <a:xfrm>
          <a:off x="4035433" y="278051"/>
          <a:ext cx="101856" cy="101856"/>
        </a:xfrm>
        <a:prstGeom prst="ellipse">
          <a:avLst/>
        </a:prstGeom>
        <a:solidFill>
          <a:schemeClr val="accent5">
            <a:hueOff val="-5632119"/>
            <a:satOff val="-14516"/>
            <a:lumOff val="-9804"/>
            <a:alphaOff val="0"/>
          </a:schemeClr>
        </a:solidFill>
        <a:ln w="12700" cap="flat" cmpd="sng" algn="ctr">
          <a:solidFill>
            <a:schemeClr val="accent5">
              <a:hueOff val="-5632119"/>
              <a:satOff val="-14516"/>
              <a:lumOff val="-980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0BEC77D-3080-4C6D-9B8C-C10A40531F9D}">
      <dsp:nvSpPr>
        <dsp:cNvPr id="0" name=""/>
        <dsp:cNvSpPr/>
      </dsp:nvSpPr>
      <dsp:spPr>
        <a:xfrm>
          <a:off x="3744502" y="289600"/>
          <a:ext cx="101856" cy="101856"/>
        </a:xfrm>
        <a:prstGeom prst="ellipse">
          <a:avLst/>
        </a:prstGeom>
        <a:solidFill>
          <a:schemeClr val="accent5">
            <a:hueOff val="-6195331"/>
            <a:satOff val="-15967"/>
            <a:lumOff val="-10785"/>
            <a:alphaOff val="0"/>
          </a:schemeClr>
        </a:solidFill>
        <a:ln w="12700" cap="flat" cmpd="sng" algn="ctr">
          <a:solidFill>
            <a:schemeClr val="accent5">
              <a:hueOff val="-6195331"/>
              <a:satOff val="-15967"/>
              <a:lumOff val="-1078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4B063D7-86FA-4070-B7D4-32507B925161}">
      <dsp:nvSpPr>
        <dsp:cNvPr id="0" name=""/>
        <dsp:cNvSpPr/>
      </dsp:nvSpPr>
      <dsp:spPr>
        <a:xfrm>
          <a:off x="3744502" y="507101"/>
          <a:ext cx="101856" cy="101856"/>
        </a:xfrm>
        <a:prstGeom prst="ellipse">
          <a:avLst/>
        </a:prstGeom>
        <a:solidFill>
          <a:schemeClr val="accent5">
            <a:hueOff val="-6758543"/>
            <a:satOff val="-17419"/>
            <a:lumOff val="-11765"/>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21F8134-CC38-4E63-8BBC-848694C9088E}">
      <dsp:nvSpPr>
        <dsp:cNvPr id="0" name=""/>
        <dsp:cNvSpPr/>
      </dsp:nvSpPr>
      <dsp:spPr>
        <a:xfrm>
          <a:off x="670212" y="4451878"/>
          <a:ext cx="2192653" cy="588023"/>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项目验收</a:t>
          </a:r>
        </a:p>
      </dsp:txBody>
      <dsp:txXfrm>
        <a:off x="698917" y="4480583"/>
        <a:ext cx="2135243" cy="530613"/>
      </dsp:txXfrm>
    </dsp:sp>
    <dsp:sp modelId="{FEE3AF7A-A9B6-49E6-B161-ACE803504278}">
      <dsp:nvSpPr>
        <dsp:cNvPr id="0" name=""/>
        <dsp:cNvSpPr/>
      </dsp:nvSpPr>
      <dsp:spPr>
        <a:xfrm>
          <a:off x="62429" y="3875163"/>
          <a:ext cx="1016732" cy="1016769"/>
        </a:xfrm>
        <a:prstGeom prst="ellipse">
          <a:avLst/>
        </a:prstGeom>
        <a:solidFill>
          <a:schemeClr val="accent5">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C366577-85F8-4446-BF40-16D146BD8EDA}">
      <dsp:nvSpPr>
        <dsp:cNvPr id="0" name=""/>
        <dsp:cNvSpPr/>
      </dsp:nvSpPr>
      <dsp:spPr>
        <a:xfrm>
          <a:off x="2638416" y="3742111"/>
          <a:ext cx="2192653" cy="588023"/>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合同终止</a:t>
          </a:r>
        </a:p>
      </dsp:txBody>
      <dsp:txXfrm>
        <a:off x="2667121" y="3770816"/>
        <a:ext cx="2135243" cy="530613"/>
      </dsp:txXfrm>
    </dsp:sp>
    <dsp:sp modelId="{F4F6C737-765C-4321-A1C5-C8099FFECEF0}">
      <dsp:nvSpPr>
        <dsp:cNvPr id="0" name=""/>
        <dsp:cNvSpPr/>
      </dsp:nvSpPr>
      <dsp:spPr>
        <a:xfrm>
          <a:off x="2030633" y="3165397"/>
          <a:ext cx="1016732" cy="1016769"/>
        </a:xfrm>
        <a:prstGeom prst="ellipse">
          <a:avLst/>
        </a:prstGeom>
        <a:solidFill>
          <a:schemeClr val="accent5">
            <a:tint val="50000"/>
            <a:hueOff val="-2243214"/>
            <a:satOff val="-7649"/>
            <a:lumOff val="-127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E7EC5B8-832C-4FA6-94AE-814683D00B05}">
      <dsp:nvSpPr>
        <dsp:cNvPr id="0" name=""/>
        <dsp:cNvSpPr/>
      </dsp:nvSpPr>
      <dsp:spPr>
        <a:xfrm>
          <a:off x="3476443" y="2622847"/>
          <a:ext cx="2192653" cy="588023"/>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项目最后评审</a:t>
          </a:r>
        </a:p>
      </dsp:txBody>
      <dsp:txXfrm>
        <a:off x="3505148" y="2651552"/>
        <a:ext cx="2135243" cy="530613"/>
      </dsp:txXfrm>
    </dsp:sp>
    <dsp:sp modelId="{B5BB9956-3C30-4A7A-A1E1-C16D4B177626}">
      <dsp:nvSpPr>
        <dsp:cNvPr id="0" name=""/>
        <dsp:cNvSpPr/>
      </dsp:nvSpPr>
      <dsp:spPr>
        <a:xfrm>
          <a:off x="2868660" y="2046132"/>
          <a:ext cx="1016732" cy="1016769"/>
        </a:xfrm>
        <a:prstGeom prst="ellipse">
          <a:avLst/>
        </a:prstGeom>
        <a:solidFill>
          <a:schemeClr val="accent5">
            <a:tint val="50000"/>
            <a:hueOff val="-4486427"/>
            <a:satOff val="-15298"/>
            <a:lumOff val="-254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CFDDF2C-90A3-4F81-8F4D-27DD03C2C285}">
      <dsp:nvSpPr>
        <dsp:cNvPr id="0" name=""/>
        <dsp:cNvSpPr/>
      </dsp:nvSpPr>
      <dsp:spPr>
        <a:xfrm>
          <a:off x="3844355" y="1289449"/>
          <a:ext cx="2192390" cy="588023"/>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项目总结报告</a:t>
          </a:r>
        </a:p>
      </dsp:txBody>
      <dsp:txXfrm>
        <a:off x="3873060" y="1318154"/>
        <a:ext cx="2134980" cy="530613"/>
      </dsp:txXfrm>
    </dsp:sp>
    <dsp:sp modelId="{75EE274E-6437-449B-ABCA-AF8787CF15E9}">
      <dsp:nvSpPr>
        <dsp:cNvPr id="0" name=""/>
        <dsp:cNvSpPr/>
      </dsp:nvSpPr>
      <dsp:spPr>
        <a:xfrm>
          <a:off x="3236441" y="712734"/>
          <a:ext cx="1016732" cy="1016769"/>
        </a:xfrm>
        <a:prstGeom prst="ellipse">
          <a:avLst/>
        </a:prstGeom>
        <a:solidFill>
          <a:schemeClr val="accent5">
            <a:tint val="50000"/>
            <a:hueOff val="-6729641"/>
            <a:satOff val="-22947"/>
            <a:lumOff val="-382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2.xml><?xml version="1.0" encoding="utf-8"?>
<dgm:layoutDef xmlns:dgm="http://schemas.openxmlformats.org/drawingml/2006/diagram" xmlns:a="http://schemas.openxmlformats.org/drawingml/2006/main" uniqueId="urn:microsoft.com/office/officeart/2008/layout/AscendingPictureAccentProcess">
  <dgm:title val=""/>
  <dgm:desc val=""/>
  <dgm:catLst>
    <dgm:cat type="process" pri="22500"/>
    <dgm:cat type="picture" pri="16000"/>
    <dgm:cat type="pictureconvert" pri="16000"/>
  </dgm:catLst>
  <dgm:samp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shape xmlns:r="http://schemas.openxmlformats.org/officeDocument/2006/relationships" r:blip="">
      <dgm:adjLst/>
    </dgm:shape>
    <dgm:choose name="Name1">
      <dgm:if name="Name2" axis="ch" ptType="node" func="cnt" op="equ" val="1">
        <dgm:choose name="Name3">
          <dgm:if name="Name4" func="var" arg="dir" op="equ" val="norm">
            <dgm:choose name="Name5">
              <dgm:if name="Name6" axis="des" func="maxDepth" op="gt" val="1">
                <dgm:alg type="composite">
                  <dgm:param type="ar" val="2.7"/>
                </dgm:alg>
                <dgm:constrLst>
                  <dgm:constr type="primFontSz" for="ch" forName="parTx1" op="equ" val="65"/>
                  <dgm:constr type="primFontSz" for="ch" forName="desTx1" op="equ" val="65"/>
                  <dgm:constr type="userD" refType="w" fact="0.0247"/>
                  <dgm:constr type="l" for="ch" forName="parTx1" refType="w" fact="0.2711"/>
                  <dgm:constr type="t" for="ch" forName="parTx1" refType="h" fact="0.9603"/>
                  <dgm:constr type="w" for="ch" forName="parTx1" refType="w" fact="0.5325"/>
                  <dgm:constr type="h" for="ch" forName="parTx1" refType="h" fact="0.3856"/>
                  <dgm:constr type="ctrX" for="ch" forName="picture1" refType="w" fact="0.2469"/>
                  <dgm:constr type="ctrY" for="ch" forName="picture1" refType="h" fact="0.9"/>
                  <dgm:constr type="w" for="ch" forName="picture1" refType="w" fact="0.2469"/>
                  <dgm:constr type="h" for="ch" forName="picture1" refType="h" fact="0.6667"/>
                  <dgm:constr type="l" for="ch" forName="desTx1" refType="r" refFor="ch" refForName="parTx1"/>
                  <dgm:constr type="r" for="ch" forName="desTx1" refType="w"/>
                  <dgm:constr type="t" for="ch" forName="desTx1" refType="t" refFor="ch" refForName="parTx1"/>
                  <dgm:constr type="h" for="ch" forName="desTx1" refType="h" refFor="ch" refForName="parTx1"/>
                </dgm:constrLst>
              </dgm:if>
              <dgm:else name="Name7">
                <dgm:alg type="composite">
                  <dgm:param type="ar" val="2"/>
                </dgm:alg>
                <dgm:constrLst>
                  <dgm:constr type="primFontSz" for="ch" forName="parTx1" op="equ" val="65"/>
                  <dgm:constr type="userD" refType="w" fact="0.0333"/>
                  <dgm:constr type="l" for="ch" forName="parTx1" refType="w" fact="0.366"/>
                  <dgm:constr type="t" for="ch" forName="parTx1" refType="h" fact="0.7113"/>
                  <dgm:constr type="w" for="ch" forName="parTx1" refType="w" fact="0.7189"/>
                  <dgm:constr type="h" for="ch" forName="parTx1" refType="h" fact="0.3856"/>
                  <dgm:constr type="ctrX" for="ch" forName="picture1" refType="w" fact="0.3333"/>
                  <dgm:constr type="ctrY" for="ch" forName="picture1" refType="h" fact="0.6667"/>
                  <dgm:constr type="w" for="ch" forName="picture1" refType="w" fact="0.3333"/>
                  <dgm:constr type="h" for="ch" forName="picture1" refType="h" fact="0.6667"/>
                </dgm:constrLst>
              </dgm:else>
            </dgm:choose>
          </dgm:if>
          <dgm:else name="Name8">
            <dgm:choose name="Name9">
              <dgm:if name="Name10" axis="des" func="maxDepth" op="gt" val="1">
                <dgm:alg type="composite">
                  <dgm:param type="ar" val="2.7"/>
                </dgm:alg>
                <dgm:constrLst>
                  <dgm:constr type="primFontSz" for="ch" forName="parTx1" op="equ" val="65"/>
                  <dgm:constr type="primFontSz" for="ch" forName="desTx1" op="equ" val="65"/>
                  <dgm:constr type="userD" refType="w" fact="0.0247"/>
                  <dgm:constr type="r" for="ch" forName="parTx1" refType="w" fact="0.7289"/>
                  <dgm:constr type="t" for="ch" forName="parTx1" refType="h" fact="0.9603"/>
                  <dgm:constr type="w" for="ch" forName="parTx1" refType="w" fact="0.5325"/>
                  <dgm:constr type="h" for="ch" forName="parTx1" refType="h" fact="0.3856"/>
                  <dgm:constr type="ctrX" for="ch" forName="picture1" refType="w" fact="0.7531"/>
                  <dgm:constr type="ctrY" for="ch" forName="picture1" refType="h" fact="0.9"/>
                  <dgm:constr type="w" for="ch" forName="picture1" refType="w" fact="0.2469"/>
                  <dgm:constr type="h" for="ch" forName="picture1" refType="h" fact="0.6667"/>
                  <dgm:constr type="r" for="ch" forName="desTx1" refType="l" refFor="ch" refForName="parTx1"/>
                  <dgm:constr type="l" for="ch" forName="desTx1"/>
                  <dgm:constr type="t" for="ch" forName="desTx1" refType="t" refFor="ch" refForName="parTx1"/>
                  <dgm:constr type="h" for="ch" forName="desTx1" refType="h" refFor="ch" refForName="parTx1"/>
                </dgm:constrLst>
              </dgm:if>
              <dgm:else name="Name11">
                <dgm:alg type="composite">
                  <dgm:param type="ar" val="2"/>
                </dgm:alg>
                <dgm:constrLst>
                  <dgm:constr type="primFontSz" for="ch" forName="parTx1" op="equ" val="65"/>
                  <dgm:constr type="userD" refType="w" fact="0.0333"/>
                  <dgm:constr type="r" for="ch" forName="parTx1" refType="w" fact="0.634"/>
                  <dgm:constr type="t" for="ch" forName="parTx1" refType="h" fact="0.7113"/>
                  <dgm:constr type="w" for="ch" forName="parTx1" refType="w" fact="0.7189"/>
                  <dgm:constr type="h" for="ch" forName="parTx1" refType="h" fact="0.3856"/>
                  <dgm:constr type="ctrX" for="ch" forName="picture1" refType="w" fact="0.6667"/>
                  <dgm:constr type="ctrY" for="ch" forName="picture1" refType="h" fact="0.6667"/>
                  <dgm:constr type="w" for="ch" forName="picture1" refType="w" fact="0.3333"/>
                  <dgm:constr type="h" for="ch" forName="picture1" refType="h" fact="0.6667"/>
                </dgm:constrLst>
              </dgm:else>
            </dgm:choose>
          </dgm:else>
        </dgm:choose>
      </dgm:if>
      <dgm:if name="Name12" axis="ch" ptType="node" func="cnt" op="equ" val="2">
        <dgm:choose name="Name13">
          <dgm:if name="Name14" func="var" arg="dir" op="equ" val="norm">
            <dgm:choose name="Name15">
              <dgm:if name="Name16"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3221"/>
                  <dgm:constr type="ctrY" for="ch" forName="dot1" refType="h" fact="0.5911"/>
                  <dgm:constr type="w" for="ch" forName="dot1" refType="userD"/>
                  <dgm:constr type="h" for="ch" forName="dot1" refType="userD"/>
                  <dgm:constr type="ctrX" for="ch" forName="dot2" refType="w" fact="0.3056"/>
                  <dgm:constr type="ctrY" for="ch" forName="dot2" refType="h" fact="0.644"/>
                  <dgm:constr type="w" for="ch" forName="dot2" refType="userD"/>
                  <dgm:constr type="h" for="ch" forName="dot2" refType="userD"/>
                  <dgm:constr type="ctrX" for="ch" forName="dot3" refType="w" fact="0.2859"/>
                  <dgm:constr type="ctrY" for="ch" forName="dot3" refType="h" fact="0.6898"/>
                  <dgm:constr type="w" for="ch" forName="dot3" refType="userD"/>
                  <dgm:constr type="h" for="ch" forName="dot3" refType="userD"/>
                  <dgm:constr type="ctrX" for="ch" forName="dotArrow1" refType="w" fact="0.3095"/>
                  <dgm:constr type="ctrY" for="ch" forName="dotArrow1" refType="h" fact="0.0587"/>
                  <dgm:constr type="w" for="ch" forName="dotArrow1" refType="userD"/>
                  <dgm:constr type="h" for="ch" forName="dotArrow1" refType="userD"/>
                  <dgm:constr type="ctrX" for="ch" forName="dotArrow2" refType="w" fact="0.3346"/>
                  <dgm:constr type="ctrY" for="ch" forName="dotArrow2" refType="h" fact="0.0287"/>
                  <dgm:constr type="w" for="ch" forName="dotArrow2" refType="userD"/>
                  <dgm:constr type="h" for="ch" forName="dotArrow2" refType="userD"/>
                  <dgm:constr type="ctrX" for="ch" forName="dotArrow3" refType="w" fact="0.3597"/>
                  <dgm:constr type="ctrY" for="ch" forName="dotArrow3" refType="h" fact="-0.0013"/>
                  <dgm:constr type="w" for="ch" forName="dotArrow3" refType="userD"/>
                  <dgm:constr type="h" for="ch" forName="dotArrow3" refType="userD"/>
                  <dgm:constr type="ctrX" for="ch" forName="dotArrow4" refType="w" fact="0.3848"/>
                  <dgm:constr type="ctrY" for="ch" forName="dotArrow4" refType="h" fact="0.0287"/>
                  <dgm:constr type="w" for="ch" forName="dotArrow4" refType="userD"/>
                  <dgm:constr type="h" for="ch" forName="dotArrow4" refType="userD"/>
                  <dgm:constr type="ctrX" for="ch" forName="dotArrow5" refType="w" fact="0.41"/>
                  <dgm:constr type="ctrY" for="ch" forName="dotArrow5" refType="h" fact="0.0587"/>
                  <dgm:constr type="w" for="ch" forName="dotArrow5" refType="userD"/>
                  <dgm:constr type="h" for="ch" forName="dotArrow5" refType="userD"/>
                  <dgm:constr type="ctrX" for="ch" forName="dotArrow6" refType="w" fact="0.3597"/>
                  <dgm:constr type="ctrY" for="ch" forName="dotArrow6" refType="h" fact="0.062"/>
                  <dgm:constr type="w" for="ch" forName="dotArrow6" refType="userD"/>
                  <dgm:constr type="h" for="ch" forName="dotArrow6" refType="userD"/>
                  <dgm:constr type="ctrX" for="ch" forName="dotArrow7" refType="w" fact="0.3597"/>
                  <dgm:constr type="ctrY" for="ch" forName="dotArrow7" refType="h" fact="0.1253"/>
                  <dgm:constr type="w" for="ch" forName="dotArrow7" refType="userD"/>
                  <dgm:constr type="h" for="ch" forName="dotArrow7" refType="userD"/>
                  <dgm:constr type="l" for="ch" forName="parTx1" refType="w" fact="0.197"/>
                  <dgm:constr type="t" for="ch" forName="parTx1" refType="h" fact="0.8169"/>
                  <dgm:constr type="w" for="ch" forName="parTx1" refType="w" fact="0.4064"/>
                  <dgm:constr type="h" for="ch" forName="parTx1" refType="h" fact="0.218"/>
                  <dgm:constr type="ctrX" for="ch" forName="picture1" refType="w" fact="0.1785"/>
                  <dgm:constr type="ctrY" for="ch" forName="picture1" refType="h" fact="0.7834"/>
                  <dgm:constr type="w" for="ch" forName="picture1" refType="w" fact="0.1884"/>
                  <dgm:constr type="h" for="ch" forName="picture1" refType="h" fact="0.376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688"/>
                  <dgm:constr type="t" for="ch" forName="parTx2" refType="h" fact="0.3905"/>
                  <dgm:constr type="w" for="ch" forName="parTx2" refType="w" fact="0.4064"/>
                  <dgm:constr type="h" for="ch" forName="parTx2" refType="h" fact="0.218"/>
                  <dgm:constr type="ctrX" for="ch" forName="picture2" refType="w" fact="0.3503"/>
                  <dgm:constr type="ctrY" for="ch" forName="picture2" refType="h" fact="0.357"/>
                  <dgm:constr type="w" for="ch" forName="picture2" refType="w" fact="0.1884"/>
                  <dgm:constr type="h" for="ch" forName="picture2" refType="h" fact="0.3768"/>
                  <dgm:constr type="l" for="ch" forName="desTx2" refType="r" refFor="ch" refForName="parTx2"/>
                  <dgm:constr type="r" for="ch" forName="desTx2" refType="w"/>
                  <dgm:constr type="t" for="ch" forName="desTx2" refType="t" refFor="ch" refForName="parTx2"/>
                  <dgm:constr type="h" for="ch" forName="desTx2" refType="h" refFor="ch" refForName="parTx2"/>
                </dgm:constrLst>
              </dgm:if>
              <dgm:else name="Name17">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4274"/>
                  <dgm:constr type="ctrY" for="ch" forName="dot1" refType="h" fact="0.5911"/>
                  <dgm:constr type="w" for="ch" forName="dot1" refType="userD"/>
                  <dgm:constr type="h" for="ch" forName="dot1" refType="userD"/>
                  <dgm:constr type="ctrX" for="ch" forName="dot2" refType="w" fact="0.4055"/>
                  <dgm:constr type="ctrY" for="ch" forName="dot2" refType="h" fact="0.644"/>
                  <dgm:constr type="w" for="ch" forName="dot2" refType="userD"/>
                  <dgm:constr type="h" for="ch" forName="dot2" refType="userD"/>
                  <dgm:constr type="ctrX" for="ch" forName="dot3" refType="w" fact="0.3794"/>
                  <dgm:constr type="ctrY" for="ch" forName="dot3" refType="h" fact="0.6898"/>
                  <dgm:constr type="w" for="ch" forName="dot3" refType="userD"/>
                  <dgm:constr type="h" for="ch" forName="dot3" refType="userD"/>
                  <dgm:constr type="ctrX" for="ch" forName="dotArrow1" refType="w" fact="0.4106"/>
                  <dgm:constr type="ctrY" for="ch" forName="dotArrow1" refType="h" fact="0.0587"/>
                  <dgm:constr type="w" for="ch" forName="dotArrow1" refType="userD"/>
                  <dgm:constr type="h" for="ch" forName="dotArrow1" refType="userD"/>
                  <dgm:constr type="ctrX" for="ch" forName="dotArrow2" refType="w" fact="0.444"/>
                  <dgm:constr type="ctrY" for="ch" forName="dotArrow2" refType="h" fact="0.0287"/>
                  <dgm:constr type="w" for="ch" forName="dotArrow2" refType="userD"/>
                  <dgm:constr type="h" for="ch" forName="dotArrow2" refType="userD"/>
                  <dgm:constr type="ctrX" for="ch" forName="dotArrow3" refType="w" fact="0.4773"/>
                  <dgm:constr type="ctrY" for="ch" forName="dotArrow3" refType="h" fact="-0.0013"/>
                  <dgm:constr type="w" for="ch" forName="dotArrow3" refType="userD"/>
                  <dgm:constr type="h" for="ch" forName="dotArrow3" refType="userD"/>
                  <dgm:constr type="ctrX" for="ch" forName="dotArrow4" refType="w" fact="0.5106"/>
                  <dgm:constr type="ctrY" for="ch" forName="dotArrow4" refType="h" fact="0.0287"/>
                  <dgm:constr type="w" for="ch" forName="dotArrow4" refType="userD"/>
                  <dgm:constr type="h" for="ch" forName="dotArrow4" refType="userD"/>
                  <dgm:constr type="ctrX" for="ch" forName="dotArrow5" refType="w" fact="0.544"/>
                  <dgm:constr type="ctrY" for="ch" forName="dotArrow5" refType="h" fact="0.0587"/>
                  <dgm:constr type="w" for="ch" forName="dotArrow5" refType="userD"/>
                  <dgm:constr type="h" for="ch" forName="dotArrow5" refType="userD"/>
                  <dgm:constr type="ctrX" for="ch" forName="dotArrow6" refType="w" fact="0.4773"/>
                  <dgm:constr type="ctrY" for="ch" forName="dotArrow6" refType="h" fact="0.062"/>
                  <dgm:constr type="w" for="ch" forName="dotArrow6" refType="userD"/>
                  <dgm:constr type="h" for="ch" forName="dotArrow6" refType="userD"/>
                  <dgm:constr type="ctrX" for="ch" forName="dotArrow7" refType="w" fact="0.4773"/>
                  <dgm:constr type="ctrY" for="ch" forName="dotArrow7" refType="h" fact="0.1253"/>
                  <dgm:constr type="w" for="ch" forName="dotArrow7" refType="userD"/>
                  <dgm:constr type="h" for="ch" forName="dotArrow7" refType="userD"/>
                  <dgm:constr type="l" for="ch" forName="parTx1" refType="w" fact="0.2614"/>
                  <dgm:constr type="t" for="ch" forName="parTx1" refType="h" fact="0.8086"/>
                  <dgm:constr type="w" for="ch" forName="parTx1" refType="w" fact="0.5392"/>
                  <dgm:constr type="h" for="ch" forName="parTx1" refType="h" fact="0.218"/>
                  <dgm:constr type="ctrX" for="ch" forName="picture1" refType="w" fact="0.2369"/>
                  <dgm:constr type="ctrY" for="ch" forName="picture1" refType="h" fact="0.7834"/>
                  <dgm:constr type="w" for="ch" forName="picture1" refType="w" fact="0.25"/>
                  <dgm:constr type="h" for="ch" forName="picture1" refType="h" fact="0.3768"/>
                  <dgm:constr type="l" for="ch" forName="parTx2" refType="w" fact="0.4893"/>
                  <dgm:constr type="t" for="ch" forName="parTx2" refType="h" fact="0.3822"/>
                  <dgm:constr type="w" for="ch" forName="parTx2" refType="w" fact="0.5392"/>
                  <dgm:constr type="h" for="ch" forName="parTx2" refType="h" fact="0.218"/>
                  <dgm:constr type="ctrX" for="ch" forName="picture2" refType="w" fact="0.4648"/>
                  <dgm:constr type="ctrY" for="ch" forName="picture2" refType="h" fact="0.357"/>
                  <dgm:constr type="w" for="ch" forName="picture2" refType="w" fact="0.25"/>
                  <dgm:constr type="h" for="ch" forName="picture2" refType="h" fact="0.3768"/>
                </dgm:constrLst>
              </dgm:else>
            </dgm:choose>
          </dgm:if>
          <dgm:else name="Name18">
            <dgm:choose name="Name19">
              <dgm:if name="Name20"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6779"/>
                  <dgm:constr type="ctrY" for="ch" forName="dot1" refType="h" fact="0.5911"/>
                  <dgm:constr type="w" for="ch" forName="dot1" refType="userD"/>
                  <dgm:constr type="h" for="ch" forName="dot1" refType="userD"/>
                  <dgm:constr type="ctrX" for="ch" forName="dot2" refType="w" fact="0.6944"/>
                  <dgm:constr type="ctrY" for="ch" forName="dot2" refType="h" fact="0.644"/>
                  <dgm:constr type="w" for="ch" forName="dot2" refType="userD"/>
                  <dgm:constr type="h" for="ch" forName="dot2" refType="userD"/>
                  <dgm:constr type="ctrX" for="ch" forName="dot3" refType="w" fact="0.7141"/>
                  <dgm:constr type="ctrY" for="ch" forName="dot3" refType="h" fact="0.6898"/>
                  <dgm:constr type="w" for="ch" forName="dot3" refType="userD"/>
                  <dgm:constr type="h" for="ch" forName="dot3" refType="userD"/>
                  <dgm:constr type="ctrX" for="ch" forName="dotArrow1" refType="w" fact="0.6905"/>
                  <dgm:constr type="ctrY" for="ch" forName="dotArrow1" refType="h" fact="0.0587"/>
                  <dgm:constr type="w" for="ch" forName="dotArrow1" refType="userD"/>
                  <dgm:constr type="h" for="ch" forName="dotArrow1" refType="userD"/>
                  <dgm:constr type="ctrX" for="ch" forName="dotArrow2" refType="w" fact="0.6654"/>
                  <dgm:constr type="ctrY" for="ch" forName="dotArrow2" refType="h" fact="0.0287"/>
                  <dgm:constr type="w" for="ch" forName="dotArrow2" refType="userD"/>
                  <dgm:constr type="h" for="ch" forName="dotArrow2" refType="userD"/>
                  <dgm:constr type="ctrX" for="ch" forName="dotArrow3" refType="w" fact="0.6403"/>
                  <dgm:constr type="ctrY" for="ch" forName="dotArrow3" refType="h" fact="-0.0013"/>
                  <dgm:constr type="w" for="ch" forName="dotArrow3" refType="userD"/>
                  <dgm:constr type="h" for="ch" forName="dotArrow3" refType="userD"/>
                  <dgm:constr type="ctrX" for="ch" forName="dotArrow4" refType="w" fact="0.6152"/>
                  <dgm:constr type="ctrY" for="ch" forName="dotArrow4" refType="h" fact="0.0287"/>
                  <dgm:constr type="w" for="ch" forName="dotArrow4" refType="userD"/>
                  <dgm:constr type="h" for="ch" forName="dotArrow4" refType="userD"/>
                  <dgm:constr type="ctrX" for="ch" forName="dotArrow5" refType="w" fact="0.59"/>
                  <dgm:constr type="ctrY" for="ch" forName="dotArrow5" refType="h" fact="0.0587"/>
                  <dgm:constr type="w" for="ch" forName="dotArrow5" refType="userD"/>
                  <dgm:constr type="h" for="ch" forName="dotArrow5" refType="userD"/>
                  <dgm:constr type="ctrX" for="ch" forName="dotArrow6" refType="w" fact="0.6403"/>
                  <dgm:constr type="ctrY" for="ch" forName="dotArrow6" refType="h" fact="0.062"/>
                  <dgm:constr type="w" for="ch" forName="dotArrow6" refType="userD"/>
                  <dgm:constr type="h" for="ch" forName="dotArrow6" refType="userD"/>
                  <dgm:constr type="ctrX" for="ch" forName="dotArrow7" refType="w" fact="0.6403"/>
                  <dgm:constr type="ctrY" for="ch" forName="dotArrow7" refType="h" fact="0.1253"/>
                  <dgm:constr type="w" for="ch" forName="dotArrow7" refType="userD"/>
                  <dgm:constr type="h" for="ch" forName="dotArrow7" refType="userD"/>
                  <dgm:constr type="r" for="ch" forName="parTx1" refType="w" fact="0.803"/>
                  <dgm:constr type="t" for="ch" forName="parTx1" refType="h" fact="0.8169"/>
                  <dgm:constr type="w" for="ch" forName="parTx1" refType="w" fact="0.4064"/>
                  <dgm:constr type="h" for="ch" forName="parTx1" refType="h" fact="0.218"/>
                  <dgm:constr type="ctrX" for="ch" forName="picture1" refType="w" fact="0.8215"/>
                  <dgm:constr type="ctrY" for="ch" forName="picture1" refType="h" fact="0.7834"/>
                  <dgm:constr type="w" for="ch" forName="picture1" refType="w" fact="0.1884"/>
                  <dgm:constr type="h" for="ch" forName="picture1" refType="h" fact="0.376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312"/>
                  <dgm:constr type="t" for="ch" forName="parTx2" refType="h" fact="0.3905"/>
                  <dgm:constr type="w" for="ch" forName="parTx2" refType="w" fact="0.4064"/>
                  <dgm:constr type="h" for="ch" forName="parTx2" refType="h" fact="0.218"/>
                  <dgm:constr type="ctrX" for="ch" forName="picture2" refType="w" fact="0.6497"/>
                  <dgm:constr type="ctrY" for="ch" forName="picture2" refType="h" fact="0.357"/>
                  <dgm:constr type="w" for="ch" forName="picture2" refType="w" fact="0.1884"/>
                  <dgm:constr type="h" for="ch" forName="picture2" refType="h" fact="0.3768"/>
                  <dgm:constr type="r" for="ch" forName="desTx2" refType="l" refFor="ch" refForName="parTx2"/>
                  <dgm:constr type="l" for="ch" forName="desTx2"/>
                  <dgm:constr type="t" for="ch" forName="desTx2" refType="t" refFor="ch" refForName="parTx2"/>
                  <dgm:constr type="h" for="ch" forName="desTx2" refType="h" refFor="ch" refForName="parTx2"/>
                </dgm:constrLst>
              </dgm:if>
              <dgm:else name="Name21">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5726"/>
                  <dgm:constr type="ctrY" for="ch" forName="dot1" refType="h" fact="0.5911"/>
                  <dgm:constr type="w" for="ch" forName="dot1" refType="userD"/>
                  <dgm:constr type="h" for="ch" forName="dot1" refType="userD"/>
                  <dgm:constr type="ctrX" for="ch" forName="dot2" refType="w" fact="0.5945"/>
                  <dgm:constr type="ctrY" for="ch" forName="dot2" refType="h" fact="0.644"/>
                  <dgm:constr type="w" for="ch" forName="dot2" refType="userD"/>
                  <dgm:constr type="h" for="ch" forName="dot2" refType="userD"/>
                  <dgm:constr type="ctrX" for="ch" forName="dot3" refType="w" fact="0.6206"/>
                  <dgm:constr type="ctrY" for="ch" forName="dot3" refType="h" fact="0.6898"/>
                  <dgm:constr type="w" for="ch" forName="dot3" refType="userD"/>
                  <dgm:constr type="h" for="ch" forName="dot3" refType="userD"/>
                  <dgm:constr type="ctrX" for="ch" forName="dotArrow1" refType="w" fact="0.5894"/>
                  <dgm:constr type="ctrY" for="ch" forName="dotArrow1" refType="h" fact="0.0587"/>
                  <dgm:constr type="w" for="ch" forName="dotArrow1" refType="userD"/>
                  <dgm:constr type="h" for="ch" forName="dotArrow1" refType="userD"/>
                  <dgm:constr type="ctrX" for="ch" forName="dotArrow2" refType="w" fact="0.556"/>
                  <dgm:constr type="ctrY" for="ch" forName="dotArrow2" refType="h" fact="0.0287"/>
                  <dgm:constr type="w" for="ch" forName="dotArrow2" refType="userD"/>
                  <dgm:constr type="h" for="ch" forName="dotArrow2" refType="userD"/>
                  <dgm:constr type="ctrX" for="ch" forName="dotArrow3" refType="w" fact="0.5227"/>
                  <dgm:constr type="ctrY" for="ch" forName="dotArrow3" refType="h" fact="-0.0013"/>
                  <dgm:constr type="w" for="ch" forName="dotArrow3" refType="userD"/>
                  <dgm:constr type="h" for="ch" forName="dotArrow3" refType="userD"/>
                  <dgm:constr type="ctrX" for="ch" forName="dotArrow4" refType="w" fact="0.4894"/>
                  <dgm:constr type="ctrY" for="ch" forName="dotArrow4" refType="h" fact="0.0287"/>
                  <dgm:constr type="w" for="ch" forName="dotArrow4" refType="userD"/>
                  <dgm:constr type="h" for="ch" forName="dotArrow4" refType="userD"/>
                  <dgm:constr type="ctrX" for="ch" forName="dotArrow5" refType="w" fact="0.456"/>
                  <dgm:constr type="ctrY" for="ch" forName="dotArrow5" refType="h" fact="0.0587"/>
                  <dgm:constr type="w" for="ch" forName="dotArrow5" refType="userD"/>
                  <dgm:constr type="h" for="ch" forName="dotArrow5" refType="userD"/>
                  <dgm:constr type="ctrX" for="ch" forName="dotArrow6" refType="w" fact="0.5227"/>
                  <dgm:constr type="ctrY" for="ch" forName="dotArrow6" refType="h" fact="0.062"/>
                  <dgm:constr type="w" for="ch" forName="dotArrow6" refType="userD"/>
                  <dgm:constr type="h" for="ch" forName="dotArrow6" refType="userD"/>
                  <dgm:constr type="ctrX" for="ch" forName="dotArrow7" refType="w" fact="0.5227"/>
                  <dgm:constr type="ctrY" for="ch" forName="dotArrow7" refType="h" fact="0.1253"/>
                  <dgm:constr type="w" for="ch" forName="dotArrow7" refType="userD"/>
                  <dgm:constr type="h" for="ch" forName="dotArrow7" refType="userD"/>
                  <dgm:constr type="r" for="ch" forName="parTx1" refType="w" fact="0.7386"/>
                  <dgm:constr type="t" for="ch" forName="parTx1" refType="h" fact="0.8086"/>
                  <dgm:constr type="w" for="ch" forName="parTx1" refType="w" fact="0.5392"/>
                  <dgm:constr type="h" for="ch" forName="parTx1" refType="h" fact="0.218"/>
                  <dgm:constr type="ctrX" for="ch" forName="picture1" refType="w" fact="0.7631"/>
                  <dgm:constr type="ctrY" for="ch" forName="picture1" refType="h" fact="0.7834"/>
                  <dgm:constr type="w" for="ch" forName="picture1" refType="w" fact="0.25"/>
                  <dgm:constr type="h" for="ch" forName="picture1" refType="h" fact="0.3768"/>
                  <dgm:constr type="r" for="ch" forName="parTx2" refType="w" fact="0.5107"/>
                  <dgm:constr type="t" for="ch" forName="parTx2" refType="h" fact="0.3822"/>
                  <dgm:constr type="w" for="ch" forName="parTx2" refType="w" fact="0.5392"/>
                  <dgm:constr type="h" for="ch" forName="parTx2" refType="h" fact="0.218"/>
                  <dgm:constr type="ctrX" for="ch" forName="picture2" refType="w" fact="0.5352"/>
                  <dgm:constr type="ctrY" for="ch" forName="picture2" refType="h" fact="0.357"/>
                  <dgm:constr type="w" for="ch" forName="picture2" refType="w" fact="0.25"/>
                  <dgm:constr type="h" for="ch" forName="picture2" refType="h" fact="0.3768"/>
                </dgm:constrLst>
              </dgm:else>
            </dgm:choose>
          </dgm:else>
        </dgm:choose>
      </dgm:if>
      <dgm:if name="Name22" axis="ch" ptType="node" func="cnt" op="equ" val="3">
        <dgm:choose name="Name23">
          <dgm:if name="Name24" func="var" arg="dir" op="equ" val="norm">
            <dgm:choose name="Name25">
              <dgm:if name="Name26"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2981"/>
                  <dgm:constr type="ctrY" for="ch" forName="dot1" refType="h" fact="0.763"/>
                  <dgm:constr type="w" for="ch" forName="dot1" refType="userD"/>
                  <dgm:constr type="h" for="ch" forName="dot1" refType="userD"/>
                  <dgm:constr type="ctrX" for="ch" forName="dot2" refType="w" fact="0.2676"/>
                  <dgm:constr type="ctrY" for="ch" forName="dot2" refType="h" fact="0.7887"/>
                  <dgm:constr type="w" for="ch" forName="dot2" refType="userD"/>
                  <dgm:constr type="h" for="ch" forName="dot2" refType="userD"/>
                  <dgm:constr type="ctrX" for="ch" forName="dot3" refType="w" fact="0.2357"/>
                  <dgm:constr type="ctrY" for="ch" forName="dot3" refType="h" fact="0.809"/>
                  <dgm:constr type="w" for="ch" forName="dot3" refType="userD"/>
                  <dgm:constr type="h" for="ch" forName="dot3" refType="userD"/>
                  <dgm:constr type="ctrX" for="ch" forName="dot4" refType="w" fact="0.4445"/>
                  <dgm:constr type="ctrY" for="ch" forName="dot4" refType="h" fact="0.4655"/>
                  <dgm:constr type="w" for="ch" forName="dot4" refType="userD"/>
                  <dgm:constr type="h" for="ch" forName="dot4" refType="userD"/>
                  <dgm:constr type="ctrX" for="ch" forName="dot5" refType="w" fact="0.4323"/>
                  <dgm:constr type="ctrY" for="ch" forName="dot5" refType="h" fact="0.5178"/>
                  <dgm:constr type="w" for="ch" forName="dot5" refType="userD"/>
                  <dgm:constr type="h" for="ch" forName="dot5" refType="userD"/>
                  <dgm:constr type="ctrX" for="ch" forName="dotArrow1" refType="w" fact="0.4236"/>
                  <dgm:constr type="ctrY" for="ch" forName="dotArrow1" refType="h" fact="0.0718"/>
                  <dgm:constr type="w" for="ch" forName="dotArrow1" refType="userD"/>
                  <dgm:constr type="h" for="ch" forName="dotArrow1" refType="userD"/>
                  <dgm:constr type="ctrX" for="ch" forName="dotArrow2" refType="w" fact="0.446"/>
                  <dgm:constr type="ctrY" for="ch" forName="dotArrow2" refType="h" fact="0.0468"/>
                  <dgm:constr type="w" for="ch" forName="dotArrow2" refType="userD"/>
                  <dgm:constr type="h" for="ch" forName="dotArrow2" refType="userD"/>
                  <dgm:constr type="ctrX" for="ch" forName="dotArrow3" refType="w" fact="0.4685"/>
                  <dgm:constr type="ctrY" for="ch" forName="dotArrow3" refType="h" fact="0.0218"/>
                  <dgm:constr type="w" for="ch" forName="dotArrow3" refType="userD"/>
                  <dgm:constr type="h" for="ch" forName="dotArrow3" refType="userD"/>
                  <dgm:constr type="ctrX" for="ch" forName="dotArrow4" refType="w" fact="0.491"/>
                  <dgm:constr type="ctrY" for="ch" forName="dotArrow4" refType="h" fact="0.0468"/>
                  <dgm:constr type="w" for="ch" forName="dotArrow4" refType="userD"/>
                  <dgm:constr type="h" for="ch" forName="dotArrow4" refType="userD"/>
                  <dgm:constr type="ctrX" for="ch" forName="dotArrow5" refType="w" fact="0.5135"/>
                  <dgm:constr type="ctrY" for="ch" forName="dotArrow5" refType="h" fact="0.0718"/>
                  <dgm:constr type="w" for="ch" forName="dotArrow5" refType="userD"/>
                  <dgm:constr type="h" for="ch" forName="dotArrow5" refType="userD"/>
                  <dgm:constr type="ctrX" for="ch" forName="dotArrow6" refType="w" fact="0.4685"/>
                  <dgm:constr type="ctrY" for="ch" forName="dotArrow6" refType="h" fact="0.0745"/>
                  <dgm:constr type="w" for="ch" forName="dotArrow6" refType="userD"/>
                  <dgm:constr type="h" for="ch" forName="dotArrow6" refType="userD"/>
                  <dgm:constr type="ctrX" for="ch" forName="dotArrow7" refType="w" fact="0.4685"/>
                  <dgm:constr type="ctrY" for="ch" forName="dotArrow7" refType="h" fact="0.1273"/>
                  <dgm:constr type="w" for="ch" forName="dotArrow7" refType="userD"/>
                  <dgm:constr type="h" for="ch" forName="dotArrow7" refType="userD"/>
                  <dgm:constr type="l" for="ch" forName="parTx1" refType="w" fact="0.1487"/>
                  <dgm:constr type="t" for="ch" forName="parTx1" refType="h" fact="0.8596"/>
                  <dgm:constr type="w" for="ch" forName="parTx1" refType="w" fact="0.3491"/>
                  <dgm:constr type="h" for="ch" forName="parTx1" refType="h" fact="0.1638"/>
                  <dgm:constr type="ctrX" for="ch" forName="picture1" refType="w" fact="0.1328"/>
                  <dgm:constr type="ctrY" for="ch" forName="picture1" refType="h" fact="0.8361"/>
                  <dgm:constr type="w" for="ch" forName="picture1" refType="w" fact="0.1618"/>
                  <dgm:constr type="h" for="ch" forName="picture1" refType="h" fact="0.2832"/>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732"/>
                  <dgm:constr type="t" for="ch" forName="parTx2" refType="h" fact="0.6469"/>
                  <dgm:constr type="w" for="ch" forName="parTx2" refType="w" fact="0.3491"/>
                  <dgm:constr type="h" for="ch" forName="parTx2" refType="h" fact="0.1638"/>
                  <dgm:constr type="ctrX" for="ch" forName="picture2" refType="w" fact="0.3573"/>
                  <dgm:constr type="ctrY" for="ch" forName="picture2" refType="h" fact="0.6234"/>
                  <dgm:constr type="w" for="ch" forName="picture2" refType="w" fact="0.1618"/>
                  <dgm:constr type="h" for="ch" forName="picture2" refType="h" fact="0.2832"/>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4763"/>
                  <dgm:constr type="t" for="ch" forName="parTx3" refType="h" fact="0.3243"/>
                  <dgm:constr type="w" for="ch" forName="parTx3" refType="w" fact="0.3491"/>
                  <dgm:constr type="h" for="ch" forName="parTx3" refType="h" fact="0.1638"/>
                  <dgm:constr type="ctrX" for="ch" forName="picture3" refType="w" fact="0.4604"/>
                  <dgm:constr type="ctrY" for="ch" forName="picture3" refType="h" fact="0.3008"/>
                  <dgm:constr type="w" for="ch" forName="picture3" refType="w" fact="0.1618"/>
                  <dgm:constr type="h" for="ch" forName="picture3" refType="h" fact="0.2832"/>
                  <dgm:constr type="l" for="ch" forName="desTx3" refType="r" refFor="ch" refForName="parTx3"/>
                  <dgm:constr type="r" for="ch" forName="desTx3" refType="w"/>
                  <dgm:constr type="t" for="ch" forName="desTx3" refType="t" refFor="ch" refForName="parTx3"/>
                  <dgm:constr type="h" for="ch" forName="desTx3" refType="h" refFor="ch" refForName="parTx3"/>
                </dgm:constrLst>
              </dgm:if>
              <dgm:else name="Name27">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3684"/>
                  <dgm:constr type="ctrY" for="ch" forName="dot1" refType="h" fact="0.763"/>
                  <dgm:constr type="w" for="ch" forName="dot1" refType="userD"/>
                  <dgm:constr type="h" for="ch" forName="dot1" refType="userD"/>
                  <dgm:constr type="ctrX" for="ch" forName="dot2" refType="w" fact="0.3307"/>
                  <dgm:constr type="ctrY" for="ch" forName="dot2" refType="h" fact="0.7887"/>
                  <dgm:constr type="w" for="ch" forName="dot2" refType="userD"/>
                  <dgm:constr type="h" for="ch" forName="dot2" refType="userD"/>
                  <dgm:constr type="ctrX" for="ch" forName="dot3" refType="w" fact="0.2912"/>
                  <dgm:constr type="ctrY" for="ch" forName="dot3" refType="h" fact="0.809"/>
                  <dgm:constr type="w" for="ch" forName="dot3" refType="userD"/>
                  <dgm:constr type="h" for="ch" forName="dot3" refType="userD"/>
                  <dgm:constr type="ctrX" for="ch" forName="dot4" refType="w" fact="0.5494"/>
                  <dgm:constr type="ctrY" for="ch" forName="dot4" refType="h" fact="0.4655"/>
                  <dgm:constr type="w" for="ch" forName="dot4" refType="userD"/>
                  <dgm:constr type="h" for="ch" forName="dot4" refType="userD"/>
                  <dgm:constr type="ctrX" for="ch" forName="dot5" refType="w" fact="0.5342"/>
                  <dgm:constr type="ctrY" for="ch" forName="dot5" refType="h" fact="0.5178"/>
                  <dgm:constr type="w" for="ch" forName="dot5" refType="userD"/>
                  <dgm:constr type="h" for="ch" forName="dot5" refType="userD"/>
                  <dgm:constr type="ctrX" for="ch" forName="dotArrow1" refType="w" fact="0.5234"/>
                  <dgm:constr type="ctrY" for="ch" forName="dotArrow1" refType="h" fact="0.0718"/>
                  <dgm:constr type="w" for="ch" forName="dotArrow1" refType="userD"/>
                  <dgm:constr type="h" for="ch" forName="dotArrow1" refType="userD"/>
                  <dgm:constr type="ctrX" for="ch" forName="dotArrow2" refType="w" fact="0.5512"/>
                  <dgm:constr type="ctrY" for="ch" forName="dotArrow2" refType="h" fact="0.0468"/>
                  <dgm:constr type="w" for="ch" forName="dotArrow2" refType="userD"/>
                  <dgm:constr type="h" for="ch" forName="dotArrow2" refType="userD"/>
                  <dgm:constr type="ctrX" for="ch" forName="dotArrow3" refType="w" fact="0.579"/>
                  <dgm:constr type="ctrY" for="ch" forName="dotArrow3" refType="h" fact="0.0218"/>
                  <dgm:constr type="w" for="ch" forName="dotArrow3" refType="userD"/>
                  <dgm:constr type="h" for="ch" forName="dotArrow3" refType="userD"/>
                  <dgm:constr type="ctrX" for="ch" forName="dotArrow4" refType="w" fact="0.6068"/>
                  <dgm:constr type="ctrY" for="ch" forName="dotArrow4" refType="h" fact="0.0468"/>
                  <dgm:constr type="w" for="ch" forName="dotArrow4" refType="userD"/>
                  <dgm:constr type="h" for="ch" forName="dotArrow4" refType="userD"/>
                  <dgm:constr type="ctrX" for="ch" forName="dotArrow5" refType="w" fact="0.6346"/>
                  <dgm:constr type="ctrY" for="ch" forName="dotArrow5" refType="h" fact="0.0718"/>
                  <dgm:constr type="w" for="ch" forName="dotArrow5" refType="userD"/>
                  <dgm:constr type="h" for="ch" forName="dotArrow5" refType="userD"/>
                  <dgm:constr type="ctrX" for="ch" forName="dotArrow6" refType="w" fact="0.579"/>
                  <dgm:constr type="ctrY" for="ch" forName="dotArrow6" refType="h" fact="0.0745"/>
                  <dgm:constr type="w" for="ch" forName="dotArrow6" refType="userD"/>
                  <dgm:constr type="h" for="ch" forName="dotArrow6" refType="userD"/>
                  <dgm:constr type="ctrX" for="ch" forName="dotArrow7" refType="w" fact="0.579"/>
                  <dgm:constr type="ctrY" for="ch" forName="dotArrow7" refType="h" fact="0.1273"/>
                  <dgm:constr type="w" for="ch" forName="dotArrow7" refType="userD"/>
                  <dgm:constr type="h" for="ch" forName="dotArrow7" refType="userD"/>
                  <dgm:constr type="l" for="ch" forName="parTx1" refType="w" fact="0.1837"/>
                  <dgm:constr type="t" for="ch" forName="parTx1" refType="h" fact="0.8551"/>
                  <dgm:constr type="w" for="ch" forName="parTx1" refType="w" fact="0.4314"/>
                  <dgm:constr type="h" for="ch" forName="parTx1" refType="h" fact="0.1638"/>
                  <dgm:constr type="ctrX" for="ch" forName="picture1" refType="w" fact="0.1641"/>
                  <dgm:constr type="ctrY" for="ch" forName="picture1" refType="h" fact="0.8361"/>
                  <dgm:constr type="w" for="ch" forName="picture1" refType="w" fact="0.2"/>
                  <dgm:constr type="h" for="ch" forName="picture1" refType="h" fact="0.2832"/>
                  <dgm:constr type="l" for="ch" forName="parTx2" refType="w" fact="0.4612"/>
                  <dgm:constr type="t" for="ch" forName="parTx2" refType="h" fact="0.6424"/>
                  <dgm:constr type="w" for="ch" forName="parTx2" refType="w" fact="0.4314"/>
                  <dgm:constr type="h" for="ch" forName="parTx2" refType="h" fact="0.1638"/>
                  <dgm:constr type="ctrX" for="ch" forName="picture2" refType="w" fact="0.4416"/>
                  <dgm:constr type="ctrY" for="ch" forName="picture2" refType="h" fact="0.6234"/>
                  <dgm:constr type="w" for="ch" forName="picture2" refType="w" fact="0.2"/>
                  <dgm:constr type="h" for="ch" forName="picture2" refType="h" fact="0.2832"/>
                  <dgm:constr type="l" for="ch" forName="parTx3" refType="w" fact="0.5886"/>
                  <dgm:constr type="t" for="ch" forName="parTx3" refType="h" fact="0.3198"/>
                  <dgm:constr type="w" for="ch" forName="parTx3" refType="w" fact="0.4314"/>
                  <dgm:constr type="h" for="ch" forName="parTx3" refType="h" fact="0.1638"/>
                  <dgm:constr type="ctrX" for="ch" forName="picture3" refType="w" fact="0.569"/>
                  <dgm:constr type="ctrY" for="ch" forName="picture3" refType="h" fact="0.3008"/>
                  <dgm:constr type="w" for="ch" forName="picture3" refType="w" fact="0.2"/>
                  <dgm:constr type="h" for="ch" forName="picture3" refType="h" fact="0.2832"/>
                </dgm:constrLst>
              </dgm:else>
            </dgm:choose>
          </dgm:if>
          <dgm:else name="Name28">
            <dgm:choose name="Name29">
              <dgm:if name="Name30"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7019"/>
                  <dgm:constr type="ctrY" for="ch" forName="dot1" refType="h" fact="0.763"/>
                  <dgm:constr type="w" for="ch" forName="dot1" refType="userD"/>
                  <dgm:constr type="h" for="ch" forName="dot1" refType="userD"/>
                  <dgm:constr type="ctrX" for="ch" forName="dot2" refType="w" fact="0.7324"/>
                  <dgm:constr type="ctrY" for="ch" forName="dot2" refType="h" fact="0.7887"/>
                  <dgm:constr type="w" for="ch" forName="dot2" refType="userD"/>
                  <dgm:constr type="h" for="ch" forName="dot2" refType="userD"/>
                  <dgm:constr type="ctrX" for="ch" forName="dot3" refType="w" fact="0.7643"/>
                  <dgm:constr type="ctrY" for="ch" forName="dot3" refType="h" fact="0.809"/>
                  <dgm:constr type="w" for="ch" forName="dot3" refType="userD"/>
                  <dgm:constr type="h" for="ch" forName="dot3" refType="userD"/>
                  <dgm:constr type="ctrX" for="ch" forName="dot4" refType="w" fact="0.5555"/>
                  <dgm:constr type="ctrY" for="ch" forName="dot4" refType="h" fact="0.4655"/>
                  <dgm:constr type="w" for="ch" forName="dot4" refType="userD"/>
                  <dgm:constr type="h" for="ch" forName="dot4" refType="userD"/>
                  <dgm:constr type="ctrX" for="ch" forName="dot5" refType="w" fact="0.5677"/>
                  <dgm:constr type="ctrY" for="ch" forName="dot5" refType="h" fact="0.5178"/>
                  <dgm:constr type="w" for="ch" forName="dot5" refType="userD"/>
                  <dgm:constr type="h" for="ch" forName="dot5" refType="userD"/>
                  <dgm:constr type="ctrX" for="ch" forName="dotArrow1" refType="w" fact="0.5764"/>
                  <dgm:constr type="ctrY" for="ch" forName="dotArrow1" refType="h" fact="0.0718"/>
                  <dgm:constr type="w" for="ch" forName="dotArrow1" refType="userD"/>
                  <dgm:constr type="h" for="ch" forName="dotArrow1" refType="userD"/>
                  <dgm:constr type="ctrX" for="ch" forName="dotArrow2" refType="w" fact="0.554"/>
                  <dgm:constr type="ctrY" for="ch" forName="dotArrow2" refType="h" fact="0.0468"/>
                  <dgm:constr type="w" for="ch" forName="dotArrow2" refType="userD"/>
                  <dgm:constr type="h" for="ch" forName="dotArrow2" refType="userD"/>
                  <dgm:constr type="ctrX" for="ch" forName="dotArrow3" refType="w" fact="0.5315"/>
                  <dgm:constr type="ctrY" for="ch" forName="dotArrow3" refType="h" fact="0.0218"/>
                  <dgm:constr type="w" for="ch" forName="dotArrow3" refType="userD"/>
                  <dgm:constr type="h" for="ch" forName="dotArrow3" refType="userD"/>
                  <dgm:constr type="ctrX" for="ch" forName="dotArrow4" refType="w" fact="0.509"/>
                  <dgm:constr type="ctrY" for="ch" forName="dotArrow4" refType="h" fact="0.0468"/>
                  <dgm:constr type="w" for="ch" forName="dotArrow4" refType="userD"/>
                  <dgm:constr type="h" for="ch" forName="dotArrow4" refType="userD"/>
                  <dgm:constr type="ctrX" for="ch" forName="dotArrow5" refType="w" fact="0.4865"/>
                  <dgm:constr type="ctrY" for="ch" forName="dotArrow5" refType="h" fact="0.0718"/>
                  <dgm:constr type="w" for="ch" forName="dotArrow5" refType="userD"/>
                  <dgm:constr type="h" for="ch" forName="dotArrow5" refType="userD"/>
                  <dgm:constr type="ctrX" for="ch" forName="dotArrow6" refType="w" fact="0.5315"/>
                  <dgm:constr type="ctrY" for="ch" forName="dotArrow6" refType="h" fact="0.0745"/>
                  <dgm:constr type="w" for="ch" forName="dotArrow6" refType="userD"/>
                  <dgm:constr type="h" for="ch" forName="dotArrow6" refType="userD"/>
                  <dgm:constr type="ctrX" for="ch" forName="dotArrow7" refType="w" fact="0.5315"/>
                  <dgm:constr type="ctrY" for="ch" forName="dotArrow7" refType="h" fact="0.1273"/>
                  <dgm:constr type="w" for="ch" forName="dotArrow7" refType="userD"/>
                  <dgm:constr type="h" for="ch" forName="dotArrow7" refType="userD"/>
                  <dgm:constr type="r" for="ch" forName="parTx1" refType="w" fact="0.8513"/>
                  <dgm:constr type="t" for="ch" forName="parTx1" refType="h" fact="0.8596"/>
                  <dgm:constr type="w" for="ch" forName="parTx1" refType="w" fact="0.3491"/>
                  <dgm:constr type="h" for="ch" forName="parTx1" refType="h" fact="0.1638"/>
                  <dgm:constr type="ctrX" for="ch" forName="picture1" refType="w" fact="0.8672"/>
                  <dgm:constr type="ctrY" for="ch" forName="picture1" refType="h" fact="0.8361"/>
                  <dgm:constr type="w" for="ch" forName="picture1" refType="w" fact="0.1618"/>
                  <dgm:constr type="h" for="ch" forName="picture1" refType="h" fact="0.2832"/>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268"/>
                  <dgm:constr type="t" for="ch" forName="parTx2" refType="h" fact="0.6469"/>
                  <dgm:constr type="w" for="ch" forName="parTx2" refType="w" fact="0.3491"/>
                  <dgm:constr type="h" for="ch" forName="parTx2" refType="h" fact="0.1638"/>
                  <dgm:constr type="ctrX" for="ch" forName="picture2" refType="w" fact="0.6427"/>
                  <dgm:constr type="ctrY" for="ch" forName="picture2" refType="h" fact="0.6234"/>
                  <dgm:constr type="w" for="ch" forName="picture2" refType="w" fact="0.1618"/>
                  <dgm:constr type="h" for="ch" forName="picture2" refType="h" fact="0.2832"/>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5237"/>
                  <dgm:constr type="t" for="ch" forName="parTx3" refType="h" fact="0.3243"/>
                  <dgm:constr type="w" for="ch" forName="parTx3" refType="w" fact="0.3491"/>
                  <dgm:constr type="h" for="ch" forName="parTx3" refType="h" fact="0.1638"/>
                  <dgm:constr type="ctrX" for="ch" forName="picture3" refType="w" fact="0.5396"/>
                  <dgm:constr type="ctrY" for="ch" forName="picture3" refType="h" fact="0.3008"/>
                  <dgm:constr type="w" for="ch" forName="picture3" refType="w" fact="0.1618"/>
                  <dgm:constr type="h" for="ch" forName="picture3" refType="h" fact="0.2832"/>
                  <dgm:constr type="r" for="ch" forName="desTx3" refType="l" refFor="ch" refForName="parTx3"/>
                  <dgm:constr type="l" for="ch" forName="desTx3"/>
                  <dgm:constr type="t" for="ch" forName="desTx3" refType="t" refFor="ch" refForName="parTx3"/>
                  <dgm:constr type="h" for="ch" forName="desTx3" refType="h" refFor="ch" refForName="parTx3"/>
                </dgm:constrLst>
              </dgm:if>
              <dgm:else name="Name31">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6316"/>
                  <dgm:constr type="ctrY" for="ch" forName="dot1" refType="h" fact="0.763"/>
                  <dgm:constr type="w" for="ch" forName="dot1" refType="userD"/>
                  <dgm:constr type="h" for="ch" forName="dot1" refType="userD"/>
                  <dgm:constr type="ctrX" for="ch" forName="dot2" refType="w" fact="0.6693"/>
                  <dgm:constr type="ctrY" for="ch" forName="dot2" refType="h" fact="0.7887"/>
                  <dgm:constr type="w" for="ch" forName="dot2" refType="userD"/>
                  <dgm:constr type="h" for="ch" forName="dot2" refType="userD"/>
                  <dgm:constr type="ctrX" for="ch" forName="dot3" refType="w" fact="0.7088"/>
                  <dgm:constr type="ctrY" for="ch" forName="dot3" refType="h" fact="0.809"/>
                  <dgm:constr type="w" for="ch" forName="dot3" refType="userD"/>
                  <dgm:constr type="h" for="ch" forName="dot3" refType="userD"/>
                  <dgm:constr type="ctrX" for="ch" forName="dot4" refType="w" fact="0.4506"/>
                  <dgm:constr type="ctrY" for="ch" forName="dot4" refType="h" fact="0.4655"/>
                  <dgm:constr type="w" for="ch" forName="dot4" refType="userD"/>
                  <dgm:constr type="h" for="ch" forName="dot4" refType="userD"/>
                  <dgm:constr type="ctrX" for="ch" forName="dot5" refType="w" fact="0.4658"/>
                  <dgm:constr type="ctrY" for="ch" forName="dot5" refType="h" fact="0.5178"/>
                  <dgm:constr type="w" for="ch" forName="dot5" refType="userD"/>
                  <dgm:constr type="h" for="ch" forName="dot5" refType="userD"/>
                  <dgm:constr type="ctrX" for="ch" forName="dotArrow1" refType="w" fact="0.4766"/>
                  <dgm:constr type="ctrY" for="ch" forName="dotArrow1" refType="h" fact="0.0718"/>
                  <dgm:constr type="w" for="ch" forName="dotArrow1" refType="userD"/>
                  <dgm:constr type="h" for="ch" forName="dotArrow1" refType="userD"/>
                  <dgm:constr type="ctrX" for="ch" forName="dotArrow2" refType="w" fact="0.4488"/>
                  <dgm:constr type="ctrY" for="ch" forName="dotArrow2" refType="h" fact="0.0468"/>
                  <dgm:constr type="w" for="ch" forName="dotArrow2" refType="userD"/>
                  <dgm:constr type="h" for="ch" forName="dotArrow2" refType="userD"/>
                  <dgm:constr type="ctrX" for="ch" forName="dotArrow3" refType="w" fact="0.421"/>
                  <dgm:constr type="ctrY" for="ch" forName="dotArrow3" refType="h" fact="0.0218"/>
                  <dgm:constr type="w" for="ch" forName="dotArrow3" refType="userD"/>
                  <dgm:constr type="h" for="ch" forName="dotArrow3" refType="userD"/>
                  <dgm:constr type="ctrX" for="ch" forName="dotArrow4" refType="w" fact="0.3932"/>
                  <dgm:constr type="ctrY" for="ch" forName="dotArrow4" refType="h" fact="0.0468"/>
                  <dgm:constr type="w" for="ch" forName="dotArrow4" refType="userD"/>
                  <dgm:constr type="h" for="ch" forName="dotArrow4" refType="userD"/>
                  <dgm:constr type="ctrX" for="ch" forName="dotArrow5" refType="w" fact="0.3654"/>
                  <dgm:constr type="ctrY" for="ch" forName="dotArrow5" refType="h" fact="0.0718"/>
                  <dgm:constr type="w" for="ch" forName="dotArrow5" refType="userD"/>
                  <dgm:constr type="h" for="ch" forName="dotArrow5" refType="userD"/>
                  <dgm:constr type="ctrX" for="ch" forName="dotArrow6" refType="w" fact="0.421"/>
                  <dgm:constr type="ctrY" for="ch" forName="dotArrow6" refType="h" fact="0.0745"/>
                  <dgm:constr type="w" for="ch" forName="dotArrow6" refType="userD"/>
                  <dgm:constr type="h" for="ch" forName="dotArrow6" refType="userD"/>
                  <dgm:constr type="ctrX" for="ch" forName="dotArrow7" refType="w" fact="0.421"/>
                  <dgm:constr type="ctrY" for="ch" forName="dotArrow7" refType="h" fact="0.1273"/>
                  <dgm:constr type="w" for="ch" forName="dotArrow7" refType="userD"/>
                  <dgm:constr type="h" for="ch" forName="dotArrow7" refType="userD"/>
                  <dgm:constr type="r" for="ch" forName="parTx1" refType="w" fact="0.8163"/>
                  <dgm:constr type="t" for="ch" forName="parTx1" refType="h" fact="0.8551"/>
                  <dgm:constr type="w" for="ch" forName="parTx1" refType="w" fact="0.4314"/>
                  <dgm:constr type="h" for="ch" forName="parTx1" refType="h" fact="0.1638"/>
                  <dgm:constr type="ctrX" for="ch" forName="picture1" refType="w" fact="0.8359"/>
                  <dgm:constr type="ctrY" for="ch" forName="picture1" refType="h" fact="0.8361"/>
                  <dgm:constr type="w" for="ch" forName="picture1" refType="w" fact="0.2"/>
                  <dgm:constr type="h" for="ch" forName="picture1" refType="h" fact="0.2832"/>
                  <dgm:constr type="r" for="ch" forName="parTx2" refType="w" fact="0.5388"/>
                  <dgm:constr type="t" for="ch" forName="parTx2" refType="h" fact="0.6424"/>
                  <dgm:constr type="w" for="ch" forName="parTx2" refType="w" fact="0.4314"/>
                  <dgm:constr type="h" for="ch" forName="parTx2" refType="h" fact="0.1638"/>
                  <dgm:constr type="ctrX" for="ch" forName="picture2" refType="w" fact="0.5584"/>
                  <dgm:constr type="ctrY" for="ch" forName="picture2" refType="h" fact="0.6234"/>
                  <dgm:constr type="w" for="ch" forName="picture2" refType="w" fact="0.2"/>
                  <dgm:constr type="h" for="ch" forName="picture2" refType="h" fact="0.2832"/>
                  <dgm:constr type="r" for="ch" forName="parTx3" refType="w" fact="0.4114"/>
                  <dgm:constr type="t" for="ch" forName="parTx3" refType="h" fact="0.3198"/>
                  <dgm:constr type="w" for="ch" forName="parTx3" refType="w" fact="0.4314"/>
                  <dgm:constr type="h" for="ch" forName="parTx3" refType="h" fact="0.1638"/>
                  <dgm:constr type="ctrX" for="ch" forName="picture3" refType="w" fact="0.431"/>
                  <dgm:constr type="ctrY" for="ch" forName="picture3" refType="h" fact="0.3008"/>
                  <dgm:constr type="w" for="ch" forName="picture3" refType="w" fact="0.2"/>
                  <dgm:constr type="h" for="ch" forName="picture3" refType="h" fact="0.2832"/>
                </dgm:constrLst>
              </dgm:else>
            </dgm:choose>
          </dgm:else>
        </dgm:choose>
      </dgm:if>
      <dgm:if name="Name32" axis="ch" ptType="node" func="cnt" op="equ" val="4">
        <dgm:choose name="Name33">
          <dgm:if name="Name34" func="var" arg="dir" op="equ" val="norm">
            <dgm:choose name="Name35">
              <dgm:if name="Name36"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3253"/>
                  <dgm:constr type="ctrY" for="ch" forName="dot1" refType="h" fact="0.8215"/>
                  <dgm:constr type="w" for="ch" forName="dot1" refType="userD"/>
                  <dgm:constr type="h" for="ch" forName="dot1" refType="userD"/>
                  <dgm:constr type="ctrX" for="ch" forName="dot2" refType="w" fact="0.2949"/>
                  <dgm:constr type="ctrY" for="ch" forName="dot2" refType="h" fact="0.843"/>
                  <dgm:constr type="w" for="ch" forName="dot2" refType="userD"/>
                  <dgm:constr type="h" for="ch" forName="dot2" refType="userD"/>
                  <dgm:constr type="ctrX" for="ch" forName="dot3" refType="w" fact="0.2635"/>
                  <dgm:constr type="ctrY" for="ch" forName="dot3" refType="h" fact="0.8607"/>
                  <dgm:constr type="w" for="ch" forName="dot3" refType="userD"/>
                  <dgm:constr type="h" for="ch" forName="dot3" refType="userD"/>
                  <dgm:constr type="ctrX" for="ch" forName="dot4" refType="w" fact="0.2313"/>
                  <dgm:constr type="ctrY" for="ch" forName="dot4" refType="h" fact="0.8745"/>
                  <dgm:constr type="w" for="ch" forName="dot4" refType="userD"/>
                  <dgm:constr type="h" for="ch" forName="dot4" refType="userD"/>
                  <dgm:constr type="ctrX" for="ch" forName="dot5" refType="w" fact="0.4675"/>
                  <dgm:constr type="ctrY" for="ch" forName="dot5" refType="h" fact="0.6419"/>
                  <dgm:constr type="w" for="ch" forName="dot5" refType="userD"/>
                  <dgm:constr type="h" for="ch" forName="dot5" refType="userD"/>
                  <dgm:constr type="ctrX" for="ch" forName="dot6" refType="w" fact="0.5486"/>
                  <dgm:constr type="ctrY" for="ch" forName="dot6" refType="h" fact="0.3784"/>
                  <dgm:constr type="w" for="ch" forName="dot6" refType="userD"/>
                  <dgm:constr type="h" for="ch" forName="dot6" refType="userD"/>
                  <dgm:constr type="ctrX" for="ch" forName="dotArrow1" refType="w" fact="0.5267"/>
                  <dgm:constr type="ctrY" for="ch" forName="dotArrow1" refType="h" fact="0.0496"/>
                  <dgm:constr type="w" for="ch" forName="dotArrow1" refType="userD"/>
                  <dgm:constr type="h" for="ch" forName="dotArrow1" refType="userD"/>
                  <dgm:constr type="ctrX" for="ch" forName="dotArrow2" refType="w" fact="0.5462"/>
                  <dgm:constr type="ctrY" for="ch" forName="dotArrow2" refType="h" fact="0.0282"/>
                  <dgm:constr type="w" for="ch" forName="dotArrow2" refType="userD"/>
                  <dgm:constr type="h" for="ch" forName="dotArrow2" refType="userD"/>
                  <dgm:constr type="ctrX" for="ch" forName="dotArrow3" refType="w" fact="0.5657"/>
                  <dgm:constr type="ctrY" for="ch" forName="dotArrow3" refType="h" fact="0.0068"/>
                  <dgm:constr type="w" for="ch" forName="dotArrow3" refType="userD"/>
                  <dgm:constr type="h" for="ch" forName="dotArrow3" refType="userD"/>
                  <dgm:constr type="ctrX" for="ch" forName="dotArrow4" refType="w" fact="0.5851"/>
                  <dgm:constr type="ctrY" for="ch" forName="dotArrow4" refType="h" fact="0.0282"/>
                  <dgm:constr type="w" for="ch" forName="dotArrow4" refType="userD"/>
                  <dgm:constr type="h" for="ch" forName="dotArrow4" refType="userD"/>
                  <dgm:constr type="ctrX" for="ch" forName="dotArrow5" refType="w" fact="0.6046"/>
                  <dgm:constr type="ctrY" for="ch" forName="dotArrow5" refType="h" fact="0.0496"/>
                  <dgm:constr type="w" for="ch" forName="dotArrow5" refType="userD"/>
                  <dgm:constr type="h" for="ch" forName="dotArrow5" refType="userD"/>
                  <dgm:constr type="ctrX" for="ch" forName="dotArrow6" refType="w" fact="0.5657"/>
                  <dgm:constr type="ctrY" for="ch" forName="dotArrow6" refType="h" fact="0.052"/>
                  <dgm:constr type="w" for="ch" forName="dotArrow6" refType="userD"/>
                  <dgm:constr type="h" for="ch" forName="dotArrow6" refType="userD"/>
                  <dgm:constr type="ctrX" for="ch" forName="dotArrow7" refType="w" fact="0.5657"/>
                  <dgm:constr type="ctrY" for="ch" forName="dotArrow7" refType="h" fact="0.0972"/>
                  <dgm:constr type="w" for="ch" forName="dotArrow7" refType="userD"/>
                  <dgm:constr type="h" for="ch" forName="dotArrow7" refType="userD"/>
                  <dgm:constr type="l" for="ch" forName="parTx1" refType="w" fact="0.1466"/>
                  <dgm:constr type="t" for="ch" forName="parTx1" refType="h" fact="0.9095"/>
                  <dgm:constr type="w" for="ch" forName="parTx1" refType="w" fact="0.294"/>
                  <dgm:constr type="h" for="ch" forName="parTx1" refType="h" fact="0.1222"/>
                  <dgm:constr type="ctrX" for="ch" forName="picture1" refType="w" fact="0.1333"/>
                  <dgm:constr type="ctrY" for="ch" forName="picture1" refType="h" fact="0.8922"/>
                  <dgm:constr type="w" for="ch" forName="picture1" refType="w" fact="0.1363"/>
                  <dgm:constr type="h" for="ch" forName="picture1" refType="h" fact="0.211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105"/>
                  <dgm:constr type="t" for="ch" forName="parTx2" refType="h" fact="0.762"/>
                  <dgm:constr type="w" for="ch" forName="parTx2" refType="w" fact="0.294"/>
                  <dgm:constr type="h" for="ch" forName="parTx2" refType="h" fact="0.1222"/>
                  <dgm:constr type="ctrX" for="ch" forName="picture2" refType="w" fact="0.3972"/>
                  <dgm:constr type="ctrY" for="ch" forName="picture2" refType="h" fact="0.7447"/>
                  <dgm:constr type="w" for="ch" forName="picture2" refType="w" fact="0.1363"/>
                  <dgm:constr type="h" for="ch" forName="picture2" refType="h" fact="0.211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229"/>
                  <dgm:constr type="t" for="ch" forName="parTx3" refType="h" fact="0.5294"/>
                  <dgm:constr type="w" for="ch" forName="parTx3" refType="w" fact="0.294"/>
                  <dgm:constr type="h" for="ch" forName="parTx3" refType="h" fact="0.1222"/>
                  <dgm:constr type="ctrX" for="ch" forName="picture3" refType="w" fact="0.5095"/>
                  <dgm:constr type="ctrY" for="ch" forName="picture3" refType="h" fact="0.5121"/>
                  <dgm:constr type="w" for="ch" forName="picture3" refType="w" fact="0.1363"/>
                  <dgm:constr type="h" for="ch" forName="picture3" refType="h" fact="0.211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722"/>
                  <dgm:constr type="t" for="ch" forName="parTx4" refType="h" fact="0.2523"/>
                  <dgm:constr type="w" for="ch" forName="parTx4" refType="w" fact="0.294"/>
                  <dgm:constr type="h" for="ch" forName="parTx4" refType="h" fact="0.1222"/>
                  <dgm:constr type="ctrX" for="ch" forName="picture4" refType="w" fact="0.5588"/>
                  <dgm:constr type="ctrY" for="ch" forName="picture4" refType="h" fact="0.235"/>
                  <dgm:constr type="w" for="ch" forName="picture4" refType="w" fact="0.1363"/>
                  <dgm:constr type="h" for="ch" forName="picture4" refType="h" fact="0.2113"/>
                  <dgm:constr type="l" for="ch" forName="desTx4" refType="r" refFor="ch" refForName="parTx4"/>
                  <dgm:constr type="r" for="ch" forName="desTx4" refType="w"/>
                  <dgm:constr type="t" for="ch" forName="desTx4" refType="t" refFor="ch" refForName="parTx4"/>
                  <dgm:constr type="h" for="ch" forName="desTx4" refType="h" refFor="ch" refForName="parTx4"/>
                </dgm:constrLst>
              </dgm:if>
              <dgm:else name="Name37">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3978"/>
                  <dgm:constr type="ctrY" for="ch" forName="dot1" refType="h" fact="0.8215"/>
                  <dgm:constr type="w" for="ch" forName="dot1" refType="userD"/>
                  <dgm:constr type="h" for="ch" forName="dot1" refType="userD"/>
                  <dgm:constr type="ctrX" for="ch" forName="dot2" refType="w" fact="0.3606"/>
                  <dgm:constr type="ctrY" for="ch" forName="dot2" refType="h" fact="0.843"/>
                  <dgm:constr type="w" for="ch" forName="dot2" refType="userD"/>
                  <dgm:constr type="h" for="ch" forName="dot2" refType="userD"/>
                  <dgm:constr type="ctrX" for="ch" forName="dot3" refType="w" fact="0.3223"/>
                  <dgm:constr type="ctrY" for="ch" forName="dot3" refType="h" fact="0.8607"/>
                  <dgm:constr type="w" for="ch" forName="dot3" refType="userD"/>
                  <dgm:constr type="h" for="ch" forName="dot3" refType="userD"/>
                  <dgm:constr type="ctrX" for="ch" forName="dot4" refType="w" fact="0.2829"/>
                  <dgm:constr type="ctrY" for="ch" forName="dot4" refType="h" fact="0.8745"/>
                  <dgm:constr type="w" for="ch" forName="dot4" refType="userD"/>
                  <dgm:constr type="h" for="ch" forName="dot4" refType="userD"/>
                  <dgm:constr type="ctrX" for="ch" forName="dot5" refType="w" fact="0.5717"/>
                  <dgm:constr type="ctrY" for="ch" forName="dot5" refType="h" fact="0.6419"/>
                  <dgm:constr type="w" for="ch" forName="dot5" refType="userD"/>
                  <dgm:constr type="h" for="ch" forName="dot5" refType="userD"/>
                  <dgm:constr type="ctrX" for="ch" forName="dot6" refType="w" fact="0.6709"/>
                  <dgm:constr type="ctrY" for="ch" forName="dot6" refType="h" fact="0.3784"/>
                  <dgm:constr type="w" for="ch" forName="dot6" refType="userD"/>
                  <dgm:constr type="h" for="ch" forName="dot6" refType="userD"/>
                  <dgm:constr type="ctrX" for="ch" forName="dotArrow1" refType="w" fact="0.6441"/>
                  <dgm:constr type="ctrY" for="ch" forName="dotArrow1" refType="h" fact="0.0496"/>
                  <dgm:constr type="w" for="ch" forName="dotArrow1" refType="userD"/>
                  <dgm:constr type="h" for="ch" forName="dotArrow1" refType="userD"/>
                  <dgm:constr type="ctrX" for="ch" forName="dotArrow2" refType="w" fact="0.6679"/>
                  <dgm:constr type="ctrY" for="ch" forName="dotArrow2" refType="h" fact="0.0282"/>
                  <dgm:constr type="w" for="ch" forName="dotArrow2" refType="userD"/>
                  <dgm:constr type="h" for="ch" forName="dotArrow2" refType="userD"/>
                  <dgm:constr type="ctrX" for="ch" forName="dotArrow3" refType="w" fact="0.6917"/>
                  <dgm:constr type="ctrY" for="ch" forName="dotArrow3" refType="h" fact="0.0068"/>
                  <dgm:constr type="w" for="ch" forName="dotArrow3" refType="userD"/>
                  <dgm:constr type="h" for="ch" forName="dotArrow3" refType="userD"/>
                  <dgm:constr type="ctrX" for="ch" forName="dotArrow4" refType="w" fact="0.7155"/>
                  <dgm:constr type="ctrY" for="ch" forName="dotArrow4" refType="h" fact="0.0282"/>
                  <dgm:constr type="w" for="ch" forName="dotArrow4" refType="userD"/>
                  <dgm:constr type="h" for="ch" forName="dotArrow4" refType="userD"/>
                  <dgm:constr type="ctrX" for="ch" forName="dotArrow5" refType="w" fact="0.7394"/>
                  <dgm:constr type="ctrY" for="ch" forName="dotArrow5" refType="h" fact="0.0496"/>
                  <dgm:constr type="w" for="ch" forName="dotArrow5" refType="userD"/>
                  <dgm:constr type="h" for="ch" forName="dotArrow5" refType="userD"/>
                  <dgm:constr type="ctrX" for="ch" forName="dotArrow6" refType="w" fact="0.6917"/>
                  <dgm:constr type="ctrY" for="ch" forName="dotArrow6" refType="h" fact="0.052"/>
                  <dgm:constr type="w" for="ch" forName="dotArrow6" refType="userD"/>
                  <dgm:constr type="h" for="ch" forName="dotArrow6" refType="userD"/>
                  <dgm:constr type="ctrX" for="ch" forName="dotArrow7" refType="w" fact="0.6917"/>
                  <dgm:constr type="ctrY" for="ch" forName="dotArrow7" refType="h" fact="0.0972"/>
                  <dgm:constr type="w" for="ch" forName="dotArrow7" refType="userD"/>
                  <dgm:constr type="h" for="ch" forName="dotArrow7" refType="userD"/>
                  <dgm:constr type="l" for="ch" forName="parTx1" refType="w" fact="0.1793"/>
                  <dgm:constr type="t" for="ch" forName="parTx1" refType="h" fact="0.9064"/>
                  <dgm:constr type="w" for="ch" forName="parTx1" refType="w" fact="0.3595"/>
                  <dgm:constr type="h" for="ch" forName="parTx1" refType="h" fact="0.1222"/>
                  <dgm:constr type="ctrX" for="ch" forName="picture1" refType="w" fact="0.163"/>
                  <dgm:constr type="ctrY" for="ch" forName="picture1" refType="h" fact="0.8922"/>
                  <dgm:constr type="w" for="ch" forName="picture1" refType="w" fact="0.1667"/>
                  <dgm:constr type="h" for="ch" forName="picture1" refType="h" fact="0.2113"/>
                  <dgm:constr type="l" for="ch" forName="parTx2" refType="w" fact="0.502"/>
                  <dgm:constr type="t" for="ch" forName="parTx2" refType="h" fact="0.7589"/>
                  <dgm:constr type="w" for="ch" forName="parTx2" refType="w" fact="0.3595"/>
                  <dgm:constr type="h" for="ch" forName="parTx2" refType="h" fact="0.1222"/>
                  <dgm:constr type="ctrX" for="ch" forName="picture2" refType="w" fact="0.4857"/>
                  <dgm:constr type="ctrY" for="ch" forName="picture2" refType="h" fact="0.7447"/>
                  <dgm:constr type="w" for="ch" forName="picture2" refType="w" fact="0.1667"/>
                  <dgm:constr type="h" for="ch" forName="picture2" refType="h" fact="0.2113"/>
                  <dgm:constr type="l" for="ch" forName="parTx3" refType="w" fact="0.6394"/>
                  <dgm:constr type="t" for="ch" forName="parTx3" refType="h" fact="0.5263"/>
                  <dgm:constr type="w" for="ch" forName="parTx3" refType="w" fact="0.3595"/>
                  <dgm:constr type="h" for="ch" forName="parTx3" refType="h" fact="0.1222"/>
                  <dgm:constr type="ctrX" for="ch" forName="picture3" refType="w" fact="0.6231"/>
                  <dgm:constr type="ctrY" for="ch" forName="picture3" refType="h" fact="0.5121"/>
                  <dgm:constr type="w" for="ch" forName="picture3" refType="w" fact="0.1667"/>
                  <dgm:constr type="h" for="ch" forName="picture3" refType="h" fact="0.2113"/>
                  <dgm:constr type="l" for="ch" forName="parTx4" refType="w" fact="0.6997"/>
                  <dgm:constr type="t" for="ch" forName="parTx4" refType="h" fact="0.2492"/>
                  <dgm:constr type="w" for="ch" forName="parTx4" refType="w" fact="0.3595"/>
                  <dgm:constr type="h" for="ch" forName="parTx4" refType="h" fact="0.1222"/>
                  <dgm:constr type="ctrX" for="ch" forName="picture4" refType="w" fact="0.6834"/>
                  <dgm:constr type="ctrY" for="ch" forName="picture4" refType="h" fact="0.235"/>
                  <dgm:constr type="w" for="ch" forName="picture4" refType="w" fact="0.1667"/>
                  <dgm:constr type="h" for="ch" forName="picture4" refType="h" fact="0.2113"/>
                </dgm:constrLst>
              </dgm:else>
            </dgm:choose>
          </dgm:if>
          <dgm:else name="Name38">
            <dgm:choose name="Name39">
              <dgm:if name="Name40"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6747"/>
                  <dgm:constr type="ctrY" for="ch" forName="dot1" refType="h" fact="0.8215"/>
                  <dgm:constr type="w" for="ch" forName="dot1" refType="userD"/>
                  <dgm:constr type="h" for="ch" forName="dot1" refType="userD"/>
                  <dgm:constr type="ctrX" for="ch" forName="dot2" refType="w" fact="0.7051"/>
                  <dgm:constr type="ctrY" for="ch" forName="dot2" refType="h" fact="0.843"/>
                  <dgm:constr type="w" for="ch" forName="dot2" refType="userD"/>
                  <dgm:constr type="h" for="ch" forName="dot2" refType="userD"/>
                  <dgm:constr type="ctrX" for="ch" forName="dot3" refType="w" fact="0.7365"/>
                  <dgm:constr type="ctrY" for="ch" forName="dot3" refType="h" fact="0.8607"/>
                  <dgm:constr type="w" for="ch" forName="dot3" refType="userD"/>
                  <dgm:constr type="h" for="ch" forName="dot3" refType="userD"/>
                  <dgm:constr type="ctrX" for="ch" forName="dot4" refType="w" fact="0.7687"/>
                  <dgm:constr type="ctrY" for="ch" forName="dot4" refType="h" fact="0.8745"/>
                  <dgm:constr type="w" for="ch" forName="dot4" refType="userD"/>
                  <dgm:constr type="h" for="ch" forName="dot4" refType="userD"/>
                  <dgm:constr type="ctrX" for="ch" forName="dot5" refType="w" fact="0.5325"/>
                  <dgm:constr type="ctrY" for="ch" forName="dot5" refType="h" fact="0.6419"/>
                  <dgm:constr type="w" for="ch" forName="dot5" refType="userD"/>
                  <dgm:constr type="h" for="ch" forName="dot5" refType="userD"/>
                  <dgm:constr type="ctrX" for="ch" forName="dot6" refType="w" fact="0.4514"/>
                  <dgm:constr type="ctrY" for="ch" forName="dot6" refType="h" fact="0.3784"/>
                  <dgm:constr type="w" for="ch" forName="dot6" refType="userD"/>
                  <dgm:constr type="h" for="ch" forName="dot6" refType="userD"/>
                  <dgm:constr type="ctrX" for="ch" forName="dotArrow1" refType="w" fact="0.4733"/>
                  <dgm:constr type="ctrY" for="ch" forName="dotArrow1" refType="h" fact="0.0496"/>
                  <dgm:constr type="w" for="ch" forName="dotArrow1" refType="userD"/>
                  <dgm:constr type="h" for="ch" forName="dotArrow1" refType="userD"/>
                  <dgm:constr type="ctrX" for="ch" forName="dotArrow2" refType="w" fact="0.4538"/>
                  <dgm:constr type="ctrY" for="ch" forName="dotArrow2" refType="h" fact="0.0282"/>
                  <dgm:constr type="w" for="ch" forName="dotArrow2" refType="userD"/>
                  <dgm:constr type="h" for="ch" forName="dotArrow2" refType="userD"/>
                  <dgm:constr type="ctrX" for="ch" forName="dotArrow3" refType="w" fact="0.4343"/>
                  <dgm:constr type="ctrY" for="ch" forName="dotArrow3" refType="h" fact="0.0068"/>
                  <dgm:constr type="w" for="ch" forName="dotArrow3" refType="userD"/>
                  <dgm:constr type="h" for="ch" forName="dotArrow3" refType="userD"/>
                  <dgm:constr type="ctrX" for="ch" forName="dotArrow4" refType="w" fact="0.4149"/>
                  <dgm:constr type="ctrY" for="ch" forName="dotArrow4" refType="h" fact="0.0282"/>
                  <dgm:constr type="w" for="ch" forName="dotArrow4" refType="userD"/>
                  <dgm:constr type="h" for="ch" forName="dotArrow4" refType="userD"/>
                  <dgm:constr type="ctrX" for="ch" forName="dotArrow5" refType="w" fact="0.3954"/>
                  <dgm:constr type="ctrY" for="ch" forName="dotArrow5" refType="h" fact="0.0496"/>
                  <dgm:constr type="w" for="ch" forName="dotArrow5" refType="userD"/>
                  <dgm:constr type="h" for="ch" forName="dotArrow5" refType="userD"/>
                  <dgm:constr type="ctrX" for="ch" forName="dotArrow6" refType="w" fact="0.4343"/>
                  <dgm:constr type="ctrY" for="ch" forName="dotArrow6" refType="h" fact="0.052"/>
                  <dgm:constr type="w" for="ch" forName="dotArrow6" refType="userD"/>
                  <dgm:constr type="h" for="ch" forName="dotArrow6" refType="userD"/>
                  <dgm:constr type="ctrX" for="ch" forName="dotArrow7" refType="w" fact="0.4343"/>
                  <dgm:constr type="ctrY" for="ch" forName="dotArrow7" refType="h" fact="0.0972"/>
                  <dgm:constr type="w" for="ch" forName="dotArrow7" refType="userD"/>
                  <dgm:constr type="h" for="ch" forName="dotArrow7" refType="userD"/>
                  <dgm:constr type="r" for="ch" forName="parTx1" refType="w" fact="0.8534"/>
                  <dgm:constr type="t" for="ch" forName="parTx1" refType="h" fact="0.9095"/>
                  <dgm:constr type="w" for="ch" forName="parTx1" refType="w" fact="0.294"/>
                  <dgm:constr type="h" for="ch" forName="parTx1" refType="h" fact="0.1222"/>
                  <dgm:constr type="ctrX" for="ch" forName="picture1" refType="w" fact="0.8667"/>
                  <dgm:constr type="ctrY" for="ch" forName="picture1" refType="h" fact="0.8922"/>
                  <dgm:constr type="w" for="ch" forName="picture1" refType="w" fact="0.1363"/>
                  <dgm:constr type="h" for="ch" forName="picture1" refType="h" fact="0.211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895"/>
                  <dgm:constr type="t" for="ch" forName="parTx2" refType="h" fact="0.762"/>
                  <dgm:constr type="w" for="ch" forName="parTx2" refType="w" fact="0.294"/>
                  <dgm:constr type="h" for="ch" forName="parTx2" refType="h" fact="0.1222"/>
                  <dgm:constr type="ctrX" for="ch" forName="picture2" refType="w" fact="0.6028"/>
                  <dgm:constr type="ctrY" for="ch" forName="picture2" refType="h" fact="0.7447"/>
                  <dgm:constr type="w" for="ch" forName="picture2" refType="w" fact="0.1363"/>
                  <dgm:constr type="h" for="ch" forName="picture2" refType="h" fact="0.211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771"/>
                  <dgm:constr type="t" for="ch" forName="parTx3" refType="h" fact="0.5294"/>
                  <dgm:constr type="w" for="ch" forName="parTx3" refType="w" fact="0.294"/>
                  <dgm:constr type="h" for="ch" forName="parTx3" refType="h" fact="0.1222"/>
                  <dgm:constr type="ctrX" for="ch" forName="picture3" refType="w" fact="0.4905"/>
                  <dgm:constr type="ctrY" for="ch" forName="picture3" refType="h" fact="0.5121"/>
                  <dgm:constr type="w" for="ch" forName="picture3" refType="w" fact="0.1363"/>
                  <dgm:constr type="h" for="ch" forName="picture3" refType="h" fact="0.211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278"/>
                  <dgm:constr type="t" for="ch" forName="parTx4" refType="h" fact="0.2523"/>
                  <dgm:constr type="w" for="ch" forName="parTx4" refType="w" fact="0.294"/>
                  <dgm:constr type="h" for="ch" forName="parTx4" refType="h" fact="0.1222"/>
                  <dgm:constr type="ctrX" for="ch" forName="picture4" refType="w" fact="0.4412"/>
                  <dgm:constr type="ctrY" for="ch" forName="picture4" refType="h" fact="0.235"/>
                  <dgm:constr type="w" for="ch" forName="picture4" refType="w" fact="0.1363"/>
                  <dgm:constr type="h" for="ch" forName="picture4" refType="h" fact="0.2113"/>
                  <dgm:constr type="r" for="ch" forName="desTx4" refType="l" refFor="ch" refForName="parTx4"/>
                  <dgm:constr type="l" for="ch" forName="desTx4"/>
                  <dgm:constr type="t" for="ch" forName="desTx4" refType="t" refFor="ch" refForName="parTx4"/>
                  <dgm:constr type="h" for="ch" forName="desTx4" refType="h" refFor="ch" refForName="parTx4"/>
                </dgm:constrLst>
              </dgm:if>
              <dgm:else name="Name41">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6022"/>
                  <dgm:constr type="ctrY" for="ch" forName="dot1" refType="h" fact="0.8215"/>
                  <dgm:constr type="w" for="ch" forName="dot1" refType="userD"/>
                  <dgm:constr type="h" for="ch" forName="dot1" refType="userD"/>
                  <dgm:constr type="ctrX" for="ch" forName="dot2" refType="w" fact="0.6394"/>
                  <dgm:constr type="ctrY" for="ch" forName="dot2" refType="h" fact="0.843"/>
                  <dgm:constr type="w" for="ch" forName="dot2" refType="userD"/>
                  <dgm:constr type="h" for="ch" forName="dot2" refType="userD"/>
                  <dgm:constr type="ctrX" for="ch" forName="dot3" refType="w" fact="0.6777"/>
                  <dgm:constr type="ctrY" for="ch" forName="dot3" refType="h" fact="0.8607"/>
                  <dgm:constr type="w" for="ch" forName="dot3" refType="userD"/>
                  <dgm:constr type="h" for="ch" forName="dot3" refType="userD"/>
                  <dgm:constr type="ctrX" for="ch" forName="dot4" refType="w" fact="0.7171"/>
                  <dgm:constr type="ctrY" for="ch" forName="dot4" refType="h" fact="0.8745"/>
                  <dgm:constr type="w" for="ch" forName="dot4" refType="userD"/>
                  <dgm:constr type="h" for="ch" forName="dot4" refType="userD"/>
                  <dgm:constr type="ctrX" for="ch" forName="dot5" refType="w" fact="0.4283"/>
                  <dgm:constr type="ctrY" for="ch" forName="dot5" refType="h" fact="0.6419"/>
                  <dgm:constr type="w" for="ch" forName="dot5" refType="userD"/>
                  <dgm:constr type="h" for="ch" forName="dot5" refType="userD"/>
                  <dgm:constr type="ctrX" for="ch" forName="dot6" refType="w" fact="0.3291"/>
                  <dgm:constr type="ctrY" for="ch" forName="dot6" refType="h" fact="0.3784"/>
                  <dgm:constr type="w" for="ch" forName="dot6" refType="userD"/>
                  <dgm:constr type="h" for="ch" forName="dot6" refType="userD"/>
                  <dgm:constr type="ctrX" for="ch" forName="dotArrow1" refType="w" fact="0.3559"/>
                  <dgm:constr type="ctrY" for="ch" forName="dotArrow1" refType="h" fact="0.0496"/>
                  <dgm:constr type="w" for="ch" forName="dotArrow1" refType="userD"/>
                  <dgm:constr type="h" for="ch" forName="dotArrow1" refType="userD"/>
                  <dgm:constr type="ctrX" for="ch" forName="dotArrow2" refType="w" fact="0.3321"/>
                  <dgm:constr type="ctrY" for="ch" forName="dotArrow2" refType="h" fact="0.0282"/>
                  <dgm:constr type="w" for="ch" forName="dotArrow2" refType="userD"/>
                  <dgm:constr type="h" for="ch" forName="dotArrow2" refType="userD"/>
                  <dgm:constr type="ctrX" for="ch" forName="dotArrow3" refType="w" fact="0.3083"/>
                  <dgm:constr type="ctrY" for="ch" forName="dotArrow3" refType="h" fact="0.0068"/>
                  <dgm:constr type="w" for="ch" forName="dotArrow3" refType="userD"/>
                  <dgm:constr type="h" for="ch" forName="dotArrow3" refType="userD"/>
                  <dgm:constr type="ctrX" for="ch" forName="dotArrow4" refType="w" fact="0.2845"/>
                  <dgm:constr type="ctrY" for="ch" forName="dotArrow4" refType="h" fact="0.0282"/>
                  <dgm:constr type="w" for="ch" forName="dotArrow4" refType="userD"/>
                  <dgm:constr type="h" for="ch" forName="dotArrow4" refType="userD"/>
                  <dgm:constr type="ctrX" for="ch" forName="dotArrow5" refType="w" fact="0.2606"/>
                  <dgm:constr type="ctrY" for="ch" forName="dotArrow5" refType="h" fact="0.0496"/>
                  <dgm:constr type="w" for="ch" forName="dotArrow5" refType="userD"/>
                  <dgm:constr type="h" for="ch" forName="dotArrow5" refType="userD"/>
                  <dgm:constr type="ctrX" for="ch" forName="dotArrow6" refType="w" fact="0.3083"/>
                  <dgm:constr type="ctrY" for="ch" forName="dotArrow6" refType="h" fact="0.052"/>
                  <dgm:constr type="w" for="ch" forName="dotArrow6" refType="userD"/>
                  <dgm:constr type="h" for="ch" forName="dotArrow6" refType="userD"/>
                  <dgm:constr type="ctrX" for="ch" forName="dotArrow7" refType="w" fact="0.3083"/>
                  <dgm:constr type="ctrY" for="ch" forName="dotArrow7" refType="h" fact="0.0972"/>
                  <dgm:constr type="w" for="ch" forName="dotArrow7" refType="userD"/>
                  <dgm:constr type="h" for="ch" forName="dotArrow7" refType="userD"/>
                  <dgm:constr type="r" for="ch" forName="parTx1" refType="w" fact="0.8207"/>
                  <dgm:constr type="t" for="ch" forName="parTx1" refType="h" fact="0.9064"/>
                  <dgm:constr type="w" for="ch" forName="parTx1" refType="w" fact="0.3595"/>
                  <dgm:constr type="h" for="ch" forName="parTx1" refType="h" fact="0.1222"/>
                  <dgm:constr type="ctrX" for="ch" forName="picture1" refType="w" fact="0.837"/>
                  <dgm:constr type="ctrY" for="ch" forName="picture1" refType="h" fact="0.8922"/>
                  <dgm:constr type="w" for="ch" forName="picture1" refType="w" fact="0.1667"/>
                  <dgm:constr type="h" for="ch" forName="picture1" refType="h" fact="0.2113"/>
                  <dgm:constr type="r" for="ch" forName="parTx2" refType="w" fact="0.498"/>
                  <dgm:constr type="t" for="ch" forName="parTx2" refType="h" fact="0.7589"/>
                  <dgm:constr type="w" for="ch" forName="parTx2" refType="w" fact="0.3595"/>
                  <dgm:constr type="h" for="ch" forName="parTx2" refType="h" fact="0.1222"/>
                  <dgm:constr type="ctrX" for="ch" forName="picture2" refType="w" fact="0.5143"/>
                  <dgm:constr type="ctrY" for="ch" forName="picture2" refType="h" fact="0.7447"/>
                  <dgm:constr type="w" for="ch" forName="picture2" refType="w" fact="0.1667"/>
                  <dgm:constr type="h" for="ch" forName="picture2" refType="h" fact="0.2113"/>
                  <dgm:constr type="r" for="ch" forName="parTx3" refType="w" fact="0.3606"/>
                  <dgm:constr type="t" for="ch" forName="parTx3" refType="h" fact="0.5263"/>
                  <dgm:constr type="w" for="ch" forName="parTx3" refType="w" fact="0.3595"/>
                  <dgm:constr type="h" for="ch" forName="parTx3" refType="h" fact="0.1222"/>
                  <dgm:constr type="ctrX" for="ch" forName="picture3" refType="w" fact="0.3769"/>
                  <dgm:constr type="ctrY" for="ch" forName="picture3" refType="h" fact="0.5121"/>
                  <dgm:constr type="w" for="ch" forName="picture3" refType="w" fact="0.1667"/>
                  <dgm:constr type="h" for="ch" forName="picture3" refType="h" fact="0.2113"/>
                  <dgm:constr type="r" for="ch" forName="parTx4" refType="w" fact="0.3003"/>
                  <dgm:constr type="t" for="ch" forName="parTx4" refType="h" fact="0.2492"/>
                  <dgm:constr type="w" for="ch" forName="parTx4" refType="w" fact="0.3595"/>
                  <dgm:constr type="h" for="ch" forName="parTx4" refType="h" fact="0.1222"/>
                  <dgm:constr type="ctrX" for="ch" forName="picture4" refType="w" fact="0.3166"/>
                  <dgm:constr type="ctrY" for="ch" forName="picture4" refType="h" fact="0.235"/>
                  <dgm:constr type="w" for="ch" forName="picture4" refType="w" fact="0.1667"/>
                  <dgm:constr type="h" for="ch" forName="picture4" refType="h" fact="0.2113"/>
                </dgm:constrLst>
              </dgm:else>
            </dgm:choose>
          </dgm:else>
        </dgm:choose>
      </dgm:if>
      <dgm:if name="Name42" axis="ch" ptType="node" func="cnt" op="equ" val="5">
        <dgm:choose name="Name43">
          <dgm:if name="Name44" func="var" arg="dir" op="equ" val="norm">
            <dgm:choose name="Name45">
              <dgm:if name="Name46"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3263"/>
                  <dgm:constr type="ctrY" for="ch" forName="dot1" refType="h" fact="0.8674"/>
                  <dgm:constr type="w" for="ch" forName="dot1" refType="userD"/>
                  <dgm:constr type="h" for="ch" forName="dot1" refType="userD"/>
                  <dgm:constr type="ctrX" for="ch" forName="dot2" refType="w" fact="0.3001"/>
                  <dgm:constr type="ctrY" for="ch" forName="dot2" refType="h" fact="0.8824"/>
                  <dgm:constr type="w" for="ch" forName="dot2" refType="userD"/>
                  <dgm:constr type="h" for="ch" forName="dot2" refType="userD"/>
                  <dgm:constr type="ctrX" for="ch" forName="dot3" refType="w" fact="0.2733"/>
                  <dgm:constr type="ctrY" for="ch" forName="dot3" refType="h" fact="0.8948"/>
                  <dgm:constr type="w" for="ch" forName="dot3" refType="userD"/>
                  <dgm:constr type="h" for="ch" forName="dot3" refType="userD"/>
                  <dgm:constr type="ctrX" for="ch" forName="dot4" refType="w" fact="0.2462"/>
                  <dgm:constr type="ctrY" for="ch" forName="dot4" refType="h" fact="0.9044"/>
                  <dgm:constr type="w" for="ch" forName="dot4" refType="userD"/>
                  <dgm:constr type="h" for="ch" forName="dot4" refType="userD"/>
                  <dgm:constr type="ctrX" for="ch" forName="dot5" refType="w" fact="0.4691"/>
                  <dgm:constr type="ctrY" for="ch" forName="dot5" refType="h" fact="0.7222"/>
                  <dgm:constr type="w" for="ch" forName="dot5" refType="userD"/>
                  <dgm:constr type="h" for="ch" forName="dot5" refType="userD"/>
                  <dgm:constr type="ctrX" for="ch" forName="dot6" refType="w" fact="0.4484"/>
                  <dgm:constr type="ctrY" for="ch" forName="dot6" refType="h" fact="0.7518"/>
                  <dgm:constr type="w" for="ch" forName="dot6" refType="userD"/>
                  <dgm:constr type="h" for="ch" forName="dot6" refType="userD"/>
                  <dgm:constr type="ctrX" for="ch" forName="dot7" refType="w" fact="0.5549"/>
                  <dgm:constr type="ctrY" for="ch" forName="dot7" refType="h" fact="0.5422"/>
                  <dgm:constr type="w" for="ch" forName="dot7" refType="userD"/>
                  <dgm:constr type="h" for="ch" forName="dot7" refType="userD"/>
                  <dgm:constr type="ctrX" for="ch" forName="dot8" refType="w" fact="0.601"/>
                  <dgm:constr type="ctrY" for="ch" forName="dot8" refType="h" fact="0.3229"/>
                  <dgm:constr type="w" for="ch" forName="dot8" refType="userD"/>
                  <dgm:constr type="h" for="ch" forName="dot8" refType="userD"/>
                  <dgm:constr type="ctrX" for="ch" forName="dotArrow1" refType="w" fact="0.5779"/>
                  <dgm:constr type="ctrY" for="ch" forName="dotArrow1" refType="h" fact="0.0635"/>
                  <dgm:constr type="w" for="ch" forName="dotArrow1" refType="userD"/>
                  <dgm:constr type="h" for="ch" forName="dotArrow1" refType="userD"/>
                  <dgm:constr type="ctrX" for="ch" forName="dotArrow2" refType="w" fact="0.5951"/>
                  <dgm:constr type="ctrY" for="ch" forName="dotArrow2" refType="h" fact="0.0448"/>
                  <dgm:constr type="w" for="ch" forName="dotArrow2" refType="userD"/>
                  <dgm:constr type="h" for="ch" forName="dotArrow2" refType="userD"/>
                  <dgm:constr type="ctrX" for="ch" forName="dotArrow3" refType="w" fact="0.6123"/>
                  <dgm:constr type="ctrY" for="ch" forName="dotArrow3" refType="h" fact="0.026"/>
                  <dgm:constr type="w" for="ch" forName="dotArrow3" refType="userD"/>
                  <dgm:constr type="h" for="ch" forName="dotArrow3" refType="userD"/>
                  <dgm:constr type="ctrX" for="ch" forName="dotArrow4" refType="w" fact="0.6295"/>
                  <dgm:constr type="ctrY" for="ch" forName="dotArrow4" refType="h" fact="0.0448"/>
                  <dgm:constr type="w" for="ch" forName="dotArrow4" refType="userD"/>
                  <dgm:constr type="h" for="ch" forName="dotArrow4" refType="userD"/>
                  <dgm:constr type="ctrX" for="ch" forName="dotArrow5" refType="w" fact="0.6467"/>
                  <dgm:constr type="ctrY" for="ch" forName="dotArrow5" refType="h" fact="0.0635"/>
                  <dgm:constr type="w" for="ch" forName="dotArrow5" refType="userD"/>
                  <dgm:constr type="h" for="ch" forName="dotArrow5" refType="userD"/>
                  <dgm:constr type="ctrX" for="ch" forName="dotArrow6" refType="w" fact="0.6123"/>
                  <dgm:constr type="ctrY" for="ch" forName="dotArrow6" refType="h" fact="0.0656"/>
                  <dgm:constr type="w" for="ch" forName="dotArrow6" refType="userD"/>
                  <dgm:constr type="h" for="ch" forName="dotArrow6" refType="userD"/>
                  <dgm:constr type="ctrX" for="ch" forName="dotArrow7" refType="w" fact="0.6123"/>
                  <dgm:constr type="ctrY" for="ch" forName="dotArrow7" refType="h" fact="0.1052"/>
                  <dgm:constr type="w" for="ch" forName="dotArrow7" refType="userD"/>
                  <dgm:constr type="h" for="ch" forName="dotArrow7" refType="userD"/>
                  <dgm:constr type="l" for="ch" forName="parTx1" refType="w" fact="0.1746"/>
                  <dgm:constr type="t" for="ch" forName="parTx1" refType="h" fact="0.9304"/>
                  <dgm:constr type="w" for="ch" forName="parTx1" refType="w" fact="0.2544"/>
                  <dgm:constr type="h" for="ch" forName="parTx1" refType="h" fact="0.0962"/>
                  <dgm:constr type="ctrX" for="ch" forName="picture1" refType="w" fact="0.1631"/>
                  <dgm:constr type="ctrY" for="ch" forName="picture1" refType="h" fact="0.9169"/>
                  <dgm:constr type="w" for="ch" forName="picture1" refType="w" fact="0.118"/>
                  <dgm:constr type="h" for="ch" forName="picture1" refType="h" fact="0.166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982"/>
                  <dgm:constr type="t" for="ch" forName="parTx2" refType="h" fact="0.8167"/>
                  <dgm:constr type="w" for="ch" forName="parTx2" refType="w" fact="0.2544"/>
                  <dgm:constr type="h" for="ch" forName="parTx2" refType="h" fact="0.0962"/>
                  <dgm:constr type="ctrX" for="ch" forName="picture2" refType="w" fact="0.3866"/>
                  <dgm:constr type="ctrY" for="ch" forName="picture2" refType="h" fact="0.8032"/>
                  <dgm:constr type="w" for="ch" forName="picture2" refType="w" fact="0.118"/>
                  <dgm:constr type="h" for="ch" forName="picture2" refType="h" fact="0.166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194"/>
                  <dgm:constr type="t" for="ch" forName="parTx3" refType="h" fact="0.6524"/>
                  <dgm:constr type="w" for="ch" forName="parTx3" refType="w" fact="0.2544"/>
                  <dgm:constr type="h" for="ch" forName="parTx3" refType="h" fact="0.0962"/>
                  <dgm:constr type="ctrX" for="ch" forName="picture3" refType="w" fact="0.5078"/>
                  <dgm:constr type="ctrY" for="ch" forName="picture3" refType="h" fact="0.6389"/>
                  <dgm:constr type="w" for="ch" forName="picture3" refType="w" fact="0.118"/>
                  <dgm:constr type="h" for="ch" forName="picture3" refType="h" fact="0.166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827"/>
                  <dgm:constr type="t" for="ch" forName="parTx4" refType="h" fact="0.4412"/>
                  <dgm:constr type="w" for="ch" forName="parTx4" refType="w" fact="0.2544"/>
                  <dgm:constr type="h" for="ch" forName="parTx4" refType="h" fact="0.0962"/>
                  <dgm:constr type="ctrX" for="ch" forName="picture4" refType="w" fact="0.5712"/>
                  <dgm:constr type="ctrY" for="ch" forName="picture4" refType="h" fact="0.4277"/>
                  <dgm:constr type="w" for="ch" forName="picture4" refType="w" fact="0.118"/>
                  <dgm:constr type="h" for="ch" forName="picture4" refType="h" fact="0.166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18"/>
                  <dgm:constr type="t" for="ch" forName="parTx5" refType="h" fact="0.2262"/>
                  <dgm:constr type="w" for="ch" forName="parTx5" refType="w" fact="0.2544"/>
                  <dgm:constr type="h" for="ch" forName="parTx5" refType="h" fact="0.0962"/>
                  <dgm:constr type="ctrX" for="ch" forName="picture5" refType="w" fact="0.6064"/>
                  <dgm:constr type="ctrY" for="ch" forName="picture5" refType="h" fact="0.2127"/>
                  <dgm:constr type="w" for="ch" forName="picture5" refType="w" fact="0.118"/>
                  <dgm:constr type="h" for="ch" forName="picture5" refType="h" fact="0.1663"/>
                  <dgm:constr type="l" for="ch" forName="desTx5" refType="r" refFor="ch" refForName="parTx5"/>
                  <dgm:constr type="r" for="ch" forName="desTx5" refType="w"/>
                  <dgm:constr type="t" for="ch" forName="desTx5" refType="t" refFor="ch" refForName="parTx5"/>
                  <dgm:constr type="h" for="ch" forName="desTx5" refType="h" refFor="ch" refForName="parTx5"/>
                </dgm:constrLst>
              </dgm:if>
              <dgm:else name="Name47">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3951"/>
                  <dgm:constr type="ctrY" for="ch" forName="dot1" refType="h" fact="0.8674"/>
                  <dgm:constr type="w" for="ch" forName="dot1" refType="userD"/>
                  <dgm:constr type="h" for="ch" forName="dot1" refType="userD"/>
                  <dgm:constr type="ctrX" for="ch" forName="dot2" refType="w" fact="0.3634"/>
                  <dgm:constr type="ctrY" for="ch" forName="dot2" refType="h" fact="0.8824"/>
                  <dgm:constr type="w" for="ch" forName="dot2" refType="userD"/>
                  <dgm:constr type="h" for="ch" forName="dot2" refType="userD"/>
                  <dgm:constr type="ctrX" for="ch" forName="dot3" refType="w" fact="0.331"/>
                  <dgm:constr type="ctrY" for="ch" forName="dot3" refType="h" fact="0.8948"/>
                  <dgm:constr type="w" for="ch" forName="dot3" refType="userD"/>
                  <dgm:constr type="h" for="ch" forName="dot3" refType="userD"/>
                  <dgm:constr type="ctrX" for="ch" forName="dot4" refType="w" fact="0.2981"/>
                  <dgm:constr type="ctrY" for="ch" forName="dot4" refType="h" fact="0.9044"/>
                  <dgm:constr type="w" for="ch" forName="dot4" refType="userD"/>
                  <dgm:constr type="h" for="ch" forName="dot4" refType="userD"/>
                  <dgm:constr type="ctrX" for="ch" forName="dot5" refType="w" fact="0.5681"/>
                  <dgm:constr type="ctrY" for="ch" forName="dot5" refType="h" fact="0.7222"/>
                  <dgm:constr type="w" for="ch" forName="dot5" refType="userD"/>
                  <dgm:constr type="h" for="ch" forName="dot5" refType="userD"/>
                  <dgm:constr type="ctrX" for="ch" forName="dot6" refType="w" fact="0.543"/>
                  <dgm:constr type="ctrY" for="ch" forName="dot6" refType="h" fact="0.7518"/>
                  <dgm:constr type="w" for="ch" forName="dot6" refType="userD"/>
                  <dgm:constr type="h" for="ch" forName="dot6" refType="userD"/>
                  <dgm:constr type="ctrX" for="ch" forName="dot7" refType="w" fact="0.672"/>
                  <dgm:constr type="ctrY" for="ch" forName="dot7" refType="h" fact="0.5422"/>
                  <dgm:constr type="w" for="ch" forName="dot7" refType="userD"/>
                  <dgm:constr type="h" for="ch" forName="dot7" refType="userD"/>
                  <dgm:constr type="ctrX" for="ch" forName="dot8" refType="w" fact="0.7278"/>
                  <dgm:constr type="ctrY" for="ch" forName="dot8" refType="h" fact="0.3229"/>
                  <dgm:constr type="w" for="ch" forName="dot8" refType="userD"/>
                  <dgm:constr type="h" for="ch" forName="dot8" refType="userD"/>
                  <dgm:constr type="ctrX" for="ch" forName="dotArrow1" refType="w" fact="0.6999"/>
                  <dgm:constr type="ctrY" for="ch" forName="dotArrow1" refType="h" fact="0.0635"/>
                  <dgm:constr type="w" for="ch" forName="dotArrow1" refType="userD"/>
                  <dgm:constr type="h" for="ch" forName="dotArrow1" refType="userD"/>
                  <dgm:constr type="ctrX" for="ch" forName="dotArrow2" refType="w" fact="0.7207"/>
                  <dgm:constr type="ctrY" for="ch" forName="dotArrow2" refType="h" fact="0.0448"/>
                  <dgm:constr type="w" for="ch" forName="dotArrow2" refType="userD"/>
                  <dgm:constr type="h" for="ch" forName="dotArrow2" refType="userD"/>
                  <dgm:constr type="ctrX" for="ch" forName="dotArrow3" refType="w" fact="0.7415"/>
                  <dgm:constr type="ctrY" for="ch" forName="dotArrow3" refType="h" fact="0.026"/>
                  <dgm:constr type="w" for="ch" forName="dotArrow3" refType="userD"/>
                  <dgm:constr type="h" for="ch" forName="dotArrow3" refType="userD"/>
                  <dgm:constr type="ctrX" for="ch" forName="dotArrow4" refType="w" fact="0.7624"/>
                  <dgm:constr type="ctrY" for="ch" forName="dotArrow4" refType="h" fact="0.0448"/>
                  <dgm:constr type="w" for="ch" forName="dotArrow4" refType="userD"/>
                  <dgm:constr type="h" for="ch" forName="dotArrow4" refType="userD"/>
                  <dgm:constr type="ctrX" for="ch" forName="dotArrow5" refType="w" fact="0.7832"/>
                  <dgm:constr type="ctrY" for="ch" forName="dotArrow5" refType="h" fact="0.0635"/>
                  <dgm:constr type="w" for="ch" forName="dotArrow5" refType="userD"/>
                  <dgm:constr type="h" for="ch" forName="dotArrow5" refType="userD"/>
                  <dgm:constr type="ctrX" for="ch" forName="dotArrow6" refType="w" fact="0.7415"/>
                  <dgm:constr type="ctrY" for="ch" forName="dotArrow6" refType="h" fact="0.0656"/>
                  <dgm:constr type="w" for="ch" forName="dotArrow6" refType="userD"/>
                  <dgm:constr type="h" for="ch" forName="dotArrow6" refType="userD"/>
                  <dgm:constr type="ctrX" for="ch" forName="dotArrow7" refType="w" fact="0.7415"/>
                  <dgm:constr type="ctrY" for="ch" forName="dotArrow7" refType="h" fact="0.1052"/>
                  <dgm:constr type="w" for="ch" forName="dotArrow7" refType="userD"/>
                  <dgm:constr type="h" for="ch" forName="dotArrow7" refType="userD"/>
                  <dgm:constr type="l" for="ch" forName="parTx1" refType="w" fact="0.2115"/>
                  <dgm:constr type="t" for="ch" forName="parTx1" refType="h" fact="0.928"/>
                  <dgm:constr type="w" for="ch" forName="parTx1" refType="w" fact="0.3081"/>
                  <dgm:constr type="h" for="ch" forName="parTx1" refType="h" fact="0.0962"/>
                  <dgm:constr type="ctrX" for="ch" forName="picture1" refType="w" fact="0.1975"/>
                  <dgm:constr type="ctrY" for="ch" forName="picture1" refType="h" fact="0.9169"/>
                  <dgm:constr type="w" for="ch" forName="picture1" refType="w" fact="0.1429"/>
                  <dgm:constr type="h" for="ch" forName="picture1" refType="h" fact="0.1663"/>
                  <dgm:constr type="l" for="ch" forName="parTx2" refType="w" fact="0.4822"/>
                  <dgm:constr type="t" for="ch" forName="parTx2" refType="h" fact="0.8143"/>
                  <dgm:constr type="w" for="ch" forName="parTx2" refType="w" fact="0.3081"/>
                  <dgm:constr type="h" for="ch" forName="parTx2" refType="h" fact="0.0962"/>
                  <dgm:constr type="ctrX" for="ch" forName="picture2" refType="w" fact="0.4682"/>
                  <dgm:constr type="ctrY" for="ch" forName="picture2" refType="h" fact="0.8032"/>
                  <dgm:constr type="w" for="ch" forName="picture2" refType="w" fact="0.1429"/>
                  <dgm:constr type="h" for="ch" forName="picture2" refType="h" fact="0.1663"/>
                  <dgm:constr type="l" for="ch" forName="parTx3" refType="w" fact="0.629"/>
                  <dgm:constr type="t" for="ch" forName="parTx3" refType="h" fact="0.65"/>
                  <dgm:constr type="w" for="ch" forName="parTx3" refType="w" fact="0.3081"/>
                  <dgm:constr type="h" for="ch" forName="parTx3" refType="h" fact="0.0962"/>
                  <dgm:constr type="ctrX" for="ch" forName="picture3" refType="w" fact="0.615"/>
                  <dgm:constr type="ctrY" for="ch" forName="picture3" refType="h" fact="0.6389"/>
                  <dgm:constr type="w" for="ch" forName="picture3" refType="w" fact="0.1429"/>
                  <dgm:constr type="h" for="ch" forName="picture3" refType="h" fact="0.1663"/>
                  <dgm:constr type="l" for="ch" forName="parTx4" refType="w" fact="0.7057"/>
                  <dgm:constr type="t" for="ch" forName="parTx4" refType="h" fact="0.4388"/>
                  <dgm:constr type="w" for="ch" forName="parTx4" refType="w" fact="0.3081"/>
                  <dgm:constr type="h" for="ch" forName="parTx4" refType="h" fact="0.0962"/>
                  <dgm:constr type="ctrX" for="ch" forName="picture4" refType="w" fact="0.6917"/>
                  <dgm:constr type="ctrY" for="ch" forName="picture4" refType="h" fact="0.4277"/>
                  <dgm:constr type="w" for="ch" forName="picture4" refType="w" fact="0.1429"/>
                  <dgm:constr type="h" for="ch" forName="picture4" refType="h" fact="0.1663"/>
                  <dgm:constr type="l" for="ch" forName="parTx5" refType="w" fact="0.7484"/>
                  <dgm:constr type="t" for="ch" forName="parTx5" refType="h" fact="0.2238"/>
                  <dgm:constr type="w" for="ch" forName="parTx5" refType="w" fact="0.3081"/>
                  <dgm:constr type="h" for="ch" forName="parTx5" refType="h" fact="0.0962"/>
                  <dgm:constr type="ctrX" for="ch" forName="picture5" refType="w" fact="0.7344"/>
                  <dgm:constr type="ctrY" for="ch" forName="picture5" refType="h" fact="0.2127"/>
                  <dgm:constr type="w" for="ch" forName="picture5" refType="w" fact="0.1429"/>
                  <dgm:constr type="h" for="ch" forName="picture5" refType="h" fact="0.1663"/>
                </dgm:constrLst>
              </dgm:else>
            </dgm:choose>
          </dgm:if>
          <dgm:else name="Name48">
            <dgm:choose name="Name49">
              <dgm:if name="Name50"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6737"/>
                  <dgm:constr type="ctrY" for="ch" forName="dot1" refType="h" fact="0.8674"/>
                  <dgm:constr type="w" for="ch" forName="dot1" refType="userD"/>
                  <dgm:constr type="h" for="ch" forName="dot1" refType="userD"/>
                  <dgm:constr type="ctrX" for="ch" forName="dot2" refType="w" fact="0.6999"/>
                  <dgm:constr type="ctrY" for="ch" forName="dot2" refType="h" fact="0.8824"/>
                  <dgm:constr type="w" for="ch" forName="dot2" refType="userD"/>
                  <dgm:constr type="h" for="ch" forName="dot2" refType="userD"/>
                  <dgm:constr type="ctrX" for="ch" forName="dot3" refType="w" fact="0.7267"/>
                  <dgm:constr type="ctrY" for="ch" forName="dot3" refType="h" fact="0.8948"/>
                  <dgm:constr type="w" for="ch" forName="dot3" refType="userD"/>
                  <dgm:constr type="h" for="ch" forName="dot3" refType="userD"/>
                  <dgm:constr type="ctrX" for="ch" forName="dot4" refType="w" fact="0.7538"/>
                  <dgm:constr type="ctrY" for="ch" forName="dot4" refType="h" fact="0.9044"/>
                  <dgm:constr type="w" for="ch" forName="dot4" refType="userD"/>
                  <dgm:constr type="h" for="ch" forName="dot4" refType="userD"/>
                  <dgm:constr type="ctrX" for="ch" forName="dot5" refType="w" fact="0.5309"/>
                  <dgm:constr type="ctrY" for="ch" forName="dot5" refType="h" fact="0.7222"/>
                  <dgm:constr type="w" for="ch" forName="dot5" refType="userD"/>
                  <dgm:constr type="h" for="ch" forName="dot5" refType="userD"/>
                  <dgm:constr type="ctrX" for="ch" forName="dot6" refType="w" fact="0.5516"/>
                  <dgm:constr type="ctrY" for="ch" forName="dot6" refType="h" fact="0.7518"/>
                  <dgm:constr type="w" for="ch" forName="dot6" refType="userD"/>
                  <dgm:constr type="h" for="ch" forName="dot6" refType="userD"/>
                  <dgm:constr type="ctrX" for="ch" forName="dot7" refType="w" fact="0.4451"/>
                  <dgm:constr type="ctrY" for="ch" forName="dot7" refType="h" fact="0.5422"/>
                  <dgm:constr type="w" for="ch" forName="dot7" refType="userD"/>
                  <dgm:constr type="h" for="ch" forName="dot7" refType="userD"/>
                  <dgm:constr type="ctrX" for="ch" forName="dot8" refType="w" fact="0.399"/>
                  <dgm:constr type="ctrY" for="ch" forName="dot8" refType="h" fact="0.3229"/>
                  <dgm:constr type="w" for="ch" forName="dot8" refType="userD"/>
                  <dgm:constr type="h" for="ch" forName="dot8" refType="userD"/>
                  <dgm:constr type="ctrX" for="ch" forName="dotArrow1" refType="w" fact="0.4221"/>
                  <dgm:constr type="ctrY" for="ch" forName="dotArrow1" refType="h" fact="0.0635"/>
                  <dgm:constr type="w" for="ch" forName="dotArrow1" refType="userD"/>
                  <dgm:constr type="h" for="ch" forName="dotArrow1" refType="userD"/>
                  <dgm:constr type="ctrX" for="ch" forName="dotArrow2" refType="w" fact="0.4049"/>
                  <dgm:constr type="ctrY" for="ch" forName="dotArrow2" refType="h" fact="0.0448"/>
                  <dgm:constr type="w" for="ch" forName="dotArrow2" refType="userD"/>
                  <dgm:constr type="h" for="ch" forName="dotArrow2" refType="userD"/>
                  <dgm:constr type="ctrX" for="ch" forName="dotArrow3" refType="w" fact="0.3877"/>
                  <dgm:constr type="ctrY" for="ch" forName="dotArrow3" refType="h" fact="0.026"/>
                  <dgm:constr type="w" for="ch" forName="dotArrow3" refType="userD"/>
                  <dgm:constr type="h" for="ch" forName="dotArrow3" refType="userD"/>
                  <dgm:constr type="ctrX" for="ch" forName="dotArrow4" refType="w" fact="0.3705"/>
                  <dgm:constr type="ctrY" for="ch" forName="dotArrow4" refType="h" fact="0.0448"/>
                  <dgm:constr type="w" for="ch" forName="dotArrow4" refType="userD"/>
                  <dgm:constr type="h" for="ch" forName="dotArrow4" refType="userD"/>
                  <dgm:constr type="ctrX" for="ch" forName="dotArrow5" refType="w" fact="0.3533"/>
                  <dgm:constr type="ctrY" for="ch" forName="dotArrow5" refType="h" fact="0.0635"/>
                  <dgm:constr type="w" for="ch" forName="dotArrow5" refType="userD"/>
                  <dgm:constr type="h" for="ch" forName="dotArrow5" refType="userD"/>
                  <dgm:constr type="ctrX" for="ch" forName="dotArrow6" refType="w" fact="0.3877"/>
                  <dgm:constr type="ctrY" for="ch" forName="dotArrow6" refType="h" fact="0.0656"/>
                  <dgm:constr type="w" for="ch" forName="dotArrow6" refType="userD"/>
                  <dgm:constr type="h" for="ch" forName="dotArrow6" refType="userD"/>
                  <dgm:constr type="ctrX" for="ch" forName="dotArrow7" refType="w" fact="0.3877"/>
                  <dgm:constr type="ctrY" for="ch" forName="dotArrow7" refType="h" fact="0.1052"/>
                  <dgm:constr type="w" for="ch" forName="dotArrow7" refType="userD"/>
                  <dgm:constr type="h" for="ch" forName="dotArrow7" refType="userD"/>
                  <dgm:constr type="r" for="ch" forName="parTx1" refType="w" fact="0.8254"/>
                  <dgm:constr type="t" for="ch" forName="parTx1" refType="h" fact="0.9304"/>
                  <dgm:constr type="w" for="ch" forName="parTx1" refType="w" fact="0.2544"/>
                  <dgm:constr type="h" for="ch" forName="parTx1" refType="h" fact="0.0962"/>
                  <dgm:constr type="ctrX" for="ch" forName="picture1" refType="w" fact="0.8369"/>
                  <dgm:constr type="ctrY" for="ch" forName="picture1" refType="h" fact="0.9169"/>
                  <dgm:constr type="w" for="ch" forName="picture1" refType="w" fact="0.118"/>
                  <dgm:constr type="h" for="ch" forName="picture1" refType="h" fact="0.166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018"/>
                  <dgm:constr type="t" for="ch" forName="parTx2" refType="h" fact="0.8167"/>
                  <dgm:constr type="w" for="ch" forName="parTx2" refType="w" fact="0.2544"/>
                  <dgm:constr type="h" for="ch" forName="parTx2" refType="h" fact="0.0962"/>
                  <dgm:constr type="ctrX" for="ch" forName="picture2" refType="w" fact="0.6134"/>
                  <dgm:constr type="ctrY" for="ch" forName="picture2" refType="h" fact="0.8032"/>
                  <dgm:constr type="w" for="ch" forName="picture2" refType="w" fact="0.118"/>
                  <dgm:constr type="h" for="ch" forName="picture2" refType="h" fact="0.166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806"/>
                  <dgm:constr type="t" for="ch" forName="parTx3" refType="h" fact="0.6524"/>
                  <dgm:constr type="w" for="ch" forName="parTx3" refType="w" fact="0.2544"/>
                  <dgm:constr type="h" for="ch" forName="parTx3" refType="h" fact="0.0962"/>
                  <dgm:constr type="ctrX" for="ch" forName="picture3" refType="w" fact="0.4922"/>
                  <dgm:constr type="ctrY" for="ch" forName="picture3" refType="h" fact="0.6389"/>
                  <dgm:constr type="w" for="ch" forName="picture3" refType="w" fact="0.118"/>
                  <dgm:constr type="h" for="ch" forName="picture3" refType="h" fact="0.166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173"/>
                  <dgm:constr type="t" for="ch" forName="parTx4" refType="h" fact="0.4412"/>
                  <dgm:constr type="w" for="ch" forName="parTx4" refType="w" fact="0.2544"/>
                  <dgm:constr type="h" for="ch" forName="parTx4" refType="h" fact="0.0962"/>
                  <dgm:constr type="ctrX" for="ch" forName="picture4" refType="w" fact="0.4288"/>
                  <dgm:constr type="ctrY" for="ch" forName="picture4" refType="h" fact="0.4277"/>
                  <dgm:constr type="w" for="ch" forName="picture4" refType="w" fact="0.118"/>
                  <dgm:constr type="h" for="ch" forName="picture4" refType="h" fact="0.166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82"/>
                  <dgm:constr type="t" for="ch" forName="parTx5" refType="h" fact="0.2262"/>
                  <dgm:constr type="w" for="ch" forName="parTx5" refType="w" fact="0.2544"/>
                  <dgm:constr type="h" for="ch" forName="parTx5" refType="h" fact="0.0962"/>
                  <dgm:constr type="ctrX" for="ch" forName="picture5" refType="w" fact="0.3936"/>
                  <dgm:constr type="ctrY" for="ch" forName="picture5" refType="h" fact="0.2127"/>
                  <dgm:constr type="w" for="ch" forName="picture5" refType="w" fact="0.118"/>
                  <dgm:constr type="h" for="ch" forName="picture5" refType="h" fact="0.1663"/>
                  <dgm:constr type="r" for="ch" forName="desTx5" refType="l" refFor="ch" refForName="parTx5"/>
                  <dgm:constr type="l" for="ch" forName="desTx5"/>
                  <dgm:constr type="t" for="ch" forName="desTx5" refType="t" refFor="ch" refForName="parTx5"/>
                  <dgm:constr type="h" for="ch" forName="desTx5" refType="h" refFor="ch" refForName="parTx5"/>
                </dgm:constrLst>
              </dgm:if>
              <dgm:else name="Name51">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6049"/>
                  <dgm:constr type="ctrY" for="ch" forName="dot1" refType="h" fact="0.8674"/>
                  <dgm:constr type="w" for="ch" forName="dot1" refType="userD"/>
                  <dgm:constr type="h" for="ch" forName="dot1" refType="userD"/>
                  <dgm:constr type="ctrX" for="ch" forName="dot2" refType="w" fact="0.6366"/>
                  <dgm:constr type="ctrY" for="ch" forName="dot2" refType="h" fact="0.8824"/>
                  <dgm:constr type="w" for="ch" forName="dot2" refType="userD"/>
                  <dgm:constr type="h" for="ch" forName="dot2" refType="userD"/>
                  <dgm:constr type="ctrX" for="ch" forName="dot3" refType="w" fact="0.669"/>
                  <dgm:constr type="ctrY" for="ch" forName="dot3" refType="h" fact="0.8948"/>
                  <dgm:constr type="w" for="ch" forName="dot3" refType="userD"/>
                  <dgm:constr type="h" for="ch" forName="dot3" refType="userD"/>
                  <dgm:constr type="ctrX" for="ch" forName="dot4" refType="w" fact="0.7019"/>
                  <dgm:constr type="ctrY" for="ch" forName="dot4" refType="h" fact="0.9044"/>
                  <dgm:constr type="w" for="ch" forName="dot4" refType="userD"/>
                  <dgm:constr type="h" for="ch" forName="dot4" refType="userD"/>
                  <dgm:constr type="ctrX" for="ch" forName="dot5" refType="w" fact="0.4319"/>
                  <dgm:constr type="ctrY" for="ch" forName="dot5" refType="h" fact="0.7222"/>
                  <dgm:constr type="w" for="ch" forName="dot5" refType="userD"/>
                  <dgm:constr type="h" for="ch" forName="dot5" refType="userD"/>
                  <dgm:constr type="ctrX" for="ch" forName="dot6" refType="w" fact="0.457"/>
                  <dgm:constr type="ctrY" for="ch" forName="dot6" refType="h" fact="0.7518"/>
                  <dgm:constr type="w" for="ch" forName="dot6" refType="userD"/>
                  <dgm:constr type="h" for="ch" forName="dot6" refType="userD"/>
                  <dgm:constr type="ctrX" for="ch" forName="dot7" refType="w" fact="0.328"/>
                  <dgm:constr type="ctrY" for="ch" forName="dot7" refType="h" fact="0.5422"/>
                  <dgm:constr type="w" for="ch" forName="dot7" refType="userD"/>
                  <dgm:constr type="h" for="ch" forName="dot7" refType="userD"/>
                  <dgm:constr type="ctrX" for="ch" forName="dot8" refType="w" fact="0.2722"/>
                  <dgm:constr type="ctrY" for="ch" forName="dot8" refType="h" fact="0.3229"/>
                  <dgm:constr type="w" for="ch" forName="dot8" refType="userD"/>
                  <dgm:constr type="h" for="ch" forName="dot8" refType="userD"/>
                  <dgm:constr type="ctrX" for="ch" forName="dotArrow1" refType="w" fact="0.3001"/>
                  <dgm:constr type="ctrY" for="ch" forName="dotArrow1" refType="h" fact="0.0635"/>
                  <dgm:constr type="w" for="ch" forName="dotArrow1" refType="userD"/>
                  <dgm:constr type="h" for="ch" forName="dotArrow1" refType="userD"/>
                  <dgm:constr type="ctrX" for="ch" forName="dotArrow2" refType="w" fact="0.2793"/>
                  <dgm:constr type="ctrY" for="ch" forName="dotArrow2" refType="h" fact="0.0448"/>
                  <dgm:constr type="w" for="ch" forName="dotArrow2" refType="userD"/>
                  <dgm:constr type="h" for="ch" forName="dotArrow2" refType="userD"/>
                  <dgm:constr type="ctrX" for="ch" forName="dotArrow3" refType="w" fact="0.2585"/>
                  <dgm:constr type="ctrY" for="ch" forName="dotArrow3" refType="h" fact="0.026"/>
                  <dgm:constr type="w" for="ch" forName="dotArrow3" refType="userD"/>
                  <dgm:constr type="h" for="ch" forName="dotArrow3" refType="userD"/>
                  <dgm:constr type="ctrX" for="ch" forName="dotArrow4" refType="w" fact="0.2376"/>
                  <dgm:constr type="ctrY" for="ch" forName="dotArrow4" refType="h" fact="0.0448"/>
                  <dgm:constr type="w" for="ch" forName="dotArrow4" refType="userD"/>
                  <dgm:constr type="h" for="ch" forName="dotArrow4" refType="userD"/>
                  <dgm:constr type="ctrX" for="ch" forName="dotArrow5" refType="w" fact="0.2168"/>
                  <dgm:constr type="ctrY" for="ch" forName="dotArrow5" refType="h" fact="0.0635"/>
                  <dgm:constr type="w" for="ch" forName="dotArrow5" refType="userD"/>
                  <dgm:constr type="h" for="ch" forName="dotArrow5" refType="userD"/>
                  <dgm:constr type="ctrX" for="ch" forName="dotArrow6" refType="w" fact="0.2585"/>
                  <dgm:constr type="ctrY" for="ch" forName="dotArrow6" refType="h" fact="0.0656"/>
                  <dgm:constr type="w" for="ch" forName="dotArrow6" refType="userD"/>
                  <dgm:constr type="h" for="ch" forName="dotArrow6" refType="userD"/>
                  <dgm:constr type="ctrX" for="ch" forName="dotArrow7" refType="w" fact="0.2585"/>
                  <dgm:constr type="ctrY" for="ch" forName="dotArrow7" refType="h" fact="0.1052"/>
                  <dgm:constr type="w" for="ch" forName="dotArrow7" refType="userD"/>
                  <dgm:constr type="h" for="ch" forName="dotArrow7" refType="userD"/>
                  <dgm:constr type="r" for="ch" forName="parTx1" refType="w" fact="0.7885"/>
                  <dgm:constr type="t" for="ch" forName="parTx1" refType="h" fact="0.928"/>
                  <dgm:constr type="w" for="ch" forName="parTx1" refType="w" fact="0.3081"/>
                  <dgm:constr type="h" for="ch" forName="parTx1" refType="h" fact="0.0962"/>
                  <dgm:constr type="ctrX" for="ch" forName="picture1" refType="w" fact="0.8025"/>
                  <dgm:constr type="ctrY" for="ch" forName="picture1" refType="h" fact="0.9169"/>
                  <dgm:constr type="w" for="ch" forName="picture1" refType="w" fact="0.1429"/>
                  <dgm:constr type="h" for="ch" forName="picture1" refType="h" fact="0.1663"/>
                  <dgm:constr type="r" for="ch" forName="parTx2" refType="w" fact="0.5178"/>
                  <dgm:constr type="t" for="ch" forName="parTx2" refType="h" fact="0.8143"/>
                  <dgm:constr type="w" for="ch" forName="parTx2" refType="w" fact="0.3081"/>
                  <dgm:constr type="h" for="ch" forName="parTx2" refType="h" fact="0.0962"/>
                  <dgm:constr type="ctrX" for="ch" forName="picture2" refType="w" fact="0.5318"/>
                  <dgm:constr type="ctrY" for="ch" forName="picture2" refType="h" fact="0.8032"/>
                  <dgm:constr type="w" for="ch" forName="picture2" refType="w" fact="0.1429"/>
                  <dgm:constr type="h" for="ch" forName="picture2" refType="h" fact="0.1663"/>
                  <dgm:constr type="r" for="ch" forName="parTx3" refType="w" fact="0.371"/>
                  <dgm:constr type="t" for="ch" forName="parTx3" refType="h" fact="0.65"/>
                  <dgm:constr type="w" for="ch" forName="parTx3" refType="w" fact="0.3081"/>
                  <dgm:constr type="h" for="ch" forName="parTx3" refType="h" fact="0.0962"/>
                  <dgm:constr type="ctrX" for="ch" forName="picture3" refType="w" fact="0.385"/>
                  <dgm:constr type="ctrY" for="ch" forName="picture3" refType="h" fact="0.6389"/>
                  <dgm:constr type="w" for="ch" forName="picture3" refType="w" fact="0.1429"/>
                  <dgm:constr type="h" for="ch" forName="picture3" refType="h" fact="0.1663"/>
                  <dgm:constr type="r" for="ch" forName="parTx4" refType="w" fact="0.2943"/>
                  <dgm:constr type="t" for="ch" forName="parTx4" refType="h" fact="0.4388"/>
                  <dgm:constr type="w" for="ch" forName="parTx4" refType="w" fact="0.3081"/>
                  <dgm:constr type="h" for="ch" forName="parTx4" refType="h" fact="0.0962"/>
                  <dgm:constr type="ctrX" for="ch" forName="picture4" refType="w" fact="0.3083"/>
                  <dgm:constr type="ctrY" for="ch" forName="picture4" refType="h" fact="0.4277"/>
                  <dgm:constr type="w" for="ch" forName="picture4" refType="w" fact="0.1429"/>
                  <dgm:constr type="h" for="ch" forName="picture4" refType="h" fact="0.1663"/>
                  <dgm:constr type="r" for="ch" forName="parTx5" refType="w" fact="0.2516"/>
                  <dgm:constr type="t" for="ch" forName="parTx5" refType="h" fact="0.2238"/>
                  <dgm:constr type="w" for="ch" forName="parTx5" refType="w" fact="0.3081"/>
                  <dgm:constr type="h" for="ch" forName="parTx5" refType="h" fact="0.0962"/>
                  <dgm:constr type="ctrX" for="ch" forName="picture5" refType="w" fact="0.2656"/>
                  <dgm:constr type="ctrY" for="ch" forName="picture5" refType="h" fact="0.2127"/>
                  <dgm:constr type="w" for="ch" forName="picture5" refType="w" fact="0.1429"/>
                  <dgm:constr type="h" for="ch" forName="picture5" refType="h" fact="0.1663"/>
                </dgm:constrLst>
              </dgm:else>
            </dgm:choose>
          </dgm:else>
        </dgm:choose>
      </dgm:if>
      <dgm:if name="Name52" axis="ch" ptType="node" func="cnt" op="equ" val="6">
        <dgm:choose name="Name53">
          <dgm:if name="Name54" func="var" arg="dir" op="equ" val="norm">
            <dgm:choose name="Name55">
              <dgm:if name="Name56"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3608"/>
                  <dgm:constr type="ctrY" for="ch" forName="dot1" refType="h" fact="0.8839"/>
                  <dgm:constr type="w" for="ch" forName="dot1" refType="userD"/>
                  <dgm:constr type="h" for="ch" forName="dot1" refType="userD"/>
                  <dgm:constr type="ctrX" for="ch" forName="dot2" refType="w" fact="0.3384"/>
                  <dgm:constr type="ctrY" for="ch" forName="dot2" refType="h" fact="0.8967"/>
                  <dgm:constr type="w" for="ch" forName="dot2" refType="userD"/>
                  <dgm:constr type="h" for="ch" forName="dot2" refType="userD"/>
                  <dgm:constr type="ctrX" for="ch" forName="dot3" refType="w" fact="0.3155"/>
                  <dgm:constr type="ctrY" for="ch" forName="dot3" refType="h" fact="0.9076"/>
                  <dgm:constr type="w" for="ch" forName="dot3" refType="userD"/>
                  <dgm:constr type="h" for="ch" forName="dot3" refType="userD"/>
                  <dgm:constr type="ctrX" for="ch" forName="dot4" refType="w" fact="0.2923"/>
                  <dgm:constr type="ctrY" for="ch" forName="dot4" refType="h" fact="0.9165"/>
                  <dgm:constr type="w" for="ch" forName="dot4" refType="userD"/>
                  <dgm:constr type="h" for="ch" forName="dot4" refType="userD"/>
                  <dgm:constr type="ctrX" for="ch" forName="dot5" refType="w" fact="0.2688"/>
                  <dgm:constr type="ctrY" for="ch" forName="dot5" refType="h" fact="0.9234"/>
                  <dgm:constr type="w" for="ch" forName="dot5" refType="userD"/>
                  <dgm:constr type="h" for="ch" forName="dot5" refType="userD"/>
                  <dgm:constr type="ctrX" for="ch" forName="dot6" refType="w" fact="0.4883"/>
                  <dgm:constr type="ctrY" for="ch" forName="dot6" refType="h" fact="0.764"/>
                  <dgm:constr type="w" for="ch" forName="dot6" refType="userD"/>
                  <dgm:constr type="h" for="ch" forName="dot6" refType="userD"/>
                  <dgm:constr type="ctrX" for="ch" forName="dot7" refType="w" fact="0.4695"/>
                  <dgm:constr type="ctrY" for="ch" forName="dot7" refType="h" fact="0.7878"/>
                  <dgm:constr type="w" for="ch" forName="dot7" refType="userD"/>
                  <dgm:constr type="h" for="ch" forName="dot7" refType="userD"/>
                  <dgm:constr type="ctrX" for="ch" forName="dot8" refType="w" fact="0.5696"/>
                  <dgm:constr type="ctrY" for="ch" forName="dot8" refType="h" fact="0.6227"/>
                  <dgm:constr type="w" for="ch" forName="dot8" refType="userD"/>
                  <dgm:constr type="h" for="ch" forName="dot8" refType="userD"/>
                  <dgm:constr type="ctrX" for="ch" forName="dot9" refType="w" fact="0.6247"/>
                  <dgm:constr type="ctrY" for="ch" forName="dot9" refType="h" fact="0.4556"/>
                  <dgm:constr type="w" for="ch" forName="dot9" refType="userD"/>
                  <dgm:constr type="h" for="ch" forName="dot9" refType="userD"/>
                  <dgm:constr type="ctrX" for="ch" forName="dot10" refType="w" fact="0.6509"/>
                  <dgm:constr type="ctrY" for="ch" forName="dot10" refType="h" fact="0.2816"/>
                  <dgm:constr type="w" for="ch" forName="dot10" refType="userD"/>
                  <dgm:constr type="h" for="ch" forName="dot10" refType="userD"/>
                  <dgm:constr type="ctrX" for="ch" forName="dotArrow1" refType="w" fact="0.6281"/>
                  <dgm:constr type="ctrY" for="ch" forName="dotArrow1" refType="h" fact="0.0748"/>
                  <dgm:constr type="w" for="ch" forName="dotArrow1" refType="userD"/>
                  <dgm:constr type="h" for="ch" forName="dotArrow1" refType="userD"/>
                  <dgm:constr type="ctrX" for="ch" forName="dotArrow2" refType="w" fact="0.6437"/>
                  <dgm:constr type="ctrY" for="ch" forName="dotArrow2" refType="h" fact="0.0581"/>
                  <dgm:constr type="w" for="ch" forName="dotArrow2" refType="userD"/>
                  <dgm:constr type="h" for="ch" forName="dotArrow2" refType="userD"/>
                  <dgm:constr type="ctrX" for="ch" forName="dotArrow3" refType="w" fact="0.6593"/>
                  <dgm:constr type="ctrY" for="ch" forName="dotArrow3" refType="h" fact="0.0414"/>
                  <dgm:constr type="w" for="ch" forName="dotArrow3" refType="userD"/>
                  <dgm:constr type="h" for="ch" forName="dotArrow3" refType="userD"/>
                  <dgm:constr type="ctrX" for="ch" forName="dotArrow4" refType="w" fact="0.675"/>
                  <dgm:constr type="ctrY" for="ch" forName="dotArrow4" refType="h" fact="0.0581"/>
                  <dgm:constr type="w" for="ch" forName="dotArrow4" refType="userD"/>
                  <dgm:constr type="h" for="ch" forName="dotArrow4" refType="userD"/>
                  <dgm:constr type="ctrX" for="ch" forName="dotArrow5" refType="w" fact="0.6906"/>
                  <dgm:constr type="ctrY" for="ch" forName="dotArrow5" refType="h" fact="0.0748"/>
                  <dgm:constr type="w" for="ch" forName="dotArrow5" refType="userD"/>
                  <dgm:constr type="h" for="ch" forName="dotArrow5" refType="userD"/>
                  <dgm:constr type="ctrX" for="ch" forName="dotArrow6" refType="w" fact="0.6593"/>
                  <dgm:constr type="ctrY" for="ch" forName="dotArrow6" refType="h" fact="0.0766"/>
                  <dgm:constr type="w" for="ch" forName="dotArrow6" refType="userD"/>
                  <dgm:constr type="h" for="ch" forName="dotArrow6" refType="userD"/>
                  <dgm:constr type="ctrX" for="ch" forName="dotArrow7" refType="w" fact="0.6593"/>
                  <dgm:constr type="ctrY" for="ch" forName="dotArrow7" refType="h" fact="0.1118"/>
                  <dgm:constr type="w" for="ch" forName="dotArrow7" refType="userD"/>
                  <dgm:constr type="h" for="ch" forName="dotArrow7" refType="userD"/>
                  <dgm:constr type="l" for="ch" forName="parTx1" refType="w" fact="0.2091"/>
                  <dgm:constr type="t" for="ch" forName="parTx1" refType="h" fact="0.9433"/>
                  <dgm:constr type="w" for="ch" forName="parTx1" refType="w" fact="0.2275"/>
                  <dgm:constr type="h" for="ch" forName="parTx1" refType="h" fact="0.0811"/>
                  <dgm:constr type="ctrX" for="ch" forName="picture1" refType="w" fact="0.1988"/>
                  <dgm:constr type="ctrY" for="ch" forName="picture1" refType="h" fact="0.9322"/>
                  <dgm:constr type="w" for="ch" forName="picture1" refType="w" fact="0.1055"/>
                  <dgm:constr type="h" for="ch" forName="picture1" refType="h" fact="0.140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273"/>
                  <dgm:constr type="t" for="ch" forName="parTx2" refType="h" fact="0.8468"/>
                  <dgm:constr type="w" for="ch" forName="parTx2" refType="w" fact="0.2275"/>
                  <dgm:constr type="h" for="ch" forName="parTx2" refType="h" fact="0.0811"/>
                  <dgm:constr type="ctrX" for="ch" forName="picture2" refType="w" fact="0.4169"/>
                  <dgm:constr type="ctrY" for="ch" forName="picture2" refType="h" fact="0.8357"/>
                  <dgm:constr type="w" for="ch" forName="picture2" refType="w" fact="0.1055"/>
                  <dgm:constr type="h" for="ch" forName="picture2" refType="h" fact="0.140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349"/>
                  <dgm:constr type="t" for="ch" forName="parTx3" refType="h" fact="0.7023"/>
                  <dgm:constr type="w" for="ch" forName="parTx3" refType="w" fact="0.2275"/>
                  <dgm:constr type="h" for="ch" forName="parTx3" refType="h" fact="0.0811"/>
                  <dgm:constr type="ctrX" for="ch" forName="picture3" refType="w" fact="0.5245"/>
                  <dgm:constr type="ctrY" for="ch" forName="picture3" refType="h" fact="0.6912"/>
                  <dgm:constr type="w" for="ch" forName="picture3" refType="w" fact="0.1055"/>
                  <dgm:constr type="h" for="ch" forName="picture3" refType="h" fact="0.140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998"/>
                  <dgm:constr type="t" for="ch" forName="parTx4" refType="h" fact="0.5441"/>
                  <dgm:constr type="w" for="ch" forName="parTx4" refType="w" fact="0.2275"/>
                  <dgm:constr type="h" for="ch" forName="parTx4" refType="h" fact="0.0811"/>
                  <dgm:constr type="ctrX" for="ch" forName="picture4" refType="w" fact="0.5894"/>
                  <dgm:constr type="ctrY" for="ch" forName="picture4" refType="h" fact="0.533"/>
                  <dgm:constr type="w" for="ch" forName="picture4" refType="w" fact="0.1055"/>
                  <dgm:constr type="h" for="ch" forName="picture4" refType="h" fact="0.140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416"/>
                  <dgm:constr type="t" for="ch" forName="parTx5" refType="h" fact="0.3737"/>
                  <dgm:constr type="w" for="ch" forName="parTx5" refType="w" fact="0.2275"/>
                  <dgm:constr type="h" for="ch" forName="parTx5" refType="h" fact="0.0811"/>
                  <dgm:constr type="ctrX" for="ch" forName="picture5" refType="w" fact="0.6313"/>
                  <dgm:constr type="ctrY" for="ch" forName="picture5" refType="h" fact="0.3626"/>
                  <dgm:constr type="w" for="ch" forName="picture5" refType="w" fact="0.1055"/>
                  <dgm:constr type="h" for="ch" forName="picture5" refType="h" fact="0.1403"/>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644"/>
                  <dgm:constr type="t" for="ch" forName="parTx6" refType="h" fact="0.2061"/>
                  <dgm:constr type="w" for="ch" forName="parTx6" refType="w" fact="0.2275"/>
                  <dgm:constr type="h" for="ch" forName="parTx6" refType="h" fact="0.0811"/>
                  <dgm:constr type="ctrX" for="ch" forName="picture6" refType="w" fact="0.6541"/>
                  <dgm:constr type="ctrY" for="ch" forName="picture6" refType="h" fact="0.195"/>
                  <dgm:constr type="w" for="ch" forName="picture6" refType="w" fact="0.1055"/>
                  <dgm:constr type="h" for="ch" forName="picture6" refType="h" fact="0.1403"/>
                  <dgm:constr type="l" for="ch" forName="desTx6" refType="r" refFor="ch" refForName="parTx6"/>
                  <dgm:constr type="r" for="ch" forName="desTx6" refType="w"/>
                  <dgm:constr type="t" for="ch" forName="desTx6" refType="t" refFor="ch" refForName="parTx6"/>
                  <dgm:constr type="h" for="ch" forName="desTx6" refType="h" refFor="ch" refForName="parTx6"/>
                </dgm:constrLst>
              </dgm:if>
              <dgm:else name="Name57">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4276"/>
                  <dgm:constr type="ctrY" for="ch" forName="dot1" refType="h" fact="0.8839"/>
                  <dgm:constr type="w" for="ch" forName="dot1" refType="userD"/>
                  <dgm:constr type="h" for="ch" forName="dot1" refType="userD"/>
                  <dgm:constr type="ctrX" for="ch" forName="dot2" refType="w" fact="0.401"/>
                  <dgm:constr type="ctrY" for="ch" forName="dot2" refType="h" fact="0.8967"/>
                  <dgm:constr type="w" for="ch" forName="dot2" refType="userD"/>
                  <dgm:constr type="h" for="ch" forName="dot2" refType="userD"/>
                  <dgm:constr type="ctrX" for="ch" forName="dot3" refType="w" fact="0.3739"/>
                  <dgm:constr type="ctrY" for="ch" forName="dot3" refType="h" fact="0.9076"/>
                  <dgm:constr type="w" for="ch" forName="dot3" refType="userD"/>
                  <dgm:constr type="h" for="ch" forName="dot3" refType="userD"/>
                  <dgm:constr type="ctrX" for="ch" forName="dot4" refType="w" fact="0.3464"/>
                  <dgm:constr type="ctrY" for="ch" forName="dot4" refType="h" fact="0.9165"/>
                  <dgm:constr type="w" for="ch" forName="dot4" refType="userD"/>
                  <dgm:constr type="h" for="ch" forName="dot4" refType="userD"/>
                  <dgm:constr type="ctrX" for="ch" forName="dot5" refType="w" fact="0.3186"/>
                  <dgm:constr type="ctrY" for="ch" forName="dot5" refType="h" fact="0.9234"/>
                  <dgm:constr type="w" for="ch" forName="dot5" refType="userD"/>
                  <dgm:constr type="h" for="ch" forName="dot5" refType="userD"/>
                  <dgm:constr type="ctrX" for="ch" forName="dot6" refType="w" fact="0.5786"/>
                  <dgm:constr type="ctrY" for="ch" forName="dot6" refType="h" fact="0.764"/>
                  <dgm:constr type="w" for="ch" forName="dot6" refType="userD"/>
                  <dgm:constr type="h" for="ch" forName="dot6" refType="userD"/>
                  <dgm:constr type="ctrX" for="ch" forName="dot7" refType="w" fact="0.5564"/>
                  <dgm:constr type="ctrY" for="ch" forName="dot7" refType="h" fact="0.7878"/>
                  <dgm:constr type="w" for="ch" forName="dot7" refType="userD"/>
                  <dgm:constr type="h" for="ch" forName="dot7" refType="userD"/>
                  <dgm:constr type="ctrX" for="ch" forName="dot8" refType="w" fact="0.675"/>
                  <dgm:constr type="ctrY" for="ch" forName="dot8" refType="h" fact="0.6227"/>
                  <dgm:constr type="w" for="ch" forName="dot8" refType="userD"/>
                  <dgm:constr type="h" for="ch" forName="dot8" refType="userD"/>
                  <dgm:constr type="ctrX" for="ch" forName="dot9" refType="w" fact="0.7403"/>
                  <dgm:constr type="ctrY" for="ch" forName="dot9" refType="h" fact="0.4556"/>
                  <dgm:constr type="w" for="ch" forName="dot9" refType="userD"/>
                  <dgm:constr type="h" for="ch" forName="dot9" refType="userD"/>
                  <dgm:constr type="ctrX" for="ch" forName="dot10" refType="w" fact="0.7714"/>
                  <dgm:constr type="ctrY" for="ch" forName="dot10" refType="h" fact="0.2816"/>
                  <dgm:constr type="w" for="ch" forName="dot10" refType="userD"/>
                  <dgm:constr type="h" for="ch" forName="dot10" refType="userD"/>
                  <dgm:constr type="ctrX" for="ch" forName="dotArrow1" refType="w" fact="0.7443"/>
                  <dgm:constr type="ctrY" for="ch" forName="dotArrow1" refType="h" fact="0.0748"/>
                  <dgm:constr type="w" for="ch" forName="dotArrow1" refType="userD"/>
                  <dgm:constr type="h" for="ch" forName="dotArrow1" refType="userD"/>
                  <dgm:constr type="ctrX" for="ch" forName="dotArrow2" refType="w" fact="0.7628"/>
                  <dgm:constr type="ctrY" for="ch" forName="dotArrow2" refType="h" fact="0.0581"/>
                  <dgm:constr type="w" for="ch" forName="dotArrow2" refType="userD"/>
                  <dgm:constr type="h" for="ch" forName="dotArrow2" refType="userD"/>
                  <dgm:constr type="ctrX" for="ch" forName="dotArrow3" refType="w" fact="0.7814"/>
                  <dgm:constr type="ctrY" for="ch" forName="dotArrow3" refType="h" fact="0.0414"/>
                  <dgm:constr type="w" for="ch" forName="dotArrow3" refType="userD"/>
                  <dgm:constr type="h" for="ch" forName="dotArrow3" refType="userD"/>
                  <dgm:constr type="ctrX" for="ch" forName="dotArrow4" refType="w" fact="0.7999"/>
                  <dgm:constr type="ctrY" for="ch" forName="dotArrow4" refType="h" fact="0.0581"/>
                  <dgm:constr type="w" for="ch" forName="dotArrow4" refType="userD"/>
                  <dgm:constr type="h" for="ch" forName="dotArrow4" refType="userD"/>
                  <dgm:constr type="ctrX" for="ch" forName="dotArrow5" refType="w" fact="0.8184"/>
                  <dgm:constr type="ctrY" for="ch" forName="dotArrow5" refType="h" fact="0.0748"/>
                  <dgm:constr type="w" for="ch" forName="dotArrow5" refType="userD"/>
                  <dgm:constr type="h" for="ch" forName="dotArrow5" refType="userD"/>
                  <dgm:constr type="ctrX" for="ch" forName="dotArrow6" refType="w" fact="0.7814"/>
                  <dgm:constr type="ctrY" for="ch" forName="dotArrow6" refType="h" fact="0.0766"/>
                  <dgm:constr type="w" for="ch" forName="dotArrow6" refType="userD"/>
                  <dgm:constr type="h" for="ch" forName="dotArrow6" refType="userD"/>
                  <dgm:constr type="ctrX" for="ch" forName="dotArrow7" refType="w" fact="0.7814"/>
                  <dgm:constr type="ctrY" for="ch" forName="dotArrow7" refType="h" fact="0.1118"/>
                  <dgm:constr type="w" for="ch" forName="dotArrow7" refType="userD"/>
                  <dgm:constr type="h" for="ch" forName="dotArrow7" refType="userD"/>
                  <dgm:constr type="l" for="ch" forName="parTx1" refType="w" fact="0.2479"/>
                  <dgm:constr type="t" for="ch" forName="parTx1" refType="h" fact="0.9416"/>
                  <dgm:constr type="w" for="ch" forName="parTx1" refType="w" fact="0.2696"/>
                  <dgm:constr type="h" for="ch" forName="parTx1" refType="h" fact="0.0811"/>
                  <dgm:constr type="ctrX" for="ch" forName="picture1" refType="w" fact="0.2356"/>
                  <dgm:constr type="ctrY" for="ch" forName="picture1" refType="h" fact="0.9322"/>
                  <dgm:constr type="w" for="ch" forName="picture1" refType="w" fact="0.125"/>
                  <dgm:constr type="h" for="ch" forName="picture1" refType="h" fact="0.1403"/>
                  <dgm:constr type="l" for="ch" forName="parTx2" refType="w" fact="0.5064"/>
                  <dgm:constr type="t" for="ch" forName="parTx2" refType="h" fact="0.8451"/>
                  <dgm:constr type="w" for="ch" forName="parTx2" refType="w" fact="0.2696"/>
                  <dgm:constr type="h" for="ch" forName="parTx2" refType="h" fact="0.0811"/>
                  <dgm:constr type="ctrX" for="ch" forName="picture2" refType="w" fact="0.4941"/>
                  <dgm:constr type="ctrY" for="ch" forName="picture2" refType="h" fact="0.8357"/>
                  <dgm:constr type="w" for="ch" forName="picture2" refType="w" fact="0.125"/>
                  <dgm:constr type="h" for="ch" forName="picture2" refType="h" fact="0.1403"/>
                  <dgm:constr type="l" for="ch" forName="parTx3" refType="w" fact="0.6339"/>
                  <dgm:constr type="t" for="ch" forName="parTx3" refType="h" fact="0.7006"/>
                  <dgm:constr type="w" for="ch" forName="parTx3" refType="w" fact="0.2696"/>
                  <dgm:constr type="h" for="ch" forName="parTx3" refType="h" fact="0.0811"/>
                  <dgm:constr type="ctrX" for="ch" forName="picture3" refType="w" fact="0.6216"/>
                  <dgm:constr type="ctrY" for="ch" forName="picture3" refType="h" fact="0.6912"/>
                  <dgm:constr type="w" for="ch" forName="picture3" refType="w" fact="0.125"/>
                  <dgm:constr type="h" for="ch" forName="picture3" refType="h" fact="0.1403"/>
                  <dgm:constr type="l" for="ch" forName="parTx4" refType="w" fact="0.7108"/>
                  <dgm:constr type="t" for="ch" forName="parTx4" refType="h" fact="0.5424"/>
                  <dgm:constr type="w" for="ch" forName="parTx4" refType="w" fact="0.2696"/>
                  <dgm:constr type="h" for="ch" forName="parTx4" refType="h" fact="0.0811"/>
                  <dgm:constr type="ctrX" for="ch" forName="picture4" refType="w" fact="0.6985"/>
                  <dgm:constr type="ctrY" for="ch" forName="picture4" refType="h" fact="0.533"/>
                  <dgm:constr type="w" for="ch" forName="picture4" refType="w" fact="0.125"/>
                  <dgm:constr type="h" for="ch" forName="picture4" refType="h" fact="0.1403"/>
                  <dgm:constr type="l" for="ch" forName="parTx5" refType="w" fact="0.7604"/>
                  <dgm:constr type="t" for="ch" forName="parTx5" refType="h" fact="0.372"/>
                  <dgm:constr type="w" for="ch" forName="parTx5" refType="w" fact="0.2696"/>
                  <dgm:constr type="h" for="ch" forName="parTx5" refType="h" fact="0.0811"/>
                  <dgm:constr type="ctrX" for="ch" forName="picture5" refType="w" fact="0.7481"/>
                  <dgm:constr type="ctrY" for="ch" forName="picture5" refType="h" fact="0.3626"/>
                  <dgm:constr type="w" for="ch" forName="picture5" refType="w" fact="0.125"/>
                  <dgm:constr type="h" for="ch" forName="picture5" refType="h" fact="0.1403"/>
                  <dgm:constr type="l" for="ch" forName="parTx6" refType="w" fact="0.7874"/>
                  <dgm:constr type="t" for="ch" forName="parTx6" refType="h" fact="0.2044"/>
                  <dgm:constr type="w" for="ch" forName="parTx6" refType="w" fact="0.2696"/>
                  <dgm:constr type="h" for="ch" forName="parTx6" refType="h" fact="0.0811"/>
                  <dgm:constr type="ctrX" for="ch" forName="picture6" refType="w" fact="0.7751"/>
                  <dgm:constr type="ctrY" for="ch" forName="picture6" refType="h" fact="0.195"/>
                  <dgm:constr type="w" for="ch" forName="picture6" refType="w" fact="0.125"/>
                  <dgm:constr type="h" for="ch" forName="picture6" refType="h" fact="0.1403"/>
                </dgm:constrLst>
              </dgm:else>
            </dgm:choose>
          </dgm:if>
          <dgm:else name="Name58">
            <dgm:choose name="Name59">
              <dgm:if name="Name60"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6392"/>
                  <dgm:constr type="ctrY" for="ch" forName="dot1" refType="h" fact="0.8839"/>
                  <dgm:constr type="w" for="ch" forName="dot1" refType="userD"/>
                  <dgm:constr type="h" for="ch" forName="dot1" refType="userD"/>
                  <dgm:constr type="ctrX" for="ch" forName="dot2" refType="w" fact="0.6616"/>
                  <dgm:constr type="ctrY" for="ch" forName="dot2" refType="h" fact="0.8967"/>
                  <dgm:constr type="w" for="ch" forName="dot2" refType="userD"/>
                  <dgm:constr type="h" for="ch" forName="dot2" refType="userD"/>
                  <dgm:constr type="ctrX" for="ch" forName="dot3" refType="w" fact="0.6845"/>
                  <dgm:constr type="ctrY" for="ch" forName="dot3" refType="h" fact="0.9076"/>
                  <dgm:constr type="w" for="ch" forName="dot3" refType="userD"/>
                  <dgm:constr type="h" for="ch" forName="dot3" refType="userD"/>
                  <dgm:constr type="ctrX" for="ch" forName="dot4" refType="w" fact="0.7077"/>
                  <dgm:constr type="ctrY" for="ch" forName="dot4" refType="h" fact="0.9165"/>
                  <dgm:constr type="w" for="ch" forName="dot4" refType="userD"/>
                  <dgm:constr type="h" for="ch" forName="dot4" refType="userD"/>
                  <dgm:constr type="ctrX" for="ch" forName="dot5" refType="w" fact="0.7312"/>
                  <dgm:constr type="ctrY" for="ch" forName="dot5" refType="h" fact="0.9234"/>
                  <dgm:constr type="w" for="ch" forName="dot5" refType="userD"/>
                  <dgm:constr type="h" for="ch" forName="dot5" refType="userD"/>
                  <dgm:constr type="ctrX" for="ch" forName="dot6" refType="w" fact="0.5117"/>
                  <dgm:constr type="ctrY" for="ch" forName="dot6" refType="h" fact="0.764"/>
                  <dgm:constr type="w" for="ch" forName="dot6" refType="userD"/>
                  <dgm:constr type="h" for="ch" forName="dot6" refType="userD"/>
                  <dgm:constr type="ctrX" for="ch" forName="dot7" refType="w" fact="0.5305"/>
                  <dgm:constr type="ctrY" for="ch" forName="dot7" refType="h" fact="0.7878"/>
                  <dgm:constr type="w" for="ch" forName="dot7" refType="userD"/>
                  <dgm:constr type="h" for="ch" forName="dot7" refType="userD"/>
                  <dgm:constr type="ctrX" for="ch" forName="dot8" refType="w" fact="0.4304"/>
                  <dgm:constr type="ctrY" for="ch" forName="dot8" refType="h" fact="0.6227"/>
                  <dgm:constr type="w" for="ch" forName="dot8" refType="userD"/>
                  <dgm:constr type="h" for="ch" forName="dot8" refType="userD"/>
                  <dgm:constr type="ctrX" for="ch" forName="dot9" refType="w" fact="0.3753"/>
                  <dgm:constr type="ctrY" for="ch" forName="dot9" refType="h" fact="0.4556"/>
                  <dgm:constr type="w" for="ch" forName="dot9" refType="userD"/>
                  <dgm:constr type="h" for="ch" forName="dot9" refType="userD"/>
                  <dgm:constr type="ctrX" for="ch" forName="dot10" refType="w" fact="0.3491"/>
                  <dgm:constr type="ctrY" for="ch" forName="dot10" refType="h" fact="0.2816"/>
                  <dgm:constr type="w" for="ch" forName="dot10" refType="userD"/>
                  <dgm:constr type="h" for="ch" forName="dot10" refType="userD"/>
                  <dgm:constr type="ctrX" for="ch" forName="dotArrow1" refType="w" fact="0.3719"/>
                  <dgm:constr type="ctrY" for="ch" forName="dotArrow1" refType="h" fact="0.0748"/>
                  <dgm:constr type="w" for="ch" forName="dotArrow1" refType="userD"/>
                  <dgm:constr type="h" for="ch" forName="dotArrow1" refType="userD"/>
                  <dgm:constr type="ctrX" for="ch" forName="dotArrow2" refType="w" fact="0.3563"/>
                  <dgm:constr type="ctrY" for="ch" forName="dotArrow2" refType="h" fact="0.0581"/>
                  <dgm:constr type="w" for="ch" forName="dotArrow2" refType="userD"/>
                  <dgm:constr type="h" for="ch" forName="dotArrow2" refType="userD"/>
                  <dgm:constr type="ctrX" for="ch" forName="dotArrow3" refType="w" fact="0.3407"/>
                  <dgm:constr type="ctrY" for="ch" forName="dotArrow3" refType="h" fact="0.0414"/>
                  <dgm:constr type="w" for="ch" forName="dotArrow3" refType="userD"/>
                  <dgm:constr type="h" for="ch" forName="dotArrow3" refType="userD"/>
                  <dgm:constr type="ctrX" for="ch" forName="dotArrow4" refType="w" fact="0.325"/>
                  <dgm:constr type="ctrY" for="ch" forName="dotArrow4" refType="h" fact="0.0581"/>
                  <dgm:constr type="w" for="ch" forName="dotArrow4" refType="userD"/>
                  <dgm:constr type="h" for="ch" forName="dotArrow4" refType="userD"/>
                  <dgm:constr type="ctrX" for="ch" forName="dotArrow5" refType="w" fact="0.3094"/>
                  <dgm:constr type="ctrY" for="ch" forName="dotArrow5" refType="h" fact="0.0748"/>
                  <dgm:constr type="w" for="ch" forName="dotArrow5" refType="userD"/>
                  <dgm:constr type="h" for="ch" forName="dotArrow5" refType="userD"/>
                  <dgm:constr type="ctrX" for="ch" forName="dotArrow6" refType="w" fact="0.3407"/>
                  <dgm:constr type="ctrY" for="ch" forName="dotArrow6" refType="h" fact="0.0766"/>
                  <dgm:constr type="w" for="ch" forName="dotArrow6" refType="userD"/>
                  <dgm:constr type="h" for="ch" forName="dotArrow6" refType="userD"/>
                  <dgm:constr type="ctrX" for="ch" forName="dotArrow7" refType="w" fact="0.3407"/>
                  <dgm:constr type="ctrY" for="ch" forName="dotArrow7" refType="h" fact="0.1118"/>
                  <dgm:constr type="w" for="ch" forName="dotArrow7" refType="userD"/>
                  <dgm:constr type="h" for="ch" forName="dotArrow7" refType="userD"/>
                  <dgm:constr type="r" for="ch" forName="parTx1" refType="w" fact="0.7909"/>
                  <dgm:constr type="t" for="ch" forName="parTx1" refType="h" fact="0.9433"/>
                  <dgm:constr type="w" for="ch" forName="parTx1" refType="w" fact="0.2275"/>
                  <dgm:constr type="h" for="ch" forName="parTx1" refType="h" fact="0.0811"/>
                  <dgm:constr type="ctrX" for="ch" forName="picture1" refType="w" fact="0.8012"/>
                  <dgm:constr type="ctrY" for="ch" forName="picture1" refType="h" fact="0.9322"/>
                  <dgm:constr type="w" for="ch" forName="picture1" refType="w" fact="0.1055"/>
                  <dgm:constr type="h" for="ch" forName="picture1" refType="h" fact="0.140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727"/>
                  <dgm:constr type="t" for="ch" forName="parTx2" refType="h" fact="0.8468"/>
                  <dgm:constr type="w" for="ch" forName="parTx2" refType="w" fact="0.2275"/>
                  <dgm:constr type="h" for="ch" forName="parTx2" refType="h" fact="0.0811"/>
                  <dgm:constr type="ctrX" for="ch" forName="picture2" refType="w" fact="0.5831"/>
                  <dgm:constr type="ctrY" for="ch" forName="picture2" refType="h" fact="0.8357"/>
                  <dgm:constr type="w" for="ch" forName="picture2" refType="w" fact="0.1055"/>
                  <dgm:constr type="h" for="ch" forName="picture2" refType="h" fact="0.140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651"/>
                  <dgm:constr type="t" for="ch" forName="parTx3" refType="h" fact="0.7023"/>
                  <dgm:constr type="w" for="ch" forName="parTx3" refType="w" fact="0.2275"/>
                  <dgm:constr type="h" for="ch" forName="parTx3" refType="h" fact="0.0811"/>
                  <dgm:constr type="ctrX" for="ch" forName="picture3" refType="w" fact="0.4755"/>
                  <dgm:constr type="ctrY" for="ch" forName="picture3" refType="h" fact="0.6912"/>
                  <dgm:constr type="w" for="ch" forName="picture3" refType="w" fact="0.1055"/>
                  <dgm:constr type="h" for="ch" forName="picture3" refType="h" fact="0.140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002"/>
                  <dgm:constr type="t" for="ch" forName="parTx4" refType="h" fact="0.5441"/>
                  <dgm:constr type="w" for="ch" forName="parTx4" refType="w" fact="0.2275"/>
                  <dgm:constr type="h" for="ch" forName="parTx4" refType="h" fact="0.0811"/>
                  <dgm:constr type="ctrX" for="ch" forName="picture4" refType="w" fact="0.4106"/>
                  <dgm:constr type="ctrY" for="ch" forName="picture4" refType="h" fact="0.533"/>
                  <dgm:constr type="w" for="ch" forName="picture4" refType="w" fact="0.1055"/>
                  <dgm:constr type="h" for="ch" forName="picture4" refType="h" fact="0.140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584"/>
                  <dgm:constr type="t" for="ch" forName="parTx5" refType="h" fact="0.3737"/>
                  <dgm:constr type="w" for="ch" forName="parTx5" refType="w" fact="0.2275"/>
                  <dgm:constr type="h" for="ch" forName="parTx5" refType="h" fact="0.0811"/>
                  <dgm:constr type="ctrX" for="ch" forName="picture5" refType="w" fact="0.3687"/>
                  <dgm:constr type="ctrY" for="ch" forName="picture5" refType="h" fact="0.3626"/>
                  <dgm:constr type="w" for="ch" forName="picture5" refType="w" fact="0.1055"/>
                  <dgm:constr type="h" for="ch" forName="picture5" refType="h" fact="0.1403"/>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356"/>
                  <dgm:constr type="t" for="ch" forName="parTx6" refType="h" fact="0.2061"/>
                  <dgm:constr type="w" for="ch" forName="parTx6" refType="w" fact="0.2275"/>
                  <dgm:constr type="h" for="ch" forName="parTx6" refType="h" fact="0.0811"/>
                  <dgm:constr type="ctrX" for="ch" forName="picture6" refType="w" fact="0.3459"/>
                  <dgm:constr type="ctrY" for="ch" forName="picture6" refType="h" fact="0.195"/>
                  <dgm:constr type="w" for="ch" forName="picture6" refType="w" fact="0.1055"/>
                  <dgm:constr type="h" for="ch" forName="picture6" refType="h" fact="0.1403"/>
                  <dgm:constr type="r" for="ch" forName="desTx6" refType="l" refFor="ch" refForName="parTx6"/>
                  <dgm:constr type="l" for="ch" forName="desTx6"/>
                  <dgm:constr type="t" for="ch" forName="desTx6" refType="t" refFor="ch" refForName="parTx6"/>
                  <dgm:constr type="h" for="ch" forName="desTx6" refType="h" refFor="ch" refForName="parTx6"/>
                </dgm:constrLst>
              </dgm:if>
              <dgm:else name="Name61">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5724"/>
                  <dgm:constr type="ctrY" for="ch" forName="dot1" refType="h" fact="0.8839"/>
                  <dgm:constr type="w" for="ch" forName="dot1" refType="userD"/>
                  <dgm:constr type="h" for="ch" forName="dot1" refType="userD"/>
                  <dgm:constr type="ctrX" for="ch" forName="dot2" refType="w" fact="0.599"/>
                  <dgm:constr type="ctrY" for="ch" forName="dot2" refType="h" fact="0.8967"/>
                  <dgm:constr type="w" for="ch" forName="dot2" refType="userD"/>
                  <dgm:constr type="h" for="ch" forName="dot2" refType="userD"/>
                  <dgm:constr type="ctrX" for="ch" forName="dot3" refType="w" fact="0.6261"/>
                  <dgm:constr type="ctrY" for="ch" forName="dot3" refType="h" fact="0.9076"/>
                  <dgm:constr type="w" for="ch" forName="dot3" refType="userD"/>
                  <dgm:constr type="h" for="ch" forName="dot3" refType="userD"/>
                  <dgm:constr type="ctrX" for="ch" forName="dot4" refType="w" fact="0.6536"/>
                  <dgm:constr type="ctrY" for="ch" forName="dot4" refType="h" fact="0.9165"/>
                  <dgm:constr type="w" for="ch" forName="dot4" refType="userD"/>
                  <dgm:constr type="h" for="ch" forName="dot4" refType="userD"/>
                  <dgm:constr type="ctrX" for="ch" forName="dot5" refType="w" fact="0.6814"/>
                  <dgm:constr type="ctrY" for="ch" forName="dot5" refType="h" fact="0.9234"/>
                  <dgm:constr type="w" for="ch" forName="dot5" refType="userD"/>
                  <dgm:constr type="h" for="ch" forName="dot5" refType="userD"/>
                  <dgm:constr type="ctrX" for="ch" forName="dot6" refType="w" fact="0.4214"/>
                  <dgm:constr type="ctrY" for="ch" forName="dot6" refType="h" fact="0.764"/>
                  <dgm:constr type="w" for="ch" forName="dot6" refType="userD"/>
                  <dgm:constr type="h" for="ch" forName="dot6" refType="userD"/>
                  <dgm:constr type="ctrX" for="ch" forName="dot7" refType="w" fact="0.4436"/>
                  <dgm:constr type="ctrY" for="ch" forName="dot7" refType="h" fact="0.7878"/>
                  <dgm:constr type="w" for="ch" forName="dot7" refType="userD"/>
                  <dgm:constr type="h" for="ch" forName="dot7" refType="userD"/>
                  <dgm:constr type="ctrX" for="ch" forName="dot8" refType="w" fact="0.325"/>
                  <dgm:constr type="ctrY" for="ch" forName="dot8" refType="h" fact="0.6227"/>
                  <dgm:constr type="w" for="ch" forName="dot8" refType="userD"/>
                  <dgm:constr type="h" for="ch" forName="dot8" refType="userD"/>
                  <dgm:constr type="ctrX" for="ch" forName="dot9" refType="w" fact="0.2597"/>
                  <dgm:constr type="ctrY" for="ch" forName="dot9" refType="h" fact="0.4556"/>
                  <dgm:constr type="w" for="ch" forName="dot9" refType="userD"/>
                  <dgm:constr type="h" for="ch" forName="dot9" refType="userD"/>
                  <dgm:constr type="ctrX" for="ch" forName="dot10" refType="w" fact="0.2286"/>
                  <dgm:constr type="ctrY" for="ch" forName="dot10" refType="h" fact="0.2816"/>
                  <dgm:constr type="w" for="ch" forName="dot10" refType="userD"/>
                  <dgm:constr type="h" for="ch" forName="dot10" refType="userD"/>
                  <dgm:constr type="ctrX" for="ch" forName="dotArrow1" refType="w" fact="0.2557"/>
                  <dgm:constr type="ctrY" for="ch" forName="dotArrow1" refType="h" fact="0.0748"/>
                  <dgm:constr type="w" for="ch" forName="dotArrow1" refType="userD"/>
                  <dgm:constr type="h" for="ch" forName="dotArrow1" refType="userD"/>
                  <dgm:constr type="ctrX" for="ch" forName="dotArrow2" refType="w" fact="0.2372"/>
                  <dgm:constr type="ctrY" for="ch" forName="dotArrow2" refType="h" fact="0.0581"/>
                  <dgm:constr type="w" for="ch" forName="dotArrow2" refType="userD"/>
                  <dgm:constr type="h" for="ch" forName="dotArrow2" refType="userD"/>
                  <dgm:constr type="ctrX" for="ch" forName="dotArrow3" refType="w" fact="0.2187"/>
                  <dgm:constr type="ctrY" for="ch" forName="dotArrow3" refType="h" fact="0.0414"/>
                  <dgm:constr type="w" for="ch" forName="dotArrow3" refType="userD"/>
                  <dgm:constr type="h" for="ch" forName="dotArrow3" refType="userD"/>
                  <dgm:constr type="ctrX" for="ch" forName="dotArrow4" refType="w" fact="0.2001"/>
                  <dgm:constr type="ctrY" for="ch" forName="dotArrow4" refType="h" fact="0.0581"/>
                  <dgm:constr type="w" for="ch" forName="dotArrow4" refType="userD"/>
                  <dgm:constr type="h" for="ch" forName="dotArrow4" refType="userD"/>
                  <dgm:constr type="ctrX" for="ch" forName="dotArrow5" refType="w" fact="0.1816"/>
                  <dgm:constr type="ctrY" for="ch" forName="dotArrow5" refType="h" fact="0.0748"/>
                  <dgm:constr type="w" for="ch" forName="dotArrow5" refType="userD"/>
                  <dgm:constr type="h" for="ch" forName="dotArrow5" refType="userD"/>
                  <dgm:constr type="ctrX" for="ch" forName="dotArrow6" refType="w" fact="0.2187"/>
                  <dgm:constr type="ctrY" for="ch" forName="dotArrow6" refType="h" fact="0.0766"/>
                  <dgm:constr type="w" for="ch" forName="dotArrow6" refType="userD"/>
                  <dgm:constr type="h" for="ch" forName="dotArrow6" refType="userD"/>
                  <dgm:constr type="ctrX" for="ch" forName="dotArrow7" refType="w" fact="0.2187"/>
                  <dgm:constr type="ctrY" for="ch" forName="dotArrow7" refType="h" fact="0.1118"/>
                  <dgm:constr type="w" for="ch" forName="dotArrow7" refType="userD"/>
                  <dgm:constr type="h" for="ch" forName="dotArrow7" refType="userD"/>
                  <dgm:constr type="r" for="ch" forName="parTx1" refType="w" fact="0.7522"/>
                  <dgm:constr type="t" for="ch" forName="parTx1" refType="h" fact="0.9416"/>
                  <dgm:constr type="w" for="ch" forName="parTx1" refType="w" fact="0.2696"/>
                  <dgm:constr type="h" for="ch" forName="parTx1" refType="h" fact="0.0811"/>
                  <dgm:constr type="ctrX" for="ch" forName="picture1" refType="w" fact="0.7644"/>
                  <dgm:constr type="ctrY" for="ch" forName="picture1" refType="h" fact="0.9322"/>
                  <dgm:constr type="w" for="ch" forName="picture1" refType="w" fact="0.125"/>
                  <dgm:constr type="h" for="ch" forName="picture1" refType="h" fact="0.1403"/>
                  <dgm:constr type="r" for="ch" forName="parTx2" refType="w" fact="0.4937"/>
                  <dgm:constr type="t" for="ch" forName="parTx2" refType="h" fact="0.8451"/>
                  <dgm:constr type="w" for="ch" forName="parTx2" refType="w" fact="0.2696"/>
                  <dgm:constr type="h" for="ch" forName="parTx2" refType="h" fact="0.0811"/>
                  <dgm:constr type="ctrX" for="ch" forName="picture2" refType="w" fact="0.5059"/>
                  <dgm:constr type="ctrY" for="ch" forName="picture2" refType="h" fact="0.8357"/>
                  <dgm:constr type="w" for="ch" forName="picture2" refType="w" fact="0.125"/>
                  <dgm:constr type="h" for="ch" forName="picture2" refType="h" fact="0.1403"/>
                  <dgm:constr type="r" for="ch" forName="parTx3" refType="w" fact="0.3662"/>
                  <dgm:constr type="t" for="ch" forName="parTx3" refType="h" fact="0.7006"/>
                  <dgm:constr type="w" for="ch" forName="parTx3" refType="w" fact="0.2696"/>
                  <dgm:constr type="h" for="ch" forName="parTx3" refType="h" fact="0.0811"/>
                  <dgm:constr type="ctrX" for="ch" forName="picture3" refType="w" fact="0.3784"/>
                  <dgm:constr type="ctrY" for="ch" forName="picture3" refType="h" fact="0.6912"/>
                  <dgm:constr type="w" for="ch" forName="picture3" refType="w" fact="0.125"/>
                  <dgm:constr type="h" for="ch" forName="picture3" refType="h" fact="0.1403"/>
                  <dgm:constr type="r" for="ch" forName="parTx4" refType="w" fact="0.2893"/>
                  <dgm:constr type="t" for="ch" forName="parTx4" refType="h" fact="0.5424"/>
                  <dgm:constr type="w" for="ch" forName="parTx4" refType="w" fact="0.2696"/>
                  <dgm:constr type="h" for="ch" forName="parTx4" refType="h" fact="0.0811"/>
                  <dgm:constr type="ctrX" for="ch" forName="picture4" refType="w" fact="0.3015"/>
                  <dgm:constr type="ctrY" for="ch" forName="picture4" refType="h" fact="0.533"/>
                  <dgm:constr type="w" for="ch" forName="picture4" refType="w" fact="0.125"/>
                  <dgm:constr type="h" for="ch" forName="picture4" refType="h" fact="0.1403"/>
                  <dgm:constr type="r" for="ch" forName="parTx5" refType="w" fact="0.2397"/>
                  <dgm:constr type="t" for="ch" forName="parTx5" refType="h" fact="0.372"/>
                  <dgm:constr type="w" for="ch" forName="parTx5" refType="w" fact="0.2696"/>
                  <dgm:constr type="h" for="ch" forName="parTx5" refType="h" fact="0.0811"/>
                  <dgm:constr type="ctrX" for="ch" forName="picture5" refType="w" fact="0.2519"/>
                  <dgm:constr type="ctrY" for="ch" forName="picture5" refType="h" fact="0.3626"/>
                  <dgm:constr type="w" for="ch" forName="picture5" refType="w" fact="0.125"/>
                  <dgm:constr type="h" for="ch" forName="picture5" refType="h" fact="0.1403"/>
                  <dgm:constr type="r" for="ch" forName="parTx6" refType="w" fact="0.2127"/>
                  <dgm:constr type="t" for="ch" forName="parTx6" refType="h" fact="0.2044"/>
                  <dgm:constr type="w" for="ch" forName="parTx6" refType="w" fact="0.2696"/>
                  <dgm:constr type="h" for="ch" forName="parTx6" refType="h" fact="0.0811"/>
                  <dgm:constr type="ctrX" for="ch" forName="picture6" refType="w" fact="0.2249"/>
                  <dgm:constr type="ctrY" for="ch" forName="picture6" refType="h" fact="0.195"/>
                  <dgm:constr type="w" for="ch" forName="picture6" refType="w" fact="0.125"/>
                  <dgm:constr type="h" for="ch" forName="picture6" refType="h" fact="0.1403"/>
                </dgm:constrLst>
              </dgm:else>
            </dgm:choose>
          </dgm:else>
        </dgm:choose>
      </dgm:if>
      <dgm:else name="Name62">
        <dgm:choose name="Name63">
          <dgm:if name="Name64" func="var" arg="dir" op="equ" val="norm">
            <dgm:choose name="Name65">
              <dgm:if name="Name66"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3909"/>
                  <dgm:constr type="ctrY" for="ch" forName="dot1" refType="h" fact="0.8342"/>
                  <dgm:constr type="w" for="ch" forName="dot1" refType="userD"/>
                  <dgm:constr type="h" for="ch" forName="dot1" refType="userD"/>
                  <dgm:constr type="ctrX" for="ch" forName="dot2" refType="w" fact="0.3721"/>
                  <dgm:constr type="ctrY" for="ch" forName="dot2" refType="h" fact="0.8448"/>
                  <dgm:constr type="w" for="ch" forName="dot2" refType="userD"/>
                  <dgm:constr type="h" for="ch" forName="dot2" refType="userD"/>
                  <dgm:constr type="ctrX" for="ch" forName="dot3" refType="w" fact="0.353"/>
                  <dgm:constr type="ctrY" for="ch" forName="dot3" refType="h" fact="0.8539"/>
                  <dgm:constr type="w" for="ch" forName="dot3" refType="userD"/>
                  <dgm:constr type="h" for="ch" forName="dot3" refType="userD"/>
                  <dgm:constr type="ctrX" for="ch" forName="dot4" refType="w" fact="0.3337"/>
                  <dgm:constr type="ctrY" for="ch" forName="dot4" refType="h" fact="0.8615"/>
                  <dgm:constr type="w" for="ch" forName="dot4" refType="userD"/>
                  <dgm:constr type="h" for="ch" forName="dot4" refType="userD"/>
                  <dgm:constr type="ctrX" for="ch" forName="dot5" refType="w" fact="0.3142"/>
                  <dgm:constr type="ctrY" for="ch" forName="dot5" refType="h" fact="0.8676"/>
                  <dgm:constr type="w" for="ch" forName="dot5" refType="userD"/>
                  <dgm:constr type="h" for="ch" forName="dot5" refType="userD"/>
                  <dgm:constr type="ctrX" for="ch" forName="dot6" refType="w" fact="0.5088"/>
                  <dgm:constr type="ctrY" for="ch" forName="dot6" refType="h" fact="0.7255"/>
                  <dgm:constr type="w" for="ch" forName="dot6" refType="userD"/>
                  <dgm:constr type="h" for="ch" forName="dot6" refType="userD"/>
                  <dgm:constr type="ctrX" for="ch" forName="dot7" refType="w" fact="0.4926"/>
                  <dgm:constr type="ctrY" for="ch" forName="dot7" refType="h" fact="0.7454"/>
                  <dgm:constr type="w" for="ch" forName="dot7" refType="userD"/>
                  <dgm:constr type="h" for="ch" forName="dot7" refType="userD"/>
                  <dgm:constr type="ctrX" for="ch" forName="dot8" refType="w" fact="0.5836"/>
                  <dgm:constr type="ctrY" for="ch" forName="dot8" refType="h" fact="0.6026"/>
                  <dgm:constr type="w" for="ch" forName="dot8" refType="userD"/>
                  <dgm:constr type="h" for="ch" forName="dot8" refType="userD"/>
                  <dgm:constr type="ctrX" for="ch" forName="dot9" refType="w" fact="0.6371"/>
                  <dgm:constr type="ctrY" for="ch" forName="dot9" refType="h" fact="0.4632"/>
                  <dgm:constr type="w" for="ch" forName="dot9" refType="userD"/>
                  <dgm:constr type="h" for="ch" forName="dot9" refType="userD"/>
                  <dgm:constr type="ctrX" for="ch" forName="dot10" refType="w" fact="0.6701"/>
                  <dgm:constr type="ctrY" for="ch" forName="dot10" refType="h" fact="0.3187"/>
                  <dgm:constr type="w" for="ch" forName="dot10" refType="userD"/>
                  <dgm:constr type="h" for="ch" forName="dot10" refType="userD"/>
                  <dgm:constr type="ctrX" for="ch" forName="dot11" refType="w" fact="0.6853"/>
                  <dgm:constr type="ctrY" for="ch" forName="dot11" refType="h" fact="0.1763"/>
                  <dgm:constr type="w" for="ch" forName="dot11" refType="userD"/>
                  <dgm:constr type="h" for="ch" forName="dot11" refType="userD"/>
                  <dgm:constr type="ctrX" for="ch" forName="dotArrow1" refType="w" fact="0.6627"/>
                  <dgm:constr type="ctrY" for="ch" forName="dotArrow1" refType="h" fact="-0.0099"/>
                  <dgm:constr type="w" for="ch" forName="dotArrow1" refType="userD"/>
                  <dgm:constr type="h" for="ch" forName="dotArrow1" refType="userD"/>
                  <dgm:constr type="ctrX" for="ch" forName="dotArrow2" refType="w" fact="0.6773"/>
                  <dgm:constr type="ctrY" for="ch" forName="dotArrow2" refType="h" fact="-0.0239"/>
                  <dgm:constr type="w" for="ch" forName="dotArrow2" refType="userD"/>
                  <dgm:constr type="h" for="ch" forName="dotArrow2" refType="userD"/>
                  <dgm:constr type="ctrX" for="ch" forName="dotArrow3" refType="w" fact="0.6919"/>
                  <dgm:constr type="ctrY" for="ch" forName="dotArrow3" refType="h" fact="-0.0378"/>
                  <dgm:constr type="w" for="ch" forName="dotArrow3" refType="userD"/>
                  <dgm:constr type="h" for="ch" forName="dotArrow3" refType="userD"/>
                  <dgm:constr type="ctrX" for="ch" forName="dotArrow4" refType="w" fact="0.7065"/>
                  <dgm:constr type="ctrY" for="ch" forName="dotArrow4" refType="h" fact="-0.0239"/>
                  <dgm:constr type="w" for="ch" forName="dotArrow4" refType="userD"/>
                  <dgm:constr type="h" for="ch" forName="dotArrow4" refType="userD"/>
                  <dgm:constr type="ctrX" for="ch" forName="dotArrow5" refType="w" fact="0.7212"/>
                  <dgm:constr type="ctrY" for="ch" forName="dotArrow5" refType="h" fact="-0.0099"/>
                  <dgm:constr type="w" for="ch" forName="dotArrow5" refType="userD"/>
                  <dgm:constr type="h" for="ch" forName="dotArrow5" refType="userD"/>
                  <dgm:constr type="ctrX" for="ch" forName="dotArrow6" refType="w" fact="0.6919"/>
                  <dgm:constr type="ctrY" for="ch" forName="dotArrow6" refType="h" fact="-0.0084"/>
                  <dgm:constr type="w" for="ch" forName="dotArrow6" refType="userD"/>
                  <dgm:constr type="h" for="ch" forName="dotArrow6" refType="userD"/>
                  <dgm:constr type="ctrX" for="ch" forName="dotArrow7" refType="w" fact="0.6919"/>
                  <dgm:constr type="ctrY" for="ch" forName="dotArrow7" refType="h" fact="0.0211"/>
                  <dgm:constr type="w" for="ch" forName="dotArrow7" refType="userD"/>
                  <dgm:constr type="h" for="ch" forName="dotArrow7" refType="userD"/>
                  <dgm:constr type="l" for="ch" forName="parTx1" refType="w" fact="0.2556"/>
                  <dgm:constr type="t" for="ch" forName="parTx1" refType="h" fact="0.8856"/>
                  <dgm:constr type="w" for="ch" forName="parTx1" refType="w" fact="0.2101"/>
                  <dgm:constr type="h" for="ch" forName="parTx1" refType="h" fact="0.0704"/>
                  <dgm:constr type="ctrX" for="ch" forName="picture1" refType="w" fact="0.246"/>
                  <dgm:constr type="ctrY" for="ch" forName="picture1" refType="h" fact="0.8769"/>
                  <dgm:constr type="w" for="ch" forName="picture1" refType="w" fact="0.0974"/>
                  <dgm:constr type="h" for="ch" forName="picture1" refType="h" fact="0.121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535"/>
                  <dgm:constr type="t" for="ch" forName="parTx2" refType="h" fact="0.7956"/>
                  <dgm:constr type="w" for="ch" forName="parTx2" refType="w" fact="0.2101"/>
                  <dgm:constr type="h" for="ch" forName="parTx2" refType="h" fact="0.0704"/>
                  <dgm:constr type="ctrX" for="ch" forName="picture2" refType="w" fact="0.4439"/>
                  <dgm:constr type="ctrY" for="ch" forName="picture2" refType="h" fact="0.787"/>
                  <dgm:constr type="w" for="ch" forName="picture2" refType="w" fact="0.0974"/>
                  <dgm:constr type="h" for="ch" forName="picture2" refType="h" fact="0.1218"/>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511"/>
                  <dgm:constr type="t" for="ch" forName="parTx3" refType="h" fact="0.673"/>
                  <dgm:constr type="w" for="ch" forName="parTx3" refType="w" fact="0.2101"/>
                  <dgm:constr type="h" for="ch" forName="parTx3" refType="h" fact="0.0704"/>
                  <dgm:constr type="ctrX" for="ch" forName="picture3" refType="w" fact="0.5415"/>
                  <dgm:constr type="ctrY" for="ch" forName="picture3" refType="h" fact="0.6644"/>
                  <dgm:constr type="w" for="ch" forName="picture3" refType="w" fact="0.0974"/>
                  <dgm:constr type="h" for="ch" forName="picture3" refType="h" fact="0.1218"/>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6132"/>
                  <dgm:constr type="t" for="ch" forName="parTx4" refType="h" fact="0.538"/>
                  <dgm:constr type="w" for="ch" forName="parTx4" refType="w" fact="0.2101"/>
                  <dgm:constr type="h" for="ch" forName="parTx4" refType="h" fact="0.0704"/>
                  <dgm:constr type="ctrX" for="ch" forName="picture4" refType="w" fact="0.6037"/>
                  <dgm:constr type="ctrY" for="ch" forName="picture4" refType="h" fact="0.5294"/>
                  <dgm:constr type="w" for="ch" forName="picture4" refType="w" fact="0.0974"/>
                  <dgm:constr type="h" for="ch" forName="picture4" refType="h" fact="0.1218"/>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576"/>
                  <dgm:constr type="t" for="ch" forName="parTx5" refType="h" fact="0.3951"/>
                  <dgm:constr type="w" for="ch" forName="parTx5" refType="w" fact="0.2101"/>
                  <dgm:constr type="h" for="ch" forName="parTx5" refType="h" fact="0.0704"/>
                  <dgm:constr type="ctrX" for="ch" forName="picture5" refType="w" fact="0.648"/>
                  <dgm:constr type="ctrY" for="ch" forName="picture5" refType="h" fact="0.3864"/>
                  <dgm:constr type="w" for="ch" forName="picture5" refType="w" fact="0.0974"/>
                  <dgm:constr type="h" for="ch" forName="picture5" refType="h" fact="0.1218"/>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828"/>
                  <dgm:constr type="t" for="ch" forName="parTx6" refType="h" fact="0.2531"/>
                  <dgm:constr type="w" for="ch" forName="parTx6" refType="w" fact="0.2101"/>
                  <dgm:constr type="h" for="ch" forName="parTx6" refType="h" fact="0.0704"/>
                  <dgm:constr type="ctrX" for="ch" forName="picture6" refType="w" fact="0.6733"/>
                  <dgm:constr type="ctrY" for="ch" forName="picture6" refType="h" fact="0.2444"/>
                  <dgm:constr type="w" for="ch" forName="picture6" refType="w" fact="0.0974"/>
                  <dgm:constr type="h" for="ch" forName="picture6" refType="h" fact="0.1218"/>
                  <dgm:constr type="l" for="ch" forName="desTx6" refType="r" refFor="ch" refForName="parTx6"/>
                  <dgm:constr type="r" for="ch" forName="desTx6" refType="w"/>
                  <dgm:constr type="t" for="ch" forName="desTx6" refType="t" refFor="ch" refForName="parTx6"/>
                  <dgm:constr type="h" for="ch" forName="desTx6" refType="h" refFor="ch" refForName="parTx6"/>
                  <dgm:constr type="l" for="ch" forName="parTx7" refType="w" fact="0.6966"/>
                  <dgm:constr type="t" for="ch" forName="parTx7" refType="h" fact="0.1162"/>
                  <dgm:constr type="w" for="ch" forName="parTx7" refType="w" fact="0.2101"/>
                  <dgm:constr type="h" for="ch" forName="parTx7" refType="h" fact="0.0704"/>
                  <dgm:constr type="ctrX" for="ch" forName="picture7" refType="w" fact="0.6871"/>
                  <dgm:constr type="ctrY" for="ch" forName="picture7" refType="h" fact="0.1075"/>
                  <dgm:constr type="w" for="ch" forName="picture7" refType="w" fact="0.0974"/>
                  <dgm:constr type="h" for="ch" forName="picture7" refType="h" fact="0.1218"/>
                  <dgm:constr type="l" for="ch" forName="desTx7" refType="r" refFor="ch" refForName="parTx7"/>
                  <dgm:constr type="r" for="ch" forName="desTx7" refType="w"/>
                  <dgm:constr type="t" for="ch" forName="desTx7" refType="t" refFor="ch" refForName="parTx7"/>
                  <dgm:constr type="h" for="ch" forName="desTx7" refType="h" refFor="ch" refForName="parTx7"/>
                </dgm:constrLst>
              </dgm:if>
              <dgm:else name="Name67">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4459"/>
                  <dgm:constr type="ctrY" for="ch" forName="dot1" refType="h" fact="0.8342"/>
                  <dgm:constr type="w" for="ch" forName="dot1" refType="userD"/>
                  <dgm:constr type="h" for="ch" forName="dot1" refType="userD"/>
                  <dgm:constr type="ctrX" for="ch" forName="dot2" refType="w" fact="0.4244"/>
                  <dgm:constr type="ctrY" for="ch" forName="dot2" refType="h" fact="0.8448"/>
                  <dgm:constr type="w" for="ch" forName="dot2" refType="userD"/>
                  <dgm:constr type="h" for="ch" forName="dot2" refType="userD"/>
                  <dgm:constr type="ctrX" for="ch" forName="dot3" refType="w" fact="0.4026"/>
                  <dgm:constr type="ctrY" for="ch" forName="dot3" refType="h" fact="0.8539"/>
                  <dgm:constr type="w" for="ch" forName="dot3" refType="userD"/>
                  <dgm:constr type="h" for="ch" forName="dot3" refType="userD"/>
                  <dgm:constr type="ctrX" for="ch" forName="dot4" refType="w" fact="0.3806"/>
                  <dgm:constr type="ctrY" for="ch" forName="dot4" refType="h" fact="0.8615"/>
                  <dgm:constr type="w" for="ch" forName="dot4" refType="userD"/>
                  <dgm:constr type="h" for="ch" forName="dot4" refType="userD"/>
                  <dgm:constr type="ctrX" for="ch" forName="dot5" refType="w" fact="0.3584"/>
                  <dgm:constr type="ctrY" for="ch" forName="dot5" refType="h" fact="0.8676"/>
                  <dgm:constr type="w" for="ch" forName="dot5" refType="userD"/>
                  <dgm:constr type="h" for="ch" forName="dot5" refType="userD"/>
                  <dgm:constr type="ctrX" for="ch" forName="dot6" refType="w" fact="0.5803"/>
                  <dgm:constr type="ctrY" for="ch" forName="dot6" refType="h" fact="0.7255"/>
                  <dgm:constr type="w" for="ch" forName="dot6" refType="userD"/>
                  <dgm:constr type="h" for="ch" forName="dot6" refType="userD"/>
                  <dgm:constr type="ctrX" for="ch" forName="dot7" refType="w" fact="0.5618"/>
                  <dgm:constr type="ctrY" for="ch" forName="dot7" refType="h" fact="0.7454"/>
                  <dgm:constr type="w" for="ch" forName="dot7" refType="userD"/>
                  <dgm:constr type="h" for="ch" forName="dot7" refType="userD"/>
                  <dgm:constr type="ctrX" for="ch" forName="dot8" refType="w" fact="0.6656"/>
                  <dgm:constr type="ctrY" for="ch" forName="dot8" refType="h" fact="0.6026"/>
                  <dgm:constr type="w" for="ch" forName="dot8" refType="userD"/>
                  <dgm:constr type="h" for="ch" forName="dot8" refType="userD"/>
                  <dgm:constr type="ctrX" for="ch" forName="dot9" refType="w" fact="0.7266"/>
                  <dgm:constr type="ctrY" for="ch" forName="dot9" refType="h" fact="0.4632"/>
                  <dgm:constr type="w" for="ch" forName="dot9" refType="userD"/>
                  <dgm:constr type="h" for="ch" forName="dot9" refType="userD"/>
                  <dgm:constr type="ctrX" for="ch" forName="dot10" refType="w" fact="0.7643"/>
                  <dgm:constr type="ctrY" for="ch" forName="dot10" refType="h" fact="0.3187"/>
                  <dgm:constr type="w" for="ch" forName="dot10" refType="userD"/>
                  <dgm:constr type="h" for="ch" forName="dot10" refType="userD"/>
                  <dgm:constr type="ctrX" for="ch" forName="dot11" refType="w" fact="0.7816"/>
                  <dgm:constr type="ctrY" for="ch" forName="dot11" refType="h" fact="0.1763"/>
                  <dgm:constr type="w" for="ch" forName="dot11" refType="userD"/>
                  <dgm:constr type="h" for="ch" forName="dot11" refType="userD"/>
                  <dgm:constr type="ctrX" for="ch" forName="dotArrow1" refType="w" fact="0.7558"/>
                  <dgm:constr type="ctrY" for="ch" forName="dotArrow1" refType="h" fact="-0.0099"/>
                  <dgm:constr type="w" for="ch" forName="dotArrow1" refType="userD"/>
                  <dgm:constr type="h" for="ch" forName="dotArrow1" refType="userD"/>
                  <dgm:constr type="ctrX" for="ch" forName="dotArrow2" refType="w" fact="0.7725"/>
                  <dgm:constr type="ctrY" for="ch" forName="dotArrow2" refType="h" fact="-0.0239"/>
                  <dgm:constr type="w" for="ch" forName="dotArrow2" refType="userD"/>
                  <dgm:constr type="h" for="ch" forName="dotArrow2" refType="userD"/>
                  <dgm:constr type="ctrX" for="ch" forName="dotArrow3" refType="w" fact="0.7892"/>
                  <dgm:constr type="ctrY" for="ch" forName="dotArrow3" refType="h" fact="-0.0378"/>
                  <dgm:constr type="w" for="ch" forName="dotArrow3" refType="userD"/>
                  <dgm:constr type="h" for="ch" forName="dotArrow3" refType="userD"/>
                  <dgm:constr type="ctrX" for="ch" forName="dotArrow4" refType="w" fact="0.8058"/>
                  <dgm:constr type="ctrY" for="ch" forName="dotArrow4" refType="h" fact="-0.0239"/>
                  <dgm:constr type="w" for="ch" forName="dotArrow4" refType="userD"/>
                  <dgm:constr type="h" for="ch" forName="dotArrow4" refType="userD"/>
                  <dgm:constr type="ctrX" for="ch" forName="dotArrow5" refType="w" fact="0.8225"/>
                  <dgm:constr type="ctrY" for="ch" forName="dotArrow5" refType="h" fact="-0.0099"/>
                  <dgm:constr type="w" for="ch" forName="dotArrow5" refType="userD"/>
                  <dgm:constr type="h" for="ch" forName="dotArrow5" refType="userD"/>
                  <dgm:constr type="ctrX" for="ch" forName="dotArrow6" refType="w" fact="0.7892"/>
                  <dgm:constr type="ctrY" for="ch" forName="dotArrow6" refType="h" fact="-0.0084"/>
                  <dgm:constr type="w" for="ch" forName="dotArrow6" refType="userD"/>
                  <dgm:constr type="h" for="ch" forName="dotArrow6" refType="userD"/>
                  <dgm:constr type="ctrX" for="ch" forName="dotArrow7" refType="w" fact="0.7892"/>
                  <dgm:constr type="ctrY" for="ch" forName="dotArrow7" refType="h" fact="0.0211"/>
                  <dgm:constr type="w" for="ch" forName="dotArrow7" refType="userD"/>
                  <dgm:constr type="h" for="ch" forName="dotArrow7" refType="userD"/>
                  <dgm:constr type="l" for="ch" forName="parTx1" refType="w" fact="0.2915"/>
                  <dgm:constr type="t" for="ch" forName="parTx1" refType="h" fact="0.8845"/>
                  <dgm:constr type="w" for="ch" forName="parTx1" refType="w" fact="0.2396"/>
                  <dgm:constr type="h" for="ch" forName="parTx1" refType="h" fact="0.0704"/>
                  <dgm:constr type="ctrX" for="ch" forName="picture1" refType="w" fact="0.2806"/>
                  <dgm:constr type="ctrY" for="ch" forName="picture1" refType="h" fact="0.8769"/>
                  <dgm:constr type="w" for="ch" forName="picture1" refType="w" fact="0.1111"/>
                  <dgm:constr type="h" for="ch" forName="picture1" refType="h" fact="0.1218"/>
                  <dgm:constr type="l" for="ch" forName="parTx2" refType="w" fact="0.5172"/>
                  <dgm:constr type="t" for="ch" forName="parTx2" refType="h" fact="0.7946"/>
                  <dgm:constr type="w" for="ch" forName="parTx2" refType="w" fact="0.2396"/>
                  <dgm:constr type="h" for="ch" forName="parTx2" refType="h" fact="0.0704"/>
                  <dgm:constr type="ctrX" for="ch" forName="picture2" refType="w" fact="0.5063"/>
                  <dgm:constr type="ctrY" for="ch" forName="picture2" refType="h" fact="0.787"/>
                  <dgm:constr type="w" for="ch" forName="picture2" refType="w" fact="0.1111"/>
                  <dgm:constr type="h" for="ch" forName="picture2" refType="h" fact="0.1218"/>
                  <dgm:constr type="l" for="ch" forName="parTx3" refType="w" fact="0.6285"/>
                  <dgm:constr type="t" for="ch" forName="parTx3" refType="h" fact="0.672"/>
                  <dgm:constr type="w" for="ch" forName="parTx3" refType="w" fact="0.2396"/>
                  <dgm:constr type="h" for="ch" forName="parTx3" refType="h" fact="0.0704"/>
                  <dgm:constr type="ctrX" for="ch" forName="picture3" refType="w" fact="0.6176"/>
                  <dgm:constr type="ctrY" for="ch" forName="picture3" refType="h" fact="0.6644"/>
                  <dgm:constr type="w" for="ch" forName="picture3" refType="w" fact="0.1111"/>
                  <dgm:constr type="h" for="ch" forName="picture3" refType="h" fact="0.1218"/>
                  <dgm:constr type="l" for="ch" forName="parTx4" refType="w" fact="0.6994"/>
                  <dgm:constr type="t" for="ch" forName="parTx4" refType="h" fact="0.5369"/>
                  <dgm:constr type="w" for="ch" forName="parTx4" refType="w" fact="0.2396"/>
                  <dgm:constr type="h" for="ch" forName="parTx4" refType="h" fact="0.0704"/>
                  <dgm:constr type="ctrX" for="ch" forName="picture4" refType="w" fact="0.6885"/>
                  <dgm:constr type="ctrY" for="ch" forName="picture4" refType="h" fact="0.5294"/>
                  <dgm:constr type="w" for="ch" forName="picture4" refType="w" fact="0.1111"/>
                  <dgm:constr type="h" for="ch" forName="picture4" refType="h" fact="0.1218"/>
                  <dgm:constr type="l" for="ch" forName="parTx5" refType="w" fact="0.75"/>
                  <dgm:constr type="t" for="ch" forName="parTx5" refType="h" fact="0.394"/>
                  <dgm:constr type="w" for="ch" forName="parTx5" refType="w" fact="0.2396"/>
                  <dgm:constr type="h" for="ch" forName="parTx5" refType="h" fact="0.0704"/>
                  <dgm:constr type="ctrX" for="ch" forName="picture5" refType="w" fact="0.7391"/>
                  <dgm:constr type="ctrY" for="ch" forName="picture5" refType="h" fact="0.3864"/>
                  <dgm:constr type="w" for="ch" forName="picture5" refType="w" fact="0.1111"/>
                  <dgm:constr type="h" for="ch" forName="picture5" refType="h" fact="0.1218"/>
                  <dgm:constr type="l" for="ch" forName="parTx6" refType="w" fact="0.7788"/>
                  <dgm:constr type="t" for="ch" forName="parTx6" refType="h" fact="0.252"/>
                  <dgm:constr type="w" for="ch" forName="parTx6" refType="w" fact="0.2396"/>
                  <dgm:constr type="h" for="ch" forName="parTx6" refType="h" fact="0.0704"/>
                  <dgm:constr type="ctrX" for="ch" forName="picture6" refType="w" fact="0.7679"/>
                  <dgm:constr type="ctrY" for="ch" forName="picture6" refType="h" fact="0.2444"/>
                  <dgm:constr type="w" for="ch" forName="picture6" refType="w" fact="0.1111"/>
                  <dgm:constr type="h" for="ch" forName="picture6" refType="h" fact="0.1218"/>
                  <dgm:constr type="l" for="ch" forName="parTx7" refType="w" fact="0.7945"/>
                  <dgm:constr type="t" for="ch" forName="parTx7" refType="h" fact="0.1151"/>
                  <dgm:constr type="w" for="ch" forName="parTx7" refType="w" fact="0.2396"/>
                  <dgm:constr type="h" for="ch" forName="parTx7" refType="h" fact="0.0704"/>
                  <dgm:constr type="ctrX" for="ch" forName="picture7" refType="w" fact="0.7836"/>
                  <dgm:constr type="ctrY" for="ch" forName="picture7" refType="h" fact="0.1075"/>
                  <dgm:constr type="w" for="ch" forName="picture7" refType="w" fact="0.1111"/>
                  <dgm:constr type="h" for="ch" forName="picture7" refType="h" fact="0.1218"/>
                </dgm:constrLst>
              </dgm:else>
            </dgm:choose>
          </dgm:if>
          <dgm:else name="Name68">
            <dgm:choose name="Name69">
              <dgm:if name="Name70"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6091"/>
                  <dgm:constr type="ctrY" for="ch" forName="dot1" refType="h" fact="0.8342"/>
                  <dgm:constr type="w" for="ch" forName="dot1" refType="userD"/>
                  <dgm:constr type="h" for="ch" forName="dot1" refType="userD"/>
                  <dgm:constr type="ctrX" for="ch" forName="dot2" refType="w" fact="0.6279"/>
                  <dgm:constr type="ctrY" for="ch" forName="dot2" refType="h" fact="0.8448"/>
                  <dgm:constr type="w" for="ch" forName="dot2" refType="userD"/>
                  <dgm:constr type="h" for="ch" forName="dot2" refType="userD"/>
                  <dgm:constr type="ctrX" for="ch" forName="dot3" refType="w" fact="0.647"/>
                  <dgm:constr type="ctrY" for="ch" forName="dot3" refType="h" fact="0.8539"/>
                  <dgm:constr type="w" for="ch" forName="dot3" refType="userD"/>
                  <dgm:constr type="h" for="ch" forName="dot3" refType="userD"/>
                  <dgm:constr type="ctrX" for="ch" forName="dot4" refType="w" fact="0.6663"/>
                  <dgm:constr type="ctrY" for="ch" forName="dot4" refType="h" fact="0.8615"/>
                  <dgm:constr type="w" for="ch" forName="dot4" refType="userD"/>
                  <dgm:constr type="h" for="ch" forName="dot4" refType="userD"/>
                  <dgm:constr type="ctrX" for="ch" forName="dot5" refType="w" fact="0.6858"/>
                  <dgm:constr type="ctrY" for="ch" forName="dot5" refType="h" fact="0.8676"/>
                  <dgm:constr type="w" for="ch" forName="dot5" refType="userD"/>
                  <dgm:constr type="h" for="ch" forName="dot5" refType="userD"/>
                  <dgm:constr type="ctrX" for="ch" forName="dot6" refType="w" fact="0.4912"/>
                  <dgm:constr type="ctrY" for="ch" forName="dot6" refType="h" fact="0.7255"/>
                  <dgm:constr type="w" for="ch" forName="dot6" refType="userD"/>
                  <dgm:constr type="h" for="ch" forName="dot6" refType="userD"/>
                  <dgm:constr type="ctrX" for="ch" forName="dot7" refType="w" fact="0.5074"/>
                  <dgm:constr type="ctrY" for="ch" forName="dot7" refType="h" fact="0.7454"/>
                  <dgm:constr type="w" for="ch" forName="dot7" refType="userD"/>
                  <dgm:constr type="h" for="ch" forName="dot7" refType="userD"/>
                  <dgm:constr type="ctrX" for="ch" forName="dot8" refType="w" fact="0.4164"/>
                  <dgm:constr type="ctrY" for="ch" forName="dot8" refType="h" fact="0.6026"/>
                  <dgm:constr type="w" for="ch" forName="dot8" refType="userD"/>
                  <dgm:constr type="h" for="ch" forName="dot8" refType="userD"/>
                  <dgm:constr type="ctrX" for="ch" forName="dot9" refType="w" fact="0.3629"/>
                  <dgm:constr type="ctrY" for="ch" forName="dot9" refType="h" fact="0.4632"/>
                  <dgm:constr type="w" for="ch" forName="dot9" refType="userD"/>
                  <dgm:constr type="h" for="ch" forName="dot9" refType="userD"/>
                  <dgm:constr type="ctrX" for="ch" forName="dot10" refType="w" fact="0.3299"/>
                  <dgm:constr type="ctrY" for="ch" forName="dot10" refType="h" fact="0.3187"/>
                  <dgm:constr type="w" for="ch" forName="dot10" refType="userD"/>
                  <dgm:constr type="h" for="ch" forName="dot10" refType="userD"/>
                  <dgm:constr type="ctrX" for="ch" forName="dot11" refType="w" fact="0.3147"/>
                  <dgm:constr type="ctrY" for="ch" forName="dot11" refType="h" fact="0.1763"/>
                  <dgm:constr type="w" for="ch" forName="dot11" refType="userD"/>
                  <dgm:constr type="h" for="ch" forName="dot11" refType="userD"/>
                  <dgm:constr type="ctrX" for="ch" forName="dotArrow1" refType="w" fact="0.3373"/>
                  <dgm:constr type="ctrY" for="ch" forName="dotArrow1" refType="h" fact="-0.0099"/>
                  <dgm:constr type="w" for="ch" forName="dotArrow1" refType="userD"/>
                  <dgm:constr type="h" for="ch" forName="dotArrow1" refType="userD"/>
                  <dgm:constr type="ctrX" for="ch" forName="dotArrow2" refType="w" fact="0.3227"/>
                  <dgm:constr type="ctrY" for="ch" forName="dotArrow2" refType="h" fact="-0.0239"/>
                  <dgm:constr type="w" for="ch" forName="dotArrow2" refType="userD"/>
                  <dgm:constr type="h" for="ch" forName="dotArrow2" refType="userD"/>
                  <dgm:constr type="ctrX" for="ch" forName="dotArrow3" refType="w" fact="0.3081"/>
                  <dgm:constr type="ctrY" for="ch" forName="dotArrow3" refType="h" fact="-0.0378"/>
                  <dgm:constr type="w" for="ch" forName="dotArrow3" refType="userD"/>
                  <dgm:constr type="h" for="ch" forName="dotArrow3" refType="userD"/>
                  <dgm:constr type="ctrX" for="ch" forName="dotArrow4" refType="w" fact="0.2935"/>
                  <dgm:constr type="ctrY" for="ch" forName="dotArrow4" refType="h" fact="-0.0239"/>
                  <dgm:constr type="w" for="ch" forName="dotArrow4" refType="userD"/>
                  <dgm:constr type="h" for="ch" forName="dotArrow4" refType="userD"/>
                  <dgm:constr type="ctrX" for="ch" forName="dotArrow5" refType="w" fact="0.2788"/>
                  <dgm:constr type="ctrY" for="ch" forName="dotArrow5" refType="h" fact="-0.0099"/>
                  <dgm:constr type="w" for="ch" forName="dotArrow5" refType="userD"/>
                  <dgm:constr type="h" for="ch" forName="dotArrow5" refType="userD"/>
                  <dgm:constr type="ctrX" for="ch" forName="dotArrow6" refType="w" fact="0.3081"/>
                  <dgm:constr type="ctrY" for="ch" forName="dotArrow6" refType="h" fact="-0.0084"/>
                  <dgm:constr type="w" for="ch" forName="dotArrow6" refType="userD"/>
                  <dgm:constr type="h" for="ch" forName="dotArrow6" refType="userD"/>
                  <dgm:constr type="ctrX" for="ch" forName="dotArrow7" refType="w" fact="0.3081"/>
                  <dgm:constr type="ctrY" for="ch" forName="dotArrow7" refType="h" fact="0.0211"/>
                  <dgm:constr type="w" for="ch" forName="dotArrow7" refType="userD"/>
                  <dgm:constr type="h" for="ch" forName="dotArrow7" refType="userD"/>
                  <dgm:constr type="r" for="ch" forName="parTx1" refType="w" fact="0.7444"/>
                  <dgm:constr type="t" for="ch" forName="parTx1" refType="h" fact="0.8856"/>
                  <dgm:constr type="w" for="ch" forName="parTx1" refType="w" fact="0.2101"/>
                  <dgm:constr type="h" for="ch" forName="parTx1" refType="h" fact="0.0704"/>
                  <dgm:constr type="ctrX" for="ch" forName="picture1" refType="w" fact="0.754"/>
                  <dgm:constr type="ctrY" for="ch" forName="picture1" refType="h" fact="0.8769"/>
                  <dgm:constr type="w" for="ch" forName="picture1" refType="w" fact="0.0974"/>
                  <dgm:constr type="h" for="ch" forName="picture1" refType="h" fact="0.121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465"/>
                  <dgm:constr type="t" for="ch" forName="parTx2" refType="h" fact="0.7956"/>
                  <dgm:constr type="w" for="ch" forName="parTx2" refType="w" fact="0.2101"/>
                  <dgm:constr type="h" for="ch" forName="parTx2" refType="h" fact="0.0704"/>
                  <dgm:constr type="ctrX" for="ch" forName="picture2" refType="w" fact="0.5561"/>
                  <dgm:constr type="ctrY" for="ch" forName="picture2" refType="h" fact="0.787"/>
                  <dgm:constr type="w" for="ch" forName="picture2" refType="w" fact="0.0974"/>
                  <dgm:constr type="h" for="ch" forName="picture2" refType="h" fact="0.1218"/>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489"/>
                  <dgm:constr type="t" for="ch" forName="parTx3" refType="h" fact="0.673"/>
                  <dgm:constr type="w" for="ch" forName="parTx3" refType="w" fact="0.2101"/>
                  <dgm:constr type="h" for="ch" forName="parTx3" refType="h" fact="0.0704"/>
                  <dgm:constr type="ctrX" for="ch" forName="picture3" refType="w" fact="0.4585"/>
                  <dgm:constr type="ctrY" for="ch" forName="picture3" refType="h" fact="0.6644"/>
                  <dgm:constr type="w" for="ch" forName="picture3" refType="w" fact="0.0974"/>
                  <dgm:constr type="h" for="ch" forName="picture3" refType="h" fact="0.1218"/>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3868"/>
                  <dgm:constr type="t" for="ch" forName="parTx4" refType="h" fact="0.538"/>
                  <dgm:constr type="w" for="ch" forName="parTx4" refType="w" fact="0.2101"/>
                  <dgm:constr type="h" for="ch" forName="parTx4" refType="h" fact="0.0704"/>
                  <dgm:constr type="ctrX" for="ch" forName="picture4" refType="w" fact="0.3963"/>
                  <dgm:constr type="ctrY" for="ch" forName="picture4" refType="h" fact="0.5294"/>
                  <dgm:constr type="w" for="ch" forName="picture4" refType="w" fact="0.0974"/>
                  <dgm:constr type="h" for="ch" forName="picture4" refType="h" fact="0.1218"/>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424"/>
                  <dgm:constr type="t" for="ch" forName="parTx5" refType="h" fact="0.3951"/>
                  <dgm:constr type="w" for="ch" forName="parTx5" refType="w" fact="0.2101"/>
                  <dgm:constr type="h" for="ch" forName="parTx5" refType="h" fact="0.0704"/>
                  <dgm:constr type="ctrX" for="ch" forName="picture5" refType="w" fact="0.352"/>
                  <dgm:constr type="ctrY" for="ch" forName="picture5" refType="h" fact="0.3864"/>
                  <dgm:constr type="w" for="ch" forName="picture5" refType="w" fact="0.0974"/>
                  <dgm:constr type="h" for="ch" forName="picture5" refType="h" fact="0.1218"/>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172"/>
                  <dgm:constr type="t" for="ch" forName="parTx6" refType="h" fact="0.2531"/>
                  <dgm:constr type="w" for="ch" forName="parTx6" refType="w" fact="0.2101"/>
                  <dgm:constr type="h" for="ch" forName="parTx6" refType="h" fact="0.0704"/>
                  <dgm:constr type="ctrX" for="ch" forName="picture6" refType="w" fact="0.3267"/>
                  <dgm:constr type="ctrY" for="ch" forName="picture6" refType="h" fact="0.2444"/>
                  <dgm:constr type="w" for="ch" forName="picture6" refType="w" fact="0.0974"/>
                  <dgm:constr type="h" for="ch" forName="picture6" refType="h" fact="0.1218"/>
                  <dgm:constr type="r" for="ch" forName="desTx6" refType="l" refFor="ch" refForName="parTx6"/>
                  <dgm:constr type="l" for="ch" forName="desTx6"/>
                  <dgm:constr type="t" for="ch" forName="desTx6" refType="t" refFor="ch" refForName="parTx6"/>
                  <dgm:constr type="h" for="ch" forName="desTx6" refType="h" refFor="ch" refForName="parTx6"/>
                  <dgm:constr type="r" for="ch" forName="parTx7" refType="w" fact="0.3034"/>
                  <dgm:constr type="t" for="ch" forName="parTx7" refType="h" fact="0.1162"/>
                  <dgm:constr type="w" for="ch" forName="parTx7" refType="w" fact="0.2101"/>
                  <dgm:constr type="h" for="ch" forName="parTx7" refType="h" fact="0.0704"/>
                  <dgm:constr type="ctrX" for="ch" forName="picture7" refType="w" fact="0.3129"/>
                  <dgm:constr type="ctrY" for="ch" forName="picture7" refType="h" fact="0.1075"/>
                  <dgm:constr type="w" for="ch" forName="picture7" refType="w" fact="0.0974"/>
                  <dgm:constr type="h" for="ch" forName="picture7" refType="h" fact="0.1218"/>
                  <dgm:constr type="r" for="ch" forName="desTx7" refType="l" refFor="ch" refForName="parTx7"/>
                  <dgm:constr type="l" for="ch" forName="desTx7"/>
                  <dgm:constr type="t" for="ch" forName="desTx7" refType="t" refFor="ch" refForName="parTx7"/>
                  <dgm:constr type="h" for="ch" forName="desTx7" refType="h" refFor="ch" refForName="parTx7"/>
                </dgm:constrLst>
              </dgm:if>
              <dgm:else name="Name71">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5541"/>
                  <dgm:constr type="ctrY" for="ch" forName="dot1" refType="h" fact="0.8342"/>
                  <dgm:constr type="w" for="ch" forName="dot1" refType="userD"/>
                  <dgm:constr type="h" for="ch" forName="dot1" refType="userD"/>
                  <dgm:constr type="ctrX" for="ch" forName="dot2" refType="w" fact="0.5756"/>
                  <dgm:constr type="ctrY" for="ch" forName="dot2" refType="h" fact="0.8448"/>
                  <dgm:constr type="w" for="ch" forName="dot2" refType="userD"/>
                  <dgm:constr type="h" for="ch" forName="dot2" refType="userD"/>
                  <dgm:constr type="ctrX" for="ch" forName="dot3" refType="w" fact="0.5974"/>
                  <dgm:constr type="ctrY" for="ch" forName="dot3" refType="h" fact="0.8539"/>
                  <dgm:constr type="w" for="ch" forName="dot3" refType="userD"/>
                  <dgm:constr type="h" for="ch" forName="dot3" refType="userD"/>
                  <dgm:constr type="ctrX" for="ch" forName="dot4" refType="w" fact="0.6194"/>
                  <dgm:constr type="ctrY" for="ch" forName="dot4" refType="h" fact="0.8615"/>
                  <dgm:constr type="w" for="ch" forName="dot4" refType="userD"/>
                  <dgm:constr type="h" for="ch" forName="dot4" refType="userD"/>
                  <dgm:constr type="ctrX" for="ch" forName="dot5" refType="w" fact="0.6416"/>
                  <dgm:constr type="ctrY" for="ch" forName="dot5" refType="h" fact="0.8676"/>
                  <dgm:constr type="w" for="ch" forName="dot5" refType="userD"/>
                  <dgm:constr type="h" for="ch" forName="dot5" refType="userD"/>
                  <dgm:constr type="ctrX" for="ch" forName="dot6" refType="w" fact="0.4197"/>
                  <dgm:constr type="ctrY" for="ch" forName="dot6" refType="h" fact="0.7255"/>
                  <dgm:constr type="w" for="ch" forName="dot6" refType="userD"/>
                  <dgm:constr type="h" for="ch" forName="dot6" refType="userD"/>
                  <dgm:constr type="ctrX" for="ch" forName="dot7" refType="w" fact="0.4382"/>
                  <dgm:constr type="ctrY" for="ch" forName="dot7" refType="h" fact="0.7454"/>
                  <dgm:constr type="w" for="ch" forName="dot7" refType="userD"/>
                  <dgm:constr type="h" for="ch" forName="dot7" refType="userD"/>
                  <dgm:constr type="ctrX" for="ch" forName="dot8" refType="w" fact="0.3344"/>
                  <dgm:constr type="ctrY" for="ch" forName="dot8" refType="h" fact="0.6026"/>
                  <dgm:constr type="w" for="ch" forName="dot8" refType="userD"/>
                  <dgm:constr type="h" for="ch" forName="dot8" refType="userD"/>
                  <dgm:constr type="ctrX" for="ch" forName="dot9" refType="w" fact="0.2734"/>
                  <dgm:constr type="ctrY" for="ch" forName="dot9" refType="h" fact="0.4632"/>
                  <dgm:constr type="w" for="ch" forName="dot9" refType="userD"/>
                  <dgm:constr type="h" for="ch" forName="dot9" refType="userD"/>
                  <dgm:constr type="ctrX" for="ch" forName="dot10" refType="w" fact="0.2357"/>
                  <dgm:constr type="ctrY" for="ch" forName="dot10" refType="h" fact="0.3187"/>
                  <dgm:constr type="w" for="ch" forName="dot10" refType="userD"/>
                  <dgm:constr type="h" for="ch" forName="dot10" refType="userD"/>
                  <dgm:constr type="ctrX" for="ch" forName="dot11" refType="w" fact="0.2184"/>
                  <dgm:constr type="ctrY" for="ch" forName="dot11" refType="h" fact="0.1763"/>
                  <dgm:constr type="w" for="ch" forName="dot11" refType="userD"/>
                  <dgm:constr type="h" for="ch" forName="dot11" refType="userD"/>
                  <dgm:constr type="ctrX" for="ch" forName="dotArrow1" refType="w" fact="0.2442"/>
                  <dgm:constr type="ctrY" for="ch" forName="dotArrow1" refType="h" fact="-0.0099"/>
                  <dgm:constr type="w" for="ch" forName="dotArrow1" refType="userD"/>
                  <dgm:constr type="h" for="ch" forName="dotArrow1" refType="userD"/>
                  <dgm:constr type="ctrX" for="ch" forName="dotArrow2" refType="w" fact="0.2275"/>
                  <dgm:constr type="ctrY" for="ch" forName="dotArrow2" refType="h" fact="-0.0239"/>
                  <dgm:constr type="w" for="ch" forName="dotArrow2" refType="userD"/>
                  <dgm:constr type="h" for="ch" forName="dotArrow2" refType="userD"/>
                  <dgm:constr type="ctrX" for="ch" forName="dotArrow3" refType="w" fact="0.2108"/>
                  <dgm:constr type="ctrY" for="ch" forName="dotArrow3" refType="h" fact="-0.0378"/>
                  <dgm:constr type="w" for="ch" forName="dotArrow3" refType="userD"/>
                  <dgm:constr type="h" for="ch" forName="dotArrow3" refType="userD"/>
                  <dgm:constr type="ctrX" for="ch" forName="dotArrow4" refType="w" fact="0.1942"/>
                  <dgm:constr type="ctrY" for="ch" forName="dotArrow4" refType="h" fact="-0.0239"/>
                  <dgm:constr type="w" for="ch" forName="dotArrow4" refType="userD"/>
                  <dgm:constr type="h" for="ch" forName="dotArrow4" refType="userD"/>
                  <dgm:constr type="ctrX" for="ch" forName="dotArrow5" refType="w" fact="0.1775"/>
                  <dgm:constr type="ctrY" for="ch" forName="dotArrow5" refType="h" fact="-0.0099"/>
                  <dgm:constr type="w" for="ch" forName="dotArrow5" refType="userD"/>
                  <dgm:constr type="h" for="ch" forName="dotArrow5" refType="userD"/>
                  <dgm:constr type="ctrX" for="ch" forName="dotArrow6" refType="w" fact="0.2108"/>
                  <dgm:constr type="ctrY" for="ch" forName="dotArrow6" refType="h" fact="-0.0084"/>
                  <dgm:constr type="w" for="ch" forName="dotArrow6" refType="userD"/>
                  <dgm:constr type="h" for="ch" forName="dotArrow6" refType="userD"/>
                  <dgm:constr type="ctrX" for="ch" forName="dotArrow7" refType="w" fact="0.2108"/>
                  <dgm:constr type="ctrY" for="ch" forName="dotArrow7" refType="h" fact="0.0211"/>
                  <dgm:constr type="w" for="ch" forName="dotArrow7" refType="userD"/>
                  <dgm:constr type="h" for="ch" forName="dotArrow7" refType="userD"/>
                  <dgm:constr type="r" for="ch" forName="parTx1" refType="w" fact="0.7085"/>
                  <dgm:constr type="t" for="ch" forName="parTx1" refType="h" fact="0.8845"/>
                  <dgm:constr type="w" for="ch" forName="parTx1" refType="w" fact="0.2396"/>
                  <dgm:constr type="h" for="ch" forName="parTx1" refType="h" fact="0.0704"/>
                  <dgm:constr type="ctrX" for="ch" forName="picture1" refType="w" fact="0.7194"/>
                  <dgm:constr type="ctrY" for="ch" forName="picture1" refType="h" fact="0.8769"/>
                  <dgm:constr type="w" for="ch" forName="picture1" refType="w" fact="0.1111"/>
                  <dgm:constr type="h" for="ch" forName="picture1" refType="h" fact="0.1218"/>
                  <dgm:constr type="r" for="ch" forName="parTx2" refType="w" fact="0.4828"/>
                  <dgm:constr type="t" for="ch" forName="parTx2" refType="h" fact="0.7946"/>
                  <dgm:constr type="w" for="ch" forName="parTx2" refType="w" fact="0.2396"/>
                  <dgm:constr type="h" for="ch" forName="parTx2" refType="h" fact="0.0704"/>
                  <dgm:constr type="ctrX" for="ch" forName="picture2" refType="w" fact="0.4937"/>
                  <dgm:constr type="ctrY" for="ch" forName="picture2" refType="h" fact="0.787"/>
                  <dgm:constr type="w" for="ch" forName="picture2" refType="w" fact="0.1111"/>
                  <dgm:constr type="h" for="ch" forName="picture2" refType="h" fact="0.1218"/>
                  <dgm:constr type="r" for="ch" forName="parTx3" refType="w" fact="0.3715"/>
                  <dgm:constr type="t" for="ch" forName="parTx3" refType="h" fact="0.672"/>
                  <dgm:constr type="w" for="ch" forName="parTx3" refType="w" fact="0.2396"/>
                  <dgm:constr type="h" for="ch" forName="parTx3" refType="h" fact="0.0704"/>
                  <dgm:constr type="ctrX" for="ch" forName="picture3" refType="w" fact="0.3824"/>
                  <dgm:constr type="ctrY" for="ch" forName="picture3" refType="h" fact="0.6644"/>
                  <dgm:constr type="w" for="ch" forName="picture3" refType="w" fact="0.1111"/>
                  <dgm:constr type="h" for="ch" forName="picture3" refType="h" fact="0.1218"/>
                  <dgm:constr type="r" for="ch" forName="parTx4" refType="w" fact="0.3006"/>
                  <dgm:constr type="t" for="ch" forName="parTx4" refType="h" fact="0.5369"/>
                  <dgm:constr type="w" for="ch" forName="parTx4" refType="w" fact="0.2396"/>
                  <dgm:constr type="h" for="ch" forName="parTx4" refType="h" fact="0.0704"/>
                  <dgm:constr type="ctrX" for="ch" forName="picture4" refType="w" fact="0.3115"/>
                  <dgm:constr type="ctrY" for="ch" forName="picture4" refType="h" fact="0.5294"/>
                  <dgm:constr type="w" for="ch" forName="picture4" refType="w" fact="0.1111"/>
                  <dgm:constr type="h" for="ch" forName="picture4" refType="h" fact="0.1218"/>
                  <dgm:constr type="r" for="ch" forName="parTx5" refType="w" fact="0.25"/>
                  <dgm:constr type="t" for="ch" forName="parTx5" refType="h" fact="0.394"/>
                  <dgm:constr type="w" for="ch" forName="parTx5" refType="w" fact="0.2396"/>
                  <dgm:constr type="h" for="ch" forName="parTx5" refType="h" fact="0.0704"/>
                  <dgm:constr type="ctrX" for="ch" forName="picture5" refType="w" fact="0.2609"/>
                  <dgm:constr type="ctrY" for="ch" forName="picture5" refType="h" fact="0.3864"/>
                  <dgm:constr type="w" for="ch" forName="picture5" refType="w" fact="0.1111"/>
                  <dgm:constr type="h" for="ch" forName="picture5" refType="h" fact="0.1218"/>
                  <dgm:constr type="r" for="ch" forName="parTx6" refType="w" fact="0.2212"/>
                  <dgm:constr type="t" for="ch" forName="parTx6" refType="h" fact="0.252"/>
                  <dgm:constr type="w" for="ch" forName="parTx6" refType="w" fact="0.2396"/>
                  <dgm:constr type="h" for="ch" forName="parTx6" refType="h" fact="0.0704"/>
                  <dgm:constr type="ctrX" for="ch" forName="picture6" refType="w" fact="0.2321"/>
                  <dgm:constr type="ctrY" for="ch" forName="picture6" refType="h" fact="0.2444"/>
                  <dgm:constr type="w" for="ch" forName="picture6" refType="w" fact="0.1111"/>
                  <dgm:constr type="h" for="ch" forName="picture6" refType="h" fact="0.1218"/>
                  <dgm:constr type="r" for="ch" forName="parTx7" refType="w" fact="0.2055"/>
                  <dgm:constr type="t" for="ch" forName="parTx7" refType="h" fact="0.1151"/>
                  <dgm:constr type="w" for="ch" forName="parTx7" refType="w" fact="0.2396"/>
                  <dgm:constr type="h" for="ch" forName="parTx7" refType="h" fact="0.0704"/>
                  <dgm:constr type="ctrX" for="ch" forName="picture7" refType="w" fact="0.2164"/>
                  <dgm:constr type="ctrY" for="ch" forName="picture7" refType="h" fact="0.1075"/>
                  <dgm:constr type="w" for="ch" forName="picture7" refType="w" fact="0.1111"/>
                  <dgm:constr type="h" for="ch" forName="picture7" refType="h" fact="0.1218"/>
                </dgm:constrLst>
              </dgm:else>
            </dgm:choose>
          </dgm:else>
        </dgm:choose>
      </dgm:else>
    </dgm:choose>
    <dgm:forEach name="wrapper" axis="self" ptType="parTrans">
      <dgm:forEach name="wrapper2" axis="self" ptType="sibTrans" st="2">
        <dgm:forEach name="imageRepeat" axis="self">
          <dgm:layoutNode name="imageRepeatNode" styleLbl="fgImgPlace1">
            <dgm:alg type="sp"/>
            <dgm:shape xmlns:r="http://schemas.openxmlformats.org/officeDocument/2006/relationships" type="ellipse" r:blip="" blipPhldr="1">
              <dgm:adjLst/>
            </dgm:shape>
            <dgm:presOf axis="self"/>
          </dgm:layoutNode>
        </dgm:forEach>
      </dgm:forEach>
    </dgm:forEach>
    <dgm:choose name="Name72">
      <dgm:if name="Name73" axis="ch" ptType="node" func="cnt" op="gte" val="2">
        <dgm:layoutNode name="dot1" styleLbl="alignNode1">
          <dgm:alg type="sp"/>
          <dgm:shape xmlns:r="http://schemas.openxmlformats.org/officeDocument/2006/relationships" type="ellipse" r:blip="">
            <dgm:adjLst/>
          </dgm:shape>
          <dgm:presOf/>
        </dgm:layoutNode>
        <dgm:layoutNode name="dot2" styleLbl="alignNode1">
          <dgm:alg type="sp"/>
          <dgm:shape xmlns:r="http://schemas.openxmlformats.org/officeDocument/2006/relationships" type="ellipse" r:blip="">
            <dgm:adjLst/>
          </dgm:shape>
          <dgm:presOf/>
        </dgm:layoutNode>
        <dgm:layoutNode name="dot3" styleLbl="alignNode1">
          <dgm:alg type="sp"/>
          <dgm:shape xmlns:r="http://schemas.openxmlformats.org/officeDocument/2006/relationships" type="ellipse" r:blip="">
            <dgm:adjLst/>
          </dgm:shape>
          <dgm:presOf/>
        </dgm:layoutNode>
      </dgm:if>
      <dgm:else name="Name74"/>
    </dgm:choose>
    <dgm:choose name="Name75">
      <dgm:if name="Name76" axis="ch" ptType="node" func="cnt" op="gte" val="3">
        <dgm:layoutNode name="dot4" styleLbl="alignNode1">
          <dgm:alg type="sp"/>
          <dgm:shape xmlns:r="http://schemas.openxmlformats.org/officeDocument/2006/relationships" type="ellipse" r:blip="">
            <dgm:adjLst/>
          </dgm:shape>
          <dgm:presOf/>
        </dgm:layoutNode>
        <dgm:layoutNode name="dot5" styleLbl="alignNode1">
          <dgm:alg type="sp"/>
          <dgm:shape xmlns:r="http://schemas.openxmlformats.org/officeDocument/2006/relationships" type="ellipse" r:blip="">
            <dgm:adjLst/>
          </dgm:shape>
          <dgm:presOf/>
        </dgm:layoutNode>
      </dgm:if>
      <dgm:else name="Name77"/>
    </dgm:choose>
    <dgm:choose name="Name78">
      <dgm:if name="Name79" axis="ch" ptType="node" func="cnt" op="gte" val="4">
        <dgm:layoutNode name="dot6" styleLbl="alignNode1">
          <dgm:alg type="sp"/>
          <dgm:shape xmlns:r="http://schemas.openxmlformats.org/officeDocument/2006/relationships" type="ellipse" r:blip="">
            <dgm:adjLst/>
          </dgm:shape>
          <dgm:presOf/>
        </dgm:layoutNode>
      </dgm:if>
      <dgm:else name="Name80"/>
    </dgm:choose>
    <dgm:choose name="Name81">
      <dgm:if name="Name82" axis="ch" ptType="node" func="cnt" op="gte" val="5">
        <dgm:layoutNode name="dot7" styleLbl="alignNode1">
          <dgm:alg type="sp"/>
          <dgm:shape xmlns:r="http://schemas.openxmlformats.org/officeDocument/2006/relationships" type="ellipse" r:blip="">
            <dgm:adjLst/>
          </dgm:shape>
          <dgm:presOf/>
        </dgm:layoutNode>
        <dgm:layoutNode name="dot8" styleLbl="alignNode1">
          <dgm:alg type="sp"/>
          <dgm:shape xmlns:r="http://schemas.openxmlformats.org/officeDocument/2006/relationships" type="ellipse" r:blip="">
            <dgm:adjLst/>
          </dgm:shape>
          <dgm:presOf/>
        </dgm:layoutNode>
      </dgm:if>
      <dgm:else name="Name83"/>
    </dgm:choose>
    <dgm:choose name="Name84">
      <dgm:if name="Name85" axis="ch" ptType="node" func="cnt" op="gte" val="6">
        <dgm:layoutNode name="dot9" styleLbl="alignNode1">
          <dgm:alg type="sp"/>
          <dgm:shape xmlns:r="http://schemas.openxmlformats.org/officeDocument/2006/relationships" type="ellipse" r:blip="">
            <dgm:adjLst/>
          </dgm:shape>
          <dgm:presOf/>
        </dgm:layoutNode>
        <dgm:layoutNode name="dot10" styleLbl="alignNode1">
          <dgm:alg type="sp"/>
          <dgm:shape xmlns:r="http://schemas.openxmlformats.org/officeDocument/2006/relationships" type="ellipse" r:blip="">
            <dgm:adjLst/>
          </dgm:shape>
          <dgm:presOf/>
        </dgm:layoutNode>
      </dgm:if>
      <dgm:else name="Name86"/>
    </dgm:choose>
    <dgm:choose name="Name87">
      <dgm:if name="Name88" axis="ch" ptType="node" func="cnt" op="gte" val="7">
        <dgm:layoutNode name="dot11" styleLbl="alignNode1">
          <dgm:alg type="sp"/>
          <dgm:shape xmlns:r="http://schemas.openxmlformats.org/officeDocument/2006/relationships" type="ellipse" r:blip="">
            <dgm:adjLst/>
          </dgm:shape>
          <dgm:presOf/>
        </dgm:layoutNode>
      </dgm:if>
      <dgm:else name="Name89"/>
    </dgm:choose>
    <dgm:choose name="Name90">
      <dgm:if name="Name91" axis="ch" ptType="node" func="cnt" op="gte" val="2">
        <dgm:layoutNode name="dotArrow1" styleLbl="alignNode1">
          <dgm:alg type="sp"/>
          <dgm:shape xmlns:r="http://schemas.openxmlformats.org/officeDocument/2006/relationships" type="ellipse" r:blip="">
            <dgm:adjLst/>
          </dgm:shape>
          <dgm:presOf/>
        </dgm:layoutNode>
        <dgm:layoutNode name="dotArrow2" styleLbl="alignNode1">
          <dgm:alg type="sp"/>
          <dgm:shape xmlns:r="http://schemas.openxmlformats.org/officeDocument/2006/relationships" type="ellipse" r:blip="">
            <dgm:adjLst/>
          </dgm:shape>
          <dgm:presOf/>
        </dgm:layoutNode>
        <dgm:layoutNode name="dotArrow3" styleLbl="alignNode1">
          <dgm:alg type="sp"/>
          <dgm:shape xmlns:r="http://schemas.openxmlformats.org/officeDocument/2006/relationships" type="ellipse" r:blip="">
            <dgm:adjLst/>
          </dgm:shape>
          <dgm:presOf/>
        </dgm:layoutNode>
        <dgm:layoutNode name="dotArrow4" styleLbl="alignNode1">
          <dgm:alg type="sp"/>
          <dgm:shape xmlns:r="http://schemas.openxmlformats.org/officeDocument/2006/relationships" type="ellipse" r:blip="">
            <dgm:adjLst/>
          </dgm:shape>
          <dgm:presOf/>
        </dgm:layoutNode>
        <dgm:layoutNode name="dotArrow5" styleLbl="alignNode1">
          <dgm:alg type="sp"/>
          <dgm:shape xmlns:r="http://schemas.openxmlformats.org/officeDocument/2006/relationships" type="ellipse" r:blip="">
            <dgm:adjLst/>
          </dgm:shape>
          <dgm:presOf/>
        </dgm:layoutNode>
        <dgm:layoutNode name="dotArrow6" styleLbl="alignNode1">
          <dgm:alg type="sp"/>
          <dgm:shape xmlns:r="http://schemas.openxmlformats.org/officeDocument/2006/relationships" type="ellipse" r:blip="">
            <dgm:adjLst/>
          </dgm:shape>
          <dgm:presOf/>
        </dgm:layoutNode>
        <dgm:layoutNode name="dotArrow7" styleLbl="alignNode1">
          <dgm:alg type="sp"/>
          <dgm:shape xmlns:r="http://schemas.openxmlformats.org/officeDocument/2006/relationships" type="ellipse" r:blip="">
            <dgm:adjLst/>
          </dgm:shape>
          <dgm:presOf/>
        </dgm:layoutNode>
      </dgm:if>
      <dgm:else name="Name92"/>
    </dgm:choose>
    <dgm:forEach name="Name93" axis="ch" ptType="node" cnt="1">
      <dgm:layoutNode name="parTx1">
        <dgm:choose name="Name94">
          <dgm:if name="Name95" func="var" arg="dir" op="equ" val="norm">
            <dgm:alg type="tx">
              <dgm:param type="parTxLTRAlign" val="l"/>
              <dgm:param type="parTxRTLAlign" val="r"/>
            </dgm:alg>
          </dgm:if>
          <dgm:else name="Name96">
            <dgm:alg type="tx">
              <dgm:param type="parTxLTRAlign" val="r"/>
              <dgm:param type="parTxRTLAlign" val="l"/>
            </dgm:alg>
          </dgm:else>
        </dgm:choose>
        <dgm:shape xmlns:r="http://schemas.openxmlformats.org/officeDocument/2006/relationships" type="roundRect" r:blip="">
          <dgm:adjLst/>
        </dgm:shape>
        <dgm:presOf axis="self" ptType="node"/>
        <dgm:choose name="Name97">
          <dgm:if name="Name98" func="var" arg="dir" op="equ" val="norm">
            <dgm:constrLst>
              <dgm:constr type="lMarg" refType="w" fact="0.6"/>
              <dgm:constr type="rMarg" refType="primFontSz" fact="0.3"/>
              <dgm:constr type="tMarg" refType="primFontSz" fact="0.3"/>
              <dgm:constr type="bMarg" refType="primFontSz" fact="0.3"/>
            </dgm:constrLst>
          </dgm:if>
          <dgm:else name="Name99">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00">
        <dgm:if name="Name101" axis="ch" ptType="node" func="cnt" op="gte" val="1">
          <dgm:layoutNode name="desTx1" styleLbl="revTx">
            <dgm:varLst>
              <dgm:bulletEnabled val="1"/>
            </dgm:varLst>
            <dgm:choose name="Name102">
              <dgm:if name="Name103" func="var" arg="dir" op="equ" val="norm">
                <dgm:choose name="Name104">
                  <dgm:if name="Name105" axis="ch" ptType="node" func="cnt" op="gte" val="2">
                    <dgm:alg type="tx">
                      <dgm:param type="parTxLTRAlign" val="l"/>
                      <dgm:param type="parTxRTLAlign" val="l"/>
                      <dgm:param type="stBulletLvl" val="1"/>
                    </dgm:alg>
                  </dgm:if>
                  <dgm:else name="Name106">
                    <dgm:alg type="tx">
                      <dgm:param type="parTxLTRAlign" val="l"/>
                      <dgm:param type="parTxRTLAlign" val="l"/>
                    </dgm:alg>
                  </dgm:else>
                </dgm:choose>
              </dgm:if>
              <dgm:else name="Name107">
                <dgm:choose name="Name108">
                  <dgm:if name="Name109" axis="ch" ptType="node" func="cnt" op="gte" val="2">
                    <dgm:alg type="tx">
                      <dgm:param type="parTxLTRAlign" val="r"/>
                      <dgm:param type="parTxRTLAlign" val="r"/>
                      <dgm:param type="shpTxLTRAlignCh" val="r"/>
                      <dgm:param type="shpTxRTLAlignCh" val="r"/>
                      <dgm:param type="stBulletLvl" val="1"/>
                    </dgm:alg>
                  </dgm:if>
                  <dgm:else name="Name110">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11"/>
      </dgm:choose>
    </dgm:forEach>
    <dgm:forEach name="Name112" axis="ch" ptType="sibTrans" hideLastTrans="0" cnt="1">
      <dgm:layoutNode name="picture1">
        <dgm:alg type="sp"/>
        <dgm:shape xmlns:r="http://schemas.openxmlformats.org/officeDocument/2006/relationships" r:blip="">
          <dgm:adjLst/>
        </dgm:shape>
        <dgm:presOf/>
        <dgm:constrLst/>
        <dgm:forEach name="Name113" ref="imageRepeat"/>
      </dgm:layoutNode>
    </dgm:forEach>
    <dgm:forEach name="Name114" axis="ch" ptType="node" st="2" cnt="1">
      <dgm:layoutNode name="parTx2">
        <dgm:choose name="Name115">
          <dgm:if name="Name116" func="var" arg="dir" op="equ" val="norm">
            <dgm:alg type="tx">
              <dgm:param type="parTxLTRAlign" val="l"/>
              <dgm:param type="parTxRTLAlign" val="r"/>
            </dgm:alg>
          </dgm:if>
          <dgm:else name="Name117">
            <dgm:alg type="tx">
              <dgm:param type="parTxLTRAlign" val="r"/>
              <dgm:param type="parTxRTLAlign" val="l"/>
            </dgm:alg>
          </dgm:else>
        </dgm:choose>
        <dgm:shape xmlns:r="http://schemas.openxmlformats.org/officeDocument/2006/relationships" type="roundRect" r:blip="">
          <dgm:adjLst/>
        </dgm:shape>
        <dgm:presOf axis="self" ptType="node"/>
        <dgm:choose name="Name118">
          <dgm:if name="Name119" func="var" arg="dir" op="equ" val="norm">
            <dgm:constrLst>
              <dgm:constr type="lMarg" refType="w" fact="0.6"/>
              <dgm:constr type="rMarg" refType="primFontSz" fact="0.3"/>
              <dgm:constr type="tMarg" refType="primFontSz" fact="0.3"/>
              <dgm:constr type="bMarg" refType="primFontSz" fact="0.3"/>
            </dgm:constrLst>
          </dgm:if>
          <dgm:else name="Name120">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21">
        <dgm:if name="Name122" axis="ch" ptType="node" func="cnt" op="gte" val="1">
          <dgm:layoutNode name="desTx2" styleLbl="revTx">
            <dgm:varLst>
              <dgm:bulletEnabled val="1"/>
            </dgm:varLst>
            <dgm:choose name="Name123">
              <dgm:if name="Name124" func="var" arg="dir" op="equ" val="norm">
                <dgm:choose name="Name125">
                  <dgm:if name="Name126" axis="ch" ptType="node" func="cnt" op="gte" val="2">
                    <dgm:alg type="tx">
                      <dgm:param type="parTxLTRAlign" val="l"/>
                      <dgm:param type="parTxRTLAlign" val="l"/>
                      <dgm:param type="stBulletLvl" val="1"/>
                    </dgm:alg>
                  </dgm:if>
                  <dgm:else name="Name127">
                    <dgm:alg type="tx">
                      <dgm:param type="parTxLTRAlign" val="l"/>
                      <dgm:param type="parTxRTLAlign" val="l"/>
                    </dgm:alg>
                  </dgm:else>
                </dgm:choose>
              </dgm:if>
              <dgm:else name="Name128">
                <dgm:choose name="Name129">
                  <dgm:if name="Name130" axis="ch" ptType="node" func="cnt" op="gte" val="2">
                    <dgm:alg type="tx">
                      <dgm:param type="parTxLTRAlign" val="r"/>
                      <dgm:param type="parTxRTLAlign" val="r"/>
                      <dgm:param type="shpTxLTRAlignCh" val="r"/>
                      <dgm:param type="shpTxRTLAlignCh" val="r"/>
                      <dgm:param type="stBulletLvl" val="1"/>
                    </dgm:alg>
                  </dgm:if>
                  <dgm:else name="Name131">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32"/>
      </dgm:choose>
    </dgm:forEach>
    <dgm:forEach name="Name133" axis="ch" ptType="sibTrans" hideLastTrans="0" st="2" cnt="1">
      <dgm:layoutNode name="picture2">
        <dgm:alg type="sp"/>
        <dgm:shape xmlns:r="http://schemas.openxmlformats.org/officeDocument/2006/relationships" r:blip="">
          <dgm:adjLst/>
        </dgm:shape>
        <dgm:presOf/>
        <dgm:constrLst/>
        <dgm:forEach name="Name134" ref="imageRepeat"/>
      </dgm:layoutNode>
    </dgm:forEach>
    <dgm:forEach name="Name135" axis="ch" ptType="node" st="3" cnt="1">
      <dgm:layoutNode name="parTx3">
        <dgm:choose name="Name136">
          <dgm:if name="Name137" func="var" arg="dir" op="equ" val="norm">
            <dgm:alg type="tx">
              <dgm:param type="parTxLTRAlign" val="l"/>
              <dgm:param type="parTxRTLAlign" val="r"/>
            </dgm:alg>
          </dgm:if>
          <dgm:else name="Name138">
            <dgm:alg type="tx">
              <dgm:param type="parTxLTRAlign" val="r"/>
              <dgm:param type="parTxRTLAlign" val="l"/>
            </dgm:alg>
          </dgm:else>
        </dgm:choose>
        <dgm:shape xmlns:r="http://schemas.openxmlformats.org/officeDocument/2006/relationships" type="roundRect" r:blip="">
          <dgm:adjLst/>
        </dgm:shape>
        <dgm:presOf axis="self" ptType="node"/>
        <dgm:choose name="Name139">
          <dgm:if name="Name140" func="var" arg="dir" op="equ" val="norm">
            <dgm:constrLst>
              <dgm:constr type="lMarg" refType="w" fact="0.6"/>
              <dgm:constr type="rMarg" refType="primFontSz" fact="0.3"/>
              <dgm:constr type="tMarg" refType="primFontSz" fact="0.3"/>
              <dgm:constr type="bMarg" refType="primFontSz" fact="0.3"/>
            </dgm:constrLst>
          </dgm:if>
          <dgm:else name="Name141">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42">
        <dgm:if name="Name143" axis="ch" ptType="node" func="cnt" op="gte" val="1">
          <dgm:layoutNode name="desTx3" styleLbl="revTx">
            <dgm:varLst>
              <dgm:bulletEnabled val="1"/>
            </dgm:varLst>
            <dgm:choose name="Name144">
              <dgm:if name="Name145" func="var" arg="dir" op="equ" val="norm">
                <dgm:choose name="Name146">
                  <dgm:if name="Name147" axis="ch" ptType="node" func="cnt" op="gte" val="2">
                    <dgm:alg type="tx">
                      <dgm:param type="parTxLTRAlign" val="l"/>
                      <dgm:param type="parTxRTLAlign" val="l"/>
                      <dgm:param type="stBulletLvl" val="1"/>
                    </dgm:alg>
                  </dgm:if>
                  <dgm:else name="Name148">
                    <dgm:alg type="tx">
                      <dgm:param type="parTxLTRAlign" val="l"/>
                      <dgm:param type="parTxRTLAlign" val="l"/>
                    </dgm:alg>
                  </dgm:else>
                </dgm:choose>
              </dgm:if>
              <dgm:else name="Name149">
                <dgm:choose name="Name150">
                  <dgm:if name="Name151" axis="ch" ptType="node" func="cnt" op="gte" val="2">
                    <dgm:alg type="tx">
                      <dgm:param type="parTxLTRAlign" val="r"/>
                      <dgm:param type="parTxRTLAlign" val="r"/>
                      <dgm:param type="shpTxLTRAlignCh" val="r"/>
                      <dgm:param type="shpTxRTLAlignCh" val="r"/>
                      <dgm:param type="stBulletLvl" val="1"/>
                    </dgm:alg>
                  </dgm:if>
                  <dgm:else name="Name152">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53"/>
      </dgm:choose>
    </dgm:forEach>
    <dgm:forEach name="Name154" axis="ch" ptType="sibTrans" hideLastTrans="0" st="3" cnt="1">
      <dgm:layoutNode name="picture3">
        <dgm:alg type="sp"/>
        <dgm:shape xmlns:r="http://schemas.openxmlformats.org/officeDocument/2006/relationships" r:blip="">
          <dgm:adjLst/>
        </dgm:shape>
        <dgm:presOf/>
        <dgm:constrLst/>
        <dgm:forEach name="Name155" ref="imageRepeat"/>
      </dgm:layoutNode>
    </dgm:forEach>
    <dgm:forEach name="Name156" axis="ch" ptType="node" st="4" cnt="1">
      <dgm:layoutNode name="parTx4">
        <dgm:choose name="Name157">
          <dgm:if name="Name158" func="var" arg="dir" op="equ" val="norm">
            <dgm:alg type="tx">
              <dgm:param type="parTxLTRAlign" val="l"/>
              <dgm:param type="parTxRTLAlign" val="r"/>
            </dgm:alg>
          </dgm:if>
          <dgm:else name="Name159">
            <dgm:alg type="tx">
              <dgm:param type="parTxLTRAlign" val="r"/>
              <dgm:param type="parTxRTLAlign" val="l"/>
            </dgm:alg>
          </dgm:else>
        </dgm:choose>
        <dgm:shape xmlns:r="http://schemas.openxmlformats.org/officeDocument/2006/relationships" type="roundRect" r:blip="">
          <dgm:adjLst/>
        </dgm:shape>
        <dgm:presOf axis="self" ptType="node"/>
        <dgm:choose name="Name160">
          <dgm:if name="Name161" func="var" arg="dir" op="equ" val="norm">
            <dgm:constrLst>
              <dgm:constr type="lMarg" refType="w" fact="0.6"/>
              <dgm:constr type="rMarg" refType="primFontSz" fact="0.3"/>
              <dgm:constr type="tMarg" refType="primFontSz" fact="0.3"/>
              <dgm:constr type="bMarg" refType="primFontSz" fact="0.3"/>
            </dgm:constrLst>
          </dgm:if>
          <dgm:else name="Name162">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63">
        <dgm:if name="Name164" axis="ch" ptType="node" func="cnt" op="gte" val="1">
          <dgm:layoutNode name="desTx4" styleLbl="revTx">
            <dgm:varLst>
              <dgm:bulletEnabled val="1"/>
            </dgm:varLst>
            <dgm:choose name="Name165">
              <dgm:if name="Name166" func="var" arg="dir" op="equ" val="norm">
                <dgm:choose name="Name167">
                  <dgm:if name="Name168" axis="ch" ptType="node" func="cnt" op="gte" val="2">
                    <dgm:alg type="tx">
                      <dgm:param type="parTxLTRAlign" val="l"/>
                      <dgm:param type="parTxRTLAlign" val="l"/>
                      <dgm:param type="stBulletLvl" val="1"/>
                    </dgm:alg>
                  </dgm:if>
                  <dgm:else name="Name169">
                    <dgm:alg type="tx">
                      <dgm:param type="parTxLTRAlign" val="l"/>
                      <dgm:param type="parTxRTLAlign" val="l"/>
                    </dgm:alg>
                  </dgm:else>
                </dgm:choose>
              </dgm:if>
              <dgm:else name="Name170">
                <dgm:choose name="Name171">
                  <dgm:if name="Name172" axis="ch" ptType="node" func="cnt" op="gte" val="2">
                    <dgm:alg type="tx">
                      <dgm:param type="parTxLTRAlign" val="r"/>
                      <dgm:param type="parTxRTLAlign" val="r"/>
                      <dgm:param type="shpTxLTRAlignCh" val="r"/>
                      <dgm:param type="shpTxRTLAlignCh" val="r"/>
                      <dgm:param type="stBulletLvl" val="1"/>
                    </dgm:alg>
                  </dgm:if>
                  <dgm:else name="Name173">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74"/>
      </dgm:choose>
    </dgm:forEach>
    <dgm:forEach name="Name175" axis="ch" ptType="sibTrans" hideLastTrans="0" st="4" cnt="1">
      <dgm:layoutNode name="picture4">
        <dgm:alg type="sp"/>
        <dgm:shape xmlns:r="http://schemas.openxmlformats.org/officeDocument/2006/relationships" r:blip="">
          <dgm:adjLst/>
        </dgm:shape>
        <dgm:presOf/>
        <dgm:constrLst/>
        <dgm:forEach name="Name176" ref="imageRepeat"/>
      </dgm:layoutNode>
    </dgm:forEach>
    <dgm:forEach name="Name177" axis="ch" ptType="node" st="5" cnt="1">
      <dgm:layoutNode name="parTx5">
        <dgm:choose name="Name178">
          <dgm:if name="Name179" func="var" arg="dir" op="equ" val="norm">
            <dgm:alg type="tx">
              <dgm:param type="parTxLTRAlign" val="l"/>
              <dgm:param type="parTxRTLAlign" val="r"/>
            </dgm:alg>
          </dgm:if>
          <dgm:else name="Name180">
            <dgm:alg type="tx">
              <dgm:param type="parTxLTRAlign" val="r"/>
              <dgm:param type="parTxRTLAlign" val="l"/>
            </dgm:alg>
          </dgm:else>
        </dgm:choose>
        <dgm:shape xmlns:r="http://schemas.openxmlformats.org/officeDocument/2006/relationships" type="roundRect" r:blip="">
          <dgm:adjLst/>
        </dgm:shape>
        <dgm:presOf axis="self" ptType="node"/>
        <dgm:choose name="Name181">
          <dgm:if name="Name182" func="var" arg="dir" op="equ" val="norm">
            <dgm:constrLst>
              <dgm:constr type="lMarg" refType="w" fact="0.6"/>
              <dgm:constr type="rMarg" refType="primFontSz" fact="0.3"/>
              <dgm:constr type="tMarg" refType="primFontSz" fact="0.3"/>
              <dgm:constr type="bMarg" refType="primFontSz" fact="0.3"/>
            </dgm:constrLst>
          </dgm:if>
          <dgm:else name="Name183">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84">
        <dgm:if name="Name185" axis="ch" ptType="node" func="cnt" op="gte" val="1">
          <dgm:layoutNode name="desTx5" styleLbl="revTx">
            <dgm:varLst>
              <dgm:bulletEnabled val="1"/>
            </dgm:varLst>
            <dgm:choose name="Name186">
              <dgm:if name="Name187" func="var" arg="dir" op="equ" val="norm">
                <dgm:choose name="Name188">
                  <dgm:if name="Name189" axis="ch" ptType="node" func="cnt" op="gte" val="2">
                    <dgm:alg type="tx">
                      <dgm:param type="parTxLTRAlign" val="l"/>
                      <dgm:param type="parTxRTLAlign" val="l"/>
                      <dgm:param type="stBulletLvl" val="1"/>
                    </dgm:alg>
                  </dgm:if>
                  <dgm:else name="Name190">
                    <dgm:alg type="tx">
                      <dgm:param type="parTxLTRAlign" val="l"/>
                      <dgm:param type="parTxRTLAlign" val="l"/>
                    </dgm:alg>
                  </dgm:else>
                </dgm:choose>
              </dgm:if>
              <dgm:else name="Name191">
                <dgm:choose name="Name192">
                  <dgm:if name="Name193" axis="ch" ptType="node" func="cnt" op="gte" val="2">
                    <dgm:alg type="tx">
                      <dgm:param type="parTxLTRAlign" val="r"/>
                      <dgm:param type="parTxRTLAlign" val="r"/>
                      <dgm:param type="shpTxLTRAlignCh" val="r"/>
                      <dgm:param type="shpTxRTLAlignCh" val="r"/>
                      <dgm:param type="stBulletLvl" val="1"/>
                    </dgm:alg>
                  </dgm:if>
                  <dgm:else name="Name194">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95"/>
      </dgm:choose>
    </dgm:forEach>
    <dgm:forEach name="Name196" axis="ch" ptType="sibTrans" hideLastTrans="0" st="5" cnt="1">
      <dgm:layoutNode name="picture5">
        <dgm:alg type="sp"/>
        <dgm:shape xmlns:r="http://schemas.openxmlformats.org/officeDocument/2006/relationships" r:blip="">
          <dgm:adjLst/>
        </dgm:shape>
        <dgm:presOf/>
        <dgm:constrLst/>
        <dgm:forEach name="Name197" ref="imageRepeat"/>
      </dgm:layoutNode>
    </dgm:forEach>
    <dgm:forEach name="Name198" axis="ch" ptType="node" st="6" cnt="1">
      <dgm:layoutNode name="parTx6">
        <dgm:choose name="Name199">
          <dgm:if name="Name200" func="var" arg="dir" op="equ" val="norm">
            <dgm:alg type="tx">
              <dgm:param type="parTxLTRAlign" val="l"/>
              <dgm:param type="parTxRTLAlign" val="r"/>
            </dgm:alg>
          </dgm:if>
          <dgm:else name="Name201">
            <dgm:alg type="tx">
              <dgm:param type="parTxLTRAlign" val="r"/>
              <dgm:param type="parTxRTLAlign" val="l"/>
            </dgm:alg>
          </dgm:else>
        </dgm:choose>
        <dgm:shape xmlns:r="http://schemas.openxmlformats.org/officeDocument/2006/relationships" type="roundRect" r:blip="">
          <dgm:adjLst/>
        </dgm:shape>
        <dgm:presOf axis="self" ptType="node"/>
        <dgm:choose name="Name202">
          <dgm:if name="Name203" func="var" arg="dir" op="equ" val="norm">
            <dgm:constrLst>
              <dgm:constr type="lMarg" refType="w" fact="0.6"/>
              <dgm:constr type="rMarg" refType="primFontSz" fact="0.3"/>
              <dgm:constr type="tMarg" refType="primFontSz" fact="0.3"/>
              <dgm:constr type="bMarg" refType="primFontSz" fact="0.3"/>
            </dgm:constrLst>
          </dgm:if>
          <dgm:else name="Name204">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05">
        <dgm:if name="Name206" axis="ch" ptType="node" func="cnt" op="gte" val="1">
          <dgm:layoutNode name="desTx6" styleLbl="revTx">
            <dgm:varLst>
              <dgm:bulletEnabled val="1"/>
            </dgm:varLst>
            <dgm:choose name="Name207">
              <dgm:if name="Name208" func="var" arg="dir" op="equ" val="norm">
                <dgm:choose name="Name209">
                  <dgm:if name="Name210" axis="ch" ptType="node" func="cnt" op="gte" val="2">
                    <dgm:alg type="tx">
                      <dgm:param type="parTxLTRAlign" val="l"/>
                      <dgm:param type="parTxRTLAlign" val="l"/>
                      <dgm:param type="stBulletLvl" val="1"/>
                    </dgm:alg>
                  </dgm:if>
                  <dgm:else name="Name211">
                    <dgm:alg type="tx">
                      <dgm:param type="parTxLTRAlign" val="l"/>
                      <dgm:param type="parTxRTLAlign" val="l"/>
                    </dgm:alg>
                  </dgm:else>
                </dgm:choose>
              </dgm:if>
              <dgm:else name="Name212">
                <dgm:choose name="Name213">
                  <dgm:if name="Name214" axis="ch" ptType="node" func="cnt" op="gte" val="2">
                    <dgm:alg type="tx">
                      <dgm:param type="parTxLTRAlign" val="r"/>
                      <dgm:param type="parTxRTLAlign" val="r"/>
                      <dgm:param type="shpTxLTRAlignCh" val="r"/>
                      <dgm:param type="shpTxRTLAlignCh" val="r"/>
                      <dgm:param type="stBulletLvl" val="1"/>
                    </dgm:alg>
                  </dgm:if>
                  <dgm:else name="Name215">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16"/>
      </dgm:choose>
    </dgm:forEach>
    <dgm:forEach name="Name217" axis="ch" ptType="sibTrans" hideLastTrans="0" st="6" cnt="1">
      <dgm:layoutNode name="picture6">
        <dgm:alg type="sp"/>
        <dgm:shape xmlns:r="http://schemas.openxmlformats.org/officeDocument/2006/relationships" r:blip="">
          <dgm:adjLst/>
        </dgm:shape>
        <dgm:presOf/>
        <dgm:constrLst/>
        <dgm:forEach name="Name218" ref="imageRepeat"/>
      </dgm:layoutNode>
    </dgm:forEach>
    <dgm:forEach name="Name219" axis="ch" ptType="node" st="7" cnt="1">
      <dgm:layoutNode name="parTx7">
        <dgm:choose name="Name220">
          <dgm:if name="Name221" func="var" arg="dir" op="equ" val="norm">
            <dgm:alg type="tx">
              <dgm:param type="parTxLTRAlign" val="l"/>
              <dgm:param type="parTxRTLAlign" val="r"/>
            </dgm:alg>
          </dgm:if>
          <dgm:else name="Name222">
            <dgm:alg type="tx">
              <dgm:param type="parTxLTRAlign" val="r"/>
              <dgm:param type="parTxRTLAlign" val="l"/>
            </dgm:alg>
          </dgm:else>
        </dgm:choose>
        <dgm:shape xmlns:r="http://schemas.openxmlformats.org/officeDocument/2006/relationships" type="roundRect" r:blip="">
          <dgm:adjLst/>
        </dgm:shape>
        <dgm:presOf axis="self" ptType="node"/>
        <dgm:choose name="Name223">
          <dgm:if name="Name224" func="var" arg="dir" op="equ" val="norm">
            <dgm:constrLst>
              <dgm:constr type="lMarg" refType="w" fact="0.6"/>
              <dgm:constr type="rMarg" refType="primFontSz" fact="0.3"/>
              <dgm:constr type="tMarg" refType="primFontSz" fact="0.3"/>
              <dgm:constr type="bMarg" refType="primFontSz" fact="0.3"/>
            </dgm:constrLst>
          </dgm:if>
          <dgm:else name="Name225">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26">
        <dgm:if name="Name227" axis="ch" ptType="node" func="cnt" op="gte" val="1">
          <dgm:layoutNode name="desTx7" styleLbl="revTx">
            <dgm:varLst>
              <dgm:bulletEnabled val="1"/>
            </dgm:varLst>
            <dgm:choose name="Name228">
              <dgm:if name="Name229" func="var" arg="dir" op="equ" val="norm">
                <dgm:choose name="Name230">
                  <dgm:if name="Name231" axis="ch" ptType="node" func="cnt" op="gte" val="2">
                    <dgm:alg type="tx">
                      <dgm:param type="parTxLTRAlign" val="l"/>
                      <dgm:param type="parTxRTLAlign" val="l"/>
                      <dgm:param type="stBulletLvl" val="1"/>
                    </dgm:alg>
                  </dgm:if>
                  <dgm:else name="Name232">
                    <dgm:alg type="tx">
                      <dgm:param type="parTxLTRAlign" val="l"/>
                      <dgm:param type="parTxRTLAlign" val="l"/>
                    </dgm:alg>
                  </dgm:else>
                </dgm:choose>
              </dgm:if>
              <dgm:else name="Name233">
                <dgm:choose name="Name234">
                  <dgm:if name="Name235" axis="ch" ptType="node" func="cnt" op="gte" val="2">
                    <dgm:alg type="tx">
                      <dgm:param type="parTxLTRAlign" val="r"/>
                      <dgm:param type="parTxRTLAlign" val="r"/>
                      <dgm:param type="shpTxLTRAlignCh" val="r"/>
                      <dgm:param type="shpTxRTLAlignCh" val="r"/>
                      <dgm:param type="stBulletLvl" val="1"/>
                    </dgm:alg>
                  </dgm:if>
                  <dgm:else name="Name236">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37"/>
      </dgm:choose>
    </dgm:forEach>
    <dgm:forEach name="Name238" axis="ch" ptType="sibTrans" hideLastTrans="0" st="7" cnt="1">
      <dgm:layoutNode name="picture7">
        <dgm:alg type="sp"/>
        <dgm:shape xmlns:r="http://schemas.openxmlformats.org/officeDocument/2006/relationships" r:blip="">
          <dgm:adjLst/>
        </dgm:shape>
        <dgm:presOf/>
        <dgm:constrLst/>
        <dgm:forEach name="Name239" ref="imageRepea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2026/4/12</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267.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3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购买碟片 </a:t>
            </a:r>
            <a:r>
              <a:rPr lang="en-US" altLang="zh-CN"/>
              <a:t>vs </a:t>
            </a:r>
            <a:r>
              <a:rPr lang="zh-CN" altLang="en-US"/>
              <a:t>爱奇艺</a:t>
            </a:r>
            <a:endParaRPr lang="en-US" altLang="zh-CN"/>
          </a:p>
          <a:p>
            <a:r>
              <a:rPr lang="zh-CN" altLang="en-US"/>
              <a:t>买车 </a:t>
            </a:r>
            <a:r>
              <a:rPr lang="en-US" altLang="zh-CN"/>
              <a:t>vs </a:t>
            </a:r>
            <a:r>
              <a:rPr lang="zh-CN" altLang="en-US"/>
              <a:t>网约车</a:t>
            </a:r>
            <a:endParaRPr lang="en-US" altLang="zh-CN"/>
          </a:p>
          <a:p>
            <a:r>
              <a:rPr lang="en-US" altLang="zh-CN"/>
              <a:t>IDE vs </a:t>
            </a:r>
            <a:r>
              <a:rPr lang="zh-CN" altLang="en-US"/>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14</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Do the project right</a:t>
            </a:r>
          </a:p>
          <a:p>
            <a:r>
              <a:rPr lang="en-US" altLang="zh-CN"/>
              <a:t>Do the right project</a:t>
            </a:r>
          </a:p>
          <a:p>
            <a:endParaRPr lang="en-US" altLang="zh-CN"/>
          </a:p>
          <a:p>
            <a:r>
              <a:rPr lang="en-US" altLang="zh-CN"/>
              <a:t>Output (</a:t>
            </a:r>
            <a:r>
              <a:rPr lang="zh-CN" altLang="en-US"/>
              <a:t>产出</a:t>
            </a:r>
            <a:r>
              <a:rPr lang="en-US" altLang="zh-CN"/>
              <a:t>) = </a:t>
            </a:r>
            <a:r>
              <a:rPr lang="zh-CN" altLang="en-US"/>
              <a:t>我们做了什么？（关注工作量</a:t>
            </a:r>
            <a:r>
              <a:rPr lang="en-US" altLang="zh-CN"/>
              <a:t>/</a:t>
            </a:r>
            <a:r>
              <a:rPr lang="zh-CN" altLang="en-US"/>
              <a:t>交付物）</a:t>
            </a:r>
          </a:p>
          <a:p>
            <a:r>
              <a:rPr lang="en-US" altLang="zh-CN"/>
              <a:t>Outcome (</a:t>
            </a:r>
            <a:r>
              <a:rPr lang="zh-CN" altLang="en-US"/>
              <a:t>成果</a:t>
            </a:r>
            <a:r>
              <a:rPr lang="en-US" altLang="zh-CN"/>
              <a:t>) = </a:t>
            </a:r>
            <a:r>
              <a:rPr lang="zh-CN" altLang="en-US"/>
              <a:t>我们达成了什么效果？（关注价值</a:t>
            </a:r>
            <a:r>
              <a:rPr lang="en-US" altLang="zh-CN"/>
              <a:t>/</a:t>
            </a:r>
            <a:r>
              <a:rPr lang="zh-CN" altLang="en-US"/>
              <a:t>影响力）</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19</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53688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7E45-E552-3766-6948-B5455AF042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BA732-A509-D09C-2282-937BDA1D70E4}"/>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16A5CEA0-619B-D4FB-0C1E-D4B2E9F03D71}"/>
              </a:ext>
            </a:extLst>
          </p:cNvPr>
          <p:cNvSpPr>
            <a:spLocks noGrp="1"/>
          </p:cNvSpPr>
          <p:nvPr>
            <p:ph type="body" idx="1"/>
          </p:nvPr>
        </p:nvSpPr>
        <p:spPr/>
        <p:txBody>
          <a:bodyPr/>
          <a:lstStyle/>
          <a:p>
            <a:r>
              <a:rPr lang="zh-CN" altLang="en-US"/>
              <a:t>体现管理；好的规划，是为了更好的执行，创造价值</a:t>
            </a:r>
            <a:endParaRPr lang="en-US" altLang="zh-CN"/>
          </a:p>
          <a:p>
            <a:r>
              <a:rPr lang="zh-CN" altLang="en-US"/>
              <a:t>规划要细，执行要狠，监控要勤，收尾要稳</a:t>
            </a:r>
          </a:p>
        </p:txBody>
      </p:sp>
      <p:sp>
        <p:nvSpPr>
          <p:cNvPr id="4" name="Slide Number Placeholder 3">
            <a:extLst>
              <a:ext uri="{FF2B5EF4-FFF2-40B4-BE49-F238E27FC236}">
                <a16:creationId xmlns:a16="http://schemas.microsoft.com/office/drawing/2014/main" id="{AA15ACD8-B9C6-5403-7731-7BC3EF80912C}"/>
              </a:ext>
            </a:extLst>
          </p:cNvPr>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3854768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23</a:t>
            </a:fld>
            <a:endParaRPr lang="zh-CN" altLang="en-US"/>
          </a:p>
        </p:txBody>
      </p:sp>
    </p:spTree>
    <p:extLst>
      <p:ext uri="{BB962C8B-B14F-4D97-AF65-F5344CB8AC3E}">
        <p14:creationId xmlns:p14="http://schemas.microsoft.com/office/powerpoint/2010/main" val="5304943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第</a:t>
            </a:r>
            <a:r>
              <a:rPr lang="en-US" altLang="zh-CN"/>
              <a:t>7</a:t>
            </a:r>
            <a:r>
              <a:rPr lang="zh-CN" altLang="en-US"/>
              <a:t>版不再像第</a:t>
            </a:r>
            <a:r>
              <a:rPr lang="en-US" altLang="zh-CN"/>
              <a:t>6</a:t>
            </a:r>
            <a:r>
              <a:rPr lang="zh-CN" altLang="en-US"/>
              <a:t>版那样提供详细的“输入</a:t>
            </a:r>
            <a:r>
              <a:rPr lang="en-US" altLang="zh-CN"/>
              <a:t>-</a:t>
            </a:r>
            <a:r>
              <a:rPr lang="zh-CN" altLang="en-US"/>
              <a:t>工具</a:t>
            </a:r>
            <a:r>
              <a:rPr lang="en-US" altLang="zh-CN"/>
              <a:t>-</a:t>
            </a:r>
            <a:r>
              <a:rPr lang="zh-CN" altLang="en-US"/>
              <a:t>输出 </a:t>
            </a:r>
            <a:r>
              <a:rPr lang="en-US" altLang="zh-CN"/>
              <a:t>(ITTO)”</a:t>
            </a:r>
            <a:r>
              <a:rPr lang="zh-CN" altLang="en-US"/>
              <a:t>矩阵，而是期望项目经理基于这</a:t>
            </a:r>
            <a:r>
              <a:rPr lang="en-US" altLang="zh-CN"/>
              <a:t>12</a:t>
            </a:r>
            <a:r>
              <a:rPr lang="zh-CN" altLang="en-US"/>
              <a:t>项原则，在</a:t>
            </a:r>
            <a:r>
              <a:rPr lang="en-US" altLang="zh-CN"/>
              <a:t>8</a:t>
            </a:r>
            <a:r>
              <a:rPr lang="zh-CN" altLang="en-US"/>
              <a:t>大绩效域中灵活运用各种工具和剪裁方法，以实现价值交付</a:t>
            </a:r>
            <a:endParaRPr lang="en-US" altLang="zh-CN"/>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As nouns the difference between housekeeper and steward is that housekeeper is one who </a:t>
            </a:r>
            <a:r>
              <a:rPr lang="en-US" altLang="zh-CN" b="1"/>
              <a:t>looks after </a:t>
            </a:r>
            <a:r>
              <a:rPr lang="en-US" altLang="zh-CN"/>
              <a:t>the home by herself; either as a wife or a hired servant </a:t>
            </a:r>
          </a:p>
          <a:p>
            <a:r>
              <a:rPr lang="en-US" altLang="zh-CN"/>
              <a:t>while steward is a person who </a:t>
            </a:r>
            <a:r>
              <a:rPr lang="en-US" altLang="zh-CN" b="1"/>
              <a:t>manages</a:t>
            </a:r>
            <a:r>
              <a:rPr lang="en-US" altLang="zh-CN"/>
              <a:t> the property or affairs for another entity.</a:t>
            </a:r>
          </a:p>
          <a:p>
            <a:r>
              <a:rPr lang="en-US" altLang="zh-CN"/>
              <a:t>Stewardship is about being </a:t>
            </a:r>
            <a:r>
              <a:rPr lang="en-US" altLang="zh-CN" b="1"/>
              <a:t>responsible</a:t>
            </a:r>
            <a:r>
              <a:rPr lang="en-US" altLang="zh-CN"/>
              <a:t> for the resources, processes, and trust that have been entrusted to us. </a:t>
            </a:r>
          </a:p>
          <a:p>
            <a:r>
              <a:rPr lang="en-US" altLang="zh-CN"/>
              <a:t>It involves acting with integrity, compliance, and respect for people and the environment."</a:t>
            </a:r>
          </a:p>
          <a:p>
            <a:r>
              <a:rPr lang="en-US" altLang="zh-CN"/>
              <a:t>"Project managers act as stewards by ensuring compliance with legal and regulatory requirements, safeguarding safety and security, and managing resources sustainably."</a:t>
            </a:r>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50CD0-D4BA-2846-6B7E-7EEC435A44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10C0EB-FA0F-65F6-AD10-4BA88D708CEC}"/>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F15953AC-6D01-A761-93CD-83FD62FCEBAB}"/>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7B4AE972-887B-3197-39F9-91F70477A53A}"/>
              </a:ext>
            </a:extLst>
          </p:cNvPr>
          <p:cNvSpPr>
            <a:spLocks noGrp="1"/>
          </p:cNvSpPr>
          <p:nvPr>
            <p:ph type="sldNum" sz="quarter" idx="5"/>
          </p:nvPr>
        </p:nvSpPr>
        <p:spPr/>
        <p:txBody>
          <a:bodyPr/>
          <a:lstStyle/>
          <a:p>
            <a:fld id="{6D27E3F6-C3AC-4131-BD60-F31F1EE091B2}" type="slidenum">
              <a:rPr lang="zh-CN" altLang="en-US" smtClean="0"/>
              <a:t>27</a:t>
            </a:fld>
            <a:endParaRPr lang="zh-CN" altLang="en-US"/>
          </a:p>
        </p:txBody>
      </p:sp>
    </p:spTree>
    <p:extLst>
      <p:ext uri="{BB962C8B-B14F-4D97-AF65-F5344CB8AC3E}">
        <p14:creationId xmlns:p14="http://schemas.microsoft.com/office/powerpoint/2010/main" val="2469341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绩效域 </a:t>
            </a:r>
            <a:r>
              <a:rPr lang="en-US" altLang="zh-CN"/>
              <a:t>Domains </a:t>
            </a:r>
            <a:r>
              <a:rPr lang="zh-CN" altLang="en-US"/>
              <a:t>是雷达图：</a:t>
            </a:r>
            <a:endParaRPr lang="en-US" altLang="zh-CN"/>
          </a:p>
          <a:p>
            <a:r>
              <a:rPr lang="zh-CN" altLang="en-US"/>
              <a:t>告诉你需要同时关注哪些关键领域，这些领域之间是动态平衡的；例如：在关注交付的同时，不能忽视团队或不确定性</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a:t>
            </a:fld>
            <a:endParaRPr lang="zh-CN" altLang="en-US"/>
          </a:p>
        </p:txBody>
      </p:sp>
    </p:spTree>
    <p:extLst>
      <p:ext uri="{BB962C8B-B14F-4D97-AF65-F5344CB8AC3E}">
        <p14:creationId xmlns:p14="http://schemas.microsoft.com/office/powerpoint/2010/main" val="41777005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over</a:t>
            </a:r>
            <a:r>
              <a:rPr lang="zh-CN" altLang="en-US"/>
              <a:t>胜于</a:t>
            </a:r>
            <a:r>
              <a:rPr lang="en-US" altLang="zh-CN"/>
              <a:t>/</a:t>
            </a:r>
            <a:r>
              <a:rPr lang="zh-CN" altLang="en-US"/>
              <a:t>优于</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并没有否定</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en-US" altLang="zh-CN"/>
              <a:t>5. </a:t>
            </a:r>
            <a:r>
              <a:rPr lang="zh-CN" altLang="en-US"/>
              <a:t>要我学 → 我想学</a:t>
            </a:r>
            <a:endParaRPr lang="en-US" altLang="zh-CN"/>
          </a:p>
          <a:p>
            <a:r>
              <a:rPr lang="zh-CN" altLang="en-US"/>
              <a:t>复盘</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E7F94-C43A-BE31-639B-B0D8401F7E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1F0DBD8-FF0B-D91D-FCA9-B500E3D4BB3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28D23A0-E481-22AE-2942-4C4935BCCAAC}"/>
              </a:ext>
            </a:extLst>
          </p:cNvPr>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zh-CN" altLang="en-US"/>
              <a:t>团队稳定、不加班</a:t>
            </a:r>
            <a:r>
              <a:rPr lang="en-US" altLang="zh-CN"/>
              <a:t>-8-</a:t>
            </a:r>
            <a:r>
              <a:rPr lang="zh-CN" altLang="en-US"/>
              <a:t>人文关怀</a:t>
            </a:r>
            <a:endParaRPr lang="en-US" altLang="zh-CN"/>
          </a:p>
          <a:p>
            <a:r>
              <a:rPr lang="zh-CN" altLang="en-US"/>
              <a:t>复盘</a:t>
            </a:r>
            <a:endParaRPr lang="en-US" altLang="zh-CN"/>
          </a:p>
          <a:p>
            <a:r>
              <a:rPr lang="en-US" altLang="zh-CN"/>
              <a:t>10 </a:t>
            </a:r>
            <a:r>
              <a:rPr lang="zh-CN" altLang="en-US"/>
              <a:t>精简机构；简洁是交付完整的核心价值，剔除多余的边角料。它是“精瘦”，不是“残疾”</a:t>
            </a:r>
            <a:endParaRPr lang="en-US" altLang="zh-CN"/>
          </a:p>
          <a:p>
            <a:r>
              <a:rPr lang="zh-CN" altLang="en-US"/>
              <a:t>项目启动时定义的“范围”（</a:t>
            </a:r>
            <a:r>
              <a:rPr lang="en-US" altLang="zh-CN"/>
              <a:t>Scope</a:t>
            </a:r>
            <a:r>
              <a:rPr lang="zh-CN" altLang="en-US"/>
              <a:t>），通常基于当时的认知、市场预测和用户访谈；</a:t>
            </a:r>
            <a:endParaRPr lang="en-US" altLang="zh-CN"/>
          </a:p>
          <a:p>
            <a:r>
              <a:rPr lang="zh-CN" altLang="en-US"/>
              <a:t>范围本质上都是一个“未经完全验证的假设；</a:t>
            </a:r>
            <a:endParaRPr lang="en-US" altLang="zh-CN"/>
          </a:p>
          <a:p>
            <a:r>
              <a:rPr lang="zh-CN" altLang="en-US"/>
              <a:t>“范围”不是一道不可逾越的铁律，而是一个待优化的假设集合；</a:t>
            </a:r>
            <a:endParaRPr lang="en-US" altLang="zh-CN"/>
          </a:p>
          <a:p>
            <a:r>
              <a:rPr lang="zh-CN" altLang="en-US"/>
              <a:t>这才是真正的以价值为导向，而不是以文档为导向</a:t>
            </a:r>
            <a:endParaRPr lang="en-US" altLang="zh-CN"/>
          </a:p>
          <a:p>
            <a:endParaRPr lang="en-US" altLang="zh-CN"/>
          </a:p>
          <a:p>
            <a:r>
              <a:rPr lang="en-US" altLang="zh-CN"/>
              <a:t>11</a:t>
            </a:r>
            <a:r>
              <a:rPr lang="zh-CN" altLang="en-US"/>
              <a:t>最具颠覆性的一条，因为它直接挑战了传统管理中的“命令与控制”（</a:t>
            </a:r>
            <a:r>
              <a:rPr lang="en-US" altLang="zh-CN"/>
              <a:t>Command and Control</a:t>
            </a:r>
            <a:r>
              <a:rPr lang="zh-CN" altLang="en-US"/>
              <a:t>）模式</a:t>
            </a:r>
            <a:endParaRPr lang="en-US" altLang="zh-CN"/>
          </a:p>
          <a:p>
            <a:r>
              <a:rPr lang="zh-CN" altLang="en-US"/>
              <a:t>自主</a:t>
            </a:r>
            <a:endParaRPr lang="en-US" altLang="zh-CN"/>
          </a:p>
          <a:p>
            <a:r>
              <a:rPr lang="zh-CN" altLang="en-US"/>
              <a:t>“涌现”意味着结果不是被预先设计好、然后强行执行的；而是在团队互动的过程中，随着对问题理解的加深，自然生长出来的</a:t>
            </a:r>
            <a:endParaRPr lang="en-US" altLang="zh-CN"/>
          </a:p>
          <a:p>
            <a:r>
              <a:rPr lang="en-US" altLang="zh-CN"/>
              <a:t>-</a:t>
            </a:r>
            <a:r>
              <a:rPr lang="zh-CN" altLang="en-US"/>
              <a:t>不再分配任务：不要说“</a:t>
            </a:r>
            <a:r>
              <a:rPr lang="en-US" altLang="zh-CN"/>
              <a:t>A</a:t>
            </a:r>
            <a:r>
              <a:rPr lang="zh-CN" altLang="en-US"/>
              <a:t>你做这个，</a:t>
            </a:r>
            <a:r>
              <a:rPr lang="en-US" altLang="zh-CN"/>
              <a:t>B</a:t>
            </a:r>
            <a:r>
              <a:rPr lang="zh-CN" altLang="en-US"/>
              <a:t>你做那个”。而是说“这是我们的目标，你们觉得怎么分工最合适？”</a:t>
            </a:r>
          </a:p>
          <a:p>
            <a:r>
              <a:rPr lang="en-US" altLang="zh-CN"/>
              <a:t>-</a:t>
            </a:r>
            <a:r>
              <a:rPr lang="zh-CN" altLang="en-US"/>
              <a:t>提供环境而非答案：你的工作是确保团队有合适的工具、清晰的目标、透明的信息流，以及心理安全感（敢于试错）。</a:t>
            </a:r>
          </a:p>
          <a:p>
            <a:r>
              <a:rPr lang="en-US" altLang="zh-CN"/>
              <a:t>-</a:t>
            </a:r>
            <a:r>
              <a:rPr lang="zh-CN" altLang="en-US"/>
              <a:t>信任与放手：即使你觉得团队的方法不是最优的，只要风险可控，也要让他们去尝试。失败也是学习的一部分，是从错误中“涌现”出正确方案的必经之路。</a:t>
            </a:r>
          </a:p>
          <a:p>
            <a:r>
              <a:rPr lang="en-US" altLang="zh-CN"/>
              <a:t>-</a:t>
            </a:r>
            <a:r>
              <a:rPr lang="zh-CN" altLang="en-US"/>
              <a:t>保护团队：阻挡外部的干扰和无理的需求变更，让团队能专注于创造价值。</a:t>
            </a:r>
            <a:endParaRPr lang="en-US" altLang="zh-CN"/>
          </a:p>
          <a:p>
            <a:r>
              <a:rPr lang="zh-CN" altLang="en-US"/>
              <a:t>如果是被指令驱动的团队，他们只会机械地执行预设的（可能是错误的）方案，永远无法触及那个“最好”的解</a:t>
            </a:r>
            <a:endParaRPr lang="en-US" altLang="zh-CN"/>
          </a:p>
          <a:p>
            <a:r>
              <a:rPr lang="zh-CN" altLang="en-US"/>
              <a:t>中国诗人海子的</a:t>
            </a:r>
            <a:r>
              <a:rPr lang="en-US" altLang="zh-CN"/>
              <a:t>《</a:t>
            </a:r>
            <a:r>
              <a:rPr lang="zh-CN" altLang="en-US"/>
              <a:t>面朝大海，春暖花开</a:t>
            </a:r>
            <a:r>
              <a:rPr lang="en-US" altLang="zh-CN"/>
              <a:t>》</a:t>
            </a:r>
            <a:endParaRPr lang="zh-CN" altLang="en-US"/>
          </a:p>
        </p:txBody>
      </p:sp>
      <p:sp>
        <p:nvSpPr>
          <p:cNvPr id="4" name="灯片编号占位符 3">
            <a:extLst>
              <a:ext uri="{FF2B5EF4-FFF2-40B4-BE49-F238E27FC236}">
                <a16:creationId xmlns:a16="http://schemas.microsoft.com/office/drawing/2014/main" id="{6A5E2018-3C81-E7CB-72E9-E22A1E7927BC}"/>
              </a:ext>
            </a:extLst>
          </p:cNvPr>
          <p:cNvSpPr>
            <a:spLocks noGrp="1"/>
          </p:cNvSpPr>
          <p:nvPr>
            <p:ph type="sldNum" sz="quarter" idx="5"/>
          </p:nvPr>
        </p:nvSpPr>
        <p:spPr/>
        <p:txBody>
          <a:bodyPr/>
          <a:lstStyle/>
          <a:p>
            <a:fld id="{6D27E3F6-C3AC-4131-BD60-F31F1EE091B2}" type="slidenum">
              <a:rPr lang="zh-CN" altLang="en-US" smtClean="0"/>
              <a:t>38</a:t>
            </a:fld>
            <a:endParaRPr lang="zh-CN" altLang="en-US"/>
          </a:p>
        </p:txBody>
      </p:sp>
    </p:spTree>
    <p:extLst>
      <p:ext uri="{BB962C8B-B14F-4D97-AF65-F5344CB8AC3E}">
        <p14:creationId xmlns:p14="http://schemas.microsoft.com/office/powerpoint/2010/main" val="14056641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PMBOK </a:t>
            </a:r>
            <a:r>
              <a:rPr lang="zh-CN" altLang="en-US"/>
              <a:t>第 </a:t>
            </a:r>
            <a:r>
              <a:rPr lang="en-US" altLang="zh-CN"/>
              <a:t>7 </a:t>
            </a:r>
            <a:r>
              <a:rPr lang="zh-CN" altLang="en-US"/>
              <a:t>版的 </a:t>
            </a:r>
            <a:r>
              <a:rPr lang="en-US" altLang="zh-CN"/>
              <a:t>12 </a:t>
            </a:r>
            <a:r>
              <a:rPr lang="zh-CN" altLang="en-US"/>
              <a:t>项原则实际上“包含”并“扩展”了敏捷的原则</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a:t>
            </a:fld>
            <a:endParaRPr lang="zh-CN" altLang="en-US"/>
          </a:p>
        </p:txBody>
      </p:sp>
    </p:spTree>
    <p:extLst>
      <p:ext uri="{BB962C8B-B14F-4D97-AF65-F5344CB8AC3E}">
        <p14:creationId xmlns:p14="http://schemas.microsoft.com/office/powerpoint/2010/main" val="26378072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1. </a:t>
            </a:r>
            <a:r>
              <a:rPr lang="zh-CN" altLang="en-US"/>
              <a:t>根据前期的项目评估报告，拟定项目申请建议书，提交评审委员会审核</a:t>
            </a:r>
            <a:endParaRPr lang="en-US" altLang="zh-CN"/>
          </a:p>
          <a:p>
            <a:r>
              <a:rPr lang="en-US" altLang="zh-CN"/>
              <a:t>2. </a:t>
            </a:r>
            <a:r>
              <a:rPr lang="zh-CN" altLang="en-US"/>
              <a:t>评审委员会审核后，提交立项审核报告 </a:t>
            </a:r>
            <a:r>
              <a:rPr lang="en-US" altLang="zh-CN"/>
              <a:t>Project Initiation Review Report</a:t>
            </a:r>
            <a:r>
              <a:rPr lang="zh-CN" altLang="en-US"/>
              <a:t>，决定是否准予立项</a:t>
            </a:r>
            <a:endParaRPr lang="en-US" altLang="zh-CN"/>
          </a:p>
          <a:p>
            <a:r>
              <a:rPr lang="zh-CN" altLang="en-US"/>
              <a:t>对已提交的立项申请进行正式审查，决定是否批准立项 </a:t>
            </a:r>
            <a:r>
              <a:rPr lang="en-US" altLang="zh-CN"/>
              <a:t>- </a:t>
            </a:r>
            <a:r>
              <a:rPr lang="zh-CN" altLang="en-US"/>
              <a:t>双重评估机制</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a:solidFill>
                  <a:schemeClr val="tx1"/>
                </a:solidFill>
              </a:rPr>
              <a:t>立项评审报告</a:t>
            </a:r>
            <a:r>
              <a:rPr lang="zh-CN" altLang="en-US"/>
              <a:t> </a:t>
            </a:r>
            <a:r>
              <a:rPr lang="en-US" altLang="zh-CN"/>
              <a:t>- </a:t>
            </a:r>
            <a:r>
              <a:rPr lang="zh-CN" altLang="en-US"/>
              <a:t>由评审委员会、专家组或相关管理部门，对</a:t>
            </a:r>
            <a:r>
              <a:rPr lang="en-US" altLang="zh-CN"/>
              <a:t>《</a:t>
            </a:r>
            <a:r>
              <a:rPr lang="zh-CN" altLang="en-US"/>
              <a:t>项目立项申请建议书</a:t>
            </a:r>
            <a:r>
              <a:rPr lang="en-US" altLang="zh-CN"/>
              <a:t>》</a:t>
            </a:r>
            <a:r>
              <a:rPr lang="zh-CN" altLang="en-US"/>
              <a:t>及相关资料进行系统性审查后形成的结论性文件</a:t>
            </a:r>
            <a:r>
              <a:rPr lang="en-US" altLang="zh-CN"/>
              <a:t> - </a:t>
            </a:r>
            <a:r>
              <a:rPr lang="zh-CN" altLang="en-US"/>
              <a:t>看病的病历</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47</a:t>
            </a:fld>
            <a:endParaRPr lang="zh-CN" altLang="en-US"/>
          </a:p>
        </p:txBody>
      </p:sp>
    </p:spTree>
    <p:extLst>
      <p:ext uri="{BB962C8B-B14F-4D97-AF65-F5344CB8AC3E}">
        <p14:creationId xmlns:p14="http://schemas.microsoft.com/office/powerpoint/2010/main" val="12517945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招标书</a:t>
            </a:r>
            <a:r>
              <a:rPr lang="en-US" altLang="zh-CN"/>
              <a:t>/Tender Document</a:t>
            </a:r>
          </a:p>
          <a:p>
            <a:r>
              <a:rPr lang="zh-CN" altLang="en-US"/>
              <a:t>投标书</a:t>
            </a:r>
            <a:r>
              <a:rPr lang="en-US" altLang="zh-CN"/>
              <a:t>/Bid Proposal/Tender Response</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40477623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F67B5-DCCD-0996-9FE0-52350573C9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F75599-9719-7CC2-91A8-98BC79F4892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615EC3D-DEC0-548D-4BFA-AC67CFBACF1F}"/>
              </a:ext>
            </a:extLst>
          </p:cNvPr>
          <p:cNvSpPr>
            <a:spLocks noGrp="1"/>
          </p:cNvSpPr>
          <p:nvPr>
            <p:ph type="body" idx="1"/>
          </p:nvPr>
        </p:nvSpPr>
        <p:spPr/>
        <p:txBody>
          <a:bodyPr/>
          <a:lstStyle/>
          <a:p>
            <a:r>
              <a:rPr lang="zh-CN" altLang="en-US"/>
              <a:t>招标书</a:t>
            </a:r>
            <a:r>
              <a:rPr lang="en-US" altLang="zh-CN"/>
              <a:t>/Tender Document</a:t>
            </a:r>
          </a:p>
        </p:txBody>
      </p:sp>
      <p:sp>
        <p:nvSpPr>
          <p:cNvPr id="4" name="灯片编号占位符 3">
            <a:extLst>
              <a:ext uri="{FF2B5EF4-FFF2-40B4-BE49-F238E27FC236}">
                <a16:creationId xmlns:a16="http://schemas.microsoft.com/office/drawing/2014/main" id="{E446FB44-77E0-A985-9701-2C4F0C9D2673}"/>
              </a:ext>
            </a:extLst>
          </p:cNvPr>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18451815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7BC84-6D9D-21F2-C315-E5ECE308BF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75AADEA-2146-AA92-D15C-D1668CB2E54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0E7CD2C-FA29-80A0-7297-2FCBE714FD87}"/>
              </a:ext>
            </a:extLst>
          </p:cNvPr>
          <p:cNvSpPr>
            <a:spLocks noGrp="1"/>
          </p:cNvSpPr>
          <p:nvPr>
            <p:ph type="body" idx="1"/>
          </p:nvPr>
        </p:nvSpPr>
        <p:spPr/>
        <p:txBody>
          <a:bodyPr/>
          <a:lstStyle/>
          <a:p>
            <a:r>
              <a:rPr lang="zh-CN" altLang="en-US"/>
              <a:t>投标书</a:t>
            </a:r>
            <a:r>
              <a:rPr lang="en-US" altLang="zh-CN"/>
              <a:t>/Bid Proposal/Tender Response</a:t>
            </a:r>
          </a:p>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8C65D8F7-AD7C-C199-56FE-1A76413ECF28}"/>
              </a:ext>
            </a:extLst>
          </p:cNvPr>
          <p:cNvSpPr>
            <a:spLocks noGrp="1"/>
          </p:cNvSpPr>
          <p:nvPr>
            <p:ph type="sldNum" sz="quarter" idx="5"/>
          </p:nvPr>
        </p:nvSpPr>
        <p:spPr/>
        <p:txBody>
          <a:bodyPr/>
          <a:lstStyle/>
          <a:p>
            <a:fld id="{6D27E3F6-C3AC-4131-BD60-F31F1EE091B2}" type="slidenum">
              <a:rPr lang="zh-CN" altLang="en-US" smtClean="0"/>
              <a:t>50</a:t>
            </a:fld>
            <a:endParaRPr lang="zh-CN" altLang="en-US"/>
          </a:p>
        </p:txBody>
      </p:sp>
    </p:spTree>
    <p:extLst>
      <p:ext uri="{BB962C8B-B14F-4D97-AF65-F5344CB8AC3E}">
        <p14:creationId xmlns:p14="http://schemas.microsoft.com/office/powerpoint/2010/main" val="16087814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8ED4-9D7B-8399-7E94-4E435B7D493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14FB82-6C82-02D0-4106-22899A3A4BA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F2A996-9DA4-06EF-5E6A-2F54456F4A57}"/>
              </a:ext>
            </a:extLst>
          </p:cNvPr>
          <p:cNvSpPr>
            <a:spLocks noGrp="1"/>
          </p:cNvSpPr>
          <p:nvPr>
            <p:ph type="body" idx="1"/>
          </p:nvPr>
        </p:nvSpPr>
        <p:spPr/>
        <p:txBody>
          <a:bodyPr/>
          <a:lstStyle/>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6A6957F6-09C1-F56A-6FD6-CA1D5891CFA5}"/>
              </a:ext>
            </a:extLst>
          </p:cNvPr>
          <p:cNvSpPr>
            <a:spLocks noGrp="1"/>
          </p:cNvSpPr>
          <p:nvPr>
            <p:ph type="sldNum" sz="quarter" idx="5"/>
          </p:nvPr>
        </p:nvSpPr>
        <p:spPr/>
        <p:txBody>
          <a:bodyPr/>
          <a:lstStyle/>
          <a:p>
            <a:fld id="{6D27E3F6-C3AC-4131-BD60-F31F1EE091B2}" type="slidenum">
              <a:rPr lang="zh-CN" altLang="en-US" smtClean="0"/>
              <a:t>51</a:t>
            </a:fld>
            <a:endParaRPr lang="zh-CN" altLang="en-US"/>
          </a:p>
        </p:txBody>
      </p:sp>
    </p:spTree>
    <p:extLst>
      <p:ext uri="{BB962C8B-B14F-4D97-AF65-F5344CB8AC3E}">
        <p14:creationId xmlns:p14="http://schemas.microsoft.com/office/powerpoint/2010/main" val="16059477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33613616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73594-FEF0-E194-C5D8-9D0537D24C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0CA214C-F32B-E490-783C-5FBCA7D2BBB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2EC4727-50E8-2CCE-5C10-4A5E0F77CD65}"/>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658A3560-E790-1851-D582-F26A01F761BC}"/>
              </a:ext>
            </a:extLst>
          </p:cNvPr>
          <p:cNvSpPr>
            <a:spLocks noGrp="1"/>
          </p:cNvSpPr>
          <p:nvPr>
            <p:ph type="sldNum" sz="quarter" idx="5"/>
          </p:nvPr>
        </p:nvSpPr>
        <p:spPr/>
        <p:txBody>
          <a:bodyPr/>
          <a:lstStyle/>
          <a:p>
            <a:fld id="{6D27E3F6-C3AC-4131-BD60-F31F1EE091B2}" type="slidenum">
              <a:rPr lang="zh-CN" altLang="en-US" smtClean="0"/>
              <a:t>53</a:t>
            </a:fld>
            <a:endParaRPr lang="zh-CN" altLang="en-US"/>
          </a:p>
        </p:txBody>
      </p:sp>
    </p:spTree>
    <p:extLst>
      <p:ext uri="{BB962C8B-B14F-4D97-AF65-F5344CB8AC3E}">
        <p14:creationId xmlns:p14="http://schemas.microsoft.com/office/powerpoint/2010/main" val="26761633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01637-D952-D6C2-E786-0BC5194919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9934D71-7138-4F62-9E78-AD6CD07F444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947BEEC-E26E-7B89-8AC8-BC6311549FEB}"/>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8C3DEC73-2B6A-FBA2-6336-3DD7F728D004}"/>
              </a:ext>
            </a:extLst>
          </p:cNvPr>
          <p:cNvSpPr>
            <a:spLocks noGrp="1"/>
          </p:cNvSpPr>
          <p:nvPr>
            <p:ph type="sldNum" sz="quarter" idx="5"/>
          </p:nvPr>
        </p:nvSpPr>
        <p:spPr/>
        <p:txBody>
          <a:bodyPr/>
          <a:lstStyle/>
          <a:p>
            <a:fld id="{6D27E3F6-C3AC-4131-BD60-F31F1EE091B2}" type="slidenum">
              <a:rPr lang="zh-CN" altLang="en-US" smtClean="0"/>
              <a:t>54</a:t>
            </a:fld>
            <a:endParaRPr lang="zh-CN" altLang="en-US"/>
          </a:p>
        </p:txBody>
      </p:sp>
    </p:spTree>
    <p:extLst>
      <p:ext uri="{BB962C8B-B14F-4D97-AF65-F5344CB8AC3E}">
        <p14:creationId xmlns:p14="http://schemas.microsoft.com/office/powerpoint/2010/main" val="6674661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11AB-B446-461E-D8D6-D126143679E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51A8F3A-46C0-4E67-1AFF-A2BE57388F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6740837-08E5-3E90-6165-5831AACB2D08}"/>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220F7704-4A98-916F-B819-8AACB68F6403}"/>
              </a:ext>
            </a:extLst>
          </p:cNvPr>
          <p:cNvSpPr>
            <a:spLocks noGrp="1"/>
          </p:cNvSpPr>
          <p:nvPr>
            <p:ph type="sldNum" sz="quarter" idx="5"/>
          </p:nvPr>
        </p:nvSpPr>
        <p:spPr/>
        <p:txBody>
          <a:bodyPr/>
          <a:lstStyle/>
          <a:p>
            <a:fld id="{6D27E3F6-C3AC-4131-BD60-F31F1EE091B2}" type="slidenum">
              <a:rPr lang="zh-CN" altLang="en-US" smtClean="0"/>
              <a:t>56</a:t>
            </a:fld>
            <a:endParaRPr lang="zh-CN" altLang="en-US"/>
          </a:p>
        </p:txBody>
      </p:sp>
    </p:spTree>
    <p:extLst>
      <p:ext uri="{BB962C8B-B14F-4D97-AF65-F5344CB8AC3E}">
        <p14:creationId xmlns:p14="http://schemas.microsoft.com/office/powerpoint/2010/main" val="21086506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“Ways of Working” encompasses the methods, tools, techniques, and approaches used to deliver value — whether through predictive, agile, hybrid, or other emerging frameworks. It’s not just about ‘project management’ anymore; it’s about how work gets done in any context.</a:t>
            </a:r>
          </a:p>
          <a:p>
            <a:endParaRPr lang="en-US" altLang="zh-CN"/>
          </a:p>
          <a:p>
            <a:r>
              <a:rPr lang="en-US" altLang="zh-CN"/>
              <a:t>“Power Skills” refer to the interpersonal abilities that enable individuals to influence, inspire, collaborate, and lead — regardless of formal authority. These include emotional intelligence, communication, negotiation, conflict resolution, and storytelling.</a:t>
            </a:r>
          </a:p>
          <a:p>
            <a:endParaRPr lang="en-US" altLang="zh-CN"/>
          </a:p>
          <a:p>
            <a:r>
              <a:rPr lang="en-US" altLang="zh-CN"/>
              <a:t>Business Acumen” is the ability to understand how businesses operate, make money, and create value — and to apply that understanding to drive decisions that support organizational strategy and financial health.</a:t>
            </a:r>
          </a:p>
          <a:p>
            <a:endParaRPr lang="en-US" altLang="zh-CN"/>
          </a:p>
          <a:p>
            <a:r>
              <a:rPr lang="en-US" altLang="zh-CN"/>
              <a:t>DAO</a:t>
            </a:r>
            <a:r>
              <a:rPr lang="zh-CN" altLang="en-US"/>
              <a:t>（</a:t>
            </a:r>
            <a:r>
              <a:rPr lang="en-US" altLang="zh-CN"/>
              <a:t>Decentralized Autonomous Organization</a:t>
            </a:r>
            <a:r>
              <a:rPr lang="zh-CN" altLang="en-US"/>
              <a:t>，去中心化自治组织）是</a:t>
            </a:r>
            <a:r>
              <a:rPr lang="en-US" altLang="zh-CN"/>
              <a:t>WEB3.0</a:t>
            </a:r>
            <a:r>
              <a:rPr lang="zh-CN" altLang="en-US"/>
              <a:t>时代的一个重要产物。它通过智能合约和区块链技术，实现了组织管理的去中心化。在</a:t>
            </a:r>
            <a:r>
              <a:rPr lang="en-US" altLang="zh-CN"/>
              <a:t>DAO</a:t>
            </a:r>
            <a:r>
              <a:rPr lang="zh-CN" altLang="en-US"/>
              <a:t>中，成员可以通过代币投票参与决策，每个人都有发言权，决策过程透明，资金流动也可追溯，这大大增加了信任感。</a:t>
            </a:r>
            <a:r>
              <a:rPr lang="en-US" altLang="zh-CN"/>
              <a:t>DAO</a:t>
            </a:r>
            <a:r>
              <a:rPr lang="zh-CN" altLang="en-US"/>
              <a:t>的特点也很突出：民主治理：所有成员都有平等的发言权，决策不再是少数人的“黑箱操作”，而是透明、公开的。资金透明：所有资金流动都在区块链上记录，任何人都可以查看，不用担心资金被滥用或挪用。全球参与：不受地域限制，无论你身处何地，只要有网络，就可以参与</a:t>
            </a:r>
            <a:r>
              <a:rPr lang="en-US" altLang="zh-CN"/>
              <a:t>DAO</a:t>
            </a:r>
            <a:r>
              <a:rPr lang="zh-CN" altLang="en-US"/>
              <a:t>的活动。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60</a:t>
            </a:fld>
            <a:endParaRPr lang="zh-CN" altLang="en-US"/>
          </a:p>
        </p:txBody>
      </p:sp>
    </p:spTree>
    <p:extLst>
      <p:ext uri="{BB962C8B-B14F-4D97-AF65-F5344CB8AC3E}">
        <p14:creationId xmlns:p14="http://schemas.microsoft.com/office/powerpoint/2010/main" val="36960956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Period</a:t>
            </a:r>
          </a:p>
          <a:p>
            <a:r>
              <a:rPr lang="en-US" altLang="zh-CN"/>
              <a:t>Duration</a:t>
            </a:r>
          </a:p>
          <a:p>
            <a:r>
              <a:rPr lang="en-US" altLang="zh-CN"/>
              <a:t>Lifecycle</a:t>
            </a:r>
          </a:p>
          <a:p>
            <a:r>
              <a:rPr lang="en-US" altLang="zh-CN"/>
              <a:t>SDLC software development life cycle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62</a:t>
            </a:fld>
            <a:endParaRPr lang="zh-CN" altLang="en-US"/>
          </a:p>
        </p:txBody>
      </p:sp>
    </p:spTree>
    <p:extLst>
      <p:ext uri="{BB962C8B-B14F-4D97-AF65-F5344CB8AC3E}">
        <p14:creationId xmlns:p14="http://schemas.microsoft.com/office/powerpoint/2010/main" val="18151198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Scope, schedule, and cost defined early; </a:t>
            </a:r>
          </a:p>
          <a:p>
            <a:pPr>
              <a:buNone/>
            </a:pPr>
            <a:r>
              <a:rPr lang="en-US" altLang="zh-CN" sz="1200">
                <a:solidFill>
                  <a:sysClr val="windowText" lastClr="000000"/>
                </a:solidFill>
              </a:rPr>
              <a:t>low tolerance for change</a:t>
            </a:r>
          </a:p>
          <a:p>
            <a:pPr>
              <a:buNone/>
            </a:pPr>
            <a:r>
              <a:rPr lang="zh-CN" altLang="en-US" sz="1200">
                <a:solidFill>
                  <a:sysClr val="windowText" lastClr="000000"/>
                </a:solidFill>
              </a:rPr>
              <a:t>瀑布模型不是“过时”，而是“严谨”的代名词</a:t>
            </a:r>
            <a:endParaRPr lang="en-US" altLang="zh-CN" sz="1200">
              <a:solidFill>
                <a:sysClr val="windowText" lastClr="000000"/>
              </a:solidFill>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64</a:t>
            </a:fld>
            <a:endParaRPr lang="zh-CN" altLang="en-US"/>
          </a:p>
        </p:txBody>
      </p:sp>
    </p:spTree>
    <p:extLst>
      <p:ext uri="{BB962C8B-B14F-4D97-AF65-F5344CB8AC3E}">
        <p14:creationId xmlns:p14="http://schemas.microsoft.com/office/powerpoint/2010/main" val="21549556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65</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Verification: Are we building the product right?</a:t>
            </a:r>
          </a:p>
          <a:p>
            <a:r>
              <a:rPr lang="zh-CN" altLang="en-US"/>
              <a:t>验证：我们是否正确地构建了产品？（是否符合规格说明书？）</a:t>
            </a:r>
          </a:p>
          <a:p>
            <a:r>
              <a:rPr lang="en-US" altLang="zh-CN"/>
              <a:t>Validation: Are we building the right product?</a:t>
            </a:r>
          </a:p>
          <a:p>
            <a:r>
              <a:rPr lang="zh-CN" altLang="en-US"/>
              <a:t>确认：我们是否构建了正确的产品？（是否满足用户的真实需求？）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66</a:t>
            </a:fld>
            <a:endParaRPr lang="zh-CN" altLang="en-US"/>
          </a:p>
        </p:txBody>
      </p:sp>
    </p:spTree>
    <p:extLst>
      <p:ext uri="{BB962C8B-B14F-4D97-AF65-F5344CB8AC3E}">
        <p14:creationId xmlns:p14="http://schemas.microsoft.com/office/powerpoint/2010/main" val="2350965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68</a:t>
            </a:fld>
            <a:endParaRPr lang="zh-CN" altLang="en-US"/>
          </a:p>
        </p:txBody>
      </p:sp>
    </p:spTree>
    <p:extLst>
      <p:ext uri="{BB962C8B-B14F-4D97-AF65-F5344CB8AC3E}">
        <p14:creationId xmlns:p14="http://schemas.microsoft.com/office/powerpoint/2010/main" val="9797389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p>
          <a:p>
            <a:pPr>
              <a:buNone/>
            </a:pPr>
            <a:r>
              <a:rPr lang="zh-CN" altLang="en-US"/>
              <a:t>图中的 </a:t>
            </a:r>
            <a:r>
              <a:rPr lang="en-US" altLang="zh-CN"/>
              <a:t>Planning + Requirement + Design + Coding ≈ Scrum </a:t>
            </a:r>
            <a:r>
              <a:rPr lang="zh-CN" altLang="en-US"/>
              <a:t>的一个 </a:t>
            </a:r>
            <a:r>
              <a:rPr lang="en-US" altLang="zh-CN"/>
              <a:t>Sprint (</a:t>
            </a:r>
            <a:r>
              <a:rPr lang="zh-CN" altLang="en-US"/>
              <a:t>冲刺</a:t>
            </a:r>
            <a:r>
              <a:rPr lang="en-US" altLang="zh-CN"/>
              <a:t>)</a:t>
            </a:r>
            <a:endParaRPr lang="zh-CN" altLang="en-US"/>
          </a:p>
          <a:p>
            <a:pPr>
              <a:buNone/>
            </a:pPr>
            <a:r>
              <a:rPr lang="zh-CN" altLang="en-US"/>
              <a:t>图中的 </a:t>
            </a:r>
            <a:r>
              <a:rPr lang="en-US" altLang="zh-CN"/>
              <a:t>Evaluation ≈ Scrum </a:t>
            </a:r>
            <a:r>
              <a:rPr lang="zh-CN" altLang="en-US"/>
              <a:t>的 </a:t>
            </a:r>
            <a:r>
              <a:rPr lang="en-US" altLang="zh-CN"/>
              <a:t>Sprint Review (</a:t>
            </a:r>
            <a:r>
              <a:rPr lang="zh-CN" altLang="en-US"/>
              <a:t>评审</a:t>
            </a:r>
            <a:r>
              <a:rPr lang="en-US" altLang="zh-CN"/>
              <a:t>) </a:t>
            </a:r>
            <a:r>
              <a:rPr lang="zh-CN" altLang="en-US"/>
              <a:t>和 </a:t>
            </a:r>
            <a:r>
              <a:rPr lang="en-US" altLang="zh-CN"/>
              <a:t>Retrospective (</a:t>
            </a:r>
            <a:r>
              <a:rPr lang="zh-CN" altLang="en-US"/>
              <a:t>回顾</a:t>
            </a:r>
            <a:r>
              <a:rPr lang="en-US" altLang="zh-CN"/>
              <a:t>)</a:t>
            </a:r>
            <a:endParaRPr lang="zh-CN" altLang="en-US"/>
          </a:p>
          <a:p>
            <a:pPr>
              <a:buNone/>
            </a:pPr>
            <a:r>
              <a:rPr lang="zh-CN" altLang="en-US"/>
              <a:t>图中的 </a:t>
            </a:r>
            <a:r>
              <a:rPr lang="en-US" altLang="zh-CN"/>
              <a:t>Deployment ≈ Scrum </a:t>
            </a:r>
            <a:r>
              <a:rPr lang="zh-CN" altLang="en-US"/>
              <a:t>的 </a:t>
            </a:r>
            <a:r>
              <a:rPr lang="en-US" altLang="zh-CN"/>
              <a:t>Increment (</a:t>
            </a:r>
            <a:r>
              <a:rPr lang="zh-CN" altLang="en-US"/>
              <a:t>增量发布</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69</a:t>
            </a:fld>
            <a:endParaRPr lang="zh-CN" altLang="en-US"/>
          </a:p>
        </p:txBody>
      </p:sp>
    </p:spTree>
    <p:extLst>
      <p:ext uri="{BB962C8B-B14F-4D97-AF65-F5344CB8AC3E}">
        <p14:creationId xmlns:p14="http://schemas.microsoft.com/office/powerpoint/2010/main" val="214662880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delivered in usable chunks; </a:t>
            </a:r>
          </a:p>
          <a:p>
            <a:pPr>
              <a:buNone/>
            </a:pPr>
            <a:r>
              <a:rPr lang="en-US" altLang="zh-CN" sz="1200">
                <a:solidFill>
                  <a:sysClr val="windowText" lastClr="000000"/>
                </a:solidFill>
              </a:rPr>
              <a:t>each increment adds functionality</a:t>
            </a:r>
          </a:p>
          <a:p>
            <a:pPr>
              <a:buNone/>
            </a:pPr>
            <a:r>
              <a:rPr lang="zh-CN" altLang="en-US" sz="1200">
                <a:solidFill>
                  <a:sysClr val="windowText" lastClr="000000"/>
                </a:solidFill>
              </a:rPr>
              <a:t>迭代 </a:t>
            </a:r>
            <a:r>
              <a:rPr lang="en-US" altLang="zh-CN" sz="1200">
                <a:solidFill>
                  <a:sysClr val="windowText" lastClr="000000"/>
                </a:solidFill>
              </a:rPr>
              <a:t>(Iteration) </a:t>
            </a:r>
            <a:r>
              <a:rPr lang="zh-CN" altLang="en-US" sz="1200">
                <a:solidFill>
                  <a:sysClr val="windowText" lastClr="000000"/>
                </a:solidFill>
              </a:rPr>
              <a:t>关注的是 “重复” </a:t>
            </a:r>
            <a:r>
              <a:rPr lang="en-US" altLang="zh-CN" sz="1200">
                <a:solidFill>
                  <a:sysClr val="windowText" lastClr="000000"/>
                </a:solidFill>
              </a:rPr>
              <a:t>(Refining / </a:t>
            </a:r>
            <a:r>
              <a:rPr lang="zh-CN" altLang="en-US" sz="1200">
                <a:solidFill>
                  <a:sysClr val="windowText" lastClr="000000"/>
                </a:solidFill>
              </a:rPr>
              <a:t>完善</a:t>
            </a:r>
            <a:r>
              <a:rPr lang="en-US" altLang="zh-CN" sz="1200">
                <a:solidFill>
                  <a:sysClr val="windowText" lastClr="000000"/>
                </a:solidFill>
              </a:rPr>
              <a:t>)</a:t>
            </a:r>
          </a:p>
          <a:p>
            <a:pPr>
              <a:buNone/>
            </a:pPr>
            <a:r>
              <a:rPr lang="zh-CN" altLang="en-US" sz="1200">
                <a:solidFill>
                  <a:sysClr val="windowText" lastClr="000000"/>
                </a:solidFill>
              </a:rPr>
              <a:t>增量 </a:t>
            </a:r>
            <a:r>
              <a:rPr lang="en-US" altLang="zh-CN" sz="1200">
                <a:solidFill>
                  <a:sysClr val="windowText" lastClr="000000"/>
                </a:solidFill>
              </a:rPr>
              <a:t>(Increment) </a:t>
            </a:r>
            <a:r>
              <a:rPr lang="zh-CN" altLang="en-US" sz="1200">
                <a:solidFill>
                  <a:sysClr val="windowText" lastClr="000000"/>
                </a:solidFill>
              </a:rPr>
              <a:t>关注的是 “增加” </a:t>
            </a:r>
            <a:r>
              <a:rPr lang="en-US" altLang="zh-CN" sz="1200">
                <a:solidFill>
                  <a:sysClr val="windowText" lastClr="000000"/>
                </a:solidFill>
              </a:rPr>
              <a:t>(Adding / </a:t>
            </a:r>
            <a:r>
              <a:rPr lang="zh-CN" altLang="en-US" sz="1200">
                <a:solidFill>
                  <a:sysClr val="windowText" lastClr="000000"/>
                </a:solidFill>
              </a:rPr>
              <a:t>扩充</a:t>
            </a:r>
            <a:r>
              <a:rPr lang="en-US" altLang="zh-CN" sz="1200">
                <a:solidFill>
                  <a:sysClr val="windowText" lastClr="000000"/>
                </a:solidFill>
              </a:rPr>
              <a:t>)</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70</a:t>
            </a:fld>
            <a:endParaRPr lang="zh-CN" altLang="en-US"/>
          </a:p>
        </p:txBody>
      </p:sp>
    </p:spTree>
    <p:extLst>
      <p:ext uri="{BB962C8B-B14F-4D97-AF65-F5344CB8AC3E}">
        <p14:creationId xmlns:p14="http://schemas.microsoft.com/office/powerpoint/2010/main" val="2162014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过程：边建造边边验收，不断完善功能</a:t>
            </a:r>
            <a:endParaRPr lang="en-US" altLang="zh-CN"/>
          </a:p>
          <a:p>
            <a:r>
              <a:rPr lang="zh-CN" altLang="en-US"/>
              <a:t>预测只交付</a:t>
            </a:r>
            <a:r>
              <a:rPr lang="en-US" altLang="zh-CN"/>
              <a:t>1</a:t>
            </a:r>
            <a:r>
              <a:rPr lang="zh-CN" altLang="en-US"/>
              <a:t>次</a:t>
            </a:r>
            <a:endParaRPr lang="en-US" altLang="zh-CN"/>
          </a:p>
          <a:p>
            <a:r>
              <a:rPr lang="zh-CN" altLang="en-US"/>
              <a:t>增量多次交付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19056591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74</a:t>
            </a:fld>
            <a:endParaRPr lang="zh-CN" altLang="en-US"/>
          </a:p>
        </p:txBody>
      </p:sp>
    </p:spTree>
    <p:extLst>
      <p:ext uri="{BB962C8B-B14F-4D97-AF65-F5344CB8AC3E}">
        <p14:creationId xmlns:p14="http://schemas.microsoft.com/office/powerpoint/2010/main" val="20516972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936F-FB30-1E32-5928-A0AF3C26763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0894088-5CF2-68B5-C031-2AEC5A32A40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A5EACD-0126-28A1-2BDE-E8FEE892019F}"/>
              </a:ext>
            </a:extLst>
          </p:cNvPr>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a:extLst>
              <a:ext uri="{FF2B5EF4-FFF2-40B4-BE49-F238E27FC236}">
                <a16:creationId xmlns:a16="http://schemas.microsoft.com/office/drawing/2014/main" id="{6B107F17-7C89-E23F-E4FA-F61D88F3A50D}"/>
              </a:ext>
            </a:extLst>
          </p:cNvPr>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14086452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EA14E-A758-4E38-802E-B6A49FFDC57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A1278C-3A9C-451F-2EAA-0AE023E32C7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89956AD-FEEA-351F-48F0-0456E63B7C3F}"/>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23177734-CFD7-FD60-FF11-D08796F274DD}"/>
              </a:ext>
            </a:extLst>
          </p:cNvPr>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6118320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26E0D-50E2-FE18-C554-0EE9B9388FA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F3E1DAA-F7B8-80CB-7D87-F5D1EA0D0B8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A150F8C3-AF3F-EDB2-4850-8020DD58A1AE}"/>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AE9D9896-EDD6-0EF5-BB7B-C730D19FDFEA}"/>
              </a:ext>
            </a:extLst>
          </p:cNvPr>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13922541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4332348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特性（</a:t>
            </a:r>
            <a:r>
              <a:rPr lang="en-US" altLang="zh-CN"/>
              <a:t>Feature</a:t>
            </a:r>
            <a:r>
              <a:rPr lang="zh-CN" altLang="en-US"/>
              <a:t>）是“做什么”（业务功能单元）</a:t>
            </a:r>
          </a:p>
          <a:p>
            <a:r>
              <a:rPr lang="zh-CN" altLang="en-US"/>
              <a:t>增量（</a:t>
            </a:r>
            <a:r>
              <a:rPr lang="en-US" altLang="zh-CN"/>
              <a:t>Increment</a:t>
            </a:r>
            <a:r>
              <a:rPr lang="zh-CN" altLang="en-US"/>
              <a:t>）是“交付了什么”（可运行的软件版本）</a:t>
            </a:r>
            <a:endParaRPr lang="en-US" altLang="zh-CN"/>
          </a:p>
          <a:p>
            <a:r>
              <a:rPr lang="zh-CN" altLang="en-US" sz="1200" b="0" i="0" kern="1200">
                <a:solidFill>
                  <a:schemeClr val="tx1"/>
                </a:solidFill>
                <a:effectLst/>
                <a:latin typeface="+mn-lt"/>
                <a:ea typeface="+mn-ea"/>
                <a:cs typeface="+mn-cs"/>
              </a:rPr>
              <a:t>特性关注的是局部功能的完成。</a:t>
            </a:r>
          </a:p>
          <a:p>
            <a:r>
              <a:rPr lang="zh-CN" altLang="en-US" sz="1200" b="0" i="0" kern="1200">
                <a:solidFill>
                  <a:schemeClr val="tx1"/>
                </a:solidFill>
                <a:effectLst/>
                <a:latin typeface="+mn-lt"/>
                <a:ea typeface="+mn-ea"/>
                <a:cs typeface="+mn-cs"/>
              </a:rPr>
              <a:t>增量关注的是整体系统的可用性和稳定性。</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342828993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Empirical Process Control" (</a:t>
            </a:r>
            <a:r>
              <a:rPr lang="zh-CN" altLang="en-US"/>
              <a:t>经验过程控制</a:t>
            </a:r>
            <a:r>
              <a:rPr lang="en-US" altLang="zh-CN"/>
              <a:t>)</a:t>
            </a:r>
          </a:p>
          <a:p>
            <a:r>
              <a:rPr lang="en-US" altLang="zh-CN"/>
              <a:t>Technical Excellence" (</a:t>
            </a:r>
            <a:r>
              <a:rPr lang="zh-CN" altLang="en-US"/>
              <a:t>技术卓越</a:t>
            </a:r>
            <a:r>
              <a:rPr lang="en-US" altLang="zh-CN"/>
              <a:t>)</a:t>
            </a:r>
          </a:p>
          <a:p>
            <a:r>
              <a:rPr lang="en-US" altLang="zh-CN"/>
              <a:t>People over Processes" (</a:t>
            </a:r>
            <a:r>
              <a:rPr lang="zh-CN" altLang="en-US"/>
              <a:t>以人为本，胜过流程</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24596511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挑肥拣瘦”式的敏捷，只想要敏捷的好处（快、灵活），却不想承担敏捷的纪律（透明、检视、适应）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158028087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纪委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19329546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思想引导</a:t>
            </a:r>
            <a:endParaRPr lang="en-US" altLang="zh-CN"/>
          </a:p>
          <a:p>
            <a:r>
              <a:rPr lang="zh-CN" altLang="en-US"/>
              <a:t>道不同不相为谋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1759880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25708384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不拆台</a:t>
            </a:r>
            <a:endParaRPr lang="en-US" altLang="zh-CN"/>
          </a:p>
          <a:p>
            <a:r>
              <a:rPr lang="zh-CN" altLang="en-US"/>
              <a:t>开发：透明。中国人，报喜不报忧</a:t>
            </a:r>
            <a:endParaRPr lang="en-US" altLang="zh-CN"/>
          </a:p>
          <a:p>
            <a:r>
              <a:rPr lang="zh-CN" altLang="en-US"/>
              <a:t>相信团队的每一个人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26972255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40245919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DoD</a:t>
            </a:r>
            <a:r>
              <a:rPr lang="zh-CN" altLang="en-US"/>
              <a:t>：完成定义，是一个共享的、明确的清单，列出了某项工作（如用户故事、功能模块）要达到什么标准才算“真正做完”</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34101791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Developing</a:t>
            </a:r>
            <a:r>
              <a:rPr lang="zh-CN" altLang="en-US"/>
              <a:t>：有发展和变化的意思。不单单是制定</a:t>
            </a:r>
            <a:endParaRPr lang="en-US" altLang="zh-CN"/>
          </a:p>
          <a:p>
            <a:r>
              <a:rPr lang="zh-CN" altLang="en-US"/>
              <a:t>自己理解产品目标，转化为</a:t>
            </a:r>
            <a:r>
              <a:rPr lang="en-US" altLang="zh-CN"/>
              <a:t>backlog</a:t>
            </a:r>
            <a:r>
              <a:rPr lang="zh-CN" altLang="en-US"/>
              <a:t>并保证团队能理解</a:t>
            </a:r>
            <a:endParaRPr lang="en-US" altLang="zh-CN"/>
          </a:p>
          <a:p>
            <a:r>
              <a:rPr lang="en-US" altLang="zh-CN"/>
              <a:t>123</a:t>
            </a:r>
            <a:r>
              <a:rPr lang="zh-CN" altLang="en-US"/>
              <a:t>是动作，是因</a:t>
            </a:r>
            <a:endParaRPr lang="en-US" altLang="zh-CN"/>
          </a:p>
          <a:p>
            <a:r>
              <a:rPr lang="en-US" altLang="zh-CN"/>
              <a:t>4</a:t>
            </a:r>
            <a:r>
              <a:rPr lang="zh-CN" altLang="en-US"/>
              <a:t>是果。做了不一定有结果。创建了不一定别人能理解。。。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4290411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 </a:t>
            </a:r>
            <a:r>
              <a:rPr lang="zh-CN" altLang="en-US"/>
              <a:t>是为“项目结果”负责的管家；敏捷教练是为“团队能力”负责的导师。好的组织需要两者，但不能让他们在同一个场景下用错误的身份说话</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26844009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88985-1BFE-1E38-7FE1-978FF49EAAE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8A39D2A-C2CF-DF6C-8862-63F6EB8A80B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7D88D0F-FA79-F9C6-A8CE-BEAB23EBF847}"/>
              </a:ext>
            </a:extLst>
          </p:cNvPr>
          <p:cNvSpPr>
            <a:spLocks noGrp="1"/>
          </p:cNvSpPr>
          <p:nvPr>
            <p:ph type="body" idx="1"/>
          </p:nvPr>
        </p:nvSpPr>
        <p:spPr/>
        <p:txBody>
          <a:bodyPr/>
          <a:lstStyle/>
          <a:p>
            <a:r>
              <a:rPr lang="en-US" altLang="zh-CN"/>
              <a:t>1. Why not mentor</a:t>
            </a:r>
            <a:r>
              <a:rPr lang="zh-CN" altLang="en-US"/>
              <a:t>？</a:t>
            </a:r>
            <a:endParaRPr lang="en-US" altLang="zh-CN"/>
          </a:p>
          <a:p>
            <a:r>
              <a:rPr lang="en-US" altLang="zh-CN"/>
              <a:t>4. Causing </a:t>
            </a:r>
            <a:r>
              <a:rPr lang="zh-CN" altLang="en-US"/>
              <a:t>：不是每次都亲历亲为，而是促使移除障碍的完成；完美地体现 影响力 </a:t>
            </a:r>
            <a:r>
              <a:rPr lang="en-US" altLang="zh-CN"/>
              <a:t>(Influence) </a:t>
            </a:r>
            <a:r>
              <a:rPr lang="zh-CN" altLang="en-US"/>
              <a:t>和 推动力 </a:t>
            </a:r>
            <a:r>
              <a:rPr lang="en-US" altLang="zh-CN"/>
              <a:t>(Facilitation)</a:t>
            </a:r>
            <a:r>
              <a:rPr lang="zh-CN" altLang="en-US"/>
              <a:t>，而不仅仅是 执行力 </a:t>
            </a:r>
            <a:r>
              <a:rPr lang="en-US" altLang="zh-CN"/>
              <a:t>(Execution)</a:t>
            </a:r>
            <a:r>
              <a:rPr lang="zh-CN" altLang="en-US"/>
              <a:t>。</a:t>
            </a:r>
            <a:endParaRPr lang="en-US" altLang="zh-CN"/>
          </a:p>
          <a:p>
            <a:r>
              <a:rPr lang="en-US" altLang="zh-CN"/>
              <a:t>2.</a:t>
            </a:r>
            <a:r>
              <a:rPr lang="zh-CN" altLang="en-US"/>
              <a:t>目标与方向</a:t>
            </a:r>
            <a:r>
              <a:rPr lang="en-US" altLang="zh-CN"/>
              <a:t>-</a:t>
            </a:r>
            <a:r>
              <a:rPr lang="zh-CN" altLang="en-US"/>
              <a:t>做什么</a:t>
            </a:r>
            <a:endParaRPr lang="en-US" altLang="zh-CN"/>
          </a:p>
          <a:p>
            <a:r>
              <a:rPr lang="en-US" altLang="zh-CN"/>
              <a:t>4. </a:t>
            </a:r>
            <a:r>
              <a:rPr lang="zh-CN" altLang="en-US"/>
              <a:t>执行与环境</a:t>
            </a:r>
            <a:r>
              <a:rPr lang="en-US" altLang="zh-CN"/>
              <a:t>-</a:t>
            </a:r>
            <a:r>
              <a:rPr lang="zh-CN" altLang="en-US"/>
              <a:t>怎么做）</a:t>
            </a:r>
          </a:p>
        </p:txBody>
      </p:sp>
      <p:sp>
        <p:nvSpPr>
          <p:cNvPr id="4" name="灯片编号占位符 3">
            <a:extLst>
              <a:ext uri="{FF2B5EF4-FFF2-40B4-BE49-F238E27FC236}">
                <a16:creationId xmlns:a16="http://schemas.microsoft.com/office/drawing/2014/main" id="{62FD090C-9997-2C3A-68E9-CB4629DC3C1B}"/>
              </a:ext>
            </a:extLst>
          </p:cNvPr>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37615931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Enact</a:t>
            </a:r>
            <a:r>
              <a:rPr lang="zh-CN" altLang="en-US"/>
              <a:t>：</a:t>
            </a:r>
            <a:r>
              <a:rPr lang="en-US" altLang="zh-CN" err="1"/>
              <a:t>en</a:t>
            </a:r>
            <a:r>
              <a:rPr lang="en-US" altLang="zh-CN"/>
              <a:t>-act</a:t>
            </a:r>
            <a:r>
              <a:rPr lang="zh-CN" altLang="en-US"/>
              <a:t>，付诸实践”、“践行” 或 “将</a:t>
            </a:r>
            <a:r>
              <a:rPr lang="en-US" altLang="zh-CN"/>
              <a:t>……</a:t>
            </a:r>
            <a:r>
              <a:rPr lang="zh-CN" altLang="en-US"/>
              <a:t>转化为实际行动，强调执行力</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34008666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endParaRPr lang="en-US" altLang="zh-CN"/>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106</a:t>
            </a:fld>
            <a:endParaRPr lang="zh-CN" altLang="en-US"/>
          </a:p>
        </p:txBody>
      </p:sp>
    </p:spTree>
    <p:extLst>
      <p:ext uri="{BB962C8B-B14F-4D97-AF65-F5344CB8AC3E}">
        <p14:creationId xmlns:p14="http://schemas.microsoft.com/office/powerpoint/2010/main" val="207917313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The Sprint is a container for all other events.</a:t>
            </a:r>
            <a:r>
              <a:rPr lang="zh-CN" altLang="en-US"/>
              <a:t>；冲刺类型学期</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Scrum </a:t>
            </a:r>
            <a:r>
              <a:rPr lang="zh-CN" altLang="en-US"/>
              <a:t>框架（包括 </a:t>
            </a:r>
            <a:r>
              <a:rPr lang="en-US" altLang="zh-CN"/>
              <a:t>Sprints</a:t>
            </a:r>
            <a:r>
              <a:rPr lang="zh-CN" altLang="en-US"/>
              <a:t>）只是提供了一个容器和机制。它创造了一个环境，让“可预测性”变得可能。但是否真的实现了可预测性，还取决于团队是否真正有效地进行了“检视（</a:t>
            </a:r>
            <a:r>
              <a:rPr lang="en-US" altLang="zh-CN"/>
              <a:t>inspection</a:t>
            </a:r>
            <a:r>
              <a:rPr lang="zh-CN" altLang="en-US"/>
              <a:t>）”和“适应（</a:t>
            </a:r>
            <a:r>
              <a:rPr lang="en-US" altLang="zh-CN"/>
              <a:t>adaptation</a:t>
            </a:r>
            <a:r>
              <a:rPr lang="zh-CN" altLang="en-US"/>
              <a:t>）</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err="1"/>
              <a:t>Planing</a:t>
            </a:r>
            <a:r>
              <a:rPr lang="zh-CN" altLang="en-US"/>
              <a:t>：</a:t>
            </a:r>
            <a:r>
              <a:rPr lang="en-US" altLang="zh-CN"/>
              <a:t>eight hours for a one-month Sprint</a:t>
            </a:r>
            <a:r>
              <a:rPr lang="zh-CN" altLang="en-US"/>
              <a:t>；</a:t>
            </a:r>
            <a:r>
              <a:rPr lang="en-US" altLang="zh-CN"/>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Daily</a:t>
            </a:r>
            <a:r>
              <a:rPr lang="zh-CN" altLang="en-US"/>
              <a:t>：</a:t>
            </a:r>
            <a:r>
              <a:rPr lang="en-US" altLang="zh-CN"/>
              <a:t>15min</a:t>
            </a:r>
            <a:r>
              <a:rPr lang="zh-CN" altLang="en-US"/>
              <a:t>；检查进度</a:t>
            </a:r>
            <a:r>
              <a:rPr lang="en-US" altLang="zh-CN" sz="1200" b="0" i="0" kern="1200">
                <a:solidFill>
                  <a:schemeClr val="tx1"/>
                </a:solidFill>
                <a:effectLst/>
                <a:latin typeface="+mn-lt"/>
                <a:ea typeface="+mn-ea"/>
                <a:cs typeface="+mn-cs"/>
              </a:rPr>
              <a:t>inspect </a:t>
            </a:r>
            <a:r>
              <a:rPr lang="zh-CN" altLang="en-US" sz="1200" b="0" i="0" kern="1200">
                <a:solidFill>
                  <a:schemeClr val="tx1"/>
                </a:solidFill>
                <a:effectLst/>
                <a:latin typeface="+mn-lt"/>
                <a:ea typeface="+mn-ea"/>
                <a:cs typeface="+mn-cs"/>
              </a:rPr>
              <a:t>，</a:t>
            </a:r>
            <a:r>
              <a:rPr lang="zh-CN" altLang="en-US"/>
              <a:t>同步信息：完成什么。计划完成什么；什么障碍；但是不解决问题；团队成员都可以主持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a:solidFill>
                  <a:schemeClr val="tx1"/>
                </a:solidFill>
                <a:effectLst/>
                <a:latin typeface="+mn-lt"/>
                <a:ea typeface="+mn-ea"/>
                <a:cs typeface="+mn-cs"/>
              </a:rPr>
              <a:t>冲刺评审：对于一个月的冲刺，时间限制在最多四小时，</a:t>
            </a:r>
            <a:r>
              <a:rPr lang="en-US" altLang="zh-CN" sz="1200" b="0" i="0" kern="1200">
                <a:solidFill>
                  <a:schemeClr val="tx1"/>
                </a:solidFill>
                <a:effectLst/>
                <a:latin typeface="+mn-lt"/>
                <a:ea typeface="+mn-ea"/>
                <a:cs typeface="+mn-cs"/>
              </a:rPr>
              <a:t>1h/week</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12634839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冲刺目标不可动摇、</a:t>
            </a:r>
            <a:endParaRPr lang="en-US" altLang="zh-CN"/>
          </a:p>
          <a:p>
            <a:r>
              <a:rPr lang="zh-CN" altLang="en-US"/>
              <a:t>可以调整实现方法和途径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32249271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8h</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38061129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每日站会能够改善沟通、识别障碍、促进快速决策，从而消除对其他会议的需求</a:t>
            </a:r>
            <a:endParaRPr lang="en-US" altLang="zh-CN"/>
          </a:p>
          <a:p>
            <a:r>
              <a:rPr lang="zh-CN" altLang="en-US"/>
              <a:t>随时见面</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20074595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人 </a:t>
            </a:r>
            <a:r>
              <a:rPr lang="en-US" altLang="zh-CN"/>
              <a:t>(People)</a:t>
            </a:r>
            <a:r>
              <a:rPr lang="zh-CN" altLang="en-US"/>
              <a:t>：团队成员之间的协作如何？沟通是否顺畅？士气如何？</a:t>
            </a:r>
          </a:p>
          <a:p>
            <a:r>
              <a:rPr lang="zh-CN" altLang="en-US"/>
              <a:t>流程 </a:t>
            </a:r>
            <a:r>
              <a:rPr lang="en-US" altLang="zh-CN"/>
              <a:t>(Process)</a:t>
            </a:r>
            <a:r>
              <a:rPr lang="zh-CN" altLang="en-US"/>
              <a:t>：工作流程是否高效？工具是否顺手？每日站会是否有价值？</a:t>
            </a:r>
          </a:p>
          <a:p>
            <a:r>
              <a:rPr lang="zh-CN" altLang="en-US"/>
              <a:t>产品 </a:t>
            </a:r>
            <a:r>
              <a:rPr lang="en-US" altLang="zh-CN"/>
              <a:t>(Product)</a:t>
            </a:r>
            <a:r>
              <a:rPr lang="zh-CN" altLang="en-US"/>
              <a:t>：交付的增量质量如何？是否满足了 </a:t>
            </a:r>
            <a:r>
              <a:rPr lang="en-US" altLang="zh-CN"/>
              <a:t>DoD</a:t>
            </a:r>
            <a:r>
              <a:rPr lang="zh-CN" altLang="en-US"/>
              <a:t>（完成定义）？用户反馈如何？</a:t>
            </a:r>
          </a:p>
          <a:p>
            <a:r>
              <a:rPr lang="zh-CN" altLang="en-US"/>
              <a:t>关系 </a:t>
            </a:r>
            <a:r>
              <a:rPr lang="en-US" altLang="zh-CN"/>
              <a:t>(Relationships)</a:t>
            </a:r>
            <a:r>
              <a:rPr lang="zh-CN" altLang="en-US"/>
              <a:t>：团队与利益相关者的互动如何？</a:t>
            </a:r>
            <a:endParaRPr lang="en-US" altLang="zh-CN"/>
          </a:p>
          <a:p>
            <a:r>
              <a:rPr lang="zh-CN" altLang="en-US"/>
              <a:t>确定未来的调整；反馈 </a:t>
            </a:r>
            <a:r>
              <a:rPr lang="en-US" altLang="zh-CN"/>
              <a:t>feedback</a:t>
            </a:r>
          </a:p>
          <a:p>
            <a:endParaRPr lang="en-US" altLang="zh-CN"/>
          </a:p>
          <a:p>
            <a:r>
              <a:rPr lang="zh-CN" altLang="en-US"/>
              <a:t>团队向关键干系人展示工作成果，并共同探讨向产品目标迈进的进展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111</a:t>
            </a:fld>
            <a:endParaRPr lang="zh-CN" altLang="en-US"/>
          </a:p>
        </p:txBody>
      </p:sp>
    </p:spTree>
    <p:extLst>
      <p:ext uri="{BB962C8B-B14F-4D97-AF65-F5344CB8AC3E}">
        <p14:creationId xmlns:p14="http://schemas.microsoft.com/office/powerpoint/2010/main" val="244521634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Concludes: </a:t>
            </a:r>
            <a:r>
              <a:rPr lang="zh-CN" altLang="en-US"/>
              <a:t>表示通过一个正式的仪式、活动或最后的动作，使整个过程完整地完成</a:t>
            </a:r>
            <a:endParaRPr lang="en-US" altLang="zh-CN"/>
          </a:p>
          <a:p>
            <a:r>
              <a:rPr lang="zh-CN" altLang="en-US"/>
              <a:t>总结 </a:t>
            </a:r>
            <a:r>
              <a:rPr lang="en-US" altLang="zh-CN"/>
              <a:t>summary</a:t>
            </a:r>
          </a:p>
          <a:p>
            <a:r>
              <a:rPr lang="zh-CN" altLang="en-US"/>
              <a:t>规划提升质量与效能的方法</a:t>
            </a:r>
            <a:endParaRPr lang="en-US" altLang="zh-CN"/>
          </a:p>
          <a:p>
            <a:r>
              <a:rPr lang="zh-CN" altLang="en-US"/>
              <a:t>监视 识别 讨论 规划 行动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112</a:t>
            </a:fld>
            <a:endParaRPr lang="zh-CN" altLang="en-US"/>
          </a:p>
        </p:txBody>
      </p:sp>
    </p:spTree>
    <p:extLst>
      <p:ext uri="{BB962C8B-B14F-4D97-AF65-F5344CB8AC3E}">
        <p14:creationId xmlns:p14="http://schemas.microsoft.com/office/powerpoint/2010/main" val="297639034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Product Backlog</a:t>
            </a:r>
            <a:r>
              <a:rPr lang="zh-CN" altLang="en-US"/>
              <a:t>：有序列表；每</a:t>
            </a:r>
            <a:r>
              <a:rPr lang="en-US" altLang="zh-CN"/>
              <a:t>2</a:t>
            </a:r>
            <a:r>
              <a:rPr lang="zh-CN" altLang="en-US"/>
              <a:t>周选最重要的几项（</a:t>
            </a:r>
            <a:r>
              <a:rPr lang="en-US" altLang="zh-CN"/>
              <a:t>Sprint Goal</a:t>
            </a:r>
            <a:r>
              <a:rPr lang="zh-CN" altLang="en-US"/>
              <a:t>），再拆成每天任务 </a:t>
            </a:r>
            <a:r>
              <a:rPr lang="en-US" altLang="zh-CN"/>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140502225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CA629-3CF6-461A-D469-DF58E3C0E1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48BFEBA-21E3-AF77-3F95-A2CE08AF0781}"/>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9A6EB3B-E901-E91D-802F-D699AEECE111}"/>
              </a:ext>
            </a:extLst>
          </p:cNvPr>
          <p:cNvSpPr>
            <a:spLocks noGrp="1"/>
          </p:cNvSpPr>
          <p:nvPr>
            <p:ph type="body" idx="1"/>
          </p:nvPr>
        </p:nvSpPr>
        <p:spPr/>
        <p:txBody>
          <a:bodyPr/>
          <a:lstStyle/>
          <a:p>
            <a:r>
              <a:rPr lang="en-US" altLang="zh-CN"/>
              <a:t>Product Backlog </a:t>
            </a:r>
            <a:r>
              <a:rPr lang="zh-CN" altLang="en-US"/>
              <a:t>是一个由 </a:t>
            </a:r>
            <a:r>
              <a:rPr lang="en-US" altLang="zh-CN"/>
              <a:t>PO </a:t>
            </a:r>
            <a:r>
              <a:rPr lang="zh-CN" altLang="en-US"/>
              <a:t>负责排序和内容、由 </a:t>
            </a:r>
            <a:r>
              <a:rPr lang="en-US" altLang="zh-CN"/>
              <a:t>Developers </a:t>
            </a:r>
            <a:r>
              <a:rPr lang="zh-CN" altLang="en-US"/>
              <a:t>负责估算和技术实现的、动态演进的“唯一工作清单”，它不仅包含功能，还包含修复和技术改进，且越靠近顶部的条目越清晰、越小。</a:t>
            </a:r>
            <a:endParaRPr lang="en-US" altLang="zh-CN"/>
          </a:p>
          <a:p>
            <a:r>
              <a:rPr lang="zh-CN" altLang="en-US"/>
              <a:t>所有条目最终服务于 </a:t>
            </a:r>
            <a:r>
              <a:rPr lang="en-US" altLang="zh-CN"/>
              <a:t>Product Goal</a:t>
            </a:r>
            <a:r>
              <a:rPr lang="zh-CN" altLang="en-US"/>
              <a:t>（产品目标）</a:t>
            </a:r>
            <a:endParaRPr lang="en-US" altLang="zh-CN"/>
          </a:p>
          <a:p>
            <a:r>
              <a:rPr lang="zh-CN" altLang="en-US"/>
              <a:t>产品待办列表是一个随着认知深入而逐渐清晰（涌现）、且经过优先级排序的列表：动态和方向</a:t>
            </a:r>
            <a:endParaRPr lang="en-US" altLang="zh-CN"/>
          </a:p>
          <a:p>
            <a:r>
              <a:rPr lang="zh-CN" altLang="en-US"/>
              <a:t>价值清晰（</a:t>
            </a:r>
            <a:r>
              <a:rPr lang="en-US" altLang="zh-CN"/>
              <a:t>PO </a:t>
            </a:r>
            <a:r>
              <a:rPr lang="zh-CN" altLang="en-US"/>
              <a:t>确认）</a:t>
            </a:r>
          </a:p>
          <a:p>
            <a:r>
              <a:rPr lang="zh-CN" altLang="en-US"/>
              <a:t>大小合适（</a:t>
            </a:r>
            <a:r>
              <a:rPr lang="en-US" altLang="zh-CN"/>
              <a:t>Dev </a:t>
            </a:r>
            <a:r>
              <a:rPr lang="zh-CN" altLang="en-US"/>
              <a:t>确认能在一个 </a:t>
            </a:r>
            <a:r>
              <a:rPr lang="en-US" altLang="zh-CN"/>
              <a:t>Sprint </a:t>
            </a:r>
            <a:r>
              <a:rPr lang="zh-CN" altLang="en-US"/>
              <a:t>做完）</a:t>
            </a:r>
          </a:p>
          <a:p>
            <a:r>
              <a:rPr lang="zh-CN" altLang="en-US"/>
              <a:t>方案可行（团队达成共识）</a:t>
            </a:r>
            <a:endParaRPr lang="en-US" altLang="zh-CN"/>
          </a:p>
          <a:p>
            <a:endParaRPr lang="en-US" altLang="zh-CN"/>
          </a:p>
          <a:p>
            <a:r>
              <a:rPr lang="en-US" altLang="zh-CN"/>
              <a:t>Single</a:t>
            </a:r>
            <a:r>
              <a:rPr lang="zh-CN" altLang="en-US"/>
              <a:t>：单一的，唯一的，从数量上限制了团队任务的来源；</a:t>
            </a:r>
            <a:r>
              <a:rPr lang="en-US" altLang="zh-CN"/>
              <a:t>unique</a:t>
            </a:r>
            <a:r>
              <a:rPr lang="zh-CN" altLang="en-US"/>
              <a:t>的性质唯一、独特。</a:t>
            </a:r>
          </a:p>
        </p:txBody>
      </p:sp>
      <p:sp>
        <p:nvSpPr>
          <p:cNvPr id="4" name="灯片编号占位符 3">
            <a:extLst>
              <a:ext uri="{FF2B5EF4-FFF2-40B4-BE49-F238E27FC236}">
                <a16:creationId xmlns:a16="http://schemas.microsoft.com/office/drawing/2014/main" id="{B9710D17-F882-5BCE-1F43-D732D75F7F5F}"/>
              </a:ext>
            </a:extLst>
          </p:cNvPr>
          <p:cNvSpPr>
            <a:spLocks noGrp="1"/>
          </p:cNvSpPr>
          <p:nvPr>
            <p:ph type="sldNum" sz="quarter" idx="5"/>
          </p:nvPr>
        </p:nvSpPr>
        <p:spPr/>
        <p:txBody>
          <a:bodyPr/>
          <a:lstStyle/>
          <a:p>
            <a:fld id="{6D27E3F6-C3AC-4131-BD60-F31F1EE091B2}" type="slidenum">
              <a:rPr lang="zh-CN" altLang="en-US" smtClean="0"/>
              <a:t>114</a:t>
            </a:fld>
            <a:endParaRPr lang="zh-CN" altLang="en-US"/>
          </a:p>
        </p:txBody>
      </p:sp>
    </p:spTree>
    <p:extLst>
      <p:ext uri="{BB962C8B-B14F-4D97-AF65-F5344CB8AC3E}">
        <p14:creationId xmlns:p14="http://schemas.microsoft.com/office/powerpoint/2010/main" val="387382725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E5908-DDD1-0DCC-4EA2-F3B7B1E07B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E8C31A-EA7B-FB61-20A4-30B92129806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B364ADE-8AA9-70CC-8EB2-0D1254F758A5}"/>
              </a:ext>
            </a:extLst>
          </p:cNvPr>
          <p:cNvSpPr>
            <a:spLocks noGrp="1"/>
          </p:cNvSpPr>
          <p:nvPr>
            <p:ph type="body" idx="1"/>
          </p:nvPr>
        </p:nvSpPr>
        <p:spPr/>
        <p:txBody>
          <a:bodyPr/>
          <a:lstStyle/>
          <a:p>
            <a:r>
              <a:rPr lang="zh-CN" altLang="en-US"/>
              <a:t>不要为了忙碌而忙碌，要为了达成目标而协同作战</a:t>
            </a:r>
          </a:p>
        </p:txBody>
      </p:sp>
      <p:sp>
        <p:nvSpPr>
          <p:cNvPr id="4" name="灯片编号占位符 3">
            <a:extLst>
              <a:ext uri="{FF2B5EF4-FFF2-40B4-BE49-F238E27FC236}">
                <a16:creationId xmlns:a16="http://schemas.microsoft.com/office/drawing/2014/main" id="{A61B287A-D843-D12A-67EC-6A7CFD9047A8}"/>
              </a:ext>
            </a:extLst>
          </p:cNvPr>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326452547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EBABC-F113-873B-78E9-0679F0AEB50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BDFB303-12DC-B404-5DB7-E139845FC9A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5F8045-BE10-DFB0-7E9F-50B62DEBCF8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不能破坏之前的提交</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 </a:t>
            </a:r>
            <a:r>
              <a:rPr lang="en-US" altLang="zh-CN"/>
              <a:t>DoD </a:t>
            </a:r>
            <a:r>
              <a:rPr lang="zh-CN" altLang="en-US"/>
              <a:t>：代码已审查 </a:t>
            </a:r>
            <a:r>
              <a:rPr lang="en-US" altLang="zh-CN"/>
              <a:t>+ </a:t>
            </a:r>
            <a:r>
              <a:rPr lang="zh-CN" altLang="en-US"/>
              <a:t>单元测试通过 </a:t>
            </a:r>
            <a:r>
              <a:rPr lang="en-US" altLang="zh-CN"/>
              <a:t>+ </a:t>
            </a:r>
            <a:r>
              <a:rPr lang="zh-CN" altLang="en-US"/>
              <a:t>文档已更新</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只有当这三件事全部做完时，该工作项才算“完成</a:t>
            </a:r>
          </a:p>
        </p:txBody>
      </p:sp>
      <p:sp>
        <p:nvSpPr>
          <p:cNvPr id="4" name="灯片编号占位符 3">
            <a:extLst>
              <a:ext uri="{FF2B5EF4-FFF2-40B4-BE49-F238E27FC236}">
                <a16:creationId xmlns:a16="http://schemas.microsoft.com/office/drawing/2014/main" id="{F51DC19F-48BE-EDAB-729A-0FA138E03E0B}"/>
              </a:ext>
            </a:extLst>
          </p:cNvPr>
          <p:cNvSpPr>
            <a:spLocks noGrp="1"/>
          </p:cNvSpPr>
          <p:nvPr>
            <p:ph type="sldNum" sz="quarter" idx="5"/>
          </p:nvPr>
        </p:nvSpPr>
        <p:spPr/>
        <p:txBody>
          <a:bodyPr/>
          <a:lstStyle/>
          <a:p>
            <a:fld id="{6D27E3F6-C3AC-4131-BD60-F31F1EE091B2}" type="slidenum">
              <a:rPr lang="zh-CN" altLang="en-US" smtClean="0"/>
              <a:t>116</a:t>
            </a:fld>
            <a:endParaRPr lang="zh-CN" altLang="en-US"/>
          </a:p>
        </p:txBody>
      </p:sp>
    </p:spTree>
    <p:extLst>
      <p:ext uri="{BB962C8B-B14F-4D97-AF65-F5344CB8AC3E}">
        <p14:creationId xmlns:p14="http://schemas.microsoft.com/office/powerpoint/2010/main" val="9247033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Backlog</a:t>
            </a:r>
            <a:r>
              <a:rPr lang="zh-CN" altLang="en-US"/>
              <a:t>（产品待办列表）</a:t>
            </a:r>
          </a:p>
          <a:p>
            <a:r>
              <a:rPr lang="zh-CN" altLang="en-US"/>
              <a:t>定义：所有未来可能做的功能、改进、修复的集合。</a:t>
            </a:r>
          </a:p>
          <a:p>
            <a:r>
              <a:rPr lang="zh-CN" altLang="en-US"/>
              <a:t>特点：</a:t>
            </a:r>
          </a:p>
          <a:p>
            <a:r>
              <a:rPr lang="zh-CN" altLang="en-US"/>
              <a:t>包含大量条目，有些甚至还没细化。</a:t>
            </a:r>
          </a:p>
          <a:p>
            <a:r>
              <a:rPr lang="zh-CN" altLang="en-US"/>
              <a:t>优先级不固定，随时可以调整或删除。</a:t>
            </a:r>
          </a:p>
          <a:p>
            <a:r>
              <a:rPr lang="zh-CN" altLang="en-US"/>
              <a:t>通常由产品经理</a:t>
            </a:r>
            <a:r>
              <a:rPr lang="en-US" altLang="zh-CN"/>
              <a:t>/PO </a:t>
            </a:r>
            <a:r>
              <a:rPr lang="zh-CN" altLang="en-US"/>
              <a:t>维护。</a:t>
            </a:r>
          </a:p>
          <a:p>
            <a:r>
              <a:rPr lang="zh-CN" altLang="en-US"/>
              <a:t>是“战略层”的任务池。</a:t>
            </a:r>
            <a:endParaRPr lang="en-US" altLang="zh-CN"/>
          </a:p>
          <a:p>
            <a:endParaRPr lang="en-US" altLang="zh-CN"/>
          </a:p>
          <a:p>
            <a:r>
              <a:rPr lang="en-US" altLang="zh-CN"/>
              <a:t>To Do</a:t>
            </a:r>
            <a:r>
              <a:rPr lang="zh-CN" altLang="en-US"/>
              <a:t>（待办列）</a:t>
            </a:r>
          </a:p>
          <a:p>
            <a:r>
              <a:rPr lang="zh-CN" altLang="en-US"/>
              <a:t>定义：从 </a:t>
            </a:r>
            <a:r>
              <a:rPr lang="en-US" altLang="zh-CN"/>
              <a:t>Backlog </a:t>
            </a:r>
            <a:r>
              <a:rPr lang="zh-CN" altLang="en-US"/>
              <a:t>中挑选出来、准备在下一个周期（如本周</a:t>
            </a:r>
            <a:r>
              <a:rPr lang="en-US" altLang="zh-CN"/>
              <a:t>/</a:t>
            </a:r>
            <a:r>
              <a:rPr lang="zh-CN" altLang="en-US"/>
              <a:t>本迭代）开始执行的任务。</a:t>
            </a:r>
          </a:p>
          <a:p>
            <a:r>
              <a:rPr lang="zh-CN" altLang="en-US"/>
              <a:t>特点：</a:t>
            </a:r>
          </a:p>
          <a:p>
            <a:r>
              <a:rPr lang="zh-CN" altLang="en-US"/>
              <a:t>已经经过筛选、估算、排期。</a:t>
            </a:r>
          </a:p>
          <a:p>
            <a:r>
              <a:rPr lang="zh-CN" altLang="en-US"/>
              <a:t>优先级明确，团队承诺要完成。</a:t>
            </a:r>
          </a:p>
          <a:p>
            <a:r>
              <a:rPr lang="zh-CN" altLang="en-US"/>
              <a:t>通常是当前工作流的起点。</a:t>
            </a:r>
          </a:p>
          <a:p>
            <a:r>
              <a:rPr lang="zh-CN" altLang="en-US"/>
              <a:t>属于“战术层”的执行计划。</a:t>
            </a:r>
          </a:p>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117</a:t>
            </a:fld>
            <a:endParaRPr lang="zh-CN" altLang="en-US"/>
          </a:p>
        </p:txBody>
      </p:sp>
    </p:spTree>
    <p:extLst>
      <p:ext uri="{BB962C8B-B14F-4D97-AF65-F5344CB8AC3E}">
        <p14:creationId xmlns:p14="http://schemas.microsoft.com/office/powerpoint/2010/main" val="30749254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125</a:t>
            </a:fld>
            <a:endParaRPr lang="zh-CN" altLang="en-US"/>
          </a:p>
        </p:txBody>
      </p:sp>
    </p:spTree>
    <p:extLst>
      <p:ext uri="{BB962C8B-B14F-4D97-AF65-F5344CB8AC3E}">
        <p14:creationId xmlns:p14="http://schemas.microsoft.com/office/powerpoint/2010/main" val="105075298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E01C0-3163-80A6-BF98-40BEC9A6811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1F50DF3-2548-EA71-3A72-EC7E3D2A6AA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56DFB58-8819-0B0A-94B1-45428DDA4536}"/>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a:p>
            <a:endParaRPr lang="en-US" altLang="zh-CN"/>
          </a:p>
          <a:p>
            <a:r>
              <a:rPr lang="zh-CN" altLang="en-US"/>
              <a:t>不能以口头约定代替规约</a:t>
            </a:r>
          </a:p>
        </p:txBody>
      </p:sp>
      <p:sp>
        <p:nvSpPr>
          <p:cNvPr id="4" name="灯片编号占位符 3">
            <a:extLst>
              <a:ext uri="{FF2B5EF4-FFF2-40B4-BE49-F238E27FC236}">
                <a16:creationId xmlns:a16="http://schemas.microsoft.com/office/drawing/2014/main" id="{51A2653C-B701-119A-961A-DEA23EE9F5EC}"/>
              </a:ext>
            </a:extLst>
          </p:cNvPr>
          <p:cNvSpPr>
            <a:spLocks noGrp="1"/>
          </p:cNvSpPr>
          <p:nvPr>
            <p:ph type="sldNum" sz="quarter" idx="5"/>
          </p:nvPr>
        </p:nvSpPr>
        <p:spPr/>
        <p:txBody>
          <a:bodyPr/>
          <a:lstStyle/>
          <a:p>
            <a:fld id="{6D27E3F6-C3AC-4131-BD60-F31F1EE091B2}" type="slidenum">
              <a:rPr lang="zh-CN" altLang="en-US" smtClean="0"/>
              <a:t>126</a:t>
            </a:fld>
            <a:endParaRPr lang="zh-CN" altLang="en-US"/>
          </a:p>
        </p:txBody>
      </p:sp>
    </p:spTree>
    <p:extLst>
      <p:ext uri="{BB962C8B-B14F-4D97-AF65-F5344CB8AC3E}">
        <p14:creationId xmlns:p14="http://schemas.microsoft.com/office/powerpoint/2010/main" val="385344208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127</a:t>
            </a:fld>
            <a:endParaRPr lang="zh-CN" altLang="en-US"/>
          </a:p>
        </p:txBody>
      </p:sp>
    </p:spTree>
    <p:extLst>
      <p:ext uri="{BB962C8B-B14F-4D97-AF65-F5344CB8AC3E}">
        <p14:creationId xmlns:p14="http://schemas.microsoft.com/office/powerpoint/2010/main" val="81476802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F40E-5872-D4D0-5495-B96A39CFF7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81A644-CDBD-18D0-8FE9-E5559F545A2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238FD18-78CE-057C-4BFE-F062B6CE1FDA}"/>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p:txBody>
      </p:sp>
      <p:sp>
        <p:nvSpPr>
          <p:cNvPr id="4" name="灯片编号占位符 3">
            <a:extLst>
              <a:ext uri="{FF2B5EF4-FFF2-40B4-BE49-F238E27FC236}">
                <a16:creationId xmlns:a16="http://schemas.microsoft.com/office/drawing/2014/main" id="{17B3BFD6-65D7-E9B4-248D-F8C40BEB3DA2}"/>
              </a:ext>
            </a:extLst>
          </p:cNvPr>
          <p:cNvSpPr>
            <a:spLocks noGrp="1"/>
          </p:cNvSpPr>
          <p:nvPr>
            <p:ph type="sldNum" sz="quarter" idx="5"/>
          </p:nvPr>
        </p:nvSpPr>
        <p:spPr/>
        <p:txBody>
          <a:bodyPr/>
          <a:lstStyle/>
          <a:p>
            <a:fld id="{6D27E3F6-C3AC-4131-BD60-F31F1EE091B2}" type="slidenum">
              <a:rPr lang="zh-CN" altLang="en-US" smtClean="0"/>
              <a:t>128</a:t>
            </a:fld>
            <a:endParaRPr lang="zh-CN" altLang="en-US"/>
          </a:p>
        </p:txBody>
      </p:sp>
    </p:spTree>
    <p:extLst>
      <p:ext uri="{BB962C8B-B14F-4D97-AF65-F5344CB8AC3E}">
        <p14:creationId xmlns:p14="http://schemas.microsoft.com/office/powerpoint/2010/main" val="403331678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E6B92-B118-698E-3EF0-858AD42C222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41F0C2E-49CA-0639-A6EE-F3CAD596EB0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8F5E2F0-0AF7-9B7F-5F08-2FC624AD0B03}"/>
              </a:ext>
            </a:extLst>
          </p:cNvPr>
          <p:cNvSpPr>
            <a:spLocks noGrp="1"/>
          </p:cNvSpPr>
          <p:nvPr>
            <p:ph type="body" idx="1"/>
          </p:nvPr>
        </p:nvSpPr>
        <p:spPr/>
        <p:txBody>
          <a:bodyPr/>
          <a:lstStyle/>
          <a:p>
            <a:r>
              <a:rPr lang="zh-CN" altLang="en-US"/>
              <a:t>不要只听“领导说”或“产品经理想”，要找到最终使用系统的人</a:t>
            </a:r>
            <a:endParaRPr lang="en-US" altLang="zh-CN"/>
          </a:p>
          <a:p>
            <a:r>
              <a:rPr lang="zh-CN" altLang="en-US"/>
              <a:t>把“决策者”当成“使用者”（如老板提需求，但一线员工不用）；</a:t>
            </a:r>
          </a:p>
          <a:p>
            <a:r>
              <a:rPr lang="zh-CN" altLang="en-US"/>
              <a:t>忽略间接用户（如管理员、运维人员、客户服务中心）；</a:t>
            </a:r>
          </a:p>
          <a:p>
            <a:r>
              <a:rPr lang="zh-CN" altLang="en-US"/>
              <a:t>混淆“付费客户”与“终端用户”（如企业采购系统，使用者是员工，付款的是公司）</a:t>
            </a:r>
          </a:p>
        </p:txBody>
      </p:sp>
      <p:sp>
        <p:nvSpPr>
          <p:cNvPr id="4" name="灯片编号占位符 3">
            <a:extLst>
              <a:ext uri="{FF2B5EF4-FFF2-40B4-BE49-F238E27FC236}">
                <a16:creationId xmlns:a16="http://schemas.microsoft.com/office/drawing/2014/main" id="{9A5928A9-75C2-F59B-88F8-5DAB04171DF3}"/>
              </a:ext>
            </a:extLst>
          </p:cNvPr>
          <p:cNvSpPr>
            <a:spLocks noGrp="1"/>
          </p:cNvSpPr>
          <p:nvPr>
            <p:ph type="sldNum" sz="quarter" idx="5"/>
          </p:nvPr>
        </p:nvSpPr>
        <p:spPr/>
        <p:txBody>
          <a:bodyPr/>
          <a:lstStyle/>
          <a:p>
            <a:fld id="{6D27E3F6-C3AC-4131-BD60-F31F1EE091B2}" type="slidenum">
              <a:rPr lang="zh-CN" altLang="en-US" smtClean="0"/>
              <a:t>129</a:t>
            </a:fld>
            <a:endParaRPr lang="zh-CN" altLang="en-US"/>
          </a:p>
        </p:txBody>
      </p:sp>
    </p:spTree>
    <p:extLst>
      <p:ext uri="{BB962C8B-B14F-4D97-AF65-F5344CB8AC3E}">
        <p14:creationId xmlns:p14="http://schemas.microsoft.com/office/powerpoint/2010/main" val="43494647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6029F-4344-51B1-81EB-804941FF541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8CFA0A3-DAA3-2CDC-7FF4-57A4988822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FD9C9B6-D2EA-130F-D3F6-197FE95329D2}"/>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1225D41E-C1E5-0381-1909-8DA4E7D3B61A}"/>
              </a:ext>
            </a:extLst>
          </p:cNvPr>
          <p:cNvSpPr>
            <a:spLocks noGrp="1"/>
          </p:cNvSpPr>
          <p:nvPr>
            <p:ph type="sldNum" sz="quarter" idx="5"/>
          </p:nvPr>
        </p:nvSpPr>
        <p:spPr/>
        <p:txBody>
          <a:bodyPr/>
          <a:lstStyle/>
          <a:p>
            <a:fld id="{6D27E3F6-C3AC-4131-BD60-F31F1EE091B2}" type="slidenum">
              <a:rPr lang="zh-CN" altLang="en-US" smtClean="0"/>
              <a:t>130</a:t>
            </a:fld>
            <a:endParaRPr lang="zh-CN" altLang="en-US"/>
          </a:p>
        </p:txBody>
      </p:sp>
    </p:spTree>
    <p:extLst>
      <p:ext uri="{BB962C8B-B14F-4D97-AF65-F5344CB8AC3E}">
        <p14:creationId xmlns:p14="http://schemas.microsoft.com/office/powerpoint/2010/main" val="332448172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81AA2-6DC3-1126-E620-B715FE36D4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B2CAC12-D8B7-45B4-969D-69635BC2C014}"/>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F80FA12-667E-232D-C00C-5C893A01308A}"/>
              </a:ext>
            </a:extLst>
          </p:cNvPr>
          <p:cNvSpPr>
            <a:spLocks noGrp="1"/>
          </p:cNvSpPr>
          <p:nvPr>
            <p:ph type="body" idx="1"/>
          </p:nvPr>
        </p:nvSpPr>
        <p:spPr/>
        <p:txBody>
          <a:bodyPr/>
          <a:lstStyle/>
          <a:p>
            <a:r>
              <a:rPr lang="zh-CN" altLang="en-US"/>
              <a:t>不能以口头约定代替规约</a:t>
            </a:r>
          </a:p>
        </p:txBody>
      </p:sp>
      <p:sp>
        <p:nvSpPr>
          <p:cNvPr id="4" name="灯片编号占位符 3">
            <a:extLst>
              <a:ext uri="{FF2B5EF4-FFF2-40B4-BE49-F238E27FC236}">
                <a16:creationId xmlns:a16="http://schemas.microsoft.com/office/drawing/2014/main" id="{4A0B7C54-65C2-51E0-C884-C2EF629A6BF3}"/>
              </a:ext>
            </a:extLst>
          </p:cNvPr>
          <p:cNvSpPr>
            <a:spLocks noGrp="1"/>
          </p:cNvSpPr>
          <p:nvPr>
            <p:ph type="sldNum" sz="quarter" idx="5"/>
          </p:nvPr>
        </p:nvSpPr>
        <p:spPr/>
        <p:txBody>
          <a:bodyPr/>
          <a:lstStyle/>
          <a:p>
            <a:fld id="{6D27E3F6-C3AC-4131-BD60-F31F1EE091B2}" type="slidenum">
              <a:rPr lang="zh-CN" altLang="en-US" smtClean="0"/>
              <a:t>131</a:t>
            </a:fld>
            <a:endParaRPr lang="zh-CN" altLang="en-US"/>
          </a:p>
        </p:txBody>
      </p:sp>
    </p:spTree>
    <p:extLst>
      <p:ext uri="{BB962C8B-B14F-4D97-AF65-F5344CB8AC3E}">
        <p14:creationId xmlns:p14="http://schemas.microsoft.com/office/powerpoint/2010/main" val="108976911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235F2-26EE-50BD-8859-6BC1DA49F0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BC67E26-1816-DC89-A951-F2DF26C83BE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6CE010A-3874-489A-5FC1-C4CFA11E2909}"/>
              </a:ext>
            </a:extLst>
          </p:cNvPr>
          <p:cNvSpPr>
            <a:spLocks noGrp="1"/>
          </p:cNvSpPr>
          <p:nvPr>
            <p:ph type="body" idx="1"/>
          </p:nvPr>
        </p:nvSpPr>
        <p:spPr/>
        <p:txBody>
          <a:bodyPr/>
          <a:lstStyle/>
          <a:p>
            <a:r>
              <a:rPr lang="zh-CN" altLang="en-US"/>
              <a:t>需求追踪矩阵（</a:t>
            </a:r>
            <a:r>
              <a:rPr lang="en-US" altLang="zh-CN"/>
              <a:t>Requirements Traceability Matrix</a:t>
            </a:r>
            <a:r>
              <a:rPr lang="zh-CN" altLang="en-US"/>
              <a:t>，简称 </a:t>
            </a:r>
            <a:r>
              <a:rPr lang="en-US" altLang="zh-CN"/>
              <a:t>RTM</a:t>
            </a:r>
            <a:endParaRPr lang="zh-CN" altLang="en-US"/>
          </a:p>
        </p:txBody>
      </p:sp>
      <p:sp>
        <p:nvSpPr>
          <p:cNvPr id="4" name="灯片编号占位符 3">
            <a:extLst>
              <a:ext uri="{FF2B5EF4-FFF2-40B4-BE49-F238E27FC236}">
                <a16:creationId xmlns:a16="http://schemas.microsoft.com/office/drawing/2014/main" id="{27405D2F-7EC1-E58C-0C68-76E74238C116}"/>
              </a:ext>
            </a:extLst>
          </p:cNvPr>
          <p:cNvSpPr>
            <a:spLocks noGrp="1"/>
          </p:cNvSpPr>
          <p:nvPr>
            <p:ph type="sldNum" sz="quarter" idx="5"/>
          </p:nvPr>
        </p:nvSpPr>
        <p:spPr/>
        <p:txBody>
          <a:bodyPr/>
          <a:lstStyle/>
          <a:p>
            <a:fld id="{6D27E3F6-C3AC-4131-BD60-F31F1EE091B2}" type="slidenum">
              <a:rPr lang="zh-CN" altLang="en-US" smtClean="0"/>
              <a:t>133</a:t>
            </a:fld>
            <a:endParaRPr lang="zh-CN" altLang="en-US"/>
          </a:p>
        </p:txBody>
      </p:sp>
    </p:spTree>
    <p:extLst>
      <p:ext uri="{BB962C8B-B14F-4D97-AF65-F5344CB8AC3E}">
        <p14:creationId xmlns:p14="http://schemas.microsoft.com/office/powerpoint/2010/main" val="27303562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736A8-D6E0-4028-0A3F-C1399A985A4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1AFB718-D2E3-788E-073D-38398E7319D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3062E5-B7E2-8D9F-FE11-ADEA9FC6315C}"/>
              </a:ext>
            </a:extLst>
          </p:cNvPr>
          <p:cNvSpPr>
            <a:spLocks noGrp="1"/>
          </p:cNvSpPr>
          <p:nvPr>
            <p:ph type="body" idx="1"/>
          </p:nvPr>
        </p:nvSpPr>
        <p:spPr/>
        <p:txBody>
          <a:bodyPr/>
          <a:lstStyle/>
          <a:p>
            <a:r>
              <a:rPr lang="en-US" altLang="zh-CN"/>
              <a:t>| </a:t>
            </a:r>
            <a:r>
              <a:rPr lang="zh-CN" altLang="en-US"/>
              <a:t>角色 </a:t>
            </a:r>
            <a:r>
              <a:rPr lang="en-US" altLang="zh-CN"/>
              <a:t>| </a:t>
            </a:r>
            <a:r>
              <a:rPr lang="zh-CN" altLang="en-US"/>
              <a:t>职责 </a:t>
            </a:r>
            <a:r>
              <a:rPr lang="en-US" altLang="zh-CN"/>
              <a:t>|</a:t>
            </a:r>
          </a:p>
          <a:p>
            <a:r>
              <a:rPr lang="en-US" altLang="zh-CN"/>
              <a:t>|------|------|</a:t>
            </a:r>
          </a:p>
          <a:p>
            <a:r>
              <a:rPr lang="en-US" altLang="zh-CN"/>
              <a:t>| </a:t>
            </a:r>
            <a:r>
              <a:rPr lang="zh-CN" altLang="en-US"/>
              <a:t>主席（通常为项目经理或产品负责人） </a:t>
            </a:r>
            <a:r>
              <a:rPr lang="en-US" altLang="zh-CN"/>
              <a:t>| </a:t>
            </a:r>
            <a:r>
              <a:rPr lang="zh-CN" altLang="en-US"/>
              <a:t>主持会议、推动决策、确保流程执行 </a:t>
            </a:r>
            <a:r>
              <a:rPr lang="en-US" altLang="zh-CN"/>
              <a:t>|</a:t>
            </a:r>
          </a:p>
          <a:p>
            <a:r>
              <a:rPr lang="en-US" altLang="zh-CN"/>
              <a:t>| </a:t>
            </a:r>
            <a:r>
              <a:rPr lang="zh-CN" altLang="en-US"/>
              <a:t>产品经理</a:t>
            </a:r>
            <a:r>
              <a:rPr lang="en-US" altLang="zh-CN"/>
              <a:t>/</a:t>
            </a:r>
            <a:r>
              <a:rPr lang="zh-CN" altLang="en-US"/>
              <a:t>业务代表 </a:t>
            </a:r>
            <a:r>
              <a:rPr lang="en-US" altLang="zh-CN"/>
              <a:t>| </a:t>
            </a:r>
            <a:r>
              <a:rPr lang="zh-CN" altLang="en-US"/>
              <a:t>评估变更对业务目标的影响、优先级判断 </a:t>
            </a:r>
            <a:r>
              <a:rPr lang="en-US" altLang="zh-CN"/>
              <a:t>|</a:t>
            </a:r>
          </a:p>
          <a:p>
            <a:r>
              <a:rPr lang="en-US" altLang="zh-CN"/>
              <a:t>| </a:t>
            </a:r>
            <a:r>
              <a:rPr lang="zh-CN" altLang="en-US"/>
              <a:t>架构师</a:t>
            </a:r>
            <a:r>
              <a:rPr lang="en-US" altLang="zh-CN"/>
              <a:t>/</a:t>
            </a:r>
            <a:r>
              <a:rPr lang="zh-CN" altLang="en-US"/>
              <a:t>技术负责人 </a:t>
            </a:r>
            <a:r>
              <a:rPr lang="en-US" altLang="zh-CN"/>
              <a:t>| </a:t>
            </a:r>
            <a:r>
              <a:rPr lang="zh-CN" altLang="en-US"/>
              <a:t>评估技术可行性、架构影响、工作量估算 </a:t>
            </a:r>
            <a:r>
              <a:rPr lang="en-US" altLang="zh-CN"/>
              <a:t>|</a:t>
            </a:r>
          </a:p>
          <a:p>
            <a:r>
              <a:rPr lang="en-US" altLang="zh-CN"/>
              <a:t>| </a:t>
            </a:r>
            <a:r>
              <a:rPr lang="zh-CN" altLang="en-US"/>
              <a:t>测试负责人 </a:t>
            </a:r>
            <a:r>
              <a:rPr lang="en-US" altLang="zh-CN"/>
              <a:t>| </a:t>
            </a:r>
            <a:r>
              <a:rPr lang="zh-CN" altLang="en-US"/>
              <a:t>评估测试范围扩大、回归测试成本、质量风险 </a:t>
            </a:r>
            <a:r>
              <a:rPr lang="en-US" altLang="zh-CN"/>
              <a:t>|</a:t>
            </a:r>
          </a:p>
          <a:p>
            <a:r>
              <a:rPr lang="en-US" altLang="zh-CN"/>
              <a:t>| </a:t>
            </a:r>
            <a:r>
              <a:rPr lang="zh-CN" altLang="en-US"/>
              <a:t>配置管理员 </a:t>
            </a:r>
            <a:r>
              <a:rPr lang="en-US" altLang="zh-CN"/>
              <a:t>| </a:t>
            </a:r>
            <a:r>
              <a:rPr lang="zh-CN" altLang="en-US"/>
              <a:t>记录变更、维护基线、版本控制 </a:t>
            </a:r>
            <a:r>
              <a:rPr lang="en-US" altLang="zh-CN"/>
              <a:t>|</a:t>
            </a:r>
          </a:p>
          <a:p>
            <a:r>
              <a:rPr lang="en-US" altLang="zh-CN"/>
              <a:t>| </a:t>
            </a:r>
            <a:r>
              <a:rPr lang="zh-CN" altLang="en-US"/>
              <a:t>客户代表（可选） </a:t>
            </a:r>
            <a:r>
              <a:rPr lang="en-US" altLang="zh-CN"/>
              <a:t>| </a:t>
            </a:r>
            <a:r>
              <a:rPr lang="zh-CN" altLang="en-US"/>
              <a:t>在外包或定制化项目中参与决策 </a:t>
            </a:r>
            <a:r>
              <a:rPr lang="en-US" altLang="zh-CN"/>
              <a:t>|</a:t>
            </a:r>
          </a:p>
          <a:p>
            <a:endParaRPr lang="en-US" altLang="zh-CN"/>
          </a:p>
        </p:txBody>
      </p:sp>
      <p:sp>
        <p:nvSpPr>
          <p:cNvPr id="4" name="灯片编号占位符 3">
            <a:extLst>
              <a:ext uri="{FF2B5EF4-FFF2-40B4-BE49-F238E27FC236}">
                <a16:creationId xmlns:a16="http://schemas.microsoft.com/office/drawing/2014/main" id="{30748DBB-414F-6005-32EE-063C5C11D569}"/>
              </a:ext>
            </a:extLst>
          </p:cNvPr>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138045945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数据字典和数据流图（</a:t>
            </a:r>
            <a:r>
              <a:rPr lang="en-US" altLang="zh-CN"/>
              <a:t>DFD</a:t>
            </a:r>
            <a:r>
              <a:rPr lang="zh-CN" altLang="en-US"/>
              <a:t>）是结构化分析方法中相辅相成的两个核心组成部分，它们共同构成了对系统需求的完整描述。</a:t>
            </a:r>
            <a:r>
              <a:rPr lang="en-US" altLang="zh-CN"/>
              <a:t>DFD</a:t>
            </a:r>
            <a:r>
              <a:rPr lang="zh-CN" altLang="en-US"/>
              <a:t>提供图形化的系统功能与数据流动视图，而数据字典则提供对</a:t>
            </a:r>
            <a:r>
              <a:rPr lang="en-US" altLang="zh-CN"/>
              <a:t>DFD</a:t>
            </a:r>
            <a:r>
              <a:rPr lang="zh-CN" altLang="en-US"/>
              <a:t>中所有元素的精确文字定义和详细说明。</a:t>
            </a:r>
            <a:endParaRPr lang="en-US" altLang="zh-CN"/>
          </a:p>
          <a:p>
            <a:endParaRPr lang="en-US" altLang="zh-CN"/>
          </a:p>
          <a:p>
            <a:r>
              <a:rPr lang="zh-CN" altLang="en-US"/>
              <a:t>实体</a:t>
            </a:r>
            <a:endParaRPr lang="en-US" altLang="zh-CN"/>
          </a:p>
          <a:p>
            <a:r>
              <a:rPr lang="zh-CN" altLang="en-US"/>
              <a:t>加工</a:t>
            </a:r>
            <a:r>
              <a:rPr lang="en-US" altLang="zh-CN"/>
              <a:t>/</a:t>
            </a:r>
            <a:r>
              <a:rPr lang="zh-CN" altLang="en-US"/>
              <a:t>处理</a:t>
            </a:r>
            <a:endParaRPr lang="en-US" altLang="zh-CN"/>
          </a:p>
          <a:p>
            <a:r>
              <a:rPr lang="zh-CN" altLang="en-US"/>
              <a:t>数据流</a:t>
            </a:r>
            <a:endParaRPr lang="en-US" altLang="zh-CN"/>
          </a:p>
          <a:p>
            <a:r>
              <a:rPr lang="zh-CN" altLang="en-US"/>
              <a:t>存储</a:t>
            </a:r>
            <a:endParaRPr lang="en-US" altLang="zh-CN"/>
          </a:p>
          <a:p>
            <a:endParaRPr lang="en-US" altLang="zh-CN"/>
          </a:p>
          <a:p>
            <a:r>
              <a:rPr lang="zh-CN" altLang="en-US"/>
              <a:t>用例图</a:t>
            </a:r>
            <a:endParaRPr lang="en-US" altLang="zh-CN"/>
          </a:p>
          <a:p>
            <a:r>
              <a:rPr lang="zh-CN" altLang="en-US" sz="1200" b="0" i="0" kern="1200">
                <a:solidFill>
                  <a:schemeClr val="tx1"/>
                </a:solidFill>
                <a:effectLst/>
                <a:latin typeface="+mn-lt"/>
                <a:ea typeface="+mn-ea"/>
                <a:cs typeface="+mn-cs"/>
              </a:rPr>
              <a:t>参与者（</a:t>
            </a:r>
            <a:r>
              <a:rPr lang="en-US" altLang="zh-CN" sz="1200" b="0" i="0" kern="1200">
                <a:solidFill>
                  <a:schemeClr val="tx1"/>
                </a:solidFill>
                <a:effectLst/>
                <a:latin typeface="+mn-lt"/>
                <a:ea typeface="+mn-ea"/>
                <a:cs typeface="+mn-cs"/>
              </a:rPr>
              <a:t>Actor</a:t>
            </a:r>
            <a:r>
              <a:rPr lang="zh-CN" altLang="en-US" sz="1200" b="0" i="0" kern="1200">
                <a:solidFill>
                  <a:schemeClr val="tx1"/>
                </a:solidFill>
                <a:effectLst/>
                <a:latin typeface="+mn-lt"/>
                <a:ea typeface="+mn-ea"/>
                <a:cs typeface="+mn-cs"/>
              </a:rPr>
              <a:t>）：系统外部的人或系统（如：用户、管理员、支付网关）。</a:t>
            </a:r>
          </a:p>
          <a:p>
            <a:r>
              <a:rPr lang="zh-CN" altLang="en-US" sz="1200" b="0" i="0" kern="1200">
                <a:solidFill>
                  <a:schemeClr val="tx1"/>
                </a:solidFill>
                <a:effectLst/>
                <a:latin typeface="+mn-lt"/>
                <a:ea typeface="+mn-ea"/>
                <a:cs typeface="+mn-cs"/>
              </a:rPr>
              <a:t>用例（</a:t>
            </a:r>
            <a:r>
              <a:rPr lang="en-US" altLang="zh-CN" sz="1200" b="0" i="0" kern="1200">
                <a:solidFill>
                  <a:schemeClr val="tx1"/>
                </a:solidFill>
                <a:effectLst/>
                <a:latin typeface="+mn-lt"/>
                <a:ea typeface="+mn-ea"/>
                <a:cs typeface="+mn-cs"/>
              </a:rPr>
              <a:t>Use Case</a:t>
            </a:r>
            <a:r>
              <a:rPr lang="zh-CN" altLang="en-US" sz="1200" b="0" i="0" kern="1200">
                <a:solidFill>
                  <a:schemeClr val="tx1"/>
                </a:solidFill>
                <a:effectLst/>
                <a:latin typeface="+mn-lt"/>
                <a:ea typeface="+mn-ea"/>
                <a:cs typeface="+mn-cs"/>
              </a:rPr>
              <a:t>）：系统提供的具体功能（如：登录、下单、查询订单）。</a:t>
            </a:r>
          </a:p>
          <a:p>
            <a:r>
              <a:rPr lang="zh-CN" altLang="en-US" sz="1200" b="0" i="0" kern="1200">
                <a:solidFill>
                  <a:schemeClr val="tx1"/>
                </a:solidFill>
                <a:effectLst/>
                <a:latin typeface="+mn-lt"/>
                <a:ea typeface="+mn-ea"/>
                <a:cs typeface="+mn-cs"/>
              </a:rPr>
              <a:t>关系：关联、包含（</a:t>
            </a:r>
            <a:r>
              <a:rPr lang="en-US" altLang="zh-CN" sz="1200" b="0" i="0" kern="1200">
                <a:solidFill>
                  <a:schemeClr val="tx1"/>
                </a:solidFill>
                <a:effectLst/>
                <a:latin typeface="+mn-lt"/>
                <a:ea typeface="+mn-ea"/>
                <a:cs typeface="+mn-cs"/>
              </a:rPr>
              <a:t>include</a:t>
            </a:r>
            <a:r>
              <a:rPr lang="zh-CN" altLang="en-US" sz="1200" b="0" i="0" kern="1200">
                <a:solidFill>
                  <a:schemeClr val="tx1"/>
                </a:solidFill>
                <a:effectLst/>
                <a:latin typeface="+mn-lt"/>
                <a:ea typeface="+mn-ea"/>
                <a:cs typeface="+mn-cs"/>
              </a:rPr>
              <a:t>）、扩展（</a:t>
            </a:r>
            <a:r>
              <a:rPr lang="en-US" altLang="zh-CN" sz="1200" b="0" i="0" kern="1200">
                <a:solidFill>
                  <a:schemeClr val="tx1"/>
                </a:solidFill>
                <a:effectLst/>
                <a:latin typeface="+mn-lt"/>
                <a:ea typeface="+mn-ea"/>
                <a:cs typeface="+mn-cs"/>
              </a:rPr>
              <a:t>extend</a:t>
            </a:r>
            <a:r>
              <a:rPr lang="zh-CN" altLang="en-US" sz="1200" b="0" i="0" kern="1200">
                <a:solidFill>
                  <a:schemeClr val="tx1"/>
                </a:solidFill>
                <a:effectLst/>
                <a:latin typeface="+mn-lt"/>
                <a:ea typeface="+mn-ea"/>
                <a:cs typeface="+mn-cs"/>
              </a:rPr>
              <a:t>）、泛化。</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图：数据库的“建筑蓝图”</a:t>
            </a:r>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内容：它只关心数据。</a:t>
            </a:r>
          </a:p>
          <a:p>
            <a:r>
              <a:rPr lang="zh-CN" altLang="en-US" sz="1200" b="0" i="0" kern="1200">
                <a:solidFill>
                  <a:schemeClr val="tx1"/>
                </a:solidFill>
                <a:effectLst/>
                <a:latin typeface="+mn-lt"/>
                <a:ea typeface="+mn-ea"/>
                <a:cs typeface="+mn-cs"/>
              </a:rPr>
              <a:t>实体 </a:t>
            </a:r>
            <a:r>
              <a:rPr lang="en-US" altLang="zh-CN" sz="1200" b="0" i="0" kern="1200">
                <a:solidFill>
                  <a:schemeClr val="tx1"/>
                </a:solidFill>
                <a:effectLst/>
                <a:latin typeface="+mn-lt"/>
                <a:ea typeface="+mn-ea"/>
                <a:cs typeface="+mn-cs"/>
              </a:rPr>
              <a:t>(Entity)</a:t>
            </a:r>
            <a:r>
              <a:rPr lang="zh-CN" altLang="en-US" sz="1200" b="0" i="0" kern="1200">
                <a:solidFill>
                  <a:schemeClr val="tx1"/>
                </a:solidFill>
                <a:effectLst/>
                <a:latin typeface="+mn-lt"/>
                <a:ea typeface="+mn-ea"/>
                <a:cs typeface="+mn-cs"/>
              </a:rPr>
              <a:t>：对应数据库中的表 </a:t>
            </a:r>
            <a:r>
              <a:rPr lang="en-US" altLang="zh-CN" sz="1200" b="0" i="0" kern="1200">
                <a:solidFill>
                  <a:schemeClr val="tx1"/>
                </a:solidFill>
                <a:effectLst/>
                <a:latin typeface="+mn-lt"/>
                <a:ea typeface="+mn-ea"/>
                <a:cs typeface="+mn-cs"/>
              </a:rPr>
              <a:t>(Table)</a:t>
            </a:r>
            <a:r>
              <a:rPr lang="zh-CN" altLang="en-US" sz="1200" b="0" i="0" kern="1200">
                <a:solidFill>
                  <a:schemeClr val="tx1"/>
                </a:solidFill>
                <a:effectLst/>
                <a:latin typeface="+mn-lt"/>
                <a:ea typeface="+mn-ea"/>
                <a:cs typeface="+mn-cs"/>
              </a:rPr>
              <a:t>。例如：用户表 、 订单表。</a:t>
            </a:r>
          </a:p>
          <a:p>
            <a:r>
              <a:rPr lang="zh-CN" altLang="en-US" sz="1200" b="0" i="0" kern="1200">
                <a:solidFill>
                  <a:schemeClr val="tx1"/>
                </a:solidFill>
                <a:effectLst/>
                <a:latin typeface="+mn-lt"/>
                <a:ea typeface="+mn-ea"/>
                <a:cs typeface="+mn-cs"/>
              </a:rPr>
              <a:t>属性 </a:t>
            </a:r>
            <a:r>
              <a:rPr lang="en-US" altLang="zh-CN" sz="1200" b="0" i="0" kern="1200">
                <a:solidFill>
                  <a:schemeClr val="tx1"/>
                </a:solidFill>
                <a:effectLst/>
                <a:latin typeface="+mn-lt"/>
                <a:ea typeface="+mn-ea"/>
                <a:cs typeface="+mn-cs"/>
              </a:rPr>
              <a:t>(Attribute)</a:t>
            </a:r>
            <a:r>
              <a:rPr lang="zh-CN" altLang="en-US" sz="1200" b="0" i="0" kern="1200">
                <a:solidFill>
                  <a:schemeClr val="tx1"/>
                </a:solidFill>
                <a:effectLst/>
                <a:latin typeface="+mn-lt"/>
                <a:ea typeface="+mn-ea"/>
                <a:cs typeface="+mn-cs"/>
              </a:rPr>
              <a:t>：对应表中的列 </a:t>
            </a:r>
            <a:r>
              <a:rPr lang="en-US" altLang="zh-CN" sz="1200" b="0" i="0" kern="1200">
                <a:solidFill>
                  <a:schemeClr val="tx1"/>
                </a:solidFill>
                <a:effectLst/>
                <a:latin typeface="+mn-lt"/>
                <a:ea typeface="+mn-ea"/>
                <a:cs typeface="+mn-cs"/>
              </a:rPr>
              <a:t>(Column)</a:t>
            </a:r>
            <a:r>
              <a:rPr lang="zh-CN" altLang="en-US" sz="1200" b="0" i="0" kern="1200">
                <a:solidFill>
                  <a:schemeClr val="tx1"/>
                </a:solidFill>
                <a:effectLst/>
                <a:latin typeface="+mn-lt"/>
                <a:ea typeface="+mn-ea"/>
                <a:cs typeface="+mn-cs"/>
              </a:rPr>
              <a:t>。例如：用户名 、 价格。</a:t>
            </a:r>
          </a:p>
          <a:p>
            <a:r>
              <a:rPr lang="zh-CN" altLang="en-US" sz="1200" b="0" i="0" kern="1200">
                <a:solidFill>
                  <a:schemeClr val="tx1"/>
                </a:solidFill>
                <a:effectLst/>
                <a:latin typeface="+mn-lt"/>
                <a:ea typeface="+mn-ea"/>
                <a:cs typeface="+mn-cs"/>
              </a:rPr>
              <a:t>关系 </a:t>
            </a:r>
            <a:r>
              <a:rPr lang="en-US" altLang="zh-CN" sz="1200" b="0" i="0" kern="1200">
                <a:solidFill>
                  <a:schemeClr val="tx1"/>
                </a:solidFill>
                <a:effectLst/>
                <a:latin typeface="+mn-lt"/>
                <a:ea typeface="+mn-ea"/>
                <a:cs typeface="+mn-cs"/>
              </a:rPr>
              <a:t>(Relationship)</a:t>
            </a:r>
            <a:r>
              <a:rPr lang="zh-CN" altLang="en-US" sz="1200" b="0" i="0" kern="1200">
                <a:solidFill>
                  <a:schemeClr val="tx1"/>
                </a:solidFill>
                <a:effectLst/>
                <a:latin typeface="+mn-lt"/>
                <a:ea typeface="+mn-ea"/>
                <a:cs typeface="+mn-cs"/>
              </a:rPr>
              <a:t>：对应表之间的外键约束。例如：</a:t>
            </a:r>
            <a:r>
              <a:rPr lang="en-US" altLang="zh-CN" sz="1200" b="0" i="0" kern="1200">
                <a:solidFill>
                  <a:schemeClr val="tx1"/>
                </a:solidFill>
                <a:effectLst/>
                <a:latin typeface="+mn-lt"/>
                <a:ea typeface="+mn-ea"/>
                <a:cs typeface="+mn-cs"/>
              </a:rPr>
              <a:t>1 </a:t>
            </a:r>
            <a:r>
              <a:rPr lang="zh-CN" altLang="en-US" sz="1200" b="0" i="0" kern="1200">
                <a:solidFill>
                  <a:schemeClr val="tx1"/>
                </a:solidFill>
                <a:effectLst/>
                <a:latin typeface="+mn-lt"/>
                <a:ea typeface="+mn-ea"/>
                <a:cs typeface="+mn-cs"/>
              </a:rPr>
              <a:t>个用户 对应 </a:t>
            </a:r>
            <a:r>
              <a:rPr lang="en-US" altLang="zh-CN" sz="1200" b="0" i="0" kern="1200">
                <a:solidFill>
                  <a:schemeClr val="tx1"/>
                </a:solidFill>
                <a:effectLst/>
                <a:latin typeface="+mn-lt"/>
                <a:ea typeface="+mn-ea"/>
                <a:cs typeface="+mn-cs"/>
              </a:rPr>
              <a:t>N </a:t>
            </a:r>
            <a:r>
              <a:rPr lang="zh-CN" altLang="en-US" sz="1200" b="0" i="0" kern="1200">
                <a:solidFill>
                  <a:schemeClr val="tx1"/>
                </a:solidFill>
                <a:effectLst/>
                <a:latin typeface="+mn-lt"/>
                <a:ea typeface="+mn-ea"/>
                <a:cs typeface="+mn-cs"/>
              </a:rPr>
              <a:t>个订单 </a:t>
            </a:r>
            <a:r>
              <a:rPr lang="en-US" altLang="zh-CN" sz="1200" b="0" i="0" kern="1200">
                <a:solidFill>
                  <a:schemeClr val="tx1"/>
                </a:solidFill>
                <a:effectLst/>
                <a:latin typeface="+mn-lt"/>
                <a:ea typeface="+mn-ea"/>
                <a:cs typeface="+mn-cs"/>
              </a:rPr>
              <a:t>(1:N)</a:t>
            </a:r>
            <a:r>
              <a:rPr lang="zh-CN" altLang="en-US" sz="1200" b="0" i="0" kern="1200">
                <a:solidFill>
                  <a:schemeClr val="tx1"/>
                </a:solidFill>
                <a:effectLst/>
                <a:latin typeface="+mn-lt"/>
                <a:ea typeface="+mn-ea"/>
                <a:cs typeface="+mn-cs"/>
              </a:rPr>
              <a:t>。</a:t>
            </a:r>
          </a:p>
          <a:p>
            <a:r>
              <a:rPr lang="zh-CN" altLang="en-US" sz="1200" b="0" i="0" kern="1200">
                <a:solidFill>
                  <a:schemeClr val="tx1"/>
                </a:solidFill>
                <a:effectLst/>
                <a:latin typeface="+mn-lt"/>
                <a:ea typeface="+mn-ea"/>
                <a:cs typeface="+mn-cs"/>
              </a:rPr>
              <a:t>产出：最终转化为 </a:t>
            </a:r>
            <a:r>
              <a:rPr lang="en-US" altLang="zh-CN" sz="1200" b="0" i="0" kern="1200">
                <a:solidFill>
                  <a:schemeClr val="tx1"/>
                </a:solidFill>
                <a:effectLst/>
                <a:latin typeface="+mn-lt"/>
                <a:ea typeface="+mn-ea"/>
                <a:cs typeface="+mn-cs"/>
              </a:rPr>
              <a:t>SQL </a:t>
            </a:r>
            <a:r>
              <a:rPr lang="zh-CN" altLang="en-US" sz="1200" b="0" i="0" kern="1200">
                <a:solidFill>
                  <a:schemeClr val="tx1"/>
                </a:solidFill>
                <a:effectLst/>
                <a:latin typeface="+mn-lt"/>
                <a:ea typeface="+mn-ea"/>
                <a:cs typeface="+mn-cs"/>
              </a:rPr>
              <a:t>脚本，用来在数据库里建表。</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UML</a:t>
            </a:r>
            <a:r>
              <a:rPr lang="zh-CN" altLang="en-US" sz="1200" b="0" i="0" kern="1200">
                <a:solidFill>
                  <a:schemeClr val="tx1"/>
                </a:solidFill>
                <a:effectLst/>
                <a:latin typeface="+mn-lt"/>
                <a:ea typeface="+mn-ea"/>
                <a:cs typeface="+mn-cs"/>
              </a:rPr>
              <a:t>：软件的“全景地图”；</a:t>
            </a:r>
            <a:r>
              <a:rPr lang="en-US" altLang="zh-CN" sz="1200" b="0" i="0" kern="1200">
                <a:solidFill>
                  <a:schemeClr val="tx1"/>
                </a:solidFill>
                <a:effectLst/>
                <a:latin typeface="+mn-lt"/>
                <a:ea typeface="+mn-ea"/>
                <a:cs typeface="+mn-cs"/>
              </a:rPr>
              <a:t>14 </a:t>
            </a:r>
            <a:r>
              <a:rPr lang="zh-CN" altLang="en-US" sz="1200" b="0" i="0" kern="1200">
                <a:solidFill>
                  <a:schemeClr val="tx1"/>
                </a:solidFill>
                <a:effectLst/>
                <a:latin typeface="+mn-lt"/>
                <a:ea typeface="+mn-ea"/>
                <a:cs typeface="+mn-cs"/>
              </a:rPr>
              <a:t>种图；类图 </a:t>
            </a:r>
            <a:r>
              <a:rPr lang="en-US" altLang="zh-CN" sz="1200" b="0" i="0" kern="1200">
                <a:solidFill>
                  <a:schemeClr val="tx1"/>
                </a:solidFill>
                <a:effectLst/>
                <a:latin typeface="+mn-lt"/>
                <a:ea typeface="+mn-ea"/>
                <a:cs typeface="+mn-cs"/>
              </a:rPr>
              <a:t>(Class Diagram)</a:t>
            </a:r>
            <a:r>
              <a:rPr lang="zh-CN" altLang="en-US" sz="1200" b="0" i="0" kern="1200">
                <a:solidFill>
                  <a:schemeClr val="tx1"/>
                </a:solidFill>
                <a:effectLst/>
                <a:latin typeface="+mn-lt"/>
                <a:ea typeface="+mn-ea"/>
                <a:cs typeface="+mn-cs"/>
              </a:rPr>
              <a:t>长得有点像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图，但类图包含方法 </a:t>
            </a:r>
            <a:r>
              <a:rPr lang="en-US" altLang="zh-CN" sz="1200" b="0" i="0" kern="1200">
                <a:solidFill>
                  <a:schemeClr val="tx1"/>
                </a:solidFill>
                <a:effectLst/>
                <a:latin typeface="+mn-lt"/>
                <a:ea typeface="+mn-ea"/>
                <a:cs typeface="+mn-cs"/>
              </a:rPr>
              <a:t>(</a:t>
            </a:r>
            <a:r>
              <a:rPr lang="zh-CN" altLang="en-US" sz="1200" b="0" i="0" kern="1200">
                <a:solidFill>
                  <a:schemeClr val="tx1"/>
                </a:solidFill>
                <a:effectLst/>
                <a:latin typeface="+mn-lt"/>
                <a:ea typeface="+mn-ea"/>
                <a:cs typeface="+mn-cs"/>
              </a:rPr>
              <a:t>函数</a:t>
            </a:r>
            <a:r>
              <a:rPr lang="en-US" altLang="zh-CN" sz="1200" b="0" i="0" kern="1200">
                <a:solidFill>
                  <a:schemeClr val="tx1"/>
                </a:solidFill>
                <a:effectLst/>
                <a:latin typeface="+mn-lt"/>
                <a:ea typeface="+mn-ea"/>
                <a:cs typeface="+mn-cs"/>
              </a:rPr>
              <a:t>) </a:t>
            </a:r>
            <a:r>
              <a:rPr lang="zh-CN" altLang="en-US" sz="1200" b="0" i="0" kern="1200">
                <a:solidFill>
                  <a:schemeClr val="tx1"/>
                </a:solidFill>
                <a:effectLst/>
                <a:latin typeface="+mn-lt"/>
                <a:ea typeface="+mn-ea"/>
                <a:cs typeface="+mn-cs"/>
              </a:rPr>
              <a:t>和 行为逻辑，而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图只包含数据。</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你可以画一个 </a:t>
            </a:r>
            <a:r>
              <a:rPr lang="en-US" altLang="zh-CN" sz="1200" b="0" i="0" kern="1200">
                <a:solidFill>
                  <a:schemeClr val="tx1"/>
                </a:solidFill>
                <a:effectLst/>
                <a:latin typeface="+mn-lt"/>
                <a:ea typeface="+mn-ea"/>
                <a:cs typeface="+mn-cs"/>
              </a:rPr>
              <a:t>UML </a:t>
            </a:r>
            <a:r>
              <a:rPr lang="zh-CN" altLang="en-US" sz="1200" b="0" i="0" kern="1200">
                <a:solidFill>
                  <a:schemeClr val="tx1"/>
                </a:solidFill>
                <a:effectLst/>
                <a:latin typeface="+mn-lt"/>
                <a:ea typeface="+mn-ea"/>
                <a:cs typeface="+mn-cs"/>
              </a:rPr>
              <a:t>类图，然后让工具自动把它转换成 数据库表（</a:t>
            </a:r>
            <a:r>
              <a:rPr lang="en-US" altLang="zh-CN" sz="1200" b="0" i="0" kern="1200">
                <a:solidFill>
                  <a:schemeClr val="tx1"/>
                </a:solidFill>
                <a:effectLst/>
                <a:latin typeface="+mn-lt"/>
                <a:ea typeface="+mn-ea"/>
                <a:cs typeface="+mn-cs"/>
              </a:rPr>
              <a:t>ORM </a:t>
            </a:r>
            <a:r>
              <a:rPr lang="zh-CN" altLang="en-US" sz="1200" b="0" i="0" kern="1200">
                <a:solidFill>
                  <a:schemeClr val="tx1"/>
                </a:solidFill>
                <a:effectLst/>
                <a:latin typeface="+mn-lt"/>
                <a:ea typeface="+mn-ea"/>
                <a:cs typeface="+mn-cs"/>
              </a:rPr>
              <a:t>映射）</a:t>
            </a:r>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Object-Relational Mapping</a:t>
            </a:r>
            <a:endParaRPr lang="zh-CN" altLang="en-US" sz="1200" b="0" i="0" kern="1200">
              <a:solidFill>
                <a:schemeClr val="tx1"/>
              </a:solidFill>
              <a:effectLst/>
              <a:latin typeface="+mn-lt"/>
              <a:ea typeface="+mn-ea"/>
              <a:cs typeface="+mn-cs"/>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233850833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A03F5-A6EE-82B9-6723-30A26BC984D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AC2032F-22C2-A1FC-516F-75CAA35B2FC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0CBD772-9443-1DD2-A26F-D7E5100371CE}"/>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98C7DA82-D2A4-F158-FF65-2994645B29D1}"/>
              </a:ext>
            </a:extLst>
          </p:cNvPr>
          <p:cNvSpPr>
            <a:spLocks noGrp="1"/>
          </p:cNvSpPr>
          <p:nvPr>
            <p:ph type="sldNum" sz="quarter" idx="5"/>
          </p:nvPr>
        </p:nvSpPr>
        <p:spPr/>
        <p:txBody>
          <a:bodyPr/>
          <a:lstStyle/>
          <a:p>
            <a:fld id="{6D27E3F6-C3AC-4131-BD60-F31F1EE091B2}" type="slidenum">
              <a:rPr lang="zh-CN" altLang="en-US" smtClean="0"/>
              <a:t>136</a:t>
            </a:fld>
            <a:endParaRPr lang="zh-CN" altLang="en-US"/>
          </a:p>
        </p:txBody>
      </p:sp>
    </p:spTree>
    <p:extLst>
      <p:ext uri="{BB962C8B-B14F-4D97-AF65-F5344CB8AC3E}">
        <p14:creationId xmlns:p14="http://schemas.microsoft.com/office/powerpoint/2010/main" val="266747866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E1542-7AF3-DFC6-C253-B925EECA485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F5F71E2-005D-DB05-90D5-261DEF00FB5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9F73E57-7583-F18C-390C-D2711EC8F615}"/>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06B0B3EC-20CE-9A04-0E73-74060DD18013}"/>
              </a:ext>
            </a:extLst>
          </p:cNvPr>
          <p:cNvSpPr>
            <a:spLocks noGrp="1"/>
          </p:cNvSpPr>
          <p:nvPr>
            <p:ph type="sldNum" sz="quarter" idx="5"/>
          </p:nvPr>
        </p:nvSpPr>
        <p:spPr/>
        <p:txBody>
          <a:bodyPr/>
          <a:lstStyle/>
          <a:p>
            <a:fld id="{6D27E3F6-C3AC-4131-BD60-F31F1EE091B2}" type="slidenum">
              <a:rPr lang="zh-CN" altLang="en-US" smtClean="0"/>
              <a:t>137</a:t>
            </a:fld>
            <a:endParaRPr lang="zh-CN" altLang="en-US"/>
          </a:p>
        </p:txBody>
      </p:sp>
    </p:spTree>
    <p:extLst>
      <p:ext uri="{BB962C8B-B14F-4D97-AF65-F5344CB8AC3E}">
        <p14:creationId xmlns:p14="http://schemas.microsoft.com/office/powerpoint/2010/main" val="244539545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09CDB-55C5-E6E5-738C-B6C20EED973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F9E7F86-CBB7-CDAF-5B8D-E911B7026F5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3532AB7C-6CFF-9222-CF26-625D912E53E2}"/>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2230EA11-0434-B024-3E26-FBE8CA0E4E67}"/>
              </a:ext>
            </a:extLst>
          </p:cNvPr>
          <p:cNvSpPr>
            <a:spLocks noGrp="1"/>
          </p:cNvSpPr>
          <p:nvPr>
            <p:ph type="sldNum" sz="quarter" idx="5"/>
          </p:nvPr>
        </p:nvSpPr>
        <p:spPr/>
        <p:txBody>
          <a:bodyPr/>
          <a:lstStyle/>
          <a:p>
            <a:fld id="{6D27E3F6-C3AC-4131-BD60-F31F1EE091B2}" type="slidenum">
              <a:rPr lang="zh-CN" altLang="en-US" smtClean="0"/>
              <a:t>140</a:t>
            </a:fld>
            <a:endParaRPr lang="zh-CN" altLang="en-US"/>
          </a:p>
        </p:txBody>
      </p:sp>
    </p:spTree>
    <p:extLst>
      <p:ext uri="{BB962C8B-B14F-4D97-AF65-F5344CB8AC3E}">
        <p14:creationId xmlns:p14="http://schemas.microsoft.com/office/powerpoint/2010/main" val="252573362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目标 </a:t>
            </a:r>
            <a:r>
              <a:rPr lang="en-US" altLang="zh-CN"/>
              <a:t>(Goal)</a:t>
            </a:r>
            <a:r>
              <a:rPr lang="zh-CN" altLang="en-US"/>
              <a:t>、角色 </a:t>
            </a:r>
            <a:r>
              <a:rPr lang="en-US" altLang="zh-CN"/>
              <a:t>(Actor)</a:t>
            </a:r>
            <a:r>
              <a:rPr lang="zh-CN" altLang="en-US"/>
              <a:t>、影响 </a:t>
            </a:r>
            <a:r>
              <a:rPr lang="en-US" altLang="zh-CN"/>
              <a:t>(Impact)</a:t>
            </a:r>
            <a:r>
              <a:rPr lang="zh-CN" altLang="en-US"/>
              <a:t>、交付物 </a:t>
            </a:r>
            <a:r>
              <a:rPr lang="en-US" altLang="zh-CN"/>
              <a:t>(Deliverable)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141</a:t>
            </a:fld>
            <a:endParaRPr lang="zh-CN" altLang="en-US"/>
          </a:p>
        </p:txBody>
      </p:sp>
    </p:spTree>
    <p:extLst>
      <p:ext uri="{BB962C8B-B14F-4D97-AF65-F5344CB8AC3E}">
        <p14:creationId xmlns:p14="http://schemas.microsoft.com/office/powerpoint/2010/main" val="358656187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Obstruct</a:t>
            </a:r>
            <a:r>
              <a:rPr lang="zh-CN" altLang="en-US"/>
              <a:t>：阻碍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142</a:t>
            </a:fld>
            <a:endParaRPr lang="zh-CN" altLang="en-US"/>
          </a:p>
        </p:txBody>
      </p:sp>
    </p:spTree>
    <p:extLst>
      <p:ext uri="{BB962C8B-B14F-4D97-AF65-F5344CB8AC3E}">
        <p14:creationId xmlns:p14="http://schemas.microsoft.com/office/powerpoint/2010/main" val="37291483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最佳实践，但它并不是唯一实践。你可以以任何你喜欢的方式编写用户故事</a:t>
            </a:r>
            <a:endParaRPr lang="en-US" altLang="zh-CN"/>
          </a:p>
          <a:p>
            <a:r>
              <a:rPr lang="en-US" altLang="zh-CN"/>
              <a:t>It's important to understand that while Rachel Davies' story format is best practice, it isn't the ONLY practice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147</a:t>
            </a:fld>
            <a:endParaRPr lang="zh-CN" altLang="en-US"/>
          </a:p>
        </p:txBody>
      </p:sp>
    </p:spTree>
    <p:extLst>
      <p:ext uri="{BB962C8B-B14F-4D97-AF65-F5344CB8AC3E}">
        <p14:creationId xmlns:p14="http://schemas.microsoft.com/office/powerpoint/2010/main" val="36583670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151</a:t>
            </a:fld>
            <a:endParaRPr lang="zh-CN" altLang="en-US"/>
          </a:p>
        </p:txBody>
      </p:sp>
    </p:spTree>
    <p:extLst>
      <p:ext uri="{BB962C8B-B14F-4D97-AF65-F5344CB8AC3E}">
        <p14:creationId xmlns:p14="http://schemas.microsoft.com/office/powerpoint/2010/main" val="356363317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MVP (</a:t>
            </a:r>
            <a:r>
              <a:rPr lang="zh-CN" altLang="en-US"/>
              <a:t>最小可行性产品</a:t>
            </a:r>
            <a:r>
              <a:rPr lang="en-US" altLang="zh-CN"/>
              <a:t>) </a:t>
            </a:r>
            <a:r>
              <a:rPr lang="zh-CN" altLang="en-US"/>
              <a:t>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152</a:t>
            </a:fld>
            <a:endParaRPr lang="zh-CN" altLang="en-US"/>
          </a:p>
        </p:txBody>
      </p:sp>
    </p:spTree>
    <p:extLst>
      <p:ext uri="{BB962C8B-B14F-4D97-AF65-F5344CB8AC3E}">
        <p14:creationId xmlns:p14="http://schemas.microsoft.com/office/powerpoint/2010/main" val="241954531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Organize Email</a:t>
            </a:r>
            <a:r>
              <a:rPr lang="zh-CN" altLang="en-US"/>
              <a:t>（组织邮件）</a:t>
            </a:r>
            <a:endParaRPr lang="en-US" altLang="zh-CN"/>
          </a:p>
          <a:p>
            <a:r>
              <a:rPr lang="zh-CN" altLang="en-US"/>
              <a:t>用户目标：“我想让我的邮箱井井有条，方便以后查找。”</a:t>
            </a:r>
            <a:endParaRPr lang="en-US" altLang="zh-CN"/>
          </a:p>
          <a:p>
            <a:endParaRPr lang="en-US" altLang="zh-CN"/>
          </a:p>
          <a:p>
            <a:r>
              <a:rPr lang="en-US" altLang="zh-CN"/>
              <a:t>Manage Email</a:t>
            </a:r>
            <a:r>
              <a:rPr lang="zh-CN" altLang="en-US"/>
              <a:t>（管理邮件）</a:t>
            </a:r>
            <a:endParaRPr lang="en-US" altLang="zh-CN"/>
          </a:p>
          <a:p>
            <a:r>
              <a:rPr lang="zh-CN" altLang="en-US"/>
              <a:t>用户目标：“我要处理这些邮件</a:t>
            </a:r>
            <a:r>
              <a:rPr lang="en-US" altLang="zh-CN"/>
              <a:t>——</a:t>
            </a:r>
            <a:r>
              <a:rPr lang="zh-CN" altLang="en-US"/>
              <a:t>写、发、删、移、回复。”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153</a:t>
            </a:fld>
            <a:endParaRPr lang="zh-CN" altLang="en-US"/>
          </a:p>
        </p:txBody>
      </p:sp>
    </p:spTree>
    <p:extLst>
      <p:ext uri="{BB962C8B-B14F-4D97-AF65-F5344CB8AC3E}">
        <p14:creationId xmlns:p14="http://schemas.microsoft.com/office/powerpoint/2010/main" val="138683993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154</a:t>
            </a:fld>
            <a:endParaRPr lang="zh-CN" altLang="en-US"/>
          </a:p>
        </p:txBody>
      </p:sp>
    </p:spTree>
    <p:extLst>
      <p:ext uri="{BB962C8B-B14F-4D97-AF65-F5344CB8AC3E}">
        <p14:creationId xmlns:p14="http://schemas.microsoft.com/office/powerpoint/2010/main" val="158832431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关注行为：行为驱动开发关注的是从用户角度出发的应用行为。团队专注于编写描述应用预期行为的用户故事和场景</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协作：行为驱动开发（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）是一个涉及开发者、测试人员和业务利益相关者的协作过程。大家共同努力，理</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可执行规范：行为驱动开发（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）使用特定领域语言（</a:t>
            </a:r>
            <a:r>
              <a:rPr lang="en-US" altLang="zh-CN" sz="1200" b="0" i="0" kern="1200" dirty="0">
                <a:solidFill>
                  <a:schemeClr val="tx1"/>
                </a:solidFill>
                <a:effectLst/>
                <a:latin typeface="+mn-lt"/>
                <a:ea typeface="+mn-ea"/>
                <a:cs typeface="+mn-cs"/>
              </a:rPr>
              <a:t>DSL</a:t>
            </a:r>
            <a:r>
              <a:rPr lang="zh-CN" altLang="en-US" sz="1200" b="0" i="0" kern="1200" dirty="0">
                <a:solidFill>
                  <a:schemeClr val="tx1"/>
                </a:solidFill>
                <a:effectLst/>
                <a:latin typeface="+mn-lt"/>
                <a:ea typeface="+mn-ea"/>
                <a:cs typeface="+mn-cs"/>
              </a:rPr>
              <a:t>）来编写可执行规范。这些规范可用于生成测试并自动记录需求解需求并确保应用程序满足用户的需求</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TDD</a:t>
            </a:r>
            <a:r>
              <a:rPr lang="zh-CN" altLang="en-US" sz="1200" b="0" i="0" kern="1200" dirty="0">
                <a:solidFill>
                  <a:schemeClr val="tx1"/>
                </a:solidFill>
                <a:effectLst/>
                <a:latin typeface="+mn-lt"/>
                <a:ea typeface="+mn-ea"/>
                <a:cs typeface="+mn-cs"/>
              </a:rPr>
              <a:t>涉及将应用程序分解为功能，开发者为每个单元创建测试以验证代码</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155</a:t>
            </a:fld>
            <a:endParaRPr lang="zh-CN" altLang="en-US"/>
          </a:p>
        </p:txBody>
      </p:sp>
    </p:spTree>
    <p:extLst>
      <p:ext uri="{BB962C8B-B14F-4D97-AF65-F5344CB8AC3E}">
        <p14:creationId xmlns:p14="http://schemas.microsoft.com/office/powerpoint/2010/main" val="9880706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这是不切实际的。这影响了建设预算，承包商的利润空间以及进度表。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162</a:t>
            </a:fld>
            <a:endParaRPr lang="zh-CN" altLang="en-US"/>
          </a:p>
        </p:txBody>
      </p:sp>
    </p:spTree>
    <p:extLst>
      <p:ext uri="{BB962C8B-B14F-4D97-AF65-F5344CB8AC3E}">
        <p14:creationId xmlns:p14="http://schemas.microsoft.com/office/powerpoint/2010/main" val="230737114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这将影响材料、设计和生产时间，削减预算和时间表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163</a:t>
            </a:fld>
            <a:endParaRPr lang="zh-CN" altLang="en-US"/>
          </a:p>
        </p:txBody>
      </p:sp>
    </p:spTree>
    <p:extLst>
      <p:ext uri="{BB962C8B-B14F-4D97-AF65-F5344CB8AC3E}">
        <p14:creationId xmlns:p14="http://schemas.microsoft.com/office/powerpoint/2010/main" val="35166573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A scope of work in project management is a formal document that defines the specific tasks, deliverables, timelines and responsibilities required to complete a project.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It establishes clear boundaries by outlining what is included and excluded, setting expectations for performance standards, acceptance criteria and work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以下为“范围外”项目内容：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1. </a:t>
            </a:r>
            <a:r>
              <a:rPr lang="zh-CN" altLang="en-US"/>
              <a:t>维护现有系统的升级与更新</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2. </a:t>
            </a:r>
            <a:r>
              <a:rPr lang="zh-CN" altLang="en-US"/>
              <a:t>为项目提供长期的技术支持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3. </a:t>
            </a:r>
            <a:r>
              <a:rPr lang="zh-CN" altLang="en-US"/>
              <a:t>负责项目的市场营销与推广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4. </a:t>
            </a:r>
            <a:r>
              <a:rPr lang="zh-CN" altLang="en-US"/>
              <a:t>完成项目外的任何额外研究或调查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5. </a:t>
            </a:r>
            <a:r>
              <a:rPr lang="zh-CN" altLang="en-US"/>
              <a:t>项目相关的法律、税务咨询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6. </a:t>
            </a:r>
            <a:r>
              <a:rPr lang="zh-CN" altLang="en-US"/>
              <a:t>项目相关的内部培训与指导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7. </a:t>
            </a:r>
            <a:r>
              <a:rPr lang="zh-CN" altLang="en-US"/>
              <a:t>项目的扩展功能开发，除非在合同中特别约定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8. </a:t>
            </a:r>
            <a:r>
              <a:rPr lang="zh-CN" altLang="en-US"/>
              <a:t>任何不在合同明确范围内的工作内容</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165</a:t>
            </a:fld>
            <a:endParaRPr lang="zh-CN" altLang="en-US"/>
          </a:p>
        </p:txBody>
      </p:sp>
    </p:spTree>
    <p:extLst>
      <p:ext uri="{BB962C8B-B14F-4D97-AF65-F5344CB8AC3E}">
        <p14:creationId xmlns:p14="http://schemas.microsoft.com/office/powerpoint/2010/main" val="33393649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166</a:t>
            </a:fld>
            <a:endParaRPr lang="zh-CN" altLang="en-US"/>
          </a:p>
        </p:txBody>
      </p:sp>
    </p:spTree>
    <p:extLst>
      <p:ext uri="{BB962C8B-B14F-4D97-AF65-F5344CB8AC3E}">
        <p14:creationId xmlns:p14="http://schemas.microsoft.com/office/powerpoint/2010/main" val="425562097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7212E-9E22-82F6-13F4-2AB3DD3077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797800D-A8BE-3090-96FD-BA3B25A11E5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77855E8-B2DB-266C-8661-32350E3A992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C4317DF-263F-186E-E56A-D0BBD8E249CE}"/>
              </a:ext>
            </a:extLst>
          </p:cNvPr>
          <p:cNvSpPr>
            <a:spLocks noGrp="1"/>
          </p:cNvSpPr>
          <p:nvPr>
            <p:ph type="sldNum" sz="quarter" idx="5"/>
          </p:nvPr>
        </p:nvSpPr>
        <p:spPr/>
        <p:txBody>
          <a:bodyPr/>
          <a:lstStyle/>
          <a:p>
            <a:fld id="{6D27E3F6-C3AC-4131-BD60-F31F1EE091B2}" type="slidenum">
              <a:rPr lang="zh-CN" altLang="en-US" smtClean="0"/>
              <a:t>167</a:t>
            </a:fld>
            <a:endParaRPr lang="zh-CN" altLang="en-US"/>
          </a:p>
        </p:txBody>
      </p:sp>
    </p:spTree>
    <p:extLst>
      <p:ext uri="{BB962C8B-B14F-4D97-AF65-F5344CB8AC3E}">
        <p14:creationId xmlns:p14="http://schemas.microsoft.com/office/powerpoint/2010/main" val="288336454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在实际工作中，我们通常先用“用户地图”梳理流程（确定做什么 </a:t>
            </a:r>
            <a:r>
              <a:rPr lang="en-US" altLang="zh-CN"/>
              <a:t>Feature</a:t>
            </a:r>
            <a:r>
              <a:rPr lang="zh-CN" altLang="en-US"/>
              <a:t>），然后再用“工作分解图”把 </a:t>
            </a:r>
            <a:r>
              <a:rPr lang="en-US" altLang="zh-CN"/>
              <a:t>Feature </a:t>
            </a:r>
            <a:r>
              <a:rPr lang="zh-CN" altLang="en-US"/>
              <a:t>拆成 </a:t>
            </a:r>
            <a:r>
              <a:rPr lang="en-US" altLang="zh-CN"/>
              <a:t>Story </a:t>
            </a:r>
            <a:r>
              <a:rPr lang="zh-CN" altLang="en-US"/>
              <a:t>和 </a:t>
            </a:r>
            <a:r>
              <a:rPr lang="en-US" altLang="zh-CN"/>
              <a:t>Task</a:t>
            </a:r>
            <a:r>
              <a:rPr lang="zh-CN" altLang="en-US"/>
              <a:t>（确定怎么干）。</a:t>
            </a:r>
            <a:endParaRPr lang="en-US" altLang="zh-CN"/>
          </a:p>
          <a:p>
            <a:r>
              <a:rPr lang="zh-CN" altLang="en-US"/>
              <a:t>两者是互补的，而不是对立的。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175</a:t>
            </a:fld>
            <a:endParaRPr lang="zh-CN" altLang="en-US"/>
          </a:p>
        </p:txBody>
      </p:sp>
    </p:spTree>
    <p:extLst>
      <p:ext uri="{BB962C8B-B14F-4D97-AF65-F5344CB8AC3E}">
        <p14:creationId xmlns:p14="http://schemas.microsoft.com/office/powerpoint/2010/main" val="9129567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Epic</a:t>
            </a:r>
            <a:r>
              <a:rPr lang="zh-CN" altLang="en-US"/>
              <a:t>：通常是战略级目标，可能跨越数月、多个团队、多个发布版本。</a:t>
            </a:r>
          </a:p>
          <a:p>
            <a:r>
              <a:rPr lang="zh-CN" altLang="en-US"/>
              <a:t>例：“构建完整的在线支付系统”</a:t>
            </a:r>
          </a:p>
          <a:p>
            <a:r>
              <a:rPr lang="en-US" altLang="zh-CN"/>
              <a:t>Feature</a:t>
            </a:r>
            <a:r>
              <a:rPr lang="zh-CN" altLang="en-US"/>
              <a:t>：是 </a:t>
            </a:r>
            <a:r>
              <a:rPr lang="en-US" altLang="zh-CN"/>
              <a:t>Epic </a:t>
            </a:r>
            <a:r>
              <a:rPr lang="zh-CN" altLang="en-US"/>
              <a:t>下的一个功能性子集，通常可以在一个或几个迭代内完成，代表一个独立可用的功能模块。</a:t>
            </a:r>
          </a:p>
          <a:p>
            <a:r>
              <a:rPr lang="zh-CN" altLang="en-US"/>
              <a:t>例：“支持信用卡支付”、“支持支付宝扫码支付”、“支持分期付款”</a:t>
            </a:r>
          </a:p>
          <a:p>
            <a:r>
              <a:rPr lang="en-US" altLang="zh-CN"/>
              <a:t>User Story</a:t>
            </a:r>
            <a:r>
              <a:rPr lang="zh-CN" altLang="en-US"/>
              <a:t>：是从用户角度描述的具体功能点，可在单个迭代内完成。</a:t>
            </a:r>
          </a:p>
          <a:p>
            <a:r>
              <a:rPr lang="zh-CN" altLang="en-US"/>
              <a:t>例：“作为用户，我可以在 </a:t>
            </a:r>
            <a:r>
              <a:rPr lang="en-US" altLang="zh-CN"/>
              <a:t>checkout </a:t>
            </a:r>
            <a:r>
              <a:rPr lang="zh-CN" altLang="en-US"/>
              <a:t>页面选择信用卡支付方式”</a:t>
            </a:r>
            <a:endParaRPr lang="en-US" altLang="zh-CN"/>
          </a:p>
          <a:p>
            <a:endParaRPr lang="en-US" altLang="zh-CN"/>
          </a:p>
          <a:p>
            <a:r>
              <a:rPr lang="zh-CN" altLang="en-US"/>
              <a:t>以“网上买书”为例</a:t>
            </a:r>
          </a:p>
          <a:p>
            <a:r>
              <a:rPr lang="en-US" altLang="zh-CN"/>
              <a:t>1. </a:t>
            </a:r>
            <a:r>
              <a:rPr lang="zh-CN" altLang="en-US"/>
              <a:t>用户地图视角 </a:t>
            </a:r>
            <a:r>
              <a:rPr lang="en-US" altLang="zh-CN"/>
              <a:t>(</a:t>
            </a:r>
            <a:r>
              <a:rPr lang="zh-CN" altLang="en-US"/>
              <a:t>用户怎么买书？</a:t>
            </a:r>
            <a:r>
              <a:rPr lang="en-US" altLang="zh-CN"/>
              <a:t>)</a:t>
            </a:r>
          </a:p>
          <a:p>
            <a:r>
              <a:rPr lang="en-US" altLang="zh-CN"/>
              <a:t>Activity (</a:t>
            </a:r>
            <a:r>
              <a:rPr lang="zh-CN" altLang="en-US"/>
              <a:t>活动</a:t>
            </a:r>
            <a:r>
              <a:rPr lang="en-US" altLang="zh-CN"/>
              <a:t>): </a:t>
            </a:r>
            <a:r>
              <a:rPr lang="zh-CN" altLang="en-US"/>
              <a:t>购买书籍</a:t>
            </a:r>
          </a:p>
          <a:p>
            <a:r>
              <a:rPr lang="en-US" altLang="zh-CN"/>
              <a:t>Task (</a:t>
            </a:r>
            <a:r>
              <a:rPr lang="zh-CN" altLang="en-US"/>
              <a:t>用户任务</a:t>
            </a:r>
            <a:r>
              <a:rPr lang="en-US" altLang="zh-CN"/>
              <a:t>): </a:t>
            </a:r>
            <a:r>
              <a:rPr lang="zh-CN" altLang="en-US"/>
              <a:t>搜索书籍 </a:t>
            </a:r>
            <a:r>
              <a:rPr lang="en-US" altLang="zh-CN"/>
              <a:t>-&gt; </a:t>
            </a:r>
            <a:r>
              <a:rPr lang="zh-CN" altLang="en-US"/>
              <a:t>查看详情 </a:t>
            </a:r>
            <a:r>
              <a:rPr lang="en-US" altLang="zh-CN"/>
              <a:t>-&gt; </a:t>
            </a:r>
            <a:r>
              <a:rPr lang="zh-CN" altLang="en-US"/>
              <a:t>加入购物车 </a:t>
            </a:r>
            <a:r>
              <a:rPr lang="en-US" altLang="zh-CN"/>
              <a:t>-&gt; </a:t>
            </a:r>
            <a:r>
              <a:rPr lang="zh-CN" altLang="en-US"/>
              <a:t>支付</a:t>
            </a:r>
          </a:p>
          <a:p>
            <a:r>
              <a:rPr lang="en-US" altLang="zh-CN"/>
              <a:t>Feature (</a:t>
            </a:r>
            <a:r>
              <a:rPr lang="zh-CN" altLang="en-US"/>
              <a:t>特性</a:t>
            </a:r>
            <a:r>
              <a:rPr lang="en-US" altLang="zh-CN"/>
              <a:t>/</a:t>
            </a:r>
            <a:r>
              <a:rPr lang="zh-CN" altLang="en-US"/>
              <a:t>功能</a:t>
            </a:r>
            <a:r>
              <a:rPr lang="en-US" altLang="zh-CN"/>
              <a:t>): </a:t>
            </a:r>
            <a:r>
              <a:rPr lang="zh-CN" altLang="en-US"/>
              <a:t>搜索框、商品详情页、购物车图标、支付宝接口</a:t>
            </a:r>
          </a:p>
          <a:p>
            <a:r>
              <a:rPr lang="en-US" altLang="zh-CN"/>
              <a:t>(</a:t>
            </a:r>
            <a:r>
              <a:rPr lang="zh-CN" altLang="en-US"/>
              <a:t>这里是从左到右的时间流</a:t>
            </a:r>
            <a:r>
              <a:rPr lang="en-US" altLang="zh-CN"/>
              <a:t>)</a:t>
            </a:r>
          </a:p>
          <a:p>
            <a:endParaRPr lang="en-US" altLang="zh-CN"/>
          </a:p>
          <a:p>
            <a:r>
              <a:rPr lang="en-US" altLang="zh-CN"/>
              <a:t>2. </a:t>
            </a:r>
            <a:r>
              <a:rPr lang="zh-CN" altLang="en-US"/>
              <a:t>工作分解视角 </a:t>
            </a:r>
            <a:r>
              <a:rPr lang="en-US" altLang="zh-CN"/>
              <a:t>(</a:t>
            </a:r>
            <a:r>
              <a:rPr lang="zh-CN" altLang="en-US"/>
              <a:t>团队怎么做“购物车”这个功能？</a:t>
            </a:r>
            <a:r>
              <a:rPr lang="en-US" altLang="zh-CN"/>
              <a:t>)</a:t>
            </a:r>
          </a:p>
          <a:p>
            <a:r>
              <a:rPr lang="en-US" altLang="zh-CN"/>
              <a:t>Epic: </a:t>
            </a:r>
            <a:r>
              <a:rPr lang="zh-CN" altLang="en-US"/>
              <a:t>构建电商平台</a:t>
            </a:r>
          </a:p>
          <a:p>
            <a:r>
              <a:rPr lang="en-US" altLang="zh-CN"/>
              <a:t>Feature: </a:t>
            </a:r>
            <a:r>
              <a:rPr lang="zh-CN" altLang="en-US"/>
              <a:t>购物车模块</a:t>
            </a:r>
          </a:p>
          <a:p>
            <a:r>
              <a:rPr lang="en-US" altLang="zh-CN"/>
              <a:t>User Story: </a:t>
            </a:r>
            <a:r>
              <a:rPr lang="zh-CN" altLang="en-US"/>
              <a:t>作为用户，我想把书加入购物车，以便稍后一起结账。</a:t>
            </a:r>
          </a:p>
          <a:p>
            <a:r>
              <a:rPr lang="en-US" altLang="zh-CN"/>
              <a:t>Task (</a:t>
            </a:r>
            <a:r>
              <a:rPr lang="zh-CN" altLang="en-US"/>
              <a:t>开发任务</a:t>
            </a:r>
            <a:r>
              <a:rPr lang="en-US" altLang="zh-CN"/>
              <a:t>):</a:t>
            </a:r>
          </a:p>
          <a:p>
            <a:r>
              <a:rPr lang="zh-CN" altLang="en-US"/>
              <a:t>后端：创建 </a:t>
            </a:r>
            <a:r>
              <a:rPr lang="en-US" altLang="zh-CN"/>
              <a:t>Cart </a:t>
            </a:r>
            <a:r>
              <a:rPr lang="zh-CN" altLang="en-US"/>
              <a:t>数据库表</a:t>
            </a:r>
          </a:p>
          <a:p>
            <a:r>
              <a:rPr lang="zh-CN" altLang="en-US"/>
              <a:t>前端：绘制购物车图标</a:t>
            </a:r>
          </a:p>
          <a:p>
            <a:r>
              <a:rPr lang="zh-CN" altLang="en-US"/>
              <a:t>测试：验证添加数量上限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176</a:t>
            </a:fld>
            <a:endParaRPr lang="zh-CN" altLang="en-US"/>
          </a:p>
        </p:txBody>
      </p:sp>
    </p:spTree>
    <p:extLst>
      <p:ext uri="{BB962C8B-B14F-4D97-AF65-F5344CB8AC3E}">
        <p14:creationId xmlns:p14="http://schemas.microsoft.com/office/powerpoint/2010/main" val="178872067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177</a:t>
            </a:fld>
            <a:endParaRPr lang="zh-CN" altLang="en-US"/>
          </a:p>
        </p:txBody>
      </p:sp>
    </p:spTree>
    <p:extLst>
      <p:ext uri="{BB962C8B-B14F-4D97-AF65-F5344CB8AC3E}">
        <p14:creationId xmlns:p14="http://schemas.microsoft.com/office/powerpoint/2010/main" val="212334269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178</a:t>
            </a:fld>
            <a:endParaRPr lang="zh-CN" altLang="en-US"/>
          </a:p>
        </p:txBody>
      </p:sp>
    </p:spTree>
    <p:extLst>
      <p:ext uri="{BB962C8B-B14F-4D97-AF65-F5344CB8AC3E}">
        <p14:creationId xmlns:p14="http://schemas.microsoft.com/office/powerpoint/2010/main" val="17545861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44E1A-DB23-A1DA-514A-76C4B3C895E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DCFCAF5-970B-93FC-E122-01960E69EAA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758B7F-B497-9068-4719-8B542D363EDD}"/>
              </a:ext>
            </a:extLst>
          </p:cNvPr>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a:extLst>
              <a:ext uri="{FF2B5EF4-FFF2-40B4-BE49-F238E27FC236}">
                <a16:creationId xmlns:a16="http://schemas.microsoft.com/office/drawing/2014/main" id="{9F55A2EA-651A-1F45-D608-14D0A1D397B6}"/>
              </a:ext>
            </a:extLst>
          </p:cNvPr>
          <p:cNvSpPr>
            <a:spLocks noGrp="1"/>
          </p:cNvSpPr>
          <p:nvPr>
            <p:ph type="sldNum" sz="quarter" idx="5"/>
          </p:nvPr>
        </p:nvSpPr>
        <p:spPr/>
        <p:txBody>
          <a:bodyPr/>
          <a:lstStyle/>
          <a:p>
            <a:fld id="{6D27E3F6-C3AC-4131-BD60-F31F1EE091B2}" type="slidenum">
              <a:rPr lang="zh-CN" altLang="en-US" smtClean="0"/>
              <a:t>179</a:t>
            </a:fld>
            <a:endParaRPr lang="zh-CN" altLang="en-US"/>
          </a:p>
        </p:txBody>
      </p:sp>
    </p:spTree>
    <p:extLst>
      <p:ext uri="{BB962C8B-B14F-4D97-AF65-F5344CB8AC3E}">
        <p14:creationId xmlns:p14="http://schemas.microsoft.com/office/powerpoint/2010/main" val="372599683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定义完成标准 → 避免“我以为你做完了”的误会</a:t>
            </a:r>
          </a:p>
          <a:p>
            <a:r>
              <a:rPr lang="zh-CN" altLang="en-US"/>
              <a:t>促进团队共识 → 让所有人对“做什么、为什么做”达成一致</a:t>
            </a:r>
          </a:p>
          <a:p>
            <a:r>
              <a:rPr lang="zh-CN" altLang="en-US"/>
              <a:t>驱动质量保障 → 成为测试设计和自动化脚本的基础</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180</a:t>
            </a:fld>
            <a:endParaRPr lang="zh-CN" altLang="en-US"/>
          </a:p>
        </p:txBody>
      </p:sp>
    </p:spTree>
    <p:extLst>
      <p:ext uri="{BB962C8B-B14F-4D97-AF65-F5344CB8AC3E}">
        <p14:creationId xmlns:p14="http://schemas.microsoft.com/office/powerpoint/2010/main" val="389118152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SOW </a:t>
            </a:r>
            <a:r>
              <a:rPr lang="zh-CN" altLang="en-US" dirty="0"/>
              <a:t>是你和建筑公司签的合同，规定了盖什么样的楼、什么时候盖好、多少钱。</a:t>
            </a:r>
          </a:p>
          <a:p>
            <a:r>
              <a:rPr lang="en-US" altLang="zh-CN" dirty="0"/>
              <a:t>SRS </a:t>
            </a:r>
            <a:r>
              <a:rPr lang="zh-CN" altLang="en-US" dirty="0"/>
              <a:t>是详细的设计图纸，规定了窗户多高、电线怎么走、用什么标号的水泥。</a:t>
            </a:r>
          </a:p>
          <a:p>
            <a:r>
              <a:rPr lang="en-US" altLang="zh-CN" dirty="0"/>
              <a:t>WBS </a:t>
            </a:r>
            <a:r>
              <a:rPr lang="zh-CN" altLang="en-US" dirty="0"/>
              <a:t>是把盖楼这件事拆解成的任务清单（挖地基、砌墙、装水电）。</a:t>
            </a:r>
          </a:p>
          <a:p>
            <a:r>
              <a:rPr lang="en-US" altLang="zh-CN" dirty="0"/>
              <a:t>PACKAGE </a:t>
            </a:r>
            <a:r>
              <a:rPr lang="zh-CN" altLang="en-US" dirty="0"/>
              <a:t>是任务清单里最底层的具体“工作包”，比如“安装一楼大厅的水晶灯”，这是可以分配给具体某个人去干的活。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181</a:t>
            </a:fld>
            <a:endParaRPr lang="zh-CN" altLang="en-US"/>
          </a:p>
        </p:txBody>
      </p:sp>
    </p:spTree>
    <p:extLst>
      <p:ext uri="{BB962C8B-B14F-4D97-AF65-F5344CB8AC3E}">
        <p14:creationId xmlns:p14="http://schemas.microsoft.com/office/powerpoint/2010/main" val="364850629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182</a:t>
            </a:fld>
            <a:endParaRPr lang="zh-CN" altLang="en-US"/>
          </a:p>
        </p:txBody>
      </p:sp>
    </p:spTree>
    <p:extLst>
      <p:ext uri="{BB962C8B-B14F-4D97-AF65-F5344CB8AC3E}">
        <p14:creationId xmlns:p14="http://schemas.microsoft.com/office/powerpoint/2010/main" val="177342394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前期低价中标，占地盘；后期漫天要价，绑架客户</a:t>
            </a:r>
          </a:p>
          <a:p>
            <a:r>
              <a:rPr lang="zh-CN" altLang="en-US" sz="1200" b="0" i="0" kern="1200" dirty="0">
                <a:solidFill>
                  <a:schemeClr val="tx1"/>
                </a:solidFill>
                <a:effectLst/>
                <a:latin typeface="+mn-lt"/>
                <a:ea typeface="+mn-ea"/>
                <a:cs typeface="+mn-cs"/>
              </a:rPr>
              <a:t>缺少科学客观的评估依据；烫手山芋，六拍法</a:t>
            </a:r>
            <a:endParaRPr lang="en-US" altLang="zh-CN" sz="1200" b="0" i="0" kern="1200" dirty="0">
              <a:solidFill>
                <a:schemeClr val="tx1"/>
              </a:solidFill>
              <a:effectLst/>
              <a:latin typeface="+mn-lt"/>
              <a:ea typeface="+mn-ea"/>
              <a:cs typeface="+mn-cs"/>
            </a:endParaRPr>
          </a:p>
          <a:p>
            <a:endParaRPr lang="zh-CN" altLang="en-US"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双方无法界定软件成本： 买卖双方对于软件开发究竟需要多少人力、物力和时间，往往没有统一的认知标准，导致成本界定模糊。</a:t>
            </a:r>
          </a:p>
          <a:p>
            <a:r>
              <a:rPr lang="zh-CN" altLang="en-US" sz="1200" b="0" i="0" kern="1200" dirty="0">
                <a:solidFill>
                  <a:schemeClr val="tx1"/>
                </a:solidFill>
                <a:effectLst/>
                <a:latin typeface="+mn-lt"/>
                <a:ea typeface="+mn-ea"/>
                <a:cs typeface="+mn-cs"/>
              </a:rPr>
              <a:t>缺乏合理的议价依据：由于成本不清，谈判时没有客观的基准，双方只能凭借经验和直觉进行拉锯战，难以达成一个公平合理的交易价格</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无法就变更范围达成一致： 软件项目的需求变更是常态，但当需要为这些变更付费时，双方往往对“变更是否发生”、“变更的范围有多大”产生严重分歧。</a:t>
            </a:r>
          </a:p>
          <a:p>
            <a:r>
              <a:rPr lang="zh-CN" altLang="en-US" sz="1200" b="0" i="0" kern="1200" dirty="0">
                <a:solidFill>
                  <a:schemeClr val="tx1"/>
                </a:solidFill>
                <a:effectLst/>
                <a:latin typeface="+mn-lt"/>
                <a:ea typeface="+mn-ea"/>
                <a:cs typeface="+mn-cs"/>
              </a:rPr>
              <a:t>变更内容的计价难题： 即使确认了变更，如何对这些变更的工作量进行定价也是一个巨大的挑战，没有标准的计价模型，导致结算过程纠缠不清，充满“扯皮”。</a:t>
            </a:r>
          </a:p>
          <a:p>
            <a:endParaRPr lang="zh-CN" altLang="en-US" sz="1200" b="0" i="0" kern="1200" dirty="0">
              <a:solidFill>
                <a:schemeClr val="tx1"/>
              </a:solidFill>
              <a:effectLst/>
              <a:latin typeface="+mn-lt"/>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184</a:t>
            </a:fld>
            <a:endParaRPr lang="zh-CN" altLang="en-US"/>
          </a:p>
        </p:txBody>
      </p:sp>
    </p:spTree>
    <p:extLst>
      <p:ext uri="{BB962C8B-B14F-4D97-AF65-F5344CB8AC3E}">
        <p14:creationId xmlns:p14="http://schemas.microsoft.com/office/powerpoint/2010/main" val="87736221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186</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人天：指一个人在一个标准工作日内完成的工作量，通常按</a:t>
            </a:r>
            <a:r>
              <a:rPr lang="en-US" altLang="zh-CN" dirty="0"/>
              <a:t>8</a:t>
            </a:r>
            <a:r>
              <a:rPr lang="zh-CN" altLang="en-US" dirty="0"/>
              <a:t>小时计算。例如，一个任务需要“</a:t>
            </a:r>
            <a:r>
              <a:rPr lang="en-US" altLang="zh-CN" dirty="0"/>
              <a:t>5</a:t>
            </a:r>
            <a:r>
              <a:rPr lang="zh-CN" altLang="en-US" dirty="0"/>
              <a:t>人天”，意味着一个人需要</a:t>
            </a:r>
            <a:r>
              <a:rPr lang="en-US" altLang="zh-CN" dirty="0"/>
              <a:t>5</a:t>
            </a:r>
            <a:r>
              <a:rPr lang="zh-CN" altLang="en-US" dirty="0"/>
              <a:t>天完成，或</a:t>
            </a:r>
            <a:r>
              <a:rPr lang="en-US" altLang="zh-CN" dirty="0"/>
              <a:t>5</a:t>
            </a:r>
            <a:r>
              <a:rPr lang="zh-CN" altLang="en-US" dirty="0"/>
              <a:t>个人</a:t>
            </a:r>
            <a:r>
              <a:rPr lang="en-US" altLang="zh-CN" dirty="0"/>
              <a:t>1</a:t>
            </a:r>
            <a:r>
              <a:rPr lang="zh-CN" altLang="en-US" dirty="0"/>
              <a:t>天完成，或</a:t>
            </a:r>
            <a:r>
              <a:rPr lang="en-US" altLang="zh-CN" dirty="0"/>
              <a:t>2</a:t>
            </a:r>
            <a:r>
              <a:rPr lang="zh-CN" altLang="en-US" dirty="0"/>
              <a:t>个人</a:t>
            </a:r>
            <a:r>
              <a:rPr lang="en-US" altLang="zh-CN" dirty="0"/>
              <a:t>2.5</a:t>
            </a:r>
            <a:r>
              <a:rPr lang="zh-CN" altLang="en-US" dirty="0"/>
              <a:t>天完成，核心是总工作量为</a:t>
            </a:r>
            <a:r>
              <a:rPr lang="en-US" altLang="zh-CN" dirty="0"/>
              <a:t>5</a:t>
            </a:r>
            <a:r>
              <a:rPr lang="zh-CN" altLang="en-US" dirty="0"/>
              <a:t>个“人天”。</a:t>
            </a:r>
          </a:p>
          <a:p>
            <a:r>
              <a:rPr lang="zh-CN" altLang="en-US" dirty="0"/>
              <a:t>人月：指一个人在一个标准工作月内完成的工作量，通常按</a:t>
            </a:r>
            <a:r>
              <a:rPr lang="en-US" altLang="zh-CN" dirty="0"/>
              <a:t>20</a:t>
            </a:r>
            <a:r>
              <a:rPr lang="zh-CN" altLang="en-US" dirty="0"/>
              <a:t>个工作日、</a:t>
            </a:r>
            <a:r>
              <a:rPr lang="en-US" altLang="zh-CN" dirty="0"/>
              <a:t>160</a:t>
            </a:r>
            <a:r>
              <a:rPr lang="zh-CN" altLang="en-US" dirty="0"/>
              <a:t>小时计算。例如，一个项目需要“</a:t>
            </a:r>
            <a:r>
              <a:rPr lang="en-US" altLang="zh-CN" dirty="0"/>
              <a:t>3</a:t>
            </a:r>
            <a:r>
              <a:rPr lang="zh-CN" altLang="en-US" dirty="0"/>
              <a:t>人月”，意味着一个人需要</a:t>
            </a:r>
            <a:r>
              <a:rPr lang="en-US" altLang="zh-CN" dirty="0"/>
              <a:t>3</a:t>
            </a:r>
            <a:r>
              <a:rPr lang="zh-CN" altLang="en-US" dirty="0"/>
              <a:t>个月完成，或</a:t>
            </a:r>
            <a:r>
              <a:rPr lang="en-US" altLang="zh-CN" dirty="0"/>
              <a:t>3</a:t>
            </a:r>
            <a:r>
              <a:rPr lang="zh-CN" altLang="en-US" dirty="0"/>
              <a:t>个人</a:t>
            </a:r>
            <a:r>
              <a:rPr lang="en-US" altLang="zh-CN" dirty="0"/>
              <a:t>1</a:t>
            </a:r>
            <a:r>
              <a:rPr lang="zh-CN" altLang="en-US" dirty="0"/>
              <a:t>个月完成，或</a:t>
            </a:r>
            <a:r>
              <a:rPr lang="en-US" altLang="zh-CN" dirty="0"/>
              <a:t>6</a:t>
            </a:r>
            <a:r>
              <a:rPr lang="zh-CN" altLang="en-US" dirty="0"/>
              <a:t>个人半个月完成。</a:t>
            </a:r>
          </a:p>
          <a:p>
            <a:r>
              <a:rPr lang="zh-CN" altLang="en-US" dirty="0"/>
              <a:t>人年：指一个人在一个标准工作年内完成的工作量，通常按</a:t>
            </a:r>
            <a:r>
              <a:rPr lang="en-US" altLang="zh-CN" dirty="0"/>
              <a:t>12</a:t>
            </a:r>
            <a:r>
              <a:rPr lang="zh-CN" altLang="en-US" dirty="0"/>
              <a:t>个月、</a:t>
            </a:r>
            <a:r>
              <a:rPr lang="en-US" altLang="zh-CN" dirty="0"/>
              <a:t>240</a:t>
            </a:r>
            <a:r>
              <a:rPr lang="zh-CN" altLang="en-US" dirty="0"/>
              <a:t>个工作日、</a:t>
            </a:r>
            <a:r>
              <a:rPr lang="en-US" altLang="zh-CN" dirty="0"/>
              <a:t>1920</a:t>
            </a:r>
            <a:r>
              <a:rPr lang="zh-CN" altLang="en-US" dirty="0"/>
              <a:t>小时计算。例如，一个项目需要“</a:t>
            </a:r>
            <a:r>
              <a:rPr lang="en-US" altLang="zh-CN" dirty="0"/>
              <a:t>2</a:t>
            </a:r>
            <a:r>
              <a:rPr lang="zh-CN" altLang="en-US" dirty="0"/>
              <a:t>人年”，意味着一个人需要</a:t>
            </a:r>
            <a:r>
              <a:rPr lang="en-US" altLang="zh-CN" dirty="0"/>
              <a:t>2</a:t>
            </a:r>
            <a:r>
              <a:rPr lang="zh-CN" altLang="en-US" dirty="0"/>
              <a:t>年完成，或</a:t>
            </a:r>
            <a:r>
              <a:rPr lang="en-US" altLang="zh-CN" dirty="0"/>
              <a:t>2</a:t>
            </a:r>
            <a:r>
              <a:rPr lang="zh-CN" altLang="en-US" dirty="0"/>
              <a:t>个人</a:t>
            </a:r>
            <a:r>
              <a:rPr lang="en-US" altLang="zh-CN" dirty="0"/>
              <a:t>1</a:t>
            </a:r>
            <a:r>
              <a:rPr lang="zh-CN" altLang="en-US" dirty="0"/>
              <a:t>年完成，或</a:t>
            </a:r>
            <a:r>
              <a:rPr lang="en-US" altLang="zh-CN" dirty="0"/>
              <a:t>24</a:t>
            </a:r>
            <a:r>
              <a:rPr lang="zh-CN" altLang="en-US" dirty="0"/>
              <a:t>个人</a:t>
            </a:r>
            <a:r>
              <a:rPr lang="en-US" altLang="zh-CN" dirty="0"/>
              <a:t>1</a:t>
            </a:r>
            <a:r>
              <a:rPr lang="zh-CN" altLang="en-US" dirty="0"/>
              <a:t>个月完成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187</a:t>
            </a:fld>
            <a:endParaRPr lang="zh-CN" altLang="en-US"/>
          </a:p>
        </p:txBody>
      </p:sp>
    </p:spTree>
    <p:extLst>
      <p:ext uri="{BB962C8B-B14F-4D97-AF65-F5344CB8AC3E}">
        <p14:creationId xmlns:p14="http://schemas.microsoft.com/office/powerpoint/2010/main" val="37804324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是否与项目直接相关？是否可分摊？是否已发生？</a:t>
            </a:r>
            <a:endParaRPr lang="en-US" altLang="zh-CN" dirty="0"/>
          </a:p>
          <a:p>
            <a:r>
              <a:rPr lang="zh-CN" altLang="en-US" sz="1200" b="0" i="0" kern="1200" dirty="0">
                <a:solidFill>
                  <a:schemeClr val="tx1"/>
                </a:solidFill>
                <a:effectLst/>
                <a:latin typeface="+mn-lt"/>
                <a:ea typeface="+mn-ea"/>
                <a:cs typeface="+mn-cs"/>
              </a:rPr>
              <a:t>区分直接人力成本与间接人力成本的核心标准之一。在成本管理中，这种区分主要基于成本是否能直接追溯到具体项目，而非单纯看人员归属</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间接成本需要分摊</a:t>
            </a:r>
            <a:endParaRPr lang="en-US" altLang="zh-CN" dirty="0"/>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188</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1. </a:t>
            </a:r>
            <a:r>
              <a:rPr lang="zh-CN" altLang="en-US" dirty="0"/>
              <a:t>固定成本（</a:t>
            </a:r>
            <a:r>
              <a:rPr lang="en-US" altLang="zh-CN" dirty="0"/>
              <a:t>Fixed Costs</a:t>
            </a:r>
            <a:r>
              <a:rPr lang="zh-CN" altLang="en-US" dirty="0"/>
              <a:t>）</a:t>
            </a:r>
          </a:p>
          <a:p>
            <a:r>
              <a:rPr lang="zh-CN" altLang="en-US" dirty="0"/>
              <a:t>定义：在一定业务量范围内，不随产量</a:t>
            </a:r>
            <a:r>
              <a:rPr lang="en-US" altLang="zh-CN" dirty="0"/>
              <a:t>/</a:t>
            </a:r>
            <a:r>
              <a:rPr lang="zh-CN" altLang="en-US" dirty="0"/>
              <a:t>销量变化而变化的成本（如厂房租金、管理人员工资）。</a:t>
            </a:r>
          </a:p>
          <a:p>
            <a:r>
              <a:rPr lang="zh-CN" altLang="en-US" dirty="0"/>
              <a:t>特点：总额固定，单位成本随产量增加而递减（“摊薄效应”）。</a:t>
            </a:r>
          </a:p>
          <a:p>
            <a:r>
              <a:rPr lang="en-US" altLang="zh-CN" dirty="0"/>
              <a:t>2. </a:t>
            </a:r>
            <a:r>
              <a:rPr lang="zh-CN" altLang="en-US" dirty="0"/>
              <a:t>可变成本（</a:t>
            </a:r>
            <a:r>
              <a:rPr lang="en-US" altLang="zh-CN" dirty="0"/>
              <a:t>Variable Costs</a:t>
            </a:r>
            <a:r>
              <a:rPr lang="zh-CN" altLang="en-US" dirty="0"/>
              <a:t>）</a:t>
            </a:r>
          </a:p>
          <a:p>
            <a:r>
              <a:rPr lang="zh-CN" altLang="en-US" dirty="0"/>
              <a:t>定义：随产量</a:t>
            </a:r>
            <a:r>
              <a:rPr lang="en-US" altLang="zh-CN" dirty="0"/>
              <a:t>/</a:t>
            </a:r>
            <a:r>
              <a:rPr lang="zh-CN" altLang="en-US" dirty="0"/>
              <a:t>销量变化成正比例变化的成本（如原材料、计件工资）。</a:t>
            </a:r>
          </a:p>
          <a:p>
            <a:r>
              <a:rPr lang="zh-CN" altLang="en-US" dirty="0"/>
              <a:t>特点：单位成本固定，总额随产量增加而递增。</a:t>
            </a:r>
          </a:p>
          <a:p>
            <a:r>
              <a:rPr lang="en-US" altLang="zh-CN" dirty="0"/>
              <a:t>3. </a:t>
            </a:r>
            <a:r>
              <a:rPr lang="zh-CN" altLang="en-US" dirty="0"/>
              <a:t>直接成本（</a:t>
            </a:r>
            <a:r>
              <a:rPr lang="en-US" altLang="zh-CN" dirty="0"/>
              <a:t>Direct Costs</a:t>
            </a:r>
            <a:r>
              <a:rPr lang="zh-CN" altLang="en-US" dirty="0"/>
              <a:t>）</a:t>
            </a:r>
          </a:p>
          <a:p>
            <a:r>
              <a:rPr lang="zh-CN" altLang="en-US" dirty="0"/>
              <a:t>定义：可直接追溯到特定产品</a:t>
            </a:r>
            <a:r>
              <a:rPr lang="en-US" altLang="zh-CN" dirty="0"/>
              <a:t>/</a:t>
            </a:r>
            <a:r>
              <a:rPr lang="zh-CN" altLang="en-US" dirty="0"/>
              <a:t>服务的成本（如生产某产品的专属原材料）。</a:t>
            </a:r>
          </a:p>
          <a:p>
            <a:r>
              <a:rPr lang="zh-CN" altLang="en-US" dirty="0"/>
              <a:t>特点：与“成本对象”（如某产品）的关联性强，核算时无需分摊。</a:t>
            </a:r>
          </a:p>
          <a:p>
            <a:r>
              <a:rPr lang="en-US" altLang="zh-CN" dirty="0"/>
              <a:t>4. </a:t>
            </a:r>
            <a:r>
              <a:rPr lang="zh-CN" altLang="en-US" dirty="0"/>
              <a:t>间接成本（</a:t>
            </a:r>
            <a:r>
              <a:rPr lang="en-US" altLang="zh-CN" dirty="0"/>
              <a:t>Indirect Costs</a:t>
            </a:r>
            <a:r>
              <a:rPr lang="zh-CN" altLang="en-US" dirty="0"/>
              <a:t>）</a:t>
            </a:r>
          </a:p>
          <a:p>
            <a:r>
              <a:rPr lang="zh-CN" altLang="en-US" dirty="0"/>
              <a:t>定义：需分摊到多个产品</a:t>
            </a:r>
            <a:r>
              <a:rPr lang="en-US" altLang="zh-CN" dirty="0"/>
              <a:t>/</a:t>
            </a:r>
            <a:r>
              <a:rPr lang="zh-CN" altLang="en-US" dirty="0"/>
              <a:t>服务的成本（如车间水电费、通用设备折旧）。</a:t>
            </a:r>
          </a:p>
          <a:p>
            <a:r>
              <a:rPr lang="zh-CN" altLang="en-US" dirty="0"/>
              <a:t>特点：与“成本对象”的关联性弱，需通过合理方法（如工时、产量）分摊。</a:t>
            </a:r>
          </a:p>
          <a:p>
            <a:r>
              <a:rPr lang="en-US" altLang="zh-CN" dirty="0"/>
              <a:t>5. </a:t>
            </a:r>
            <a:r>
              <a:rPr lang="zh-CN" altLang="en-US" dirty="0"/>
              <a:t>机会成本（</a:t>
            </a:r>
            <a:r>
              <a:rPr lang="en-US" altLang="zh-CN" dirty="0"/>
              <a:t>Opportunity Cost</a:t>
            </a:r>
            <a:r>
              <a:rPr lang="zh-CN" altLang="en-US" dirty="0"/>
              <a:t>）</a:t>
            </a:r>
          </a:p>
          <a:p>
            <a:r>
              <a:rPr lang="zh-CN" altLang="en-US" dirty="0"/>
              <a:t>定义：选择某方案时，放弃的其他方案的最大收益（如用资金投资</a:t>
            </a:r>
            <a:r>
              <a:rPr lang="en-US" altLang="zh-CN" dirty="0"/>
              <a:t>A</a:t>
            </a:r>
            <a:r>
              <a:rPr lang="zh-CN" altLang="en-US" dirty="0"/>
              <a:t>项目，放弃</a:t>
            </a:r>
            <a:r>
              <a:rPr lang="en-US" altLang="zh-CN" dirty="0"/>
              <a:t>B</a:t>
            </a:r>
            <a:r>
              <a:rPr lang="zh-CN" altLang="en-US" dirty="0"/>
              <a:t>项目的潜在收益）。</a:t>
            </a:r>
          </a:p>
          <a:p>
            <a:r>
              <a:rPr lang="zh-CN" altLang="en-US" dirty="0"/>
              <a:t>特点：无实际现金流出，但影响决策（“隐性成本”）。</a:t>
            </a:r>
          </a:p>
          <a:p>
            <a:r>
              <a:rPr lang="en-US" altLang="zh-CN" dirty="0"/>
              <a:t>6. </a:t>
            </a:r>
            <a:r>
              <a:rPr lang="zh-CN" altLang="en-US" dirty="0"/>
              <a:t>沉默成本（</a:t>
            </a:r>
            <a:r>
              <a:rPr lang="en-US" altLang="zh-CN" dirty="0"/>
              <a:t>Sunk Cost</a:t>
            </a:r>
            <a:r>
              <a:rPr lang="zh-CN" altLang="en-US" dirty="0"/>
              <a:t>）</a:t>
            </a:r>
          </a:p>
          <a:p>
            <a:r>
              <a:rPr lang="zh-CN" altLang="en-US" dirty="0"/>
              <a:t>定义：已发生且不可收回的成本（如已投入的研发费用、设备购置款）。</a:t>
            </a:r>
          </a:p>
          <a:p>
            <a:r>
              <a:rPr lang="zh-CN" altLang="en-US" dirty="0"/>
              <a:t>特点：与未来决策无关（决策应基于“未来收益”，而非“过去投入”）。</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189</a:t>
            </a:fld>
            <a:endParaRPr lang="zh-CN" altLang="en-US"/>
          </a:p>
        </p:txBody>
      </p:sp>
    </p:spTree>
    <p:extLst>
      <p:ext uri="{BB962C8B-B14F-4D97-AF65-F5344CB8AC3E}">
        <p14:creationId xmlns:p14="http://schemas.microsoft.com/office/powerpoint/2010/main" val="2590403190"/>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190</a:t>
            </a:fld>
            <a:endParaRPr lang="zh-CN" altLang="en-US"/>
          </a:p>
        </p:txBody>
      </p:sp>
    </p:spTree>
    <p:extLst>
      <p:ext uri="{BB962C8B-B14F-4D97-AF65-F5344CB8AC3E}">
        <p14:creationId xmlns:p14="http://schemas.microsoft.com/office/powerpoint/2010/main" val="796971099"/>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如何显示行号？</a:t>
            </a:r>
            <a:endParaRPr lang="en-US" altLang="zh-CN" dirty="0"/>
          </a:p>
          <a:p>
            <a:r>
              <a:rPr lang="zh-CN" altLang="en-US" dirty="0"/>
              <a:t>参数估算：使用数学模型；依赖历史数据；准确性由模型质量和数据可靠性决定的方法</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193</a:t>
            </a:fld>
            <a:endParaRPr lang="zh-CN" altLang="en-US"/>
          </a:p>
        </p:txBody>
      </p:sp>
    </p:spTree>
    <p:extLst>
      <p:ext uri="{BB962C8B-B14F-4D97-AF65-F5344CB8AC3E}">
        <p14:creationId xmlns:p14="http://schemas.microsoft.com/office/powerpoint/2010/main" val="324139276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195</a:t>
            </a:fld>
            <a:endParaRPr lang="zh-CN" altLang="en-US"/>
          </a:p>
        </p:txBody>
      </p:sp>
    </p:spTree>
    <p:extLst>
      <p:ext uri="{BB962C8B-B14F-4D97-AF65-F5344CB8AC3E}">
        <p14:creationId xmlns:p14="http://schemas.microsoft.com/office/powerpoint/2010/main" val="23834465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通过用户</a:t>
            </a:r>
            <a:endParaRPr lang="en-US" altLang="zh-CN" dirty="0"/>
          </a:p>
          <a:p>
            <a:r>
              <a:rPr lang="zh-CN" altLang="en-US" dirty="0"/>
              <a:t>通过接口文件</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196</a:t>
            </a:fld>
            <a:endParaRPr lang="zh-CN" altLang="en-US"/>
          </a:p>
        </p:txBody>
      </p:sp>
    </p:spTree>
    <p:extLst>
      <p:ext uri="{BB962C8B-B14F-4D97-AF65-F5344CB8AC3E}">
        <p14:creationId xmlns:p14="http://schemas.microsoft.com/office/powerpoint/2010/main" val="2747813760"/>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P163</a:t>
            </a:r>
          </a:p>
          <a:p>
            <a:r>
              <a:rPr lang="zh-CN" altLang="en-US" dirty="0"/>
              <a:t>顺序：表</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202</a:t>
            </a:fld>
            <a:endParaRPr lang="zh-CN" altLang="en-US"/>
          </a:p>
        </p:txBody>
      </p:sp>
    </p:spTree>
    <p:extLst>
      <p:ext uri="{BB962C8B-B14F-4D97-AF65-F5344CB8AC3E}">
        <p14:creationId xmlns:p14="http://schemas.microsoft.com/office/powerpoint/2010/main" val="852470693"/>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203</a:t>
            </a:fld>
            <a:endParaRPr lang="zh-CN" altLang="en-US"/>
          </a:p>
        </p:txBody>
      </p:sp>
    </p:spTree>
    <p:extLst>
      <p:ext uri="{BB962C8B-B14F-4D97-AF65-F5344CB8AC3E}">
        <p14:creationId xmlns:p14="http://schemas.microsoft.com/office/powerpoint/2010/main" val="405865311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P163</a:t>
            </a:r>
          </a:p>
          <a:p>
            <a:r>
              <a:rPr lang="zh-CN" altLang="en-US" dirty="0"/>
              <a:t>错误</a:t>
            </a:r>
            <a:r>
              <a:rPr lang="en-US" altLang="zh-CN" dirty="0"/>
              <a:t>EIF </a:t>
            </a:r>
            <a:r>
              <a:rPr lang="zh-CN" altLang="en-US" dirty="0"/>
              <a:t>→ </a:t>
            </a:r>
            <a:r>
              <a:rPr lang="en-US" altLang="zh-CN" dirty="0"/>
              <a:t>EIL</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204</a:t>
            </a:fld>
            <a:endParaRPr lang="zh-CN" altLang="en-US"/>
          </a:p>
        </p:txBody>
      </p:sp>
    </p:spTree>
    <p:extLst>
      <p:ext uri="{BB962C8B-B14F-4D97-AF65-F5344CB8AC3E}">
        <p14:creationId xmlns:p14="http://schemas.microsoft.com/office/powerpoint/2010/main" val="2333208247"/>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公式 </a:t>
            </a:r>
            <a:r>
              <a:rPr lang="en-US" altLang="zh-CN" dirty="0"/>
              <a:t>6-8</a:t>
            </a:r>
          </a:p>
          <a:p>
            <a:r>
              <a:rPr lang="zh-CN" altLang="en-US" dirty="0"/>
              <a:t>公式 </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209</a:t>
            </a:fld>
            <a:endParaRPr lang="zh-CN" altLang="en-US"/>
          </a:p>
        </p:txBody>
      </p:sp>
    </p:spTree>
    <p:extLst>
      <p:ext uri="{BB962C8B-B14F-4D97-AF65-F5344CB8AC3E}">
        <p14:creationId xmlns:p14="http://schemas.microsoft.com/office/powerpoint/2010/main" val="176278295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M: </a:t>
            </a:r>
            <a:r>
              <a:rPr lang="zh-CN" altLang="en-US" dirty="0"/>
              <a:t>项目经理 </a:t>
            </a:r>
            <a:r>
              <a:rPr lang="en-US" altLang="zh-CN" dirty="0"/>
              <a:t>(Manager)</a:t>
            </a:r>
          </a:p>
          <a:p>
            <a:r>
              <a:rPr lang="en-US" altLang="zh-CN" dirty="0"/>
              <a:t>D: </a:t>
            </a:r>
            <a:r>
              <a:rPr lang="zh-CN" altLang="en-US" dirty="0"/>
              <a:t>开发人员 </a:t>
            </a:r>
            <a:r>
              <a:rPr lang="en-US" altLang="zh-CN" dirty="0"/>
              <a:t>(Developer)</a:t>
            </a:r>
          </a:p>
          <a:p>
            <a:r>
              <a:rPr lang="en-US" altLang="zh-CN" dirty="0"/>
              <a:t>Q: </a:t>
            </a:r>
            <a:r>
              <a:rPr lang="zh-CN" altLang="en-US" dirty="0"/>
              <a:t>测试人员 </a:t>
            </a:r>
            <a:r>
              <a:rPr lang="en-US" altLang="zh-CN" dirty="0"/>
              <a:t>(Quality Assurance)</a:t>
            </a:r>
          </a:p>
          <a:p>
            <a:r>
              <a:rPr lang="en-US" altLang="zh-CN" dirty="0"/>
              <a:t>S: </a:t>
            </a:r>
            <a:r>
              <a:rPr lang="zh-CN" altLang="en-US" dirty="0"/>
              <a:t>架构师</a:t>
            </a:r>
            <a:r>
              <a:rPr lang="en-US" altLang="zh-CN" dirty="0"/>
              <a:t>/</a:t>
            </a:r>
            <a:r>
              <a:rPr lang="zh-CN" altLang="en-US" dirty="0"/>
              <a:t>高级工程师 </a:t>
            </a:r>
            <a:r>
              <a:rPr lang="en-US" altLang="zh-CN" dirty="0"/>
              <a:t>(System Architect / Senior)</a:t>
            </a:r>
          </a:p>
          <a:p>
            <a:r>
              <a:rPr lang="zh-CN" altLang="en-US" dirty="0"/>
              <a:t>数字为人数</a:t>
            </a:r>
            <a:endParaRPr lang="en-US" altLang="zh-CN" dirty="0"/>
          </a:p>
          <a:p>
            <a:r>
              <a:rPr lang="zh-CN" altLang="en-US" dirty="0"/>
              <a:t>总成本 </a:t>
            </a:r>
            <a:r>
              <a:rPr lang="en-US" altLang="zh-CN" dirty="0"/>
              <a:t>= (M</a:t>
            </a:r>
            <a:r>
              <a:rPr lang="zh-CN" altLang="en-US" dirty="0"/>
              <a:t>人数 </a:t>
            </a:r>
            <a:r>
              <a:rPr lang="en-US" altLang="zh-CN" dirty="0"/>
              <a:t>× M</a:t>
            </a:r>
            <a:r>
              <a:rPr lang="zh-CN" altLang="en-US" dirty="0"/>
              <a:t>月薪 </a:t>
            </a:r>
            <a:r>
              <a:rPr lang="en-US" altLang="zh-CN" dirty="0"/>
              <a:t>+ D</a:t>
            </a:r>
            <a:r>
              <a:rPr lang="zh-CN" altLang="en-US" dirty="0"/>
              <a:t>人数 </a:t>
            </a:r>
            <a:r>
              <a:rPr lang="en-US" altLang="zh-CN" dirty="0"/>
              <a:t>× D</a:t>
            </a:r>
            <a:r>
              <a:rPr lang="zh-CN" altLang="en-US" dirty="0"/>
              <a:t>月薪 </a:t>
            </a:r>
            <a:r>
              <a:rPr lang="en-US" altLang="zh-CN" dirty="0"/>
              <a:t>+ Q</a:t>
            </a:r>
            <a:r>
              <a:rPr lang="zh-CN" altLang="en-US" dirty="0"/>
              <a:t>人数 </a:t>
            </a:r>
            <a:r>
              <a:rPr lang="en-US" altLang="zh-CN" dirty="0"/>
              <a:t>× Q</a:t>
            </a:r>
            <a:r>
              <a:rPr lang="zh-CN" altLang="en-US" dirty="0"/>
              <a:t>月薪 </a:t>
            </a:r>
            <a:r>
              <a:rPr lang="en-US" altLang="zh-CN" dirty="0"/>
              <a:t>+ S</a:t>
            </a:r>
            <a:r>
              <a:rPr lang="zh-CN" altLang="en-US" dirty="0"/>
              <a:t>人数 </a:t>
            </a:r>
            <a:r>
              <a:rPr lang="en-US" altLang="zh-CN" dirty="0"/>
              <a:t>× S</a:t>
            </a:r>
            <a:r>
              <a:rPr lang="zh-CN" altLang="en-US" dirty="0"/>
              <a:t>月薪</a:t>
            </a:r>
            <a:r>
              <a:rPr lang="en-US" altLang="zh-CN" dirty="0"/>
              <a:t>) × </a:t>
            </a:r>
            <a:r>
              <a:rPr lang="zh-CN" altLang="en-US" dirty="0"/>
              <a:t>时间（月）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212</a:t>
            </a:fld>
            <a:endParaRPr lang="zh-CN" altLang="en-US"/>
          </a:p>
        </p:txBody>
      </p:sp>
    </p:spTree>
    <p:extLst>
      <p:ext uri="{BB962C8B-B14F-4D97-AF65-F5344CB8AC3E}">
        <p14:creationId xmlns:p14="http://schemas.microsoft.com/office/powerpoint/2010/main" val="211063141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贝塔分布（基于</a:t>
            </a:r>
            <a:r>
              <a:rPr lang="en-US" altLang="zh-CN" dirty="0"/>
              <a:t>PERT</a:t>
            </a:r>
            <a:r>
              <a:rPr lang="zh-CN" altLang="en-US" dirty="0"/>
              <a:t>技术）</a:t>
            </a:r>
            <a:endParaRPr lang="en-US" altLang="zh-CN" dirty="0"/>
          </a:p>
          <a:p>
            <a:r>
              <a:rPr lang="zh-CN" altLang="en-US" sz="1200" b="0" i="0" kern="1200" dirty="0">
                <a:solidFill>
                  <a:schemeClr val="tx1"/>
                </a:solidFill>
                <a:effectLst/>
                <a:latin typeface="+mn-lt"/>
                <a:ea typeface="+mn-ea"/>
                <a:cs typeface="+mn-cs"/>
              </a:rPr>
              <a:t>对“最可能成本”赋予了更高的权重（乘以</a:t>
            </a:r>
            <a:r>
              <a:rPr lang="en-US" altLang="zh-CN" sz="1200" b="0" i="0" kern="1200" dirty="0">
                <a:solidFill>
                  <a:schemeClr val="tx1"/>
                </a:solidFill>
                <a:effectLst/>
                <a:latin typeface="+mn-lt"/>
                <a:ea typeface="+mn-ea"/>
                <a:cs typeface="+mn-cs"/>
              </a:rPr>
              <a:t>4</a:t>
            </a:r>
            <a:r>
              <a:rPr lang="zh-CN" altLang="en-US" sz="1200" b="0" i="0" kern="1200" dirty="0">
                <a:solidFill>
                  <a:schemeClr val="tx1"/>
                </a:solidFill>
                <a:effectLst/>
                <a:latin typeface="+mn-lt"/>
                <a:ea typeface="+mn-ea"/>
                <a:cs typeface="+mn-cs"/>
              </a:rPr>
              <a:t>），认为实际情况更倾向于接近最可能的结果。这是项目管理中更常用的方法，因为它更能反映现实世界的概率分布</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213</a:t>
            </a:fld>
            <a:endParaRPr lang="zh-CN" altLang="en-US"/>
          </a:p>
        </p:txBody>
      </p:sp>
    </p:spTree>
    <p:extLst>
      <p:ext uri="{BB962C8B-B14F-4D97-AF65-F5344CB8AC3E}">
        <p14:creationId xmlns:p14="http://schemas.microsoft.com/office/powerpoint/2010/main" val="27574483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218</a:t>
            </a:fld>
            <a:endParaRPr lang="zh-CN" altLang="en-US"/>
          </a:p>
        </p:txBody>
      </p:sp>
    </p:spTree>
    <p:extLst>
      <p:ext uri="{BB962C8B-B14F-4D97-AF65-F5344CB8AC3E}">
        <p14:creationId xmlns:p14="http://schemas.microsoft.com/office/powerpoint/2010/main" val="1066184720"/>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B8731-485E-3452-834F-5FC4705BA0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634D26A-1E39-F318-ED7A-23114D0D64B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D342ED2-269F-062E-0DC9-CE08E0982127}"/>
              </a:ext>
            </a:extLst>
          </p:cNvPr>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a:extLst>
              <a:ext uri="{FF2B5EF4-FFF2-40B4-BE49-F238E27FC236}">
                <a16:creationId xmlns:a16="http://schemas.microsoft.com/office/drawing/2014/main" id="{CB7C7D12-0760-EAF4-CF68-0B8F748716E6}"/>
              </a:ext>
            </a:extLst>
          </p:cNvPr>
          <p:cNvSpPr>
            <a:spLocks noGrp="1"/>
          </p:cNvSpPr>
          <p:nvPr>
            <p:ph type="sldNum" sz="quarter" idx="5"/>
          </p:nvPr>
        </p:nvSpPr>
        <p:spPr/>
        <p:txBody>
          <a:bodyPr/>
          <a:lstStyle/>
          <a:p>
            <a:fld id="{6D27E3F6-C3AC-4131-BD60-F31F1EE091B2}" type="slidenum">
              <a:rPr lang="zh-CN" altLang="en-US" smtClean="0"/>
              <a:t>219</a:t>
            </a:fld>
            <a:endParaRPr lang="zh-CN" altLang="en-US"/>
          </a:p>
        </p:txBody>
      </p:sp>
    </p:spTree>
    <p:extLst>
      <p:ext uri="{BB962C8B-B14F-4D97-AF65-F5344CB8AC3E}">
        <p14:creationId xmlns:p14="http://schemas.microsoft.com/office/powerpoint/2010/main" val="4089333638"/>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221</a:t>
            </a:fld>
            <a:endParaRPr lang="zh-CN" altLang="en-US"/>
          </a:p>
        </p:txBody>
      </p:sp>
    </p:spTree>
    <p:extLst>
      <p:ext uri="{BB962C8B-B14F-4D97-AF65-F5344CB8AC3E}">
        <p14:creationId xmlns:p14="http://schemas.microsoft.com/office/powerpoint/2010/main" val="2766810160"/>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add up the stories in each column and multiply by the column heading to get total story points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224</a:t>
            </a:fld>
            <a:endParaRPr lang="zh-CN" altLang="en-US"/>
          </a:p>
        </p:txBody>
      </p:sp>
    </p:spTree>
    <p:extLst>
      <p:ext uri="{BB962C8B-B14F-4D97-AF65-F5344CB8AC3E}">
        <p14:creationId xmlns:p14="http://schemas.microsoft.com/office/powerpoint/2010/main" val="1361576978"/>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225</a:t>
            </a:fld>
            <a:endParaRPr lang="zh-CN" altLang="en-US"/>
          </a:p>
        </p:txBody>
      </p:sp>
    </p:spTree>
    <p:extLst>
      <p:ext uri="{BB962C8B-B14F-4D97-AF65-F5344CB8AC3E}">
        <p14:creationId xmlns:p14="http://schemas.microsoft.com/office/powerpoint/2010/main" val="2142437747"/>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226</a:t>
            </a:fld>
            <a:endParaRPr lang="zh-CN" altLang="en-US"/>
          </a:p>
        </p:txBody>
      </p:sp>
    </p:spTree>
    <p:extLst>
      <p:ext uri="{BB962C8B-B14F-4D97-AF65-F5344CB8AC3E}">
        <p14:creationId xmlns:p14="http://schemas.microsoft.com/office/powerpoint/2010/main" val="1224037329"/>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227</a:t>
            </a:fld>
            <a:endParaRPr lang="zh-CN" altLang="en-US"/>
          </a:p>
        </p:txBody>
      </p:sp>
    </p:spTree>
    <p:extLst>
      <p:ext uri="{BB962C8B-B14F-4D97-AF65-F5344CB8AC3E}">
        <p14:creationId xmlns:p14="http://schemas.microsoft.com/office/powerpoint/2010/main" val="2987993995"/>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DA307-C606-1CA9-E060-D80A6DF0BCE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548757-D408-3076-A68B-F0D444E264F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BE14321-0F2E-43CC-4E01-AE855005E39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6B8A55F7-6323-32D3-CD4B-63FBC25BCCE1}"/>
              </a:ext>
            </a:extLst>
          </p:cNvPr>
          <p:cNvSpPr>
            <a:spLocks noGrp="1"/>
          </p:cNvSpPr>
          <p:nvPr>
            <p:ph type="sldNum" sz="quarter" idx="5"/>
          </p:nvPr>
        </p:nvSpPr>
        <p:spPr/>
        <p:txBody>
          <a:bodyPr/>
          <a:lstStyle/>
          <a:p>
            <a:fld id="{6D27E3F6-C3AC-4131-BD60-F31F1EE091B2}" type="slidenum">
              <a:rPr lang="zh-CN" altLang="en-US" smtClean="0"/>
              <a:t>228</a:t>
            </a:fld>
            <a:endParaRPr lang="zh-CN" altLang="en-US"/>
          </a:p>
        </p:txBody>
      </p:sp>
    </p:spTree>
    <p:extLst>
      <p:ext uri="{BB962C8B-B14F-4D97-AF65-F5344CB8AC3E}">
        <p14:creationId xmlns:p14="http://schemas.microsoft.com/office/powerpoint/2010/main" val="3715984017"/>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A8702-FF43-6113-0A08-BD6A6927EDA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6F5BBB9-C468-FA8F-5295-178538E1558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A3EB86D-D3E6-6A8F-5E77-0957FC2D16C2}"/>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8ECA2611-C1DE-BA39-6184-EC1B1A8F042E}"/>
              </a:ext>
            </a:extLst>
          </p:cNvPr>
          <p:cNvSpPr>
            <a:spLocks noGrp="1"/>
          </p:cNvSpPr>
          <p:nvPr>
            <p:ph type="sldNum" sz="quarter" idx="5"/>
          </p:nvPr>
        </p:nvSpPr>
        <p:spPr/>
        <p:txBody>
          <a:bodyPr/>
          <a:lstStyle/>
          <a:p>
            <a:fld id="{6D27E3F6-C3AC-4131-BD60-F31F1EE091B2}" type="slidenum">
              <a:rPr lang="zh-CN" altLang="en-US" smtClean="0"/>
              <a:t>230</a:t>
            </a:fld>
            <a:endParaRPr lang="zh-CN" altLang="en-US"/>
          </a:p>
        </p:txBody>
      </p:sp>
    </p:spTree>
    <p:extLst>
      <p:ext uri="{BB962C8B-B14F-4D97-AF65-F5344CB8AC3E}">
        <p14:creationId xmlns:p14="http://schemas.microsoft.com/office/powerpoint/2010/main" val="652328018"/>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默认情况下，紧前活动结束后，紧后活动马上开始</a:t>
            </a:r>
            <a:endParaRPr lang="en-US" altLang="zh-CN"/>
          </a:p>
          <a:p>
            <a:r>
              <a:rPr lang="en-US" altLang="zh-CN"/>
              <a:t>D</a:t>
            </a:r>
            <a:r>
              <a:rPr lang="zh-CN" altLang="en-US"/>
              <a:t>提前</a:t>
            </a:r>
            <a:r>
              <a:rPr lang="en-US" altLang="zh-CN"/>
              <a:t>2</a:t>
            </a:r>
            <a:r>
              <a:rPr lang="zh-CN" altLang="en-US"/>
              <a:t>天开始</a:t>
            </a:r>
            <a:endParaRPr lang="en-US" altLang="zh-CN"/>
          </a:p>
          <a:p>
            <a:r>
              <a:rPr lang="en-US" altLang="zh-CN"/>
              <a:t>F</a:t>
            </a:r>
            <a:r>
              <a:rPr lang="zh-CN" altLang="en-US"/>
              <a:t>推迟</a:t>
            </a:r>
            <a:r>
              <a:rPr lang="en-US" altLang="zh-CN"/>
              <a:t>3</a:t>
            </a:r>
            <a:r>
              <a:rPr lang="zh-CN" altLang="en-US"/>
              <a:t>天开始</a:t>
            </a:r>
          </a:p>
          <a:p>
            <a:r>
              <a:rPr lang="en-US" altLang="zh-CN"/>
              <a:t>SS+2 </a:t>
            </a:r>
            <a:r>
              <a:rPr lang="zh-CN" altLang="en-US"/>
              <a:t>：紧后活动必须在紧前活动开始之后 </a:t>
            </a:r>
            <a:r>
              <a:rPr lang="en-US" altLang="zh-CN"/>
              <a:t>2 </a:t>
            </a:r>
            <a:r>
              <a:rPr lang="zh-CN" altLang="en-US"/>
              <a:t>天才能开始</a:t>
            </a:r>
            <a:endParaRPr lang="en-US" altLang="zh-CN"/>
          </a:p>
          <a:p>
            <a:r>
              <a:rPr lang="en-US" altLang="zh-CN"/>
              <a:t>SS+0</a:t>
            </a:r>
            <a:r>
              <a:rPr lang="zh-CN" altLang="en-US"/>
              <a:t>：紧后活动与紧前活动同时开始（这才是“同时开始”）</a:t>
            </a:r>
            <a:endParaRPr lang="en-US" altLang="zh-CN"/>
          </a:p>
          <a:p>
            <a:r>
              <a:rPr lang="en-US" altLang="zh-CN"/>
              <a:t>FS+3</a:t>
            </a:r>
            <a:r>
              <a:rPr lang="zh-CN" altLang="en-US"/>
              <a:t>：紧后活动必须在紧前活动完成后</a:t>
            </a:r>
            <a:r>
              <a:rPr lang="en-US" altLang="zh-CN"/>
              <a:t>3</a:t>
            </a:r>
            <a:r>
              <a:rPr lang="zh-CN" altLang="en-US"/>
              <a:t>天才能开始。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241</a:t>
            </a:fld>
            <a:endParaRPr lang="zh-CN" altLang="en-US"/>
          </a:p>
        </p:txBody>
      </p:sp>
    </p:spTree>
    <p:extLst>
      <p:ext uri="{BB962C8B-B14F-4D97-AF65-F5344CB8AC3E}">
        <p14:creationId xmlns:p14="http://schemas.microsoft.com/office/powerpoint/2010/main" val="130357751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249</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250</a:t>
            </a:fld>
            <a:endParaRPr lang="zh-CN" altLang="en-US"/>
          </a:p>
        </p:txBody>
      </p:sp>
    </p:spTree>
    <p:extLst>
      <p:ext uri="{BB962C8B-B14F-4D97-AF65-F5344CB8AC3E}">
        <p14:creationId xmlns:p14="http://schemas.microsoft.com/office/powerpoint/2010/main" val="260787084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ACDGH</a:t>
            </a:r>
          </a:p>
          <a:p>
            <a:r>
              <a:rPr lang="en-US" altLang="zh-CN"/>
              <a:t>44</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251</a:t>
            </a:fld>
            <a:endParaRPr lang="zh-CN" altLang="en-US"/>
          </a:p>
        </p:txBody>
      </p:sp>
    </p:spTree>
    <p:extLst>
      <p:ext uri="{BB962C8B-B14F-4D97-AF65-F5344CB8AC3E}">
        <p14:creationId xmlns:p14="http://schemas.microsoft.com/office/powerpoint/2010/main" val="3709798480"/>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256</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261</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266</a:t>
            </a:fld>
            <a:endParaRPr lang="zh-CN" altLang="en-US"/>
          </a:p>
        </p:txBody>
      </p:sp>
    </p:spTree>
    <p:extLst>
      <p:ext uri="{BB962C8B-B14F-4D97-AF65-F5344CB8AC3E}">
        <p14:creationId xmlns:p14="http://schemas.microsoft.com/office/powerpoint/2010/main" val="1111604004"/>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267</a:t>
            </a:fld>
            <a:endParaRPr lang="zh-CN" altLang="en-US"/>
          </a:p>
        </p:txBody>
      </p:sp>
    </p:spTree>
    <p:extLst>
      <p:ext uri="{BB962C8B-B14F-4D97-AF65-F5344CB8AC3E}">
        <p14:creationId xmlns:p14="http://schemas.microsoft.com/office/powerpoint/2010/main" val="181595778"/>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不管在哪个阶段，团队增加或减少人员，都从形成阶段开始</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282</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283</a:t>
            </a:fld>
            <a:endParaRPr lang="zh-CN" altLang="en-US"/>
          </a:p>
        </p:txBody>
      </p:sp>
    </p:spTree>
    <p:extLst>
      <p:ext uri="{BB962C8B-B14F-4D97-AF65-F5344CB8AC3E}">
        <p14:creationId xmlns:p14="http://schemas.microsoft.com/office/powerpoint/2010/main" val="2355770618"/>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Maslow's Hierarchy of Needs</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286</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r>
              <a:rPr lang="zh-CN" altLang="en-US"/>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299</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风险识别是识别风险事件</a:t>
            </a:r>
            <a:r>
              <a:rPr lang="en-US" altLang="zh-CN"/>
              <a:t>, </a:t>
            </a:r>
            <a:r>
              <a:rPr lang="zh-CN" altLang="en-US"/>
              <a:t>系统化地确定对项目计划的威胁，识别已知和可预测的风险</a:t>
            </a:r>
            <a:endParaRPr lang="en-US" altLang="zh-CN"/>
          </a:p>
          <a:p>
            <a:endParaRPr lang="en-US" altLang="zh-CN"/>
          </a:p>
          <a:p>
            <a:r>
              <a:rPr lang="zh-CN" altLang="en-US"/>
              <a:t>对风险事件发生概率的评估，对项目风险影响的评估，给出项目风险排序</a:t>
            </a:r>
            <a:endParaRPr lang="en-US" altLang="zh-CN"/>
          </a:p>
          <a:p>
            <a:endParaRPr lang="en-US" altLang="zh-CN"/>
          </a:p>
          <a:p>
            <a:r>
              <a:rPr lang="zh-CN" altLang="en-US"/>
              <a:t>针对风险分析的结果，制定一定的行动和策略来对付、减少、以至于消灭风险事件造成的影响</a:t>
            </a:r>
          </a:p>
          <a:p>
            <a:endParaRPr lang="en-US" altLang="zh-CN"/>
          </a:p>
          <a:p>
            <a:r>
              <a:rPr lang="zh-CN" altLang="en-US"/>
              <a:t>风险控制是在项目执行过程中实施和监控风险计划，同时，不断进行风险识别、风险分析、风险规划的过程。</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302</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总价：乙方</a:t>
            </a:r>
            <a:r>
              <a:rPr lang="en-US" altLang="zh-CN"/>
              <a:t>/</a:t>
            </a:r>
            <a:r>
              <a:rPr lang="zh-CN" altLang="en-US"/>
              <a:t>承包人风险大</a:t>
            </a:r>
            <a:endParaRPr lang="en-US" altLang="zh-CN"/>
          </a:p>
          <a:p>
            <a:r>
              <a:rPr lang="zh-CN" altLang="en-US"/>
              <a:t>补偿：实报实销；甲方</a:t>
            </a:r>
            <a:r>
              <a:rPr lang="en-US" altLang="zh-CN"/>
              <a:t>/</a:t>
            </a:r>
            <a:r>
              <a:rPr lang="zh-CN" altLang="en-US"/>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309</a:t>
            </a:fld>
            <a:endParaRPr lang="zh-CN" altLang="en-US"/>
          </a:p>
        </p:txBody>
      </p:sp>
    </p:spTree>
    <p:extLst>
      <p:ext uri="{BB962C8B-B14F-4D97-AF65-F5344CB8AC3E}">
        <p14:creationId xmlns:p14="http://schemas.microsoft.com/office/powerpoint/2010/main" val="74545248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一个老师可以讲授多门课程，一门课程可以由一个或多个老师讲授</a:t>
            </a:r>
            <a:endParaRPr lang="en-US" altLang="zh-CN"/>
          </a:p>
          <a:p>
            <a:r>
              <a:rPr lang="en-US" altLang="zh-CN"/>
              <a:t>Crow’s Foot Notation</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334</a:t>
            </a:fld>
            <a:endParaRPr lang="zh-CN" altLang="en-US"/>
          </a:p>
        </p:txBody>
      </p:sp>
    </p:spTree>
    <p:extLst>
      <p:ext uri="{BB962C8B-B14F-4D97-AF65-F5344CB8AC3E}">
        <p14:creationId xmlns:p14="http://schemas.microsoft.com/office/powerpoint/2010/main" val="402801664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35018243-8368-3C35-D7EF-4E82F0195AB2}"/>
              </a:ext>
            </a:extLst>
          </p:cNvPr>
          <p:cNvSpPr/>
          <p:nvPr userDrawn="1"/>
        </p:nvSpPr>
        <p:spPr>
          <a:xfrm>
            <a:off x="0" y="566228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3" name="任意多边形: 形状 12">
            <a:extLst>
              <a:ext uri="{FF2B5EF4-FFF2-40B4-BE49-F238E27FC236}">
                <a16:creationId xmlns:a16="http://schemas.microsoft.com/office/drawing/2014/main" id="{FDDA0925-7EFE-1EF5-4848-F173FAD94EE7}"/>
              </a:ext>
            </a:extLst>
          </p:cNvPr>
          <p:cNvSpPr/>
          <p:nvPr userDrawn="1"/>
        </p:nvSpPr>
        <p:spPr>
          <a:xfrm>
            <a:off x="0" y="577274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4" name="任意多边形: 形状 13">
            <a:extLst>
              <a:ext uri="{FF2B5EF4-FFF2-40B4-BE49-F238E27FC236}">
                <a16:creationId xmlns:a16="http://schemas.microsoft.com/office/drawing/2014/main" id="{6833F8F8-9C07-E67E-F79A-395B5108E8DD}"/>
              </a:ext>
            </a:extLst>
          </p:cNvPr>
          <p:cNvSpPr/>
          <p:nvPr userDrawn="1"/>
        </p:nvSpPr>
        <p:spPr>
          <a:xfrm>
            <a:off x="0" y="588319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5" name="任意多边形: 形状 14">
            <a:extLst>
              <a:ext uri="{FF2B5EF4-FFF2-40B4-BE49-F238E27FC236}">
                <a16:creationId xmlns:a16="http://schemas.microsoft.com/office/drawing/2014/main" id="{E2D85B70-A8EA-2CB9-7AA1-E34F6DD90D3A}"/>
              </a:ext>
            </a:extLst>
          </p:cNvPr>
          <p:cNvSpPr/>
          <p:nvPr userDrawn="1"/>
        </p:nvSpPr>
        <p:spPr>
          <a:xfrm>
            <a:off x="0" y="599365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
        <p:nvSpPr>
          <p:cNvPr id="2" name="标题 1">
            <a:extLst>
              <a:ext uri="{FF2B5EF4-FFF2-40B4-BE49-F238E27FC236}">
                <a16:creationId xmlns:a16="http://schemas.microsoft.com/office/drawing/2014/main" id="{72F450D1-2B98-9869-554D-D0BA13E48E58}"/>
              </a:ext>
            </a:extLst>
          </p:cNvPr>
          <p:cNvSpPr>
            <a:spLocks noGrp="1"/>
          </p:cNvSpPr>
          <p:nvPr userDrawn="1">
            <p:ph type="ctrTitle"/>
          </p:nvPr>
        </p:nvSpPr>
        <p:spPr>
          <a:xfrm>
            <a:off x="2464886" y="4681056"/>
            <a:ext cx="7262228" cy="798491"/>
          </a:xfrm>
          <a:noFill/>
        </p:spPr>
        <p:txBody>
          <a:bodyPr wrap="square" lIns="180000" tIns="72000" rIns="180000" bIns="72000" anchor="b" anchorCtr="0">
            <a:noAutofit/>
          </a:bodyPr>
          <a:lstStyle>
            <a:lvl1pPr algn="ctr">
              <a:defRPr sz="4000" spc="200" baseline="0">
                <a:solidFill>
                  <a:schemeClr val="bg1"/>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userDrawn="1">
            <p:ph type="subTitle" idx="1"/>
          </p:nvPr>
        </p:nvSpPr>
        <p:spPr>
          <a:xfrm>
            <a:off x="2464886" y="5479548"/>
            <a:ext cx="7262228" cy="458180"/>
          </a:xfrm>
          <a:noFill/>
        </p:spPr>
        <p:txBody>
          <a:bodyPr wrap="square" lIns="180000" tIns="72000" rIns="180000" bIns="7200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19" name="菱形 18" descr="89f8af67-b191-4e95-a5e3-cbb147f04195">
            <a:extLst>
              <a:ext uri="{FF2B5EF4-FFF2-40B4-BE49-F238E27FC236}">
                <a16:creationId xmlns:a16="http://schemas.microsoft.com/office/drawing/2014/main" id="{15004213-0984-0627-4EBA-FEF74DCA9A6E}"/>
              </a:ext>
            </a:extLst>
          </p:cNvPr>
          <p:cNvSpPr>
            <a:spLocks noChangeAspect="1"/>
          </p:cNvSpPr>
          <p:nvPr userDrawn="1"/>
        </p:nvSpPr>
        <p:spPr>
          <a:xfrm>
            <a:off x="10469687" y="244928"/>
            <a:ext cx="540000" cy="540000"/>
          </a:xfrm>
          <a:prstGeom prst="diamond">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0" name="菱形 19" descr="7f2bef7e-9b0d-4d11-befa-c798825aecb3">
            <a:extLst>
              <a:ext uri="{FF2B5EF4-FFF2-40B4-BE49-F238E27FC236}">
                <a16:creationId xmlns:a16="http://schemas.microsoft.com/office/drawing/2014/main" id="{C145F8BC-62DA-23DC-37E3-4A31FDFE7DB0}"/>
              </a:ext>
            </a:extLst>
          </p:cNvPr>
          <p:cNvSpPr>
            <a:spLocks noChangeAspect="1"/>
          </p:cNvSpPr>
          <p:nvPr userDrawn="1"/>
        </p:nvSpPr>
        <p:spPr>
          <a:xfrm>
            <a:off x="10352588" y="298928"/>
            <a:ext cx="432000" cy="432000"/>
          </a:xfrm>
          <a:prstGeom prst="diamond">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2" name="文本占位符 21">
            <a:extLst>
              <a:ext uri="{FF2B5EF4-FFF2-40B4-BE49-F238E27FC236}">
                <a16:creationId xmlns:a16="http://schemas.microsoft.com/office/drawing/2014/main" id="{A1F7BB37-E4C0-C016-3E58-F8D62C5C16A4}"/>
              </a:ext>
            </a:extLst>
          </p:cNvPr>
          <p:cNvSpPr>
            <a:spLocks noGrp="1"/>
          </p:cNvSpPr>
          <p:nvPr userDrawn="1">
            <p:ph type="body" sz="quarter" idx="11"/>
          </p:nvPr>
        </p:nvSpPr>
        <p:spPr>
          <a:xfrm>
            <a:off x="3883891" y="2278857"/>
            <a:ext cx="4424219" cy="2300287"/>
          </a:xfrm>
        </p:spPr>
        <p:txBody>
          <a:bodyPr/>
          <a:lstStyle>
            <a:lvl1pPr algn="l">
              <a:buFont typeface="+mj-lt"/>
              <a:buAutoNum type="arabicPeriod"/>
              <a:defRPr sz="2000" baseline="0">
                <a:latin typeface="Roboto Mono" pitchFamily="2" charset="0"/>
              </a:defRPr>
            </a:lvl1pPr>
          </a:lstStyle>
          <a:p>
            <a:pPr lvl="0"/>
            <a:r>
              <a:rPr lang="zh-CN" altLang="en-US" dirty="0"/>
              <a:t>单击此处编辑母版文本样式</a:t>
            </a:r>
          </a:p>
        </p:txBody>
      </p:sp>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hasCustomPrompt="1"/>
          </p:nvPr>
        </p:nvSpPr>
        <p:spPr>
          <a:xfrm>
            <a:off x="695998" y="360000"/>
            <a:ext cx="6375921" cy="429413"/>
          </a:xfrm>
        </p:spPr>
        <p:txBody>
          <a:bodyPr>
            <a:noAutofit/>
          </a:body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6000" y="864000"/>
            <a:ext cx="10800000" cy="5400000"/>
          </a:xfrm>
        </p:spPr>
        <p:txBody>
          <a:bodyPr/>
          <a:lstStyle>
            <a:lvl1pPr algn="l">
              <a:defRPr/>
            </a:lvl1pPr>
            <a:lvl2pPr marL="432000" indent="-180000" algn="l">
              <a:buFont typeface="Montserrat" panose="00000500000000000000" pitchFamily="2" charset="0"/>
              <a:buChar char="‐"/>
              <a:defRPr/>
            </a:lvl2pPr>
            <a:lvl3pPr marL="648000" indent="-180000" algn="l">
              <a:defRPr/>
            </a:lvl3pPr>
            <a:lvl4pPr marL="864000" indent="-180000" algn="l">
              <a:defRPr/>
            </a:lvl4pPr>
            <a:lvl5pPr marL="1080000" indent="-180000" algn="l">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矩形 6">
            <a:extLst>
              <a:ext uri="{FF2B5EF4-FFF2-40B4-BE49-F238E27FC236}">
                <a16:creationId xmlns:a16="http://schemas.microsoft.com/office/drawing/2014/main" id="{D4812367-3D08-B306-B266-F72C3AB8A53C}"/>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hasCustomPrompt="1"/>
          </p:nvPr>
        </p:nvSpPr>
        <p:spPr>
          <a:xfrm>
            <a:off x="696000" y="360000"/>
            <a:ext cx="10800000" cy="429413"/>
          </a:xfrm>
        </p:spPr>
        <p:txBody>
          <a:bodyPr>
            <a:noAutofit/>
          </a:body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1911465" y="5610808"/>
            <a:ext cx="968535" cy="338554"/>
          </a:xfrm>
          <a:prstGeom prst="rect">
            <a:avLst/>
          </a:prstGeom>
          <a:noFill/>
        </p:spPr>
        <p:txBody>
          <a:bodyPr wrap="none" rtlCol="0">
            <a:spAutoFit/>
          </a:bodyPr>
          <a:lstStyle/>
          <a:p>
            <a:pPr algn="r"/>
            <a:r>
              <a:rPr lang="en-US" altLang="zh-CN" sz="1600">
                <a:solidFill>
                  <a:schemeClr val="bg1"/>
                </a:solidFill>
              </a:rPr>
              <a:t>Sample</a:t>
            </a:r>
            <a:endParaRPr lang="zh-CN" altLang="en-US" sz="160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01F3F"/>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80000" y="6379535"/>
            <a:ext cx="432000" cy="432000"/>
          </a:xfrm>
          <a:prstGeom prst="ellipse">
            <a:avLst/>
          </a:prstGeom>
          <a:blipFill>
            <a:blip r:embed="rId7"/>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a:solidFill>
                  <a:schemeClr val="bg1"/>
                </a:solidFill>
              </a:rPr>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a:solidFill>
                  <a:schemeClr val="bg1"/>
                </a:solidFill>
              </a:rPr>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7" r:id="rId3"/>
    <p:sldLayoutId id="2147483656" r:id="rId4"/>
    <p:sldLayoutId id="2147483655" r:id="rId5"/>
  </p:sldLayoutIdLst>
  <p:txStyles>
    <p:titleStyle>
      <a:lvl1pPr algn="l" defTabSz="914400" rtl="0" eaLnBrk="1" latinLnBrk="0" hangingPunct="1">
        <a:lnSpc>
          <a:spcPct val="90000"/>
        </a:lnSpc>
        <a:spcBef>
          <a:spcPct val="0"/>
        </a:spcBef>
        <a:buNone/>
        <a:defRPr sz="2400" kern="1200" baseline="0">
          <a:solidFill>
            <a:schemeClr val="bg1"/>
          </a:solidFill>
          <a:latin typeface="Roboto Mono" pitchFamily="2" charset="0"/>
          <a:ea typeface="微软雅黑" panose="020B0503020204020204" pitchFamily="34" charset="-122"/>
          <a:cs typeface="+mj-cs"/>
        </a:defRPr>
      </a:lvl1pPr>
    </p:titleStyle>
    <p:bodyStyle>
      <a:lvl1pPr marL="228600" indent="-216000" algn="l"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bg1"/>
          </a:solidFill>
          <a:latin typeface="Montserrat" panose="00000500000000000000" pitchFamily="2" charset="0"/>
          <a:ea typeface="微软雅黑 Light" panose="020B0502040204020203" pitchFamily="34" charset="-122"/>
          <a:cs typeface="+mn-cs"/>
        </a:defRPr>
      </a:lvl1pPr>
      <a:lvl2pPr marL="432000" indent="-180000" algn="l"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bg1"/>
          </a:solidFill>
          <a:latin typeface="Montserrat" panose="00000500000000000000" pitchFamily="2" charset="0"/>
          <a:ea typeface="微软雅黑 Light" panose="020B0502040204020203" pitchFamily="34" charset="-122"/>
          <a:cs typeface="+mn-cs"/>
        </a:defRPr>
      </a:lvl2pPr>
      <a:lvl3pPr marL="648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bg1"/>
          </a:solidFill>
          <a:latin typeface="Montserrat" panose="00000500000000000000" pitchFamily="2" charset="0"/>
          <a:ea typeface="微软雅黑 Light" panose="020B0502040204020203" pitchFamily="34" charset="-122"/>
          <a:cs typeface="+mn-cs"/>
        </a:defRPr>
      </a:lvl3pPr>
      <a:lvl4pPr marL="864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bg1"/>
          </a:solidFill>
          <a:latin typeface="Montserrat" panose="00000500000000000000" pitchFamily="2" charset="0"/>
          <a:ea typeface="微软雅黑 Light" panose="020B0502040204020203" pitchFamily="34" charset="-122"/>
          <a:cs typeface="+mn-cs"/>
        </a:defRPr>
      </a:lvl4pPr>
      <a:lvl5pPr marL="1080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bg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slide" Target="slide264.xml"/><Relationship Id="rId13" Type="http://schemas.openxmlformats.org/officeDocument/2006/relationships/slide" Target="slide317.xml"/><Relationship Id="rId3" Type="http://schemas.openxmlformats.org/officeDocument/2006/relationships/slide" Target="slide41.xml"/><Relationship Id="rId7" Type="http://schemas.openxmlformats.org/officeDocument/2006/relationships/slide" Target="slide257.xml"/><Relationship Id="rId12" Type="http://schemas.openxmlformats.org/officeDocument/2006/relationships/slide" Target="slide304.xml"/><Relationship Id="rId2" Type="http://schemas.openxmlformats.org/officeDocument/2006/relationships/slide" Target="slide3.xml"/><Relationship Id="rId1" Type="http://schemas.openxmlformats.org/officeDocument/2006/relationships/slideLayout" Target="../slideLayouts/slideLayout5.xml"/><Relationship Id="rId6" Type="http://schemas.openxmlformats.org/officeDocument/2006/relationships/slide" Target="slide235.xml"/><Relationship Id="rId11" Type="http://schemas.openxmlformats.org/officeDocument/2006/relationships/slide" Target="slide324.xml"/><Relationship Id="rId5" Type="http://schemas.openxmlformats.org/officeDocument/2006/relationships/slide" Target="slide182.xml"/><Relationship Id="rId10" Type="http://schemas.openxmlformats.org/officeDocument/2006/relationships/slide" Target="slide295.xml"/><Relationship Id="rId4" Type="http://schemas.openxmlformats.org/officeDocument/2006/relationships/slide" Target="slide120.xml"/><Relationship Id="rId9" Type="http://schemas.openxmlformats.org/officeDocument/2006/relationships/slide" Target="slide28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hyperlink" Target="../../img/ppt0.jp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codepen.i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github.com/" TargetMode="External"/><Relationship Id="rId4" Type="http://schemas.openxmlformats.org/officeDocument/2006/relationships/hyperlink" Target="https://supabase.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5.xml"/><Relationship Id="rId4" Type="http://schemas.openxmlformats.org/officeDocument/2006/relationships/image" Target="../media/image7.jpg"/></Relationships>
</file>

<file path=ppt/slides/_rels/slide3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5.xml"/><Relationship Id="rId4" Type="http://schemas.openxmlformats.org/officeDocument/2006/relationships/image" Target="../media/image10.svg"/></Relationships>
</file>

<file path=ppt/slides/_rels/slide35.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svg"/><Relationship Id="rId7" Type="http://schemas.openxmlformats.org/officeDocument/2006/relationships/image" Target="../media/image15.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4.svg"/><Relationship Id="rId5" Type="http://schemas.openxmlformats.org/officeDocument/2006/relationships/image" Target="../media/image13.sv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7.sv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3" Type="http://schemas.openxmlformats.org/officeDocument/2006/relationships/hyperlink" Target="https://xp123.com/"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26.webp"/><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3" Type="http://schemas.openxmlformats.org/officeDocument/2006/relationships/hyperlink" Target="https://scrumguides.or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svg"/><Relationship Id="rId7" Type="http://schemas.openxmlformats.org/officeDocument/2006/relationships/image" Target="../media/image32.svg"/><Relationship Id="rId2" Type="http://schemas.openxmlformats.org/officeDocument/2006/relationships/notesSlide" Target="../notesSlides/notesSlide44.xml"/><Relationship Id="rId1" Type="http://schemas.openxmlformats.org/officeDocument/2006/relationships/slideLayout" Target="../slideLayouts/slideLayout5.xml"/><Relationship Id="rId6" Type="http://schemas.openxmlformats.org/officeDocument/2006/relationships/image" Target="../media/image31.svg"/><Relationship Id="rId5" Type="http://schemas.openxmlformats.org/officeDocument/2006/relationships/image" Target="../media/image30.svg"/><Relationship Id="rId4" Type="http://schemas.openxmlformats.org/officeDocument/2006/relationships/image" Target="../media/image29.svg"/><Relationship Id="rId9" Type="http://schemas.openxmlformats.org/officeDocument/2006/relationships/image" Target="../media/image34.svg"/></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hyperlink" Target="https://www.projectmanager.com/training/write-scope-work" TargetMode="Externa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hyperlink" Target="https://www.perforce.com/blog/alm/how-write-software-requirements-specification-srs-document" TargetMode="External"/><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hyperlink" Target="https://www.impactmapping.org/"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14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hyperlink" Target="https://resources.scrumalliance.org/Article/anatomy-user-story" TargetMode="Externa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2.xml"/><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3" Type="http://schemas.openxmlformats.org/officeDocument/2006/relationships/hyperlink" Target="https://xp123.com/invest-in-good-stories-and-smart-tasks/"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3" Type="http://schemas.openxmlformats.org/officeDocument/2006/relationships/hyperlink" Target="https://www.testmuai.com/learning-hub/behavior-driven-development/" TargetMode="External"/><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5.xml.rels><?xml version="1.0" encoding="UTF-8" standalone="yes"?>
<Relationships xmlns="http://schemas.openxmlformats.org/package/2006/relationships"><Relationship Id="rId3" Type="http://schemas.openxmlformats.org/officeDocument/2006/relationships/hyperlink" Target="https://www.projectmanager.com/training/write-scope-work"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5.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5.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5.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5.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5.xml"/></Relationships>
</file>

<file path=ppt/slides/_rels/slide18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5.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5.xml"/></Relationships>
</file>

<file path=ppt/slides/_rels/slide191.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2.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5.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5.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07.xml"/><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08.xml"/><Relationship Id="rId1" Type="http://schemas.openxmlformats.org/officeDocument/2006/relationships/slideLayout" Target="../slideLayouts/slideLayout5.xml"/><Relationship Id="rId4" Type="http://schemas.openxmlformats.org/officeDocument/2006/relationships/image" Target="../media/image42.png"/></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5.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8.xml.rels><?xml version="1.0" encoding="UTF-8" standalone="yes"?>
<Relationships xmlns="http://schemas.openxmlformats.org/package/2006/relationships"><Relationship Id="rId3" Type="http://schemas.openxmlformats.org/officeDocument/2006/relationships/hyperlink" Target="https://plan.io/blog/how-to-use-story-points-in-agile/#how-to-start-using-agile-story-points-with-your-team-today" TargetMode="External"/><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2" Type="http://schemas.openxmlformats.org/officeDocument/2006/relationships/hyperlink" Target="https://www.infoq.com/articles/fast-story-points/" TargetMode="Externa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5.xml"/></Relationships>
</file>

<file path=ppt/slides/_rels/slide22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16.xml"/><Relationship Id="rId1" Type="http://schemas.openxmlformats.org/officeDocument/2006/relationships/slideLayout" Target="../slideLayouts/slideLayout5.xml"/></Relationships>
</file>

<file path=ppt/slides/_rels/slide225.xml.rels><?xml version="1.0" encoding="UTF-8" standalone="yes"?>
<Relationships xmlns="http://schemas.openxmlformats.org/package/2006/relationships"><Relationship Id="rId8" Type="http://schemas.openxmlformats.org/officeDocument/2006/relationships/image" Target="../media/image48.svg"/><Relationship Id="rId3" Type="http://schemas.openxmlformats.org/officeDocument/2006/relationships/hyperlink" Target="https://planningpokeronline.com/" TargetMode="External"/><Relationship Id="rId7" Type="http://schemas.openxmlformats.org/officeDocument/2006/relationships/image" Target="../media/image47.svg"/><Relationship Id="rId2" Type="http://schemas.openxmlformats.org/officeDocument/2006/relationships/notesSlide" Target="../notesSlides/notesSlide117.xml"/><Relationship Id="rId1" Type="http://schemas.openxmlformats.org/officeDocument/2006/relationships/slideLayout" Target="../slideLayouts/slideLayout2.xml"/><Relationship Id="rId6" Type="http://schemas.openxmlformats.org/officeDocument/2006/relationships/image" Target="../media/image46.svg"/><Relationship Id="rId5" Type="http://schemas.openxmlformats.org/officeDocument/2006/relationships/image" Target="../media/image45.svg"/><Relationship Id="rId4" Type="http://schemas.openxmlformats.org/officeDocument/2006/relationships/image" Target="../media/image44.svg"/></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5.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4.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3.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image" Target="../media/image560.png"/><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4.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4.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4.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6.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4.xml"/></Relationships>
</file>

<file path=ppt/slides/_rels/slide267.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4.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3.xml.rels><?xml version="1.0" encoding="UTF-8" standalone="yes"?>
<Relationships xmlns="http://schemas.openxmlformats.org/package/2006/relationships"><Relationship Id="rId2" Type="http://schemas.openxmlformats.org/officeDocument/2006/relationships/hyperlink" Target="https://t2informatik.de/en/smartpedia/change-control-board/" TargetMode="External"/><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2.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283.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6.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132.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9.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5.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9.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1.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302.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6.xml.rels><?xml version="1.0" encoding="UTF-8" standalone="yes"?>
<Relationships xmlns="http://schemas.openxmlformats.org/package/2006/relationships"><Relationship Id="rId2" Type="http://schemas.openxmlformats.org/officeDocument/2006/relationships/image" Target="../media/image51.svg"/><Relationship Id="rId1" Type="http://schemas.openxmlformats.org/officeDocument/2006/relationships/slideLayout" Target="../slideLayouts/slideLayout5.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9.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135.xml"/><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diagramLayout" Target="../diagrams/layout11.xml"/><Relationship Id="rId7" Type="http://schemas.openxmlformats.org/officeDocument/2006/relationships/image" Target="../media/image17.svg"/><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 Id="rId9" Type="http://schemas.openxmlformats.org/officeDocument/2006/relationships/image" Target="../media/image52.svg"/></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8.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0.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4.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137275AA-5811-41B9-72BE-9695E4246938}"/>
              </a:ext>
            </a:extLst>
          </p:cNvPr>
          <p:cNvPicPr>
            <a:picLocks noChangeAspect="1"/>
          </p:cNvPicPr>
          <p:nvPr/>
        </p:nvPicPr>
        <p:blipFill>
          <a:blip r:embed="rId2"/>
          <a:stretch>
            <a:fillRect/>
          </a:stretch>
        </p:blipFill>
        <p:spPr>
          <a:xfrm>
            <a:off x="1524000" y="0"/>
            <a:ext cx="9144000" cy="6858000"/>
          </a:xfrm>
          <a:prstGeom prst="rect">
            <a:avLst/>
          </a:prstGeom>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a:solidFill>
                  <a:schemeClr val="bg1"/>
                </a:solidFill>
              </a:rPr>
              <a:t>Contents</a:t>
            </a:r>
            <a:endParaRPr lang="zh-CN" altLang="en-US" sz="160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5116985" y="621268"/>
            <a:ext cx="2031325" cy="369332"/>
          </a:xfrm>
          <a:prstGeom prst="rect">
            <a:avLst/>
          </a:prstGeom>
          <a:noFill/>
        </p:spPr>
        <p:txBody>
          <a:bodyPr wrap="none" rtlCol="0">
            <a:spAutoFit/>
          </a:bodyPr>
          <a:lstStyle/>
          <a:p>
            <a:r>
              <a:rPr lang="zh-CN" altLang="en-US">
                <a:solidFill>
                  <a:schemeClr val="bg1"/>
                </a:solidFill>
              </a:rPr>
              <a:t>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5116985" y="1098189"/>
            <a:ext cx="1107996" cy="369332"/>
          </a:xfrm>
          <a:prstGeom prst="rect">
            <a:avLst/>
          </a:prstGeom>
          <a:noFill/>
        </p:spPr>
        <p:txBody>
          <a:bodyPr wrap="none" rtlCol="0">
            <a:spAutoFit/>
          </a:bodyPr>
          <a:lstStyle/>
          <a:p>
            <a:r>
              <a:rPr lang="zh-CN" altLang="en-US">
                <a:solidFill>
                  <a:schemeClr val="bg1"/>
                </a:solidFill>
              </a:rPr>
              <a:t>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5116985" y="1575110"/>
            <a:ext cx="2031325" cy="369332"/>
          </a:xfrm>
          <a:prstGeom prst="rect">
            <a:avLst/>
          </a:prstGeom>
          <a:noFill/>
        </p:spPr>
        <p:txBody>
          <a:bodyPr wrap="none" rtlCol="0">
            <a:spAutoFit/>
          </a:bodyPr>
          <a:lstStyle/>
          <a:p>
            <a:r>
              <a:rPr lang="zh-CN" altLang="en-US">
                <a:solidFill>
                  <a:schemeClr val="bg1"/>
                </a:solidFill>
              </a:rPr>
              <a:t>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5116985" y="2052031"/>
            <a:ext cx="2031325" cy="369332"/>
          </a:xfrm>
          <a:prstGeom prst="rect">
            <a:avLst/>
          </a:prstGeom>
          <a:noFill/>
        </p:spPr>
        <p:txBody>
          <a:bodyPr wrap="none" rtlCol="0">
            <a:spAutoFit/>
          </a:bodyPr>
          <a:lstStyle/>
          <a:p>
            <a:r>
              <a:rPr lang="zh-CN" altLang="en-US">
                <a:solidFill>
                  <a:schemeClr val="bg1"/>
                </a:solidFill>
              </a:rPr>
              <a:t>软件项目成本计划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5116985" y="2528952"/>
            <a:ext cx="2031325" cy="369332"/>
          </a:xfrm>
          <a:prstGeom prst="rect">
            <a:avLst/>
          </a:prstGeom>
          <a:noFill/>
        </p:spPr>
        <p:txBody>
          <a:bodyPr wrap="none" rtlCol="0">
            <a:spAutoFit/>
          </a:bodyPr>
          <a:lstStyle/>
          <a:p>
            <a:r>
              <a:rPr lang="zh-CN" altLang="en-US">
                <a:solidFill>
                  <a:schemeClr val="bg1"/>
                </a:solidFill>
              </a:rPr>
              <a:t>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5116985" y="3005873"/>
            <a:ext cx="2031325" cy="369332"/>
          </a:xfrm>
          <a:prstGeom prst="rect">
            <a:avLst/>
          </a:prstGeom>
          <a:noFill/>
        </p:spPr>
        <p:txBody>
          <a:bodyPr wrap="none" rtlCol="0">
            <a:spAutoFit/>
          </a:bodyPr>
          <a:lstStyle/>
          <a:p>
            <a:r>
              <a:rPr lang="zh-CN" altLang="en-US">
                <a:solidFill>
                  <a:schemeClr val="bg1"/>
                </a:solidFill>
              </a:rPr>
              <a:t>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5116985" y="3482794"/>
            <a:ext cx="2031325" cy="369332"/>
          </a:xfrm>
          <a:prstGeom prst="rect">
            <a:avLst/>
          </a:prstGeom>
          <a:noFill/>
        </p:spPr>
        <p:txBody>
          <a:bodyPr wrap="none" rtlCol="0">
            <a:spAutoFit/>
          </a:bodyPr>
          <a:lstStyle/>
          <a:p>
            <a:r>
              <a:rPr lang="zh-CN" altLang="en-US">
                <a:solidFill>
                  <a:schemeClr val="bg1"/>
                </a:solidFill>
              </a:rPr>
              <a:t>软件配置管理计划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5116985" y="3959715"/>
            <a:ext cx="2031325" cy="369332"/>
          </a:xfrm>
          <a:prstGeom prst="rect">
            <a:avLst/>
          </a:prstGeom>
          <a:noFill/>
        </p:spPr>
        <p:txBody>
          <a:bodyPr wrap="none" rtlCol="0">
            <a:spAutoFit/>
          </a:bodyPr>
          <a:lstStyle/>
          <a:p>
            <a:r>
              <a:rPr lang="zh-CN" altLang="en-US">
                <a:solidFill>
                  <a:schemeClr val="bg1"/>
                </a:solidFill>
              </a:rPr>
              <a:t>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5116985" y="4436636"/>
            <a:ext cx="2031325" cy="369332"/>
          </a:xfrm>
          <a:prstGeom prst="rect">
            <a:avLst/>
          </a:prstGeom>
          <a:noFill/>
        </p:spPr>
        <p:txBody>
          <a:bodyPr wrap="none" rtlCol="0">
            <a:spAutoFit/>
          </a:bodyPr>
          <a:lstStyle/>
          <a:p>
            <a:r>
              <a:rPr lang="zh-CN" altLang="en-US">
                <a:solidFill>
                  <a:schemeClr val="bg1"/>
                </a:solidFill>
              </a:rPr>
              <a:t>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5116985" y="5867400"/>
            <a:ext cx="1107996" cy="369332"/>
          </a:xfrm>
          <a:prstGeom prst="rect">
            <a:avLst/>
          </a:prstGeom>
          <a:noFill/>
        </p:spPr>
        <p:txBody>
          <a:bodyPr wrap="none" rtlCol="0">
            <a:spAutoFit/>
          </a:bodyPr>
          <a:lstStyle/>
          <a:p>
            <a:r>
              <a:rPr lang="zh-CN" altLang="en-US">
                <a:solidFill>
                  <a:schemeClr val="bg1"/>
                </a:solidFill>
              </a:rPr>
              <a:t>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5116985" y="4913557"/>
            <a:ext cx="2031325" cy="369332"/>
          </a:xfrm>
          <a:prstGeom prst="rect">
            <a:avLst/>
          </a:prstGeom>
          <a:noFill/>
        </p:spPr>
        <p:txBody>
          <a:bodyPr wrap="none" rtlCol="0">
            <a:spAutoFit/>
          </a:bodyPr>
          <a:lstStyle/>
          <a:p>
            <a:r>
              <a:rPr lang="zh-CN" altLang="en-US">
                <a:solidFill>
                  <a:schemeClr val="bg1"/>
                </a:solidFill>
              </a:rPr>
              <a:t>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5116985" y="5390478"/>
            <a:ext cx="1569660" cy="369332"/>
          </a:xfrm>
          <a:prstGeom prst="rect">
            <a:avLst/>
          </a:prstGeom>
          <a:noFill/>
        </p:spPr>
        <p:txBody>
          <a:bodyPr wrap="none" rtlCol="0">
            <a:spAutoFit/>
          </a:bodyPr>
          <a:lstStyle/>
          <a:p>
            <a:r>
              <a:rPr lang="zh-CN" altLang="en-US">
                <a:solidFill>
                  <a:schemeClr val="bg1"/>
                </a:solidFill>
              </a:rPr>
              <a:t>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a:solidFill>
                  <a:schemeClr val="bg1"/>
                </a:solidFill>
              </a:rPr>
              <a:t>3</a:t>
            </a:r>
            <a:endParaRPr lang="zh-CN" altLang="en-US">
              <a:solidFill>
                <a:schemeClr val="bg1"/>
              </a:solidFill>
            </a:endParaRPr>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a:solidFill>
                  <a:schemeClr val="bg1"/>
                </a:solidFill>
              </a:rPr>
              <a:t>4</a:t>
            </a:r>
            <a:endParaRPr lang="zh-CN" altLang="en-US">
              <a:solidFill>
                <a:schemeClr val="bg1"/>
              </a:solidFill>
            </a:endParaRPr>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a:solidFill>
                  <a:schemeClr val="bg1"/>
                </a:solidFill>
              </a:rPr>
              <a:t>3</a:t>
            </a:r>
            <a:endParaRPr lang="zh-CN" altLang="en-US">
              <a:solidFill>
                <a:schemeClr val="bg1"/>
              </a:solidFill>
            </a:endParaRPr>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a:solidFill>
                  <a:schemeClr val="bg1"/>
                </a:solidFill>
              </a:rPr>
              <a:t>3</a:t>
            </a:r>
            <a:endParaRPr lang="zh-CN" altLang="en-US">
              <a:solidFill>
                <a:schemeClr val="bg1"/>
              </a:solidFill>
            </a:endParaRPr>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a:solidFill>
                  <a:schemeClr val="bg1"/>
                </a:solidFill>
              </a:rPr>
              <a:t>6</a:t>
            </a:r>
            <a:endParaRPr lang="zh-CN" altLang="en-US">
              <a:solidFill>
                <a:schemeClr val="bg1"/>
              </a:solidFill>
            </a:endParaRPr>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43" name="TextBox 42">
            <a:extLst>
              <a:ext uri="{FF2B5EF4-FFF2-40B4-BE49-F238E27FC236}">
                <a16:creationId xmlns:a16="http://schemas.microsoft.com/office/drawing/2014/main" id="{C539087B-FACF-542B-2E9B-FFBE8DFA4ECB}"/>
              </a:ext>
            </a:extLst>
          </p:cNvPr>
          <p:cNvSpPr txBox="1"/>
          <p:nvPr/>
        </p:nvSpPr>
        <p:spPr>
          <a:xfrm>
            <a:off x="3486150" y="621268"/>
            <a:ext cx="1196161" cy="369332"/>
          </a:xfrm>
          <a:prstGeom prst="rect">
            <a:avLst/>
          </a:prstGeom>
          <a:noFill/>
        </p:spPr>
        <p:txBody>
          <a:bodyPr wrap="none" rtlCol="0">
            <a:spAutoFit/>
          </a:bodyPr>
          <a:lstStyle/>
          <a:p>
            <a:r>
              <a:rPr lang="en-US" altLang="zh-CN">
                <a:solidFill>
                  <a:schemeClr val="bg1"/>
                </a:solidFill>
              </a:rPr>
              <a:t>Section 1</a:t>
            </a:r>
            <a:endParaRPr lang="zh-CN" altLang="en-US">
              <a:solidFill>
                <a:schemeClr val="bg1"/>
              </a:solidFill>
            </a:endParaRPr>
          </a:p>
        </p:txBody>
      </p:sp>
      <p:sp>
        <p:nvSpPr>
          <p:cNvPr id="44" name="TextBox 43">
            <a:extLst>
              <a:ext uri="{FF2B5EF4-FFF2-40B4-BE49-F238E27FC236}">
                <a16:creationId xmlns:a16="http://schemas.microsoft.com/office/drawing/2014/main" id="{7D7A3979-06A1-BA50-4103-F6D4E8ED8E35}"/>
              </a:ext>
            </a:extLst>
          </p:cNvPr>
          <p:cNvSpPr txBox="1"/>
          <p:nvPr/>
        </p:nvSpPr>
        <p:spPr>
          <a:xfrm>
            <a:off x="3486150" y="1098189"/>
            <a:ext cx="1244251" cy="369332"/>
          </a:xfrm>
          <a:prstGeom prst="rect">
            <a:avLst/>
          </a:prstGeom>
          <a:noFill/>
        </p:spPr>
        <p:txBody>
          <a:bodyPr wrap="none" rtlCol="0">
            <a:spAutoFit/>
          </a:bodyPr>
          <a:lstStyle/>
          <a:p>
            <a:r>
              <a:rPr lang="en-US" altLang="zh-CN">
                <a:solidFill>
                  <a:schemeClr val="bg1"/>
                </a:solidFill>
              </a:rPr>
              <a:t>Section 2</a:t>
            </a:r>
            <a:endParaRPr lang="zh-CN" altLang="en-US">
              <a:solidFill>
                <a:schemeClr val="bg1"/>
              </a:solidFill>
            </a:endParaRPr>
          </a:p>
        </p:txBody>
      </p:sp>
      <p:sp>
        <p:nvSpPr>
          <p:cNvPr id="45" name="TextBox 44">
            <a:extLst>
              <a:ext uri="{FF2B5EF4-FFF2-40B4-BE49-F238E27FC236}">
                <a16:creationId xmlns:a16="http://schemas.microsoft.com/office/drawing/2014/main" id="{C2F205A3-46F2-DF60-7FA6-242E83F639D4}"/>
              </a:ext>
            </a:extLst>
          </p:cNvPr>
          <p:cNvSpPr txBox="1"/>
          <p:nvPr/>
        </p:nvSpPr>
        <p:spPr>
          <a:xfrm>
            <a:off x="3486150" y="1575110"/>
            <a:ext cx="1242648" cy="369332"/>
          </a:xfrm>
          <a:prstGeom prst="rect">
            <a:avLst/>
          </a:prstGeom>
          <a:noFill/>
        </p:spPr>
        <p:txBody>
          <a:bodyPr wrap="none" rtlCol="0">
            <a:spAutoFit/>
          </a:bodyPr>
          <a:lstStyle/>
          <a:p>
            <a:r>
              <a:rPr lang="en-US" altLang="zh-CN">
                <a:solidFill>
                  <a:schemeClr val="bg1"/>
                </a:solidFill>
              </a:rPr>
              <a:t>Section 3</a:t>
            </a:r>
            <a:endParaRPr lang="zh-CN" altLang="en-US">
              <a:solidFill>
                <a:schemeClr val="bg1"/>
              </a:solidFill>
            </a:endParaRPr>
          </a:p>
        </p:txBody>
      </p:sp>
      <p:sp>
        <p:nvSpPr>
          <p:cNvPr id="46" name="TextBox 45">
            <a:extLst>
              <a:ext uri="{FF2B5EF4-FFF2-40B4-BE49-F238E27FC236}">
                <a16:creationId xmlns:a16="http://schemas.microsoft.com/office/drawing/2014/main" id="{9D4738D9-10AA-D012-A899-686D94CF77E8}"/>
              </a:ext>
            </a:extLst>
          </p:cNvPr>
          <p:cNvSpPr txBox="1"/>
          <p:nvPr/>
        </p:nvSpPr>
        <p:spPr>
          <a:xfrm>
            <a:off x="3486150" y="2052031"/>
            <a:ext cx="1265090" cy="369332"/>
          </a:xfrm>
          <a:prstGeom prst="rect">
            <a:avLst/>
          </a:prstGeom>
          <a:noFill/>
        </p:spPr>
        <p:txBody>
          <a:bodyPr wrap="none" rtlCol="0">
            <a:spAutoFit/>
          </a:bodyPr>
          <a:lstStyle/>
          <a:p>
            <a:r>
              <a:rPr lang="en-US" altLang="zh-CN">
                <a:solidFill>
                  <a:schemeClr val="bg1"/>
                </a:solidFill>
              </a:rPr>
              <a:t>Section 4</a:t>
            </a:r>
            <a:endParaRPr lang="zh-CN" altLang="en-US">
              <a:solidFill>
                <a:schemeClr val="bg1"/>
              </a:solidFill>
            </a:endParaRPr>
          </a:p>
        </p:txBody>
      </p:sp>
      <p:sp>
        <p:nvSpPr>
          <p:cNvPr id="47" name="TextBox 46">
            <a:extLst>
              <a:ext uri="{FF2B5EF4-FFF2-40B4-BE49-F238E27FC236}">
                <a16:creationId xmlns:a16="http://schemas.microsoft.com/office/drawing/2014/main" id="{4E4C37BA-4992-FADA-C9ED-04650F29E4AD}"/>
              </a:ext>
            </a:extLst>
          </p:cNvPr>
          <p:cNvSpPr txBox="1"/>
          <p:nvPr/>
        </p:nvSpPr>
        <p:spPr>
          <a:xfrm>
            <a:off x="3486150" y="2528952"/>
            <a:ext cx="1244251" cy="369332"/>
          </a:xfrm>
          <a:prstGeom prst="rect">
            <a:avLst/>
          </a:prstGeom>
          <a:noFill/>
        </p:spPr>
        <p:txBody>
          <a:bodyPr wrap="none" rtlCol="0">
            <a:spAutoFit/>
          </a:bodyPr>
          <a:lstStyle/>
          <a:p>
            <a:r>
              <a:rPr lang="en-US" altLang="zh-CN">
                <a:solidFill>
                  <a:schemeClr val="bg1"/>
                </a:solidFill>
              </a:rPr>
              <a:t>Section 5</a:t>
            </a:r>
            <a:endParaRPr lang="zh-CN" altLang="en-US">
              <a:solidFill>
                <a:schemeClr val="bg1"/>
              </a:solidFill>
            </a:endParaRPr>
          </a:p>
        </p:txBody>
      </p:sp>
      <p:sp>
        <p:nvSpPr>
          <p:cNvPr id="48" name="TextBox 47">
            <a:extLst>
              <a:ext uri="{FF2B5EF4-FFF2-40B4-BE49-F238E27FC236}">
                <a16:creationId xmlns:a16="http://schemas.microsoft.com/office/drawing/2014/main" id="{01356CC8-46B4-6833-FD6A-C008A7E13AB5}"/>
              </a:ext>
            </a:extLst>
          </p:cNvPr>
          <p:cNvSpPr txBox="1"/>
          <p:nvPr/>
        </p:nvSpPr>
        <p:spPr>
          <a:xfrm>
            <a:off x="3486150" y="3005873"/>
            <a:ext cx="1253869" cy="369332"/>
          </a:xfrm>
          <a:prstGeom prst="rect">
            <a:avLst/>
          </a:prstGeom>
          <a:noFill/>
        </p:spPr>
        <p:txBody>
          <a:bodyPr wrap="none" rtlCol="0">
            <a:spAutoFit/>
          </a:bodyPr>
          <a:lstStyle/>
          <a:p>
            <a:r>
              <a:rPr lang="en-US" altLang="zh-CN">
                <a:solidFill>
                  <a:schemeClr val="bg1"/>
                </a:solidFill>
              </a:rPr>
              <a:t>Section 6</a:t>
            </a:r>
            <a:endParaRPr lang="zh-CN" altLang="en-US">
              <a:solidFill>
                <a:schemeClr val="bg1"/>
              </a:solidFill>
            </a:endParaRPr>
          </a:p>
        </p:txBody>
      </p:sp>
      <p:sp>
        <p:nvSpPr>
          <p:cNvPr id="49" name="TextBox 48">
            <a:extLst>
              <a:ext uri="{FF2B5EF4-FFF2-40B4-BE49-F238E27FC236}">
                <a16:creationId xmlns:a16="http://schemas.microsoft.com/office/drawing/2014/main" id="{84BF18C8-4C08-CEA4-423D-16240B71B56B}"/>
              </a:ext>
            </a:extLst>
          </p:cNvPr>
          <p:cNvSpPr txBox="1"/>
          <p:nvPr/>
        </p:nvSpPr>
        <p:spPr>
          <a:xfrm>
            <a:off x="3486150" y="3482794"/>
            <a:ext cx="1249060" cy="369332"/>
          </a:xfrm>
          <a:prstGeom prst="rect">
            <a:avLst/>
          </a:prstGeom>
          <a:noFill/>
        </p:spPr>
        <p:txBody>
          <a:bodyPr wrap="none" rtlCol="0">
            <a:spAutoFit/>
          </a:bodyPr>
          <a:lstStyle/>
          <a:p>
            <a:r>
              <a:rPr lang="en-US" altLang="zh-CN">
                <a:solidFill>
                  <a:schemeClr val="bg1"/>
                </a:solidFill>
              </a:rPr>
              <a:t>Section 7</a:t>
            </a:r>
            <a:endParaRPr lang="zh-CN" altLang="en-US">
              <a:solidFill>
                <a:schemeClr val="bg1"/>
              </a:solidFill>
            </a:endParaRPr>
          </a:p>
        </p:txBody>
      </p:sp>
      <p:sp>
        <p:nvSpPr>
          <p:cNvPr id="50" name="TextBox 49">
            <a:extLst>
              <a:ext uri="{FF2B5EF4-FFF2-40B4-BE49-F238E27FC236}">
                <a16:creationId xmlns:a16="http://schemas.microsoft.com/office/drawing/2014/main" id="{4AEA3D2F-E68B-CB70-D483-9BDE238F554F}"/>
              </a:ext>
            </a:extLst>
          </p:cNvPr>
          <p:cNvSpPr txBox="1"/>
          <p:nvPr/>
        </p:nvSpPr>
        <p:spPr>
          <a:xfrm>
            <a:off x="3486150" y="3959715"/>
            <a:ext cx="1260281" cy="369332"/>
          </a:xfrm>
          <a:prstGeom prst="rect">
            <a:avLst/>
          </a:prstGeom>
          <a:noFill/>
        </p:spPr>
        <p:txBody>
          <a:bodyPr wrap="none" rtlCol="0">
            <a:spAutoFit/>
          </a:bodyPr>
          <a:lstStyle/>
          <a:p>
            <a:r>
              <a:rPr lang="en-US" altLang="zh-CN">
                <a:solidFill>
                  <a:schemeClr val="bg1"/>
                </a:solidFill>
              </a:rPr>
              <a:t>Section 8</a:t>
            </a:r>
            <a:endParaRPr lang="zh-CN" altLang="en-US">
              <a:solidFill>
                <a:schemeClr val="bg1"/>
              </a:solidFill>
            </a:endParaRPr>
          </a:p>
        </p:txBody>
      </p:sp>
      <p:sp>
        <p:nvSpPr>
          <p:cNvPr id="51" name="TextBox 50">
            <a:extLst>
              <a:ext uri="{FF2B5EF4-FFF2-40B4-BE49-F238E27FC236}">
                <a16:creationId xmlns:a16="http://schemas.microsoft.com/office/drawing/2014/main" id="{314F58E4-1323-B1DC-830B-EB8A0F4E76D4}"/>
              </a:ext>
            </a:extLst>
          </p:cNvPr>
          <p:cNvSpPr txBox="1"/>
          <p:nvPr/>
        </p:nvSpPr>
        <p:spPr>
          <a:xfrm>
            <a:off x="3486150" y="4436636"/>
            <a:ext cx="1253869" cy="369332"/>
          </a:xfrm>
          <a:prstGeom prst="rect">
            <a:avLst/>
          </a:prstGeom>
          <a:noFill/>
        </p:spPr>
        <p:txBody>
          <a:bodyPr wrap="none" rtlCol="0">
            <a:spAutoFit/>
          </a:bodyPr>
          <a:lstStyle/>
          <a:p>
            <a:r>
              <a:rPr lang="en-US" altLang="zh-CN">
                <a:solidFill>
                  <a:schemeClr val="bg1"/>
                </a:solidFill>
              </a:rPr>
              <a:t>Section 9</a:t>
            </a:r>
            <a:endParaRPr lang="zh-CN" altLang="en-US">
              <a:solidFill>
                <a:schemeClr val="bg1"/>
              </a:solidFill>
            </a:endParaRPr>
          </a:p>
        </p:txBody>
      </p:sp>
      <p:sp>
        <p:nvSpPr>
          <p:cNvPr id="52" name="TextBox 51">
            <a:extLst>
              <a:ext uri="{FF2B5EF4-FFF2-40B4-BE49-F238E27FC236}">
                <a16:creationId xmlns:a16="http://schemas.microsoft.com/office/drawing/2014/main" id="{0D9CAE8D-FC7E-B63B-2D76-87FF8EC12A5F}"/>
              </a:ext>
            </a:extLst>
          </p:cNvPr>
          <p:cNvSpPr txBox="1"/>
          <p:nvPr/>
        </p:nvSpPr>
        <p:spPr>
          <a:xfrm>
            <a:off x="3486150" y="4913557"/>
            <a:ext cx="1348446" cy="369332"/>
          </a:xfrm>
          <a:prstGeom prst="rect">
            <a:avLst/>
          </a:prstGeom>
          <a:noFill/>
        </p:spPr>
        <p:txBody>
          <a:bodyPr wrap="none" rtlCol="0">
            <a:spAutoFit/>
          </a:bodyPr>
          <a:lstStyle/>
          <a:p>
            <a:r>
              <a:rPr lang="en-US" altLang="zh-CN">
                <a:solidFill>
                  <a:schemeClr val="bg1"/>
                </a:solidFill>
              </a:rPr>
              <a:t>Section 10</a:t>
            </a:r>
            <a:endParaRPr lang="zh-CN" altLang="en-US">
              <a:solidFill>
                <a:schemeClr val="bg1"/>
              </a:solidFill>
            </a:endParaRPr>
          </a:p>
        </p:txBody>
      </p:sp>
      <p:sp>
        <p:nvSpPr>
          <p:cNvPr id="53" name="TextBox 52">
            <a:extLst>
              <a:ext uri="{FF2B5EF4-FFF2-40B4-BE49-F238E27FC236}">
                <a16:creationId xmlns:a16="http://schemas.microsoft.com/office/drawing/2014/main" id="{AB0160AA-9C3A-74F5-40AA-7BEDCE587BAE}"/>
              </a:ext>
            </a:extLst>
          </p:cNvPr>
          <p:cNvSpPr txBox="1"/>
          <p:nvPr/>
        </p:nvSpPr>
        <p:spPr>
          <a:xfrm>
            <a:off x="3486150" y="5390478"/>
            <a:ext cx="1279517" cy="369332"/>
          </a:xfrm>
          <a:prstGeom prst="rect">
            <a:avLst/>
          </a:prstGeom>
          <a:noFill/>
        </p:spPr>
        <p:txBody>
          <a:bodyPr wrap="none" rtlCol="0">
            <a:spAutoFit/>
          </a:bodyPr>
          <a:lstStyle/>
          <a:p>
            <a:r>
              <a:rPr lang="en-US" altLang="zh-CN">
                <a:solidFill>
                  <a:schemeClr val="bg1"/>
                </a:solidFill>
              </a:rPr>
              <a:t>Section 11</a:t>
            </a:r>
            <a:endParaRPr lang="zh-CN" altLang="en-US">
              <a:solidFill>
                <a:schemeClr val="bg1"/>
              </a:solidFill>
            </a:endParaRPr>
          </a:p>
        </p:txBody>
      </p:sp>
      <p:sp>
        <p:nvSpPr>
          <p:cNvPr id="54" name="TextBox 53">
            <a:extLst>
              <a:ext uri="{FF2B5EF4-FFF2-40B4-BE49-F238E27FC236}">
                <a16:creationId xmlns:a16="http://schemas.microsoft.com/office/drawing/2014/main" id="{146C91AC-C7B4-DA34-CA5F-A873F57E992F}"/>
              </a:ext>
            </a:extLst>
          </p:cNvPr>
          <p:cNvSpPr txBox="1"/>
          <p:nvPr/>
        </p:nvSpPr>
        <p:spPr>
          <a:xfrm>
            <a:off x="3486150" y="5867400"/>
            <a:ext cx="1327608" cy="369332"/>
          </a:xfrm>
          <a:prstGeom prst="rect">
            <a:avLst/>
          </a:prstGeom>
          <a:noFill/>
        </p:spPr>
        <p:txBody>
          <a:bodyPr wrap="none" rtlCol="0">
            <a:spAutoFit/>
          </a:bodyPr>
          <a:lstStyle/>
          <a:p>
            <a:r>
              <a:rPr lang="en-US" altLang="zh-CN">
                <a:solidFill>
                  <a:schemeClr val="bg1"/>
                </a:solidFill>
              </a:rPr>
              <a:t>Section 12</a:t>
            </a:r>
            <a:endParaRPr lang="zh-CN" altLang="en-US">
              <a:solidFill>
                <a:schemeClr val="bg1"/>
              </a:solidFill>
            </a:endParaRPr>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2464886" y="4681056"/>
            <a:ext cx="7262228" cy="798491"/>
          </a:xfrm>
        </p:spPr>
        <p:txBody>
          <a:bodyPr/>
          <a:lstStyle/>
          <a:p>
            <a:r>
              <a:rPr lang="zh-CN" altLang="en-US"/>
              <a:t>软件项目管理概述</a:t>
            </a:r>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2464886" y="5479548"/>
            <a:ext cx="7262228" cy="458180"/>
          </a:xfrm>
        </p:spPr>
        <p:txBody>
          <a:bodyPr/>
          <a:lstStyle/>
          <a:p>
            <a:r>
              <a:rPr lang="en-US" altLang="zh-CN"/>
              <a:t>Section 1 Overview</a:t>
            </a:r>
            <a:endParaRPr lang="zh-CN" altLang="en-US"/>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3666244" y="2278857"/>
            <a:ext cx="4859513" cy="2300287"/>
          </a:xfrm>
        </p:spPr>
        <p:txBody>
          <a:bodyPr/>
          <a:lstStyle/>
          <a:p>
            <a:r>
              <a:rPr lang="zh-CN" altLang="en-US"/>
              <a:t>项目与软件项目</a:t>
            </a:r>
          </a:p>
          <a:p>
            <a:r>
              <a:rPr lang="zh-CN" altLang="en-US"/>
              <a:t>项目管理与软件项目管理</a:t>
            </a:r>
          </a:p>
          <a:p>
            <a:r>
              <a:rPr lang="zh-CN" altLang="en-US"/>
              <a:t>传统软件项目管理</a:t>
            </a:r>
          </a:p>
          <a:p>
            <a:r>
              <a:rPr lang="zh-CN" altLang="en-US"/>
              <a:t>敏捷软件项目管理</a:t>
            </a:r>
          </a:p>
          <a:p>
            <a:endParaRPr lang="zh-CN" altLang="en-US"/>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695998" y="360000"/>
            <a:ext cx="6375921" cy="429413"/>
          </a:xfrm>
        </p:spPr>
        <p:txBody>
          <a:bodyPr>
            <a:normAutofit/>
          </a:bodyPr>
          <a:lstStyle/>
          <a:p>
            <a:r>
              <a:rPr lang="en-US" altLang="zh-CN"/>
              <a:t>1.1 </a:t>
            </a:r>
            <a:r>
              <a:rPr lang="zh-CN" altLang="en-US"/>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328000"/>
          </a:xfrm>
        </p:spPr>
        <p:txBody>
          <a:bodyPr/>
          <a:lstStyle/>
          <a:p>
            <a:r>
              <a:rPr lang="zh-CN" altLang="en-US"/>
              <a:t>定义 </a:t>
            </a:r>
            <a:r>
              <a:rPr lang="en-US" altLang="zh-CN"/>
              <a:t>Concept</a:t>
            </a:r>
            <a:r>
              <a:rPr lang="zh-CN" altLang="en-US"/>
              <a:t>：</a:t>
            </a:r>
            <a:endParaRPr lang="en-US" altLang="zh-CN"/>
          </a:p>
          <a:p>
            <a:pPr lvl="1"/>
            <a:r>
              <a:rPr lang="zh-CN" altLang="en-US"/>
              <a:t>为了创造一个唯一的产品或提供一个唯一的服务而进行的临时性的努力</a:t>
            </a:r>
            <a:endParaRPr lang="en-US" altLang="zh-CN"/>
          </a:p>
          <a:p>
            <a:pPr lvl="1"/>
            <a:r>
              <a:rPr lang="en-US" altLang="zh-CN"/>
              <a:t>A project is a temporary endeavor undertaken to create a unique product, service, or </a:t>
            </a:r>
            <a:r>
              <a:rPr lang="en-US" altLang="zh-CN">
                <a:solidFill>
                  <a:srgbClr val="FFFF00"/>
                </a:solidFill>
              </a:rPr>
              <a:t>result</a:t>
            </a:r>
            <a:r>
              <a:rPr lang="en-US" altLang="zh-CN"/>
              <a:t>.</a:t>
            </a:r>
          </a:p>
          <a:p>
            <a:endParaRPr lang="zh-CN" altLang="en-US"/>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Vs пнг фото">
            <a:extLst>
              <a:ext uri="{FF2B5EF4-FFF2-40B4-BE49-F238E27FC236}">
                <a16:creationId xmlns:a16="http://schemas.microsoft.com/office/drawing/2014/main" id="{86DB531E-C8E9-C6AB-719F-DD228DEE9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2353481"/>
            <a:ext cx="2520000" cy="21510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5A0F44-E7AA-9779-BF63-709C8F4138A1}"/>
              </a:ext>
            </a:extLst>
          </p:cNvPr>
          <p:cNvSpPr txBox="1"/>
          <p:nvPr/>
        </p:nvSpPr>
        <p:spPr>
          <a:xfrm>
            <a:off x="4459503" y="937111"/>
            <a:ext cx="595035" cy="338554"/>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zh-CN" altLang="en-US" sz="1600">
                <a:solidFill>
                  <a:schemeClr val="bg1"/>
                </a:solidFill>
              </a:rPr>
              <a:t>项目</a:t>
            </a:r>
          </a:p>
        </p:txBody>
      </p:sp>
      <p:sp>
        <p:nvSpPr>
          <p:cNvPr id="6" name="TextBox 5">
            <a:extLst>
              <a:ext uri="{FF2B5EF4-FFF2-40B4-BE49-F238E27FC236}">
                <a16:creationId xmlns:a16="http://schemas.microsoft.com/office/drawing/2014/main" id="{50A82F39-AEE8-7C68-7521-3FF4AC011EFF}"/>
              </a:ext>
            </a:extLst>
          </p:cNvPr>
          <p:cNvSpPr txBox="1"/>
          <p:nvPr/>
        </p:nvSpPr>
        <p:spPr>
          <a:xfrm>
            <a:off x="7137461" y="937111"/>
            <a:ext cx="595035" cy="338554"/>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zh-CN" altLang="en-US" sz="1600">
                <a:solidFill>
                  <a:schemeClr val="bg1"/>
                </a:solidFill>
              </a:rPr>
              <a:t>运作</a:t>
            </a:r>
          </a:p>
        </p:txBody>
      </p:sp>
      <p:sp>
        <p:nvSpPr>
          <p:cNvPr id="12" name="TextBox 11">
            <a:extLst>
              <a:ext uri="{FF2B5EF4-FFF2-40B4-BE49-F238E27FC236}">
                <a16:creationId xmlns:a16="http://schemas.microsoft.com/office/drawing/2014/main" id="{4F17EFBC-64A3-3882-A64E-9D7A88AF6FB7}"/>
              </a:ext>
            </a:extLst>
          </p:cNvPr>
          <p:cNvSpPr txBox="1"/>
          <p:nvPr/>
        </p:nvSpPr>
        <p:spPr>
          <a:xfrm>
            <a:off x="3020584" y="1720840"/>
            <a:ext cx="1736437" cy="3416320"/>
          </a:xfrm>
          <a:prstGeom prst="rect">
            <a:avLst/>
          </a:prstGeom>
          <a:noFill/>
        </p:spPr>
        <p:txBody>
          <a:bodyPr wrap="none" rtlCol="0">
            <a:spAutoFit/>
          </a:bodyPr>
          <a:lstStyle/>
          <a:p>
            <a:pPr algn="r"/>
            <a:r>
              <a:rPr lang="zh-CN" altLang="en-US">
                <a:solidFill>
                  <a:schemeClr val="bg1"/>
                </a:solidFill>
              </a:rPr>
              <a:t>搬家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野炊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生日聚会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婚礼 </a:t>
            </a:r>
            <a:r>
              <a:rPr lang="zh-CN" altLang="en-US">
                <a:solidFill>
                  <a:schemeClr val="bg1"/>
                </a:solidFill>
                <a:sym typeface="Wingdings" panose="05000000000000000000" pitchFamily="2" charset="2"/>
              </a:rPr>
              <a:t></a:t>
            </a:r>
            <a:endParaRPr lang="en-US" altLang="zh-CN">
              <a:solidFill>
                <a:schemeClr val="bg1"/>
              </a:solidFill>
            </a:endParaRPr>
          </a:p>
          <a:p>
            <a:pPr algn="r"/>
            <a:endParaRPr lang="en-US" altLang="zh-CN">
              <a:solidFill>
                <a:schemeClr val="bg1"/>
              </a:solidFill>
            </a:endParaRPr>
          </a:p>
          <a:p>
            <a:pPr algn="r"/>
            <a:r>
              <a:rPr lang="zh-CN" altLang="en-US">
                <a:solidFill>
                  <a:schemeClr val="bg1"/>
                </a:solidFill>
              </a:rPr>
              <a:t>认证考试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学历教育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驾照考试 </a:t>
            </a:r>
            <a:r>
              <a:rPr lang="zh-CN" altLang="en-US">
                <a:solidFill>
                  <a:schemeClr val="bg1"/>
                </a:solidFill>
                <a:sym typeface="Wingdings" panose="05000000000000000000" pitchFamily="2" charset="2"/>
              </a:rPr>
              <a:t></a:t>
            </a:r>
            <a:endParaRPr lang="zh-CN" altLang="en-US">
              <a:solidFill>
                <a:schemeClr val="bg1"/>
              </a:solidFill>
            </a:endParaRPr>
          </a:p>
          <a:p>
            <a:pPr algn="r"/>
            <a:endParaRPr lang="en-US" altLang="zh-CN">
              <a:solidFill>
                <a:schemeClr val="bg1"/>
              </a:solidFill>
            </a:endParaRPr>
          </a:p>
          <a:p>
            <a:pPr algn="r"/>
            <a:r>
              <a:rPr lang="zh-CN" altLang="en-US">
                <a:solidFill>
                  <a:schemeClr val="bg1"/>
                </a:solidFill>
              </a:rPr>
              <a:t>毕业设计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电商小程序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后台管理系统 </a:t>
            </a:r>
            <a:r>
              <a:rPr lang="zh-CN" altLang="en-US">
                <a:solidFill>
                  <a:schemeClr val="bg1"/>
                </a:solidFill>
                <a:sym typeface="Wingdings" panose="05000000000000000000" pitchFamily="2" charset="2"/>
              </a:rPr>
              <a:t></a:t>
            </a:r>
            <a:endParaRPr lang="en-US" altLang="zh-CN">
              <a:solidFill>
                <a:schemeClr val="bg1"/>
              </a:solidFill>
            </a:endParaRPr>
          </a:p>
        </p:txBody>
      </p:sp>
      <p:sp>
        <p:nvSpPr>
          <p:cNvPr id="13" name="TextBox 12">
            <a:extLst>
              <a:ext uri="{FF2B5EF4-FFF2-40B4-BE49-F238E27FC236}">
                <a16:creationId xmlns:a16="http://schemas.microsoft.com/office/drawing/2014/main" id="{997C2C4F-DAD8-7AEA-B00B-A7DF3CAFF585}"/>
              </a:ext>
            </a:extLst>
          </p:cNvPr>
          <p:cNvSpPr txBox="1"/>
          <p:nvPr/>
        </p:nvSpPr>
        <p:spPr>
          <a:xfrm>
            <a:off x="7434979" y="2136339"/>
            <a:ext cx="1274708" cy="2585323"/>
          </a:xfrm>
          <a:prstGeom prst="rect">
            <a:avLst/>
          </a:prstGeom>
          <a:noFill/>
        </p:spPr>
        <p:txBody>
          <a:bodyPr wrap="none" rtlCol="0">
            <a:spAutoFit/>
          </a:bodyPr>
          <a:lstStyle/>
          <a:p>
            <a:r>
              <a:rPr lang="zh-CN" altLang="en-US">
                <a:solidFill>
                  <a:schemeClr val="bg1"/>
                </a:solidFill>
                <a:sym typeface="Wingdings" panose="05000000000000000000" pitchFamily="2" charset="2"/>
              </a:rPr>
              <a:t> </a:t>
            </a:r>
            <a:r>
              <a:rPr lang="zh-CN" altLang="en-US">
                <a:solidFill>
                  <a:schemeClr val="bg1"/>
                </a:solidFill>
              </a:rPr>
              <a:t>保洁</a:t>
            </a:r>
            <a:endParaRPr lang="en-US" altLang="zh-CN">
              <a:solidFill>
                <a:schemeClr val="bg1"/>
              </a:solidFill>
            </a:endParaRPr>
          </a:p>
          <a:p>
            <a:r>
              <a:rPr lang="zh-CN" altLang="en-US">
                <a:solidFill>
                  <a:schemeClr val="bg1"/>
                </a:solidFill>
                <a:sym typeface="Wingdings" panose="05000000000000000000" pitchFamily="2" charset="2"/>
              </a:rPr>
              <a:t> </a:t>
            </a:r>
            <a:r>
              <a:rPr lang="zh-CN" altLang="en-US">
                <a:solidFill>
                  <a:schemeClr val="bg1"/>
                </a:solidFill>
              </a:rPr>
              <a:t>安保</a:t>
            </a:r>
            <a:endParaRPr lang="en-US" altLang="zh-CN">
              <a:solidFill>
                <a:schemeClr val="bg1"/>
              </a:solidFill>
            </a:endParaRPr>
          </a:p>
          <a:p>
            <a:endParaRPr lang="en-US" altLang="zh-CN">
              <a:solidFill>
                <a:schemeClr val="bg1"/>
              </a:solidFill>
            </a:endParaRPr>
          </a:p>
          <a:p>
            <a:r>
              <a:rPr lang="zh-CN" altLang="en-US">
                <a:solidFill>
                  <a:schemeClr val="bg1"/>
                </a:solidFill>
                <a:sym typeface="Wingdings" panose="05000000000000000000" pitchFamily="2" charset="2"/>
              </a:rPr>
              <a:t> </a:t>
            </a:r>
            <a:r>
              <a:rPr lang="zh-CN" altLang="en-US">
                <a:solidFill>
                  <a:schemeClr val="bg1"/>
                </a:solidFill>
              </a:rPr>
              <a:t>上课</a:t>
            </a:r>
            <a:endParaRPr lang="en-US" altLang="zh-CN">
              <a:solidFill>
                <a:schemeClr val="bg1"/>
              </a:solidFill>
            </a:endParaRPr>
          </a:p>
          <a:p>
            <a:r>
              <a:rPr lang="zh-CN" altLang="en-US">
                <a:solidFill>
                  <a:schemeClr val="bg1"/>
                </a:solidFill>
                <a:sym typeface="Wingdings" panose="05000000000000000000" pitchFamily="2" charset="2"/>
              </a:rPr>
              <a:t> 党团日</a:t>
            </a:r>
            <a:endParaRPr lang="en-US" altLang="zh-CN">
              <a:solidFill>
                <a:schemeClr val="bg1"/>
              </a:solidFill>
              <a:sym typeface="Wingdings" panose="05000000000000000000" pitchFamily="2" charset="2"/>
            </a:endParaRPr>
          </a:p>
          <a:p>
            <a:r>
              <a:rPr lang="zh-CN" altLang="en-US">
                <a:solidFill>
                  <a:schemeClr val="bg1"/>
                </a:solidFill>
                <a:sym typeface="Wingdings" panose="05000000000000000000" pitchFamily="2" charset="2"/>
              </a:rPr>
              <a:t> 班会</a:t>
            </a:r>
            <a:endParaRPr lang="en-US" altLang="zh-CN">
              <a:solidFill>
                <a:schemeClr val="bg1"/>
              </a:solidFill>
            </a:endParaRPr>
          </a:p>
          <a:p>
            <a:r>
              <a:rPr lang="zh-CN" altLang="en-US">
                <a:solidFill>
                  <a:schemeClr val="bg1"/>
                </a:solidFill>
              </a:rPr>
              <a:t> </a:t>
            </a:r>
            <a:endParaRPr lang="en-US" altLang="zh-CN">
              <a:solidFill>
                <a:schemeClr val="bg1"/>
              </a:solidFill>
            </a:endParaRPr>
          </a:p>
          <a:p>
            <a:r>
              <a:rPr lang="zh-CN" altLang="en-US">
                <a:solidFill>
                  <a:schemeClr val="bg1"/>
                </a:solidFill>
                <a:sym typeface="Wingdings" panose="05000000000000000000" pitchFamily="2" charset="2"/>
              </a:rPr>
              <a:t> 电商客服</a:t>
            </a:r>
            <a:endParaRPr lang="en-US" altLang="zh-CN">
              <a:solidFill>
                <a:schemeClr val="bg1"/>
              </a:solidFill>
              <a:sym typeface="Wingdings" panose="05000000000000000000" pitchFamily="2" charset="2"/>
            </a:endParaRPr>
          </a:p>
          <a:p>
            <a:r>
              <a:rPr lang="zh-CN" altLang="en-US">
                <a:solidFill>
                  <a:schemeClr val="bg1"/>
                </a:solidFill>
                <a:sym typeface="Wingdings" panose="05000000000000000000" pitchFamily="2" charset="2"/>
              </a:rPr>
              <a:t> </a:t>
            </a:r>
            <a:r>
              <a:rPr lang="zh-CN" altLang="en-US">
                <a:solidFill>
                  <a:schemeClr val="bg1"/>
                </a:solidFill>
              </a:rPr>
              <a:t>系统运维</a:t>
            </a:r>
            <a:endParaRPr lang="en-US" altLang="zh-CN">
              <a:solidFill>
                <a:schemeClr val="bg1"/>
              </a:solidFill>
            </a:endParaRPr>
          </a:p>
        </p:txBody>
      </p:sp>
      <p:sp>
        <p:nvSpPr>
          <p:cNvPr id="14" name="TextBox 13">
            <a:extLst>
              <a:ext uri="{FF2B5EF4-FFF2-40B4-BE49-F238E27FC236}">
                <a16:creationId xmlns:a16="http://schemas.microsoft.com/office/drawing/2014/main" id="{22CB7CFA-C10B-230A-8CD0-BF08A89AED0E}"/>
              </a:ext>
            </a:extLst>
          </p:cNvPr>
          <p:cNvSpPr txBox="1"/>
          <p:nvPr/>
        </p:nvSpPr>
        <p:spPr>
          <a:xfrm>
            <a:off x="4296799" y="5577526"/>
            <a:ext cx="920444" cy="338554"/>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en-US" altLang="zh-CN" sz="1600">
                <a:solidFill>
                  <a:schemeClr val="bg1"/>
                </a:solidFill>
              </a:rPr>
              <a:t>Project</a:t>
            </a:r>
            <a:endParaRPr lang="zh-CN" altLang="en-US" sz="1600">
              <a:solidFill>
                <a:schemeClr val="bg1"/>
              </a:solidFill>
            </a:endParaRPr>
          </a:p>
        </p:txBody>
      </p:sp>
      <p:sp>
        <p:nvSpPr>
          <p:cNvPr id="15" name="TextBox 14">
            <a:extLst>
              <a:ext uri="{FF2B5EF4-FFF2-40B4-BE49-F238E27FC236}">
                <a16:creationId xmlns:a16="http://schemas.microsoft.com/office/drawing/2014/main" id="{0F8740B0-9A18-0B1F-1D57-2411F6436EB5}"/>
              </a:ext>
            </a:extLst>
          </p:cNvPr>
          <p:cNvSpPr txBox="1"/>
          <p:nvPr/>
        </p:nvSpPr>
        <p:spPr>
          <a:xfrm>
            <a:off x="6820870" y="5589000"/>
            <a:ext cx="1228220" cy="338554"/>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en-US" altLang="zh-CN" sz="1600">
                <a:solidFill>
                  <a:schemeClr val="bg1"/>
                </a:solidFill>
              </a:rPr>
              <a:t>Operation</a:t>
            </a:r>
            <a:endParaRPr lang="zh-CN" altLang="en-US" sz="1600">
              <a:solidFill>
                <a:schemeClr val="bg1"/>
              </a:solidFill>
            </a:endParaRPr>
          </a:p>
        </p:txBody>
      </p:sp>
      <p:cxnSp>
        <p:nvCxnSpPr>
          <p:cNvPr id="17" name="Straight Connector 16">
            <a:extLst>
              <a:ext uri="{FF2B5EF4-FFF2-40B4-BE49-F238E27FC236}">
                <a16:creationId xmlns:a16="http://schemas.microsoft.com/office/drawing/2014/main" id="{148E07E2-7DAD-BDE9-6EAF-7A45FF2F4706}"/>
              </a:ext>
            </a:extLst>
          </p:cNvPr>
          <p:cNvCxnSpPr>
            <a:stCxn id="5" idx="2"/>
            <a:endCxn id="14" idx="0"/>
          </p:cNvCxnSpPr>
          <p:nvPr/>
        </p:nvCxnSpPr>
        <p:spPr>
          <a:xfrm>
            <a:off x="4757021" y="1275665"/>
            <a:ext cx="0" cy="4301861"/>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5BB1433-000E-8D7F-2E3F-31680BE1DE25}"/>
              </a:ext>
            </a:extLst>
          </p:cNvPr>
          <p:cNvCxnSpPr>
            <a:stCxn id="6" idx="2"/>
            <a:endCxn id="15" idx="0"/>
          </p:cNvCxnSpPr>
          <p:nvPr/>
        </p:nvCxnSpPr>
        <p:spPr>
          <a:xfrm>
            <a:off x="7434979" y="1275665"/>
            <a:ext cx="1" cy="431333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348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695998" y="360000"/>
            <a:ext cx="6375921" cy="429413"/>
          </a:xfrm>
        </p:spPr>
        <p:txBody>
          <a:bodyPr>
            <a:normAutofit/>
          </a:bodyPr>
          <a:lstStyle/>
          <a:p>
            <a:r>
              <a:rPr lang="en-US" altLang="zh-CN"/>
              <a:t>1.1 </a:t>
            </a:r>
            <a:r>
              <a:rPr lang="zh-CN" altLang="en-US"/>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400000"/>
          </a:xfrm>
        </p:spPr>
        <p:txBody>
          <a:bodyPr/>
          <a:lstStyle/>
          <a:p>
            <a:r>
              <a:rPr lang="zh-CN" altLang="en-US"/>
              <a:t>特征 </a:t>
            </a:r>
            <a:r>
              <a:rPr lang="en-US" altLang="zh-CN"/>
              <a:t>Features</a:t>
            </a:r>
            <a:endParaRPr lang="zh-CN" altLang="en-US"/>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
        <p:nvSpPr>
          <p:cNvPr id="31" name="任意多边形: 形状 30">
            <a:extLst>
              <a:ext uri="{FF2B5EF4-FFF2-40B4-BE49-F238E27FC236}">
                <a16:creationId xmlns:a16="http://schemas.microsoft.com/office/drawing/2014/main" id="{B4F5BDBD-55FE-E8B3-4050-80C8A7BFC372}"/>
              </a:ext>
            </a:extLst>
          </p:cNvPr>
          <p:cNvSpPr/>
          <p:nvPr/>
        </p:nvSpPr>
        <p:spPr>
          <a:xfrm>
            <a:off x="3095987" y="1579935"/>
            <a:ext cx="946981" cy="4498577"/>
          </a:xfrm>
          <a:custGeom>
            <a:avLst/>
            <a:gdLst>
              <a:gd name="csX0" fmla="*/ 15295 w 946981"/>
              <a:gd name="csY0" fmla="*/ 0 h 4498577"/>
              <a:gd name="csX1" fmla="*/ 15295 w 946981"/>
              <a:gd name="csY1" fmla="*/ 4498577 h 4498577"/>
              <a:gd name="csX2" fmla="*/ 0 w 946981"/>
              <a:gd name="csY2" fmla="*/ 4483281 h 4498577"/>
              <a:gd name="csX3" fmla="*/ 0 w 946981"/>
              <a:gd name="csY3" fmla="*/ 15295 h 4498577"/>
            </a:gdLst>
            <a:ahLst/>
            <a:cxnLst>
              <a:cxn ang="0">
                <a:pos x="csX0" y="csY0"/>
              </a:cxn>
              <a:cxn ang="0">
                <a:pos x="csX1" y="csY1"/>
              </a:cxn>
              <a:cxn ang="0">
                <a:pos x="csX2" y="csY2"/>
              </a:cxn>
              <a:cxn ang="0">
                <a:pos x="csX3" y="csY3"/>
              </a:cxn>
            </a:cxnLst>
            <a:rect l="l" t="t" r="r" b="b"/>
            <a:pathLst>
              <a:path w="946981" h="4498577">
                <a:moveTo>
                  <a:pt x="15295" y="0"/>
                </a:moveTo>
                <a:cubicBezTo>
                  <a:pt x="1257543" y="1242248"/>
                  <a:pt x="1257543" y="3256329"/>
                  <a:pt x="15295" y="4498577"/>
                </a:cubicBezTo>
                <a:lnTo>
                  <a:pt x="0" y="4483281"/>
                </a:lnTo>
                <a:cubicBezTo>
                  <a:pt x="1233800" y="3249481"/>
                  <a:pt x="1233800" y="1249095"/>
                  <a:pt x="0" y="15295"/>
                </a:cubicBezTo>
                <a:close/>
              </a:path>
            </a:pathLst>
          </a:custGeom>
          <a:solidFill>
            <a:schemeClr val="bg1"/>
          </a:solidFill>
          <a:ln>
            <a:noFill/>
          </a:ln>
        </p:spPr>
        <p:style>
          <a:lnRef idx="2">
            <a:schemeClr val="accent6">
              <a:hueOff val="0"/>
              <a:satOff val="0"/>
              <a:lumOff val="0"/>
              <a:alphaOff val="0"/>
            </a:schemeClr>
          </a:lnRef>
          <a:fillRef idx="0">
            <a:schemeClr val="accent6">
              <a:tint val="90000"/>
              <a:hueOff val="0"/>
              <a:satOff val="0"/>
              <a:lumOff val="0"/>
              <a:alphaOff val="0"/>
            </a:schemeClr>
          </a:fillRef>
          <a:effectRef idx="0">
            <a:schemeClr val="accent6">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8" name="任意多边形: 形状 17">
            <a:extLst>
              <a:ext uri="{FF2B5EF4-FFF2-40B4-BE49-F238E27FC236}">
                <a16:creationId xmlns:a16="http://schemas.microsoft.com/office/drawing/2014/main" id="{E82D1315-05F3-171B-C2D8-67857B102232}"/>
              </a:ext>
            </a:extLst>
          </p:cNvPr>
          <p:cNvSpPr/>
          <p:nvPr/>
        </p:nvSpPr>
        <p:spPr>
          <a:xfrm>
            <a:off x="3403812" y="1715290"/>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a:latin typeface="微软雅黑 Light" panose="020B0502040204020203" pitchFamily="34" charset="-122"/>
                <a:ea typeface="微软雅黑 Light" panose="020B0502040204020203" pitchFamily="34" charset="-122"/>
              </a:rPr>
              <a:t>目标性 </a:t>
            </a:r>
            <a:r>
              <a:rPr lang="en-US" altLang="zh-CN" sz="1600" kern="1200">
                <a:latin typeface="微软雅黑 Light" panose="020B0502040204020203" pitchFamily="34" charset="-122"/>
                <a:ea typeface="微软雅黑 Light" panose="020B0502040204020203" pitchFamily="34" charset="-122"/>
              </a:rPr>
              <a:t>Target</a:t>
            </a:r>
            <a:endParaRPr lang="zh-CN" altLang="en-US" sz="1600" kern="1200"/>
          </a:p>
        </p:txBody>
      </p:sp>
      <p:sp useBgFill="1">
        <p:nvSpPr>
          <p:cNvPr id="19" name="椭圆 18">
            <a:extLst>
              <a:ext uri="{FF2B5EF4-FFF2-40B4-BE49-F238E27FC236}">
                <a16:creationId xmlns:a16="http://schemas.microsoft.com/office/drawing/2014/main" id="{3A33B2DD-E46C-070C-B8D2-E5320B99488C}"/>
              </a:ext>
            </a:extLst>
          </p:cNvPr>
          <p:cNvSpPr/>
          <p:nvPr/>
        </p:nvSpPr>
        <p:spPr>
          <a:xfrm>
            <a:off x="3092871" y="1653102"/>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1</a:t>
            </a:r>
            <a:endParaRPr lang="zh-CN" altLang="en-US">
              <a:solidFill>
                <a:schemeClr val="bg1"/>
              </a:solidFill>
            </a:endParaRPr>
          </a:p>
        </p:txBody>
      </p:sp>
      <p:sp>
        <p:nvSpPr>
          <p:cNvPr id="20" name="任意多边形: 形状 19">
            <a:extLst>
              <a:ext uri="{FF2B5EF4-FFF2-40B4-BE49-F238E27FC236}">
                <a16:creationId xmlns:a16="http://schemas.microsoft.com/office/drawing/2014/main" id="{D699CAF5-EB85-AC93-21F9-35572745A0F1}"/>
              </a:ext>
            </a:extLst>
          </p:cNvPr>
          <p:cNvSpPr/>
          <p:nvPr/>
        </p:nvSpPr>
        <p:spPr>
          <a:xfrm>
            <a:off x="3813046" y="2461456"/>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相关性 </a:t>
            </a:r>
            <a:r>
              <a:rPr lang="en-US" altLang="zh-CN" sz="1600">
                <a:latin typeface="微软雅黑 Light" panose="020B0502040204020203" pitchFamily="34" charset="-122"/>
                <a:ea typeface="微软雅黑 Light" panose="020B0502040204020203" pitchFamily="34" charset="-122"/>
              </a:rPr>
              <a:t>Relevant</a:t>
            </a:r>
            <a:endParaRPr lang="zh-CN" altLang="en-US" sz="1600">
              <a:latin typeface="微软雅黑 Light" panose="020B0502040204020203" pitchFamily="34" charset="-122"/>
              <a:ea typeface="微软雅黑 Light" panose="020B0502040204020203" pitchFamily="34" charset="-122"/>
            </a:endParaRPr>
          </a:p>
        </p:txBody>
      </p:sp>
      <p:sp useBgFill="1">
        <p:nvSpPr>
          <p:cNvPr id="21" name="椭圆 20">
            <a:extLst>
              <a:ext uri="{FF2B5EF4-FFF2-40B4-BE49-F238E27FC236}">
                <a16:creationId xmlns:a16="http://schemas.microsoft.com/office/drawing/2014/main" id="{C7EE5B34-BBB0-54E3-8685-EBD49159777A}"/>
              </a:ext>
            </a:extLst>
          </p:cNvPr>
          <p:cNvSpPr/>
          <p:nvPr/>
        </p:nvSpPr>
        <p:spPr>
          <a:xfrm>
            <a:off x="3502104" y="2399267"/>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2</a:t>
            </a:r>
            <a:endParaRPr lang="zh-CN" altLang="en-US">
              <a:solidFill>
                <a:schemeClr val="bg1"/>
              </a:solidFill>
            </a:endParaRPr>
          </a:p>
        </p:txBody>
      </p:sp>
      <p:sp>
        <p:nvSpPr>
          <p:cNvPr id="22" name="任意多边形: 形状 21">
            <a:extLst>
              <a:ext uri="{FF2B5EF4-FFF2-40B4-BE49-F238E27FC236}">
                <a16:creationId xmlns:a16="http://schemas.microsoft.com/office/drawing/2014/main" id="{6AF24067-BA59-4CFF-A069-5324BAFC89C7}"/>
              </a:ext>
            </a:extLst>
          </p:cNvPr>
          <p:cNvSpPr/>
          <p:nvPr/>
        </p:nvSpPr>
        <p:spPr>
          <a:xfrm>
            <a:off x="4000178" y="3207621"/>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临时性 </a:t>
            </a:r>
            <a:r>
              <a:rPr lang="en-US" altLang="zh-CN" sz="1600">
                <a:latin typeface="微软雅黑 Light" panose="020B0502040204020203" pitchFamily="34" charset="-122"/>
                <a:ea typeface="微软雅黑 Light" panose="020B0502040204020203" pitchFamily="34" charset="-122"/>
              </a:rPr>
              <a:t>Temporary</a:t>
            </a:r>
            <a:endParaRPr lang="zh-CN" altLang="en-US" sz="1600">
              <a:latin typeface="微软雅黑 Light" panose="020B0502040204020203" pitchFamily="34" charset="-122"/>
              <a:ea typeface="微软雅黑 Light" panose="020B0502040204020203" pitchFamily="34" charset="-122"/>
            </a:endParaRPr>
          </a:p>
        </p:txBody>
      </p:sp>
      <p:sp useBgFill="1">
        <p:nvSpPr>
          <p:cNvPr id="23" name="椭圆 22">
            <a:extLst>
              <a:ext uri="{FF2B5EF4-FFF2-40B4-BE49-F238E27FC236}">
                <a16:creationId xmlns:a16="http://schemas.microsoft.com/office/drawing/2014/main" id="{DA2D6E0B-F205-B621-3FD2-2345937FA9FE}"/>
              </a:ext>
            </a:extLst>
          </p:cNvPr>
          <p:cNvSpPr/>
          <p:nvPr/>
        </p:nvSpPr>
        <p:spPr>
          <a:xfrm>
            <a:off x="3689236" y="3145433"/>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3</a:t>
            </a:r>
            <a:endParaRPr lang="zh-CN" altLang="en-US">
              <a:solidFill>
                <a:schemeClr val="bg1"/>
              </a:solidFill>
            </a:endParaRPr>
          </a:p>
        </p:txBody>
      </p:sp>
      <p:sp>
        <p:nvSpPr>
          <p:cNvPr id="24" name="任意多边形: 形状 23">
            <a:extLst>
              <a:ext uri="{FF2B5EF4-FFF2-40B4-BE49-F238E27FC236}">
                <a16:creationId xmlns:a16="http://schemas.microsoft.com/office/drawing/2014/main" id="{529A6B9B-D016-7162-BF0B-9F9032C340F6}"/>
              </a:ext>
            </a:extLst>
          </p:cNvPr>
          <p:cNvSpPr/>
          <p:nvPr/>
        </p:nvSpPr>
        <p:spPr>
          <a:xfrm>
            <a:off x="4000178" y="3953314"/>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独特性 </a:t>
            </a:r>
            <a:r>
              <a:rPr lang="en-US" altLang="zh-CN" sz="1600">
                <a:latin typeface="微软雅黑 Light" panose="020B0502040204020203" pitchFamily="34" charset="-122"/>
                <a:ea typeface="微软雅黑 Light" panose="020B0502040204020203" pitchFamily="34" charset="-122"/>
              </a:rPr>
              <a:t>Unique</a:t>
            </a:r>
            <a:endParaRPr lang="zh-CN" altLang="en-US" sz="1600">
              <a:latin typeface="微软雅黑 Light" panose="020B0502040204020203" pitchFamily="34" charset="-122"/>
              <a:ea typeface="微软雅黑 Light" panose="020B0502040204020203" pitchFamily="34" charset="-122"/>
            </a:endParaRPr>
          </a:p>
        </p:txBody>
      </p:sp>
      <p:sp useBgFill="1">
        <p:nvSpPr>
          <p:cNvPr id="25" name="椭圆 24">
            <a:extLst>
              <a:ext uri="{FF2B5EF4-FFF2-40B4-BE49-F238E27FC236}">
                <a16:creationId xmlns:a16="http://schemas.microsoft.com/office/drawing/2014/main" id="{856B8485-F052-AC04-0E2B-67D4BFE77D4C}"/>
              </a:ext>
            </a:extLst>
          </p:cNvPr>
          <p:cNvSpPr/>
          <p:nvPr/>
        </p:nvSpPr>
        <p:spPr>
          <a:xfrm>
            <a:off x="3689236" y="3891126"/>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4</a:t>
            </a:r>
            <a:endParaRPr lang="zh-CN" altLang="en-US">
              <a:solidFill>
                <a:schemeClr val="bg1"/>
              </a:solidFill>
            </a:endParaRPr>
          </a:p>
        </p:txBody>
      </p:sp>
      <p:sp>
        <p:nvSpPr>
          <p:cNvPr id="26" name="任意多边形: 形状 25">
            <a:extLst>
              <a:ext uri="{FF2B5EF4-FFF2-40B4-BE49-F238E27FC236}">
                <a16:creationId xmlns:a16="http://schemas.microsoft.com/office/drawing/2014/main" id="{1679A506-E841-08A2-BE5E-A8B1C69D1E38}"/>
              </a:ext>
            </a:extLst>
          </p:cNvPr>
          <p:cNvSpPr/>
          <p:nvPr/>
        </p:nvSpPr>
        <p:spPr>
          <a:xfrm>
            <a:off x="3813046" y="4699480"/>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资源约束性 </a:t>
            </a:r>
            <a:r>
              <a:rPr lang="en-US" altLang="zh-CN" sz="1600">
                <a:latin typeface="微软雅黑 Light" panose="020B0502040204020203" pitchFamily="34" charset="-122"/>
                <a:ea typeface="微软雅黑 Light" panose="020B0502040204020203" pitchFamily="34" charset="-122"/>
              </a:rPr>
              <a:t>Constrain</a:t>
            </a:r>
            <a:endParaRPr lang="zh-CN" altLang="en-US" sz="1600">
              <a:latin typeface="微软雅黑 Light" panose="020B0502040204020203" pitchFamily="34" charset="-122"/>
              <a:ea typeface="微软雅黑 Light" panose="020B0502040204020203" pitchFamily="34" charset="-122"/>
            </a:endParaRPr>
          </a:p>
        </p:txBody>
      </p:sp>
      <p:sp useBgFill="1">
        <p:nvSpPr>
          <p:cNvPr id="27" name="椭圆 26">
            <a:extLst>
              <a:ext uri="{FF2B5EF4-FFF2-40B4-BE49-F238E27FC236}">
                <a16:creationId xmlns:a16="http://schemas.microsoft.com/office/drawing/2014/main" id="{BFB6CA8A-33A3-A0DE-1D02-A7D6F66DB09B}"/>
              </a:ext>
            </a:extLst>
          </p:cNvPr>
          <p:cNvSpPr/>
          <p:nvPr/>
        </p:nvSpPr>
        <p:spPr>
          <a:xfrm>
            <a:off x="3502104" y="4637291"/>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5</a:t>
            </a:r>
            <a:endParaRPr lang="zh-CN" altLang="en-US">
              <a:solidFill>
                <a:schemeClr val="bg1"/>
              </a:solidFill>
            </a:endParaRPr>
          </a:p>
        </p:txBody>
      </p:sp>
      <p:sp>
        <p:nvSpPr>
          <p:cNvPr id="28" name="任意多边形: 形状 27">
            <a:hlinkClick r:id="rId2" action="ppaction://hlinkfile"/>
            <a:extLst>
              <a:ext uri="{FF2B5EF4-FFF2-40B4-BE49-F238E27FC236}">
                <a16:creationId xmlns:a16="http://schemas.microsoft.com/office/drawing/2014/main" id="{CA270720-DADF-7ED6-D84D-D0C7AAABC6BC}"/>
              </a:ext>
            </a:extLst>
          </p:cNvPr>
          <p:cNvSpPr/>
          <p:nvPr/>
        </p:nvSpPr>
        <p:spPr>
          <a:xfrm>
            <a:off x="3403812" y="5445645"/>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不确定性 </a:t>
            </a:r>
            <a:r>
              <a:rPr lang="en-US" altLang="zh-CN" sz="1600">
                <a:latin typeface="微软雅黑 Light" panose="020B0502040204020203" pitchFamily="34" charset="-122"/>
                <a:ea typeface="微软雅黑 Light" panose="020B0502040204020203" pitchFamily="34" charset="-122"/>
              </a:rPr>
              <a:t>Uncertainty</a:t>
            </a:r>
            <a:endParaRPr lang="zh-CN" altLang="en-US" sz="1600">
              <a:latin typeface="微软雅黑 Light" panose="020B0502040204020203" pitchFamily="34" charset="-122"/>
              <a:ea typeface="微软雅黑 Light" panose="020B0502040204020203" pitchFamily="34" charset="-122"/>
            </a:endParaRPr>
          </a:p>
        </p:txBody>
      </p:sp>
      <p:sp useBgFill="1">
        <p:nvSpPr>
          <p:cNvPr id="29" name="椭圆 28">
            <a:extLst>
              <a:ext uri="{FF2B5EF4-FFF2-40B4-BE49-F238E27FC236}">
                <a16:creationId xmlns:a16="http://schemas.microsoft.com/office/drawing/2014/main" id="{95D5CA2F-9AA0-FFE6-197F-E485F8041B06}"/>
              </a:ext>
            </a:extLst>
          </p:cNvPr>
          <p:cNvSpPr/>
          <p:nvPr/>
        </p:nvSpPr>
        <p:spPr>
          <a:xfrm>
            <a:off x="3092871" y="5383457"/>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6</a:t>
            </a:r>
            <a:endParaRPr lang="zh-CN" altLang="en-US">
              <a:solidFill>
                <a:schemeClr val="bg1"/>
              </a:solidFill>
            </a:endParaRPr>
          </a:p>
        </p:txBody>
      </p:sp>
    </p:spTree>
    <p:extLst>
      <p:ext uri="{BB962C8B-B14F-4D97-AF65-F5344CB8AC3E}">
        <p14:creationId xmlns:p14="http://schemas.microsoft.com/office/powerpoint/2010/main" val="33305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695998" y="360000"/>
            <a:ext cx="6375921" cy="429413"/>
          </a:xfrm>
        </p:spPr>
        <p:txBody>
          <a:bodyPr>
            <a:normAutofit/>
          </a:bodyPr>
          <a:lstStyle/>
          <a:p>
            <a:r>
              <a:rPr lang="en-US" altLang="zh-CN"/>
              <a:t>1.2 </a:t>
            </a:r>
            <a:r>
              <a:rPr lang="zh-CN" altLang="en-US"/>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328000"/>
          </a:xfrm>
        </p:spPr>
        <p:txBody>
          <a:bodyPr>
            <a:normAutofit/>
          </a:bodyPr>
          <a:lstStyle/>
          <a:p>
            <a:r>
              <a:rPr lang="zh-CN" altLang="en-US"/>
              <a:t>将项目分解为更小的单位</a:t>
            </a:r>
            <a:endParaRPr lang="en-US" altLang="zh-CN"/>
          </a:p>
          <a:p>
            <a:r>
              <a:rPr lang="zh-CN" altLang="en-US"/>
              <a:t>便于更好的控制项目</a:t>
            </a:r>
            <a:endParaRPr lang="en-US" altLang="zh-CN"/>
          </a:p>
          <a:p>
            <a:r>
              <a:rPr lang="zh-CN" altLang="en-US"/>
              <a:t>划分很灵活</a:t>
            </a:r>
            <a:endParaRPr lang="en-US" altLang="zh-CN"/>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a:t>Sub-Program</a:t>
            </a:r>
            <a:endParaRPr lang="zh-CN" altLang="en-US"/>
          </a:p>
        </p:txBody>
      </p:sp>
    </p:spTree>
    <p:extLst>
      <p:ext uri="{BB962C8B-B14F-4D97-AF65-F5344CB8AC3E}">
        <p14:creationId xmlns:p14="http://schemas.microsoft.com/office/powerpoint/2010/main" val="2040197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695998" y="360000"/>
            <a:ext cx="6375921" cy="429413"/>
          </a:xfrm>
        </p:spPr>
        <p:txBody>
          <a:bodyPr>
            <a:normAutofit/>
          </a:bodyPr>
          <a:lstStyle/>
          <a:p>
            <a:r>
              <a:rPr lang="en-US" altLang="zh-CN"/>
              <a:t>1.3 </a:t>
            </a:r>
            <a:r>
              <a:rPr lang="zh-CN" altLang="en-US"/>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400000"/>
          </a:xfrm>
        </p:spPr>
        <p:txBody>
          <a:bodyPr>
            <a:normAutofit/>
          </a:bodyPr>
          <a:lstStyle/>
          <a:p>
            <a:r>
              <a:rPr lang="zh-CN" altLang="en-US"/>
              <a:t>一组相互关联的项目、子项目和受控过程的活动</a:t>
            </a:r>
            <a:endParaRPr lang="en-US" altLang="zh-CN"/>
          </a:p>
          <a:p>
            <a:r>
              <a:rPr lang="zh-CN" altLang="en-US"/>
              <a:t>也称为大型项目</a:t>
            </a:r>
          </a:p>
          <a:p>
            <a:r>
              <a:rPr lang="zh-CN" altLang="en-US"/>
              <a:t>目的：通过协同管理获取单独管理各个部分时无法实现的额外效益</a:t>
            </a:r>
          </a:p>
          <a:p>
            <a:r>
              <a:rPr lang="zh-CN" altLang="en-US"/>
              <a:t>相互关联的项目：多个项目之间存在逻辑或目标上的联系</a:t>
            </a:r>
          </a:p>
          <a:p>
            <a:r>
              <a:rPr lang="zh-CN" altLang="en-US"/>
              <a:t>协调管理：统一规划、组织与控制，以确保整体一致性</a:t>
            </a:r>
          </a:p>
          <a:p>
            <a:r>
              <a:rPr lang="zh-CN" altLang="en-US"/>
              <a:t>核心价值：整体大于部分之和</a:t>
            </a:r>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a:t>Program</a:t>
            </a:r>
            <a:endParaRPr lang="zh-CN" altLang="en-US"/>
          </a:p>
        </p:txBody>
      </p:sp>
    </p:spTree>
    <p:extLst>
      <p:ext uri="{BB962C8B-B14F-4D97-AF65-F5344CB8AC3E}">
        <p14:creationId xmlns:p14="http://schemas.microsoft.com/office/powerpoint/2010/main" val="2151493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695998" y="360000"/>
            <a:ext cx="6375921" cy="429413"/>
          </a:xfrm>
        </p:spPr>
        <p:txBody>
          <a:bodyPr>
            <a:normAutofit/>
          </a:bodyPr>
          <a:lstStyle/>
          <a:p>
            <a:r>
              <a:rPr lang="en-US" altLang="zh-CN"/>
              <a:t>1.4 </a:t>
            </a:r>
            <a:r>
              <a:rPr lang="zh-CN" altLang="en-US"/>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328000"/>
          </a:xfrm>
        </p:spPr>
        <p:txBody>
          <a:bodyPr>
            <a:normAutofit/>
          </a:bodyPr>
          <a:lstStyle/>
          <a:p>
            <a:r>
              <a:rPr lang="zh-CN" altLang="en-US"/>
              <a:t>项目组合是为实现战略目标而整合管理的一系列项目、项目集和运营活动的集合</a:t>
            </a:r>
            <a:endParaRPr lang="en-US" altLang="zh-CN"/>
          </a:p>
          <a:p>
            <a:r>
              <a:rPr lang="zh-CN" altLang="en-US"/>
              <a:t>特点</a:t>
            </a:r>
          </a:p>
          <a:p>
            <a:pPr lvl="1"/>
            <a:r>
              <a:rPr lang="zh-CN" altLang="en-US"/>
              <a:t>项目或项目集之间不一定彼此依赖或直接相关</a:t>
            </a:r>
          </a:p>
          <a:p>
            <a:pPr lvl="1"/>
            <a:r>
              <a:rPr lang="zh-CN" altLang="en-US"/>
              <a:t>管理重点在于战略对齐，而非技术或执行上的关联性</a:t>
            </a:r>
            <a:endParaRPr lang="en-US" altLang="zh-CN"/>
          </a:p>
          <a:p>
            <a:r>
              <a:rPr lang="zh-CN" altLang="en-US"/>
              <a:t>战略导向：项目组合的管理是为了达成组织的战略目标</a:t>
            </a:r>
          </a:p>
          <a:p>
            <a:r>
              <a:rPr lang="zh-CN" altLang="en-US"/>
              <a:t>多样化组成：包含项目、项目集、子项目组合及运营工作</a:t>
            </a:r>
          </a:p>
          <a:p>
            <a:r>
              <a:rPr lang="zh-CN" altLang="en-US"/>
              <a:t>非依赖性：组合内的元素可以独立运作，无需相互依赖</a:t>
            </a:r>
          </a:p>
          <a:p>
            <a:r>
              <a:rPr lang="zh-CN" altLang="en-US"/>
              <a:t>统一管理：通过集中管理实现资源优化、优先级排序和战略一致性</a:t>
            </a:r>
            <a:endParaRPr lang="en-US" altLang="zh-CN"/>
          </a:p>
          <a:p>
            <a:r>
              <a:rPr lang="zh-CN" altLang="en-US"/>
              <a:t>强调</a:t>
            </a:r>
            <a:endParaRPr lang="en-US" altLang="zh-CN"/>
          </a:p>
          <a:p>
            <a:pPr lvl="1"/>
            <a:r>
              <a:rPr lang="zh-CN" altLang="en-US"/>
              <a:t>战略价值和整体效益</a:t>
            </a:r>
            <a:endParaRPr lang="en-US" altLang="zh-CN"/>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a:t>Portfolio</a:t>
            </a:r>
            <a:endParaRPr lang="zh-CN" altLang="en-US"/>
          </a:p>
        </p:txBody>
      </p:sp>
    </p:spTree>
    <p:extLst>
      <p:ext uri="{BB962C8B-B14F-4D97-AF65-F5344CB8AC3E}">
        <p14:creationId xmlns:p14="http://schemas.microsoft.com/office/powerpoint/2010/main" val="2214310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600"/>
              <a:t>项目组合 </a:t>
            </a:r>
            <a:r>
              <a:rPr lang="en-US" altLang="zh-CN" sz="1600"/>
              <a:t>Portfolio</a:t>
            </a:r>
            <a:endParaRPr lang="zh-CN" altLang="en-US" sz="160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600"/>
              <a:t>项目集 </a:t>
            </a:r>
            <a:r>
              <a:rPr lang="en-US" altLang="zh-CN" sz="1600"/>
              <a:t>Program</a:t>
            </a:r>
            <a:endParaRPr lang="zh-CN" altLang="en-US" sz="160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600"/>
              <a:t>项目 </a:t>
            </a:r>
            <a:r>
              <a:rPr lang="en-US" altLang="zh-CN" sz="1600"/>
              <a:t>Project</a:t>
            </a:r>
            <a:endParaRPr lang="zh-CN" altLang="en-US" sz="160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a:t>项目 </a:t>
            </a:r>
            <a:r>
              <a:rPr lang="en-US" altLang="zh-CN"/>
              <a:t>Project</a:t>
            </a:r>
            <a:endParaRPr lang="zh-CN" altLang="en-US"/>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cxnSp>
        <p:nvCxnSpPr>
          <p:cNvPr id="13" name="Connector: Elbow 12">
            <a:extLst>
              <a:ext uri="{FF2B5EF4-FFF2-40B4-BE49-F238E27FC236}">
                <a16:creationId xmlns:a16="http://schemas.microsoft.com/office/drawing/2014/main" id="{E2CDE2B9-A78F-F5A8-419E-7CF909E9D3A5}"/>
              </a:ext>
            </a:extLst>
          </p:cNvPr>
          <p:cNvCxnSpPr/>
          <p:nvPr/>
        </p:nvCxnSpPr>
        <p:spPr>
          <a:xfrm rot="10800000" flipH="1" flipV="1">
            <a:off x="3656582" y="1586555"/>
            <a:ext cx="360000" cy="625160"/>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p:nvPr/>
        </p:nvCxnSpPr>
        <p:spPr>
          <a:xfrm rot="10800000" flipH="1" flipV="1">
            <a:off x="4016582" y="2211714"/>
            <a:ext cx="360000" cy="640549"/>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p:cNvCxnSpPr>
          <p:nvPr/>
        </p:nvCxnSpPr>
        <p:spPr>
          <a:xfrm rot="10800000" flipH="1" flipV="1">
            <a:off x="4016582" y="2211715"/>
            <a:ext cx="360000" cy="1265708"/>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p:cNvCxnSpPr>
          <p:nvPr/>
        </p:nvCxnSpPr>
        <p:spPr>
          <a:xfrm rot="10800000" flipV="1">
            <a:off x="4736582" y="4117971"/>
            <a:ext cx="12700" cy="1246920"/>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a:solidFill>
                  <a:schemeClr val="bg1"/>
                </a:solidFill>
              </a:rPr>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a:solidFill>
                  <a:schemeClr val="bg1"/>
                </a:solidFill>
              </a:rPr>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a:solidFill>
                  <a:schemeClr val="bg1"/>
                </a:solidFill>
              </a:rPr>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a:solidFill>
                  <a:schemeClr val="bg1"/>
                </a:solidFill>
              </a:rPr>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a:solidFill>
                  <a:schemeClr val="bg1"/>
                </a:solidFill>
              </a:rPr>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a:solidFill>
                  <a:schemeClr val="bg1"/>
                </a:solidFill>
              </a:rPr>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p:cNvCxnSpPr>
          <p:nvPr/>
        </p:nvCxnSpPr>
        <p:spPr>
          <a:xfrm rot="10800000" flipH="1" flipV="1">
            <a:off x="4376582" y="3477423"/>
            <a:ext cx="360000" cy="1265710"/>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a:solidFill>
                  <a:schemeClr val="bg1"/>
                </a:solidFill>
              </a:rPr>
              <a:t>… …</a:t>
            </a:r>
            <a:endParaRPr lang="zh-CN" altLang="en-US">
              <a:solidFill>
                <a:schemeClr val="bg1"/>
              </a:solidFill>
            </a:endParaRPr>
          </a:p>
        </p:txBody>
      </p:sp>
      <p:sp>
        <p:nvSpPr>
          <p:cNvPr id="2" name="TextBox 1">
            <a:extLst>
              <a:ext uri="{FF2B5EF4-FFF2-40B4-BE49-F238E27FC236}">
                <a16:creationId xmlns:a16="http://schemas.microsoft.com/office/drawing/2014/main" id="{68C69C74-D053-48A5-C86D-81B178396642}"/>
              </a:ext>
            </a:extLst>
          </p:cNvPr>
          <p:cNvSpPr txBox="1"/>
          <p:nvPr/>
        </p:nvSpPr>
        <p:spPr>
          <a:xfrm>
            <a:off x="9262879" y="1401889"/>
            <a:ext cx="646331" cy="369332"/>
          </a:xfrm>
          <a:prstGeom prst="rect">
            <a:avLst/>
          </a:prstGeom>
          <a:noFill/>
        </p:spPr>
        <p:txBody>
          <a:bodyPr wrap="none" rtlCol="0">
            <a:spAutoFit/>
          </a:bodyPr>
          <a:lstStyle/>
          <a:p>
            <a:r>
              <a:rPr lang="zh-CN" altLang="en-US">
                <a:solidFill>
                  <a:schemeClr val="bg1"/>
                </a:solidFill>
              </a:rPr>
              <a:t>长期</a:t>
            </a:r>
          </a:p>
        </p:txBody>
      </p:sp>
      <p:cxnSp>
        <p:nvCxnSpPr>
          <p:cNvPr id="4" name="Straight Arrow Connector 3">
            <a:extLst>
              <a:ext uri="{FF2B5EF4-FFF2-40B4-BE49-F238E27FC236}">
                <a16:creationId xmlns:a16="http://schemas.microsoft.com/office/drawing/2014/main" id="{94C900FD-AB0B-CB5F-F0DE-4CA322CD8EA9}"/>
              </a:ext>
            </a:extLst>
          </p:cNvPr>
          <p:cNvCxnSpPr>
            <a:stCxn id="20" idx="3"/>
            <a:endCxn id="2" idx="1"/>
          </p:cNvCxnSpPr>
          <p:nvPr/>
        </p:nvCxnSpPr>
        <p:spPr>
          <a:xfrm>
            <a:off x="8073753" y="1586555"/>
            <a:ext cx="118912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36AB012-2FDF-EC85-F190-5C6AE174DB01}"/>
              </a:ext>
            </a:extLst>
          </p:cNvPr>
          <p:cNvSpPr txBox="1"/>
          <p:nvPr/>
        </p:nvSpPr>
        <p:spPr>
          <a:xfrm>
            <a:off x="9262878" y="2031612"/>
            <a:ext cx="877163" cy="369332"/>
          </a:xfrm>
          <a:prstGeom prst="rect">
            <a:avLst/>
          </a:prstGeom>
          <a:noFill/>
        </p:spPr>
        <p:txBody>
          <a:bodyPr wrap="none" rtlCol="0">
            <a:spAutoFit/>
          </a:bodyPr>
          <a:lstStyle/>
          <a:p>
            <a:r>
              <a:rPr lang="zh-CN" altLang="en-US">
                <a:solidFill>
                  <a:schemeClr val="bg1"/>
                </a:solidFill>
              </a:rPr>
              <a:t>中长期</a:t>
            </a:r>
          </a:p>
        </p:txBody>
      </p:sp>
      <p:cxnSp>
        <p:nvCxnSpPr>
          <p:cNvPr id="14" name="Straight Arrow Connector 13">
            <a:extLst>
              <a:ext uri="{FF2B5EF4-FFF2-40B4-BE49-F238E27FC236}">
                <a16:creationId xmlns:a16="http://schemas.microsoft.com/office/drawing/2014/main" id="{1D684A42-CAF5-48F0-49A0-840501E828DC}"/>
              </a:ext>
            </a:extLst>
          </p:cNvPr>
          <p:cNvCxnSpPr>
            <a:stCxn id="21" idx="3"/>
            <a:endCxn id="5" idx="1"/>
          </p:cNvCxnSpPr>
          <p:nvPr/>
        </p:nvCxnSpPr>
        <p:spPr>
          <a:xfrm>
            <a:off x="8535418" y="2216278"/>
            <a:ext cx="72746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49FADB0-08CE-CD88-BC04-5FA8AD2CA325}"/>
              </a:ext>
            </a:extLst>
          </p:cNvPr>
          <p:cNvSpPr txBox="1"/>
          <p:nvPr/>
        </p:nvSpPr>
        <p:spPr>
          <a:xfrm>
            <a:off x="9262878" y="2657403"/>
            <a:ext cx="877163" cy="369332"/>
          </a:xfrm>
          <a:prstGeom prst="rect">
            <a:avLst/>
          </a:prstGeom>
          <a:noFill/>
        </p:spPr>
        <p:txBody>
          <a:bodyPr wrap="none" rtlCol="0">
            <a:spAutoFit/>
          </a:bodyPr>
          <a:lstStyle/>
          <a:p>
            <a:r>
              <a:rPr lang="zh-CN" altLang="en-US">
                <a:solidFill>
                  <a:schemeClr val="bg1"/>
                </a:solidFill>
              </a:rPr>
              <a:t>中长期</a:t>
            </a:r>
          </a:p>
        </p:txBody>
      </p:sp>
      <p:cxnSp>
        <p:nvCxnSpPr>
          <p:cNvPr id="26" name="Straight Arrow Connector 25">
            <a:extLst>
              <a:ext uri="{FF2B5EF4-FFF2-40B4-BE49-F238E27FC236}">
                <a16:creationId xmlns:a16="http://schemas.microsoft.com/office/drawing/2014/main" id="{601AE609-7AD9-FEC4-D364-B146415B676C}"/>
              </a:ext>
            </a:extLst>
          </p:cNvPr>
          <p:cNvCxnSpPr>
            <a:stCxn id="22" idx="3"/>
            <a:endCxn id="16" idx="1"/>
          </p:cNvCxnSpPr>
          <p:nvPr/>
        </p:nvCxnSpPr>
        <p:spPr>
          <a:xfrm flipV="1">
            <a:off x="8304585" y="2842069"/>
            <a:ext cx="958293" cy="393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6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328000"/>
          </a:xfrm>
        </p:spPr>
        <p:txBody>
          <a:bodyPr>
            <a:normAutofit/>
          </a:bodyPr>
          <a:lstStyle/>
          <a:p>
            <a:r>
              <a:rPr lang="zh-CN" altLang="en-US"/>
              <a:t>含义 </a:t>
            </a:r>
            <a:r>
              <a:rPr lang="en-US" altLang="zh-CN"/>
              <a:t>Concept</a:t>
            </a:r>
          </a:p>
          <a:p>
            <a:pPr lvl="1"/>
            <a:r>
              <a:rPr lang="zh-CN" altLang="en-US"/>
              <a:t>计算机程序以及说明程序的各种文档</a:t>
            </a:r>
            <a:endParaRPr lang="en-US" altLang="zh-CN"/>
          </a:p>
          <a:p>
            <a:r>
              <a:rPr lang="zh-CN" altLang="en-US"/>
              <a:t>组成要素 </a:t>
            </a:r>
            <a:r>
              <a:rPr lang="en-US" altLang="zh-CN"/>
              <a:t>Component</a:t>
            </a:r>
          </a:p>
          <a:p>
            <a:pPr lvl="1"/>
            <a:r>
              <a:rPr lang="zh-CN" altLang="en-US"/>
              <a:t>程序</a:t>
            </a:r>
            <a:endParaRPr lang="en-US" altLang="zh-CN"/>
          </a:p>
          <a:p>
            <a:pPr lvl="1"/>
            <a:r>
              <a:rPr lang="zh-CN" altLang="en-US"/>
              <a:t>数据</a:t>
            </a:r>
            <a:endParaRPr lang="en-US" altLang="zh-CN"/>
          </a:p>
          <a:p>
            <a:pPr lvl="1"/>
            <a:r>
              <a:rPr lang="zh-CN" altLang="en-US"/>
              <a:t>相关文档</a:t>
            </a:r>
            <a:endParaRPr lang="en-US" altLang="zh-CN"/>
          </a:p>
          <a:p>
            <a:r>
              <a:rPr lang="zh-CN" altLang="en-US"/>
              <a:t>特点 </a:t>
            </a:r>
            <a:r>
              <a:rPr lang="en-US" altLang="zh-CN"/>
              <a:t>Feature</a:t>
            </a:r>
          </a:p>
          <a:p>
            <a:pPr lvl="1"/>
            <a:r>
              <a:rPr lang="zh-CN" altLang="en-US"/>
              <a:t>逻辑实体</a:t>
            </a:r>
            <a:endParaRPr lang="en-US" altLang="zh-CN"/>
          </a:p>
          <a:p>
            <a:pPr lvl="1"/>
            <a:r>
              <a:rPr lang="zh-CN" altLang="en-US"/>
              <a:t>同硬件相比，没有生产、磨损和老化</a:t>
            </a:r>
            <a:endParaRPr lang="en-US" altLang="zh-CN"/>
          </a:p>
          <a:p>
            <a:pPr lvl="1"/>
            <a:r>
              <a:rPr lang="zh-CN" altLang="en-US"/>
              <a:t>开发受计算机系统限制</a:t>
            </a:r>
            <a:endParaRPr lang="en-US" altLang="zh-CN"/>
          </a:p>
          <a:p>
            <a:pPr lvl="1"/>
            <a:r>
              <a:rPr lang="zh-CN" altLang="en-US"/>
              <a:t>技术复杂、更新迭代快</a:t>
            </a:r>
            <a:endParaRPr lang="en-US" altLang="zh-CN"/>
          </a:p>
          <a:p>
            <a:pPr lvl="1"/>
            <a:r>
              <a:rPr lang="zh-CN" altLang="en-US"/>
              <a:t>开发成本低和学习成本高</a:t>
            </a:r>
            <a:endParaRPr lang="en-US" altLang="zh-CN"/>
          </a:p>
          <a:p>
            <a:pPr lvl="1"/>
            <a:r>
              <a:rPr lang="zh-CN" altLang="en-US"/>
              <a:t>涉及多方面因素</a:t>
            </a:r>
            <a:endParaRPr lang="en-US" altLang="zh-CN"/>
          </a:p>
          <a:p>
            <a:pPr lvl="1"/>
            <a:r>
              <a:rPr lang="zh-CN" altLang="en-US"/>
              <a:t>在</a:t>
            </a:r>
            <a:r>
              <a:rPr lang="en-US" altLang="zh-CN"/>
              <a:t>AI</a:t>
            </a:r>
            <a:r>
              <a:rPr lang="zh-CN" altLang="en-US"/>
              <a:t>盛行的当下，仍然严重依赖人工</a:t>
            </a:r>
            <a:endParaRPr lang="en-US" altLang="zh-CN"/>
          </a:p>
          <a:p>
            <a:pPr lvl="1"/>
            <a:endParaRPr lang="zh-CN" altLang="en-US"/>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695998" y="360000"/>
            <a:ext cx="6375921" cy="424732"/>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328000"/>
          </a:xfrm>
        </p:spPr>
        <p:txBody>
          <a:bodyPr>
            <a:normAutofit/>
          </a:bodyPr>
          <a:lstStyle/>
          <a:p>
            <a:r>
              <a:rPr lang="zh-CN" altLang="en-US"/>
              <a:t>制约 </a:t>
            </a:r>
            <a:r>
              <a:rPr lang="en-US" altLang="zh-CN"/>
              <a:t>Constrain</a:t>
            </a:r>
          </a:p>
          <a:p>
            <a:pPr lvl="1"/>
            <a:r>
              <a:rPr lang="zh-CN" altLang="en-US"/>
              <a:t>项目范围 </a:t>
            </a:r>
            <a:r>
              <a:rPr lang="en-US" altLang="zh-CN"/>
              <a:t>Scope</a:t>
            </a:r>
          </a:p>
          <a:p>
            <a:pPr lvl="1"/>
            <a:r>
              <a:rPr lang="zh-CN" altLang="en-US"/>
              <a:t>进度计划 </a:t>
            </a:r>
            <a:r>
              <a:rPr lang="en-US" altLang="zh-CN"/>
              <a:t>Schedule / Time</a:t>
            </a:r>
          </a:p>
          <a:p>
            <a:pPr lvl="1"/>
            <a:r>
              <a:rPr lang="zh-CN" altLang="en-US"/>
              <a:t>成本 </a:t>
            </a:r>
            <a:r>
              <a:rPr lang="en-US" altLang="zh-CN"/>
              <a:t>Cost / Budget</a:t>
            </a:r>
          </a:p>
          <a:p>
            <a:pPr lvl="1"/>
            <a:r>
              <a:rPr lang="zh-CN" altLang="en-US"/>
              <a:t>用户满意度 </a:t>
            </a:r>
            <a:r>
              <a:rPr lang="en-US" altLang="zh-CN"/>
              <a:t>User Satisfaction / Quality</a:t>
            </a:r>
            <a:endParaRPr lang="zh-CN" altLang="en-US"/>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360001"/>
            <a:ext cx="4424080" cy="424731"/>
          </a:xfrm>
        </p:spPr>
        <p:txBody>
          <a:bodyPr/>
          <a:lstStyle/>
          <a:p>
            <a:r>
              <a:rPr lang="en-US" altLang="zh-CN"/>
              <a:t>Software</a:t>
            </a:r>
            <a:r>
              <a:rPr lang="zh-CN" altLang="en-US"/>
              <a:t> </a:t>
            </a:r>
            <a:r>
              <a:rPr lang="en-US" altLang="zh-CN"/>
              <a:t>Project</a:t>
            </a:r>
            <a:endParaRPr lang="zh-CN" altLang="en-US"/>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2069360167"/>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695998" y="360000"/>
            <a:ext cx="6375921" cy="424732"/>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328000"/>
          </a:xfrm>
        </p:spPr>
        <p:txBody>
          <a:bodyPr>
            <a:normAutofit/>
          </a:bodyPr>
          <a:lstStyle/>
          <a:p>
            <a:r>
              <a:rPr lang="zh-CN" altLang="en-US"/>
              <a:t>趋势 </a:t>
            </a:r>
            <a:r>
              <a:rPr lang="en-US" altLang="zh-CN"/>
              <a:t>Trend</a:t>
            </a:r>
          </a:p>
          <a:p>
            <a:pPr lvl="1"/>
            <a:r>
              <a:rPr lang="zh-CN" altLang="en-US"/>
              <a:t>当前软件项目开发正从“本地部署、一次性交付”转向“云端托管、持续迭代、服务化运营”</a:t>
            </a:r>
            <a:endParaRPr lang="en-US" altLang="zh-CN"/>
          </a:p>
          <a:p>
            <a:pPr lvl="1"/>
            <a:r>
              <a:rPr lang="en-US" altLang="zh-CN"/>
              <a:t>SaaS + Cloud </a:t>
            </a:r>
            <a:r>
              <a:rPr lang="zh-CN" altLang="en-US"/>
              <a:t>已成主流范式，推动软件产业向更灵活、高效、智能的方向演进</a:t>
            </a:r>
            <a:endParaRPr lang="en-US" altLang="zh-CN"/>
          </a:p>
          <a:p>
            <a:pPr lvl="1"/>
            <a:r>
              <a:rPr lang="zh-CN" altLang="en-US"/>
              <a:t>基于云平台构建 </a:t>
            </a:r>
            <a:r>
              <a:rPr lang="en-US" altLang="zh-CN"/>
              <a:t>SaaS </a:t>
            </a:r>
            <a:r>
              <a:rPr lang="zh-CN" altLang="en-US"/>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360001"/>
            <a:ext cx="4424080" cy="424731"/>
          </a:xfrm>
        </p:spPr>
        <p:txBody>
          <a:bodyPr/>
          <a:lstStyle/>
          <a:p>
            <a:r>
              <a:rPr lang="en-US" altLang="zh-CN"/>
              <a:t>Software</a:t>
            </a:r>
            <a:r>
              <a:rPr lang="zh-CN" altLang="en-US"/>
              <a:t> </a:t>
            </a:r>
            <a:r>
              <a:rPr lang="en-US" altLang="zh-CN"/>
              <a:t>Project</a:t>
            </a:r>
            <a:endParaRPr lang="zh-CN" altLang="en-US"/>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3357713834"/>
              </p:ext>
            </p:extLst>
          </p:nvPr>
        </p:nvGraphicFramePr>
        <p:xfrm>
          <a:off x="695325" y="3431209"/>
          <a:ext cx="10801350" cy="2072640"/>
        </p:xfrm>
        <a:graphic>
          <a:graphicData uri="http://schemas.openxmlformats.org/drawingml/2006/table">
            <a:tbl>
              <a:tblPr/>
              <a:tblGrid>
                <a:gridCol w="709269">
                  <a:extLst>
                    <a:ext uri="{9D8B030D-6E8A-4147-A177-3AD203B41FA5}">
                      <a16:colId xmlns:a16="http://schemas.microsoft.com/office/drawing/2014/main" val="1501163733"/>
                    </a:ext>
                  </a:extLst>
                </a:gridCol>
                <a:gridCol w="2950590">
                  <a:extLst>
                    <a:ext uri="{9D8B030D-6E8A-4147-A177-3AD203B41FA5}">
                      <a16:colId xmlns:a16="http://schemas.microsoft.com/office/drawing/2014/main" val="2025283877"/>
                    </a:ext>
                  </a:extLst>
                </a:gridCol>
                <a:gridCol w="1659117">
                  <a:extLst>
                    <a:ext uri="{9D8B030D-6E8A-4147-A177-3AD203B41FA5}">
                      <a16:colId xmlns:a16="http://schemas.microsoft.com/office/drawing/2014/main" val="173135749"/>
                    </a:ext>
                  </a:extLst>
                </a:gridCol>
                <a:gridCol w="3544478">
                  <a:extLst>
                    <a:ext uri="{9D8B030D-6E8A-4147-A177-3AD203B41FA5}">
                      <a16:colId xmlns:a16="http://schemas.microsoft.com/office/drawing/2014/main" val="974387085"/>
                    </a:ext>
                  </a:extLst>
                </a:gridCol>
                <a:gridCol w="1937896">
                  <a:extLst>
                    <a:ext uri="{9D8B030D-6E8A-4147-A177-3AD203B41FA5}">
                      <a16:colId xmlns:a16="http://schemas.microsoft.com/office/drawing/2014/main" val="2492545226"/>
                    </a:ext>
                  </a:extLst>
                </a:gridCol>
              </a:tblGrid>
              <a:tr h="0">
                <a:tc>
                  <a:txBody>
                    <a:bodyPr/>
                    <a:lstStyle/>
                    <a:p>
                      <a:pPr algn="l">
                        <a:lnSpc>
                          <a:spcPct val="100000"/>
                        </a:lnSpc>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English</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Chinese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Relevant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84947567"/>
                  </a:ext>
                </a:extLst>
              </a:tr>
              <a:tr h="0">
                <a:tc>
                  <a:txBody>
                    <a:bodyPr/>
                    <a:lstStyle/>
                    <a:p>
                      <a:pPr algn="l">
                        <a:lnSpc>
                          <a:spcPct val="100000"/>
                        </a:lnSpc>
                        <a:buNone/>
                      </a:pPr>
                      <a:r>
                        <a:rPr lang="en-US" sz="1600">
                          <a:solidFill>
                            <a:schemeClr val="bg1"/>
                          </a:solidFill>
                        </a:rPr>
                        <a:t>IaaS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Infrastructure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基础设施即服务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提供虚拟机、存储、网络等底层资源（如 </a:t>
                      </a:r>
                      <a:r>
                        <a:rPr lang="en-US" altLang="zh-CN" sz="1600">
                          <a:solidFill>
                            <a:schemeClr val="bg1"/>
                          </a:solidFill>
                        </a:rPr>
                        <a:t>AWS EC2</a:t>
                      </a:r>
                      <a:r>
                        <a:rPr lang="zh-CN" altLang="en-US" sz="1600">
                          <a:solidFill>
                            <a:schemeClr val="bg1"/>
                          </a:solidFill>
                        </a:rPr>
                        <a:t>、阿里云 </a:t>
                      </a:r>
                      <a:r>
                        <a:rPr lang="en-US" altLang="zh-CN" sz="1600">
                          <a:solidFill>
                            <a:schemeClr val="bg1"/>
                          </a:solidFill>
                        </a:rPr>
                        <a:t>ECS</a:t>
                      </a:r>
                      <a:r>
                        <a:rPr lang="zh-CN" alt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fi-FI" sz="1600">
                          <a:solidFill>
                            <a:schemeClr val="bg1"/>
                          </a:solidFill>
                        </a:rPr>
                        <a:t>SaaS 可构建在 IaaS 之上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89741195"/>
                  </a:ext>
                </a:extLst>
              </a:tr>
              <a:tr h="0">
                <a:tc>
                  <a:txBody>
                    <a:bodyPr/>
                    <a:lstStyle/>
                    <a:p>
                      <a:pPr algn="l">
                        <a:lnSpc>
                          <a:spcPct val="100000"/>
                        </a:lnSpc>
                        <a:buNone/>
                      </a:pPr>
                      <a:r>
                        <a:rPr lang="en-US" sz="1600">
                          <a:solidFill>
                            <a:schemeClr val="bg1"/>
                          </a:solidFill>
                        </a:rPr>
                        <a:t>PaaS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Platform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平台即服务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提供开发、部署、运行环境（如 </a:t>
                      </a:r>
                      <a:r>
                        <a:rPr lang="en-US" sz="1600">
                          <a:solidFill>
                            <a:schemeClr val="bg1"/>
                          </a:solidFill>
                        </a:rPr>
                        <a:t>Google App </a:t>
                      </a:r>
                      <a:r>
                        <a:rPr lang="en-US" sz="1600" err="1">
                          <a:solidFill>
                            <a:schemeClr val="bg1"/>
                          </a:solidFill>
                        </a:rPr>
                        <a:t>Engine、Heroku</a:t>
                      </a:r>
                      <a:r>
                        <a:rPr 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SaaS </a:t>
                      </a:r>
                      <a:r>
                        <a:rPr lang="zh-CN" altLang="en-US" sz="1600">
                          <a:solidFill>
                            <a:schemeClr val="bg1"/>
                          </a:solidFill>
                        </a:rPr>
                        <a:t>开发者常使用 </a:t>
                      </a:r>
                      <a:r>
                        <a:rPr lang="en-US" sz="1600">
                          <a:solidFill>
                            <a:schemeClr val="bg1"/>
                          </a:solidFill>
                        </a:rPr>
                        <a:t>PaaS </a:t>
                      </a:r>
                      <a:r>
                        <a:rPr lang="zh-CN" altLang="en-US" sz="1600">
                          <a:solidFill>
                            <a:schemeClr val="bg1"/>
                          </a:solidFill>
                        </a:rPr>
                        <a:t>加速开发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938405"/>
                  </a:ext>
                </a:extLst>
              </a:tr>
              <a:tr h="0">
                <a:tc>
                  <a:txBody>
                    <a:bodyPr/>
                    <a:lstStyle/>
                    <a:p>
                      <a:pPr algn="l">
                        <a:lnSpc>
                          <a:spcPct val="100000"/>
                        </a:lnSpc>
                        <a:buNone/>
                      </a:pPr>
                      <a:r>
                        <a:rPr lang="en-US" sz="1600">
                          <a:solidFill>
                            <a:schemeClr val="bg1"/>
                          </a:solidFill>
                        </a:rPr>
                        <a:t>SaaS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Software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软件即服务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直接面向终端用户的完整应用（如钉钉、</a:t>
                      </a:r>
                      <a:r>
                        <a:rPr lang="en-US" sz="1600" err="1">
                          <a:solidFill>
                            <a:schemeClr val="bg1"/>
                          </a:solidFill>
                        </a:rPr>
                        <a:t>Salesforce、Notion</a:t>
                      </a:r>
                      <a:r>
                        <a:rPr 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最终交付形态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695998" y="360000"/>
            <a:ext cx="6375921" cy="424732"/>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328000"/>
          </a:xfrm>
        </p:spPr>
        <p:txBody>
          <a:bodyPr>
            <a:normAutofit/>
          </a:bodyPr>
          <a:lstStyle/>
          <a:p>
            <a:r>
              <a:rPr lang="zh-CN" altLang="en-US"/>
              <a:t>例子 </a:t>
            </a:r>
            <a:r>
              <a:rPr lang="en-US" altLang="zh-CN"/>
              <a:t>Example</a:t>
            </a:r>
          </a:p>
          <a:p>
            <a:pPr lvl="1"/>
            <a:r>
              <a:rPr lang="zh-CN" altLang="en-US"/>
              <a:t>本地 </a:t>
            </a:r>
            <a:r>
              <a:rPr lang="en-US" altLang="zh-CN"/>
              <a:t>IDE vs </a:t>
            </a:r>
            <a:r>
              <a:rPr lang="zh-CN" altLang="en-US"/>
              <a:t>云开发；</a:t>
            </a:r>
            <a:r>
              <a:rPr lang="en-US" altLang="zh-CN" err="1">
                <a:hlinkClick r:id="rId3"/>
              </a:rPr>
              <a:t>CodePen</a:t>
            </a:r>
            <a:endParaRPr lang="en-US" altLang="zh-CN"/>
          </a:p>
          <a:p>
            <a:pPr lvl="1"/>
            <a:r>
              <a:rPr lang="en-US" altLang="zh-CN"/>
              <a:t>DIY </a:t>
            </a:r>
            <a:r>
              <a:rPr lang="zh-CN" altLang="en-US"/>
              <a:t>自建服务器 </a:t>
            </a:r>
            <a:r>
              <a:rPr lang="en-US" altLang="zh-CN"/>
              <a:t>vs </a:t>
            </a:r>
            <a:r>
              <a:rPr lang="zh-CN" altLang="en-US"/>
              <a:t>云服务器；阿里云 </a:t>
            </a:r>
            <a:r>
              <a:rPr lang="en-US" altLang="zh-CN"/>
              <a:t>ECS</a:t>
            </a:r>
            <a:r>
              <a:rPr lang="zh-CN" altLang="en-US"/>
              <a:t>，腾讯云 </a:t>
            </a:r>
            <a:r>
              <a:rPr lang="en-US" altLang="zh-CN"/>
              <a:t>CVM</a:t>
            </a:r>
            <a:r>
              <a:rPr lang="zh-CN" altLang="en-US"/>
              <a:t>，亚马逊 </a:t>
            </a:r>
            <a:r>
              <a:rPr lang="en-US" altLang="zh-CN"/>
              <a:t>AWS</a:t>
            </a:r>
          </a:p>
          <a:p>
            <a:pPr lvl="1"/>
            <a:r>
              <a:rPr lang="zh-CN" altLang="en-US"/>
              <a:t>传统办公</a:t>
            </a:r>
            <a:r>
              <a:rPr lang="en-US" altLang="zh-CN"/>
              <a:t> vs OA</a:t>
            </a:r>
            <a:r>
              <a:rPr lang="zh-CN" altLang="en-US"/>
              <a:t>；腾讯文档、金山文档、钉钉、飞书</a:t>
            </a:r>
            <a:endParaRPr lang="en-US" altLang="zh-CN"/>
          </a:p>
          <a:p>
            <a:pPr lvl="1"/>
            <a:r>
              <a:rPr lang="zh-CN" altLang="en-US"/>
              <a:t>其它：</a:t>
            </a:r>
            <a:r>
              <a:rPr lang="en-US" altLang="zh-CN" err="1">
                <a:hlinkClick r:id="rId4"/>
              </a:rPr>
              <a:t>Supabase</a:t>
            </a:r>
            <a:r>
              <a:rPr lang="zh-CN" altLang="en-US"/>
              <a:t>、</a:t>
            </a:r>
            <a:r>
              <a:rPr lang="en-US" altLang="zh-CN">
                <a:hlinkClick r:id="rId5"/>
              </a:rPr>
              <a:t>GitHub</a:t>
            </a:r>
            <a:r>
              <a:rPr lang="en-US" altLang="zh-CN"/>
              <a:t> </a:t>
            </a:r>
            <a:endParaRPr lang="zh-CN" altLang="en-US"/>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360001"/>
            <a:ext cx="4424080" cy="424731"/>
          </a:xfrm>
        </p:spPr>
        <p:txBody>
          <a:bodyPr/>
          <a:lstStyle/>
          <a:p>
            <a:r>
              <a:rPr lang="en-US" altLang="zh-CN"/>
              <a:t>Software</a:t>
            </a:r>
            <a:r>
              <a:rPr lang="zh-CN" altLang="en-US"/>
              <a:t> </a:t>
            </a:r>
            <a:r>
              <a:rPr lang="en-US" altLang="zh-CN"/>
              <a:t>Project</a:t>
            </a:r>
            <a:endParaRPr lang="zh-CN" altLang="en-US"/>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chemeClr val="accent2"/>
          </a:solidFill>
        </p:spPr>
        <p:txBody>
          <a:bodyPr wrap="square" lIns="180000" tIns="180000" rIns="180000" bIns="180000" rtlCol="0">
            <a:spAutoFit/>
          </a:bodyPr>
          <a:lstStyle/>
          <a:p>
            <a:pPr>
              <a:lnSpc>
                <a:spcPct val="150000"/>
              </a:lnSpc>
            </a:pPr>
            <a:r>
              <a:rPr lang="zh-CN" altLang="en-US">
                <a:solidFill>
                  <a:schemeClr val="bg1"/>
                </a:solidFill>
              </a:rPr>
              <a:t>没有必要为了喝口奶而养一头牛</a:t>
            </a:r>
            <a:endParaRPr lang="en-US" altLang="zh-CN">
              <a:solidFill>
                <a:schemeClr val="bg1"/>
              </a:solidFill>
            </a:endParaRPr>
          </a:p>
          <a:p>
            <a:pPr>
              <a:lnSpc>
                <a:spcPct val="150000"/>
              </a:lnSpc>
            </a:pPr>
            <a:r>
              <a:rPr lang="en-US" altLang="zh-CN">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695998" y="360000"/>
            <a:ext cx="6375921" cy="429413"/>
          </a:xfrm>
        </p:spPr>
        <p:txBody>
          <a:bodyPr>
            <a:normAutofit/>
          </a:bodyPr>
          <a:lstStyle/>
          <a:p>
            <a:r>
              <a:rPr lang="en-US" altLang="zh-CN"/>
              <a:t>2.1 </a:t>
            </a:r>
            <a:r>
              <a:rPr lang="zh-CN" altLang="en-US"/>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328000"/>
          </a:xfrm>
        </p:spPr>
        <p:txBody>
          <a:bodyPr/>
          <a:lstStyle/>
          <a:p>
            <a:r>
              <a:rPr lang="zh-CN" altLang="en-US"/>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448519"/>
            <a:ext cx="4424080" cy="338554"/>
          </a:xfrm>
        </p:spPr>
        <p:txBody>
          <a:bodyPr/>
          <a:lstStyle/>
          <a:p>
            <a:r>
              <a:rPr lang="en-US" altLang="zh-CN"/>
              <a:t>Project Management</a:t>
            </a:r>
            <a:endParaRPr lang="zh-CN" altLang="en-US"/>
          </a:p>
        </p:txBody>
      </p:sp>
    </p:spTree>
    <p:extLst>
      <p:ext uri="{BB962C8B-B14F-4D97-AF65-F5344CB8AC3E}">
        <p14:creationId xmlns:p14="http://schemas.microsoft.com/office/powerpoint/2010/main" val="410066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695998"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400000"/>
          </a:xfrm>
        </p:spPr>
        <p:txBody>
          <a:bodyPr/>
          <a:lstStyle/>
          <a:p>
            <a:r>
              <a:rPr lang="zh-CN" altLang="en-US"/>
              <a:t>软件工程组成部分</a:t>
            </a:r>
            <a:endParaRPr lang="en-US" altLang="zh-CN"/>
          </a:p>
          <a:p>
            <a:r>
              <a:rPr lang="zh-CN" altLang="en-US"/>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3139880521"/>
              </p:ext>
            </p:extLst>
          </p:nvPr>
        </p:nvGraphicFramePr>
        <p:xfrm>
          <a:off x="2856000" y="1944275"/>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695998"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400000"/>
          </a:xfrm>
        </p:spPr>
        <p:txBody>
          <a:bodyPr/>
          <a:lstStyle/>
          <a:p>
            <a:r>
              <a:rPr lang="zh-CN" altLang="en-US"/>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695998" y="360000"/>
            <a:ext cx="6375921" cy="429413"/>
          </a:xfrm>
        </p:spPr>
        <p:txBody>
          <a:bodyPr>
            <a:normAutofit/>
          </a:bodyPr>
          <a:lstStyle/>
          <a:p>
            <a:r>
              <a:rPr lang="en-US" altLang="zh-CN"/>
              <a:t>3 </a:t>
            </a:r>
            <a:r>
              <a:rPr lang="zh-CN" altLang="en-US"/>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5325" y="863600"/>
            <a:ext cx="10801350" cy="5400675"/>
          </a:xfrm>
        </p:spPr>
        <p:txBody>
          <a:bodyPr/>
          <a:lstStyle/>
          <a:p>
            <a:r>
              <a:rPr lang="zh-CN" altLang="en-US"/>
              <a:t>基于经验，现在需要系统学习</a:t>
            </a:r>
            <a:endParaRPr lang="en-US" altLang="zh-CN"/>
          </a:p>
          <a:p>
            <a:r>
              <a:rPr lang="en-US" altLang="zh-CN"/>
              <a:t>PMP</a:t>
            </a:r>
          </a:p>
          <a:p>
            <a:pPr lvl="1"/>
            <a:r>
              <a:rPr lang="en-US" altLang="zh-CN"/>
              <a:t>100</a:t>
            </a:r>
            <a:r>
              <a:rPr lang="zh-CN" altLang="en-US"/>
              <a:t>多个国家认可</a:t>
            </a:r>
            <a:endParaRPr lang="en-US" altLang="zh-CN"/>
          </a:p>
          <a:p>
            <a:pPr lvl="1"/>
            <a:r>
              <a:rPr lang="zh-CN" altLang="en-US"/>
              <a:t>基于 </a:t>
            </a:r>
            <a:r>
              <a:rPr lang="en-US" altLang="zh-CN"/>
              <a:t>PMBOK 7th</a:t>
            </a:r>
            <a:r>
              <a:rPr lang="zh-CN" altLang="en-US"/>
              <a:t>，同时结合了</a:t>
            </a:r>
            <a:r>
              <a:rPr lang="en-US" altLang="zh-CN"/>
              <a:t>《</a:t>
            </a:r>
            <a:r>
              <a:rPr lang="zh-CN" altLang="en-US"/>
              <a:t>敏捷实践指南</a:t>
            </a:r>
            <a:r>
              <a:rPr lang="en-US" altLang="zh-CN"/>
              <a:t>》</a:t>
            </a:r>
            <a:r>
              <a:rPr lang="zh-CN" altLang="en-US"/>
              <a:t>。</a:t>
            </a:r>
          </a:p>
          <a:p>
            <a:pPr lvl="1"/>
            <a:r>
              <a:rPr lang="zh-CN" altLang="en-US"/>
              <a:t>考试中很少再考某个过程的输入输出是什么（</a:t>
            </a:r>
            <a:r>
              <a:rPr lang="en-US" altLang="zh-CN"/>
              <a:t>ITTO</a:t>
            </a:r>
            <a:r>
              <a:rPr lang="zh-CN" altLang="en-US"/>
              <a:t>记忆题大幅减少）</a:t>
            </a:r>
          </a:p>
          <a:p>
            <a:pPr lvl="1"/>
            <a:r>
              <a:rPr lang="zh-CN" altLang="en-US"/>
              <a:t>更多考的是情景题：面对这种情况，项目经理应该秉持什么原则？优先关注哪个绩效域？</a:t>
            </a:r>
          </a:p>
          <a:p>
            <a:pPr lvl="1"/>
            <a:r>
              <a:rPr lang="zh-CN" altLang="en-US"/>
              <a:t>敏捷和混合题型占比高达 </a:t>
            </a:r>
            <a:r>
              <a:rPr lang="en-US" altLang="zh-CN"/>
              <a:t>50%</a:t>
            </a:r>
            <a:endParaRPr lang="zh-CN" altLang="en-US"/>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448519"/>
            <a:ext cx="4424080" cy="338554"/>
          </a:xfrm>
        </p:spPr>
        <p:txBody>
          <a:bodyPr/>
          <a:lstStyle/>
          <a:p>
            <a:r>
              <a:rPr lang="en-US" altLang="zh-CN"/>
              <a:t>PMBOK</a:t>
            </a:r>
            <a:endParaRPr lang="zh-CN" altLang="en-US"/>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3647009189"/>
              </p:ext>
            </p:extLst>
          </p:nvPr>
        </p:nvGraphicFramePr>
        <p:xfrm>
          <a:off x="559766" y="4305300"/>
          <a:ext cx="11072469" cy="1676400"/>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Title</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Description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solidFill>
                            <a:schemeClr val="bg1"/>
                          </a:solidFill>
                        </a:rPr>
                        <a:t>Project Management Professional</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项目管理专业资质认证</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solidFill>
                            <a:schemeClr val="bg1"/>
                          </a:solidFill>
                        </a:rPr>
                        <a:t>Project Management Institute</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solidFill>
                            <a:schemeClr val="bg1"/>
                          </a:solidFill>
                        </a:rPr>
                        <a:t>项目管理委员会</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nSpc>
                          <a:spcPct val="100000"/>
                        </a:lnSpc>
                        <a:buNone/>
                      </a:pP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solidFill>
                            <a:schemeClr val="bg1"/>
                          </a:solidFill>
                        </a:rPr>
                        <a:t>Project Management Body of Knowledge, 6th Edition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solidFill>
                            <a:schemeClr val="bg1"/>
                          </a:solidFill>
                        </a:rPr>
                        <a:t>项目管理知识体系，第</a:t>
                      </a:r>
                      <a:r>
                        <a:rPr lang="en-US" altLang="zh-CN" sz="1600">
                          <a:solidFill>
                            <a:schemeClr val="bg1"/>
                          </a:solidFill>
                        </a:rPr>
                        <a:t>6</a:t>
                      </a:r>
                      <a:r>
                        <a:rPr lang="zh-CN" altLang="en-US" sz="1600">
                          <a:solidFill>
                            <a:schemeClr val="bg1"/>
                          </a:solidFill>
                        </a:rPr>
                        <a:t>版</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solidFill>
                            <a:schemeClr val="bg1"/>
                          </a:solidFill>
                        </a:rPr>
                        <a:t>Project Management Body of Knowledge, 7th Edition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solidFill>
                            <a:schemeClr val="bg1"/>
                          </a:solidFill>
                        </a:rPr>
                        <a:t>项目管理知识体系，第</a:t>
                      </a:r>
                      <a:r>
                        <a:rPr lang="en-US" altLang="zh-CN" sz="1600">
                          <a:solidFill>
                            <a:schemeClr val="bg1"/>
                          </a:solidFill>
                        </a:rPr>
                        <a:t>7</a:t>
                      </a:r>
                      <a:r>
                        <a:rPr lang="zh-CN" altLang="en-US" sz="1600">
                          <a:solidFill>
                            <a:schemeClr val="bg1"/>
                          </a:solidFill>
                        </a:rPr>
                        <a:t>版</a:t>
                      </a:r>
                      <a:endParaRPr lang="en-US" altLang="zh-CN" sz="1600">
                        <a:solidFill>
                          <a:schemeClr val="bg1"/>
                        </a:solidFill>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4017096"/>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4010993"/>
            <a:ext cx="1440000" cy="2307257"/>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1229695228"/>
              </p:ext>
            </p:extLst>
          </p:nvPr>
        </p:nvGraphicFramePr>
        <p:xfrm>
          <a:off x="672888" y="4303192"/>
          <a:ext cx="1621409" cy="1854200"/>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Item</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00000"/>
                        </a:lnSpc>
                        <a:buNone/>
                      </a:pPr>
                      <a:r>
                        <a:rPr lang="en-US" altLang="zh-CN" sz="1600" baseline="0">
                          <a:solidFill>
                            <a:schemeClr val="bg1"/>
                          </a:solidFill>
                        </a:rPr>
                        <a:t>PMP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PMI</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6</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7</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177412299"/>
              </p:ext>
            </p:extLst>
          </p:nvPr>
        </p:nvGraphicFramePr>
        <p:xfrm>
          <a:off x="695325" y="1630680"/>
          <a:ext cx="10801350" cy="3596640"/>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lnSpc>
                          <a:spcPct val="100000"/>
                        </a:lnSpc>
                        <a:buNone/>
                      </a:pPr>
                      <a:r>
                        <a:rPr lang="en-US" altLang="zh-CN" sz="1600">
                          <a:solidFill>
                            <a:schemeClr val="bg1"/>
                          </a:solidFill>
                        </a:rPr>
                        <a:t>Aspect</a:t>
                      </a:r>
                      <a:endParaRPr lang="zh-CN" altLang="en-US" sz="1600">
                        <a:solidFill>
                          <a:schemeClr val="bg1"/>
                        </a:solidFill>
                      </a:endParaRPr>
                    </a:p>
                  </a:txBody>
                  <a:tcPr anchor="ctr">
                    <a:lnL>
                      <a:noFill/>
                    </a:lnL>
                    <a:lnR>
                      <a:noFill/>
                    </a:lnR>
                    <a:lnT>
                      <a:noFill/>
                    </a:lnT>
                    <a:lnB>
                      <a:noFill/>
                    </a:lnB>
                    <a:solidFill>
                      <a:schemeClr val="accent2"/>
                    </a:solidFill>
                  </a:tcPr>
                </a:tc>
                <a:tc>
                  <a:txBody>
                    <a:bodyPr/>
                    <a:lstStyle/>
                    <a:p>
                      <a:pPr algn="l">
                        <a:lnSpc>
                          <a:spcPct val="100000"/>
                        </a:lnSpc>
                        <a:buNone/>
                      </a:pPr>
                      <a:r>
                        <a:rPr lang="en-US" sz="1600">
                          <a:solidFill>
                            <a:schemeClr val="bg1"/>
                          </a:solidFill>
                        </a:rPr>
                        <a:t>PMBOK </a:t>
                      </a:r>
                      <a:r>
                        <a:rPr lang="en-US" altLang="zh-CN" sz="1600">
                          <a:solidFill>
                            <a:schemeClr val="bg1"/>
                          </a:solidFill>
                        </a:rPr>
                        <a:t>6th</a:t>
                      </a:r>
                      <a:endParaRPr lang="zh-CN" altLang="en-US" sz="1600">
                        <a:solidFill>
                          <a:schemeClr val="bg1"/>
                        </a:solidFill>
                      </a:endParaRPr>
                    </a:p>
                  </a:txBody>
                  <a:tcPr anchor="ctr">
                    <a:lnL>
                      <a:noFill/>
                    </a:lnL>
                    <a:lnR>
                      <a:noFill/>
                    </a:lnR>
                    <a:lnT>
                      <a:noFill/>
                    </a:lnT>
                    <a:lnB>
                      <a:noFill/>
                    </a:lnB>
                    <a:solidFill>
                      <a:schemeClr val="accent2"/>
                    </a:solidFill>
                  </a:tcPr>
                </a:tc>
                <a:tc>
                  <a:txBody>
                    <a:bodyPr/>
                    <a:lstStyle/>
                    <a:p>
                      <a:pPr algn="l">
                        <a:lnSpc>
                          <a:spcPct val="100000"/>
                        </a:lnSpc>
                        <a:buNone/>
                      </a:pPr>
                      <a:r>
                        <a:rPr lang="en-US" sz="1600">
                          <a:solidFill>
                            <a:schemeClr val="bg1"/>
                          </a:solidFill>
                        </a:rPr>
                        <a:t>PMBOK </a:t>
                      </a:r>
                      <a:r>
                        <a:rPr lang="en-US" altLang="zh-CN" sz="1600">
                          <a:solidFill>
                            <a:schemeClr val="bg1"/>
                          </a:solidFill>
                        </a:rPr>
                        <a:t>7th</a:t>
                      </a:r>
                      <a:endParaRPr lang="zh-CN" altLang="en-US" sz="160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1658896584"/>
                  </a:ext>
                </a:extLst>
              </a:tr>
              <a:tr h="0">
                <a:tc>
                  <a:txBody>
                    <a:bodyPr/>
                    <a:lstStyle/>
                    <a:p>
                      <a:pPr algn="l">
                        <a:lnSpc>
                          <a:spcPct val="100000"/>
                        </a:lnSpc>
                        <a:buNone/>
                      </a:pPr>
                      <a:r>
                        <a:rPr lang="en-US" altLang="zh-CN" sz="1600">
                          <a:solidFill>
                            <a:schemeClr val="bg1"/>
                          </a:solidFill>
                        </a:rPr>
                        <a:t>Philosophy</a:t>
                      </a:r>
                      <a:endParaRPr lang="zh-CN" altLang="en-US" sz="160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基于过程 </a:t>
                      </a:r>
                      <a:r>
                        <a:rPr lang="en-US" sz="1600">
                          <a:solidFill>
                            <a:schemeClr val="bg1"/>
                          </a:solidFill>
                        </a:rPr>
                        <a:t>Process-Based</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基于原则 </a:t>
                      </a:r>
                      <a:r>
                        <a:rPr lang="en-US" sz="1600">
                          <a:solidFill>
                            <a:schemeClr val="bg1"/>
                          </a:solidFill>
                        </a:rPr>
                        <a:t>Principle-Based</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62044"/>
                  </a:ext>
                </a:extLst>
              </a:tr>
              <a:tr h="0">
                <a:tc>
                  <a:txBody>
                    <a:bodyPr/>
                    <a:lstStyle/>
                    <a:p>
                      <a:pPr algn="l">
                        <a:lnSpc>
                          <a:spcPct val="100000"/>
                        </a:lnSpc>
                        <a:buNone/>
                      </a:pPr>
                      <a:r>
                        <a:rPr lang="en-US" altLang="zh-CN" sz="1600">
                          <a:solidFill>
                            <a:schemeClr val="bg1"/>
                          </a:solidFill>
                        </a:rPr>
                        <a:t>Structure</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solidFill>
                            <a:schemeClr val="bg1"/>
                          </a:solidFill>
                        </a:rPr>
                        <a:t>5</a:t>
                      </a:r>
                      <a:r>
                        <a:rPr lang="zh-CN" altLang="en-US" sz="1600">
                          <a:solidFill>
                            <a:schemeClr val="bg1"/>
                          </a:solidFill>
                        </a:rPr>
                        <a:t>大过程组 </a:t>
                      </a:r>
                      <a:r>
                        <a:rPr lang="en-US" altLang="zh-CN" sz="1600">
                          <a:solidFill>
                            <a:schemeClr val="bg1"/>
                          </a:solidFill>
                        </a:rPr>
                        <a:t>+ 10</a:t>
                      </a:r>
                      <a:r>
                        <a:rPr lang="zh-CN" altLang="en-US" sz="1600">
                          <a:solidFill>
                            <a:schemeClr val="bg1"/>
                          </a:solidFill>
                        </a:rPr>
                        <a:t>大知识领域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solidFill>
                            <a:schemeClr val="bg1"/>
                          </a:solidFill>
                        </a:rPr>
                        <a:t>12</a:t>
                      </a:r>
                      <a:r>
                        <a:rPr lang="zh-CN" altLang="en-US" sz="1600">
                          <a:solidFill>
                            <a:schemeClr val="bg1"/>
                          </a:solidFill>
                        </a:rPr>
                        <a:t>项原则 </a:t>
                      </a:r>
                      <a:r>
                        <a:rPr lang="en-US" altLang="zh-CN" sz="1600">
                          <a:solidFill>
                            <a:schemeClr val="bg1"/>
                          </a:solidFill>
                        </a:rPr>
                        <a:t>+ 8</a:t>
                      </a:r>
                      <a:r>
                        <a:rPr lang="zh-CN" altLang="en-US" sz="1600">
                          <a:solidFill>
                            <a:schemeClr val="bg1"/>
                          </a:solidFill>
                        </a:rPr>
                        <a:t>大绩效域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12076787"/>
                  </a:ext>
                </a:extLst>
              </a:tr>
              <a:tr h="0">
                <a:tc>
                  <a:txBody>
                    <a:bodyPr/>
                    <a:lstStyle/>
                    <a:p>
                      <a:pPr algn="l">
                        <a:lnSpc>
                          <a:spcPct val="100000"/>
                        </a:lnSpc>
                        <a:buNone/>
                      </a:pPr>
                      <a:r>
                        <a:rPr lang="en-US" altLang="zh-CN" sz="1600">
                          <a:solidFill>
                            <a:schemeClr val="bg1"/>
                          </a:solidFill>
                        </a:rPr>
                        <a:t>Focus</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产出 </a:t>
                      </a:r>
                      <a:r>
                        <a:rPr lang="en-US" sz="1600">
                          <a:solidFill>
                            <a:schemeClr val="bg1"/>
                          </a:solidFill>
                        </a:rPr>
                        <a:t>Outputs</a:t>
                      </a:r>
                      <a:endParaRPr lang="en-US" altLang="zh-CN" sz="1600">
                        <a:solidFill>
                          <a:schemeClr val="bg1"/>
                        </a:solidFill>
                      </a:endParaRPr>
                    </a:p>
                    <a:p>
                      <a:pPr algn="l">
                        <a:lnSpc>
                          <a:spcPct val="100000"/>
                        </a:lnSpc>
                        <a:buNone/>
                      </a:pPr>
                      <a:r>
                        <a:rPr lang="zh-CN" altLang="en-US" sz="1600">
                          <a:solidFill>
                            <a:schemeClr val="bg1"/>
                          </a:solidFill>
                        </a:rPr>
                        <a:t>交付了什么文件</a:t>
                      </a:r>
                      <a:r>
                        <a:rPr lang="en-US" altLang="zh-CN" sz="1600">
                          <a:solidFill>
                            <a:schemeClr val="bg1"/>
                          </a:solidFill>
                        </a:rPr>
                        <a:t>/</a:t>
                      </a:r>
                      <a:r>
                        <a:rPr lang="zh-CN" altLang="en-US" sz="1600">
                          <a:solidFill>
                            <a:schemeClr val="bg1"/>
                          </a:solidFill>
                        </a:rPr>
                        <a:t>产品？</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成果 </a:t>
                      </a:r>
                      <a:r>
                        <a:rPr lang="en-US" sz="1600">
                          <a:solidFill>
                            <a:schemeClr val="bg1"/>
                          </a:solidFill>
                        </a:rPr>
                        <a:t>Outcomes &amp; </a:t>
                      </a:r>
                      <a:r>
                        <a:rPr lang="zh-CN" altLang="en-US" sz="1600">
                          <a:solidFill>
                            <a:schemeClr val="bg1"/>
                          </a:solidFill>
                        </a:rPr>
                        <a:t>价值 </a:t>
                      </a:r>
                      <a:r>
                        <a:rPr lang="en-US" sz="1600">
                          <a:solidFill>
                            <a:schemeClr val="bg1"/>
                          </a:solidFill>
                        </a:rPr>
                        <a:t>Value </a:t>
                      </a:r>
                      <a:br>
                        <a:rPr lang="en-US" sz="1600">
                          <a:solidFill>
                            <a:schemeClr val="bg1"/>
                          </a:solidFill>
                        </a:rPr>
                      </a:br>
                      <a:r>
                        <a:rPr lang="zh-CN" altLang="en-US" sz="1600">
                          <a:solidFill>
                            <a:schemeClr val="bg1"/>
                          </a:solidFill>
                        </a:rPr>
                        <a:t>实现了什么业务目标？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4473040"/>
                  </a:ext>
                </a:extLst>
              </a:tr>
              <a:tr h="0">
                <a:tc>
                  <a:txBody>
                    <a:bodyPr/>
                    <a:lstStyle/>
                    <a:p>
                      <a:pPr algn="l">
                        <a:lnSpc>
                          <a:spcPct val="100000"/>
                        </a:lnSpc>
                        <a:buNone/>
                      </a:pPr>
                      <a:r>
                        <a:rPr lang="en-US" altLang="zh-CN" sz="1600">
                          <a:solidFill>
                            <a:schemeClr val="bg1"/>
                          </a:solidFill>
                        </a:rPr>
                        <a:t>Methodology Scope</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偏向预测型 </a:t>
                      </a:r>
                      <a:r>
                        <a:rPr lang="en-US" altLang="zh-CN" sz="1600">
                          <a:solidFill>
                            <a:schemeClr val="bg1"/>
                          </a:solidFill>
                        </a:rPr>
                        <a:t>(</a:t>
                      </a:r>
                      <a:r>
                        <a:rPr lang="zh-CN" altLang="en-US" sz="1600">
                          <a:solidFill>
                            <a:schemeClr val="bg1"/>
                          </a:solidFill>
                        </a:rPr>
                        <a:t>瀑布式</a:t>
                      </a:r>
                      <a:r>
                        <a:rPr lang="en-US" altLang="zh-CN" sz="1600">
                          <a:solidFill>
                            <a:schemeClr val="bg1"/>
                          </a:solidFill>
                        </a:rPr>
                        <a:t>)</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全生命周期适用 </a:t>
                      </a:r>
                      <a:r>
                        <a:rPr lang="en-US" altLang="zh-CN" sz="1600">
                          <a:solidFill>
                            <a:schemeClr val="bg1"/>
                          </a:solidFill>
                        </a:rPr>
                        <a:t>(</a:t>
                      </a:r>
                      <a:r>
                        <a:rPr lang="zh-CN" altLang="en-US" sz="1600">
                          <a:solidFill>
                            <a:schemeClr val="bg1"/>
                          </a:solidFill>
                        </a:rPr>
                        <a:t>预测型、敏捷型、混合型融合</a:t>
                      </a:r>
                      <a:r>
                        <a:rPr lang="en-US" altLang="zh-CN" sz="1600">
                          <a:solidFill>
                            <a:schemeClr val="bg1"/>
                          </a:solidFill>
                        </a:rPr>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4180528"/>
                  </a:ext>
                </a:extLst>
              </a:tr>
              <a:tr h="0">
                <a:tc>
                  <a:txBody>
                    <a:bodyPr/>
                    <a:lstStyle/>
                    <a:p>
                      <a:pPr algn="l">
                        <a:lnSpc>
                          <a:spcPct val="100000"/>
                        </a:lnSpc>
                        <a:buNone/>
                      </a:pPr>
                      <a:r>
                        <a:rPr lang="en-US" altLang="zh-CN" sz="1600">
                          <a:solidFill>
                            <a:schemeClr val="bg1"/>
                          </a:solidFill>
                        </a:rPr>
                        <a:t>PM</a:t>
                      </a:r>
                      <a:r>
                        <a:rPr lang="zh-CN" altLang="en-US" sz="1600">
                          <a:solidFill>
                            <a:schemeClr val="bg1"/>
                          </a:solidFill>
                        </a:rPr>
                        <a:t> </a:t>
                      </a:r>
                      <a:r>
                        <a:rPr lang="en-US" altLang="zh-CN" sz="1600">
                          <a:solidFill>
                            <a:schemeClr val="bg1"/>
                          </a:solidFill>
                        </a:rPr>
                        <a:t>role</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执行者、控制者、流程管理者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服务型领导、变革推动者、价值交付者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0392344"/>
                  </a:ext>
                </a:extLst>
              </a:tr>
              <a:tr h="0">
                <a:tc>
                  <a:txBody>
                    <a:bodyPr/>
                    <a:lstStyle/>
                    <a:p>
                      <a:pPr algn="l">
                        <a:lnSpc>
                          <a:spcPct val="100000"/>
                        </a:lnSpc>
                        <a:buNone/>
                      </a:pPr>
                      <a:r>
                        <a:rPr lang="en-US" altLang="zh-CN" sz="1600">
                          <a:solidFill>
                            <a:schemeClr val="bg1"/>
                          </a:solidFill>
                        </a:rPr>
                        <a:t>Tailoring</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较僵化，强调遵循标准流程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高度灵活，强调根据环境裁剪 </a:t>
                      </a:r>
                      <a:r>
                        <a:rPr lang="en-US" altLang="zh-CN" sz="1600">
                          <a:solidFill>
                            <a:schemeClr val="bg1"/>
                          </a:solidFill>
                        </a:rPr>
                        <a:t>(Tailoring)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997171"/>
                  </a:ext>
                </a:extLst>
              </a:tr>
              <a:tr h="0">
                <a:tc>
                  <a:txBody>
                    <a:bodyPr/>
                    <a:lstStyle/>
                    <a:p>
                      <a:pPr algn="l">
                        <a:lnSpc>
                          <a:spcPct val="100000"/>
                        </a:lnSpc>
                        <a:buNone/>
                      </a:pPr>
                      <a:r>
                        <a:rPr lang="en-US" altLang="zh-CN" sz="1600">
                          <a:solidFill>
                            <a:schemeClr val="bg1"/>
                          </a:solidFill>
                        </a:rPr>
                        <a:t>Definition of Success</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按时、按预算、按范围交付 </a:t>
                      </a:r>
                      <a:r>
                        <a:rPr lang="en-US" altLang="zh-CN" sz="1600">
                          <a:solidFill>
                            <a:schemeClr val="bg1"/>
                          </a:solidFill>
                        </a:rPr>
                        <a:t>(</a:t>
                      </a:r>
                      <a:r>
                        <a:rPr lang="zh-CN" altLang="en-US" sz="1600">
                          <a:solidFill>
                            <a:schemeClr val="bg1"/>
                          </a:solidFill>
                        </a:rPr>
                        <a:t>铁三角</a:t>
                      </a:r>
                      <a:r>
                        <a:rPr lang="en-US" altLang="zh-CN" sz="1600">
                          <a:solidFill>
                            <a:schemeClr val="bg1"/>
                          </a:solidFill>
                        </a:rPr>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交付价值、满足干系人期望、实现战略目标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40767506"/>
                  </a:ext>
                </a:extLst>
              </a:tr>
              <a:tr h="0">
                <a:tc>
                  <a:txBody>
                    <a:bodyPr/>
                    <a:lstStyle/>
                    <a:p>
                      <a:pPr algn="l">
                        <a:lnSpc>
                          <a:spcPct val="100000"/>
                        </a:lnSpc>
                        <a:buNone/>
                      </a:pPr>
                      <a:r>
                        <a:rPr lang="en-US" altLang="zh-CN" sz="1600">
                          <a:solidFill>
                            <a:schemeClr val="bg1"/>
                          </a:solidFill>
                        </a:rPr>
                        <a:t>Format &amp; Length</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厚书，充满</a:t>
                      </a:r>
                      <a:r>
                        <a:rPr lang="en-US" altLang="zh-CN" sz="1600">
                          <a:solidFill>
                            <a:schemeClr val="bg1"/>
                          </a:solidFill>
                        </a:rPr>
                        <a:t>ITTO (</a:t>
                      </a:r>
                      <a:r>
                        <a:rPr lang="zh-CN" altLang="en-US" sz="1600">
                          <a:solidFill>
                            <a:schemeClr val="bg1"/>
                          </a:solidFill>
                        </a:rPr>
                        <a:t>输入</a:t>
                      </a:r>
                      <a:r>
                        <a:rPr lang="en-US" altLang="zh-CN" sz="1600">
                          <a:solidFill>
                            <a:schemeClr val="bg1"/>
                          </a:solidFill>
                        </a:rPr>
                        <a:t>/</a:t>
                      </a:r>
                      <a:r>
                        <a:rPr lang="zh-CN" altLang="en-US" sz="1600">
                          <a:solidFill>
                            <a:schemeClr val="bg1"/>
                          </a:solidFill>
                        </a:rPr>
                        <a:t>工具</a:t>
                      </a:r>
                      <a:r>
                        <a:rPr lang="en-US" altLang="zh-CN" sz="1600">
                          <a:solidFill>
                            <a:schemeClr val="bg1"/>
                          </a:solidFill>
                        </a:rPr>
                        <a:t>/</a:t>
                      </a:r>
                      <a:r>
                        <a:rPr lang="zh-CN" altLang="en-US" sz="1600">
                          <a:solidFill>
                            <a:schemeClr val="bg1"/>
                          </a:solidFill>
                        </a:rPr>
                        <a:t>输出</a:t>
                      </a:r>
                      <a:r>
                        <a:rPr lang="en-US" altLang="zh-CN" sz="1600">
                          <a:solidFill>
                            <a:schemeClr val="bg1"/>
                          </a:solidFill>
                        </a:rPr>
                        <a:t>) </a:t>
                      </a:r>
                      <a:r>
                        <a:rPr lang="zh-CN" altLang="en-US" sz="1600">
                          <a:solidFill>
                            <a:schemeClr val="bg1"/>
                          </a:solidFill>
                        </a:rPr>
                        <a:t>表格</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更薄，更像指导手册，去除了大量</a:t>
                      </a:r>
                      <a:r>
                        <a:rPr lang="en-US" altLang="zh-CN" sz="1600">
                          <a:solidFill>
                            <a:schemeClr val="bg1"/>
                          </a:solidFill>
                        </a:rPr>
                        <a:t>ITTO</a:t>
                      </a:r>
                      <a:r>
                        <a:rPr lang="zh-CN" altLang="en-US" sz="1600">
                          <a:solidFill>
                            <a:schemeClr val="bg1"/>
                          </a:solidFill>
                        </a:rPr>
                        <a:t>细节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98364373"/>
                  </a:ext>
                </a:extLst>
              </a:tr>
              <a:tr h="0">
                <a:tc>
                  <a:txBody>
                    <a:bodyPr/>
                    <a:lstStyle/>
                    <a:p>
                      <a:pPr algn="l">
                        <a:lnSpc>
                          <a:spcPct val="100000"/>
                        </a:lnSpc>
                        <a:buNone/>
                      </a:pPr>
                      <a:r>
                        <a:rPr lang="en-US" altLang="zh-CN" sz="1600">
                          <a:solidFill>
                            <a:srgbClr val="FFFF00"/>
                          </a:solidFill>
                        </a:rPr>
                        <a:t>In a word</a:t>
                      </a:r>
                      <a:endParaRPr lang="zh-CN" altLang="en-US" sz="1600">
                        <a:solidFill>
                          <a:srgbClr val="FFFF00"/>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solidFill>
                            <a:srgbClr val="FFFF00"/>
                          </a:solidFill>
                        </a:rPr>
                        <a:t>Do the project right</a:t>
                      </a:r>
                      <a:endParaRPr lang="zh-CN" altLang="en-US" sz="1600">
                        <a:solidFill>
                          <a:srgbClr val="FFFF00"/>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solidFill>
                            <a:srgbClr val="FFFF00"/>
                          </a:solidFill>
                        </a:rPr>
                        <a:t>Do the right project</a:t>
                      </a:r>
                      <a:endParaRPr lang="zh-CN" altLang="en-US" sz="1600">
                        <a:solidFill>
                          <a:srgbClr val="FFFF00"/>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695998" y="360000"/>
            <a:ext cx="6375921" cy="429413"/>
          </a:xfrm>
        </p:spPr>
        <p:txBody>
          <a:bodyPr>
            <a:normAutofit/>
          </a:bodyPr>
          <a:lstStyle/>
          <a:p>
            <a:r>
              <a:rPr lang="en-US" altLang="zh-CN"/>
              <a:t>3.1 PMBOK </a:t>
            </a:r>
            <a:r>
              <a:rPr lang="zh-CN" altLang="zh-CN"/>
              <a:t>第</a:t>
            </a:r>
            <a:r>
              <a:rPr lang="en-US" altLang="zh-CN"/>
              <a:t>6</a:t>
            </a:r>
            <a:r>
              <a:rPr lang="zh-CN" altLang="zh-CN"/>
              <a:t>版</a:t>
            </a:r>
            <a:endParaRPr lang="zh-CN" altLang="en-US"/>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400000"/>
          </a:xfrm>
        </p:spPr>
        <p:txBody>
          <a:bodyPr/>
          <a:lstStyle/>
          <a:p>
            <a:r>
              <a:rPr lang="en-US" altLang="zh-CN"/>
              <a:t>2017</a:t>
            </a:r>
            <a:r>
              <a:rPr lang="zh-CN" altLang="en-US"/>
              <a:t>年</a:t>
            </a:r>
            <a:r>
              <a:rPr lang="en-US" altLang="zh-CN"/>
              <a:t>9</a:t>
            </a:r>
            <a:r>
              <a:rPr lang="zh-CN" altLang="en-US"/>
              <a:t>月发布</a:t>
            </a:r>
            <a:endParaRPr lang="en-US" altLang="zh-CN"/>
          </a:p>
          <a:p>
            <a:r>
              <a:rPr lang="zh-CN" altLang="en-US"/>
              <a:t>传统项目管理方法的集大成者，强调怎么做 </a:t>
            </a:r>
            <a:r>
              <a:rPr lang="en-US" altLang="zh-CN"/>
              <a:t>How to do</a:t>
            </a:r>
          </a:p>
          <a:p>
            <a:r>
              <a:rPr lang="zh-CN" altLang="en-US"/>
              <a:t>基于过程 </a:t>
            </a:r>
            <a:r>
              <a:rPr lang="en-US" altLang="zh-CN"/>
              <a:t>Process-Based</a:t>
            </a:r>
          </a:p>
          <a:p>
            <a:r>
              <a:rPr lang="zh-CN" altLang="en-US"/>
              <a:t>核心理念 </a:t>
            </a:r>
            <a:r>
              <a:rPr lang="en-US" altLang="zh-CN"/>
              <a:t>Philosophy</a:t>
            </a:r>
            <a:endParaRPr lang="zh-CN" altLang="en-US"/>
          </a:p>
          <a:p>
            <a:pPr lvl="1"/>
            <a:r>
              <a:rPr lang="zh-CN" altLang="en-US"/>
              <a:t>合规性与标准化：强调遵循既定的流程和规范</a:t>
            </a:r>
          </a:p>
          <a:p>
            <a:pPr lvl="1"/>
            <a:r>
              <a:rPr lang="zh-CN" altLang="en-US"/>
              <a:t>可交付成果导向：关注是否按时、按预算完成了规定的产出</a:t>
            </a:r>
          </a:p>
          <a:p>
            <a:pPr lvl="1"/>
            <a:r>
              <a:rPr lang="zh-CN" altLang="en-US"/>
              <a:t>预测型为主：虽然包含了敏捷内容（附录），但主体逻辑仍偏向瀑布式（预测型）管理</a:t>
            </a:r>
            <a:endParaRPr lang="en-US" altLang="zh-CN"/>
          </a:p>
          <a:p>
            <a:r>
              <a:rPr lang="zh-CN" altLang="en-US"/>
              <a:t>核心架构 </a:t>
            </a:r>
            <a:r>
              <a:rPr lang="en-US" altLang="zh-CN"/>
              <a:t>Structure</a:t>
            </a:r>
            <a:endParaRPr lang="zh-CN" altLang="en-US"/>
          </a:p>
          <a:p>
            <a:pPr lvl="1"/>
            <a:r>
              <a:rPr lang="zh-CN" altLang="en-US"/>
              <a:t>五大标准过程组 </a:t>
            </a:r>
            <a:r>
              <a:rPr lang="en-US" altLang="zh-CN"/>
              <a:t>(5 Process Groups)</a:t>
            </a:r>
            <a:r>
              <a:rPr lang="zh-CN" altLang="en-US"/>
              <a:t>：按时间顺序排列的项目生命周期阶段</a:t>
            </a:r>
            <a:endParaRPr lang="en-US" altLang="zh-CN"/>
          </a:p>
          <a:p>
            <a:pPr lvl="1"/>
            <a:r>
              <a:rPr lang="zh-CN" altLang="en-US"/>
              <a:t>十大知识领域 </a:t>
            </a:r>
            <a:r>
              <a:rPr lang="en-US" altLang="zh-CN"/>
              <a:t>(10 Knowledge Areas)</a:t>
            </a:r>
            <a:r>
              <a:rPr lang="zh-CN" altLang="en-US"/>
              <a:t>：按专业职能划分的管理领域</a:t>
            </a:r>
            <a:endParaRPr lang="en-US" altLang="zh-CN"/>
          </a:p>
          <a:p>
            <a:r>
              <a:rPr lang="zh-CN" altLang="en-US"/>
              <a:t>缺点 </a:t>
            </a:r>
            <a:r>
              <a:rPr lang="en-US" altLang="zh-CN"/>
              <a:t>Drawback</a:t>
            </a:r>
          </a:p>
          <a:p>
            <a:pPr lvl="1"/>
            <a:r>
              <a:rPr lang="zh-CN" altLang="en-US"/>
              <a:t>为了走流程而走流程，忽视实际效果</a:t>
            </a:r>
            <a:endParaRPr lang="en-US" altLang="zh-CN"/>
          </a:p>
          <a:p>
            <a:endParaRPr lang="zh-CN" altLang="en-US"/>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448519"/>
            <a:ext cx="4424080" cy="338554"/>
          </a:xfrm>
        </p:spPr>
        <p:txBody>
          <a:bodyPr/>
          <a:lstStyle/>
          <a:p>
            <a:r>
              <a:rPr lang="en-US" altLang="zh-CN"/>
              <a:t>PMBOK 6th</a:t>
            </a:r>
            <a:endParaRPr lang="zh-CN" altLang="en-US"/>
          </a:p>
        </p:txBody>
      </p:sp>
    </p:spTree>
    <p:extLst>
      <p:ext uri="{BB962C8B-B14F-4D97-AF65-F5344CB8AC3E}">
        <p14:creationId xmlns:p14="http://schemas.microsoft.com/office/powerpoint/2010/main" val="3839681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695998" y="360000"/>
            <a:ext cx="6375921" cy="429413"/>
          </a:xfrm>
        </p:spPr>
        <p:txBody>
          <a:bodyPr>
            <a:normAutofit/>
          </a:bodyPr>
          <a:lstStyle/>
          <a:p>
            <a:r>
              <a:rPr lang="en-US" altLang="zh-CN"/>
              <a:t>3.1.1 </a:t>
            </a:r>
            <a:r>
              <a:rPr lang="zh-CN" altLang="en-US"/>
              <a:t>五大标准过程组</a:t>
            </a:r>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sp>
        <p:nvSpPr>
          <p:cNvPr id="21" name="Oval 20">
            <a:extLst>
              <a:ext uri="{FF2B5EF4-FFF2-40B4-BE49-F238E27FC236}">
                <a16:creationId xmlns:a16="http://schemas.microsoft.com/office/drawing/2014/main" id="{6D7884CF-ECA9-28BC-7B9D-ED60D504AECE}"/>
              </a:ext>
            </a:extLst>
          </p:cNvPr>
          <p:cNvSpPr/>
          <p:nvPr/>
        </p:nvSpPr>
        <p:spPr>
          <a:xfrm>
            <a:off x="2554664" y="2130458"/>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Initiating</a:t>
            </a:r>
            <a:endParaRPr lang="zh-CN" altLang="en-US" sz="1400">
              <a:solidFill>
                <a:schemeClr val="bg1"/>
              </a:solidFill>
            </a:endParaRPr>
          </a:p>
        </p:txBody>
      </p:sp>
      <p:sp>
        <p:nvSpPr>
          <p:cNvPr id="22" name="Oval 21">
            <a:extLst>
              <a:ext uri="{FF2B5EF4-FFF2-40B4-BE49-F238E27FC236}">
                <a16:creationId xmlns:a16="http://schemas.microsoft.com/office/drawing/2014/main" id="{D6AA744F-34C8-1FDC-C942-05CD1739D3D2}"/>
              </a:ext>
            </a:extLst>
          </p:cNvPr>
          <p:cNvSpPr/>
          <p:nvPr/>
        </p:nvSpPr>
        <p:spPr>
          <a:xfrm>
            <a:off x="7563441" y="2130458"/>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Planning</a:t>
            </a:r>
            <a:endParaRPr lang="zh-CN" altLang="en-US" sz="1400">
              <a:solidFill>
                <a:schemeClr val="bg1"/>
              </a:solidFill>
            </a:endParaRPr>
          </a:p>
        </p:txBody>
      </p:sp>
      <p:sp>
        <p:nvSpPr>
          <p:cNvPr id="23" name="Oval 22">
            <a:extLst>
              <a:ext uri="{FF2B5EF4-FFF2-40B4-BE49-F238E27FC236}">
                <a16:creationId xmlns:a16="http://schemas.microsoft.com/office/drawing/2014/main" id="{36512A73-564B-143A-6237-79D2B9BDA61E}"/>
              </a:ext>
            </a:extLst>
          </p:cNvPr>
          <p:cNvSpPr/>
          <p:nvPr/>
        </p:nvSpPr>
        <p:spPr>
          <a:xfrm>
            <a:off x="3728303" y="3511485"/>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Monitoring &amp; Controlling</a:t>
            </a:r>
            <a:endParaRPr lang="zh-CN" altLang="en-US" sz="1400">
              <a:solidFill>
                <a:schemeClr val="bg1"/>
              </a:solidFill>
            </a:endParaRPr>
          </a:p>
        </p:txBody>
      </p:sp>
      <p:sp>
        <p:nvSpPr>
          <p:cNvPr id="24" name="Oval 23">
            <a:extLst>
              <a:ext uri="{FF2B5EF4-FFF2-40B4-BE49-F238E27FC236}">
                <a16:creationId xmlns:a16="http://schemas.microsoft.com/office/drawing/2014/main" id="{EDB26A52-E5C1-E7F2-45BC-8FD492E4F2CE}"/>
              </a:ext>
            </a:extLst>
          </p:cNvPr>
          <p:cNvSpPr/>
          <p:nvPr/>
        </p:nvSpPr>
        <p:spPr>
          <a:xfrm>
            <a:off x="6389802" y="3511485"/>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Executing</a:t>
            </a:r>
            <a:endParaRPr lang="zh-CN" altLang="en-US" sz="1400">
              <a:solidFill>
                <a:schemeClr val="bg1"/>
              </a:solidFill>
            </a:endParaRPr>
          </a:p>
        </p:txBody>
      </p:sp>
      <p:sp>
        <p:nvSpPr>
          <p:cNvPr id="25" name="Oval 24">
            <a:extLst>
              <a:ext uri="{FF2B5EF4-FFF2-40B4-BE49-F238E27FC236}">
                <a16:creationId xmlns:a16="http://schemas.microsoft.com/office/drawing/2014/main" id="{C5EE56B7-EE2B-3F9C-DB64-5C70EE90A651}"/>
              </a:ext>
            </a:extLst>
          </p:cNvPr>
          <p:cNvSpPr/>
          <p:nvPr/>
        </p:nvSpPr>
        <p:spPr>
          <a:xfrm>
            <a:off x="5059051" y="4887879"/>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Closing</a:t>
            </a:r>
            <a:endParaRPr lang="zh-CN" altLang="en-US" sz="1400">
              <a:solidFill>
                <a:schemeClr val="bg1"/>
              </a:solidFill>
            </a:endParaRPr>
          </a:p>
        </p:txBody>
      </p:sp>
      <p:cxnSp>
        <p:nvCxnSpPr>
          <p:cNvPr id="27" name="Straight Arrow Connector 26">
            <a:extLst>
              <a:ext uri="{FF2B5EF4-FFF2-40B4-BE49-F238E27FC236}">
                <a16:creationId xmlns:a16="http://schemas.microsoft.com/office/drawing/2014/main" id="{835C141E-8F36-FAB8-4DE8-04CF725FB55C}"/>
              </a:ext>
            </a:extLst>
          </p:cNvPr>
          <p:cNvCxnSpPr>
            <a:stCxn id="21" idx="6"/>
          </p:cNvCxnSpPr>
          <p:nvPr/>
        </p:nvCxnSpPr>
        <p:spPr>
          <a:xfrm flipV="1">
            <a:off x="4628561" y="2535810"/>
            <a:ext cx="2934880"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09353F6-84C4-CFCB-F1D4-3812381A5266}"/>
              </a:ext>
            </a:extLst>
          </p:cNvPr>
          <p:cNvCxnSpPr>
            <a:stCxn id="22" idx="4"/>
            <a:endCxn id="24" idx="0"/>
          </p:cNvCxnSpPr>
          <p:nvPr/>
        </p:nvCxnSpPr>
        <p:spPr>
          <a:xfrm flipH="1">
            <a:off x="7426751" y="2941163"/>
            <a:ext cx="1173639" cy="57032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FE9D0C-AC3D-BA17-2FC3-71492DAEA0B3}"/>
              </a:ext>
            </a:extLst>
          </p:cNvPr>
          <p:cNvCxnSpPr>
            <a:cxnSpLocks/>
            <a:stCxn id="23" idx="7"/>
            <a:endCxn id="24" idx="1"/>
          </p:cNvCxnSpPr>
          <p:nvPr/>
        </p:nvCxnSpPr>
        <p:spPr>
          <a:xfrm>
            <a:off x="5498485" y="3630210"/>
            <a:ext cx="119503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F891A8-A26B-6E58-E7F8-537237BB6188}"/>
              </a:ext>
            </a:extLst>
          </p:cNvPr>
          <p:cNvCxnSpPr>
            <a:stCxn id="24" idx="3"/>
            <a:endCxn id="23" idx="5"/>
          </p:cNvCxnSpPr>
          <p:nvPr/>
        </p:nvCxnSpPr>
        <p:spPr>
          <a:xfrm flipH="1">
            <a:off x="5498485" y="4203465"/>
            <a:ext cx="119503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77664DB-0EB8-1FFD-8D92-6BC5191D7B1A}"/>
              </a:ext>
            </a:extLst>
          </p:cNvPr>
          <p:cNvCxnSpPr>
            <a:stCxn id="23" idx="4"/>
            <a:endCxn id="25" idx="0"/>
          </p:cNvCxnSpPr>
          <p:nvPr/>
        </p:nvCxnSpPr>
        <p:spPr>
          <a:xfrm>
            <a:off x="4765252" y="4322190"/>
            <a:ext cx="1330748" cy="565689"/>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514607A-7BB8-6425-1125-855123F0267B}"/>
              </a:ext>
            </a:extLst>
          </p:cNvPr>
          <p:cNvCxnSpPr>
            <a:stCxn id="23" idx="0"/>
            <a:endCxn id="22" idx="3"/>
          </p:cNvCxnSpPr>
          <p:nvPr/>
        </p:nvCxnSpPr>
        <p:spPr>
          <a:xfrm flipV="1">
            <a:off x="4765252" y="2822438"/>
            <a:ext cx="3101904" cy="68904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397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EDDD-D7C9-9FCA-B9DD-A060AEA7E01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34504B5-DD17-C76F-7B53-C0BBD83FF870}"/>
              </a:ext>
            </a:extLst>
          </p:cNvPr>
          <p:cNvSpPr>
            <a:spLocks noGrp="1"/>
          </p:cNvSpPr>
          <p:nvPr>
            <p:ph type="title"/>
          </p:nvPr>
        </p:nvSpPr>
        <p:spPr>
          <a:xfrm>
            <a:off x="695998" y="360000"/>
            <a:ext cx="6375921" cy="429413"/>
          </a:xfrm>
        </p:spPr>
        <p:txBody>
          <a:bodyPr>
            <a:normAutofit/>
          </a:bodyPr>
          <a:lstStyle/>
          <a:p>
            <a:r>
              <a:rPr lang="en-US" altLang="zh-CN"/>
              <a:t>3.1.1 </a:t>
            </a:r>
            <a:r>
              <a:rPr lang="zh-CN" altLang="en-US"/>
              <a:t>五大标准过程组</a:t>
            </a:r>
          </a:p>
        </p:txBody>
      </p:sp>
      <p:sp>
        <p:nvSpPr>
          <p:cNvPr id="17" name="Content Placeholder 16">
            <a:extLst>
              <a:ext uri="{FF2B5EF4-FFF2-40B4-BE49-F238E27FC236}">
                <a16:creationId xmlns:a16="http://schemas.microsoft.com/office/drawing/2014/main" id="{2FA9FD19-C670-6FF5-7C79-AD596AC84232}"/>
              </a:ext>
            </a:extLst>
          </p:cNvPr>
          <p:cNvSpPr>
            <a:spLocks noGrp="1"/>
          </p:cNvSpPr>
          <p:nvPr>
            <p:ph idx="1"/>
          </p:nvPr>
        </p:nvSpPr>
        <p:spPr>
          <a:xfrm>
            <a:off x="696000" y="864000"/>
            <a:ext cx="10800000" cy="5400000"/>
          </a:xfrm>
        </p:spPr>
        <p:txBody>
          <a:bodyPr/>
          <a:lstStyle/>
          <a:p>
            <a:r>
              <a:rPr lang="zh-CN" altLang="en-US"/>
              <a:t>含</a:t>
            </a:r>
            <a:r>
              <a:rPr lang="en-US" altLang="zh-CN"/>
              <a:t>49</a:t>
            </a:r>
            <a:r>
              <a:rPr lang="zh-CN" altLang="en-US"/>
              <a:t>个过程（表</a:t>
            </a:r>
            <a:r>
              <a:rPr lang="en-US" altLang="zh-CN"/>
              <a:t>1-1</a:t>
            </a:r>
            <a:r>
              <a:rPr lang="zh-CN" altLang="en-US"/>
              <a:t>，</a:t>
            </a:r>
            <a:r>
              <a:rPr lang="en-US" altLang="zh-CN"/>
              <a:t>P19</a:t>
            </a:r>
            <a:r>
              <a:rPr lang="zh-CN" altLang="en-US"/>
              <a:t>）</a:t>
            </a:r>
          </a:p>
        </p:txBody>
      </p:sp>
      <p:sp>
        <p:nvSpPr>
          <p:cNvPr id="5" name="Text Placeholder 4">
            <a:extLst>
              <a:ext uri="{FF2B5EF4-FFF2-40B4-BE49-F238E27FC236}">
                <a16:creationId xmlns:a16="http://schemas.microsoft.com/office/drawing/2014/main" id="{7CBC7046-772F-91CE-FA64-5FCA430026D2}"/>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graphicFrame>
        <p:nvGraphicFramePr>
          <p:cNvPr id="10" name="内容占位符 3">
            <a:extLst>
              <a:ext uri="{FF2B5EF4-FFF2-40B4-BE49-F238E27FC236}">
                <a16:creationId xmlns:a16="http://schemas.microsoft.com/office/drawing/2014/main" id="{1D151939-CAE9-BAFF-DBF5-07974425F37B}"/>
              </a:ext>
            </a:extLst>
          </p:cNvPr>
          <p:cNvGraphicFramePr>
            <a:graphicFrameLocks/>
          </p:cNvGraphicFramePr>
          <p:nvPr>
            <p:extLst>
              <p:ext uri="{D42A27DB-BD31-4B8C-83A1-F6EECF244321}">
                <p14:modId xmlns:p14="http://schemas.microsoft.com/office/powerpoint/2010/main" val="2845261265"/>
              </p:ext>
            </p:extLst>
          </p:nvPr>
        </p:nvGraphicFramePr>
        <p:xfrm>
          <a:off x="695325" y="3033120"/>
          <a:ext cx="10801350" cy="3230880"/>
        </p:xfrm>
        <a:graphic>
          <a:graphicData uri="http://schemas.openxmlformats.org/drawingml/2006/table">
            <a:tbl>
              <a:tblPr firstRow="1" bandRow="1">
                <a:tableStyleId>{72833802-FEF1-4C79-8D5D-14CF1EAF98D9}</a:tableStyleId>
              </a:tblPr>
              <a:tblGrid>
                <a:gridCol w="456727">
                  <a:extLst>
                    <a:ext uri="{9D8B030D-6E8A-4147-A177-3AD203B41FA5}">
                      <a16:colId xmlns:a16="http://schemas.microsoft.com/office/drawing/2014/main" val="784792021"/>
                    </a:ext>
                  </a:extLst>
                </a:gridCol>
                <a:gridCol w="3749886">
                  <a:extLst>
                    <a:ext uri="{9D8B030D-6E8A-4147-A177-3AD203B41FA5}">
                      <a16:colId xmlns:a16="http://schemas.microsoft.com/office/drawing/2014/main" val="3401312939"/>
                    </a:ext>
                  </a:extLst>
                </a:gridCol>
                <a:gridCol w="5156462">
                  <a:extLst>
                    <a:ext uri="{9D8B030D-6E8A-4147-A177-3AD203B41FA5}">
                      <a16:colId xmlns:a16="http://schemas.microsoft.com/office/drawing/2014/main" val="370412264"/>
                    </a:ext>
                  </a:extLst>
                </a:gridCol>
                <a:gridCol w="1438275">
                  <a:extLst>
                    <a:ext uri="{9D8B030D-6E8A-4147-A177-3AD203B41FA5}">
                      <a16:colId xmlns:a16="http://schemas.microsoft.com/office/drawing/2014/main" val="2396350941"/>
                    </a:ext>
                  </a:extLst>
                </a:gridCol>
              </a:tblGrid>
              <a:tr h="120025">
                <a:tc>
                  <a:txBody>
                    <a:bodyPr/>
                    <a:lstStyle/>
                    <a:p>
                      <a:pPr algn="l">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Process Group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Description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Process</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a:t>
                      </a: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启动 </a:t>
                      </a:r>
                      <a:r>
                        <a:rPr lang="en-US" altLang="zh-CN" sz="1600" b="0" baseline="0">
                          <a:solidFill>
                            <a:schemeClr val="bg1"/>
                          </a:solidFill>
                        </a:rPr>
                        <a:t>Initiating</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定义新项目或阶段，获得授权</a:t>
                      </a:r>
                    </a:p>
                    <a:p>
                      <a:pPr>
                        <a:lnSpc>
                          <a:spcPct val="100000"/>
                        </a:lnSpc>
                        <a:buNone/>
                      </a:pPr>
                      <a:r>
                        <a:rPr lang="zh-CN" altLang="en-US" sz="1600" b="0" baseline="0">
                          <a:solidFill>
                            <a:schemeClr val="bg1"/>
                          </a:solidFill>
                        </a:rPr>
                        <a:t>关键输出：项目章程、识别干系人</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2</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2</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规划 </a:t>
                      </a:r>
                      <a:r>
                        <a:rPr lang="en-US" altLang="zh-CN" sz="1600" b="0" baseline="0">
                          <a:solidFill>
                            <a:schemeClr val="bg1"/>
                          </a:solidFill>
                        </a:rPr>
                        <a:t>Planning</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制定范围、进度、成本、质量、风险等计划</a:t>
                      </a:r>
                    </a:p>
                    <a:p>
                      <a:pPr>
                        <a:lnSpc>
                          <a:spcPct val="100000"/>
                        </a:lnSpc>
                        <a:buNone/>
                      </a:pPr>
                      <a:r>
                        <a:rPr lang="zh-CN" altLang="en-US" sz="1600" b="0" baseline="0">
                          <a:solidFill>
                            <a:schemeClr val="bg1"/>
                          </a:solidFill>
                        </a:rPr>
                        <a:t>过程占比最大，强调滚动式规划</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24</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3</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执行 </a:t>
                      </a:r>
                      <a:r>
                        <a:rPr lang="en-US" altLang="zh-CN" sz="1600" b="0" baseline="0">
                          <a:solidFill>
                            <a:schemeClr val="bg1"/>
                          </a:solidFill>
                        </a:rPr>
                        <a:t>Executing</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完成项目工作，满足范围说明书要求</a:t>
                      </a:r>
                    </a:p>
                    <a:p>
                      <a:pPr>
                        <a:lnSpc>
                          <a:spcPct val="100000"/>
                        </a:lnSpc>
                        <a:buNone/>
                      </a:pPr>
                      <a:r>
                        <a:rPr lang="zh-CN" altLang="en-US" sz="1600" b="0" baseline="0">
                          <a:solidFill>
                            <a:schemeClr val="bg1"/>
                          </a:solidFill>
                        </a:rPr>
                        <a:t>包括团队建设、质量保证、采购实施等</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10</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4</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监控 </a:t>
                      </a:r>
                      <a:r>
                        <a:rPr lang="en-US" altLang="zh-CN" sz="1600" b="0" baseline="0">
                          <a:solidFill>
                            <a:schemeClr val="bg1"/>
                          </a:solidFill>
                        </a:rPr>
                        <a:t>Monitoring &amp; Controlling</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跟踪、审查和调整项目进展与绩效</a:t>
                      </a:r>
                    </a:p>
                    <a:p>
                      <a:pPr>
                        <a:lnSpc>
                          <a:spcPct val="100000"/>
                        </a:lnSpc>
                        <a:buNone/>
                      </a:pPr>
                      <a:r>
                        <a:rPr lang="zh-CN" altLang="en-US" sz="1600" b="0" baseline="0">
                          <a:solidFill>
                            <a:schemeClr val="bg1"/>
                          </a:solidFill>
                        </a:rPr>
                        <a:t>核心：变更控制和偏差分析</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12</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5</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结束 </a:t>
                      </a:r>
                      <a:r>
                        <a:rPr lang="en-US" altLang="zh-CN" sz="1600" b="0" baseline="0">
                          <a:solidFill>
                            <a:schemeClr val="bg1"/>
                          </a:solidFill>
                        </a:rPr>
                        <a:t>Closing</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正式结束项目或阶段</a:t>
                      </a:r>
                      <a:endParaRPr lang="en-US" altLang="zh-CN" sz="1600" b="0" baseline="0">
                        <a:solidFill>
                          <a:schemeClr val="bg1"/>
                        </a:solidFill>
                      </a:endParaRPr>
                    </a:p>
                    <a:p>
                      <a:pPr>
                        <a:lnSpc>
                          <a:spcPct val="100000"/>
                        </a:lnSpc>
                        <a:buNone/>
                      </a:pPr>
                      <a:r>
                        <a:rPr lang="zh-CN" altLang="en-US" sz="1600" b="0" baseline="0">
                          <a:solidFill>
                            <a:schemeClr val="bg1"/>
                          </a:solidFill>
                        </a:rPr>
                        <a:t>移交成果，总结经验</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2140517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695998" y="360000"/>
            <a:ext cx="6375921" cy="429413"/>
          </a:xfrm>
        </p:spPr>
        <p:txBody>
          <a:bodyPr>
            <a:normAutofit/>
          </a:bodyPr>
          <a:lstStyle/>
          <a:p>
            <a:r>
              <a:rPr lang="en-US" altLang="zh-CN"/>
              <a:t>3.1.2 </a:t>
            </a:r>
            <a:r>
              <a:rPr lang="zh-CN" altLang="en-US"/>
              <a:t>十大知识领域</a:t>
            </a:r>
          </a:p>
        </p:txBody>
      </p:sp>
      <p:sp>
        <p:nvSpPr>
          <p:cNvPr id="6" name="Content Placeholder 5">
            <a:extLst>
              <a:ext uri="{FF2B5EF4-FFF2-40B4-BE49-F238E27FC236}">
                <a16:creationId xmlns:a16="http://schemas.microsoft.com/office/drawing/2014/main" id="{421F0D5F-8DDD-35FF-0F76-CEC407DFEBAF}"/>
              </a:ext>
            </a:extLst>
          </p:cNvPr>
          <p:cNvSpPr>
            <a:spLocks noGrp="1"/>
          </p:cNvSpPr>
          <p:nvPr>
            <p:ph idx="1"/>
          </p:nvPr>
        </p:nvSpPr>
        <p:spPr>
          <a:xfrm>
            <a:off x="696000" y="864000"/>
            <a:ext cx="10800000" cy="5400000"/>
          </a:xfrm>
        </p:spPr>
        <p:txBody>
          <a:bodyPr/>
          <a:lstStyle/>
          <a:p>
            <a:r>
              <a:rPr lang="zh-CN" altLang="en-US"/>
              <a:t>每个领域涉及诺干过程</a:t>
            </a:r>
            <a:endParaRPr lang="en-US" altLang="zh-CN"/>
          </a:p>
          <a:p>
            <a:r>
              <a:rPr lang="zh-CN" altLang="en-US"/>
              <a:t>每个过程都有详细的 </a:t>
            </a:r>
            <a:r>
              <a:rPr lang="en-US" altLang="zh-CN"/>
              <a:t>ITTO (</a:t>
            </a:r>
            <a:r>
              <a:rPr lang="zh-CN" altLang="en-US"/>
              <a:t>输入 </a:t>
            </a:r>
            <a:r>
              <a:rPr lang="en-US" altLang="zh-CN"/>
              <a:t>Input</a:t>
            </a:r>
            <a:r>
              <a:rPr lang="zh-CN" altLang="en-US"/>
              <a:t>、工具 </a:t>
            </a:r>
            <a:r>
              <a:rPr lang="en-US" altLang="zh-CN"/>
              <a:t>Tools </a:t>
            </a:r>
            <a:r>
              <a:rPr lang="zh-CN" altLang="en-US"/>
              <a:t>与技术 </a:t>
            </a:r>
            <a:r>
              <a:rPr lang="en-US" altLang="zh-CN"/>
              <a:t>Techniques</a:t>
            </a:r>
            <a:r>
              <a:rPr lang="zh-CN" altLang="en-US"/>
              <a:t>、输出 </a:t>
            </a:r>
            <a:r>
              <a:rPr lang="en-US" altLang="zh-CN"/>
              <a:t>Output)</a:t>
            </a:r>
          </a:p>
          <a:p>
            <a:pPr lvl="1"/>
            <a:r>
              <a:rPr lang="zh-CN" altLang="en-US"/>
              <a:t>如成本管理（图</a:t>
            </a:r>
            <a:r>
              <a:rPr lang="en-US" altLang="zh-CN"/>
              <a:t>1-8</a:t>
            </a:r>
            <a:r>
              <a:rPr lang="zh-CN" altLang="en-US"/>
              <a:t>，</a:t>
            </a:r>
            <a:r>
              <a:rPr lang="en-US" altLang="zh-CN"/>
              <a:t>P14</a:t>
            </a:r>
            <a:r>
              <a:rPr lang="zh-CN" altLang="en-US"/>
              <a:t>）</a:t>
            </a:r>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448519"/>
            <a:ext cx="4424080" cy="338554"/>
          </a:xfrm>
        </p:spPr>
        <p:txBody>
          <a:bodyPr>
            <a:normAutofit/>
          </a:bodyPr>
          <a:lstStyle/>
          <a:p>
            <a:r>
              <a:rPr lang="en-US" altLang="zh-CN"/>
              <a:t>10 Knowledge Areas/PMBOK 6th</a:t>
            </a:r>
            <a:endParaRPr lang="zh-CN" altLang="en-US"/>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2330934423"/>
              </p:ext>
            </p:extLst>
          </p:nvPr>
        </p:nvGraphicFramePr>
        <p:xfrm>
          <a:off x="695325" y="2575920"/>
          <a:ext cx="10800001" cy="3688080"/>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Areas</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Description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项目集成管理 </a:t>
                      </a:r>
                      <a:r>
                        <a:rPr lang="en-US" altLang="zh-CN" sz="1600" baseline="0">
                          <a:solidFill>
                            <a:schemeClr val="bg1"/>
                          </a:solidFill>
                        </a:rPr>
                        <a:t>Integration </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统一协调各过程，如制定章程、项目管理计划、变更控制</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2</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项目范围管理 </a:t>
                      </a:r>
                      <a:r>
                        <a:rPr lang="en-US" altLang="zh-CN" sz="1600" baseline="0">
                          <a:solidFill>
                            <a:schemeClr val="bg1"/>
                          </a:solidFill>
                        </a:rPr>
                        <a:t>Scope</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定义和控制做哪些工作，防止范围蔓延</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3</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项目进度管理 </a:t>
                      </a:r>
                      <a:r>
                        <a:rPr lang="en-US" altLang="zh-CN" sz="1600" baseline="0">
                          <a:solidFill>
                            <a:schemeClr val="bg1"/>
                          </a:solidFill>
                        </a:rPr>
                        <a:t>Schedule </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活动定义、排序、估算、制定进度计划</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4</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项目成本管理 </a:t>
                      </a:r>
                      <a:r>
                        <a:rPr lang="en-US" altLang="zh-CN" sz="1600" baseline="0">
                          <a:solidFill>
                            <a:schemeClr val="bg1"/>
                          </a:solidFill>
                        </a:rPr>
                        <a:t>Cost</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估算、预算、控制成本</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5</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项目质量管理 </a:t>
                      </a:r>
                      <a:r>
                        <a:rPr lang="en-US" altLang="zh-CN" sz="1600" baseline="0">
                          <a:solidFill>
                            <a:schemeClr val="bg1"/>
                          </a:solidFill>
                        </a:rPr>
                        <a:t>Quality</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规划质量、管理质量、控制质量</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6</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项目资源管理 </a:t>
                      </a:r>
                      <a:r>
                        <a:rPr lang="en-US" altLang="zh-CN" sz="1600" baseline="0">
                          <a:solidFill>
                            <a:schemeClr val="bg1"/>
                          </a:solidFill>
                        </a:rPr>
                        <a:t>Resource</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获取、发展、管理团队及实物资源</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909409"/>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7</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项目沟通管理 </a:t>
                      </a:r>
                      <a:r>
                        <a:rPr lang="en-US" altLang="zh-CN" sz="1600" baseline="0">
                          <a:solidFill>
                            <a:schemeClr val="bg1"/>
                          </a:solidFill>
                        </a:rPr>
                        <a:t>Communication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规划、管理、监督沟通</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73125882"/>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8</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项目风险管理 </a:t>
                      </a:r>
                      <a:r>
                        <a:rPr lang="en-US" altLang="zh-CN" sz="1600" baseline="0">
                          <a:solidFill>
                            <a:schemeClr val="bg1"/>
                          </a:solidFill>
                        </a:rPr>
                        <a:t>Risk</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识别、分析、应对不确定性</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04933583"/>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9</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项目采购管理 </a:t>
                      </a:r>
                      <a:r>
                        <a:rPr lang="en-US" altLang="zh-CN" sz="1600" baseline="0">
                          <a:solidFill>
                            <a:schemeClr val="bg1"/>
                          </a:solidFill>
                        </a:rPr>
                        <a:t>Procurement</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从外部获取产品</a:t>
                      </a:r>
                      <a:r>
                        <a:rPr lang="en-US" altLang="zh-CN" sz="1600" baseline="0">
                          <a:solidFill>
                            <a:schemeClr val="bg1"/>
                          </a:solidFill>
                        </a:rPr>
                        <a:t>/</a:t>
                      </a:r>
                      <a:r>
                        <a:rPr lang="zh-CN" altLang="en-US" sz="1600" baseline="0">
                          <a:solidFill>
                            <a:schemeClr val="bg1"/>
                          </a:solidFill>
                        </a:rPr>
                        <a:t>服务</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55479412"/>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10</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项目干系人管理 </a:t>
                      </a:r>
                      <a:r>
                        <a:rPr lang="en-US" altLang="zh-CN" sz="1600" baseline="0">
                          <a:solidFill>
                            <a:schemeClr val="bg1"/>
                          </a:solidFill>
                        </a:rPr>
                        <a:t>Stakeholder</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识别干系人、制定参与策略、管理期望</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a:normAutofit/>
          </a:bodyPr>
          <a:lstStyle/>
          <a:p>
            <a:r>
              <a:rPr lang="en-US" altLang="zh-CN"/>
              <a:t>2021</a:t>
            </a:r>
            <a:r>
              <a:rPr lang="zh-CN" altLang="en-US"/>
              <a:t>年</a:t>
            </a:r>
            <a:r>
              <a:rPr lang="en-US" altLang="zh-CN"/>
              <a:t>7</a:t>
            </a:r>
            <a:r>
              <a:rPr lang="zh-CN" altLang="en-US"/>
              <a:t>月发布</a:t>
            </a:r>
            <a:endParaRPr lang="en-US" altLang="zh-CN"/>
          </a:p>
          <a:p>
            <a:r>
              <a:rPr lang="zh-CN" altLang="en-US"/>
              <a:t>强调做什么 </a:t>
            </a:r>
            <a:r>
              <a:rPr lang="en-US" altLang="zh-CN"/>
              <a:t>What </a:t>
            </a:r>
            <a:r>
              <a:rPr lang="zh-CN" altLang="en-US"/>
              <a:t>和为什么做</a:t>
            </a:r>
            <a:r>
              <a:rPr lang="en-US" altLang="zh-CN"/>
              <a:t> Why</a:t>
            </a:r>
          </a:p>
          <a:p>
            <a:r>
              <a:rPr lang="zh-CN" altLang="en-US"/>
              <a:t>基于原则 </a:t>
            </a:r>
            <a:r>
              <a:rPr lang="en-US" altLang="zh-CN"/>
              <a:t>Principle-Based</a:t>
            </a:r>
          </a:p>
          <a:p>
            <a:r>
              <a:rPr lang="zh-CN" altLang="en-US"/>
              <a:t>核心理念 </a:t>
            </a:r>
            <a:r>
              <a:rPr lang="en-US" altLang="zh-CN"/>
              <a:t>Philosophy</a:t>
            </a:r>
            <a:endParaRPr lang="zh-CN" altLang="en-US"/>
          </a:p>
          <a:p>
            <a:pPr lvl="1"/>
            <a:r>
              <a:rPr lang="zh-CN" altLang="en-US"/>
              <a:t>价值导向：不仅关注产出 </a:t>
            </a:r>
            <a:r>
              <a:rPr lang="en-US" altLang="zh-CN"/>
              <a:t>Output</a:t>
            </a:r>
            <a:r>
              <a:rPr lang="zh-CN" altLang="en-US"/>
              <a:t>，更关注成果 </a:t>
            </a:r>
            <a:r>
              <a:rPr lang="en-US" altLang="zh-CN"/>
              <a:t>Outcome</a:t>
            </a:r>
            <a:r>
              <a:rPr lang="zh-CN" altLang="en-US"/>
              <a:t> 和商业价值</a:t>
            </a:r>
          </a:p>
          <a:p>
            <a:pPr lvl="1"/>
            <a:r>
              <a:rPr lang="zh-CN" altLang="en-US"/>
              <a:t>灵活性与裁剪：没有一刀切的流程，鼓励根据项目情境选择合适的方法（敏捷、混合或预测）</a:t>
            </a:r>
          </a:p>
          <a:p>
            <a:pPr lvl="1"/>
            <a:r>
              <a:rPr lang="zh-CN" altLang="en-US"/>
              <a:t>系统性思维：将项目视为复杂系统的一部分，强调应对不确定性和变革</a:t>
            </a:r>
          </a:p>
          <a:p>
            <a:r>
              <a:rPr lang="zh-CN" altLang="en-US"/>
              <a:t>核心架构 </a:t>
            </a:r>
            <a:r>
              <a:rPr lang="en-US" altLang="zh-CN"/>
              <a:t>Structure</a:t>
            </a:r>
            <a:endParaRPr lang="zh-CN" altLang="en-US"/>
          </a:p>
          <a:p>
            <a:pPr lvl="1"/>
            <a:r>
              <a:rPr lang="zh-CN" altLang="en-US"/>
              <a:t>十二项原则 </a:t>
            </a:r>
            <a:r>
              <a:rPr lang="en-US" altLang="zh-CN"/>
              <a:t>(12 Principles)</a:t>
            </a:r>
            <a:r>
              <a:rPr lang="zh-CN" altLang="en-US"/>
              <a:t>：指导项目行为的核心价值观，适用于任何方法论（预测、敏捷、混合）</a:t>
            </a:r>
          </a:p>
          <a:p>
            <a:pPr lvl="1"/>
            <a:r>
              <a:rPr lang="zh-CN" altLang="en-US"/>
              <a:t>八大绩效域 </a:t>
            </a:r>
            <a:r>
              <a:rPr lang="en-US" altLang="zh-CN"/>
              <a:t>(8 Performance Domains)</a:t>
            </a:r>
            <a:r>
              <a:rPr lang="zh-CN" altLang="en-US"/>
              <a:t>：取代了知识领域，强调这些领域需要同时关注、相互作用，以交付项目成果</a:t>
            </a:r>
            <a:endParaRPr lang="en-US" altLang="zh-CN"/>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7350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wrap="square">
            <a:normAutofit/>
          </a:bodyPr>
          <a:lstStyle/>
          <a:p>
            <a:r>
              <a:rPr lang="zh-CN" altLang="en-US"/>
              <a:t>注重价值交付和适应性</a:t>
            </a:r>
            <a:endParaRPr lang="en-US" altLang="zh-CN"/>
          </a:p>
          <a:p>
            <a:r>
              <a:rPr lang="zh-CN" altLang="zh-CN"/>
              <a:t>不是对第</a:t>
            </a:r>
            <a:r>
              <a:rPr lang="en-US" altLang="zh-CN"/>
              <a:t>6</a:t>
            </a:r>
            <a:r>
              <a:rPr lang="zh-CN" altLang="zh-CN"/>
              <a:t>版推翻、不是替代第</a:t>
            </a:r>
            <a:r>
              <a:rPr lang="en-US" altLang="zh-CN"/>
              <a:t>6</a:t>
            </a:r>
            <a:r>
              <a:rPr lang="zh-CN" altLang="zh-CN"/>
              <a:t>版</a:t>
            </a:r>
            <a:endParaRPr lang="en-US" altLang="zh-CN"/>
          </a:p>
          <a:p>
            <a:r>
              <a:rPr lang="zh-CN" altLang="zh-CN"/>
              <a:t>而是对第</a:t>
            </a:r>
            <a:r>
              <a:rPr lang="en-US" altLang="zh-CN"/>
              <a:t>6</a:t>
            </a:r>
            <a:r>
              <a:rPr lang="zh-CN" altLang="zh-CN"/>
              <a:t>版中项目管理核心精髓的延伸，是对第</a:t>
            </a:r>
            <a:r>
              <a:rPr lang="en-US" altLang="zh-CN"/>
              <a:t>6</a:t>
            </a:r>
            <a:r>
              <a:rPr lang="zh-CN" altLang="zh-CN"/>
              <a:t>版知识领域与过程组高层次、高维度的承接，再度续写下个项目管理标准构架的辉煌</a:t>
            </a:r>
            <a:endParaRPr lang="zh-CN" altLang="en-US"/>
          </a:p>
          <a:p>
            <a:r>
              <a:rPr lang="zh-CN" altLang="zh-CN"/>
              <a:t>与第</a:t>
            </a:r>
            <a:r>
              <a:rPr lang="en-US" altLang="zh-CN"/>
              <a:t>6</a:t>
            </a:r>
            <a:r>
              <a:rPr lang="zh-CN" altLang="zh-CN"/>
              <a:t>版</a:t>
            </a:r>
            <a:r>
              <a:rPr lang="zh-CN" altLang="en-US"/>
              <a:t>长期</a:t>
            </a:r>
            <a:r>
              <a:rPr lang="zh-CN" altLang="zh-CN"/>
              <a:t>共存</a:t>
            </a:r>
            <a:endParaRPr lang="en-US" altLang="zh-CN"/>
          </a:p>
          <a:p>
            <a:r>
              <a:rPr lang="en-US" altLang="zh-CN"/>
              <a:t>PMBOK </a:t>
            </a:r>
            <a:r>
              <a:rPr lang="zh-CN" altLang="en-US"/>
              <a:t>第八版（</a:t>
            </a:r>
            <a:r>
              <a:rPr lang="en-US" altLang="zh-CN"/>
              <a:t>2025</a:t>
            </a:r>
            <a:r>
              <a:rPr lang="zh-CN" altLang="en-US"/>
              <a:t>年</a:t>
            </a:r>
            <a:r>
              <a:rPr lang="en-US" altLang="zh-CN"/>
              <a:t>11</a:t>
            </a:r>
            <a:r>
              <a:rPr lang="zh-CN" altLang="en-US"/>
              <a:t>月发布）把</a:t>
            </a:r>
            <a:r>
              <a:rPr lang="en-US" altLang="zh-CN"/>
              <a:t>8</a:t>
            </a:r>
            <a:r>
              <a:rPr lang="zh-CN" altLang="en-US"/>
              <a:t>大绩效域又改成了</a:t>
            </a:r>
            <a:r>
              <a:rPr lang="en-US" altLang="zh-CN"/>
              <a:t>7</a:t>
            </a:r>
            <a:r>
              <a:rPr lang="zh-CN" altLang="en-US"/>
              <a:t>大绩效域</a:t>
            </a:r>
            <a:endParaRPr lang="en-US" altLang="zh-CN"/>
          </a:p>
          <a:p>
            <a:r>
              <a:rPr lang="zh-CN" altLang="en-US"/>
              <a:t>体系框架动态发展</a:t>
            </a:r>
            <a:endParaRPr lang="en-US" altLang="zh-CN"/>
          </a:p>
          <a:p>
            <a:endParaRPr lang="zh-CN" altLang="en-US"/>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47446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695998" y="360000"/>
            <a:ext cx="6375921" cy="429413"/>
          </a:xfrm>
        </p:spPr>
        <p:txBody>
          <a:bodyPr>
            <a:normAutofit/>
          </a:bodyPr>
          <a:lstStyle/>
          <a:p>
            <a:r>
              <a:rPr lang="en-US" altLang="zh-CN"/>
              <a:t>3.2.1 </a:t>
            </a:r>
            <a:r>
              <a:rPr lang="zh-CN" altLang="en-US"/>
              <a:t>十二项原则</a:t>
            </a:r>
          </a:p>
        </p:txBody>
      </p:sp>
      <p:sp>
        <p:nvSpPr>
          <p:cNvPr id="32" name="内容占位符 31">
            <a:extLst>
              <a:ext uri="{FF2B5EF4-FFF2-40B4-BE49-F238E27FC236}">
                <a16:creationId xmlns:a16="http://schemas.microsoft.com/office/drawing/2014/main" id="{A23AA76F-528B-30B7-F2F7-BF532B133098}"/>
              </a:ext>
            </a:extLst>
          </p:cNvPr>
          <p:cNvSpPr>
            <a:spLocks noGrp="1"/>
          </p:cNvSpPr>
          <p:nvPr>
            <p:ph idx="1"/>
          </p:nvPr>
        </p:nvSpPr>
        <p:spPr>
          <a:xfrm>
            <a:off x="696000" y="864000"/>
            <a:ext cx="10800000" cy="5400000"/>
          </a:xfrm>
        </p:spPr>
        <p:txBody>
          <a:bodyPr/>
          <a:lstStyle/>
          <a:p>
            <a:endParaRPr lang="zh-CN" altLang="en-US"/>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29" name="内容占位符 22">
            <a:extLst>
              <a:ext uri="{FF2B5EF4-FFF2-40B4-BE49-F238E27FC236}">
                <a16:creationId xmlns:a16="http://schemas.microsoft.com/office/drawing/2014/main" id="{AD0B7B4B-2113-348A-B67E-2845D98245F6}"/>
              </a:ext>
            </a:extLst>
          </p:cNvPr>
          <p:cNvGraphicFramePr>
            <a:graphicFrameLocks/>
          </p:cNvGraphicFramePr>
          <p:nvPr>
            <p:extLst>
              <p:ext uri="{D42A27DB-BD31-4B8C-83A1-F6EECF244321}">
                <p14:modId xmlns:p14="http://schemas.microsoft.com/office/powerpoint/2010/main" val="1010177291"/>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354659">
                <a:tc>
                  <a:txBody>
                    <a:bodyPr/>
                    <a:lstStyle/>
                    <a:p>
                      <a:pPr algn="ctr" fontAlgn="ctr" latinLnBrk="0">
                        <a:lnSpc>
                          <a:spcPct val="100000"/>
                        </a:lnSpc>
                        <a:buNone/>
                      </a:pPr>
                      <a:r>
                        <a:rPr lang="en-US" altLang="zh-CN" sz="1400" b="0">
                          <a:solidFill>
                            <a:schemeClr val="bg1"/>
                          </a:solidFill>
                          <a:effectLst/>
                        </a:rPr>
                        <a:t>1</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尽职、尊重和关心</a:t>
                      </a:r>
                      <a:r>
                        <a:rPr lang="en-US" altLang="zh-CN" sz="1400" b="0">
                          <a:solidFill>
                            <a:schemeClr val="bg1"/>
                          </a:solidFill>
                          <a:effectLst/>
                        </a:rPr>
                        <a:t>(</a:t>
                      </a:r>
                      <a:r>
                        <a:rPr lang="zh-CN" altLang="en-US" sz="1400" b="0">
                          <a:solidFill>
                            <a:schemeClr val="bg1"/>
                          </a:solidFill>
                          <a:effectLst/>
                        </a:rPr>
                        <a:t>管家精神</a:t>
                      </a:r>
                      <a:r>
                        <a:rPr lang="en-US" altLang="zh-CN" sz="1400" b="0">
                          <a:solidFill>
                            <a:schemeClr val="bg1"/>
                          </a:solidFill>
                          <a:effectLst/>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Be a diligent, respectful, and caring </a:t>
                      </a:r>
                      <a:r>
                        <a:rPr lang="en-US" sz="1400" b="1">
                          <a:solidFill>
                            <a:schemeClr val="bg1"/>
                          </a:solidFill>
                          <a:effectLst/>
                        </a:rPr>
                        <a:t>steward</a:t>
                      </a:r>
                      <a:r>
                        <a:rPr lang="en-US" sz="1400" b="0">
                          <a:solidFill>
                            <a:schemeClr val="bg1"/>
                          </a:solidFill>
                          <a:effectLst/>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建立信任与</a:t>
                      </a:r>
                      <a:r>
                        <a:rPr lang="zh-CN" altLang="en-US" sz="1400" b="1">
                          <a:solidFill>
                            <a:schemeClr val="bg1"/>
                          </a:solidFill>
                          <a:effectLst/>
                        </a:rPr>
                        <a:t>责任感</a:t>
                      </a:r>
                      <a:r>
                        <a:rPr lang="zh-CN" altLang="en-US" sz="1400" b="0">
                          <a:solidFill>
                            <a:schemeClr val="bg1"/>
                          </a:solidFill>
                          <a:effectLst/>
                        </a:rPr>
                        <a:t>。</a:t>
                      </a:r>
                      <a:br>
                        <a:rPr lang="zh-CN" altLang="en-US" sz="1400" b="0">
                          <a:solidFill>
                            <a:schemeClr val="bg1"/>
                          </a:solidFill>
                          <a:effectLst/>
                        </a:rPr>
                      </a:br>
                      <a:r>
                        <a:rPr lang="zh-CN" altLang="en-US" sz="1400" b="0">
                          <a:solidFill>
                            <a:schemeClr val="bg1"/>
                          </a:solidFill>
                          <a:effectLst/>
                        </a:rPr>
                        <a:t>项目经理应像“管家”一样，以诚信、关怀</a:t>
                      </a:r>
                      <a:r>
                        <a:rPr lang="zh-CN" altLang="en-US" sz="1400" b="0" kern="1200">
                          <a:solidFill>
                            <a:schemeClr val="bg1"/>
                          </a:solidFill>
                          <a:effectLst/>
                          <a:latin typeface="+mn-lt"/>
                          <a:ea typeface="+mn-ea"/>
                          <a:cs typeface="+mn-cs"/>
                        </a:rPr>
                        <a:t>和尊重的</a:t>
                      </a:r>
                      <a:r>
                        <a:rPr lang="zh-CN" altLang="en-US" sz="1400" b="0">
                          <a:solidFill>
                            <a:schemeClr val="bg1"/>
                          </a:solidFill>
                          <a:effectLst/>
                        </a:rPr>
                        <a:t>态度管理资源（包括人、财、物和环境），严守合规与安全底线，追求长期可持续性。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354659">
                <a:tc>
                  <a:txBody>
                    <a:bodyPr/>
                    <a:lstStyle/>
                    <a:p>
                      <a:pPr algn="ctr" fontAlgn="ctr" latinLnBrk="0">
                        <a:lnSpc>
                          <a:spcPct val="100000"/>
                        </a:lnSpc>
                        <a:buNone/>
                      </a:pPr>
                      <a:r>
                        <a:rPr lang="en-US" altLang="zh-CN" sz="1400" b="0">
                          <a:solidFill>
                            <a:schemeClr val="bg1"/>
                          </a:solidFill>
                          <a:effectLst/>
                        </a:rPr>
                        <a:t>2</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营造协作的项目团队环境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Create a collaborative project team environment.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团队效能高于个人总和。</a:t>
                      </a:r>
                      <a:br>
                        <a:rPr lang="zh-CN" altLang="en-US" sz="1400" b="0">
                          <a:solidFill>
                            <a:schemeClr val="bg1"/>
                          </a:solidFill>
                          <a:effectLst/>
                        </a:rPr>
                      </a:br>
                      <a:r>
                        <a:rPr lang="zh-CN" altLang="en-US" sz="1400" b="0">
                          <a:solidFill>
                            <a:schemeClr val="bg1"/>
                          </a:solidFill>
                          <a:effectLst/>
                        </a:rPr>
                        <a:t>创造一个心理安全、开放沟通的环境，鼓励团队成员共享知识、互相支持。高效的协作能激发创新，提升解决问题的能力。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354659">
                <a:tc>
                  <a:txBody>
                    <a:bodyPr/>
                    <a:lstStyle/>
                    <a:p>
                      <a:pPr algn="ctr" fontAlgn="ctr" latinLnBrk="0">
                        <a:lnSpc>
                          <a:spcPct val="100000"/>
                        </a:lnSpc>
                        <a:buNone/>
                      </a:pPr>
                      <a:r>
                        <a:rPr lang="en-US" altLang="zh-CN" sz="1400" b="0">
                          <a:solidFill>
                            <a:schemeClr val="bg1"/>
                          </a:solidFill>
                          <a:effectLst/>
                        </a:rPr>
                        <a:t>3</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有效参与相关方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Effectively engage with stakeholders.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双向沟通与期望管理。</a:t>
                      </a:r>
                      <a:br>
                        <a:rPr lang="zh-CN" altLang="en-US" sz="1400" b="0">
                          <a:solidFill>
                            <a:schemeClr val="bg1"/>
                          </a:solidFill>
                          <a:effectLst/>
                        </a:rPr>
                      </a:br>
                      <a:r>
                        <a:rPr lang="zh-CN" altLang="en-US" sz="1400" b="1">
                          <a:solidFill>
                            <a:schemeClr val="bg1"/>
                          </a:solidFill>
                          <a:effectLst/>
                        </a:rPr>
                        <a:t>主动</a:t>
                      </a:r>
                      <a:r>
                        <a:rPr lang="zh-CN" altLang="en-US" sz="1400" b="0">
                          <a:solidFill>
                            <a:schemeClr val="bg1"/>
                          </a:solidFill>
                          <a:effectLst/>
                        </a:rPr>
                        <a:t>识别相关方，理解他们的需求和期望，并通过持续的对话建立伙伴关系。成功的项目取决于相关方的支持和参与，而不仅仅是交付产品。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354659">
                <a:tc>
                  <a:txBody>
                    <a:bodyPr/>
                    <a:lstStyle/>
                    <a:p>
                      <a:pPr algn="ctr" fontAlgn="ctr" latinLnBrk="0">
                        <a:lnSpc>
                          <a:spcPct val="100000"/>
                        </a:lnSpc>
                        <a:buNone/>
                      </a:pPr>
                      <a:r>
                        <a:rPr lang="en-US" altLang="zh-CN" sz="1400" b="0">
                          <a:solidFill>
                            <a:schemeClr val="bg1"/>
                          </a:solidFill>
                          <a:effectLst/>
                        </a:rPr>
                        <a:t>4</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聚焦于价值</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Focus on value.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价值是最终目标。</a:t>
                      </a:r>
                      <a:br>
                        <a:rPr lang="zh-CN" altLang="en-US" sz="1400" b="0">
                          <a:solidFill>
                            <a:schemeClr val="bg1"/>
                          </a:solidFill>
                          <a:effectLst/>
                        </a:rPr>
                      </a:br>
                      <a:r>
                        <a:rPr lang="zh-CN" altLang="en-US" sz="1400" b="0">
                          <a:solidFill>
                            <a:schemeClr val="bg1"/>
                          </a:solidFill>
                          <a:effectLst/>
                        </a:rPr>
                        <a:t>项目的存在是为了创造价值（商业价值、社会效益等）。所有决策和行动都应以“是否最大化价值”为衡量标准，</a:t>
                      </a:r>
                      <a:r>
                        <a:rPr lang="zh-CN" altLang="en-US" sz="1400" b="1">
                          <a:solidFill>
                            <a:schemeClr val="bg1"/>
                          </a:solidFill>
                          <a:effectLst/>
                        </a:rPr>
                        <a:t>避免为了做项目而做项目</a:t>
                      </a:r>
                      <a:r>
                        <a:rPr lang="zh-CN" altLang="en-US" sz="1400" b="0">
                          <a:solidFill>
                            <a:schemeClr val="bg1"/>
                          </a:solidFill>
                          <a:effectLst/>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354659">
                <a:tc>
                  <a:txBody>
                    <a:bodyPr/>
                    <a:lstStyle/>
                    <a:p>
                      <a:pPr algn="ctr" fontAlgn="ctr" latinLnBrk="0">
                        <a:lnSpc>
                          <a:spcPct val="100000"/>
                        </a:lnSpc>
                        <a:buNone/>
                      </a:pPr>
                      <a:r>
                        <a:rPr lang="en-US" altLang="zh-CN" sz="1400" b="0">
                          <a:solidFill>
                            <a:schemeClr val="bg1"/>
                          </a:solidFill>
                          <a:effectLst/>
                        </a:rPr>
                        <a:t>5</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识别、评估和响应系统交互</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Recognize, evaluate, and respond to system interactions.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系统思维 </a:t>
                      </a:r>
                      <a:r>
                        <a:rPr lang="en-US" altLang="zh-CN" sz="1400" b="0">
                          <a:solidFill>
                            <a:schemeClr val="bg1"/>
                          </a:solidFill>
                          <a:effectLst/>
                        </a:rPr>
                        <a:t>(Systems Thinking)</a:t>
                      </a:r>
                      <a:r>
                        <a:rPr lang="zh-CN" altLang="en-US" sz="1400" b="0">
                          <a:solidFill>
                            <a:schemeClr val="bg1"/>
                          </a:solidFill>
                          <a:effectLst/>
                        </a:rPr>
                        <a:t>。</a:t>
                      </a:r>
                      <a:br>
                        <a:rPr lang="zh-CN" altLang="en-US" sz="1400" b="0">
                          <a:solidFill>
                            <a:schemeClr val="bg1"/>
                          </a:solidFill>
                          <a:effectLst/>
                        </a:rPr>
                      </a:br>
                      <a:r>
                        <a:rPr lang="zh-CN" altLang="en-US" sz="1400" b="0">
                          <a:solidFill>
                            <a:schemeClr val="bg1"/>
                          </a:solidFill>
                          <a:effectLst/>
                        </a:rPr>
                        <a:t>项目不是孤立存在的，它处于更大的组织和社会系统中。必须理解项目内部各要素之间，以及项目与外部环境之间的复杂互动关系，以预测连锁反应。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354659">
                <a:tc>
                  <a:txBody>
                    <a:bodyPr/>
                    <a:lstStyle/>
                    <a:p>
                      <a:pPr algn="ctr" fontAlgn="ctr" latinLnBrk="0">
                        <a:lnSpc>
                          <a:spcPct val="100000"/>
                        </a:lnSpc>
                        <a:buNone/>
                      </a:pPr>
                      <a:r>
                        <a:rPr lang="en-US" altLang="zh-CN" sz="1400" b="0">
                          <a:solidFill>
                            <a:schemeClr val="bg1"/>
                          </a:solidFill>
                          <a:effectLst/>
                        </a:rPr>
                        <a:t>6</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展现领导力行为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Demonstrate leadership behaviors.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领导力人人可为。</a:t>
                      </a:r>
                      <a:br>
                        <a:rPr lang="zh-CN" altLang="en-US" sz="1400" b="0">
                          <a:solidFill>
                            <a:schemeClr val="bg1"/>
                          </a:solidFill>
                          <a:effectLst/>
                        </a:rPr>
                      </a:br>
                      <a:r>
                        <a:rPr lang="zh-CN" altLang="en-US" sz="1400" b="0">
                          <a:solidFill>
                            <a:schemeClr val="bg1"/>
                          </a:solidFill>
                          <a:effectLst/>
                        </a:rPr>
                        <a:t>领导力不仅仅是项目经理的职权，而是一种行为。无论角色如何，每个人都应在适当的时候展现领导力，激励团队、解决冲突并指引方向。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00060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93753-3B7D-8400-2FFF-A165640C6F5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609C306-2EF4-1E6B-C16D-9F52B50818FB}"/>
              </a:ext>
            </a:extLst>
          </p:cNvPr>
          <p:cNvSpPr>
            <a:spLocks noGrp="1"/>
          </p:cNvSpPr>
          <p:nvPr>
            <p:ph type="title"/>
          </p:nvPr>
        </p:nvSpPr>
        <p:spPr>
          <a:xfrm>
            <a:off x="695998" y="360000"/>
            <a:ext cx="6375921" cy="429413"/>
          </a:xfrm>
        </p:spPr>
        <p:txBody>
          <a:bodyPr>
            <a:normAutofit/>
          </a:bodyPr>
          <a:lstStyle/>
          <a:p>
            <a:r>
              <a:rPr lang="en-US" altLang="zh-CN"/>
              <a:t>3.2.1 </a:t>
            </a:r>
            <a:r>
              <a:rPr lang="zh-CN" altLang="en-US"/>
              <a:t>十二项原则</a:t>
            </a:r>
          </a:p>
        </p:txBody>
      </p:sp>
      <p:sp>
        <p:nvSpPr>
          <p:cNvPr id="11" name="内容占位符 10">
            <a:extLst>
              <a:ext uri="{FF2B5EF4-FFF2-40B4-BE49-F238E27FC236}">
                <a16:creationId xmlns:a16="http://schemas.microsoft.com/office/drawing/2014/main" id="{D4D9B893-6EE8-64B9-CED7-051E570F6831}"/>
              </a:ext>
            </a:extLst>
          </p:cNvPr>
          <p:cNvSpPr>
            <a:spLocks noGrp="1"/>
          </p:cNvSpPr>
          <p:nvPr>
            <p:ph idx="1"/>
          </p:nvPr>
        </p:nvSpPr>
        <p:spPr>
          <a:xfrm>
            <a:off x="696000" y="864000"/>
            <a:ext cx="10800000" cy="5400000"/>
          </a:xfrm>
        </p:spPr>
        <p:txBody>
          <a:bodyPr/>
          <a:lstStyle/>
          <a:p>
            <a:endParaRPr lang="zh-CN" altLang="en-US"/>
          </a:p>
        </p:txBody>
      </p:sp>
      <p:sp>
        <p:nvSpPr>
          <p:cNvPr id="10" name="Text Placeholder 9">
            <a:extLst>
              <a:ext uri="{FF2B5EF4-FFF2-40B4-BE49-F238E27FC236}">
                <a16:creationId xmlns:a16="http://schemas.microsoft.com/office/drawing/2014/main" id="{77BB8ABA-E58B-A67D-13E7-BC361552312D}"/>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7" name="内容占位符 22">
            <a:extLst>
              <a:ext uri="{FF2B5EF4-FFF2-40B4-BE49-F238E27FC236}">
                <a16:creationId xmlns:a16="http://schemas.microsoft.com/office/drawing/2014/main" id="{E29038A4-F378-5BB2-FF25-790AB3645BD2}"/>
              </a:ext>
            </a:extLst>
          </p:cNvPr>
          <p:cNvGraphicFramePr>
            <a:graphicFrameLocks/>
          </p:cNvGraphicFramePr>
          <p:nvPr>
            <p:extLst>
              <p:ext uri="{D42A27DB-BD31-4B8C-83A1-F6EECF244321}">
                <p14:modId xmlns:p14="http://schemas.microsoft.com/office/powerpoint/2010/main" val="4084339446"/>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421700">
                <a:tc>
                  <a:txBody>
                    <a:bodyPr/>
                    <a:lstStyle/>
                    <a:p>
                      <a:pPr algn="ctr" fontAlgn="ctr" latinLnBrk="0">
                        <a:lnSpc>
                          <a:spcPct val="100000"/>
                        </a:lnSpc>
                        <a:buNone/>
                      </a:pPr>
                      <a:r>
                        <a:rPr lang="en-US" altLang="zh-CN" sz="1400">
                          <a:solidFill>
                            <a:schemeClr val="bg1"/>
                          </a:solidFill>
                        </a:rPr>
                        <a:t>7</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根据情境进行裁剪</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1">
                          <a:solidFill>
                            <a:schemeClr val="bg1"/>
                          </a:solidFill>
                        </a:rPr>
                        <a:t>Tailor</a:t>
                      </a:r>
                      <a:r>
                        <a:rPr lang="en-US" sz="1400">
                          <a:solidFill>
                            <a:schemeClr val="bg1"/>
                          </a:solidFill>
                        </a:rPr>
                        <a:t> based on context.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没有“一刀切”的方法。</a:t>
                      </a:r>
                      <a:br>
                        <a:rPr lang="zh-CN" altLang="en-US" sz="1400">
                          <a:solidFill>
                            <a:schemeClr val="bg1"/>
                          </a:solidFill>
                        </a:rPr>
                      </a:br>
                      <a:r>
                        <a:rPr lang="zh-CN" altLang="en-US" sz="1400">
                          <a:solidFill>
                            <a:schemeClr val="bg1"/>
                          </a:solidFill>
                        </a:rPr>
                        <a:t>每个项目都是独特的。必须根据项目的规模、复杂性、不确定性、相关方需求及组织文化，灵活调整方法、流程和工件（无论是敏捷、预测还是混合模式）。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421700">
                <a:tc>
                  <a:txBody>
                    <a:bodyPr/>
                    <a:lstStyle/>
                    <a:p>
                      <a:pPr algn="ctr" fontAlgn="ctr" latinLnBrk="0">
                        <a:lnSpc>
                          <a:spcPct val="100000"/>
                        </a:lnSpc>
                        <a:buNone/>
                      </a:pPr>
                      <a:r>
                        <a:rPr lang="en-US" altLang="zh-CN" sz="1400">
                          <a:solidFill>
                            <a:schemeClr val="bg1"/>
                          </a:solidFill>
                        </a:rPr>
                        <a:t>8</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将质量融入过程和可交付成果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Build quality into processes and deliverables.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预防胜于检查。</a:t>
                      </a:r>
                      <a:br>
                        <a:rPr lang="zh-CN" altLang="en-US" sz="1400">
                          <a:solidFill>
                            <a:schemeClr val="bg1"/>
                          </a:solidFill>
                        </a:rPr>
                      </a:br>
                      <a:r>
                        <a:rPr lang="zh-CN" altLang="en-US" sz="1400">
                          <a:solidFill>
                            <a:schemeClr val="bg1"/>
                          </a:solidFill>
                        </a:rPr>
                        <a:t>质量不是最后检验出来的，而是规划和执行出来的。通过优化流程和标准，确保可交付成果从一开始就符合要求和预期，减少返工。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0">
                <a:tc>
                  <a:txBody>
                    <a:bodyPr/>
                    <a:lstStyle/>
                    <a:p>
                      <a:pPr algn="ctr" fontAlgn="ctr" latinLnBrk="0">
                        <a:lnSpc>
                          <a:spcPct val="100000"/>
                        </a:lnSpc>
                        <a:buNone/>
                      </a:pPr>
                      <a:r>
                        <a:rPr lang="en-US" altLang="zh-CN" sz="1400">
                          <a:solidFill>
                            <a:schemeClr val="bg1"/>
                          </a:solidFill>
                        </a:rPr>
                        <a:t>9</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驾驭复杂性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Navigate complexity.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在混乱中寻找路径。</a:t>
                      </a:r>
                      <a:br>
                        <a:rPr lang="zh-CN" altLang="en-US" sz="1400">
                          <a:solidFill>
                            <a:schemeClr val="bg1"/>
                          </a:solidFill>
                        </a:rPr>
                      </a:br>
                      <a:r>
                        <a:rPr lang="zh-CN" altLang="en-US" sz="1400">
                          <a:solidFill>
                            <a:schemeClr val="bg1"/>
                          </a:solidFill>
                        </a:rPr>
                        <a:t>项目常面临人类行为、系统技术或环境模糊性带来的复杂性。管理者需利用经验、直觉和分析工具，在不确定中做出决策，化繁为简。</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0">
                <a:tc>
                  <a:txBody>
                    <a:bodyPr/>
                    <a:lstStyle/>
                    <a:p>
                      <a:pPr algn="ctr" fontAlgn="ctr" latinLnBrk="0">
                        <a:lnSpc>
                          <a:spcPct val="100000"/>
                        </a:lnSpc>
                        <a:buNone/>
                      </a:pPr>
                      <a:r>
                        <a:rPr lang="en-US" altLang="zh-CN" sz="1400">
                          <a:solidFill>
                            <a:schemeClr val="bg1"/>
                          </a:solidFill>
                        </a:rPr>
                        <a:t>10</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优化风险应对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Optimize risk responses.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拥抱不确定性。</a:t>
                      </a:r>
                      <a:br>
                        <a:rPr lang="zh-CN" altLang="en-US" sz="1400">
                          <a:solidFill>
                            <a:schemeClr val="bg1"/>
                          </a:solidFill>
                        </a:rPr>
                      </a:br>
                      <a:r>
                        <a:rPr lang="zh-CN" altLang="en-US" sz="1400">
                          <a:solidFill>
                            <a:schemeClr val="bg1"/>
                          </a:solidFill>
                        </a:rPr>
                        <a:t>风险既包含威胁也包含机会。不仅要规避负面风险，更要主动捕捉正面风险。通过持续的风险管理，将不确定性对项目目标的影响降至最低或转为优势。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421700">
                <a:tc>
                  <a:txBody>
                    <a:bodyPr/>
                    <a:lstStyle/>
                    <a:p>
                      <a:pPr algn="ctr" fontAlgn="ctr" latinLnBrk="0">
                        <a:lnSpc>
                          <a:spcPct val="100000"/>
                        </a:lnSpc>
                        <a:buNone/>
                      </a:pPr>
                      <a:r>
                        <a:rPr lang="en-US" altLang="zh-CN" sz="1400">
                          <a:solidFill>
                            <a:schemeClr val="bg1"/>
                          </a:solidFill>
                        </a:rPr>
                        <a:t>11</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拥抱适应性和韧性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Embrace adaptability and resiliency.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在变化中生存与发展。</a:t>
                      </a:r>
                      <a:br>
                        <a:rPr lang="zh-CN" altLang="en-US" sz="1400">
                          <a:solidFill>
                            <a:schemeClr val="bg1"/>
                          </a:solidFill>
                        </a:rPr>
                      </a:br>
                      <a:r>
                        <a:rPr lang="zh-CN" altLang="en-US" sz="1400">
                          <a:solidFill>
                            <a:schemeClr val="bg1"/>
                          </a:solidFill>
                        </a:rPr>
                        <a:t>面对快速变化的环境，团队需要具备适应性（灵活调整方法）和韧性（从挫折中恢复的能力）。要求建立反馈循环，快速学习并迭代。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421700">
                <a:tc>
                  <a:txBody>
                    <a:bodyPr/>
                    <a:lstStyle/>
                    <a:p>
                      <a:pPr algn="ctr" fontAlgn="ctr" latinLnBrk="0">
                        <a:lnSpc>
                          <a:spcPct val="100000"/>
                        </a:lnSpc>
                        <a:buNone/>
                      </a:pPr>
                      <a:r>
                        <a:rPr lang="en-US" altLang="zh-CN" sz="1400">
                          <a:solidFill>
                            <a:schemeClr val="bg1"/>
                          </a:solidFill>
                        </a:rPr>
                        <a:t>12</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为实现目标而驱动变革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Enable change to achieve the envisioned future state.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项目即变革。</a:t>
                      </a:r>
                      <a:br>
                        <a:rPr lang="zh-CN" altLang="en-US" sz="1400">
                          <a:solidFill>
                            <a:schemeClr val="bg1"/>
                          </a:solidFill>
                        </a:rPr>
                      </a:br>
                      <a:r>
                        <a:rPr lang="zh-CN" altLang="en-US" sz="1400">
                          <a:solidFill>
                            <a:schemeClr val="bg1"/>
                          </a:solidFill>
                        </a:rPr>
                        <a:t>项目的目的是推动组织从“当前状态”走向“未来愿景”。不仅要交付产出，还要管理变革过程，帮助人们接受新方式，确保成果被真正采用并产生效益。</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3275218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400000"/>
          </a:xfrm>
        </p:spPr>
        <p:txBody>
          <a:bodyPr/>
          <a:lstStyle/>
          <a:p>
            <a:r>
              <a:rPr lang="zh-CN" altLang="en-US"/>
              <a:t>项目在实现预期成果和价值方面的整体表现 </a:t>
            </a:r>
            <a:r>
              <a:rPr lang="en-US" altLang="zh-CN">
                <a:solidFill>
                  <a:srgbClr val="FFFF00"/>
                </a:solidFill>
              </a:rPr>
              <a:t>Performance</a:t>
            </a:r>
          </a:p>
          <a:p>
            <a:r>
              <a:rPr lang="zh-CN" altLang="en-US"/>
              <a:t>一组相互关联的项目活动，对于有效交付项目成果至关重要</a:t>
            </a:r>
            <a:endParaRPr lang="en-US" altLang="zh-CN"/>
          </a:p>
          <a:p>
            <a:r>
              <a:rPr lang="zh-CN" altLang="en-US"/>
              <a:t>同时发生、动态交织、需要持续关注</a:t>
            </a:r>
          </a:p>
          <a:p>
            <a:endParaRPr lang="en-US" altLang="zh-CN"/>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graphicFrame>
        <p:nvGraphicFramePr>
          <p:cNvPr id="10"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3419802731"/>
              </p:ext>
            </p:extLst>
          </p:nvPr>
        </p:nvGraphicFramePr>
        <p:xfrm>
          <a:off x="696000" y="2240915"/>
          <a:ext cx="10800000" cy="4236720"/>
        </p:xfrm>
        <a:graphic>
          <a:graphicData uri="http://schemas.openxmlformats.org/drawingml/2006/table">
            <a:tbl>
              <a:tblPr/>
              <a:tblGrid>
                <a:gridCol w="561300">
                  <a:extLst>
                    <a:ext uri="{9D8B030D-6E8A-4147-A177-3AD203B41FA5}">
                      <a16:colId xmlns:a16="http://schemas.microsoft.com/office/drawing/2014/main" val="197264077"/>
                    </a:ext>
                  </a:extLst>
                </a:gridCol>
                <a:gridCol w="3390900">
                  <a:extLst>
                    <a:ext uri="{9D8B030D-6E8A-4147-A177-3AD203B41FA5}">
                      <a16:colId xmlns:a16="http://schemas.microsoft.com/office/drawing/2014/main" val="4210001443"/>
                    </a:ext>
                  </a:extLst>
                </a:gridCol>
                <a:gridCol w="2491509">
                  <a:extLst>
                    <a:ext uri="{9D8B030D-6E8A-4147-A177-3AD203B41FA5}">
                      <a16:colId xmlns:a16="http://schemas.microsoft.com/office/drawing/2014/main" val="543007001"/>
                    </a:ext>
                  </a:extLst>
                </a:gridCol>
                <a:gridCol w="4356291">
                  <a:extLst>
                    <a:ext uri="{9D8B030D-6E8A-4147-A177-3AD203B41FA5}">
                      <a16:colId xmlns:a16="http://schemas.microsoft.com/office/drawing/2014/main" val="1459750022"/>
                    </a:ext>
                  </a:extLst>
                </a:gridCol>
              </a:tblGrid>
              <a:tr h="0">
                <a:tc>
                  <a:txBody>
                    <a:bodyPr/>
                    <a:lstStyle/>
                    <a:p>
                      <a:pPr algn="ctr">
                        <a:buNone/>
                      </a:pPr>
                      <a:endParaRPr lang="zh-CN" altLang="en-US" sz="14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40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400">
                          <a:solidFill>
                            <a:schemeClr val="bg1"/>
                          </a:solidFill>
                        </a:rPr>
                        <a:t>Chinese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400">
                          <a:solidFill>
                            <a:schemeClr val="bg1"/>
                          </a:solidFill>
                        </a:rPr>
                        <a:t>Description</a:t>
                      </a:r>
                      <a:endParaRPr lang="zh-CN" altLang="en-US" sz="14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644523495"/>
                  </a:ext>
                </a:extLst>
              </a:tr>
              <a:tr h="0">
                <a:tc>
                  <a:txBody>
                    <a:bodyPr/>
                    <a:lstStyle/>
                    <a:p>
                      <a:pPr algn="ctr">
                        <a:buNone/>
                      </a:pPr>
                      <a:r>
                        <a:rPr lang="en-US" altLang="zh-CN" sz="1400">
                          <a:solidFill>
                            <a:schemeClr val="bg1"/>
                          </a:solidFill>
                        </a:rPr>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Stakeholder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相关方绩效域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管理与相关方的互动，建立共识，确保持续参与和支持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3655787"/>
                  </a:ext>
                </a:extLst>
              </a:tr>
              <a:tr h="0">
                <a:tc>
                  <a:txBody>
                    <a:bodyPr/>
                    <a:lstStyle/>
                    <a:p>
                      <a:pPr algn="ctr">
                        <a:buNone/>
                      </a:pPr>
                      <a:r>
                        <a:rPr lang="en-US" altLang="zh-CN" sz="140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Team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团队绩效域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发展团队技能，促进协作，解决冲突，提升团队绩效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52831730"/>
                  </a:ext>
                </a:extLst>
              </a:tr>
              <a:tr h="228978">
                <a:tc>
                  <a:txBody>
                    <a:bodyPr/>
                    <a:lstStyle/>
                    <a:p>
                      <a:pPr algn="ctr">
                        <a:buNone/>
                      </a:pPr>
                      <a:r>
                        <a:rPr lang="en-US" altLang="zh-CN" sz="1400">
                          <a:solidFill>
                            <a:schemeClr val="bg1"/>
                          </a:solidFill>
                        </a:rPr>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Development Approach and Life Cycle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开发方法和生命周期绩效域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选择适合项目的开发方法（预测、迭代、增量、敏捷或混合）及生命周期阶段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1778776"/>
                  </a:ext>
                </a:extLst>
              </a:tr>
              <a:tr h="228978">
                <a:tc>
                  <a:txBody>
                    <a:bodyPr/>
                    <a:lstStyle/>
                    <a:p>
                      <a:pPr algn="ctr">
                        <a:buNone/>
                      </a:pPr>
                      <a:r>
                        <a:rPr lang="en-US" altLang="zh-CN" sz="1400">
                          <a:solidFill>
                            <a:schemeClr val="bg1"/>
                          </a:solidFill>
                        </a:rPr>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Planning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规划绩效域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制定初始及持续的计划，协调范围、进度、成本等，以指导项目执行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0953972"/>
                  </a:ext>
                </a:extLst>
              </a:tr>
              <a:tr h="228978">
                <a:tc>
                  <a:txBody>
                    <a:bodyPr/>
                    <a:lstStyle/>
                    <a:p>
                      <a:pPr algn="ctr">
                        <a:buNone/>
                      </a:pPr>
                      <a:r>
                        <a:rPr lang="en-US" altLang="zh-CN" sz="140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Project Work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项目工作绩效域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管理实际的项目执行工作，包括资源分配、沟通、问题解决和知识管理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6638779"/>
                  </a:ext>
                </a:extLst>
              </a:tr>
              <a:tr h="228978">
                <a:tc>
                  <a:txBody>
                    <a:bodyPr/>
                    <a:lstStyle/>
                    <a:p>
                      <a:pPr algn="ctr">
                        <a:buNone/>
                      </a:pPr>
                      <a:r>
                        <a:rPr lang="en-US" altLang="zh-CN" sz="1400">
                          <a:solidFill>
                            <a:schemeClr val="bg1"/>
                          </a:solidFill>
                        </a:rPr>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Delivery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交付绩效域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确保项目产出符合预期，满足质量要求，并最终实现预期的商业价值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8436765"/>
                  </a:ext>
                </a:extLst>
              </a:tr>
              <a:tr h="228978">
                <a:tc>
                  <a:txBody>
                    <a:bodyPr/>
                    <a:lstStyle/>
                    <a:p>
                      <a:pPr algn="ctr">
                        <a:buNone/>
                      </a:pPr>
                      <a:r>
                        <a:rPr lang="en-US" altLang="zh-CN" sz="1400">
                          <a:solidFill>
                            <a:schemeClr val="bg1"/>
                          </a:solidFill>
                        </a:rPr>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Measurement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测量绩效域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评估项目绩效，通过指标和数据了解项目健康状况，支持决策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444266"/>
                  </a:ext>
                </a:extLst>
              </a:tr>
              <a:tr h="228978">
                <a:tc>
                  <a:txBody>
                    <a:bodyPr/>
                    <a:lstStyle/>
                    <a:p>
                      <a:pPr algn="ctr">
                        <a:buNone/>
                      </a:pPr>
                      <a:r>
                        <a:rPr lang="en-US" altLang="zh-CN" sz="140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Uncertainty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不确定性绩效域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应对</a:t>
                      </a:r>
                      <a:r>
                        <a:rPr lang="en-US" altLang="zh-CN" sz="1400">
                          <a:solidFill>
                            <a:schemeClr val="bg1"/>
                          </a:solidFill>
                        </a:rPr>
                        <a:t>VUCA</a:t>
                      </a:r>
                      <a:r>
                        <a:rPr lang="zh-CN" altLang="en-US" sz="1400">
                          <a:solidFill>
                            <a:schemeClr val="bg1"/>
                          </a:solidFill>
                        </a:rPr>
                        <a:t>，制定应对策略。</a:t>
                      </a:r>
                      <a:endParaRPr lang="en-US" altLang="zh-CN" sz="1400">
                        <a:solidFill>
                          <a:schemeClr val="bg1"/>
                        </a:solidFill>
                      </a:endParaRPr>
                    </a:p>
                    <a:p>
                      <a:pPr algn="l">
                        <a:buNone/>
                      </a:pPr>
                      <a:r>
                        <a:rPr lang="zh-CN" altLang="en-US" sz="1400">
                          <a:solidFill>
                            <a:schemeClr val="bg1"/>
                          </a:solidFill>
                        </a:rPr>
                        <a:t>不是消除，而是驾驭，将其转化为机会或可控的损失</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p>
        </p:txBody>
      </p:sp>
      <p:sp>
        <p:nvSpPr>
          <p:cNvPr id="14" name="Content Placeholder 13">
            <a:extLst>
              <a:ext uri="{FF2B5EF4-FFF2-40B4-BE49-F238E27FC236}">
                <a16:creationId xmlns:a16="http://schemas.microsoft.com/office/drawing/2014/main" id="{4E5B64D2-87B7-B432-2854-97749A6C3738}"/>
              </a:ext>
            </a:extLst>
          </p:cNvPr>
          <p:cNvSpPr>
            <a:spLocks noGrp="1"/>
          </p:cNvSpPr>
          <p:nvPr>
            <p:ph idx="1"/>
          </p:nvPr>
        </p:nvSpPr>
        <p:spPr/>
        <p:txBody>
          <a:bodyPr/>
          <a:lstStyle/>
          <a:p>
            <a:endParaRPr lang="zh-CN" altLang="en-US"/>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400"/>
              <a:t>干系人绩效域</a:t>
            </a:r>
            <a:endParaRPr lang="en-US" altLang="zh-CN" sz="1400"/>
          </a:p>
          <a:p>
            <a:pPr algn="ctr"/>
            <a:r>
              <a:rPr lang="en-US" altLang="zh-CN" sz="1400"/>
              <a:t>Stakeholder</a:t>
            </a:r>
            <a:endParaRPr lang="zh-CN" altLang="en-US" sz="140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400"/>
              <a:t>团队绩效域</a:t>
            </a:r>
            <a:endParaRPr lang="en-US" altLang="zh-CN" sz="1400"/>
          </a:p>
          <a:p>
            <a:pPr algn="ctr"/>
            <a:r>
              <a:rPr lang="en-US" altLang="zh-CN" sz="1400"/>
              <a:t>Team</a:t>
            </a:r>
            <a:endParaRPr lang="zh-CN" altLang="en-US" sz="140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400"/>
              <a:t>开发方法和生命周期绩效域</a:t>
            </a:r>
            <a:endParaRPr lang="en-US" altLang="zh-CN" sz="1400"/>
          </a:p>
          <a:p>
            <a:pPr algn="ctr"/>
            <a:r>
              <a:rPr lang="en-US" altLang="zh-CN" sz="1400"/>
              <a:t>Development Approach and Life Cycle</a:t>
            </a:r>
            <a:endParaRPr lang="zh-CN" altLang="en-US" sz="140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规划绩效域</a:t>
            </a:r>
            <a:endParaRPr lang="en-US" altLang="zh-CN" sz="1400"/>
          </a:p>
          <a:p>
            <a:pPr algn="ctr"/>
            <a:r>
              <a:rPr lang="en-US" altLang="zh-CN" sz="1400"/>
              <a:t>Planning </a:t>
            </a:r>
            <a:endParaRPr lang="zh-CN" altLang="en-US" sz="140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项目工作绩效域</a:t>
            </a:r>
            <a:endParaRPr lang="en-US" altLang="zh-CN" sz="1400"/>
          </a:p>
          <a:p>
            <a:pPr algn="ctr"/>
            <a:r>
              <a:rPr lang="en-US" altLang="zh-CN" sz="1400"/>
              <a:t>Project Work</a:t>
            </a:r>
            <a:endParaRPr lang="zh-CN" altLang="en-US" sz="140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交付绩效域</a:t>
            </a:r>
            <a:endParaRPr lang="en-US" altLang="zh-CN" sz="1400"/>
          </a:p>
          <a:p>
            <a:pPr algn="ctr"/>
            <a:r>
              <a:rPr lang="en-US" altLang="zh-CN" sz="1400"/>
              <a:t>Delivery </a:t>
            </a:r>
            <a:endParaRPr lang="zh-CN" altLang="en-US" sz="140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测量绩效域</a:t>
            </a:r>
            <a:endParaRPr lang="en-US" altLang="zh-CN" sz="1400"/>
          </a:p>
          <a:p>
            <a:pPr algn="ctr"/>
            <a:r>
              <a:rPr lang="en-US" altLang="zh-CN" sz="1400"/>
              <a:t>Measurement</a:t>
            </a:r>
            <a:endParaRPr lang="zh-CN" altLang="en-US" sz="140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ound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400"/>
              <a:t>不确定性绩效域</a:t>
            </a:r>
            <a:endParaRPr lang="en-US" altLang="zh-CN" sz="1400"/>
          </a:p>
          <a:p>
            <a:pPr algn="ctr"/>
            <a:r>
              <a:rPr lang="en-US" altLang="zh-CN" sz="1400"/>
              <a:t>Uncertainty </a:t>
            </a:r>
            <a:endParaRPr lang="zh-CN" altLang="en-US" sz="140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882-2B9B-B188-F4FA-90409DAB3F3D}"/>
              </a:ext>
            </a:extLst>
          </p:cNvPr>
          <p:cNvSpPr>
            <a:spLocks noGrp="1"/>
          </p:cNvSpPr>
          <p:nvPr>
            <p:ph type="title"/>
          </p:nvPr>
        </p:nvSpPr>
        <p:spPr>
          <a:xfrm>
            <a:off x="695998" y="360000"/>
            <a:ext cx="6375921" cy="429413"/>
          </a:xfrm>
        </p:spPr>
        <p:txBody>
          <a:bodyPr/>
          <a:lstStyle/>
          <a:p>
            <a:r>
              <a:rPr lang="en-US" altLang="zh-CN"/>
              <a:t>VUCA</a:t>
            </a:r>
            <a:endParaRPr lang="zh-CN" altLang="en-US"/>
          </a:p>
        </p:txBody>
      </p:sp>
      <p:sp>
        <p:nvSpPr>
          <p:cNvPr id="10" name="Content Placeholder 9">
            <a:extLst>
              <a:ext uri="{FF2B5EF4-FFF2-40B4-BE49-F238E27FC236}">
                <a16:creationId xmlns:a16="http://schemas.microsoft.com/office/drawing/2014/main" id="{D442E39E-6857-6D6B-E84F-80F1385667FA}"/>
              </a:ext>
            </a:extLst>
          </p:cNvPr>
          <p:cNvSpPr>
            <a:spLocks noGrp="1"/>
          </p:cNvSpPr>
          <p:nvPr>
            <p:ph idx="1"/>
          </p:nvPr>
        </p:nvSpPr>
        <p:spPr>
          <a:xfrm>
            <a:off x="695325" y="863600"/>
            <a:ext cx="10801350" cy="5400675"/>
          </a:xfrm>
        </p:spPr>
        <p:txBody>
          <a:bodyPr>
            <a:normAutofit/>
          </a:bodyPr>
          <a:lstStyle/>
          <a:p>
            <a:r>
              <a:rPr lang="zh-CN" altLang="en-US"/>
              <a:t>描述当今商业环境的特征</a:t>
            </a:r>
            <a:endParaRPr lang="en-US" altLang="zh-CN"/>
          </a:p>
          <a:p>
            <a:r>
              <a:rPr lang="en-US" altLang="zh-CN"/>
              <a:t>PMBOK </a:t>
            </a:r>
            <a:r>
              <a:rPr lang="zh-CN" altLang="en-US"/>
              <a:t>指南的演变史，就是一部对抗 </a:t>
            </a:r>
            <a:r>
              <a:rPr lang="en-US" altLang="zh-CN"/>
              <a:t>VUCA</a:t>
            </a:r>
            <a:r>
              <a:rPr lang="zh-CN" altLang="en-US"/>
              <a:t> 的历史</a:t>
            </a:r>
          </a:p>
        </p:txBody>
      </p:sp>
      <p:sp>
        <p:nvSpPr>
          <p:cNvPr id="7" name="文本占位符 6">
            <a:extLst>
              <a:ext uri="{FF2B5EF4-FFF2-40B4-BE49-F238E27FC236}">
                <a16:creationId xmlns:a16="http://schemas.microsoft.com/office/drawing/2014/main" id="{D628CB4E-66BB-A3BB-0097-745DFD6A5C39}"/>
              </a:ext>
            </a:extLst>
          </p:cNvPr>
          <p:cNvSpPr>
            <a:spLocks noGrp="1"/>
          </p:cNvSpPr>
          <p:nvPr>
            <p:ph type="body" sz="quarter" idx="10"/>
          </p:nvPr>
        </p:nvSpPr>
        <p:spPr/>
        <p:txBody>
          <a:bodyPr/>
          <a:lstStyle/>
          <a:p>
            <a:endParaRPr lang="zh-CN" altLang="en-US"/>
          </a:p>
        </p:txBody>
      </p:sp>
      <p:graphicFrame>
        <p:nvGraphicFramePr>
          <p:cNvPr id="5" name="Table 4">
            <a:extLst>
              <a:ext uri="{FF2B5EF4-FFF2-40B4-BE49-F238E27FC236}">
                <a16:creationId xmlns:a16="http://schemas.microsoft.com/office/drawing/2014/main" id="{A895CBB5-2664-2CF1-5735-B20F7421DE8B}"/>
              </a:ext>
            </a:extLst>
          </p:cNvPr>
          <p:cNvGraphicFramePr>
            <a:graphicFrameLocks noGrp="1"/>
          </p:cNvGraphicFramePr>
          <p:nvPr>
            <p:extLst>
              <p:ext uri="{D42A27DB-BD31-4B8C-83A1-F6EECF244321}">
                <p14:modId xmlns:p14="http://schemas.microsoft.com/office/powerpoint/2010/main" val="1916017522"/>
              </p:ext>
            </p:extLst>
          </p:nvPr>
        </p:nvGraphicFramePr>
        <p:xfrm>
          <a:off x="695325" y="3612515"/>
          <a:ext cx="10801350" cy="2651760"/>
        </p:xfrm>
        <a:graphic>
          <a:graphicData uri="http://schemas.openxmlformats.org/drawingml/2006/table">
            <a:tbl>
              <a:tblPr/>
              <a:tblGrid>
                <a:gridCol w="1133475">
                  <a:extLst>
                    <a:ext uri="{9D8B030D-6E8A-4147-A177-3AD203B41FA5}">
                      <a16:colId xmlns:a16="http://schemas.microsoft.com/office/drawing/2014/main" val="3948350717"/>
                    </a:ext>
                  </a:extLst>
                </a:gridCol>
                <a:gridCol w="1715678">
                  <a:extLst>
                    <a:ext uri="{9D8B030D-6E8A-4147-A177-3AD203B41FA5}">
                      <a16:colId xmlns:a16="http://schemas.microsoft.com/office/drawing/2014/main" val="2290632334"/>
                    </a:ext>
                  </a:extLst>
                </a:gridCol>
                <a:gridCol w="1847654">
                  <a:extLst>
                    <a:ext uri="{9D8B030D-6E8A-4147-A177-3AD203B41FA5}">
                      <a16:colId xmlns:a16="http://schemas.microsoft.com/office/drawing/2014/main" val="3065943033"/>
                    </a:ext>
                  </a:extLst>
                </a:gridCol>
                <a:gridCol w="6104543">
                  <a:extLst>
                    <a:ext uri="{9D8B030D-6E8A-4147-A177-3AD203B41FA5}">
                      <a16:colId xmlns:a16="http://schemas.microsoft.com/office/drawing/2014/main" val="2815620651"/>
                    </a:ext>
                  </a:extLst>
                </a:gridCol>
              </a:tblGrid>
              <a:tr h="0">
                <a:tc>
                  <a:txBody>
                    <a:bodyPr/>
                    <a:lstStyle/>
                    <a:p>
                      <a:pPr algn="l">
                        <a:lnSpc>
                          <a:spcPct val="100000"/>
                        </a:lnSpc>
                        <a:buNone/>
                      </a:pPr>
                      <a:r>
                        <a:rPr lang="en-US" altLang="zh-CN" sz="1600">
                          <a:solidFill>
                            <a:schemeClr val="bg1"/>
                          </a:solidFill>
                        </a:rPr>
                        <a:t>Char</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English</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Chinese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98835100"/>
                  </a:ext>
                </a:extLst>
              </a:tr>
              <a:tr h="0">
                <a:tc>
                  <a:txBody>
                    <a:bodyPr/>
                    <a:lstStyle/>
                    <a:p>
                      <a:pPr algn="l">
                        <a:lnSpc>
                          <a:spcPct val="100000"/>
                        </a:lnSpc>
                        <a:buNone/>
                      </a:pPr>
                      <a:r>
                        <a:rPr lang="en-US" sz="1600">
                          <a:solidFill>
                            <a:schemeClr val="bg1"/>
                          </a:solidFill>
                        </a:rPr>
                        <a:t>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Volatility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易变性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变化发生的速度极快，幅度极大</a:t>
                      </a:r>
                      <a:endParaRPr lang="en-US" altLang="zh-CN" sz="160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计划赶不上变化，需求频繁变更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07491448"/>
                  </a:ext>
                </a:extLst>
              </a:tr>
              <a:tr h="0">
                <a:tc>
                  <a:txBody>
                    <a:bodyPr/>
                    <a:lstStyle/>
                    <a:p>
                      <a:pPr algn="l">
                        <a:lnSpc>
                          <a:spcPct val="100000"/>
                        </a:lnSpc>
                        <a:buNone/>
                      </a:pPr>
                      <a:r>
                        <a:rPr lang="en-US" sz="1600">
                          <a:solidFill>
                            <a:schemeClr val="bg1"/>
                          </a:solidFill>
                        </a:rPr>
                        <a:t>U</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Uncertainty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缺乏信息，难以预测未来，因果关系不明</a:t>
                      </a:r>
                    </a:p>
                    <a:p>
                      <a:pPr algn="l">
                        <a:lnSpc>
                          <a:spcPct val="100000"/>
                        </a:lnSpc>
                        <a:buNone/>
                      </a:pPr>
                      <a:r>
                        <a:rPr lang="zh-CN" altLang="en-US" sz="1600">
                          <a:solidFill>
                            <a:schemeClr val="bg1"/>
                          </a:solidFill>
                        </a:rPr>
                        <a:t>风险难以识别，传统预测失效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0132012"/>
                  </a:ext>
                </a:extLst>
              </a:tr>
              <a:tr h="0">
                <a:tc>
                  <a:txBody>
                    <a:bodyPr/>
                    <a:lstStyle/>
                    <a:p>
                      <a:pPr algn="l">
                        <a:lnSpc>
                          <a:spcPct val="100000"/>
                        </a:lnSpc>
                        <a:buNone/>
                      </a:pPr>
                      <a:r>
                        <a:rPr lang="en-US" sz="1600">
                          <a:solidFill>
                            <a:schemeClr val="bg1"/>
                          </a:solidFill>
                        </a:rPr>
                        <a:t>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Complexity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影响因素众多，相互交织，牵一发而动全身</a:t>
                      </a:r>
                    </a:p>
                    <a:p>
                      <a:pPr algn="l">
                        <a:lnSpc>
                          <a:spcPct val="100000"/>
                        </a:lnSpc>
                        <a:buNone/>
                      </a:pPr>
                      <a:r>
                        <a:rPr lang="zh-CN" altLang="en-US" sz="1600">
                          <a:solidFill>
                            <a:schemeClr val="bg1"/>
                          </a:solidFill>
                        </a:rPr>
                        <a:t>单一解决方案无效，需要系统思考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9204373"/>
                  </a:ext>
                </a:extLst>
              </a:tr>
              <a:tr h="0">
                <a:tc>
                  <a:txBody>
                    <a:bodyPr/>
                    <a:lstStyle/>
                    <a:p>
                      <a:pPr algn="l">
                        <a:lnSpc>
                          <a:spcPct val="100000"/>
                        </a:lnSpc>
                        <a:buNone/>
                      </a:pPr>
                      <a:r>
                        <a:rPr lang="en-US" sz="1600">
                          <a:solidFill>
                            <a:schemeClr val="bg1"/>
                          </a:solidFill>
                        </a:rPr>
                        <a:t>A</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Ambiguity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模糊性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情况模棱两可，容易产生误解，没有先例可循</a:t>
                      </a:r>
                    </a:p>
                    <a:p>
                      <a:pPr algn="l">
                        <a:lnSpc>
                          <a:spcPct val="100000"/>
                        </a:lnSpc>
                        <a:buNone/>
                      </a:pPr>
                      <a:r>
                        <a:rPr lang="zh-CN" altLang="en-US" sz="1600">
                          <a:solidFill>
                            <a:schemeClr val="bg1"/>
                          </a:solidFill>
                        </a:rPr>
                        <a:t>目标不清晰，需求难以定义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9533284"/>
                  </a:ext>
                </a:extLst>
              </a:tr>
            </a:tbl>
          </a:graphicData>
        </a:graphic>
      </p:graphicFrame>
    </p:spTree>
    <p:extLst>
      <p:ext uri="{BB962C8B-B14F-4D97-AF65-F5344CB8AC3E}">
        <p14:creationId xmlns:p14="http://schemas.microsoft.com/office/powerpoint/2010/main" val="1495858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21E5B2E-9514-DB9B-DAB4-9AF65D522F7B}"/>
              </a:ext>
            </a:extLst>
          </p:cNvPr>
          <p:cNvSpPr>
            <a:spLocks noGrp="1"/>
          </p:cNvSpPr>
          <p:nvPr>
            <p:ph type="body" sz="quarter" idx="10"/>
          </p:nvPr>
        </p:nvSpPr>
        <p:spPr>
          <a:xfrm>
            <a:off x="3219345" y="1629000"/>
            <a:ext cx="8640000" cy="3600000"/>
          </a:xfrm>
        </p:spPr>
        <p:txBody>
          <a:bodyPr/>
          <a:lstStyle/>
          <a:p>
            <a:r>
              <a:rPr lang="zh-CN" altLang="en-US"/>
              <a:t>一家电商公司要在“双</a:t>
            </a:r>
            <a:r>
              <a:rPr lang="en-US" altLang="zh-CN"/>
              <a:t>11”</a:t>
            </a:r>
            <a:r>
              <a:rPr lang="zh-CN" altLang="en-US"/>
              <a:t>前上线一个新的促销系统。距离上线只剩</a:t>
            </a:r>
            <a:r>
              <a:rPr lang="en-US" altLang="zh-CN"/>
              <a:t>3</a:t>
            </a:r>
            <a:r>
              <a:rPr lang="zh-CN" altLang="en-US"/>
              <a:t>周，突然核心开发人员离职，且发现了一个严重的安全漏洞。</a:t>
            </a:r>
            <a:endParaRPr lang="en-US" altLang="zh-CN"/>
          </a:p>
          <a:p>
            <a:r>
              <a:rPr lang="zh-CN" altLang="en-US"/>
              <a:t>以下哪些做法体现了</a:t>
            </a:r>
            <a:r>
              <a:rPr lang="en-US" altLang="zh-CN"/>
              <a:t>PMBOK7</a:t>
            </a:r>
            <a:r>
              <a:rPr lang="zh-CN" altLang="en-US"/>
              <a:t>的思想？</a:t>
            </a:r>
            <a:endParaRPr lang="en-US" altLang="zh-CN"/>
          </a:p>
          <a:p>
            <a:endParaRPr lang="en-US" altLang="zh-CN"/>
          </a:p>
          <a:p>
            <a:r>
              <a:rPr lang="en-US" altLang="zh-CN"/>
              <a:t>A</a:t>
            </a:r>
            <a:r>
              <a:rPr lang="zh-CN" altLang="en-US"/>
              <a:t>：打开</a:t>
            </a:r>
            <a:r>
              <a:rPr lang="en-US" altLang="zh-CN"/>
              <a:t>《</a:t>
            </a:r>
            <a:r>
              <a:rPr lang="zh-CN" altLang="en-US"/>
              <a:t>风险登记册</a:t>
            </a:r>
            <a:r>
              <a:rPr lang="en-US" altLang="zh-CN"/>
              <a:t>》</a:t>
            </a:r>
            <a:r>
              <a:rPr lang="zh-CN" altLang="en-US"/>
              <a:t>，走变更流程，申请延期</a:t>
            </a:r>
          </a:p>
          <a:p>
            <a:r>
              <a:rPr lang="en-US" altLang="zh-CN"/>
              <a:t>B</a:t>
            </a:r>
            <a:r>
              <a:rPr lang="zh-CN" altLang="en-US"/>
              <a:t>：按“资源管理计划”去招聘新人</a:t>
            </a:r>
            <a:endParaRPr lang="en-US" altLang="zh-CN"/>
          </a:p>
          <a:p>
            <a:r>
              <a:rPr lang="en-US" altLang="zh-CN"/>
              <a:t>C</a:t>
            </a:r>
            <a:r>
              <a:rPr lang="zh-CN" altLang="en-US"/>
              <a:t>：立即承认原计划已失效。不再试图消除风险，而是启动应急预案</a:t>
            </a:r>
            <a:endParaRPr lang="en-US" altLang="zh-CN"/>
          </a:p>
          <a:p>
            <a:r>
              <a:rPr lang="en-US" altLang="zh-CN"/>
              <a:t>D</a:t>
            </a:r>
            <a:r>
              <a:rPr lang="zh-CN" altLang="en-US"/>
              <a:t>：立刻找</a:t>
            </a:r>
            <a:r>
              <a:rPr lang="en-US" altLang="zh-CN"/>
              <a:t>CEO</a:t>
            </a:r>
            <a:r>
              <a:rPr lang="zh-CN" altLang="en-US"/>
              <a:t>和业务方沟通，获得授权，调整范围</a:t>
            </a:r>
            <a:endParaRPr lang="en-US" altLang="zh-CN"/>
          </a:p>
          <a:p>
            <a:r>
              <a:rPr lang="en-US" altLang="zh-CN"/>
              <a:t>E</a:t>
            </a:r>
            <a:r>
              <a:rPr lang="zh-CN" altLang="en-US"/>
              <a:t>：重新定义最小可行产品 </a:t>
            </a:r>
            <a:r>
              <a:rPr lang="en-US" altLang="zh-CN"/>
              <a:t>MVP</a:t>
            </a:r>
            <a:r>
              <a:rPr lang="zh-CN" altLang="en-US"/>
              <a:t>，保证双</a:t>
            </a:r>
            <a:r>
              <a:rPr lang="en-US" altLang="zh-CN"/>
              <a:t>11</a:t>
            </a:r>
            <a:r>
              <a:rPr lang="zh-CN" altLang="en-US"/>
              <a:t>当天能下单、能支付</a:t>
            </a:r>
            <a:endParaRPr lang="en-US" altLang="zh-CN"/>
          </a:p>
          <a:p>
            <a:r>
              <a:rPr lang="en-US" altLang="zh-CN"/>
              <a:t>F</a:t>
            </a:r>
            <a:r>
              <a:rPr lang="zh-CN" altLang="en-US"/>
              <a:t>：召开紧急动员会，透明化危机；邀请资深架构师临时顶岗</a:t>
            </a:r>
            <a:endParaRPr lang="en-US" altLang="zh-CN"/>
          </a:p>
        </p:txBody>
      </p:sp>
    </p:spTree>
    <p:extLst>
      <p:ext uri="{BB962C8B-B14F-4D97-AF65-F5344CB8AC3E}">
        <p14:creationId xmlns:p14="http://schemas.microsoft.com/office/powerpoint/2010/main" val="28122691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695998" y="360000"/>
            <a:ext cx="6375921" cy="429413"/>
          </a:xfrm>
        </p:spPr>
        <p:txBody>
          <a:bodyPr>
            <a:normAutofit/>
          </a:bodyPr>
          <a:lstStyle/>
          <a:p>
            <a:r>
              <a:rPr lang="en-US" altLang="zh-CN"/>
              <a:t>4.1 </a:t>
            </a:r>
            <a:r>
              <a:rPr lang="zh-CN" altLang="en-US"/>
              <a:t>敏捷开发</a:t>
            </a:r>
          </a:p>
        </p:txBody>
      </p:sp>
      <p:sp>
        <p:nvSpPr>
          <p:cNvPr id="10" name="Content Placeholder 9">
            <a:extLst>
              <a:ext uri="{FF2B5EF4-FFF2-40B4-BE49-F238E27FC236}">
                <a16:creationId xmlns:a16="http://schemas.microsoft.com/office/drawing/2014/main" id="{D6231B5E-58F6-FDDC-859B-0D66134270CC}"/>
              </a:ext>
            </a:extLst>
          </p:cNvPr>
          <p:cNvSpPr>
            <a:spLocks noGrp="1"/>
          </p:cNvSpPr>
          <p:nvPr>
            <p:ph idx="1"/>
          </p:nvPr>
        </p:nvSpPr>
        <p:spPr>
          <a:xfrm>
            <a:off x="696000" y="864000"/>
            <a:ext cx="10800000" cy="5400000"/>
          </a:xfrm>
        </p:spPr>
        <p:txBody>
          <a:bodyPr/>
          <a:lstStyle/>
          <a:p>
            <a:r>
              <a:rPr lang="zh-CN" altLang="en-US"/>
              <a:t>软件项目快速多变的环境要求快速的开发和提交</a:t>
            </a:r>
            <a:endParaRPr lang="en-US" altLang="zh-CN"/>
          </a:p>
          <a:p>
            <a:pPr lvl="1"/>
            <a:r>
              <a:rPr lang="zh-CN" altLang="en-US"/>
              <a:t>部分可用、阶段可用、多次交付</a:t>
            </a:r>
            <a:endParaRPr lang="en-US" altLang="zh-CN"/>
          </a:p>
          <a:p>
            <a:pPr lvl="1"/>
            <a:r>
              <a:rPr lang="zh-CN" altLang="en-US"/>
              <a:t>试水</a:t>
            </a:r>
            <a:endParaRPr lang="en-US" altLang="zh-CN"/>
          </a:p>
          <a:p>
            <a:pPr lvl="1"/>
            <a:r>
              <a:rPr lang="zh-CN" altLang="en-US"/>
              <a:t>看市场反映</a:t>
            </a:r>
            <a:endParaRPr lang="en-US" altLang="zh-CN"/>
          </a:p>
          <a:p>
            <a:pPr lvl="1"/>
            <a:r>
              <a:rPr lang="zh-CN" altLang="en-US"/>
              <a:t>及时止损</a:t>
            </a:r>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448519"/>
            <a:ext cx="4424080" cy="338554"/>
          </a:xfrm>
        </p:spPr>
        <p:txBody>
          <a:bodyPr/>
          <a:lstStyle/>
          <a:p>
            <a:r>
              <a:rPr lang="en-US" altLang="zh-CN"/>
              <a:t>Agile Development</a:t>
            </a:r>
            <a:endParaRPr lang="zh-CN" altLang="en-US"/>
          </a:p>
        </p:txBody>
      </p:sp>
      <p:sp>
        <p:nvSpPr>
          <p:cNvPr id="5" name="矩形 4">
            <a:extLst>
              <a:ext uri="{FF2B5EF4-FFF2-40B4-BE49-F238E27FC236}">
                <a16:creationId xmlns:a16="http://schemas.microsoft.com/office/drawing/2014/main" id="{F8385DDC-0F08-85A1-F776-AE6CCADAA2C9}"/>
              </a:ext>
            </a:extLst>
          </p:cNvPr>
          <p:cNvSpPr/>
          <p:nvPr/>
        </p:nvSpPr>
        <p:spPr>
          <a:xfrm>
            <a:off x="695324" y="1611984"/>
            <a:ext cx="10532000" cy="4579266"/>
          </a:xfrm>
          <a:prstGeom prst="rect">
            <a:avLst/>
          </a:prstGeom>
          <a:ln w="12700">
            <a:noFill/>
          </a:ln>
        </p:spPr>
        <p:txBody>
          <a:bodyPr/>
          <a:lstStyle/>
          <a:p>
            <a:endParaRPr lang="zh-CN" altLang="en-US"/>
          </a:p>
        </p:txBody>
      </p:sp>
      <p:sp>
        <p:nvSpPr>
          <p:cNvPr id="6" name="任意多边形: 形状 5">
            <a:extLst>
              <a:ext uri="{FF2B5EF4-FFF2-40B4-BE49-F238E27FC236}">
                <a16:creationId xmlns:a16="http://schemas.microsoft.com/office/drawing/2014/main" id="{4CE500E8-9576-5524-7522-BCDBFCE0CD89}"/>
              </a:ext>
            </a:extLst>
          </p:cNvPr>
          <p:cNvSpPr/>
          <p:nvPr/>
        </p:nvSpPr>
        <p:spPr>
          <a:xfrm>
            <a:off x="5506214" y="3376095"/>
            <a:ext cx="1080001" cy="1080001"/>
          </a:xfrm>
          <a:custGeom>
            <a:avLst/>
            <a:gdLst>
              <a:gd name="csX0" fmla="*/ 0 w 1080001"/>
              <a:gd name="csY0" fmla="*/ 540001 h 1080001"/>
              <a:gd name="csX1" fmla="*/ 540001 w 1080001"/>
              <a:gd name="csY1" fmla="*/ 0 h 1080001"/>
              <a:gd name="csX2" fmla="*/ 1080002 w 1080001"/>
              <a:gd name="csY2" fmla="*/ 540001 h 1080001"/>
              <a:gd name="csX3" fmla="*/ 540001 w 1080001"/>
              <a:gd name="csY3" fmla="*/ 1080002 h 1080001"/>
              <a:gd name="csX4" fmla="*/ 0 w 1080001"/>
              <a:gd name="csY4" fmla="*/ 540001 h 1080001"/>
            </a:gdLst>
            <a:ahLst/>
            <a:cxnLst>
              <a:cxn ang="0">
                <a:pos x="csX0" y="csY0"/>
              </a:cxn>
              <a:cxn ang="0">
                <a:pos x="csX1" y="csY1"/>
              </a:cxn>
              <a:cxn ang="0">
                <a:pos x="csX2" y="csY2"/>
              </a:cxn>
              <a:cxn ang="0">
                <a:pos x="csX3" y="csY3"/>
              </a:cxn>
              <a:cxn ang="0">
                <a:pos x="csX4" y="csY4"/>
              </a:cxn>
            </a:cxnLst>
            <a:rect l="l" t="t" r="r" b="b"/>
            <a:pathLst>
              <a:path w="1080001" h="1080001">
                <a:moveTo>
                  <a:pt x="0" y="540001"/>
                </a:moveTo>
                <a:cubicBezTo>
                  <a:pt x="0" y="241767"/>
                  <a:pt x="241767" y="0"/>
                  <a:pt x="540001" y="0"/>
                </a:cubicBezTo>
                <a:cubicBezTo>
                  <a:pt x="838235" y="0"/>
                  <a:pt x="1080002" y="241767"/>
                  <a:pt x="1080002" y="540001"/>
                </a:cubicBezTo>
                <a:cubicBezTo>
                  <a:pt x="1080002" y="838235"/>
                  <a:pt x="838235" y="1080002"/>
                  <a:pt x="540001" y="1080002"/>
                </a:cubicBezTo>
                <a:cubicBezTo>
                  <a:pt x="241767" y="1080002"/>
                  <a:pt x="0" y="838235"/>
                  <a:pt x="0" y="540001"/>
                </a:cubicBezTo>
                <a:close/>
              </a:path>
            </a:pathLst>
          </a:custGeom>
          <a:solidFill>
            <a:schemeClr val="accent2"/>
          </a:solidFill>
        </p:spPr>
        <p:style>
          <a:lnRef idx="0">
            <a:schemeClr val="lt1">
              <a:hueOff val="0"/>
              <a:satOff val="0"/>
              <a:lumOff val="0"/>
              <a:alphaOff val="0"/>
            </a:schemeClr>
          </a:lnRef>
          <a:fillRef idx="3">
            <a:scrgbClr r="0" g="0" b="0"/>
          </a:fillRef>
          <a:effectRef idx="2">
            <a:schemeClr val="accent3">
              <a:hueOff val="0"/>
              <a:satOff val="0"/>
              <a:lumOff val="0"/>
              <a:alphaOff val="0"/>
            </a:schemeClr>
          </a:effectRef>
          <a:fontRef idx="minor">
            <a:schemeClr val="lt1"/>
          </a:fontRef>
        </p:style>
        <p:txBody>
          <a:bodyPr spcFirstLastPara="0" vert="horz" wrap="square" lIns="168322" tIns="168322" rIns="168322" bIns="168322" numCol="1" spcCol="1270" anchor="ctr" anchorCtr="0">
            <a:noAutofit/>
          </a:bodyPr>
          <a:lstStyle/>
          <a:p>
            <a:pPr marL="0" lvl="0" indent="0" algn="ctr" defTabSz="711200">
              <a:lnSpc>
                <a:spcPct val="90000"/>
              </a:lnSpc>
              <a:spcBef>
                <a:spcPct val="0"/>
              </a:spcBef>
              <a:spcAft>
                <a:spcPct val="35000"/>
              </a:spcAft>
              <a:buNone/>
            </a:pPr>
            <a:r>
              <a:rPr lang="en-US" altLang="zh-CN" sz="1600" kern="1200"/>
              <a:t>Why</a:t>
            </a:r>
            <a:endParaRPr lang="zh-CN" altLang="en-US" sz="1600" kern="1200"/>
          </a:p>
        </p:txBody>
      </p:sp>
      <p:sp>
        <p:nvSpPr>
          <p:cNvPr id="8" name="矩形: 圆角 7">
            <a:extLst>
              <a:ext uri="{FF2B5EF4-FFF2-40B4-BE49-F238E27FC236}">
                <a16:creationId xmlns:a16="http://schemas.microsoft.com/office/drawing/2014/main" id="{FFB85EC0-65C2-54D0-DF37-43C436EB8286}"/>
              </a:ext>
            </a:extLst>
          </p:cNvPr>
          <p:cNvSpPr/>
          <p:nvPr/>
        </p:nvSpPr>
        <p:spPr>
          <a:xfrm>
            <a:off x="5326215" y="2476199"/>
            <a:ext cx="1440000" cy="432000"/>
          </a:xfrm>
          <a:prstGeom prst="roundRect">
            <a:avLst/>
          </a:pr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更加灵活</a:t>
            </a:r>
          </a:p>
        </p:txBody>
      </p:sp>
      <p:sp>
        <p:nvSpPr>
          <p:cNvPr id="12" name="矩形: 圆角 11">
            <a:extLst>
              <a:ext uri="{FF2B5EF4-FFF2-40B4-BE49-F238E27FC236}">
                <a16:creationId xmlns:a16="http://schemas.microsoft.com/office/drawing/2014/main" id="{28211CC8-45C0-4DBD-90EC-EC31DEF1A945}"/>
              </a:ext>
            </a:extLst>
          </p:cNvPr>
          <p:cNvSpPr/>
          <p:nvPr/>
        </p:nvSpPr>
        <p:spPr>
          <a:xfrm>
            <a:off x="6978469" y="3700095"/>
            <a:ext cx="1440000" cy="432000"/>
          </a:xfrm>
          <a:prstGeom prst="roundRect">
            <a:avLst/>
          </a:prstGeom>
        </p:spPr>
        <p:style>
          <a:lnRef idx="0">
            <a:schemeClr val="lt1">
              <a:hueOff val="0"/>
              <a:satOff val="0"/>
              <a:lumOff val="0"/>
              <a:alphaOff val="0"/>
            </a:schemeClr>
          </a:lnRef>
          <a:fillRef idx="3">
            <a:schemeClr val="accent4">
              <a:hueOff val="3266964"/>
              <a:satOff val="-13592"/>
              <a:lumOff val="3203"/>
              <a:alphaOff val="0"/>
            </a:schemeClr>
          </a:fillRef>
          <a:effectRef idx="2">
            <a:schemeClr val="accent4">
              <a:hueOff val="3266964"/>
              <a:satOff val="-13592"/>
              <a:lumOff val="3203"/>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快速交付</a:t>
            </a:r>
          </a:p>
        </p:txBody>
      </p:sp>
      <p:sp>
        <p:nvSpPr>
          <p:cNvPr id="14" name="矩形: 圆角 13">
            <a:extLst>
              <a:ext uri="{FF2B5EF4-FFF2-40B4-BE49-F238E27FC236}">
                <a16:creationId xmlns:a16="http://schemas.microsoft.com/office/drawing/2014/main" id="{92C30747-6E88-DE49-CCAC-FF77124317AA}"/>
              </a:ext>
            </a:extLst>
          </p:cNvPr>
          <p:cNvSpPr/>
          <p:nvPr/>
        </p:nvSpPr>
        <p:spPr>
          <a:xfrm>
            <a:off x="5326215" y="4923991"/>
            <a:ext cx="1440000" cy="432000"/>
          </a:xfrm>
          <a:prstGeom prst="roundRect">
            <a:avLst/>
          </a:prstGeom>
        </p:spPr>
        <p:style>
          <a:lnRef idx="0">
            <a:schemeClr val="lt1">
              <a:hueOff val="0"/>
              <a:satOff val="0"/>
              <a:lumOff val="0"/>
              <a:alphaOff val="0"/>
            </a:schemeClr>
          </a:lnRef>
          <a:fillRef idx="3">
            <a:schemeClr val="accent4">
              <a:hueOff val="6533927"/>
              <a:satOff val="-27185"/>
              <a:lumOff val="6405"/>
              <a:alphaOff val="0"/>
            </a:schemeClr>
          </a:fillRef>
          <a:effectRef idx="2">
            <a:schemeClr val="accent4">
              <a:hueOff val="6533927"/>
              <a:satOff val="-27185"/>
              <a:lumOff val="6405"/>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持续改进</a:t>
            </a:r>
          </a:p>
        </p:txBody>
      </p:sp>
      <p:sp>
        <p:nvSpPr>
          <p:cNvPr id="16" name="矩形: 圆角 15">
            <a:extLst>
              <a:ext uri="{FF2B5EF4-FFF2-40B4-BE49-F238E27FC236}">
                <a16:creationId xmlns:a16="http://schemas.microsoft.com/office/drawing/2014/main" id="{70F3B8E4-EBAE-671C-23DB-A0DF5A329867}"/>
              </a:ext>
            </a:extLst>
          </p:cNvPr>
          <p:cNvSpPr/>
          <p:nvPr/>
        </p:nvSpPr>
        <p:spPr>
          <a:xfrm>
            <a:off x="3673961" y="3700095"/>
            <a:ext cx="1440000" cy="432000"/>
          </a:xfrm>
          <a:prstGeom prst="roundRect">
            <a:avLst/>
          </a:prstGeom>
        </p:spPr>
        <p:style>
          <a:lnRef idx="0">
            <a:schemeClr val="lt1">
              <a:hueOff val="0"/>
              <a:satOff val="0"/>
              <a:lumOff val="0"/>
              <a:alphaOff val="0"/>
            </a:schemeClr>
          </a:lnRef>
          <a:fillRef idx="3">
            <a:schemeClr val="accent4">
              <a:hueOff val="9800891"/>
              <a:satOff val="-40777"/>
              <a:lumOff val="9608"/>
              <a:alphaOff val="0"/>
            </a:schemeClr>
          </a:fillRef>
          <a:effectRef idx="2">
            <a:schemeClr val="accent4">
              <a:hueOff val="9800891"/>
              <a:satOff val="-40777"/>
              <a:lumOff val="9608"/>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更低风险</a:t>
            </a:r>
          </a:p>
        </p:txBody>
      </p:sp>
      <p:cxnSp>
        <p:nvCxnSpPr>
          <p:cNvPr id="18" name="直接连接符 17">
            <a:extLst>
              <a:ext uri="{FF2B5EF4-FFF2-40B4-BE49-F238E27FC236}">
                <a16:creationId xmlns:a16="http://schemas.microsoft.com/office/drawing/2014/main" id="{CFFC823B-DE55-1555-D5D6-437116836A96}"/>
              </a:ext>
            </a:extLst>
          </p:cNvPr>
          <p:cNvCxnSpPr>
            <a:stCxn id="6" idx="2"/>
            <a:endCxn id="12" idx="1"/>
          </p:cNvCxnSpPr>
          <p:nvPr/>
        </p:nvCxnSpPr>
        <p:spPr>
          <a:xfrm flipV="1">
            <a:off x="6586216" y="3916095"/>
            <a:ext cx="392253" cy="1"/>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CC4147DC-C5DF-FBD5-7A6E-E5FBD8DB21AB}"/>
              </a:ext>
            </a:extLst>
          </p:cNvPr>
          <p:cNvCxnSpPr>
            <a:stCxn id="6" idx="1"/>
            <a:endCxn id="8" idx="2"/>
          </p:cNvCxnSpPr>
          <p:nvPr/>
        </p:nvCxnSpPr>
        <p:spPr>
          <a:xfrm flipV="1">
            <a:off x="6046215" y="2908199"/>
            <a:ext cx="0" cy="467896"/>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3E822E5E-F8B2-EA72-616F-BEA7DFC23842}"/>
              </a:ext>
            </a:extLst>
          </p:cNvPr>
          <p:cNvCxnSpPr>
            <a:stCxn id="6" idx="0"/>
            <a:endCxn id="16" idx="3"/>
          </p:cNvCxnSpPr>
          <p:nvPr/>
        </p:nvCxnSpPr>
        <p:spPr>
          <a:xfrm flipH="1" flipV="1">
            <a:off x="5113961" y="3916095"/>
            <a:ext cx="392253" cy="1"/>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D056DE1F-FC13-A548-3C46-406EBA28D486}"/>
              </a:ext>
            </a:extLst>
          </p:cNvPr>
          <p:cNvCxnSpPr>
            <a:stCxn id="6" idx="3"/>
            <a:endCxn id="14" idx="0"/>
          </p:cNvCxnSpPr>
          <p:nvPr/>
        </p:nvCxnSpPr>
        <p:spPr>
          <a:xfrm>
            <a:off x="6046215" y="4456097"/>
            <a:ext cx="0" cy="46789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7971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DFAC1FE6-F622-CBB6-162C-7B5046F2884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460" y="0"/>
            <a:ext cx="3070746" cy="6858000"/>
          </a:xfrm>
          <a:custGeom>
            <a:avLst/>
            <a:gdLst>
              <a:gd name="csX0" fmla="*/ 604996 w 3070746"/>
              <a:gd name="csY0" fmla="*/ 424207 h 6858000"/>
              <a:gd name="csX1" fmla="*/ 604996 w 3070746"/>
              <a:gd name="csY1" fmla="*/ 603315 h 6858000"/>
              <a:gd name="csX2" fmla="*/ 1000996 w 3070746"/>
              <a:gd name="csY2" fmla="*/ 603315 h 6858000"/>
              <a:gd name="csX3" fmla="*/ 1000996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04996" y="424207"/>
                </a:moveTo>
                <a:lnTo>
                  <a:pt x="604996" y="603315"/>
                </a:lnTo>
                <a:lnTo>
                  <a:pt x="1000996" y="603315"/>
                </a:lnTo>
                <a:lnTo>
                  <a:pt x="1000996" y="424207"/>
                </a:lnTo>
                <a:close/>
                <a:moveTo>
                  <a:pt x="0" y="0"/>
                </a:moveTo>
                <a:lnTo>
                  <a:pt x="3070746" y="0"/>
                </a:lnTo>
                <a:lnTo>
                  <a:pt x="3070746" y="6858000"/>
                </a:lnTo>
                <a:lnTo>
                  <a:pt x="0" y="6858000"/>
                </a:lnTo>
                <a:close/>
              </a:path>
            </a:pathLst>
          </a:custGeom>
        </p:spPr>
      </p:pic>
      <p:pic>
        <p:nvPicPr>
          <p:cNvPr id="18" name="Picture 17">
            <a:extLst>
              <a:ext uri="{FF2B5EF4-FFF2-40B4-BE49-F238E27FC236}">
                <a16:creationId xmlns:a16="http://schemas.microsoft.com/office/drawing/2014/main" id="{D3C3DF6D-99BC-7825-0019-F3B9951D8BD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9119794" y="0"/>
            <a:ext cx="3070746" cy="6858000"/>
          </a:xfrm>
          <a:custGeom>
            <a:avLst/>
            <a:gdLst>
              <a:gd name="csX0" fmla="*/ 1178726 w 3070746"/>
              <a:gd name="csY0" fmla="*/ 5005635 h 6858000"/>
              <a:gd name="csX1" fmla="*/ 1178726 w 3070746"/>
              <a:gd name="csY1" fmla="*/ 5149635 h 6858000"/>
              <a:gd name="csX2" fmla="*/ 2042726 w 3070746"/>
              <a:gd name="csY2" fmla="*/ 5149635 h 6858000"/>
              <a:gd name="csX3" fmla="*/ 2042726 w 3070746"/>
              <a:gd name="csY3" fmla="*/ 5005635 h 6858000"/>
              <a:gd name="csX4" fmla="*/ 592693 w 3070746"/>
              <a:gd name="csY4" fmla="*/ 3429000 h 6858000"/>
              <a:gd name="csX5" fmla="*/ 592693 w 3070746"/>
              <a:gd name="csY5" fmla="*/ 4317478 h 6858000"/>
              <a:gd name="csX6" fmla="*/ 1535373 w 3070746"/>
              <a:gd name="csY6" fmla="*/ 4317478 h 6858000"/>
              <a:gd name="csX7" fmla="*/ 1535373 w 3070746"/>
              <a:gd name="csY7" fmla="*/ 3429000 h 6858000"/>
              <a:gd name="csX8" fmla="*/ 526704 w 3070746"/>
              <a:gd name="csY8" fmla="*/ 711721 h 6858000"/>
              <a:gd name="csX9" fmla="*/ 526704 w 3070746"/>
              <a:gd name="csY9" fmla="*/ 855721 h 6858000"/>
              <a:gd name="csX10" fmla="*/ 1210704 w 3070746"/>
              <a:gd name="csY10" fmla="*/ 855721 h 6858000"/>
              <a:gd name="csX11" fmla="*/ 1210704 w 3070746"/>
              <a:gd name="csY11" fmla="*/ 711721 h 6858000"/>
              <a:gd name="csX12" fmla="*/ 486119 w 3070746"/>
              <a:gd name="csY12" fmla="*/ 424207 h 6858000"/>
              <a:gd name="csX13" fmla="*/ 486119 w 3070746"/>
              <a:gd name="csY13" fmla="*/ 603315 h 6858000"/>
              <a:gd name="csX14" fmla="*/ 882119 w 3070746"/>
              <a:gd name="csY14" fmla="*/ 603315 h 6858000"/>
              <a:gd name="csX15" fmla="*/ 882119 w 3070746"/>
              <a:gd name="csY15" fmla="*/ 424207 h 6858000"/>
              <a:gd name="csX16" fmla="*/ 0 w 3070746"/>
              <a:gd name="csY16" fmla="*/ 0 h 6858000"/>
              <a:gd name="csX17" fmla="*/ 3070746 w 3070746"/>
              <a:gd name="csY17" fmla="*/ 0 h 6858000"/>
              <a:gd name="csX18" fmla="*/ 3070746 w 3070746"/>
              <a:gd name="csY18" fmla="*/ 6858000 h 6858000"/>
              <a:gd name="csX19" fmla="*/ 0 w 3070746"/>
              <a:gd name="csY19"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3070746" h="6858000">
                <a:moveTo>
                  <a:pt x="1178726" y="5005635"/>
                </a:moveTo>
                <a:lnTo>
                  <a:pt x="1178726" y="5149635"/>
                </a:lnTo>
                <a:lnTo>
                  <a:pt x="2042726" y="5149635"/>
                </a:lnTo>
                <a:lnTo>
                  <a:pt x="2042726" y="5005635"/>
                </a:lnTo>
                <a:close/>
                <a:moveTo>
                  <a:pt x="592693" y="3429000"/>
                </a:moveTo>
                <a:lnTo>
                  <a:pt x="592693" y="4317478"/>
                </a:lnTo>
                <a:lnTo>
                  <a:pt x="1535373" y="4317478"/>
                </a:lnTo>
                <a:lnTo>
                  <a:pt x="1535373" y="3429000"/>
                </a:lnTo>
                <a:close/>
                <a:moveTo>
                  <a:pt x="526704" y="711721"/>
                </a:moveTo>
                <a:lnTo>
                  <a:pt x="526704" y="855721"/>
                </a:lnTo>
                <a:lnTo>
                  <a:pt x="1210704" y="855721"/>
                </a:lnTo>
                <a:lnTo>
                  <a:pt x="1210704" y="711721"/>
                </a:lnTo>
                <a:close/>
                <a:moveTo>
                  <a:pt x="486119" y="424207"/>
                </a:moveTo>
                <a:lnTo>
                  <a:pt x="486119" y="603315"/>
                </a:lnTo>
                <a:lnTo>
                  <a:pt x="882119" y="603315"/>
                </a:lnTo>
                <a:lnTo>
                  <a:pt x="882119" y="424207"/>
                </a:lnTo>
                <a:close/>
                <a:moveTo>
                  <a:pt x="0" y="0"/>
                </a:moveTo>
                <a:lnTo>
                  <a:pt x="3070746" y="0"/>
                </a:lnTo>
                <a:lnTo>
                  <a:pt x="3070746" y="6858000"/>
                </a:lnTo>
                <a:lnTo>
                  <a:pt x="0" y="6858000"/>
                </a:lnTo>
                <a:close/>
              </a:path>
            </a:pathLst>
          </a:custGeom>
        </p:spPr>
      </p:pic>
      <p:pic>
        <p:nvPicPr>
          <p:cNvPr id="17" name="Picture 16">
            <a:extLst>
              <a:ext uri="{FF2B5EF4-FFF2-40B4-BE49-F238E27FC236}">
                <a16:creationId xmlns:a16="http://schemas.microsoft.com/office/drawing/2014/main" id="{AFE53AAD-0C6D-3D60-27FC-7D539BABA65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a:xfrm>
            <a:off x="4560628" y="0"/>
            <a:ext cx="3070746" cy="6858000"/>
          </a:xfrm>
          <a:custGeom>
            <a:avLst/>
            <a:gdLst>
              <a:gd name="csX0" fmla="*/ 644539 w 3070746"/>
              <a:gd name="csY0" fmla="*/ 424207 h 6858000"/>
              <a:gd name="csX1" fmla="*/ 644539 w 3070746"/>
              <a:gd name="csY1" fmla="*/ 603315 h 6858000"/>
              <a:gd name="csX2" fmla="*/ 1040539 w 3070746"/>
              <a:gd name="csY2" fmla="*/ 603315 h 6858000"/>
              <a:gd name="csX3" fmla="*/ 1040539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44539" y="424207"/>
                </a:moveTo>
                <a:lnTo>
                  <a:pt x="644539" y="603315"/>
                </a:lnTo>
                <a:lnTo>
                  <a:pt x="1040539" y="603315"/>
                </a:lnTo>
                <a:lnTo>
                  <a:pt x="1040539" y="424207"/>
                </a:lnTo>
                <a:close/>
                <a:moveTo>
                  <a:pt x="0" y="0"/>
                </a:moveTo>
                <a:lnTo>
                  <a:pt x="3070746" y="0"/>
                </a:lnTo>
                <a:lnTo>
                  <a:pt x="3070746" y="6858000"/>
                </a:lnTo>
                <a:lnTo>
                  <a:pt x="0" y="6858000"/>
                </a:lnTo>
                <a:close/>
              </a:path>
            </a:pathLst>
          </a:custGeom>
        </p:spPr>
      </p:pic>
      <p:sp>
        <p:nvSpPr>
          <p:cNvPr id="2" name="箭头: 右 1">
            <a:extLst>
              <a:ext uri="{FF2B5EF4-FFF2-40B4-BE49-F238E27FC236}">
                <a16:creationId xmlns:a16="http://schemas.microsoft.com/office/drawing/2014/main" id="{3CC07BE3-36FD-1A5E-E30E-0BFCD4E5D20D}"/>
              </a:ext>
            </a:extLst>
          </p:cNvPr>
          <p:cNvSpPr/>
          <p:nvPr/>
        </p:nvSpPr>
        <p:spPr>
          <a:xfrm>
            <a:off x="3679257"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3" name="箭头: 右 2">
            <a:extLst>
              <a:ext uri="{FF2B5EF4-FFF2-40B4-BE49-F238E27FC236}">
                <a16:creationId xmlns:a16="http://schemas.microsoft.com/office/drawing/2014/main" id="{7983FC76-3895-2C7E-B132-708320AA1426}"/>
              </a:ext>
            </a:extLst>
          </p:cNvPr>
          <p:cNvSpPr/>
          <p:nvPr/>
        </p:nvSpPr>
        <p:spPr>
          <a:xfrm>
            <a:off x="8238425"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429072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a:solidFill>
                  <a:schemeClr val="bg1"/>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1288338" y="2917183"/>
            <a:ext cx="2247731" cy="307777"/>
          </a:xfrm>
          <a:prstGeom prst="rect">
            <a:avLst/>
          </a:prstGeom>
          <a:noFill/>
        </p:spPr>
        <p:txBody>
          <a:bodyPr wrap="none" rtlCol="0">
            <a:spAutoFit/>
          </a:bodyPr>
          <a:lstStyle/>
          <a:p>
            <a:pPr algn="ctr"/>
            <a:r>
              <a:rPr lang="en-US" altLang="zh-CN" sz="1400">
                <a:solidFill>
                  <a:schemeClr val="bg1"/>
                </a:solidFill>
              </a:rPr>
              <a:t>Case 1 Client </a:t>
            </a:r>
            <a:r>
              <a:rPr lang="zh-CN" altLang="en-US" sz="1400">
                <a:solidFill>
                  <a:schemeClr val="bg1"/>
                </a:solidFill>
              </a:rPr>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B</a:t>
            </a:r>
            <a:endParaRPr lang="zh-CN" altLang="en-US" sz="1200">
              <a:solidFill>
                <a:schemeClr val="bg1"/>
              </a:solidFill>
            </a:endParaRPr>
          </a:p>
        </p:txBody>
      </p:sp>
      <p:sp>
        <p:nvSpPr>
          <p:cNvPr id="9" name="TextBox 8">
            <a:extLst>
              <a:ext uri="{FF2B5EF4-FFF2-40B4-BE49-F238E27FC236}">
                <a16:creationId xmlns:a16="http://schemas.microsoft.com/office/drawing/2014/main" id="{F2C124C7-5E4C-A9C5-FD69-E36868611428}"/>
              </a:ext>
            </a:extLst>
          </p:cNvPr>
          <p:cNvSpPr txBox="1"/>
          <p:nvPr/>
        </p:nvSpPr>
        <p:spPr>
          <a:xfrm>
            <a:off x="4868391" y="2917183"/>
            <a:ext cx="3183885" cy="307777"/>
          </a:xfrm>
          <a:prstGeom prst="rect">
            <a:avLst/>
          </a:prstGeom>
          <a:noFill/>
        </p:spPr>
        <p:txBody>
          <a:bodyPr wrap="none" rtlCol="0">
            <a:spAutoFit/>
          </a:bodyPr>
          <a:lstStyle/>
          <a:p>
            <a:pPr algn="ctr"/>
            <a:r>
              <a:rPr lang="en-US" altLang="zh-CN" sz="1400">
                <a:solidFill>
                  <a:schemeClr val="bg1"/>
                </a:solidFill>
              </a:rPr>
              <a:t>Case 2 Client </a:t>
            </a:r>
            <a:r>
              <a:rPr lang="zh-CN" altLang="en-US" sz="1400">
                <a:solidFill>
                  <a:schemeClr val="bg1"/>
                </a:solidFill>
              </a:rPr>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 </a:t>
            </a:r>
            <a:r>
              <a:rPr lang="zh-CN" altLang="en-US" sz="1200">
                <a:solidFill>
                  <a:schemeClr val="bg1"/>
                </a:solidFill>
              </a:rPr>
              <a:t>→ </a:t>
            </a:r>
            <a:r>
              <a:rPr lang="en-US" altLang="zh-CN" sz="1200">
                <a:solidFill>
                  <a:schemeClr val="bg1"/>
                </a:solidFill>
              </a:rPr>
              <a:t>B</a:t>
            </a:r>
            <a:endParaRPr lang="zh-CN" altLang="en-US" sz="1200">
              <a:solidFill>
                <a:schemeClr val="bg1"/>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002745" cy="523220"/>
          </a:xfrm>
          <a:prstGeom prst="rect">
            <a:avLst/>
          </a:prstGeom>
          <a:noFill/>
        </p:spPr>
        <p:txBody>
          <a:bodyPr wrap="none" rtlCol="0">
            <a:spAutoFit/>
          </a:bodyPr>
          <a:lstStyle/>
          <a:p>
            <a:r>
              <a:rPr lang="en-US" altLang="zh-CN" sz="1400">
                <a:solidFill>
                  <a:schemeClr val="bg1"/>
                </a:solidFill>
              </a:rPr>
              <a:t>Case 3 Client </a:t>
            </a:r>
            <a:r>
              <a:rPr lang="zh-CN" altLang="en-US" sz="1400">
                <a:solidFill>
                  <a:schemeClr val="bg1"/>
                </a:solidFill>
              </a:rPr>
              <a:t>知道并清晰传达需求</a:t>
            </a:r>
            <a:endParaRPr lang="en-US" altLang="zh-CN" sz="1400">
              <a:solidFill>
                <a:schemeClr val="bg1"/>
              </a:solidFill>
            </a:endParaRPr>
          </a:p>
          <a:p>
            <a:r>
              <a:rPr lang="zh-CN" altLang="en-US" sz="1400">
                <a:solidFill>
                  <a:schemeClr val="bg1"/>
                </a:solidFill>
              </a:rPr>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a:solidFill>
                  <a:schemeClr val="bg1"/>
                </a:solidFill>
              </a:rPr>
              <a:t>？？？</a:t>
            </a:r>
            <a:r>
              <a:rPr lang="en-US" altLang="zh-CN" sz="1200">
                <a:solidFill>
                  <a:schemeClr val="bg1"/>
                </a:solidFill>
              </a:rPr>
              <a:t>/ B</a:t>
            </a:r>
            <a:endParaRPr lang="zh-CN" altLang="en-US" sz="1200">
              <a:solidFill>
                <a:schemeClr val="bg1"/>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2983509" cy="307777"/>
          </a:xfrm>
          <a:prstGeom prst="rect">
            <a:avLst/>
          </a:prstGeom>
          <a:noFill/>
        </p:spPr>
        <p:txBody>
          <a:bodyPr wrap="none" rtlCol="0">
            <a:spAutoFit/>
          </a:bodyPr>
          <a:lstStyle/>
          <a:p>
            <a:r>
              <a:rPr lang="en-US" altLang="zh-CN" sz="1400">
                <a:solidFill>
                  <a:schemeClr val="bg1"/>
                </a:solidFill>
              </a:rPr>
              <a:t>Case 4 </a:t>
            </a:r>
            <a:r>
              <a:rPr lang="zh-CN" altLang="en-US" sz="1400">
                <a:solidFill>
                  <a:schemeClr val="bg1"/>
                </a:solidFill>
              </a:rPr>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2965877" cy="307777"/>
          </a:xfrm>
          <a:prstGeom prst="rect">
            <a:avLst/>
          </a:prstGeom>
          <a:noFill/>
        </p:spPr>
        <p:txBody>
          <a:bodyPr wrap="none" rtlCol="0">
            <a:spAutoFit/>
          </a:bodyPr>
          <a:lstStyle/>
          <a:p>
            <a:r>
              <a:rPr lang="en-US" altLang="zh-CN" sz="1400">
                <a:solidFill>
                  <a:schemeClr val="bg1"/>
                </a:solidFill>
              </a:rPr>
              <a:t>Case 5 </a:t>
            </a:r>
            <a:r>
              <a:rPr lang="zh-CN" altLang="en-US" sz="1400">
                <a:solidFill>
                  <a:schemeClr val="bg1"/>
                </a:solidFill>
              </a:rPr>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695998" y="360000"/>
            <a:ext cx="6375921" cy="429413"/>
          </a:xfrm>
        </p:spPr>
        <p:txBody>
          <a:bodyPr>
            <a:normAutofit/>
          </a:bodyPr>
          <a:lstStyle/>
          <a:p>
            <a:r>
              <a:rPr lang="en-US" altLang="zh-CN"/>
              <a:t>4.2 </a:t>
            </a:r>
            <a:r>
              <a:rPr lang="zh-CN" altLang="en-US"/>
              <a:t>敏捷软件开发宣言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400000"/>
          </a:xfrm>
        </p:spPr>
        <p:txBody>
          <a:bodyPr/>
          <a:lstStyle/>
          <a:p>
            <a:r>
              <a:rPr lang="en-US" altLang="zh-CN"/>
              <a:t>Manifesto for Agile </a:t>
            </a:r>
            <a:r>
              <a:rPr lang="en-US" altLang="zh-CN" b="1">
                <a:solidFill>
                  <a:srgbClr val="FFFF00"/>
                </a:solidFill>
              </a:rPr>
              <a:t>Software</a:t>
            </a:r>
            <a:r>
              <a:rPr lang="en-US" altLang="zh-CN"/>
              <a:t> Development</a:t>
            </a:r>
          </a:p>
          <a:p>
            <a:r>
              <a:rPr lang="zh-CN" altLang="en-US"/>
              <a:t>简称敏捷宣言</a:t>
            </a:r>
            <a:endParaRPr lang="en-US" altLang="zh-CN"/>
          </a:p>
          <a:p>
            <a:r>
              <a:rPr lang="zh-CN" altLang="en-US"/>
              <a:t>聚焦软件项目管理</a:t>
            </a:r>
            <a:endParaRPr lang="en-US" altLang="zh-CN"/>
          </a:p>
          <a:p>
            <a:r>
              <a:rPr lang="en-US" altLang="zh-CN"/>
              <a:t>2001</a:t>
            </a:r>
            <a:r>
              <a:rPr lang="zh-CN" altLang="en-US"/>
              <a:t>年，</a:t>
            </a:r>
            <a:r>
              <a:rPr lang="en-US" altLang="zh-CN"/>
              <a:t>17</a:t>
            </a:r>
            <a:r>
              <a:rPr lang="zh-CN" altLang="en-US"/>
              <a:t>位软件开发专家在美国犹他州雪鸟滑雪度假村聚会，共同起草</a:t>
            </a:r>
            <a:endParaRPr lang="en-US" altLang="zh-CN"/>
          </a:p>
          <a:p>
            <a:r>
              <a:rPr lang="zh-CN" altLang="en-US"/>
              <a:t>应对迅速变化需求的快速软件开发方法</a:t>
            </a:r>
          </a:p>
          <a:p>
            <a:r>
              <a:rPr lang="zh-CN" altLang="en-US"/>
              <a:t>是一种迭代、循序渐进的开发方法</a:t>
            </a:r>
            <a:endParaRPr lang="en-US" altLang="zh-CN"/>
          </a:p>
          <a:p>
            <a:r>
              <a:rPr lang="zh-CN" altLang="en-US"/>
              <a:t>体现的是一种思维模式 </a:t>
            </a:r>
            <a:r>
              <a:rPr lang="en-US" altLang="zh-CN"/>
              <a:t> Thinking</a:t>
            </a:r>
          </a:p>
          <a:p>
            <a:r>
              <a:rPr lang="en-US" altLang="zh-CN">
                <a:hlinkClick r:id="rId2"/>
              </a:rPr>
              <a:t>https://agilemanifesto.org/</a:t>
            </a:r>
            <a:r>
              <a:rPr lang="en-US" altLang="zh-CN"/>
              <a:t> </a:t>
            </a:r>
          </a:p>
          <a:p>
            <a:endParaRPr lang="en-US" altLang="zh-CN"/>
          </a:p>
          <a:p>
            <a:endParaRPr lang="en-US" altLang="zh-CN"/>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448519"/>
            <a:ext cx="4424080" cy="338554"/>
          </a:xfrm>
        </p:spPr>
        <p:txBody>
          <a:bodyPr/>
          <a:lstStyle/>
          <a:p>
            <a:r>
              <a:rPr lang="en-US" altLang="zh-CN"/>
              <a:t>Agile Manifesto</a:t>
            </a:r>
            <a:endParaRPr lang="zh-CN" altLang="en-US"/>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chemeClr val="accent2"/>
          </a:solidFill>
        </p:spPr>
        <p:txBody>
          <a:bodyPr wrap="square" lIns="180000" tIns="180000" rIns="180000" bIns="180000" rtlCol="0">
            <a:spAutoFit/>
          </a:bodyPr>
          <a:lstStyle/>
          <a:p>
            <a:pPr>
              <a:lnSpc>
                <a:spcPct val="150000"/>
              </a:lnSpc>
            </a:pPr>
            <a:r>
              <a:rPr lang="zh-CN" altLang="en-US">
                <a:solidFill>
                  <a:schemeClr val="bg1"/>
                </a:solidFill>
              </a:rPr>
              <a:t>敏捷是创造并响应变化，从而在动荡的商业环境中创造利润的能力。敏捷是平衡灵活性和稳定性的能力。</a:t>
            </a:r>
            <a:endParaRPr lang="en-US" altLang="zh-CN">
              <a:solidFill>
                <a:schemeClr val="bg1"/>
              </a:solidFill>
            </a:endParaRPr>
          </a:p>
          <a:p>
            <a:pPr algn="r">
              <a:lnSpc>
                <a:spcPct val="150000"/>
              </a:lnSpc>
            </a:pPr>
            <a:r>
              <a:rPr lang="en-US" altLang="zh-CN">
                <a:solidFill>
                  <a:schemeClr val="bg1"/>
                </a:solidFill>
              </a:rPr>
              <a:t>——</a:t>
            </a:r>
            <a:r>
              <a:rPr lang="zh-CN" altLang="en-US">
                <a:solidFill>
                  <a:schemeClr val="bg1"/>
                </a:solidFill>
              </a:rPr>
              <a:t>吉姆</a:t>
            </a:r>
            <a:r>
              <a:rPr lang="en-US" altLang="zh-CN">
                <a:solidFill>
                  <a:schemeClr val="bg1"/>
                </a:solidFill>
              </a:rPr>
              <a:t>·</a:t>
            </a:r>
            <a:r>
              <a:rPr lang="zh-CN" altLang="en-US">
                <a:solidFill>
                  <a:schemeClr val="bg1"/>
                </a:solidFill>
              </a:rPr>
              <a:t>海斯密斯，</a:t>
            </a:r>
            <a:r>
              <a:rPr lang="en-US" altLang="zh-CN">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695998" y="360000"/>
            <a:ext cx="6375921" cy="429413"/>
          </a:xfrm>
        </p:spPr>
        <p:txBody>
          <a:bodyPr>
            <a:normAutofit/>
          </a:bodyPr>
          <a:lstStyle/>
          <a:p>
            <a:r>
              <a:rPr lang="en-US" altLang="zh-CN"/>
              <a:t>4.2.1 </a:t>
            </a:r>
            <a:r>
              <a:rPr lang="zh-CN" altLang="en-US"/>
              <a:t>敏捷宣言四个核心价值</a:t>
            </a:r>
            <a:endParaRPr lang="en-US" altLang="zh-CN"/>
          </a:p>
        </p:txBody>
      </p:sp>
      <p:sp>
        <p:nvSpPr>
          <p:cNvPr id="100" name="内容占位符 99">
            <a:extLst>
              <a:ext uri="{FF2B5EF4-FFF2-40B4-BE49-F238E27FC236}">
                <a16:creationId xmlns:a16="http://schemas.microsoft.com/office/drawing/2014/main" id="{E816C42D-684E-2066-2532-51F4020AC557}"/>
              </a:ext>
            </a:extLst>
          </p:cNvPr>
          <p:cNvSpPr>
            <a:spLocks noGrp="1"/>
          </p:cNvSpPr>
          <p:nvPr>
            <p:ph idx="1"/>
          </p:nvPr>
        </p:nvSpPr>
        <p:spPr>
          <a:xfrm>
            <a:off x="696000" y="864000"/>
            <a:ext cx="10800000" cy="5400000"/>
          </a:xfrm>
        </p:spPr>
        <p:txBody>
          <a:bodyPr/>
          <a:lstStyle/>
          <a:p>
            <a:endParaRPr lang="zh-CN" altLang="en-US"/>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1919" y="448519"/>
            <a:ext cx="4424080" cy="338554"/>
          </a:xfrm>
        </p:spPr>
        <p:txBody>
          <a:bodyPr/>
          <a:lstStyle/>
          <a:p>
            <a:r>
              <a:rPr lang="en-US" altLang="zh-CN"/>
              <a:t>4 Values/Agile Manifesto</a:t>
            </a:r>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1453904"/>
            <a:ext cx="1338828" cy="369332"/>
          </a:xfrm>
          <a:prstGeom prst="rect">
            <a:avLst/>
          </a:prstGeom>
          <a:noFill/>
        </p:spPr>
        <p:txBody>
          <a:bodyPr wrap="none" rtlCol="0">
            <a:spAutoFit/>
          </a:bodyPr>
          <a:lstStyle/>
          <a:p>
            <a:pPr algn="r"/>
            <a:r>
              <a:rPr lang="zh-CN" altLang="en-US">
                <a:solidFill>
                  <a:schemeClr val="bg1"/>
                </a:solidFill>
              </a:rPr>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1453904"/>
            <a:ext cx="1338828" cy="369332"/>
          </a:xfrm>
          <a:prstGeom prst="rect">
            <a:avLst/>
          </a:prstGeom>
          <a:noFill/>
        </p:spPr>
        <p:txBody>
          <a:bodyPr wrap="none" rtlCol="0">
            <a:spAutoFit/>
          </a:bodyPr>
          <a:lstStyle/>
          <a:p>
            <a:r>
              <a:rPr lang="zh-CN" altLang="en-US">
                <a:solidFill>
                  <a:schemeClr val="bg1"/>
                </a:solidFill>
              </a:rPr>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2208647"/>
            <a:ext cx="1569660" cy="369332"/>
          </a:xfrm>
          <a:prstGeom prst="rect">
            <a:avLst/>
          </a:prstGeom>
          <a:noFill/>
        </p:spPr>
        <p:txBody>
          <a:bodyPr wrap="none" rtlCol="0">
            <a:spAutoFit/>
          </a:bodyPr>
          <a:lstStyle/>
          <a:p>
            <a:pPr algn="r"/>
            <a:r>
              <a:rPr lang="zh-CN" altLang="en-US">
                <a:solidFill>
                  <a:schemeClr val="bg1"/>
                </a:solidFill>
              </a:rPr>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2208647"/>
            <a:ext cx="1338828" cy="369332"/>
          </a:xfrm>
          <a:prstGeom prst="rect">
            <a:avLst/>
          </a:prstGeom>
          <a:noFill/>
        </p:spPr>
        <p:txBody>
          <a:bodyPr wrap="none" rtlCol="0">
            <a:spAutoFit/>
          </a:bodyPr>
          <a:lstStyle/>
          <a:p>
            <a:r>
              <a:rPr lang="zh-CN" altLang="en-US">
                <a:solidFill>
                  <a:schemeClr val="bg1"/>
                </a:solidFill>
              </a:rPr>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2963390"/>
            <a:ext cx="1107996" cy="369332"/>
          </a:xfrm>
          <a:prstGeom prst="rect">
            <a:avLst/>
          </a:prstGeom>
          <a:noFill/>
        </p:spPr>
        <p:txBody>
          <a:bodyPr wrap="none" rtlCol="0">
            <a:spAutoFit/>
          </a:bodyPr>
          <a:lstStyle/>
          <a:p>
            <a:pPr algn="r"/>
            <a:r>
              <a:rPr lang="zh-CN" altLang="en-US">
                <a:solidFill>
                  <a:schemeClr val="bg1"/>
                </a:solidFill>
              </a:rPr>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2963390"/>
            <a:ext cx="1107996" cy="369332"/>
          </a:xfrm>
          <a:prstGeom prst="rect">
            <a:avLst/>
          </a:prstGeom>
          <a:noFill/>
        </p:spPr>
        <p:txBody>
          <a:bodyPr wrap="none" rtlCol="0">
            <a:spAutoFit/>
          </a:bodyPr>
          <a:lstStyle/>
          <a:p>
            <a:r>
              <a:rPr lang="zh-CN" altLang="en-US">
                <a:solidFill>
                  <a:schemeClr val="bg1"/>
                </a:solidFill>
              </a:rPr>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3718133"/>
            <a:ext cx="1107996" cy="369332"/>
          </a:xfrm>
          <a:prstGeom prst="rect">
            <a:avLst/>
          </a:prstGeom>
          <a:noFill/>
        </p:spPr>
        <p:txBody>
          <a:bodyPr wrap="none" rtlCol="0">
            <a:spAutoFit/>
          </a:bodyPr>
          <a:lstStyle/>
          <a:p>
            <a:pPr algn="r"/>
            <a:r>
              <a:rPr lang="zh-CN" altLang="en-US">
                <a:solidFill>
                  <a:schemeClr val="bg1"/>
                </a:solidFill>
              </a:rPr>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3718133"/>
            <a:ext cx="1107996" cy="369332"/>
          </a:xfrm>
          <a:prstGeom prst="rect">
            <a:avLst/>
          </a:prstGeom>
          <a:noFill/>
        </p:spPr>
        <p:txBody>
          <a:bodyPr wrap="none" rtlCol="0">
            <a:spAutoFit/>
          </a:bodyPr>
          <a:lstStyle/>
          <a:p>
            <a:r>
              <a:rPr lang="zh-CN" altLang="en-US">
                <a:solidFill>
                  <a:schemeClr val="bg1"/>
                </a:solidFill>
              </a:rPr>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521217"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solidFill>
                <a:schemeClr val="bg1"/>
              </a:solidFill>
            </a:endParaRPr>
          </a:p>
        </p:txBody>
      </p:sp>
      <p:sp>
        <p:nvSpPr>
          <p:cNvPr id="24" name="箭头: 右 23">
            <a:extLst>
              <a:ext uri="{FF2B5EF4-FFF2-40B4-BE49-F238E27FC236}">
                <a16:creationId xmlns:a16="http://schemas.microsoft.com/office/drawing/2014/main" id="{EFBE2482-DBFF-80CF-A9F1-8D1467668880}"/>
              </a:ext>
            </a:extLst>
          </p:cNvPr>
          <p:cNvSpPr/>
          <p:nvPr/>
        </p:nvSpPr>
        <p:spPr>
          <a:xfrm flipH="1">
            <a:off x="5381534"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521217"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solidFill>
                <a:schemeClr val="bg1"/>
              </a:solidFill>
            </a:endParaRPr>
          </a:p>
        </p:txBody>
      </p:sp>
      <p:sp>
        <p:nvSpPr>
          <p:cNvPr id="28" name="箭头: 右 27">
            <a:extLst>
              <a:ext uri="{FF2B5EF4-FFF2-40B4-BE49-F238E27FC236}">
                <a16:creationId xmlns:a16="http://schemas.microsoft.com/office/drawing/2014/main" id="{ADC70125-0912-DA1C-7E15-A62DCEEE3881}"/>
              </a:ext>
            </a:extLst>
          </p:cNvPr>
          <p:cNvSpPr/>
          <p:nvPr/>
        </p:nvSpPr>
        <p:spPr>
          <a:xfrm flipH="1">
            <a:off x="5381534"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521217"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solidFill>
                <a:schemeClr val="bg1"/>
              </a:solidFill>
            </a:endParaRPr>
          </a:p>
        </p:txBody>
      </p:sp>
      <p:sp>
        <p:nvSpPr>
          <p:cNvPr id="31" name="箭头: 右 30">
            <a:extLst>
              <a:ext uri="{FF2B5EF4-FFF2-40B4-BE49-F238E27FC236}">
                <a16:creationId xmlns:a16="http://schemas.microsoft.com/office/drawing/2014/main" id="{3DFF4F37-E924-F619-EB24-EB79BBB364EC}"/>
              </a:ext>
            </a:extLst>
          </p:cNvPr>
          <p:cNvSpPr/>
          <p:nvPr/>
        </p:nvSpPr>
        <p:spPr>
          <a:xfrm flipH="1">
            <a:off x="5381534"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521217"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solidFill>
                <a:schemeClr val="bg1"/>
              </a:solidFill>
            </a:endParaRPr>
          </a:p>
        </p:txBody>
      </p:sp>
      <p:sp>
        <p:nvSpPr>
          <p:cNvPr id="34" name="箭头: 右 33">
            <a:extLst>
              <a:ext uri="{FF2B5EF4-FFF2-40B4-BE49-F238E27FC236}">
                <a16:creationId xmlns:a16="http://schemas.microsoft.com/office/drawing/2014/main" id="{80F1BCC5-3E18-E230-C4FF-AE375EF44A4B}"/>
              </a:ext>
            </a:extLst>
          </p:cNvPr>
          <p:cNvSpPr/>
          <p:nvPr/>
        </p:nvSpPr>
        <p:spPr>
          <a:xfrm flipH="1">
            <a:off x="5381534"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5" name="椭圆 4">
            <a:extLst>
              <a:ext uri="{FF2B5EF4-FFF2-40B4-BE49-F238E27FC236}">
                <a16:creationId xmlns:a16="http://schemas.microsoft.com/office/drawing/2014/main" id="{DE3AEB75-F575-0B94-5645-AB22AFCBB6E2}"/>
              </a:ext>
            </a:extLst>
          </p:cNvPr>
          <p:cNvSpPr/>
          <p:nvPr/>
        </p:nvSpPr>
        <p:spPr>
          <a:xfrm>
            <a:off x="5664000" y="2213313"/>
            <a:ext cx="864000" cy="360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a:t>over</a:t>
            </a: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664000" y="1458570"/>
            <a:ext cx="864000" cy="360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Over</a:t>
            </a:r>
            <a:endParaRPr lang="zh-CN" altLang="en-US" sz="1600"/>
          </a:p>
        </p:txBody>
      </p:sp>
      <p:sp>
        <p:nvSpPr>
          <p:cNvPr id="7" name="椭圆 6">
            <a:extLst>
              <a:ext uri="{FF2B5EF4-FFF2-40B4-BE49-F238E27FC236}">
                <a16:creationId xmlns:a16="http://schemas.microsoft.com/office/drawing/2014/main" id="{DA023A71-64A8-65B7-D208-F51499E3C351}"/>
              </a:ext>
            </a:extLst>
          </p:cNvPr>
          <p:cNvSpPr/>
          <p:nvPr/>
        </p:nvSpPr>
        <p:spPr>
          <a:xfrm>
            <a:off x="5664000" y="2968056"/>
            <a:ext cx="864000" cy="360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altLang="zh-CN"/>
              <a:t>over</a:t>
            </a: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664000" y="3722799"/>
            <a:ext cx="864000" cy="360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a:t>over</a:t>
            </a:r>
            <a:endParaRPr lang="zh-CN" altLang="en-US"/>
          </a:p>
        </p:txBody>
      </p:sp>
      <p:pic>
        <p:nvPicPr>
          <p:cNvPr id="35" name="图形 34" descr="女人群">
            <a:extLst>
              <a:ext uri="{FF2B5EF4-FFF2-40B4-BE49-F238E27FC236}">
                <a16:creationId xmlns:a16="http://schemas.microsoft.com/office/drawing/2014/main" id="{F0D1B064-ABB9-E1A3-1F77-0C7AC3F1B1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33806" y="1368570"/>
            <a:ext cx="540000" cy="540000"/>
          </a:xfrm>
          <a:prstGeom prst="rect">
            <a:avLst/>
          </a:prstGeom>
        </p:spPr>
      </p:pic>
      <p:pic>
        <p:nvPicPr>
          <p:cNvPr id="37" name="图形 36" descr="工作流">
            <a:extLst>
              <a:ext uri="{FF2B5EF4-FFF2-40B4-BE49-F238E27FC236}">
                <a16:creationId xmlns:a16="http://schemas.microsoft.com/office/drawing/2014/main" id="{298F81CE-AB95-0602-9FD6-6C76D85EB0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18194" y="1368570"/>
            <a:ext cx="540000" cy="540000"/>
          </a:xfrm>
          <a:prstGeom prst="rect">
            <a:avLst/>
          </a:prstGeom>
        </p:spPr>
      </p:pic>
      <p:pic>
        <p:nvPicPr>
          <p:cNvPr id="39" name="图形 38" descr="会议室">
            <a:extLst>
              <a:ext uri="{FF2B5EF4-FFF2-40B4-BE49-F238E27FC236}">
                <a16:creationId xmlns:a16="http://schemas.microsoft.com/office/drawing/2014/main" id="{2904CFFF-FDCE-8F65-0ED4-AF03939B75D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8194" y="2878056"/>
            <a:ext cx="540000" cy="540000"/>
          </a:xfrm>
          <a:prstGeom prst="rect">
            <a:avLst/>
          </a:prstGeom>
        </p:spPr>
      </p:pic>
      <p:pic>
        <p:nvPicPr>
          <p:cNvPr id="41" name="图形 40" descr="清单">
            <a:extLst>
              <a:ext uri="{FF2B5EF4-FFF2-40B4-BE49-F238E27FC236}">
                <a16:creationId xmlns:a16="http://schemas.microsoft.com/office/drawing/2014/main" id="{C31E3BF3-841F-0A27-7143-781506213F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18194" y="3633167"/>
            <a:ext cx="540000" cy="540000"/>
          </a:xfrm>
          <a:prstGeom prst="rect">
            <a:avLst/>
          </a:prstGeom>
        </p:spPr>
      </p:pic>
      <p:pic>
        <p:nvPicPr>
          <p:cNvPr id="43" name="图形 42" descr="握手">
            <a:extLst>
              <a:ext uri="{FF2B5EF4-FFF2-40B4-BE49-F238E27FC236}">
                <a16:creationId xmlns:a16="http://schemas.microsoft.com/office/drawing/2014/main" id="{C32202C2-4317-E86E-C68F-B2D33C5823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33806" y="2878056"/>
            <a:ext cx="540000" cy="540000"/>
          </a:xfrm>
          <a:prstGeom prst="rect">
            <a:avLst/>
          </a:prstGeom>
        </p:spPr>
      </p:pic>
      <p:pic>
        <p:nvPicPr>
          <p:cNvPr id="45" name="图形 44" descr="剪刀">
            <a:extLst>
              <a:ext uri="{FF2B5EF4-FFF2-40B4-BE49-F238E27FC236}">
                <a16:creationId xmlns:a16="http://schemas.microsoft.com/office/drawing/2014/main" id="{FB62840E-4A7F-9DB1-433B-4746014C97E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17064" y="3632799"/>
            <a:ext cx="540000" cy="540000"/>
          </a:xfrm>
          <a:prstGeom prst="rect">
            <a:avLst/>
          </a:prstGeom>
        </p:spPr>
      </p:pic>
      <p:pic>
        <p:nvPicPr>
          <p:cNvPr id="47" name="图形 46" descr="硬币">
            <a:extLst>
              <a:ext uri="{FF2B5EF4-FFF2-40B4-BE49-F238E27FC236}">
                <a16:creationId xmlns:a16="http://schemas.microsoft.com/office/drawing/2014/main" id="{7D139B55-ACC5-69AB-99B1-5BF5C293C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17064" y="2123313"/>
            <a:ext cx="540000" cy="540000"/>
          </a:xfrm>
          <a:prstGeom prst="rect">
            <a:avLst/>
          </a:prstGeom>
        </p:spPr>
      </p:pic>
      <p:graphicFrame>
        <p:nvGraphicFramePr>
          <p:cNvPr id="60" name="表格 59">
            <a:extLst>
              <a:ext uri="{FF2B5EF4-FFF2-40B4-BE49-F238E27FC236}">
                <a16:creationId xmlns:a16="http://schemas.microsoft.com/office/drawing/2014/main" id="{75C35E4B-E91C-C124-C09B-3FC17D6439C9}"/>
              </a:ext>
            </a:extLst>
          </p:cNvPr>
          <p:cNvGraphicFramePr>
            <a:graphicFrameLocks noGrp="1"/>
          </p:cNvGraphicFramePr>
          <p:nvPr>
            <p:extLst>
              <p:ext uri="{D42A27DB-BD31-4B8C-83A1-F6EECF244321}">
                <p14:modId xmlns:p14="http://schemas.microsoft.com/office/powerpoint/2010/main" val="4091210115"/>
              </p:ext>
            </p:extLst>
          </p:nvPr>
        </p:nvGraphicFramePr>
        <p:xfrm>
          <a:off x="696675" y="4587600"/>
          <a:ext cx="10800000" cy="1676400"/>
        </p:xfrm>
        <a:graphic>
          <a:graphicData uri="http://schemas.openxmlformats.org/drawingml/2006/table">
            <a:tbl>
              <a:tblPr firstRow="1" bandRow="1">
                <a:tableStyleId>{2D5ABB26-0587-4C30-8999-92F81FD0307C}</a:tableStyleId>
              </a:tblPr>
              <a:tblGrid>
                <a:gridCol w="693975">
                  <a:extLst>
                    <a:ext uri="{9D8B030D-6E8A-4147-A177-3AD203B41FA5}">
                      <a16:colId xmlns:a16="http://schemas.microsoft.com/office/drawing/2014/main" val="3725992743"/>
                    </a:ext>
                  </a:extLst>
                </a:gridCol>
                <a:gridCol w="6753225">
                  <a:extLst>
                    <a:ext uri="{9D8B030D-6E8A-4147-A177-3AD203B41FA5}">
                      <a16:colId xmlns:a16="http://schemas.microsoft.com/office/drawing/2014/main" val="4196879630"/>
                    </a:ext>
                  </a:extLst>
                </a:gridCol>
                <a:gridCol w="3352800">
                  <a:extLst>
                    <a:ext uri="{9D8B030D-6E8A-4147-A177-3AD203B41FA5}">
                      <a16:colId xmlns:a16="http://schemas.microsoft.com/office/drawing/2014/main" val="4052226736"/>
                    </a:ext>
                  </a:extLst>
                </a:gridCol>
              </a:tblGrid>
              <a:tr h="0">
                <a:tc>
                  <a:txBody>
                    <a:bodyPr/>
                    <a:lstStyle/>
                    <a:p>
                      <a:pPr algn="ct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Values</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Description</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27310528"/>
                  </a:ext>
                </a:extLst>
              </a:tr>
              <a:tr h="0">
                <a:tc>
                  <a:txBody>
                    <a:bodyPr/>
                    <a:lstStyle/>
                    <a:p>
                      <a:pPr algn="ctr"/>
                      <a:r>
                        <a:rPr lang="en-US" altLang="zh-CN" sz="1600">
                          <a:solidFill>
                            <a:schemeClr val="bg1"/>
                          </a:solidFill>
                        </a:rPr>
                        <a:t>1</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Individuals and interactions over processes and tools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以人为本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61210562"/>
                  </a:ext>
                </a:extLst>
              </a:tr>
              <a:tr h="0">
                <a:tc>
                  <a:txBody>
                    <a:bodyPr/>
                    <a:lstStyle/>
                    <a:p>
                      <a:pPr algn="ctr"/>
                      <a:r>
                        <a:rPr lang="en-US" altLang="zh-CN" sz="1600">
                          <a:solidFill>
                            <a:schemeClr val="bg1"/>
                          </a:solidFill>
                        </a:rPr>
                        <a:t>2</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Working software over comprehensive documentation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以价值为导向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72813"/>
                  </a:ext>
                </a:extLst>
              </a:tr>
              <a:tr h="0">
                <a:tc>
                  <a:txBody>
                    <a:bodyPr/>
                    <a:lstStyle/>
                    <a:p>
                      <a:pPr algn="ctr"/>
                      <a:r>
                        <a:rPr lang="en-US" altLang="zh-CN" sz="1600">
                          <a:solidFill>
                            <a:schemeClr val="bg1"/>
                          </a:solidFill>
                        </a:rPr>
                        <a:t>3</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Customer collaboration over contract negotiation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合作共赢</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5891638"/>
                  </a:ext>
                </a:extLst>
              </a:tr>
              <a:tr h="0">
                <a:tc>
                  <a:txBody>
                    <a:bodyPr/>
                    <a:lstStyle/>
                    <a:p>
                      <a:pPr algn="ctr"/>
                      <a:r>
                        <a:rPr lang="en-US" altLang="zh-CN" sz="1600">
                          <a:solidFill>
                            <a:schemeClr val="bg1"/>
                          </a:solidFill>
                        </a:rPr>
                        <a:t>4</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Responding to change over following a plan</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拥抱变化</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7981243"/>
                  </a:ext>
                </a:extLst>
              </a:tr>
            </a:tbl>
          </a:graphicData>
        </a:graphic>
      </p:graphicFrame>
      <p:pic>
        <p:nvPicPr>
          <p:cNvPr id="97" name="内容占位符 28" descr="文档">
            <a:extLst>
              <a:ext uri="{FF2B5EF4-FFF2-40B4-BE49-F238E27FC236}">
                <a16:creationId xmlns:a16="http://schemas.microsoft.com/office/drawing/2014/main" id="{CD79E5BA-E4F2-F03C-64BA-0CBECD25DDD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18194" y="2126153"/>
            <a:ext cx="540000" cy="540000"/>
          </a:xfrm>
          <a:prstGeom prst="rect">
            <a:avLst/>
          </a:prstGeom>
        </p:spPr>
      </p:pic>
    </p:spTree>
    <p:extLst>
      <p:ext uri="{BB962C8B-B14F-4D97-AF65-F5344CB8AC3E}">
        <p14:creationId xmlns:p14="http://schemas.microsoft.com/office/powerpoint/2010/main" val="220140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695998"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26014FC5-2A51-4FA2-3282-61CEB7DEA9E5}"/>
              </a:ext>
            </a:extLst>
          </p:cNvPr>
          <p:cNvSpPr>
            <a:spLocks noGrp="1"/>
          </p:cNvSpPr>
          <p:nvPr>
            <p:ph idx="1"/>
          </p:nvPr>
        </p:nvSpPr>
        <p:spPr>
          <a:xfrm>
            <a:off x="696000" y="864000"/>
            <a:ext cx="10800000" cy="5400000"/>
          </a:xfrm>
        </p:spPr>
        <p:txBody>
          <a:bodyPr/>
          <a:lstStyle/>
          <a:p>
            <a:r>
              <a:rPr lang="zh-CN" altLang="en-US"/>
              <a:t>第 </a:t>
            </a:r>
            <a:r>
              <a:rPr lang="en-US" altLang="zh-CN"/>
              <a:t>1-3 </a:t>
            </a:r>
            <a:r>
              <a:rPr lang="zh-CN" altLang="en-US"/>
              <a:t>条：关注“做什么”（交付价值、应对变化、快速产出）</a:t>
            </a:r>
          </a:p>
          <a:p>
            <a:r>
              <a:rPr lang="zh-CN" altLang="en-US"/>
              <a:t>第 </a:t>
            </a:r>
            <a:r>
              <a:rPr lang="en-US" altLang="zh-CN"/>
              <a:t>4-6 </a:t>
            </a:r>
            <a:r>
              <a:rPr lang="zh-CN" altLang="en-US"/>
              <a:t>条：关注“谁来做”和“怎么做”（人、沟通、信任）</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10" name="表格 9">
            <a:extLst>
              <a:ext uri="{FF2B5EF4-FFF2-40B4-BE49-F238E27FC236}">
                <a16:creationId xmlns:a16="http://schemas.microsoft.com/office/drawing/2014/main" id="{81D00E33-6098-7F64-F31C-7A0A85E5494E}"/>
              </a:ext>
            </a:extLst>
          </p:cNvPr>
          <p:cNvGraphicFramePr>
            <a:graphicFrameLocks noGrp="1"/>
          </p:cNvGraphicFramePr>
          <p:nvPr>
            <p:extLst>
              <p:ext uri="{D42A27DB-BD31-4B8C-83A1-F6EECF244321}">
                <p14:modId xmlns:p14="http://schemas.microsoft.com/office/powerpoint/2010/main" val="310745880"/>
              </p:ext>
            </p:extLst>
          </p:nvPr>
        </p:nvGraphicFramePr>
        <p:xfrm>
          <a:off x="695997" y="1783440"/>
          <a:ext cx="10800000" cy="448056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English</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altLang="zh-CN" sz="1400" b="0">
                          <a:solidFill>
                            <a:schemeClr val="bg1"/>
                          </a:solidFill>
                          <a:effectLst/>
                        </a:rPr>
                        <a:t>Chinese </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Key Focus</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b="0">
                          <a:solidFill>
                            <a:schemeClr val="bg1"/>
                          </a:solidFill>
                          <a:effectLst/>
                        </a:rPr>
                        <a:t>1</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Our highest </a:t>
                      </a:r>
                      <a:r>
                        <a:rPr lang="en-US" sz="1400" b="1">
                          <a:solidFill>
                            <a:srgbClr val="FFFF00"/>
                          </a:solidFill>
                          <a:effectLst/>
                        </a:rPr>
                        <a:t>priority</a:t>
                      </a:r>
                      <a:r>
                        <a:rPr lang="en-US" sz="1400" b="0">
                          <a:solidFill>
                            <a:schemeClr val="bg1"/>
                          </a:solidFill>
                          <a:effectLst/>
                        </a:rPr>
                        <a:t> is to satisfy the customer through early and continuous delivery of </a:t>
                      </a:r>
                      <a:r>
                        <a:rPr lang="en-US" sz="1400" b="1">
                          <a:solidFill>
                            <a:srgbClr val="FFFF00"/>
                          </a:solidFill>
                          <a:effectLst/>
                        </a:rPr>
                        <a:t>valuable</a:t>
                      </a:r>
                      <a:r>
                        <a:rPr lang="en-US" sz="1400" b="0">
                          <a:solidFill>
                            <a:schemeClr val="bg1"/>
                          </a:solidFill>
                          <a:effectLst/>
                        </a:rPr>
                        <a:t> software.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我们的最高目标，是通过尽早并持续交付有价值的软件来满足客户。</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价值交付</a:t>
                      </a:r>
                      <a:br>
                        <a:rPr lang="zh-CN" altLang="en-US" sz="1400" b="0">
                          <a:solidFill>
                            <a:schemeClr val="bg1"/>
                          </a:solidFill>
                          <a:effectLst/>
                        </a:rPr>
                      </a:br>
                      <a:r>
                        <a:rPr lang="en-US" sz="1400" b="0">
                          <a:solidFill>
                            <a:schemeClr val="bg1"/>
                          </a:solidFill>
                          <a:effectLst/>
                        </a:rPr>
                        <a:t>Value &amp; Delivery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b="0">
                          <a:solidFill>
                            <a:schemeClr val="bg1"/>
                          </a:solidFill>
                          <a:effectLst/>
                        </a:rPr>
                        <a:t>2</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Welcome changing requirements, even late in development. Agile processes </a:t>
                      </a:r>
                      <a:r>
                        <a:rPr lang="en-US" sz="1400" b="1">
                          <a:solidFill>
                            <a:srgbClr val="FFFF00"/>
                          </a:solidFill>
                          <a:effectLst/>
                        </a:rPr>
                        <a:t>harness</a:t>
                      </a:r>
                      <a:r>
                        <a:rPr lang="en-US" sz="1400" b="0">
                          <a:solidFill>
                            <a:schemeClr val="bg1"/>
                          </a:solidFill>
                          <a:effectLst/>
                        </a:rPr>
                        <a:t> change for the customer's competitive advantage.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欢迎需求变化，即使是在开发后期。敏捷过程善于利用变化来为客户创造竞争优势。</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拥抱变化</a:t>
                      </a:r>
                      <a:br>
                        <a:rPr lang="zh-CN" altLang="en-US" sz="1400" b="0">
                          <a:solidFill>
                            <a:schemeClr val="bg1"/>
                          </a:solidFill>
                          <a:effectLst/>
                        </a:rPr>
                      </a:br>
                      <a:r>
                        <a:rPr lang="en-US" sz="1400" b="0">
                          <a:solidFill>
                            <a:schemeClr val="bg1"/>
                          </a:solidFill>
                          <a:effectLst/>
                        </a:rPr>
                        <a:t>Embrace Change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b="0">
                          <a:solidFill>
                            <a:schemeClr val="bg1"/>
                          </a:solidFill>
                          <a:effectLst/>
                        </a:rPr>
                        <a:t>3</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Deliver working software frequently, from a couple of weeks to a couple of months, with a </a:t>
                      </a:r>
                      <a:r>
                        <a:rPr lang="en-US" sz="1400" b="1">
                          <a:solidFill>
                            <a:srgbClr val="FFFF00"/>
                          </a:solidFill>
                          <a:effectLst/>
                        </a:rPr>
                        <a:t>preference</a:t>
                      </a:r>
                      <a:r>
                        <a:rPr lang="en-US" sz="1400" b="0">
                          <a:solidFill>
                            <a:schemeClr val="bg1"/>
                          </a:solidFill>
                          <a:effectLst/>
                        </a:rPr>
                        <a:t> to the shorter timescale.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频繁地交付可工作的软件，周期可以从几周到几个月，倾向于更短的周期。</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频繁迭代</a:t>
                      </a:r>
                      <a:br>
                        <a:rPr lang="zh-CN" altLang="en-US" sz="1400" b="0">
                          <a:solidFill>
                            <a:schemeClr val="bg1"/>
                          </a:solidFill>
                          <a:effectLst/>
                        </a:rPr>
                      </a:br>
                      <a:r>
                        <a:rPr lang="en-US" sz="1400" b="0">
                          <a:solidFill>
                            <a:schemeClr val="bg1"/>
                          </a:solidFill>
                          <a:effectLst/>
                        </a:rPr>
                        <a:t>Frequency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b="0">
                          <a:solidFill>
                            <a:schemeClr val="bg1"/>
                          </a:solidFill>
                          <a:effectLst/>
                        </a:rPr>
                        <a:t>4</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Business people and developers must work </a:t>
                      </a:r>
                      <a:r>
                        <a:rPr lang="en-US" sz="1400" b="1">
                          <a:solidFill>
                            <a:srgbClr val="FFFF00"/>
                          </a:solidFill>
                          <a:effectLst/>
                        </a:rPr>
                        <a:t>together</a:t>
                      </a:r>
                      <a:r>
                        <a:rPr lang="en-US" sz="1400" b="0">
                          <a:solidFill>
                            <a:schemeClr val="bg1"/>
                          </a:solidFill>
                          <a:effectLst/>
                        </a:rPr>
                        <a:t> daily throughout the project.</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业务人员和开发人员必须在整个项目期间每天一起工作。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协作沟通</a:t>
                      </a:r>
                      <a:br>
                        <a:rPr lang="zh-CN" altLang="en-US" sz="1400" b="0">
                          <a:solidFill>
                            <a:schemeClr val="bg1"/>
                          </a:solidFill>
                          <a:effectLst/>
                        </a:rPr>
                      </a:br>
                      <a:r>
                        <a:rPr lang="en-US" sz="1400" b="0">
                          <a:solidFill>
                            <a:schemeClr val="bg1"/>
                          </a:solidFill>
                          <a:effectLst/>
                        </a:rPr>
                        <a:t>Collaboration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b="0">
                          <a:solidFill>
                            <a:schemeClr val="bg1"/>
                          </a:solidFill>
                          <a:effectLst/>
                        </a:rPr>
                        <a:t>5</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Build projects around </a:t>
                      </a:r>
                      <a:r>
                        <a:rPr lang="en-US" sz="1400" b="1">
                          <a:solidFill>
                            <a:srgbClr val="FFFF00"/>
                          </a:solidFill>
                          <a:effectLst/>
                        </a:rPr>
                        <a:t>motivated</a:t>
                      </a:r>
                      <a:r>
                        <a:rPr lang="en-US" sz="1400" b="0">
                          <a:solidFill>
                            <a:schemeClr val="bg1"/>
                          </a:solidFill>
                          <a:effectLst/>
                        </a:rPr>
                        <a:t> individuals. Give them the environment and support they need, and trust them to get the job done.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围绕有积极性的个体构建项目。给予他们所需的环境和支持，并信任他们能够完成工作。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信任与激励</a:t>
                      </a:r>
                      <a:br>
                        <a:rPr lang="zh-CN" altLang="en-US" sz="1400" b="0">
                          <a:solidFill>
                            <a:schemeClr val="bg1"/>
                          </a:solidFill>
                          <a:effectLst/>
                        </a:rPr>
                      </a:br>
                      <a:r>
                        <a:rPr lang="en-US" sz="1400" b="0">
                          <a:solidFill>
                            <a:schemeClr val="bg1"/>
                          </a:solidFill>
                          <a:effectLst/>
                        </a:rPr>
                        <a:t>Trust &amp; Motivation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b="0">
                          <a:solidFill>
                            <a:schemeClr val="bg1"/>
                          </a:solidFill>
                          <a:effectLst/>
                        </a:rPr>
                        <a:t>6</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The most efficient and effective method of </a:t>
                      </a:r>
                      <a:r>
                        <a:rPr lang="en-US" sz="1400" b="1">
                          <a:solidFill>
                            <a:srgbClr val="FFFF00"/>
                          </a:solidFill>
                          <a:effectLst/>
                        </a:rPr>
                        <a:t>conveying</a:t>
                      </a:r>
                      <a:r>
                        <a:rPr lang="en-US" sz="1400" b="0">
                          <a:solidFill>
                            <a:schemeClr val="bg1"/>
                          </a:solidFill>
                          <a:effectLst/>
                        </a:rPr>
                        <a:t> information to and within a development team is face-to-face conversation.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面对面交谈是团队内部传递信息的最有效方式。</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高效沟通</a:t>
                      </a:r>
                      <a:br>
                        <a:rPr lang="zh-CN" altLang="en-US" sz="1400" b="0">
                          <a:solidFill>
                            <a:schemeClr val="bg1"/>
                          </a:solidFill>
                          <a:effectLst/>
                        </a:rPr>
                      </a:br>
                      <a:r>
                        <a:rPr lang="en-US" sz="1400" b="0">
                          <a:solidFill>
                            <a:schemeClr val="bg1"/>
                          </a:solidFill>
                          <a:effectLst/>
                        </a:rPr>
                        <a:t>Face-to-Face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193864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2D3DF-86DA-C821-810A-E70376416B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9235B59-3EAD-DAEC-90CA-EECE1155CADA}"/>
              </a:ext>
            </a:extLst>
          </p:cNvPr>
          <p:cNvSpPr>
            <a:spLocks noGrp="1"/>
          </p:cNvSpPr>
          <p:nvPr>
            <p:ph type="title"/>
          </p:nvPr>
        </p:nvSpPr>
        <p:spPr>
          <a:xfrm>
            <a:off x="695998"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DDEA841F-B625-AA67-F15A-386025B80CA2}"/>
              </a:ext>
            </a:extLst>
          </p:cNvPr>
          <p:cNvSpPr>
            <a:spLocks noGrp="1"/>
          </p:cNvSpPr>
          <p:nvPr>
            <p:ph idx="1"/>
          </p:nvPr>
        </p:nvSpPr>
        <p:spPr>
          <a:xfrm>
            <a:off x="696000" y="864000"/>
            <a:ext cx="10800000" cy="5400000"/>
          </a:xfrm>
        </p:spPr>
        <p:txBody>
          <a:bodyPr/>
          <a:lstStyle/>
          <a:p>
            <a:r>
              <a:rPr lang="zh-CN" altLang="en-US"/>
              <a:t>第 </a:t>
            </a:r>
            <a:r>
              <a:rPr lang="en-US" altLang="zh-CN"/>
              <a:t>7-9 </a:t>
            </a:r>
            <a:r>
              <a:rPr lang="zh-CN" altLang="en-US"/>
              <a:t>条：关注“做得怎么样”（进度标准、节奏、质量）</a:t>
            </a:r>
          </a:p>
          <a:p>
            <a:r>
              <a:rPr lang="zh-CN" altLang="en-US"/>
              <a:t>第 </a:t>
            </a:r>
            <a:r>
              <a:rPr lang="en-US" altLang="zh-CN"/>
              <a:t>10-12 </a:t>
            </a:r>
            <a:r>
              <a:rPr lang="zh-CN" altLang="en-US"/>
              <a:t>条：关注“如何进化”（做减法、自组织、复盘）</a:t>
            </a:r>
          </a:p>
          <a:p>
            <a:endParaRPr lang="zh-CN" altLang="en-US"/>
          </a:p>
        </p:txBody>
      </p:sp>
      <p:sp>
        <p:nvSpPr>
          <p:cNvPr id="6" name="文本占位符 5">
            <a:extLst>
              <a:ext uri="{FF2B5EF4-FFF2-40B4-BE49-F238E27FC236}">
                <a16:creationId xmlns:a16="http://schemas.microsoft.com/office/drawing/2014/main" id="{43E0A98B-A492-34B2-052A-E9D466420650}"/>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4" name="表格 3">
            <a:extLst>
              <a:ext uri="{FF2B5EF4-FFF2-40B4-BE49-F238E27FC236}">
                <a16:creationId xmlns:a16="http://schemas.microsoft.com/office/drawing/2014/main" id="{7D3358B7-5B05-0C08-2671-EE53BC397327}"/>
              </a:ext>
            </a:extLst>
          </p:cNvPr>
          <p:cNvGraphicFramePr>
            <a:graphicFrameLocks noGrp="1"/>
          </p:cNvGraphicFramePr>
          <p:nvPr>
            <p:extLst>
              <p:ext uri="{D42A27DB-BD31-4B8C-83A1-F6EECF244321}">
                <p14:modId xmlns:p14="http://schemas.microsoft.com/office/powerpoint/2010/main" val="907718762"/>
              </p:ext>
            </p:extLst>
          </p:nvPr>
        </p:nvGraphicFramePr>
        <p:xfrm>
          <a:off x="695997" y="2423520"/>
          <a:ext cx="10800000" cy="384048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altLang="zh-CN" sz="1400" b="0">
                          <a:solidFill>
                            <a:schemeClr val="bg1"/>
                          </a:solidFill>
                          <a:effectLst/>
                        </a:rPr>
                        <a:t>Chinese </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Key Focus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b="0">
                          <a:solidFill>
                            <a:schemeClr val="bg1"/>
                          </a:solidFill>
                          <a:effectLst/>
                        </a:rPr>
                        <a:t>7</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1">
                          <a:solidFill>
                            <a:srgbClr val="FFFF00"/>
                          </a:solidFill>
                          <a:effectLst/>
                        </a:rPr>
                        <a:t>Working</a:t>
                      </a:r>
                      <a:r>
                        <a:rPr lang="en-US" sz="1400" b="0">
                          <a:solidFill>
                            <a:schemeClr val="bg1"/>
                          </a:solidFill>
                          <a:effectLst/>
                        </a:rPr>
                        <a:t> software is the primary measure of progress.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可工作的软件是衡量进展的首要标准。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结果导向</a:t>
                      </a:r>
                      <a:br>
                        <a:rPr lang="zh-CN" altLang="en-US" sz="1400" b="0">
                          <a:solidFill>
                            <a:schemeClr val="bg1"/>
                          </a:solidFill>
                          <a:effectLst/>
                        </a:rPr>
                      </a:br>
                      <a:r>
                        <a:rPr lang="en-US" sz="1400" b="0">
                          <a:solidFill>
                            <a:schemeClr val="bg1"/>
                          </a:solidFill>
                          <a:effectLst/>
                        </a:rPr>
                        <a:t>Working Software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b="0">
                          <a:solidFill>
                            <a:schemeClr val="bg1"/>
                          </a:solidFill>
                          <a:effectLst/>
                        </a:rPr>
                        <a:t>8</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Agile processes </a:t>
                      </a:r>
                      <a:r>
                        <a:rPr lang="en-US" sz="1400" b="1">
                          <a:solidFill>
                            <a:srgbClr val="FFFF00"/>
                          </a:solidFill>
                          <a:effectLst/>
                        </a:rPr>
                        <a:t>promote</a:t>
                      </a:r>
                      <a:r>
                        <a:rPr lang="en-US" sz="1400" b="0">
                          <a:solidFill>
                            <a:schemeClr val="bg1"/>
                          </a:solidFill>
                          <a:effectLst/>
                        </a:rPr>
                        <a:t> </a:t>
                      </a:r>
                      <a:r>
                        <a:rPr lang="en-US" sz="1400" b="1">
                          <a:solidFill>
                            <a:srgbClr val="FFFF00"/>
                          </a:solidFill>
                          <a:effectLst/>
                        </a:rPr>
                        <a:t>sustainable</a:t>
                      </a:r>
                      <a:r>
                        <a:rPr lang="en-US" sz="1400" b="0">
                          <a:solidFill>
                            <a:schemeClr val="bg1"/>
                          </a:solidFill>
                          <a:effectLst/>
                        </a:rPr>
                        <a:t> development. The sponsors, developers, and users should be able to maintain a constant pace indefinitely.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敏捷过程提倡可持续的开发节奏。赞助者、开发者和用户应该能够长期保持恒定的速度。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可持续发展</a:t>
                      </a:r>
                      <a:br>
                        <a:rPr lang="zh-CN" altLang="en-US" sz="1400" b="0">
                          <a:solidFill>
                            <a:schemeClr val="bg1"/>
                          </a:solidFill>
                          <a:effectLst/>
                        </a:rPr>
                      </a:br>
                      <a:r>
                        <a:rPr lang="en-US" sz="1400" b="1">
                          <a:solidFill>
                            <a:schemeClr val="bg1"/>
                          </a:solidFill>
                          <a:effectLst/>
                        </a:rPr>
                        <a:t>Sustainability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b="0">
                          <a:solidFill>
                            <a:schemeClr val="bg1"/>
                          </a:solidFill>
                          <a:effectLst/>
                        </a:rPr>
                        <a:t>9</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1">
                          <a:solidFill>
                            <a:srgbClr val="FFFF00"/>
                          </a:solidFill>
                          <a:effectLst/>
                        </a:rPr>
                        <a:t>Continuous</a:t>
                      </a:r>
                      <a:r>
                        <a:rPr lang="en-US" sz="1400" b="0">
                          <a:solidFill>
                            <a:schemeClr val="bg1"/>
                          </a:solidFill>
                          <a:effectLst/>
                        </a:rPr>
                        <a:t> attention to technical excellence and good design enhances agility.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持续关注技术卓越和良好设计，以增强敏捷能力。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技术卓越</a:t>
                      </a:r>
                      <a:br>
                        <a:rPr lang="zh-CN" altLang="en-US" sz="1400" b="0">
                          <a:solidFill>
                            <a:schemeClr val="bg1"/>
                          </a:solidFill>
                          <a:effectLst/>
                        </a:rPr>
                      </a:br>
                      <a:r>
                        <a:rPr lang="en-US" sz="1400" b="0">
                          <a:solidFill>
                            <a:schemeClr val="bg1"/>
                          </a:solidFill>
                          <a:effectLst/>
                        </a:rPr>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b="0">
                          <a:solidFill>
                            <a:schemeClr val="bg1"/>
                          </a:solidFill>
                          <a:effectLst/>
                        </a:rPr>
                        <a:t>10</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1">
                          <a:solidFill>
                            <a:srgbClr val="FFFF00"/>
                          </a:solidFill>
                          <a:effectLst/>
                        </a:rPr>
                        <a:t>Simplicity</a:t>
                      </a:r>
                      <a:r>
                        <a:rPr lang="en-US" sz="1400" b="0">
                          <a:solidFill>
                            <a:schemeClr val="bg1"/>
                          </a:solidFill>
                          <a:effectLst/>
                        </a:rPr>
                        <a:t>—the art of maximizing the amount of work not done—is essential.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简洁 </a:t>
                      </a:r>
                      <a:r>
                        <a:rPr lang="en-US" altLang="zh-CN" sz="1400" b="0">
                          <a:solidFill>
                            <a:schemeClr val="bg1"/>
                          </a:solidFill>
                          <a:effectLst/>
                        </a:rPr>
                        <a:t>- </a:t>
                      </a:r>
                      <a:r>
                        <a:rPr lang="zh-CN" altLang="en-US" sz="1400" b="0">
                          <a:solidFill>
                            <a:schemeClr val="bg1"/>
                          </a:solidFill>
                          <a:effectLst/>
                        </a:rPr>
                        <a:t>最大化未完成工作量的艺术 </a:t>
                      </a:r>
                      <a:r>
                        <a:rPr lang="en-US" altLang="zh-CN" sz="1400" b="0">
                          <a:solidFill>
                            <a:schemeClr val="bg1"/>
                          </a:solidFill>
                          <a:effectLst/>
                        </a:rPr>
                        <a:t>- </a:t>
                      </a:r>
                      <a:r>
                        <a:rPr lang="zh-CN" altLang="en-US" sz="1400" b="0">
                          <a:solidFill>
                            <a:schemeClr val="bg1"/>
                          </a:solidFill>
                          <a:effectLst/>
                        </a:rPr>
                        <a:t>是根本的。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极简主义</a:t>
                      </a:r>
                      <a:br>
                        <a:rPr lang="zh-CN" altLang="en-US" sz="1400" b="0">
                          <a:solidFill>
                            <a:schemeClr val="bg1"/>
                          </a:solidFill>
                          <a:effectLst/>
                        </a:rPr>
                      </a:br>
                      <a:r>
                        <a:rPr lang="en-US" sz="1400" b="0">
                          <a:solidFill>
                            <a:schemeClr val="bg1"/>
                          </a:solidFill>
                          <a:effectLst/>
                        </a:rPr>
                        <a:t>Simplicity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b="0">
                          <a:solidFill>
                            <a:schemeClr val="bg1"/>
                          </a:solidFill>
                          <a:effectLst/>
                        </a:rPr>
                        <a:t>11</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The best architectures, requirements, and designs </a:t>
                      </a:r>
                      <a:r>
                        <a:rPr lang="en-US" sz="1400" b="1">
                          <a:solidFill>
                            <a:srgbClr val="FFFF00"/>
                          </a:solidFill>
                          <a:effectLst/>
                        </a:rPr>
                        <a:t>emerge</a:t>
                      </a:r>
                      <a:r>
                        <a:rPr lang="en-US" sz="1400" b="0">
                          <a:solidFill>
                            <a:schemeClr val="bg1"/>
                          </a:solidFill>
                          <a:effectLst/>
                        </a:rPr>
                        <a:t> from </a:t>
                      </a:r>
                      <a:r>
                        <a:rPr lang="en-US" sz="1400" b="1">
                          <a:solidFill>
                            <a:srgbClr val="FFFF00"/>
                          </a:solidFill>
                          <a:effectLst/>
                        </a:rPr>
                        <a:t>self-organizing</a:t>
                      </a:r>
                      <a:r>
                        <a:rPr lang="en-US" sz="1400" b="0">
                          <a:solidFill>
                            <a:schemeClr val="bg1"/>
                          </a:solidFill>
                          <a:effectLst/>
                        </a:rPr>
                        <a:t> teams.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最好的架构、需求和设计出自自组织团队。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自组织</a:t>
                      </a:r>
                      <a:br>
                        <a:rPr lang="zh-CN" altLang="en-US" sz="1400" b="0">
                          <a:solidFill>
                            <a:schemeClr val="bg1"/>
                          </a:solidFill>
                          <a:effectLst/>
                        </a:rPr>
                      </a:br>
                      <a:r>
                        <a:rPr lang="en-US" sz="1400" b="0">
                          <a:solidFill>
                            <a:schemeClr val="bg1"/>
                          </a:solidFill>
                          <a:effectLst/>
                        </a:rPr>
                        <a:t>Self-Organization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b="0">
                          <a:solidFill>
                            <a:schemeClr val="bg1"/>
                          </a:solidFill>
                          <a:effectLst/>
                        </a:rPr>
                        <a:t>12</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At regular intervals, the team </a:t>
                      </a:r>
                      <a:r>
                        <a:rPr lang="en-US" sz="1400" b="1">
                          <a:solidFill>
                            <a:srgbClr val="FFFF00"/>
                          </a:solidFill>
                          <a:effectLst/>
                        </a:rPr>
                        <a:t>reflects</a:t>
                      </a:r>
                      <a:r>
                        <a:rPr lang="en-US" sz="1400" b="0">
                          <a:solidFill>
                            <a:schemeClr val="bg1"/>
                          </a:solidFill>
                          <a:effectLst/>
                        </a:rPr>
                        <a:t> on how to become more effective, then tunes and adjusts its behavior accordingly.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团队定期反思如何变得更高效，并相应地调整自身行为。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持续改进</a:t>
                      </a:r>
                      <a:br>
                        <a:rPr lang="zh-CN" altLang="en-US" sz="1400" b="0">
                          <a:solidFill>
                            <a:schemeClr val="bg1"/>
                          </a:solidFill>
                          <a:effectLst/>
                        </a:rPr>
                      </a:br>
                      <a:r>
                        <a:rPr lang="en-US" sz="1400" b="0">
                          <a:solidFill>
                            <a:schemeClr val="bg1"/>
                          </a:solidFill>
                          <a:effectLst/>
                        </a:rPr>
                        <a:t>Reflection &amp; Adjustment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34865375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4404FD-42CB-D845-39BB-81F15C0CC198}"/>
              </a:ext>
            </a:extLst>
          </p:cNvPr>
          <p:cNvGraphicFramePr>
            <a:graphicFrameLocks noGrp="1"/>
          </p:cNvGraphicFramePr>
          <p:nvPr>
            <p:extLst>
              <p:ext uri="{D42A27DB-BD31-4B8C-83A1-F6EECF244321}">
                <p14:modId xmlns:p14="http://schemas.microsoft.com/office/powerpoint/2010/main" val="2832971793"/>
              </p:ext>
            </p:extLst>
          </p:nvPr>
        </p:nvGraphicFramePr>
        <p:xfrm>
          <a:off x="695325" y="2103120"/>
          <a:ext cx="10801350" cy="2651760"/>
        </p:xfrm>
        <a:graphic>
          <a:graphicData uri="http://schemas.openxmlformats.org/drawingml/2006/table">
            <a:tbl>
              <a:tblPr/>
              <a:tblGrid>
                <a:gridCol w="1699083">
                  <a:extLst>
                    <a:ext uri="{9D8B030D-6E8A-4147-A177-3AD203B41FA5}">
                      <a16:colId xmlns:a16="http://schemas.microsoft.com/office/drawing/2014/main" val="3441983078"/>
                    </a:ext>
                  </a:extLst>
                </a:gridCol>
                <a:gridCol w="3799002">
                  <a:extLst>
                    <a:ext uri="{9D8B030D-6E8A-4147-A177-3AD203B41FA5}">
                      <a16:colId xmlns:a16="http://schemas.microsoft.com/office/drawing/2014/main" val="3949452080"/>
                    </a:ext>
                  </a:extLst>
                </a:gridCol>
                <a:gridCol w="5303265">
                  <a:extLst>
                    <a:ext uri="{9D8B030D-6E8A-4147-A177-3AD203B41FA5}">
                      <a16:colId xmlns:a16="http://schemas.microsoft.com/office/drawing/2014/main" val="116939384"/>
                    </a:ext>
                  </a:extLst>
                </a:gridCol>
              </a:tblGrid>
              <a:tr h="0">
                <a:tc>
                  <a:txBody>
                    <a:bodyPr/>
                    <a:lstStyle/>
                    <a:p>
                      <a:pPr algn="l">
                        <a:lnSpc>
                          <a:spcPct val="100000"/>
                        </a:lnSpc>
                        <a:buNone/>
                      </a:pPr>
                      <a:r>
                        <a:rPr lang="zh-CN" altLang="en-US" sz="160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敏捷 </a:t>
                      </a:r>
                      <a:r>
                        <a:rPr lang="en-US" altLang="zh-CN" sz="1600">
                          <a:solidFill>
                            <a:schemeClr val="bg1"/>
                          </a:solidFill>
                        </a:rPr>
                        <a:t>12 </a:t>
                      </a:r>
                      <a:r>
                        <a:rPr lang="zh-CN" altLang="en-US" sz="160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PMBOK 7 </a:t>
                      </a:r>
                      <a:r>
                        <a:rPr lang="zh-CN" altLang="en-US" sz="1600">
                          <a:solidFill>
                            <a:schemeClr val="bg1"/>
                          </a:solidFill>
                        </a:rPr>
                        <a:t>的 </a:t>
                      </a:r>
                      <a:r>
                        <a:rPr lang="en-US" altLang="zh-CN" sz="1600">
                          <a:solidFill>
                            <a:schemeClr val="bg1"/>
                          </a:solidFill>
                        </a:rPr>
                        <a:t>12 </a:t>
                      </a:r>
                      <a:r>
                        <a:rPr lang="zh-CN" altLang="en-US" sz="160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584510"/>
                  </a:ext>
                </a:extLst>
              </a:tr>
              <a:tr h="131467">
                <a:tc>
                  <a:txBody>
                    <a:bodyPr/>
                    <a:lstStyle/>
                    <a:p>
                      <a:pPr algn="l">
                        <a:lnSpc>
                          <a:spcPct val="100000"/>
                        </a:lnSpc>
                        <a:buNone/>
                      </a:pPr>
                      <a:r>
                        <a:rPr lang="zh-CN" altLang="en-US" sz="1600">
                          <a:solidFill>
                            <a:schemeClr val="bg1"/>
                          </a:solidFill>
                        </a:rPr>
                        <a:t>适用范围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狭义</a:t>
                      </a:r>
                      <a:endParaRPr lang="en-US" altLang="zh-CN" sz="1600">
                        <a:solidFill>
                          <a:schemeClr val="bg1"/>
                        </a:solidFill>
                      </a:endParaRPr>
                    </a:p>
                    <a:p>
                      <a:pPr algn="l">
                        <a:lnSpc>
                          <a:spcPct val="100000"/>
                        </a:lnSpc>
                        <a:buNone/>
                      </a:pPr>
                      <a:r>
                        <a:rPr lang="zh-CN" altLang="en-US" sz="1600">
                          <a:solidFill>
                            <a:schemeClr val="bg1"/>
                          </a:solidFill>
                        </a:rPr>
                        <a:t>主要针对软件开发、</a:t>
                      </a:r>
                      <a:r>
                        <a:rPr lang="en-US" altLang="zh-CN" sz="1600">
                          <a:solidFill>
                            <a:schemeClr val="bg1"/>
                          </a:solidFill>
                        </a:rPr>
                        <a:t>IT </a:t>
                      </a:r>
                      <a:r>
                        <a:rPr lang="zh-CN" altLang="en-US" sz="1600">
                          <a:solidFill>
                            <a:schemeClr val="bg1"/>
                          </a:solidFill>
                        </a:rPr>
                        <a:t>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广义</a:t>
                      </a:r>
                      <a:endParaRPr lang="en-US" altLang="zh-CN" sz="1600">
                        <a:solidFill>
                          <a:schemeClr val="bg1"/>
                        </a:solidFill>
                      </a:endParaRPr>
                    </a:p>
                    <a:p>
                      <a:pPr algn="l">
                        <a:lnSpc>
                          <a:spcPct val="100000"/>
                        </a:lnSpc>
                        <a:buNone/>
                      </a:pPr>
                      <a:r>
                        <a:rPr lang="zh-CN" altLang="en-US" sz="1600">
                          <a:solidFill>
                            <a:schemeClr val="bg1"/>
                          </a:solidFill>
                        </a:rPr>
                        <a:t>适用于建筑、医疗、活动、软件、制造等所有行业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47923211"/>
                  </a:ext>
                </a:extLst>
              </a:tr>
              <a:tr h="131467">
                <a:tc>
                  <a:txBody>
                    <a:bodyPr/>
                    <a:lstStyle/>
                    <a:p>
                      <a:pPr algn="l">
                        <a:lnSpc>
                          <a:spcPct val="100000"/>
                        </a:lnSpc>
                        <a:buNone/>
                      </a:pPr>
                      <a:r>
                        <a:rPr lang="zh-CN" altLang="en-US" sz="1600">
                          <a:solidFill>
                            <a:schemeClr val="bg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怎么做软件</a:t>
                      </a:r>
                      <a:endParaRPr lang="en-US" altLang="zh-CN" sz="1600">
                        <a:solidFill>
                          <a:schemeClr val="bg1"/>
                        </a:solidFill>
                      </a:endParaRPr>
                    </a:p>
                    <a:p>
                      <a:pPr algn="l">
                        <a:lnSpc>
                          <a:spcPct val="100000"/>
                        </a:lnSpc>
                        <a:buNone/>
                      </a:pPr>
                      <a:r>
                        <a:rPr lang="zh-CN" altLang="en-US" sz="1600">
                          <a:solidFill>
                            <a:schemeClr val="bg1"/>
                          </a:solidFill>
                        </a:rPr>
                        <a:t>强调迭代、代码、客户协作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怎么管项目</a:t>
                      </a:r>
                      <a:endParaRPr lang="en-US" altLang="zh-CN" sz="1600">
                        <a:solidFill>
                          <a:schemeClr val="bg1"/>
                        </a:solidFill>
                      </a:endParaRPr>
                    </a:p>
                    <a:p>
                      <a:pPr algn="l">
                        <a:lnSpc>
                          <a:spcPct val="100000"/>
                        </a:lnSpc>
                        <a:buNone/>
                      </a:pPr>
                      <a:r>
                        <a:rPr lang="zh-CN" altLang="en-US" sz="1600">
                          <a:solidFill>
                            <a:schemeClr val="bg1"/>
                          </a:solidFill>
                        </a:rPr>
                        <a:t>强调价值、系统、道德、领导力、不确定性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556770"/>
                  </a:ext>
                </a:extLst>
              </a:tr>
              <a:tr h="131467">
                <a:tc>
                  <a:txBody>
                    <a:bodyPr/>
                    <a:lstStyle/>
                    <a:p>
                      <a:pPr algn="l">
                        <a:lnSpc>
                          <a:spcPct val="100000"/>
                        </a:lnSpc>
                        <a:buNone/>
                      </a:pPr>
                      <a:r>
                        <a:rPr lang="zh-CN" altLang="en-US" sz="1600">
                          <a:solidFill>
                            <a:schemeClr val="bg1"/>
                          </a:solidFill>
                        </a:rPr>
                        <a:t>语言风格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行动导向</a:t>
                      </a:r>
                      <a:endParaRPr lang="en-US" altLang="zh-CN" sz="1600">
                        <a:solidFill>
                          <a:schemeClr val="bg1"/>
                        </a:solidFill>
                      </a:endParaRPr>
                    </a:p>
                    <a:p>
                      <a:pPr algn="l">
                        <a:lnSpc>
                          <a:spcPct val="100000"/>
                        </a:lnSpc>
                        <a:buNone/>
                      </a:pPr>
                      <a:r>
                        <a:rPr lang="zh-CN" altLang="en-US" sz="1600">
                          <a:solidFill>
                            <a:schemeClr val="bg1"/>
                          </a:solidFill>
                        </a:rPr>
                        <a:t>交付软件、欢迎变更、每天一起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思维导向</a:t>
                      </a:r>
                      <a:endParaRPr lang="en-US" altLang="zh-CN" sz="1600">
                        <a:solidFill>
                          <a:schemeClr val="bg1"/>
                        </a:solidFill>
                      </a:endParaRPr>
                    </a:p>
                    <a:p>
                      <a:pPr algn="l">
                        <a:lnSpc>
                          <a:spcPct val="100000"/>
                        </a:lnSpc>
                        <a:buNone/>
                      </a:pPr>
                      <a:r>
                        <a:rPr lang="zh-CN" altLang="en-US" sz="1600">
                          <a:solidFill>
                            <a:schemeClr val="bg1"/>
                          </a:solidFill>
                        </a:rPr>
                        <a:t>聚焦价值、系统思考、驾驭复杂性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0702870"/>
                  </a:ext>
                </a:extLst>
              </a:tr>
              <a:tr h="131467">
                <a:tc>
                  <a:txBody>
                    <a:bodyPr/>
                    <a:lstStyle/>
                    <a:p>
                      <a:pPr algn="l">
                        <a:lnSpc>
                          <a:spcPct val="100000"/>
                        </a:lnSpc>
                        <a:buNone/>
                      </a:pPr>
                      <a:r>
                        <a:rPr lang="zh-CN" altLang="en-US" sz="1600">
                          <a:solidFill>
                            <a:schemeClr val="bg1"/>
                          </a:solidFill>
                        </a:rPr>
                        <a:t>对瀑布的态度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隐含对立</a:t>
                      </a:r>
                      <a:endParaRPr lang="en-US" altLang="zh-CN" sz="1600">
                        <a:solidFill>
                          <a:schemeClr val="bg1"/>
                        </a:solidFill>
                      </a:endParaRPr>
                    </a:p>
                    <a:p>
                      <a:pPr algn="l">
                        <a:lnSpc>
                          <a:spcPct val="100000"/>
                        </a:lnSpc>
                        <a:buNone/>
                      </a:pPr>
                      <a:r>
                        <a:rPr lang="zh-CN" altLang="en-US" sz="1600">
                          <a:solidFill>
                            <a:schemeClr val="bg1"/>
                          </a:solidFill>
                        </a:rPr>
                        <a:t>旨在解决瀑布的痛点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包容融合</a:t>
                      </a:r>
                      <a:endParaRPr lang="en-US" altLang="zh-CN" sz="1600">
                        <a:solidFill>
                          <a:schemeClr val="bg1"/>
                        </a:solidFill>
                      </a:endParaRPr>
                    </a:p>
                    <a:p>
                      <a:pPr algn="l">
                        <a:lnSpc>
                          <a:spcPct val="100000"/>
                        </a:lnSpc>
                        <a:buNone/>
                      </a:pPr>
                      <a:r>
                        <a:rPr lang="zh-CN" altLang="en-US" sz="1600">
                          <a:solidFill>
                            <a:schemeClr val="bg1"/>
                          </a:solidFill>
                        </a:rPr>
                        <a:t>认为瀑布、敏捷、混合都是工具，视情况裁</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035251"/>
                  </a:ext>
                </a:extLst>
              </a:tr>
            </a:tbl>
          </a:graphicData>
        </a:graphic>
      </p:graphicFrame>
    </p:spTree>
    <p:extLst>
      <p:ext uri="{BB962C8B-B14F-4D97-AF65-F5344CB8AC3E}">
        <p14:creationId xmlns:p14="http://schemas.microsoft.com/office/powerpoint/2010/main" val="15659481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D5F130A-5A7A-C77B-A15E-E3CB82E0688C}"/>
              </a:ext>
            </a:extLst>
          </p:cNvPr>
          <p:cNvSpPr txBox="1"/>
          <p:nvPr/>
        </p:nvSpPr>
        <p:spPr>
          <a:xfrm>
            <a:off x="696000" y="1634185"/>
            <a:ext cx="2465740" cy="369332"/>
          </a:xfrm>
          <a:prstGeom prst="rect">
            <a:avLst/>
          </a:prstGeom>
          <a:noFill/>
        </p:spPr>
        <p:txBody>
          <a:bodyPr wrap="none" rtlCol="0">
            <a:spAutoFit/>
          </a:bodyPr>
          <a:lstStyle/>
          <a:p>
            <a:r>
              <a:rPr lang="zh-CN" altLang="en-US">
                <a:solidFill>
                  <a:schemeClr val="bg1"/>
                </a:solidFill>
              </a:rPr>
              <a:t>课后思考 </a:t>
            </a:r>
            <a:r>
              <a:rPr lang="en-US" altLang="zh-CN">
                <a:solidFill>
                  <a:schemeClr val="bg1"/>
                </a:solidFill>
              </a:rPr>
              <a:t>Homework</a:t>
            </a:r>
            <a:endParaRPr lang="zh-CN" altLang="en-US">
              <a:solidFill>
                <a:schemeClr val="bg1"/>
              </a:solidFill>
            </a:endParaRPr>
          </a:p>
        </p:txBody>
      </p:sp>
      <p:cxnSp>
        <p:nvCxnSpPr>
          <p:cNvPr id="4" name="Straight Connector 3">
            <a:extLst>
              <a:ext uri="{FF2B5EF4-FFF2-40B4-BE49-F238E27FC236}">
                <a16:creationId xmlns:a16="http://schemas.microsoft.com/office/drawing/2014/main" id="{2B34B79E-76CE-229C-63C8-C95264500C74}"/>
              </a:ext>
            </a:extLst>
          </p:cNvPr>
          <p:cNvCxnSpPr>
            <a:cxnSpLocks/>
          </p:cNvCxnSpPr>
          <p:nvPr/>
        </p:nvCxnSpPr>
        <p:spPr>
          <a:xfrm>
            <a:off x="696000" y="2003517"/>
            <a:ext cx="1080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5805F23-376A-7F09-3354-30020221AEE6}"/>
              </a:ext>
            </a:extLst>
          </p:cNvPr>
          <p:cNvSpPr txBox="1"/>
          <p:nvPr/>
        </p:nvSpPr>
        <p:spPr>
          <a:xfrm>
            <a:off x="696000" y="2003517"/>
            <a:ext cx="3877986" cy="338554"/>
          </a:xfrm>
          <a:prstGeom prst="rect">
            <a:avLst/>
          </a:prstGeom>
          <a:noFill/>
        </p:spPr>
        <p:txBody>
          <a:bodyPr wrap="none" rtlCol="0">
            <a:spAutoFit/>
          </a:bodyPr>
          <a:lstStyle/>
          <a:p>
            <a:pPr algn="ctr"/>
            <a:r>
              <a:rPr lang="zh-CN" altLang="en-US" sz="1600">
                <a:solidFill>
                  <a:schemeClr val="bg1"/>
                </a:solidFill>
              </a:rPr>
              <a:t>是不是所有的项目都应该采取敏捷开发？</a:t>
            </a:r>
          </a:p>
        </p:txBody>
      </p:sp>
    </p:spTree>
    <p:extLst>
      <p:ext uri="{BB962C8B-B14F-4D97-AF65-F5344CB8AC3E}">
        <p14:creationId xmlns:p14="http://schemas.microsoft.com/office/powerpoint/2010/main" val="35641986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2464886" y="4681056"/>
            <a:ext cx="7262228" cy="798491"/>
          </a:xfrm>
        </p:spPr>
        <p:txBody>
          <a:bodyPr/>
          <a:lstStyle/>
          <a:p>
            <a:r>
              <a:rPr lang="zh-CN" altLang="en-US"/>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2464886" y="5479548"/>
            <a:ext cx="7262228" cy="458180"/>
          </a:xfrm>
        </p:spPr>
        <p:txBody>
          <a:bodyPr/>
          <a:lstStyle/>
          <a:p>
            <a:r>
              <a:rPr lang="en-US" altLang="zh-CN"/>
              <a:t>Section 2 Project Initialization</a:t>
            </a:r>
            <a:endParaRPr lang="zh-CN" altLang="en-US"/>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3883891" y="2278857"/>
            <a:ext cx="4424219" cy="2300287"/>
          </a:xfrm>
        </p:spPr>
        <p:txBody>
          <a:bodyPr>
            <a:normAutofit lnSpcReduction="10000"/>
          </a:bodyPr>
          <a:lstStyle/>
          <a:p>
            <a:pPr lvl="0"/>
            <a:r>
              <a:rPr lang="zh-CN" altLang="zh-CN"/>
              <a:t>项目评估</a:t>
            </a:r>
          </a:p>
          <a:p>
            <a:pPr lvl="0"/>
            <a:r>
              <a:rPr lang="zh-CN" altLang="zh-CN"/>
              <a:t>项目立项</a:t>
            </a:r>
          </a:p>
          <a:p>
            <a:pPr lvl="0"/>
            <a:r>
              <a:rPr lang="zh-CN" altLang="zh-CN"/>
              <a:t>项目招投标</a:t>
            </a:r>
          </a:p>
          <a:p>
            <a:pPr lvl="0"/>
            <a:r>
              <a:rPr lang="zh-CN" altLang="zh-CN"/>
              <a:t>项目章程</a:t>
            </a:r>
          </a:p>
          <a:p>
            <a:pPr lvl="0"/>
            <a:r>
              <a:rPr lang="zh-CN" altLang="zh-CN"/>
              <a:t>软件项目生存期模型</a:t>
            </a:r>
            <a:endParaRPr lang="en-US" altLang="zh-CN"/>
          </a:p>
          <a:p>
            <a:pPr lvl="0"/>
            <a:r>
              <a:rPr lang="en-US" altLang="zh-CN"/>
              <a:t>Scrum</a:t>
            </a:r>
            <a:endParaRPr lang="zh-CN" altLang="zh-CN"/>
          </a:p>
        </p:txBody>
      </p:sp>
    </p:spTree>
    <p:extLst>
      <p:ext uri="{BB962C8B-B14F-4D97-AF65-F5344CB8AC3E}">
        <p14:creationId xmlns:p14="http://schemas.microsoft.com/office/powerpoint/2010/main" val="30637871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EFE04-0C55-09A4-9152-E231DB1A6B1D}"/>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2558A5D8-2C91-4087-0B76-BFD03C0B2E8A}"/>
              </a:ext>
            </a:extLst>
          </p:cNvPr>
          <p:cNvSpPr/>
          <p:nvPr/>
        </p:nvSpPr>
        <p:spPr>
          <a:xfrm>
            <a:off x="2454444"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A485B16D-4470-BFD2-9553-93D925795AD8}"/>
              </a:ext>
            </a:extLst>
          </p:cNvPr>
          <p:cNvSpPr/>
          <p:nvPr/>
        </p:nvSpPr>
        <p:spPr>
          <a:xfrm>
            <a:off x="4180548"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A65A649C-5BD5-9691-D233-ACD0FA4594B9}"/>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FA46A5C4-2E29-88D2-28B0-66492FADFFD8}"/>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10" name="箭头: V 形 9">
            <a:extLst>
              <a:ext uri="{FF2B5EF4-FFF2-40B4-BE49-F238E27FC236}">
                <a16:creationId xmlns:a16="http://schemas.microsoft.com/office/drawing/2014/main" id="{BFAAA251-79A5-9A78-F7F0-F316BD6D4E45}"/>
              </a:ext>
            </a:extLst>
          </p:cNvPr>
          <p:cNvSpPr/>
          <p:nvPr/>
        </p:nvSpPr>
        <p:spPr>
          <a:xfrm>
            <a:off x="2223231" y="3124316"/>
            <a:ext cx="1440000" cy="432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bg1"/>
                </a:solidFill>
              </a:rPr>
              <a:t>项目确立</a:t>
            </a:r>
          </a:p>
        </p:txBody>
      </p:sp>
      <p:sp>
        <p:nvSpPr>
          <p:cNvPr id="11" name="箭头: V 形 10">
            <a:extLst>
              <a:ext uri="{FF2B5EF4-FFF2-40B4-BE49-F238E27FC236}">
                <a16:creationId xmlns:a16="http://schemas.microsoft.com/office/drawing/2014/main" id="{16E230DC-1FA8-2B0D-96F5-96AC78093097}"/>
              </a:ext>
            </a:extLst>
          </p:cNvPr>
          <p:cNvSpPr/>
          <p:nvPr/>
        </p:nvSpPr>
        <p:spPr>
          <a:xfrm>
            <a:off x="3534444" y="3124316"/>
            <a:ext cx="1440000" cy="432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bg1"/>
                </a:solidFill>
              </a:rPr>
              <a:t>生存期</a:t>
            </a:r>
          </a:p>
        </p:txBody>
      </p:sp>
      <p:sp>
        <p:nvSpPr>
          <p:cNvPr id="2" name="梯形 1">
            <a:extLst>
              <a:ext uri="{FF2B5EF4-FFF2-40B4-BE49-F238E27FC236}">
                <a16:creationId xmlns:a16="http://schemas.microsoft.com/office/drawing/2014/main" id="{A6CC57D3-E980-A5C2-17D5-74782EB0EECB}"/>
              </a:ext>
            </a:extLst>
          </p:cNvPr>
          <p:cNvSpPr/>
          <p:nvPr/>
        </p:nvSpPr>
        <p:spPr>
          <a:xfrm>
            <a:off x="2247966" y="2349909"/>
            <a:ext cx="2488259" cy="648930"/>
          </a:xfrm>
          <a:custGeom>
            <a:avLst/>
            <a:gdLst>
              <a:gd name="csX0" fmla="*/ 0 w 1800000"/>
              <a:gd name="csY0" fmla="*/ 639097 h 639097"/>
              <a:gd name="csX1" fmla="*/ 159774 w 1800000"/>
              <a:gd name="csY1" fmla="*/ 0 h 639097"/>
              <a:gd name="csX2" fmla="*/ 1640226 w 1800000"/>
              <a:gd name="csY2" fmla="*/ 0 h 639097"/>
              <a:gd name="csX3" fmla="*/ 1800000 w 1800000"/>
              <a:gd name="csY3" fmla="*/ 639097 h 639097"/>
              <a:gd name="csX4" fmla="*/ 0 w 1800000"/>
              <a:gd name="csY4" fmla="*/ 639097 h 639097"/>
              <a:gd name="csX0" fmla="*/ 0 w 2006478"/>
              <a:gd name="csY0" fmla="*/ 639097 h 639097"/>
              <a:gd name="csX1" fmla="*/ 366252 w 2006478"/>
              <a:gd name="csY1" fmla="*/ 0 h 639097"/>
              <a:gd name="csX2" fmla="*/ 1846704 w 2006478"/>
              <a:gd name="csY2" fmla="*/ 0 h 639097"/>
              <a:gd name="csX3" fmla="*/ 2006478 w 2006478"/>
              <a:gd name="csY3" fmla="*/ 639097 h 639097"/>
              <a:gd name="csX4" fmla="*/ 0 w 2006478"/>
              <a:gd name="csY4" fmla="*/ 639097 h 639097"/>
              <a:gd name="csX0" fmla="*/ 0 w 2488259"/>
              <a:gd name="csY0" fmla="*/ 639097 h 639097"/>
              <a:gd name="csX1" fmla="*/ 366252 w 2488259"/>
              <a:gd name="csY1" fmla="*/ 0 h 639097"/>
              <a:gd name="csX2" fmla="*/ 1846704 w 2488259"/>
              <a:gd name="csY2" fmla="*/ 0 h 639097"/>
              <a:gd name="csX3" fmla="*/ 2488259 w 2488259"/>
              <a:gd name="csY3" fmla="*/ 629265 h 639097"/>
              <a:gd name="csX4" fmla="*/ 0 w 2488259"/>
              <a:gd name="csY4" fmla="*/ 639097 h 639097"/>
              <a:gd name="csX0" fmla="*/ 0 w 2488259"/>
              <a:gd name="csY0" fmla="*/ 648930 h 648930"/>
              <a:gd name="csX1" fmla="*/ 248265 w 2488259"/>
              <a:gd name="csY1" fmla="*/ 0 h 648930"/>
              <a:gd name="csX2" fmla="*/ 1846704 w 2488259"/>
              <a:gd name="csY2" fmla="*/ 9833 h 648930"/>
              <a:gd name="csX3" fmla="*/ 2488259 w 2488259"/>
              <a:gd name="csY3" fmla="*/ 639098 h 648930"/>
              <a:gd name="csX4" fmla="*/ 0 w 2488259"/>
              <a:gd name="csY4" fmla="*/ 648930 h 648930"/>
            </a:gdLst>
            <a:ahLst/>
            <a:cxnLst>
              <a:cxn ang="0">
                <a:pos x="csX0" y="csY0"/>
              </a:cxn>
              <a:cxn ang="0">
                <a:pos x="csX1" y="csY1"/>
              </a:cxn>
              <a:cxn ang="0">
                <a:pos x="csX2" y="csY2"/>
              </a:cxn>
              <a:cxn ang="0">
                <a:pos x="csX3" y="csY3"/>
              </a:cxn>
              <a:cxn ang="0">
                <a:pos x="csX4" y="csY4"/>
              </a:cxn>
            </a:cxnLst>
            <a:rect l="l" t="t" r="r" b="b"/>
            <a:pathLst>
              <a:path w="2488259" h="648930">
                <a:moveTo>
                  <a:pt x="0" y="648930"/>
                </a:moveTo>
                <a:lnTo>
                  <a:pt x="248265" y="0"/>
                </a:lnTo>
                <a:lnTo>
                  <a:pt x="1846704" y="9833"/>
                </a:lnTo>
                <a:lnTo>
                  <a:pt x="2488259" y="639098"/>
                </a:lnTo>
                <a:lnTo>
                  <a:pt x="0" y="648930"/>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9468667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62A5-3375-DD6F-B2F4-5601C332E4C4}"/>
              </a:ext>
            </a:extLst>
          </p:cNvPr>
          <p:cNvSpPr>
            <a:spLocks noGrp="1"/>
          </p:cNvSpPr>
          <p:nvPr>
            <p:ph type="title"/>
          </p:nvPr>
        </p:nvSpPr>
        <p:spPr>
          <a:xfrm>
            <a:off x="695998" y="360000"/>
            <a:ext cx="6375921" cy="429413"/>
          </a:xfrm>
        </p:spPr>
        <p:txBody>
          <a:bodyPr/>
          <a:lstStyle/>
          <a:p>
            <a:r>
              <a:rPr lang="en-US" altLang="zh-CN"/>
              <a:t>2.1 </a:t>
            </a:r>
            <a:r>
              <a:rPr lang="zh-CN" altLang="en-US"/>
              <a:t>项目评估</a:t>
            </a:r>
          </a:p>
        </p:txBody>
      </p:sp>
      <p:sp>
        <p:nvSpPr>
          <p:cNvPr id="3" name="Content Placeholder 2">
            <a:extLst>
              <a:ext uri="{FF2B5EF4-FFF2-40B4-BE49-F238E27FC236}">
                <a16:creationId xmlns:a16="http://schemas.microsoft.com/office/drawing/2014/main" id="{D4F0DEA7-43F7-9A91-D074-8C00F888D470}"/>
              </a:ext>
            </a:extLst>
          </p:cNvPr>
          <p:cNvSpPr>
            <a:spLocks noGrp="1"/>
          </p:cNvSpPr>
          <p:nvPr>
            <p:ph idx="1"/>
          </p:nvPr>
        </p:nvSpPr>
        <p:spPr>
          <a:xfrm>
            <a:off x="696000" y="864000"/>
            <a:ext cx="10800000" cy="5400000"/>
          </a:xfrm>
        </p:spPr>
        <p:txBody>
          <a:bodyPr/>
          <a:lstStyle/>
          <a:p>
            <a:r>
              <a:rPr lang="zh-CN" altLang="en-US"/>
              <a:t>项目启动</a:t>
            </a:r>
            <a:endParaRPr lang="en-US" altLang="zh-CN"/>
          </a:p>
          <a:p>
            <a:r>
              <a:rPr lang="zh-CN" altLang="en-US"/>
              <a:t>项目可行性分析</a:t>
            </a:r>
            <a:endParaRPr lang="en-US" altLang="zh-CN"/>
          </a:p>
          <a:p>
            <a:r>
              <a:rPr lang="zh-CN" altLang="en-US"/>
              <a:t>项目经济性分析</a:t>
            </a:r>
            <a:endParaRPr lang="en-US" altLang="zh-CN"/>
          </a:p>
          <a:p>
            <a:r>
              <a:rPr lang="zh-CN" altLang="en-US"/>
              <a:t>目的</a:t>
            </a:r>
            <a:endParaRPr lang="en-US" altLang="zh-CN"/>
          </a:p>
          <a:p>
            <a:pPr lvl="1"/>
            <a:r>
              <a:rPr lang="zh-CN" altLang="en-US"/>
              <a:t>初步判断项目的可行性、必要性、资源需求等。</a:t>
            </a:r>
          </a:p>
          <a:p>
            <a:pPr lvl="1"/>
            <a:r>
              <a:rPr lang="zh-CN" altLang="en-US"/>
              <a:t>属于前期调研</a:t>
            </a:r>
            <a:r>
              <a:rPr lang="en-US" altLang="zh-CN"/>
              <a:t>/</a:t>
            </a:r>
            <a:r>
              <a:rPr lang="zh-CN" altLang="en-US"/>
              <a:t>预研性质</a:t>
            </a:r>
            <a:endParaRPr lang="en-US" altLang="zh-CN"/>
          </a:p>
          <a:p>
            <a:r>
              <a:rPr lang="zh-CN" altLang="en-US"/>
              <a:t>输出</a:t>
            </a:r>
            <a:endParaRPr lang="en-US" altLang="zh-CN"/>
          </a:p>
          <a:p>
            <a:pPr lvl="1"/>
            <a:r>
              <a:rPr lang="zh-CN" altLang="en-US"/>
              <a:t>项目评估报告</a:t>
            </a:r>
          </a:p>
          <a:p>
            <a:endParaRPr lang="zh-CN" altLang="en-US"/>
          </a:p>
        </p:txBody>
      </p:sp>
      <p:sp>
        <p:nvSpPr>
          <p:cNvPr id="27" name="文本占位符 26">
            <a:extLst>
              <a:ext uri="{FF2B5EF4-FFF2-40B4-BE49-F238E27FC236}">
                <a16:creationId xmlns:a16="http://schemas.microsoft.com/office/drawing/2014/main" id="{72697BBD-C82C-BAED-50D5-52577C5BBB47}"/>
              </a:ext>
            </a:extLst>
          </p:cNvPr>
          <p:cNvSpPr>
            <a:spLocks noGrp="1"/>
          </p:cNvSpPr>
          <p:nvPr>
            <p:ph type="body" sz="quarter" idx="10"/>
          </p:nvPr>
        </p:nvSpPr>
        <p:spPr/>
        <p:txBody>
          <a:bodyPr/>
          <a:lstStyle/>
          <a:p>
            <a:r>
              <a:rPr lang="en-US" altLang="zh-CN"/>
              <a:t>Evaluation</a:t>
            </a:r>
            <a:endParaRPr lang="zh-CN" altLang="en-US"/>
          </a:p>
        </p:txBody>
      </p:sp>
    </p:spTree>
    <p:extLst>
      <p:ext uri="{BB962C8B-B14F-4D97-AF65-F5344CB8AC3E}">
        <p14:creationId xmlns:p14="http://schemas.microsoft.com/office/powerpoint/2010/main" val="1736970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en-US" altLang="zh-CN" err="1"/>
              <a:t>Input</a:t>
            </a:r>
            <a:r>
              <a:rPr lang="en-US" altLang="zh-CN" baseline="-25000" err="1"/>
              <a:t>t</a:t>
            </a:r>
            <a:r>
              <a:rPr lang="zh-CN" altLang="en-US"/>
              <a:t>：第</a:t>
            </a:r>
            <a:r>
              <a:rPr lang="en-US" altLang="zh-CN"/>
              <a:t>t</a:t>
            </a:r>
            <a:r>
              <a:rPr lang="zh-CN" altLang="en-US"/>
              <a:t>年的现金流入量</a:t>
            </a:r>
            <a:endParaRPr lang="en-US" altLang="zh-CN"/>
          </a:p>
          <a:p>
            <a:r>
              <a:rPr lang="en-US" altLang="zh-CN" err="1"/>
              <a:t>Output</a:t>
            </a:r>
            <a:r>
              <a:rPr lang="en-US" altLang="zh-CN" baseline="-25000" err="1"/>
              <a:t>t</a:t>
            </a:r>
            <a:r>
              <a:rPr lang="zh-CN" altLang="en-US"/>
              <a:t>：第</a:t>
            </a:r>
            <a:r>
              <a:rPr lang="en-US" altLang="zh-CN"/>
              <a:t>t</a:t>
            </a:r>
            <a:r>
              <a:rPr lang="zh-CN" altLang="en-US"/>
              <a:t>年的现金流出量</a:t>
            </a:r>
            <a:endParaRPr lang="en-US" altLang="zh-CN"/>
          </a:p>
          <a:p>
            <a:r>
              <a:rPr lang="en-US" altLang="zh-CN" err="1"/>
              <a:t>CF</a:t>
            </a:r>
            <a:r>
              <a:rPr lang="en-US" altLang="zh-CN" baseline="-25000" err="1"/>
              <a:t>t</a:t>
            </a:r>
            <a:r>
              <a:rPr lang="zh-CN" altLang="en-US"/>
              <a:t>：</a:t>
            </a:r>
            <a:r>
              <a:rPr lang="en-US" altLang="zh-CN"/>
              <a:t>Current Flow at time t</a:t>
            </a:r>
            <a:r>
              <a:rPr lang="zh-CN" altLang="en-US"/>
              <a:t>，当前净现金流 </a:t>
            </a:r>
            <a:r>
              <a:rPr lang="en-US" altLang="zh-CN"/>
              <a:t>= I</a:t>
            </a:r>
            <a:r>
              <a:rPr lang="en-US" altLang="zh-CN" baseline="-25000"/>
              <a:t>t</a:t>
            </a:r>
            <a:r>
              <a:rPr lang="en-US" altLang="zh-CN"/>
              <a:t> - O</a:t>
            </a:r>
            <a:r>
              <a:rPr lang="en-US" altLang="zh-CN" baseline="-25000"/>
              <a:t>t</a:t>
            </a:r>
            <a:endParaRPr lang="en-US" altLang="zh-CN"/>
          </a:p>
          <a:p>
            <a:r>
              <a:rPr lang="en-US" altLang="zh-CN"/>
              <a:t>r</a:t>
            </a:r>
            <a:r>
              <a:rPr lang="zh-CN" altLang="en-US"/>
              <a:t>：贴现率</a:t>
            </a:r>
            <a:endParaRPr lang="en-US" altLang="zh-CN"/>
          </a:p>
          <a:p>
            <a:r>
              <a:rPr lang="en-US" altLang="zh-CN"/>
              <a:t>NPV</a:t>
            </a:r>
            <a:r>
              <a:rPr lang="zh-CN" altLang="en-US"/>
              <a:t>：</a:t>
            </a:r>
            <a:r>
              <a:rPr lang="en-US" altLang="zh-CN"/>
              <a:t>Net Present Value</a:t>
            </a:r>
            <a:r>
              <a:rPr lang="zh-CN" altLang="en-US"/>
              <a:t>，净现金值</a:t>
            </a:r>
            <a:endParaRPr lang="en-US" altLang="zh-CN"/>
          </a:p>
          <a:p>
            <a:endParaRPr lang="zh-CN" altLang="en-US"/>
          </a:p>
          <a:p>
            <a:endParaRPr lang="zh-CN" altLang="en-US"/>
          </a:p>
        </p:txBody>
      </p:sp>
      <p:sp>
        <p:nvSpPr>
          <p:cNvPr id="15" name="文本占位符 14">
            <a:extLst>
              <a:ext uri="{FF2B5EF4-FFF2-40B4-BE49-F238E27FC236}">
                <a16:creationId xmlns:a16="http://schemas.microsoft.com/office/drawing/2014/main" id="{94E07A77-CE22-02AB-05A2-1FC29A17C5BE}"/>
              </a:ext>
            </a:extLst>
          </p:cNvPr>
          <p:cNvSpPr>
            <a:spLocks noGrp="1"/>
          </p:cNvSpPr>
          <p:nvPr>
            <p:ph type="body" sz="quarter" idx="10"/>
          </p:nvPr>
        </p:nvSpPr>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5073637" y="2977374"/>
                <a:ext cx="2044727" cy="7564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5073637" y="2977374"/>
                <a:ext cx="2044727" cy="756426"/>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1551052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zh-CN" altLang="en-US"/>
              <a:t>例</a:t>
            </a:r>
            <a:r>
              <a:rPr lang="en-US" altLang="zh-CN"/>
              <a:t>1. </a:t>
            </a:r>
            <a:r>
              <a:rPr lang="zh-CN" altLang="en-US"/>
              <a:t>某软件公司准备投标某项目，估计成本是</a:t>
            </a:r>
            <a:r>
              <a:rPr lang="en-US" altLang="zh-CN"/>
              <a:t>75.95</a:t>
            </a:r>
            <a:r>
              <a:rPr lang="zh-CN" altLang="en-US"/>
              <a:t>万，项目的合同金额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，请计算</a:t>
            </a:r>
            <a:r>
              <a:rPr lang="en-US" altLang="zh-CN"/>
              <a:t>NPV</a:t>
            </a:r>
            <a:r>
              <a:rPr lang="zh-CN" altLang="en-US"/>
              <a:t>。</a:t>
            </a:r>
            <a:endParaRPr lang="en-US" altLang="zh-CN"/>
          </a:p>
          <a:p>
            <a:endParaRPr lang="zh-CN" altLang="en-US"/>
          </a:p>
        </p:txBody>
      </p:sp>
      <p:sp>
        <p:nvSpPr>
          <p:cNvPr id="6" name="文本占位符 5">
            <a:extLst>
              <a:ext uri="{FF2B5EF4-FFF2-40B4-BE49-F238E27FC236}">
                <a16:creationId xmlns:a16="http://schemas.microsoft.com/office/drawing/2014/main" id="{92982456-E000-142B-2367-6F097C383F13}"/>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r>
                            <a:rPr lang="en-US" altLang="zh-CN" b="0" i="1" smtClean="0">
                              <a:solidFill>
                                <a:schemeClr val="bg1"/>
                              </a:solidFill>
                              <a:latin typeface="Cambria Math" panose="02040503050406030204" pitchFamily="18" charset="0"/>
                            </a:rPr>
                            <m:t>=−25.95+0+</m:t>
                          </m:r>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50</m:t>
                              </m:r>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(1+8%)</m:t>
                                  </m:r>
                                </m:e>
                                <m:sup>
                                  <m:r>
                                    <a:rPr lang="en-US" altLang="zh-CN" b="0" i="1" smtClean="0">
                                      <a:solidFill>
                                        <a:schemeClr val="bg1"/>
                                      </a:solidFill>
                                      <a:latin typeface="Cambria Math" panose="02040503050406030204" pitchFamily="18" charset="0"/>
                                    </a:rPr>
                                    <m:t>2</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00B8DDFF-8BE2-5C65-8A0A-1D7558C492D3}"/>
              </a:ext>
            </a:extLst>
          </p:cNvPr>
          <p:cNvGraphicFramePr>
            <a:graphicFrameLocks noGrp="1"/>
          </p:cNvGraphicFramePr>
          <p:nvPr>
            <p:extLst>
              <p:ext uri="{D42A27DB-BD31-4B8C-83A1-F6EECF244321}">
                <p14:modId xmlns:p14="http://schemas.microsoft.com/office/powerpoint/2010/main" val="3779533773"/>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600">
                          <a:solidFill>
                            <a:schemeClr val="bg1"/>
                          </a:solidFill>
                        </a:rPr>
                        <a:t>t</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Input</a:t>
                      </a:r>
                      <a:r>
                        <a:rPr lang="zh-CN" altLang="en-US" sz="160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Output</a:t>
                      </a:r>
                      <a:r>
                        <a:rPr lang="zh-CN" altLang="en-US" sz="160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Input-Output</a:t>
                      </a:r>
                      <a:r>
                        <a:rPr lang="zh-CN" altLang="en-US" sz="160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err="1">
                          <a:solidFill>
                            <a:schemeClr val="bg1"/>
                          </a:solidFill>
                        </a:rPr>
                        <a:t>NPVt</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63449487"/>
                  </a:ext>
                </a:extLst>
              </a:tr>
              <a:tr h="370840">
                <a:tc>
                  <a:txBody>
                    <a:bodyPr/>
                    <a:lstStyle/>
                    <a:p>
                      <a:pPr algn="ctr"/>
                      <a:r>
                        <a:rPr lang="en-US" altLang="zh-CN" sz="1600">
                          <a:solidFill>
                            <a:schemeClr val="bg1"/>
                          </a:solidFill>
                        </a:rPr>
                        <a:t>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75.95</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-25.95</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-25.95</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600">
                          <a:solidFill>
                            <a:schemeClr val="bg1"/>
                          </a:solidFill>
                        </a:rPr>
                        <a:t>t1</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600">
                          <a:solidFill>
                            <a:schemeClr val="bg1"/>
                          </a:solidFill>
                        </a:rPr>
                        <a:t>t2</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50/(1+8%)</a:t>
                      </a:r>
                      <a:r>
                        <a:rPr lang="en-US" altLang="zh-CN" sz="1600" baseline="30000">
                          <a:solidFill>
                            <a:schemeClr val="bg1"/>
                          </a:solidFill>
                        </a:rPr>
                        <a:t>2</a:t>
                      </a:r>
                      <a:endParaRPr lang="zh-CN" altLang="en-US" sz="1600" baseline="300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2563930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3501-F2AB-3381-DE10-97D084BC69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F44198-205A-5403-B4A3-7170A50E9BD3}"/>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1A455E26-0B1B-FC39-FB56-46E4901A5B69}"/>
              </a:ext>
            </a:extLst>
          </p:cNvPr>
          <p:cNvSpPr>
            <a:spLocks noGrp="1"/>
          </p:cNvSpPr>
          <p:nvPr>
            <p:ph idx="1"/>
          </p:nvPr>
        </p:nvSpPr>
        <p:spPr>
          <a:xfrm>
            <a:off x="696000" y="864000"/>
            <a:ext cx="10800000" cy="5400000"/>
          </a:xfrm>
        </p:spPr>
        <p:txBody>
          <a:bodyPr/>
          <a:lstStyle/>
          <a:p>
            <a:r>
              <a:rPr lang="zh-CN" altLang="en-US"/>
              <a:t>例</a:t>
            </a:r>
            <a:r>
              <a:rPr lang="en-US" altLang="zh-CN"/>
              <a:t>2. </a:t>
            </a:r>
            <a:r>
              <a:rPr lang="zh-CN" altLang="en-US"/>
              <a:t>某软件公司准备投标某项目，项目的合同金额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，求</a:t>
            </a:r>
            <a:r>
              <a:rPr lang="en-US" altLang="zh-CN"/>
              <a:t>NPV</a:t>
            </a:r>
            <a:r>
              <a:rPr lang="zh-CN" altLang="en-US"/>
              <a:t>。</a:t>
            </a:r>
          </a:p>
        </p:txBody>
      </p:sp>
      <p:sp>
        <p:nvSpPr>
          <p:cNvPr id="7" name="文本占位符 6">
            <a:extLst>
              <a:ext uri="{FF2B5EF4-FFF2-40B4-BE49-F238E27FC236}">
                <a16:creationId xmlns:a16="http://schemas.microsoft.com/office/drawing/2014/main" id="{CA6A3EDF-670F-05A8-CA19-6F4B442BCB09}"/>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AA767A63-3DD3-3479-FB37-79F99FD8A6B4}"/>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r>
                            <a:rPr lang="en-US" altLang="zh-CN" b="0" i="1" smtClean="0">
                              <a:solidFill>
                                <a:schemeClr val="bg1"/>
                              </a:solidFill>
                              <a:latin typeface="Cambria Math" panose="02040503050406030204" pitchFamily="18" charset="0"/>
                            </a:rPr>
                            <m:t>=50+0+</m:t>
                          </m:r>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50</m:t>
                              </m:r>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(1+8%)</m:t>
                                  </m:r>
                                </m:e>
                                <m:sup>
                                  <m:r>
                                    <a:rPr lang="en-US" altLang="zh-CN" b="0" i="1" smtClean="0">
                                      <a:solidFill>
                                        <a:schemeClr val="bg1"/>
                                      </a:solidFill>
                                      <a:latin typeface="Cambria Math" panose="02040503050406030204" pitchFamily="18" charset="0"/>
                                    </a:rPr>
                                    <m:t>2</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AA767A63-3DD3-3479-FB37-79F99FD8A6B4}"/>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FD017FA2-98E3-15BA-AA40-369F89CDB09A}"/>
              </a:ext>
            </a:extLst>
          </p:cNvPr>
          <p:cNvGraphicFramePr>
            <a:graphicFrameLocks noGrp="1"/>
          </p:cNvGraphicFramePr>
          <p:nvPr>
            <p:extLst>
              <p:ext uri="{D42A27DB-BD31-4B8C-83A1-F6EECF244321}">
                <p14:modId xmlns:p14="http://schemas.microsoft.com/office/powerpoint/2010/main" val="2469951945"/>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600">
                          <a:solidFill>
                            <a:schemeClr val="bg1"/>
                          </a:solidFill>
                        </a:rPr>
                        <a:t>t</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Input</a:t>
                      </a:r>
                      <a:r>
                        <a:rPr lang="zh-CN" altLang="en-US" sz="160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Output</a:t>
                      </a:r>
                      <a:r>
                        <a:rPr lang="zh-CN" altLang="en-US" sz="160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Input-Output</a:t>
                      </a:r>
                      <a:r>
                        <a:rPr lang="zh-CN" altLang="en-US" sz="160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err="1">
                          <a:solidFill>
                            <a:schemeClr val="bg1"/>
                          </a:solidFill>
                        </a:rPr>
                        <a:t>NPVt</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63449487"/>
                  </a:ext>
                </a:extLst>
              </a:tr>
              <a:tr h="370840">
                <a:tc>
                  <a:txBody>
                    <a:bodyPr/>
                    <a:lstStyle/>
                    <a:p>
                      <a:pPr algn="ctr"/>
                      <a:r>
                        <a:rPr lang="en-US" altLang="zh-CN" sz="1600">
                          <a:solidFill>
                            <a:schemeClr val="bg1"/>
                          </a:solidFill>
                        </a:rPr>
                        <a:t>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600">
                          <a:solidFill>
                            <a:schemeClr val="bg1"/>
                          </a:solidFill>
                        </a:rPr>
                        <a:t>t1</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600">
                          <a:solidFill>
                            <a:schemeClr val="bg1"/>
                          </a:solidFill>
                        </a:rPr>
                        <a:t>t2</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50/(1+8%)</a:t>
                      </a:r>
                      <a:r>
                        <a:rPr lang="en-US" altLang="zh-CN" sz="1600" baseline="30000">
                          <a:solidFill>
                            <a:schemeClr val="bg1"/>
                          </a:solidFill>
                        </a:rPr>
                        <a:t>2</a:t>
                      </a:r>
                      <a:endParaRPr lang="zh-CN" altLang="en-US" sz="1600" baseline="300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145851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695998" y="360000"/>
            <a:ext cx="6375921" cy="429413"/>
          </a:xfrm>
        </p:spPr>
        <p:txBody>
          <a:bodyPr>
            <a:normAutofit/>
          </a:bodyPr>
          <a:lstStyle/>
          <a:p>
            <a:r>
              <a:rPr lang="en-US" altLang="zh-CN"/>
              <a:t>2.2 </a:t>
            </a:r>
            <a:r>
              <a:rPr lang="zh-CN" altLang="en-US"/>
              <a:t>项目立项</a:t>
            </a:r>
          </a:p>
        </p:txBody>
      </p:sp>
      <p:sp>
        <p:nvSpPr>
          <p:cNvPr id="7" name="内容占位符 6">
            <a:extLst>
              <a:ext uri="{FF2B5EF4-FFF2-40B4-BE49-F238E27FC236}">
                <a16:creationId xmlns:a16="http://schemas.microsoft.com/office/drawing/2014/main" id="{C8FEFA43-E12C-C58B-C98B-B68F488745B2}"/>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40AB9CE1-DA87-29E2-2C72-E5C2B99A40D0}"/>
              </a:ext>
            </a:extLst>
          </p:cNvPr>
          <p:cNvSpPr>
            <a:spLocks noGrp="1"/>
          </p:cNvSpPr>
          <p:nvPr>
            <p:ph type="body" sz="quarter" idx="10"/>
          </p:nvPr>
        </p:nvSpPr>
        <p:spPr>
          <a:xfrm>
            <a:off x="7071919" y="448519"/>
            <a:ext cx="4424080" cy="338554"/>
          </a:xfrm>
        </p:spPr>
        <p:txBody>
          <a:bodyPr/>
          <a:lstStyle/>
          <a:p>
            <a:r>
              <a:rPr lang="en-US" altLang="zh-CN"/>
              <a:t>Project Approval</a:t>
            </a:r>
            <a:endParaRPr lang="zh-CN" altLang="en-US"/>
          </a:p>
        </p:txBody>
      </p:sp>
      <p:sp>
        <p:nvSpPr>
          <p:cNvPr id="10" name="矩形: 圆角 9">
            <a:extLst>
              <a:ext uri="{FF2B5EF4-FFF2-40B4-BE49-F238E27FC236}">
                <a16:creationId xmlns:a16="http://schemas.microsoft.com/office/drawing/2014/main" id="{F36EC085-A2DA-158A-8012-4D05CA4E4605}"/>
              </a:ext>
            </a:extLst>
          </p:cNvPr>
          <p:cNvSpPr/>
          <p:nvPr/>
        </p:nvSpPr>
        <p:spPr>
          <a:xfrm>
            <a:off x="5030288" y="1143000"/>
            <a:ext cx="1440000" cy="360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开始</a:t>
            </a:r>
          </a:p>
        </p:txBody>
      </p:sp>
      <p:sp>
        <p:nvSpPr>
          <p:cNvPr id="11" name="矩形: 圆角 10">
            <a:extLst>
              <a:ext uri="{FF2B5EF4-FFF2-40B4-BE49-F238E27FC236}">
                <a16:creationId xmlns:a16="http://schemas.microsoft.com/office/drawing/2014/main" id="{58CF2407-9E9A-ED6D-387C-A06BC6754DE3}"/>
              </a:ext>
            </a:extLst>
          </p:cNvPr>
          <p:cNvSpPr/>
          <p:nvPr/>
        </p:nvSpPr>
        <p:spPr>
          <a:xfrm>
            <a:off x="5030288" y="5641575"/>
            <a:ext cx="1440000" cy="360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结束</a:t>
            </a:r>
          </a:p>
        </p:txBody>
      </p:sp>
      <p:sp>
        <p:nvSpPr>
          <p:cNvPr id="12" name="矩形 11">
            <a:extLst>
              <a:ext uri="{FF2B5EF4-FFF2-40B4-BE49-F238E27FC236}">
                <a16:creationId xmlns:a16="http://schemas.microsoft.com/office/drawing/2014/main" id="{0BC184B8-03A2-F58A-102E-F19FDA903335}"/>
              </a:ext>
            </a:extLst>
          </p:cNvPr>
          <p:cNvSpPr/>
          <p:nvPr/>
        </p:nvSpPr>
        <p:spPr>
          <a:xfrm>
            <a:off x="5030288" y="179015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识别发起的项目</a:t>
            </a:r>
          </a:p>
        </p:txBody>
      </p:sp>
      <p:sp>
        <p:nvSpPr>
          <p:cNvPr id="13" name="矩形 12">
            <a:extLst>
              <a:ext uri="{FF2B5EF4-FFF2-40B4-BE49-F238E27FC236}">
                <a16:creationId xmlns:a16="http://schemas.microsoft.com/office/drawing/2014/main" id="{6E3FDA58-A5E4-C625-061E-1F6900A5FC20}"/>
              </a:ext>
            </a:extLst>
          </p:cNvPr>
          <p:cNvSpPr/>
          <p:nvPr/>
        </p:nvSpPr>
        <p:spPr>
          <a:xfrm>
            <a:off x="5030288"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论证项目</a:t>
            </a:r>
          </a:p>
        </p:txBody>
      </p:sp>
      <p:sp>
        <p:nvSpPr>
          <p:cNvPr id="14" name="矩形 13">
            <a:extLst>
              <a:ext uri="{FF2B5EF4-FFF2-40B4-BE49-F238E27FC236}">
                <a16:creationId xmlns:a16="http://schemas.microsoft.com/office/drawing/2014/main" id="{678C57EA-737A-6D76-D444-032FDEBE31C1}"/>
              </a:ext>
            </a:extLst>
          </p:cNvPr>
          <p:cNvSpPr/>
          <p:nvPr/>
        </p:nvSpPr>
        <p:spPr>
          <a:xfrm>
            <a:off x="5030288" y="308445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申请项目</a:t>
            </a:r>
          </a:p>
        </p:txBody>
      </p:sp>
      <p:sp>
        <p:nvSpPr>
          <p:cNvPr id="15" name="菱形 14">
            <a:extLst>
              <a:ext uri="{FF2B5EF4-FFF2-40B4-BE49-F238E27FC236}">
                <a16:creationId xmlns:a16="http://schemas.microsoft.com/office/drawing/2014/main" id="{A8882B3B-77B0-68FD-E022-6A08C9E7B59F}"/>
              </a:ext>
            </a:extLst>
          </p:cNvPr>
          <p:cNvSpPr/>
          <p:nvPr/>
        </p:nvSpPr>
        <p:spPr>
          <a:xfrm>
            <a:off x="4850288" y="3857594"/>
            <a:ext cx="1800000" cy="720000"/>
          </a:xfrm>
          <a:prstGeom prst="diamond">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审核项目</a:t>
            </a:r>
          </a:p>
        </p:txBody>
      </p:sp>
      <p:sp>
        <p:nvSpPr>
          <p:cNvPr id="16" name="矩形 15">
            <a:extLst>
              <a:ext uri="{FF2B5EF4-FFF2-40B4-BE49-F238E27FC236}">
                <a16:creationId xmlns:a16="http://schemas.microsoft.com/office/drawing/2014/main" id="{74D429BA-996F-3D73-3EE6-D40D0D9A91EF}"/>
              </a:ext>
            </a:extLst>
          </p:cNvPr>
          <p:cNvSpPr/>
          <p:nvPr/>
        </p:nvSpPr>
        <p:spPr>
          <a:xfrm>
            <a:off x="5030288" y="4990737"/>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确定项目立项</a:t>
            </a:r>
          </a:p>
        </p:txBody>
      </p:sp>
      <p:sp>
        <p:nvSpPr>
          <p:cNvPr id="17" name="矩形 16">
            <a:extLst>
              <a:ext uri="{FF2B5EF4-FFF2-40B4-BE49-F238E27FC236}">
                <a16:creationId xmlns:a16="http://schemas.microsoft.com/office/drawing/2014/main" id="{C22DF741-916E-36CD-24E8-2BAE20C8F75B}"/>
              </a:ext>
            </a:extLst>
          </p:cNvPr>
          <p:cNvSpPr/>
          <p:nvPr/>
        </p:nvSpPr>
        <p:spPr>
          <a:xfrm>
            <a:off x="7440113" y="4037594"/>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取消项目立项</a:t>
            </a:r>
          </a:p>
        </p:txBody>
      </p:sp>
      <p:sp>
        <p:nvSpPr>
          <p:cNvPr id="18" name="矩形: 圆角 17">
            <a:extLst>
              <a:ext uri="{FF2B5EF4-FFF2-40B4-BE49-F238E27FC236}">
                <a16:creationId xmlns:a16="http://schemas.microsoft.com/office/drawing/2014/main" id="{43280337-CD28-CD87-2AE6-5A1673AF96A1}"/>
              </a:ext>
            </a:extLst>
          </p:cNvPr>
          <p:cNvSpPr/>
          <p:nvPr/>
        </p:nvSpPr>
        <p:spPr>
          <a:xfrm>
            <a:off x="2887163" y="4001594"/>
            <a:ext cx="144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立项评审报告</a:t>
            </a:r>
          </a:p>
        </p:txBody>
      </p:sp>
      <p:sp>
        <p:nvSpPr>
          <p:cNvPr id="19" name="矩形 18">
            <a:extLst>
              <a:ext uri="{FF2B5EF4-FFF2-40B4-BE49-F238E27FC236}">
                <a16:creationId xmlns:a16="http://schemas.microsoft.com/office/drawing/2014/main" id="{0F863E9A-8BE1-F116-A6F7-32D95F84B546}"/>
              </a:ext>
            </a:extLst>
          </p:cNvPr>
          <p:cNvSpPr/>
          <p:nvPr/>
        </p:nvSpPr>
        <p:spPr>
          <a:xfrm>
            <a:off x="7440113"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项目评估报告</a:t>
            </a:r>
          </a:p>
        </p:txBody>
      </p:sp>
      <p:sp>
        <p:nvSpPr>
          <p:cNvPr id="20" name="矩形: 圆角 19">
            <a:extLst>
              <a:ext uri="{FF2B5EF4-FFF2-40B4-BE49-F238E27FC236}">
                <a16:creationId xmlns:a16="http://schemas.microsoft.com/office/drawing/2014/main" id="{4B57DB1D-1FDB-4D10-8B0A-BF2EAB88ECD6}"/>
              </a:ext>
            </a:extLst>
          </p:cNvPr>
          <p:cNvSpPr/>
          <p:nvPr/>
        </p:nvSpPr>
        <p:spPr>
          <a:xfrm>
            <a:off x="7440113" y="3056742"/>
            <a:ext cx="216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项目立项申请建议书</a:t>
            </a:r>
          </a:p>
        </p:txBody>
      </p:sp>
      <p:cxnSp>
        <p:nvCxnSpPr>
          <p:cNvPr id="22" name="直接箭头连接符 21">
            <a:extLst>
              <a:ext uri="{FF2B5EF4-FFF2-40B4-BE49-F238E27FC236}">
                <a16:creationId xmlns:a16="http://schemas.microsoft.com/office/drawing/2014/main" id="{C6C7CFB0-7460-217D-BD91-829B632D67C5}"/>
              </a:ext>
            </a:extLst>
          </p:cNvPr>
          <p:cNvCxnSpPr>
            <a:stCxn id="10" idx="2"/>
            <a:endCxn id="12" idx="0"/>
          </p:cNvCxnSpPr>
          <p:nvPr/>
        </p:nvCxnSpPr>
        <p:spPr>
          <a:xfrm>
            <a:off x="5750288" y="1503000"/>
            <a:ext cx="0" cy="2871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F6609C2-726E-5A75-4F92-73619BD4A074}"/>
              </a:ext>
            </a:extLst>
          </p:cNvPr>
          <p:cNvCxnSpPr>
            <a:stCxn id="12" idx="2"/>
            <a:endCxn id="13" idx="0"/>
          </p:cNvCxnSpPr>
          <p:nvPr/>
        </p:nvCxnSpPr>
        <p:spPr>
          <a:xfrm>
            <a:off x="5750288" y="2150150"/>
            <a:ext cx="0" cy="2871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50C2D98D-C38B-2CF5-744F-C1F992987E2B}"/>
              </a:ext>
            </a:extLst>
          </p:cNvPr>
          <p:cNvCxnSpPr>
            <a:stCxn id="13" idx="2"/>
            <a:endCxn id="14" idx="0"/>
          </p:cNvCxnSpPr>
          <p:nvPr/>
        </p:nvCxnSpPr>
        <p:spPr>
          <a:xfrm>
            <a:off x="5750288" y="2797300"/>
            <a:ext cx="0" cy="2871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B96BC729-AF7F-7E61-4D40-D8C91DFB5B62}"/>
              </a:ext>
            </a:extLst>
          </p:cNvPr>
          <p:cNvCxnSpPr>
            <a:cxnSpLocks/>
            <a:stCxn id="15" idx="2"/>
            <a:endCxn id="16" idx="0"/>
          </p:cNvCxnSpPr>
          <p:nvPr/>
        </p:nvCxnSpPr>
        <p:spPr>
          <a:xfrm>
            <a:off x="5750288" y="4577594"/>
            <a:ext cx="0" cy="41314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14FC2D3A-C9CC-F58E-A1FF-12094CAE1A25}"/>
              </a:ext>
            </a:extLst>
          </p:cNvPr>
          <p:cNvCxnSpPr>
            <a:cxnSpLocks/>
            <a:stCxn id="14" idx="2"/>
            <a:endCxn id="15" idx="0"/>
          </p:cNvCxnSpPr>
          <p:nvPr/>
        </p:nvCxnSpPr>
        <p:spPr>
          <a:xfrm>
            <a:off x="5750288" y="3444450"/>
            <a:ext cx="0" cy="41314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6F86D67D-DE6A-09F6-4EB1-B1AFB66A2692}"/>
              </a:ext>
            </a:extLst>
          </p:cNvPr>
          <p:cNvCxnSpPr>
            <a:stCxn id="16" idx="2"/>
            <a:endCxn id="11" idx="0"/>
          </p:cNvCxnSpPr>
          <p:nvPr/>
        </p:nvCxnSpPr>
        <p:spPr>
          <a:xfrm>
            <a:off x="5750288" y="5350737"/>
            <a:ext cx="0" cy="29083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CD4431D-E1E3-621A-E4A3-E9BD69FC262B}"/>
              </a:ext>
            </a:extLst>
          </p:cNvPr>
          <p:cNvCxnSpPr>
            <a:stCxn id="15" idx="3"/>
            <a:endCxn id="17" idx="1"/>
          </p:cNvCxnSpPr>
          <p:nvPr/>
        </p:nvCxnSpPr>
        <p:spPr>
          <a:xfrm>
            <a:off x="6650288" y="4217594"/>
            <a:ext cx="78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8D14AEAF-835A-B7A6-41C7-CEA5EBE68CEF}"/>
              </a:ext>
            </a:extLst>
          </p:cNvPr>
          <p:cNvCxnSpPr>
            <a:stCxn id="13" idx="3"/>
            <a:endCxn id="19" idx="1"/>
          </p:cNvCxnSpPr>
          <p:nvPr/>
        </p:nvCxnSpPr>
        <p:spPr>
          <a:xfrm>
            <a:off x="6470288" y="261730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9D247EB-C6E2-9900-813D-AE617F07CA31}"/>
              </a:ext>
            </a:extLst>
          </p:cNvPr>
          <p:cNvCxnSpPr>
            <a:stCxn id="14" idx="3"/>
          </p:cNvCxnSpPr>
          <p:nvPr/>
        </p:nvCxnSpPr>
        <p:spPr>
          <a:xfrm>
            <a:off x="6470288" y="326445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F9E928B6-5400-2421-2D0D-7D6D22EEB1DB}"/>
              </a:ext>
            </a:extLst>
          </p:cNvPr>
          <p:cNvCxnSpPr>
            <a:stCxn id="15" idx="1"/>
          </p:cNvCxnSpPr>
          <p:nvPr/>
        </p:nvCxnSpPr>
        <p:spPr>
          <a:xfrm flipH="1">
            <a:off x="4327163" y="4217594"/>
            <a:ext cx="5231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3A4035D8-CA62-E94C-F7DE-1B8C67966F36}"/>
              </a:ext>
            </a:extLst>
          </p:cNvPr>
          <p:cNvSpPr txBox="1"/>
          <p:nvPr/>
        </p:nvSpPr>
        <p:spPr>
          <a:xfrm>
            <a:off x="5750288" y="4609706"/>
            <a:ext cx="543739" cy="307777"/>
          </a:xfrm>
          <a:prstGeom prst="rect">
            <a:avLst/>
          </a:prstGeom>
          <a:noFill/>
          <a:ln>
            <a:noFill/>
          </a:ln>
        </p:spPr>
        <p:txBody>
          <a:bodyPr wrap="none" rtlCol="0">
            <a:spAutoFit/>
          </a:bodyPr>
          <a:lstStyle/>
          <a:p>
            <a:r>
              <a:rPr lang="zh-CN" altLang="en-US" sz="1400">
                <a:solidFill>
                  <a:srgbClr val="FFFF00"/>
                </a:solidFill>
              </a:rPr>
              <a:t>通过</a:t>
            </a:r>
          </a:p>
        </p:txBody>
      </p:sp>
      <p:sp>
        <p:nvSpPr>
          <p:cNvPr id="47" name="文本框 46">
            <a:extLst>
              <a:ext uri="{FF2B5EF4-FFF2-40B4-BE49-F238E27FC236}">
                <a16:creationId xmlns:a16="http://schemas.microsoft.com/office/drawing/2014/main" id="{01F5B80F-AF65-2C34-6BC1-EAB0C6A315AB}"/>
              </a:ext>
            </a:extLst>
          </p:cNvPr>
          <p:cNvSpPr txBox="1"/>
          <p:nvPr/>
        </p:nvSpPr>
        <p:spPr>
          <a:xfrm>
            <a:off x="6686824" y="3909817"/>
            <a:ext cx="723275" cy="307777"/>
          </a:xfrm>
          <a:prstGeom prst="rect">
            <a:avLst/>
          </a:prstGeom>
          <a:noFill/>
          <a:ln>
            <a:noFill/>
          </a:ln>
        </p:spPr>
        <p:txBody>
          <a:bodyPr wrap="none" rtlCol="0">
            <a:spAutoFit/>
          </a:bodyPr>
          <a:lstStyle/>
          <a:p>
            <a:r>
              <a:rPr lang="zh-CN" altLang="en-US" sz="1400">
                <a:solidFill>
                  <a:srgbClr val="FFFF00"/>
                </a:solidFill>
              </a:rPr>
              <a:t>不通过</a:t>
            </a:r>
          </a:p>
        </p:txBody>
      </p:sp>
    </p:spTree>
    <p:extLst>
      <p:ext uri="{BB962C8B-B14F-4D97-AF65-F5344CB8AC3E}">
        <p14:creationId xmlns:p14="http://schemas.microsoft.com/office/powerpoint/2010/main" val="16808066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F673B-15EE-A3F1-F92E-CC17395DED6B}"/>
              </a:ext>
            </a:extLst>
          </p:cNvPr>
          <p:cNvSpPr>
            <a:spLocks noGrp="1"/>
          </p:cNvSpPr>
          <p:nvPr>
            <p:ph type="title"/>
          </p:nvPr>
        </p:nvSpPr>
        <p:spPr>
          <a:xfrm>
            <a:off x="695998" y="360000"/>
            <a:ext cx="6375921" cy="429413"/>
          </a:xfrm>
        </p:spPr>
        <p:txBody>
          <a:bodyPr/>
          <a:lstStyle/>
          <a:p>
            <a:r>
              <a:rPr lang="en-US" altLang="zh-CN"/>
              <a:t>2.3 </a:t>
            </a:r>
            <a:r>
              <a:rPr lang="zh-CN" altLang="en-US"/>
              <a:t>项目招投标</a:t>
            </a:r>
          </a:p>
        </p:txBody>
      </p:sp>
      <p:sp>
        <p:nvSpPr>
          <p:cNvPr id="12" name="内容占位符 11">
            <a:extLst>
              <a:ext uri="{FF2B5EF4-FFF2-40B4-BE49-F238E27FC236}">
                <a16:creationId xmlns:a16="http://schemas.microsoft.com/office/drawing/2014/main" id="{8EB7501B-1CF1-2FA1-DD54-56B3D18C7149}"/>
              </a:ext>
            </a:extLst>
          </p:cNvPr>
          <p:cNvSpPr>
            <a:spLocks noGrp="1"/>
          </p:cNvSpPr>
          <p:nvPr>
            <p:ph idx="1"/>
          </p:nvPr>
        </p:nvSpPr>
        <p:spPr/>
        <p:txBody>
          <a:bodyPr/>
          <a:lstStyle/>
          <a:p>
            <a:endParaRPr lang="zh-CN" altLang="en-US"/>
          </a:p>
        </p:txBody>
      </p:sp>
      <p:sp>
        <p:nvSpPr>
          <p:cNvPr id="9" name="文本占位符 8">
            <a:extLst>
              <a:ext uri="{FF2B5EF4-FFF2-40B4-BE49-F238E27FC236}">
                <a16:creationId xmlns:a16="http://schemas.microsoft.com/office/drawing/2014/main" id="{CD0A6345-74F4-A1FF-70E8-09460855F2BB}"/>
              </a:ext>
            </a:extLst>
          </p:cNvPr>
          <p:cNvSpPr>
            <a:spLocks noGrp="1"/>
          </p:cNvSpPr>
          <p:nvPr>
            <p:ph type="body" sz="quarter" idx="10"/>
          </p:nvPr>
        </p:nvSpPr>
        <p:spPr>
          <a:xfrm>
            <a:off x="7071919" y="448519"/>
            <a:ext cx="4424080" cy="338554"/>
          </a:xfrm>
        </p:spPr>
        <p:txBody>
          <a:bodyPr/>
          <a:lstStyle/>
          <a:p>
            <a:r>
              <a:rPr lang="en-US" altLang="zh-CN"/>
              <a:t>Bidding</a:t>
            </a:r>
            <a:endParaRPr lang="zh-CN" altLang="en-US"/>
          </a:p>
        </p:txBody>
      </p:sp>
      <p:sp>
        <p:nvSpPr>
          <p:cNvPr id="5" name="矩形 4">
            <a:extLst>
              <a:ext uri="{FF2B5EF4-FFF2-40B4-BE49-F238E27FC236}">
                <a16:creationId xmlns:a16="http://schemas.microsoft.com/office/drawing/2014/main" id="{C289A8E6-6B33-1C09-E5C9-1F53149CB4E0}"/>
              </a:ext>
            </a:extLst>
          </p:cNvPr>
          <p:cNvSpPr/>
          <p:nvPr/>
        </p:nvSpPr>
        <p:spPr>
          <a:xfrm>
            <a:off x="42139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6" name="矩形 5">
            <a:extLst>
              <a:ext uri="{FF2B5EF4-FFF2-40B4-BE49-F238E27FC236}">
                <a16:creationId xmlns:a16="http://schemas.microsoft.com/office/drawing/2014/main" id="{28F3D54D-DF35-C1C6-2672-72CDB0A606B6}"/>
              </a:ext>
            </a:extLst>
          </p:cNvPr>
          <p:cNvSpPr/>
          <p:nvPr/>
        </p:nvSpPr>
        <p:spPr>
          <a:xfrm>
            <a:off x="42139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7" name="矩形 6">
            <a:extLst>
              <a:ext uri="{FF2B5EF4-FFF2-40B4-BE49-F238E27FC236}">
                <a16:creationId xmlns:a16="http://schemas.microsoft.com/office/drawing/2014/main" id="{AD0BE342-87A1-0022-9A90-E2937772EF81}"/>
              </a:ext>
            </a:extLst>
          </p:cNvPr>
          <p:cNvSpPr/>
          <p:nvPr/>
        </p:nvSpPr>
        <p:spPr>
          <a:xfrm>
            <a:off x="42139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8" name="矩形 7">
            <a:extLst>
              <a:ext uri="{FF2B5EF4-FFF2-40B4-BE49-F238E27FC236}">
                <a16:creationId xmlns:a16="http://schemas.microsoft.com/office/drawing/2014/main" id="{1C60078C-F478-8748-FBDE-F933166698DA}"/>
              </a:ext>
            </a:extLst>
          </p:cNvPr>
          <p:cNvSpPr/>
          <p:nvPr/>
        </p:nvSpPr>
        <p:spPr>
          <a:xfrm>
            <a:off x="42139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10" name="直接箭头连接符 9">
            <a:extLst>
              <a:ext uri="{FF2B5EF4-FFF2-40B4-BE49-F238E27FC236}">
                <a16:creationId xmlns:a16="http://schemas.microsoft.com/office/drawing/2014/main" id="{52020C37-C8BF-05D0-0938-1EBDD0A377D4}"/>
              </a:ext>
            </a:extLst>
          </p:cNvPr>
          <p:cNvCxnSpPr>
            <a:cxnSpLocks/>
            <a:stCxn id="5" idx="2"/>
          </p:cNvCxnSpPr>
          <p:nvPr/>
        </p:nvCxnSpPr>
        <p:spPr>
          <a:xfrm>
            <a:off x="49339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186E6F24-EF0F-5F52-B1B9-A3BC0BDDDD6F}"/>
              </a:ext>
            </a:extLst>
          </p:cNvPr>
          <p:cNvCxnSpPr>
            <a:stCxn id="6" idx="2"/>
          </p:cNvCxnSpPr>
          <p:nvPr/>
        </p:nvCxnSpPr>
        <p:spPr>
          <a:xfrm>
            <a:off x="49339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11AE9A87-D3F4-F451-3621-D44B0B073633}"/>
              </a:ext>
            </a:extLst>
          </p:cNvPr>
          <p:cNvCxnSpPr>
            <a:stCxn id="7" idx="2"/>
            <a:endCxn id="8" idx="0"/>
          </p:cNvCxnSpPr>
          <p:nvPr/>
        </p:nvCxnSpPr>
        <p:spPr>
          <a:xfrm>
            <a:off x="49339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7345EBE1-17E5-4881-612E-6D3A8BA61333}"/>
              </a:ext>
            </a:extLst>
          </p:cNvPr>
          <p:cNvSpPr/>
          <p:nvPr/>
        </p:nvSpPr>
        <p:spPr>
          <a:xfrm>
            <a:off x="61923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9" name="矩形: 圆角 18">
            <a:extLst>
              <a:ext uri="{FF2B5EF4-FFF2-40B4-BE49-F238E27FC236}">
                <a16:creationId xmlns:a16="http://schemas.microsoft.com/office/drawing/2014/main" id="{E7D6AD60-579A-356A-5A98-ECDB59BDFC34}"/>
              </a:ext>
            </a:extLst>
          </p:cNvPr>
          <p:cNvSpPr/>
          <p:nvPr/>
        </p:nvSpPr>
        <p:spPr>
          <a:xfrm>
            <a:off x="61923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21" name="直接箭头连接符 20">
            <a:extLst>
              <a:ext uri="{FF2B5EF4-FFF2-40B4-BE49-F238E27FC236}">
                <a16:creationId xmlns:a16="http://schemas.microsoft.com/office/drawing/2014/main" id="{1EE82A72-DBD2-AE9D-F0A3-A9A7F3B38893}"/>
              </a:ext>
            </a:extLst>
          </p:cNvPr>
          <p:cNvCxnSpPr>
            <a:cxnSpLocks/>
            <a:stCxn id="5" idx="3"/>
          </p:cNvCxnSpPr>
          <p:nvPr/>
        </p:nvCxnSpPr>
        <p:spPr>
          <a:xfrm>
            <a:off x="56539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36ED9D99-B50E-B924-1E38-D92434443E00}"/>
              </a:ext>
            </a:extLst>
          </p:cNvPr>
          <p:cNvCxnSpPr>
            <a:stCxn id="6" idx="3"/>
          </p:cNvCxnSpPr>
          <p:nvPr/>
        </p:nvCxnSpPr>
        <p:spPr>
          <a:xfrm>
            <a:off x="56539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97A5186D-DA0E-EF3C-1726-C809D3BCD520}"/>
              </a:ext>
            </a:extLst>
          </p:cNvPr>
          <p:cNvSpPr/>
          <p:nvPr/>
        </p:nvSpPr>
        <p:spPr>
          <a:xfrm>
            <a:off x="61923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26" name="直接箭头连接符 25">
            <a:extLst>
              <a:ext uri="{FF2B5EF4-FFF2-40B4-BE49-F238E27FC236}">
                <a16:creationId xmlns:a16="http://schemas.microsoft.com/office/drawing/2014/main" id="{59432C7F-7F93-6C4C-73C2-4F0181E5A5B4}"/>
              </a:ext>
            </a:extLst>
          </p:cNvPr>
          <p:cNvCxnSpPr>
            <a:stCxn id="8" idx="3"/>
          </p:cNvCxnSpPr>
          <p:nvPr/>
        </p:nvCxnSpPr>
        <p:spPr>
          <a:xfrm>
            <a:off x="56539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F067E38B-8628-172C-2C17-0EFD8C5E8D2F}"/>
              </a:ext>
            </a:extLst>
          </p:cNvPr>
          <p:cNvSpPr txBox="1"/>
          <p:nvPr/>
        </p:nvSpPr>
        <p:spPr>
          <a:xfrm>
            <a:off x="61923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1823491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D06D-AC5A-D75C-FA43-12A4052482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D26F98-3B68-3216-93F5-68C09B1CB549}"/>
              </a:ext>
            </a:extLst>
          </p:cNvPr>
          <p:cNvSpPr>
            <a:spLocks noGrp="1"/>
          </p:cNvSpPr>
          <p:nvPr>
            <p:ph type="title"/>
          </p:nvPr>
        </p:nvSpPr>
        <p:spPr>
          <a:xfrm>
            <a:off x="695998" y="360000"/>
            <a:ext cx="6375921" cy="429413"/>
          </a:xfrm>
        </p:spPr>
        <p:txBody>
          <a:bodyPr/>
          <a:lstStyle/>
          <a:p>
            <a:r>
              <a:rPr lang="en-US" altLang="zh-CN"/>
              <a:t>2.3.1 </a:t>
            </a:r>
            <a:r>
              <a:rPr lang="zh-CN" altLang="en-US"/>
              <a:t>招标书</a:t>
            </a:r>
          </a:p>
        </p:txBody>
      </p:sp>
      <p:sp>
        <p:nvSpPr>
          <p:cNvPr id="9" name="内容占位符 8">
            <a:extLst>
              <a:ext uri="{FF2B5EF4-FFF2-40B4-BE49-F238E27FC236}">
                <a16:creationId xmlns:a16="http://schemas.microsoft.com/office/drawing/2014/main" id="{F4BB1821-59ED-E95D-BDA1-BDD1B70145B7}"/>
              </a:ext>
            </a:extLst>
          </p:cNvPr>
          <p:cNvSpPr>
            <a:spLocks noGrp="1"/>
          </p:cNvSpPr>
          <p:nvPr>
            <p:ph idx="1"/>
          </p:nvPr>
        </p:nvSpPr>
        <p:spPr>
          <a:xfrm>
            <a:off x="696000" y="864000"/>
            <a:ext cx="10800000" cy="5400000"/>
          </a:xfrm>
        </p:spPr>
        <p:txBody>
          <a:bodyPr/>
          <a:lstStyle/>
          <a:p>
            <a:r>
              <a:rPr lang="en-US" altLang="zh-CN"/>
              <a:t>IFB - Invitation for Bid</a:t>
            </a:r>
            <a:r>
              <a:rPr lang="zh-CN" altLang="en-US"/>
              <a:t>（投标邀请）</a:t>
            </a:r>
            <a:endParaRPr lang="en-US" altLang="zh-CN"/>
          </a:p>
          <a:p>
            <a:pPr lvl="1"/>
            <a:r>
              <a:rPr lang="zh-CN" altLang="en-US"/>
              <a:t>最正式，全面考察</a:t>
            </a:r>
          </a:p>
          <a:p>
            <a:r>
              <a:rPr lang="en-US" altLang="zh-CN"/>
              <a:t>RFP - Request for Proposal</a:t>
            </a:r>
            <a:r>
              <a:rPr lang="zh-CN" altLang="en-US"/>
              <a:t>（建议书提交邀请）</a:t>
            </a:r>
            <a:endParaRPr lang="en-US" altLang="zh-CN"/>
          </a:p>
          <a:p>
            <a:pPr lvl="1"/>
            <a:r>
              <a:rPr lang="zh-CN" altLang="en-US"/>
              <a:t>看看你的方案</a:t>
            </a:r>
          </a:p>
          <a:p>
            <a:r>
              <a:rPr lang="en-US" altLang="zh-CN"/>
              <a:t>RFQ - Request for Quotation</a:t>
            </a:r>
            <a:r>
              <a:rPr lang="zh-CN" altLang="en-US"/>
              <a:t>（报价邀请）</a:t>
            </a:r>
            <a:endParaRPr lang="en-US" altLang="zh-CN"/>
          </a:p>
          <a:p>
            <a:pPr lvl="1"/>
            <a:r>
              <a:rPr lang="zh-CN" altLang="en-US"/>
              <a:t>看看你的报价</a:t>
            </a:r>
            <a:endParaRPr lang="en-US" altLang="zh-CN"/>
          </a:p>
          <a:p>
            <a:r>
              <a:rPr lang="en-US" altLang="zh-CN"/>
              <a:t>IFN – Invitation for Negotiation</a:t>
            </a:r>
            <a:r>
              <a:rPr lang="zh-CN" altLang="en-US"/>
              <a:t>（谈判邀请）</a:t>
            </a:r>
            <a:endParaRPr lang="en-US" altLang="zh-CN"/>
          </a:p>
          <a:p>
            <a:pPr lvl="1"/>
            <a:r>
              <a:rPr lang="zh-CN" altLang="en-US"/>
              <a:t>非正式</a:t>
            </a:r>
          </a:p>
          <a:p>
            <a:endParaRPr lang="zh-CN" altLang="en-US"/>
          </a:p>
        </p:txBody>
      </p:sp>
      <p:sp>
        <p:nvSpPr>
          <p:cNvPr id="34" name="文本占位符 33">
            <a:extLst>
              <a:ext uri="{FF2B5EF4-FFF2-40B4-BE49-F238E27FC236}">
                <a16:creationId xmlns:a16="http://schemas.microsoft.com/office/drawing/2014/main" id="{F9308559-5308-7B28-8224-39A1EA6A8326}"/>
              </a:ext>
            </a:extLst>
          </p:cNvPr>
          <p:cNvSpPr>
            <a:spLocks noGrp="1"/>
          </p:cNvSpPr>
          <p:nvPr>
            <p:ph type="body" sz="quarter" idx="10"/>
          </p:nvPr>
        </p:nvSpPr>
        <p:spPr>
          <a:xfrm>
            <a:off x="7071919" y="448519"/>
            <a:ext cx="4424080" cy="338554"/>
          </a:xfrm>
        </p:spPr>
        <p:txBody>
          <a:bodyPr/>
          <a:lstStyle/>
          <a:p>
            <a:r>
              <a:rPr lang="en-US" altLang="zh-CN"/>
              <a:t>Tender Document</a:t>
            </a:r>
            <a:endParaRPr lang="zh-CN" altLang="en-US"/>
          </a:p>
        </p:txBody>
      </p:sp>
      <p:sp>
        <p:nvSpPr>
          <p:cNvPr id="37" name="矩形 36">
            <a:extLst>
              <a:ext uri="{FF2B5EF4-FFF2-40B4-BE49-F238E27FC236}">
                <a16:creationId xmlns:a16="http://schemas.microsoft.com/office/drawing/2014/main" id="{86C7E55C-C8D4-2E19-30EF-1EA4579E41BC}"/>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38" name="矩形 37">
            <a:extLst>
              <a:ext uri="{FF2B5EF4-FFF2-40B4-BE49-F238E27FC236}">
                <a16:creationId xmlns:a16="http://schemas.microsoft.com/office/drawing/2014/main" id="{A0B2C0AD-E9A6-79E2-7980-075E6DBD287A}"/>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39" name="矩形 38">
            <a:extLst>
              <a:ext uri="{FF2B5EF4-FFF2-40B4-BE49-F238E27FC236}">
                <a16:creationId xmlns:a16="http://schemas.microsoft.com/office/drawing/2014/main" id="{F014A96A-A9D0-4776-1A41-DA034288CC6C}"/>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40" name="矩形 39">
            <a:extLst>
              <a:ext uri="{FF2B5EF4-FFF2-40B4-BE49-F238E27FC236}">
                <a16:creationId xmlns:a16="http://schemas.microsoft.com/office/drawing/2014/main" id="{0204B04F-E7A3-123B-E130-991F43B2B8D4}"/>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41" name="直接箭头连接符 40">
            <a:extLst>
              <a:ext uri="{FF2B5EF4-FFF2-40B4-BE49-F238E27FC236}">
                <a16:creationId xmlns:a16="http://schemas.microsoft.com/office/drawing/2014/main" id="{5984668C-D22C-6FAE-37E0-4881118DE810}"/>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6122B9FD-FEF2-8C1E-64FD-B94972F7B240}"/>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A176277-64EE-A302-E01D-41FAD753501C}"/>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8D880E67-CC99-E37D-316C-13D9CC8E6A50}"/>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45" name="矩形: 圆角 44">
            <a:extLst>
              <a:ext uri="{FF2B5EF4-FFF2-40B4-BE49-F238E27FC236}">
                <a16:creationId xmlns:a16="http://schemas.microsoft.com/office/drawing/2014/main" id="{76E78001-A0B5-66B7-2104-4E8AD6CA4884}"/>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46" name="直接箭头连接符 45">
            <a:extLst>
              <a:ext uri="{FF2B5EF4-FFF2-40B4-BE49-F238E27FC236}">
                <a16:creationId xmlns:a16="http://schemas.microsoft.com/office/drawing/2014/main" id="{9DFF6207-8A4A-A3A1-FA3B-06D12703F828}"/>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877C52CE-8C13-8BFE-86C5-565E8278E899}"/>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2375D9C5-3B0A-D45A-4452-67B579EB97A0}"/>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49" name="直接箭头连接符 48">
            <a:extLst>
              <a:ext uri="{FF2B5EF4-FFF2-40B4-BE49-F238E27FC236}">
                <a16:creationId xmlns:a16="http://schemas.microsoft.com/office/drawing/2014/main" id="{DC3B10AE-A4DB-A059-D08C-B4DCCBDCBB59}"/>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7D0D6402-8F44-37F2-9B89-BF43F3C9DBB7}"/>
              </a:ext>
            </a:extLst>
          </p:cNvPr>
          <p:cNvSpPr txBox="1"/>
          <p:nvPr/>
        </p:nvSpPr>
        <p:spPr>
          <a:xfrm>
            <a:off x="93927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1434725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71699-3A92-B0BB-40D9-1E118A0261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43A999-B390-6C70-C9F0-8747A3DC33C9}"/>
              </a:ext>
            </a:extLst>
          </p:cNvPr>
          <p:cNvSpPr>
            <a:spLocks noGrp="1"/>
          </p:cNvSpPr>
          <p:nvPr>
            <p:ph type="title"/>
          </p:nvPr>
        </p:nvSpPr>
        <p:spPr>
          <a:xfrm>
            <a:off x="695998" y="360000"/>
            <a:ext cx="6375921" cy="429413"/>
          </a:xfrm>
        </p:spPr>
        <p:txBody>
          <a:bodyPr/>
          <a:lstStyle/>
          <a:p>
            <a:r>
              <a:rPr lang="en-US" altLang="zh-CN"/>
              <a:t>2.3.2 </a:t>
            </a:r>
            <a:r>
              <a:rPr lang="zh-CN" altLang="en-US"/>
              <a:t>投标书</a:t>
            </a:r>
          </a:p>
        </p:txBody>
      </p:sp>
      <p:sp>
        <p:nvSpPr>
          <p:cNvPr id="4" name="内容占位符 3">
            <a:extLst>
              <a:ext uri="{FF2B5EF4-FFF2-40B4-BE49-F238E27FC236}">
                <a16:creationId xmlns:a16="http://schemas.microsoft.com/office/drawing/2014/main" id="{B6A04FD2-128D-A3A0-5D0E-767D6D3C6673}"/>
              </a:ext>
            </a:extLst>
          </p:cNvPr>
          <p:cNvSpPr>
            <a:spLocks noGrp="1"/>
          </p:cNvSpPr>
          <p:nvPr>
            <p:ph idx="1"/>
          </p:nvPr>
        </p:nvSpPr>
        <p:spPr/>
        <p:txBody>
          <a:bodyPr/>
          <a:lstStyle/>
          <a:p>
            <a:r>
              <a:rPr lang="zh-CN" altLang="en-US"/>
              <a:t>建议书 </a:t>
            </a:r>
            <a:r>
              <a:rPr lang="en-US" altLang="zh-CN"/>
              <a:t>Proposal</a:t>
            </a:r>
          </a:p>
          <a:p>
            <a:r>
              <a:rPr lang="zh-CN" altLang="en-US"/>
              <a:t>报价单 </a:t>
            </a:r>
            <a:r>
              <a:rPr lang="en-US" altLang="zh-CN"/>
              <a:t>Quotation</a:t>
            </a:r>
            <a:endParaRPr lang="zh-CN" altLang="en-US"/>
          </a:p>
        </p:txBody>
      </p:sp>
      <p:sp>
        <p:nvSpPr>
          <p:cNvPr id="5" name="文本占位符 4">
            <a:extLst>
              <a:ext uri="{FF2B5EF4-FFF2-40B4-BE49-F238E27FC236}">
                <a16:creationId xmlns:a16="http://schemas.microsoft.com/office/drawing/2014/main" id="{9311CBA1-5F5F-D9BE-8617-80B7E56D9850}"/>
              </a:ext>
            </a:extLst>
          </p:cNvPr>
          <p:cNvSpPr>
            <a:spLocks noGrp="1"/>
          </p:cNvSpPr>
          <p:nvPr>
            <p:ph type="body" sz="quarter" idx="10"/>
          </p:nvPr>
        </p:nvSpPr>
        <p:spPr/>
        <p:txBody>
          <a:bodyPr/>
          <a:lstStyle/>
          <a:p>
            <a:r>
              <a:rPr lang="en-US" altLang="zh-CN"/>
              <a:t>Bid Proposal</a:t>
            </a:r>
            <a:endParaRPr lang="zh-CN" altLang="en-US"/>
          </a:p>
        </p:txBody>
      </p:sp>
      <p:sp>
        <p:nvSpPr>
          <p:cNvPr id="37" name="矩形 36">
            <a:extLst>
              <a:ext uri="{FF2B5EF4-FFF2-40B4-BE49-F238E27FC236}">
                <a16:creationId xmlns:a16="http://schemas.microsoft.com/office/drawing/2014/main" id="{9E0E7F3A-8AB7-09D8-9CDE-F5B8620BB2CE}"/>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38" name="矩形 37">
            <a:extLst>
              <a:ext uri="{FF2B5EF4-FFF2-40B4-BE49-F238E27FC236}">
                <a16:creationId xmlns:a16="http://schemas.microsoft.com/office/drawing/2014/main" id="{7437C986-D531-5575-DFD7-214384B6775A}"/>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39" name="矩形 38">
            <a:extLst>
              <a:ext uri="{FF2B5EF4-FFF2-40B4-BE49-F238E27FC236}">
                <a16:creationId xmlns:a16="http://schemas.microsoft.com/office/drawing/2014/main" id="{99D67175-ED8A-7CFB-9B4D-78F30F2BE8AF}"/>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40" name="矩形 39">
            <a:extLst>
              <a:ext uri="{FF2B5EF4-FFF2-40B4-BE49-F238E27FC236}">
                <a16:creationId xmlns:a16="http://schemas.microsoft.com/office/drawing/2014/main" id="{88ACF7ED-045E-15F2-EE94-211B3DE8964D}"/>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41" name="直接箭头连接符 40">
            <a:extLst>
              <a:ext uri="{FF2B5EF4-FFF2-40B4-BE49-F238E27FC236}">
                <a16:creationId xmlns:a16="http://schemas.microsoft.com/office/drawing/2014/main" id="{968242A0-BBAD-ED1C-7853-8458C1C52EF5}"/>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73364705-7DB5-F6A6-8975-7BCB27BD6D4B}"/>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E92EF0A-B00B-4F1A-F28D-1315FE89CC4A}"/>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F08A8B5E-AE39-64E9-51B1-1C9010517F1E}"/>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45" name="矩形: 圆角 44">
            <a:extLst>
              <a:ext uri="{FF2B5EF4-FFF2-40B4-BE49-F238E27FC236}">
                <a16:creationId xmlns:a16="http://schemas.microsoft.com/office/drawing/2014/main" id="{E53176CD-5248-6B33-FDE8-CF95533D46C9}"/>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46" name="直接箭头连接符 45">
            <a:extLst>
              <a:ext uri="{FF2B5EF4-FFF2-40B4-BE49-F238E27FC236}">
                <a16:creationId xmlns:a16="http://schemas.microsoft.com/office/drawing/2014/main" id="{89965388-E1DD-F61D-1B76-102B3702504B}"/>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B17C646A-233F-E47F-15D5-05E8CF025481}"/>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9C2AA7FB-41CA-E9BE-DAEA-903F0789CD9F}"/>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49" name="直接箭头连接符 48">
            <a:extLst>
              <a:ext uri="{FF2B5EF4-FFF2-40B4-BE49-F238E27FC236}">
                <a16:creationId xmlns:a16="http://schemas.microsoft.com/office/drawing/2014/main" id="{0A4FC6E7-24B2-4B25-5E87-B67B47242C04}"/>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8BEDACC2-765A-066A-CFB2-47BEA34869B1}"/>
              </a:ext>
            </a:extLst>
          </p:cNvPr>
          <p:cNvSpPr txBox="1"/>
          <p:nvPr/>
        </p:nvSpPr>
        <p:spPr>
          <a:xfrm>
            <a:off x="93927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302117940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B72F4-564B-AB5D-6BF4-AC895308D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A73D7A-0EC7-A39E-2AB8-97393928A36B}"/>
              </a:ext>
            </a:extLst>
          </p:cNvPr>
          <p:cNvSpPr>
            <a:spLocks noGrp="1"/>
          </p:cNvSpPr>
          <p:nvPr>
            <p:ph type="title"/>
          </p:nvPr>
        </p:nvSpPr>
        <p:spPr>
          <a:xfrm>
            <a:off x="695998" y="360000"/>
            <a:ext cx="6375921" cy="429413"/>
          </a:xfrm>
        </p:spPr>
        <p:txBody>
          <a:bodyPr/>
          <a:lstStyle/>
          <a:p>
            <a:r>
              <a:rPr lang="en-US" altLang="zh-CN"/>
              <a:t>2.3.3 </a:t>
            </a:r>
            <a:r>
              <a:rPr lang="zh-CN" altLang="en-US"/>
              <a:t>合同</a:t>
            </a:r>
          </a:p>
        </p:txBody>
      </p:sp>
      <p:sp>
        <p:nvSpPr>
          <p:cNvPr id="9" name="内容占位符 8">
            <a:extLst>
              <a:ext uri="{FF2B5EF4-FFF2-40B4-BE49-F238E27FC236}">
                <a16:creationId xmlns:a16="http://schemas.microsoft.com/office/drawing/2014/main" id="{013BEA87-BD94-CA8E-CCD3-7D5FB18C71F7}"/>
              </a:ext>
            </a:extLst>
          </p:cNvPr>
          <p:cNvSpPr>
            <a:spLocks noGrp="1"/>
          </p:cNvSpPr>
          <p:nvPr>
            <p:ph idx="1"/>
          </p:nvPr>
        </p:nvSpPr>
        <p:spPr>
          <a:xfrm>
            <a:off x="696000" y="864000"/>
            <a:ext cx="10800000" cy="5400000"/>
          </a:xfrm>
        </p:spPr>
        <p:txBody>
          <a:bodyPr/>
          <a:lstStyle/>
          <a:p>
            <a:r>
              <a:rPr lang="zh-CN" altLang="en-US"/>
              <a:t>更好的管理和约束双方的权力和义务</a:t>
            </a:r>
            <a:endParaRPr lang="en-US" altLang="zh-CN"/>
          </a:p>
        </p:txBody>
      </p:sp>
      <p:sp>
        <p:nvSpPr>
          <p:cNvPr id="5" name="文本占位符 4">
            <a:extLst>
              <a:ext uri="{FF2B5EF4-FFF2-40B4-BE49-F238E27FC236}">
                <a16:creationId xmlns:a16="http://schemas.microsoft.com/office/drawing/2014/main" id="{906EB9B4-0530-A01C-1517-0605BDD9AB0F}"/>
              </a:ext>
            </a:extLst>
          </p:cNvPr>
          <p:cNvSpPr>
            <a:spLocks noGrp="1"/>
          </p:cNvSpPr>
          <p:nvPr>
            <p:ph type="body" sz="quarter" idx="10"/>
          </p:nvPr>
        </p:nvSpPr>
        <p:spPr/>
        <p:txBody>
          <a:bodyPr/>
          <a:lstStyle/>
          <a:p>
            <a:r>
              <a:rPr lang="en-US" altLang="zh-CN"/>
              <a:t>Contract</a:t>
            </a:r>
            <a:endParaRPr lang="zh-CN" altLang="en-US"/>
          </a:p>
        </p:txBody>
      </p:sp>
      <p:sp>
        <p:nvSpPr>
          <p:cNvPr id="37" name="矩形 36">
            <a:extLst>
              <a:ext uri="{FF2B5EF4-FFF2-40B4-BE49-F238E27FC236}">
                <a16:creationId xmlns:a16="http://schemas.microsoft.com/office/drawing/2014/main" id="{06D54BE6-FC2D-DB41-BF2E-6BF50CF7EFCE}"/>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38" name="矩形 37">
            <a:extLst>
              <a:ext uri="{FF2B5EF4-FFF2-40B4-BE49-F238E27FC236}">
                <a16:creationId xmlns:a16="http://schemas.microsoft.com/office/drawing/2014/main" id="{7CC78747-30DC-BCB2-B38A-0EF28A8D4325}"/>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39" name="矩形 38">
            <a:extLst>
              <a:ext uri="{FF2B5EF4-FFF2-40B4-BE49-F238E27FC236}">
                <a16:creationId xmlns:a16="http://schemas.microsoft.com/office/drawing/2014/main" id="{CFF47561-F270-A25E-4360-3F582DCACF1C}"/>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40" name="矩形 39">
            <a:extLst>
              <a:ext uri="{FF2B5EF4-FFF2-40B4-BE49-F238E27FC236}">
                <a16:creationId xmlns:a16="http://schemas.microsoft.com/office/drawing/2014/main" id="{6393CB74-749A-A030-875A-01ADEA04AAAB}"/>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41" name="直接箭头连接符 40">
            <a:extLst>
              <a:ext uri="{FF2B5EF4-FFF2-40B4-BE49-F238E27FC236}">
                <a16:creationId xmlns:a16="http://schemas.microsoft.com/office/drawing/2014/main" id="{EDB5DB7D-E6FA-C19D-A21E-433BB046C172}"/>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5114A4F8-6D68-03E2-8EBA-E788776E4D5B}"/>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847F4F5-5569-D90A-0E59-650E8F6195F1}"/>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8D206233-023E-5266-A3C3-DF1B5AC266FB}"/>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45" name="矩形: 圆角 44">
            <a:extLst>
              <a:ext uri="{FF2B5EF4-FFF2-40B4-BE49-F238E27FC236}">
                <a16:creationId xmlns:a16="http://schemas.microsoft.com/office/drawing/2014/main" id="{BC33C3BD-A907-1A84-3345-D602BEDDB151}"/>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46" name="直接箭头连接符 45">
            <a:extLst>
              <a:ext uri="{FF2B5EF4-FFF2-40B4-BE49-F238E27FC236}">
                <a16:creationId xmlns:a16="http://schemas.microsoft.com/office/drawing/2014/main" id="{3A97C8DE-8FB4-117A-14D1-2993EE6841A9}"/>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58A9D0B7-C642-F416-E468-8CDC39476EDA}"/>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83D82CC5-C8CB-5EB0-DBED-15DD95669AB6}"/>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49" name="直接箭头连接符 48">
            <a:extLst>
              <a:ext uri="{FF2B5EF4-FFF2-40B4-BE49-F238E27FC236}">
                <a16:creationId xmlns:a16="http://schemas.microsoft.com/office/drawing/2014/main" id="{A4768AB0-635E-63EF-66A3-4A5F8DE46758}"/>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17A2FF1B-5D6C-4550-3F53-8DDE875BB26A}"/>
              </a:ext>
            </a:extLst>
          </p:cNvPr>
          <p:cNvSpPr txBox="1"/>
          <p:nvPr/>
        </p:nvSpPr>
        <p:spPr>
          <a:xfrm>
            <a:off x="93927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8086742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400000"/>
          </a:xfrm>
        </p:spPr>
        <p:txBody>
          <a:bodyPr>
            <a:normAutofit/>
          </a:bodyPr>
          <a:lstStyle/>
          <a:p>
            <a:r>
              <a:rPr lang="zh-CN" altLang="en-US"/>
              <a:t>指项目执行组织高层批准的一份以书面签署的确认项目存在的文件，包括对项目的确认、对项目经理的授权和项目目标的概述</a:t>
            </a:r>
            <a:endParaRPr lang="en-US" altLang="zh-CN"/>
          </a:p>
          <a:p>
            <a:pPr lvl="1"/>
            <a:r>
              <a:rPr lang="zh-CN" altLang="en-US"/>
              <a:t>为项目提供合法性基础：正式文档；正式批准项目启动</a:t>
            </a:r>
            <a:endParaRPr lang="en-US" altLang="zh-CN"/>
          </a:p>
          <a:p>
            <a:pPr lvl="1"/>
            <a:r>
              <a:rPr lang="zh-CN" altLang="en-US"/>
              <a:t>谁签发谁修改：项目发起人、出资人、高层管理签发</a:t>
            </a:r>
            <a:endParaRPr lang="en-US" altLang="zh-CN"/>
          </a:p>
          <a:p>
            <a:pPr lvl="1"/>
            <a:r>
              <a:rPr lang="zh-CN" altLang="en-US"/>
              <a:t>不能频繁修改</a:t>
            </a:r>
            <a:endParaRPr lang="en-US" altLang="zh-CN"/>
          </a:p>
          <a:p>
            <a:r>
              <a:rPr lang="zh-CN" altLang="en-US"/>
              <a:t>说明</a:t>
            </a:r>
          </a:p>
          <a:p>
            <a:pPr lvl="1"/>
            <a:r>
              <a:rPr lang="zh-CN" altLang="en-US"/>
              <a:t>不要写成论文：控制在 </a:t>
            </a:r>
            <a:r>
              <a:rPr lang="en-US" altLang="zh-CN"/>
              <a:t>2~5 </a:t>
            </a:r>
            <a:r>
              <a:rPr lang="zh-CN" altLang="en-US"/>
              <a:t>页内，重点突出目标、授权、范围、预算</a:t>
            </a:r>
          </a:p>
          <a:p>
            <a:pPr lvl="1"/>
            <a:r>
              <a:rPr lang="zh-CN" altLang="en-US"/>
              <a:t>保持相对稳定：如需重大变更（如目标调整、预算翻倍），必须重新走审批流程</a:t>
            </a:r>
            <a:endParaRPr lang="en-US" altLang="zh-CN"/>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25477817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364F3-9061-1E42-B628-C3560055AA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5614DBB-3E01-A901-64C6-8A573474CBB8}"/>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p>
        </p:txBody>
      </p:sp>
      <p:sp>
        <p:nvSpPr>
          <p:cNvPr id="7" name="内容占位符 6">
            <a:extLst>
              <a:ext uri="{FF2B5EF4-FFF2-40B4-BE49-F238E27FC236}">
                <a16:creationId xmlns:a16="http://schemas.microsoft.com/office/drawing/2014/main" id="{323B154C-1708-9BD9-72B8-43ED81844471}"/>
              </a:ext>
            </a:extLst>
          </p:cNvPr>
          <p:cNvSpPr>
            <a:spLocks noGrp="1"/>
          </p:cNvSpPr>
          <p:nvPr>
            <p:ph idx="1"/>
          </p:nvPr>
        </p:nvSpPr>
        <p:spPr>
          <a:xfrm>
            <a:off x="696000" y="864000"/>
            <a:ext cx="10800000" cy="5400000"/>
          </a:xfrm>
        </p:spPr>
        <p:txBody>
          <a:bodyPr numCol="2">
            <a:normAutofit/>
          </a:bodyPr>
          <a:lstStyle/>
          <a:p>
            <a:r>
              <a:rPr lang="zh-CN" altLang="en-US"/>
              <a:t>项目名称</a:t>
            </a:r>
            <a:endParaRPr lang="en-US" altLang="zh-CN"/>
          </a:p>
          <a:p>
            <a:r>
              <a:rPr lang="zh-CN" altLang="en-US"/>
              <a:t>项目发起人及联系方式</a:t>
            </a:r>
            <a:endParaRPr lang="en-US" altLang="zh-CN"/>
          </a:p>
          <a:p>
            <a:r>
              <a:rPr lang="zh-CN" altLang="en-US"/>
              <a:t>项目经理及联系方式</a:t>
            </a:r>
            <a:endParaRPr lang="en-US" altLang="zh-CN"/>
          </a:p>
          <a:p>
            <a:r>
              <a:rPr lang="zh-CN" altLang="en-US"/>
              <a:t>项目目标</a:t>
            </a:r>
            <a:endParaRPr lang="en-US" altLang="zh-CN"/>
          </a:p>
          <a:p>
            <a:r>
              <a:rPr lang="zh-CN" altLang="en-US"/>
              <a:t>业务范围</a:t>
            </a:r>
            <a:endParaRPr lang="en-US" altLang="zh-CN"/>
          </a:p>
          <a:p>
            <a:r>
              <a:rPr lang="zh-CN" altLang="en-US"/>
              <a:t>工作描述</a:t>
            </a:r>
            <a:r>
              <a:rPr lang="en-US" altLang="zh-CN"/>
              <a:t>/ </a:t>
            </a:r>
            <a:r>
              <a:rPr lang="zh-CN" altLang="en-US"/>
              <a:t>主要交付物概述</a:t>
            </a:r>
            <a:endParaRPr lang="en-US" altLang="zh-CN"/>
          </a:p>
          <a:p>
            <a:r>
              <a:rPr lang="zh-CN" altLang="en-US"/>
              <a:t>可交付成果（明确列出最终产出物）</a:t>
            </a:r>
            <a:endParaRPr lang="en-US" altLang="zh-CN"/>
          </a:p>
          <a:p>
            <a:r>
              <a:rPr lang="zh-CN" altLang="en-US"/>
              <a:t>时间安排</a:t>
            </a:r>
            <a:r>
              <a:rPr lang="en-US" altLang="zh-CN"/>
              <a:t>/ </a:t>
            </a:r>
            <a:r>
              <a:rPr lang="zh-CN" altLang="en-US"/>
              <a:t>高层级里程碑计划（非详细进度，而是关键节点）</a:t>
            </a:r>
            <a:endParaRPr lang="en-US" altLang="zh-CN"/>
          </a:p>
          <a:p>
            <a:r>
              <a:rPr lang="zh-CN" altLang="en-US"/>
              <a:t>项目预算</a:t>
            </a:r>
            <a:endParaRPr lang="en-US" altLang="zh-CN"/>
          </a:p>
          <a:p>
            <a:r>
              <a:rPr lang="zh-CN" altLang="en-US"/>
              <a:t>成员</a:t>
            </a:r>
            <a:r>
              <a:rPr lang="en-US" altLang="zh-CN"/>
              <a:t>/ </a:t>
            </a:r>
            <a:r>
              <a:rPr lang="zh-CN" altLang="en-US"/>
              <a:t>核心团队角色与职责概要</a:t>
            </a:r>
            <a:endParaRPr lang="en-US" altLang="zh-CN"/>
          </a:p>
          <a:p>
            <a:r>
              <a:rPr lang="zh-CN" altLang="en-US"/>
              <a:t>项目审批要求（谁有权批准变更？验收标准是什么？）</a:t>
            </a:r>
            <a:endParaRPr lang="en-US" altLang="zh-CN"/>
          </a:p>
          <a:p>
            <a:endParaRPr lang="zh-CN" altLang="en-US"/>
          </a:p>
          <a:p>
            <a:r>
              <a:rPr lang="zh-CN" altLang="en-US"/>
              <a:t>项目退出标准 </a:t>
            </a:r>
            <a:r>
              <a:rPr lang="en-US" altLang="zh-CN"/>
              <a:t>/ </a:t>
            </a:r>
            <a:r>
              <a:rPr lang="zh-CN" altLang="en-US"/>
              <a:t>成功标准（如何判断项目成功？）</a:t>
            </a:r>
          </a:p>
          <a:p>
            <a:r>
              <a:rPr lang="zh-CN" altLang="en-US"/>
              <a:t>主要风险摘要（高层级风险识别，如市场、技术、资源等）</a:t>
            </a:r>
          </a:p>
          <a:p>
            <a:r>
              <a:rPr lang="zh-CN" altLang="en-US"/>
              <a:t>假设条件与制约因素</a:t>
            </a:r>
          </a:p>
          <a:p>
            <a:r>
              <a:rPr lang="zh-CN" altLang="en-US"/>
              <a:t>项目授权声明（正式任命项目经理，赋予其动用组织资源的权力）</a:t>
            </a:r>
          </a:p>
          <a:p>
            <a:r>
              <a:rPr lang="zh-CN" altLang="en-US"/>
              <a:t>干系人清单（初步）（关键内外部干系人及其期望</a:t>
            </a:r>
            <a:r>
              <a:rPr lang="en-US" altLang="zh-CN"/>
              <a:t>/</a:t>
            </a:r>
            <a:r>
              <a:rPr lang="zh-CN" altLang="en-US"/>
              <a:t>影响力）</a:t>
            </a:r>
          </a:p>
          <a:p>
            <a:r>
              <a:rPr lang="zh-CN" altLang="en-US"/>
              <a:t>参考文件 </a:t>
            </a:r>
            <a:r>
              <a:rPr lang="en-US" altLang="zh-CN"/>
              <a:t>/ </a:t>
            </a:r>
            <a:r>
              <a:rPr lang="zh-CN" altLang="en-US"/>
              <a:t>依据（如合同、可行性研究报告、战略规划等）</a:t>
            </a:r>
            <a:endParaRPr lang="en-US" altLang="zh-CN"/>
          </a:p>
          <a:p>
            <a:r>
              <a:rPr lang="zh-CN" altLang="en-US"/>
              <a:t>供应商 </a:t>
            </a:r>
            <a:r>
              <a:rPr lang="en-US" altLang="zh-CN"/>
              <a:t>/ </a:t>
            </a:r>
            <a:r>
              <a:rPr lang="zh-CN" altLang="en-US"/>
              <a:t>外部合作方信息</a:t>
            </a:r>
          </a:p>
        </p:txBody>
      </p:sp>
      <p:sp>
        <p:nvSpPr>
          <p:cNvPr id="6" name="Text Placeholder 5">
            <a:extLst>
              <a:ext uri="{FF2B5EF4-FFF2-40B4-BE49-F238E27FC236}">
                <a16:creationId xmlns:a16="http://schemas.microsoft.com/office/drawing/2014/main" id="{0ABAE165-2CB1-1511-7981-1F4936B54599}"/>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0180937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145B8-328A-2B42-996B-2FB85DD629B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3F7FEF8-CF45-A152-F715-963A54C17CBE}"/>
              </a:ext>
            </a:extLst>
          </p:cNvPr>
          <p:cNvSpPr>
            <a:spLocks noGrp="1"/>
          </p:cNvSpPr>
          <p:nvPr>
            <p:ph type="title"/>
          </p:nvPr>
        </p:nvSpPr>
        <p:spPr>
          <a:xfrm>
            <a:off x="695998" y="360000"/>
            <a:ext cx="6375921" cy="429413"/>
          </a:xfrm>
        </p:spPr>
        <p:txBody>
          <a:bodyPr>
            <a:normAutofit/>
          </a:bodyPr>
          <a:lstStyle/>
          <a:p>
            <a:r>
              <a:rPr lang="en-US" altLang="zh-CN"/>
              <a:t>2.4.1 </a:t>
            </a:r>
            <a:r>
              <a:rPr lang="zh-CN" altLang="en-US"/>
              <a:t>项目章程 </a:t>
            </a:r>
            <a:r>
              <a:rPr lang="en-US" altLang="zh-CN"/>
              <a:t>- </a:t>
            </a:r>
            <a:r>
              <a:rPr lang="zh-CN" altLang="en-US"/>
              <a:t>风险摘要</a:t>
            </a:r>
          </a:p>
        </p:txBody>
      </p:sp>
      <p:sp>
        <p:nvSpPr>
          <p:cNvPr id="7" name="内容占位符 6">
            <a:extLst>
              <a:ext uri="{FF2B5EF4-FFF2-40B4-BE49-F238E27FC236}">
                <a16:creationId xmlns:a16="http://schemas.microsoft.com/office/drawing/2014/main" id="{9D4401DD-51B3-AD5F-7FC6-F4CD499853F2}"/>
              </a:ext>
            </a:extLst>
          </p:cNvPr>
          <p:cNvSpPr>
            <a:spLocks noGrp="1"/>
          </p:cNvSpPr>
          <p:nvPr>
            <p:ph idx="1"/>
          </p:nvPr>
        </p:nvSpPr>
        <p:spPr>
          <a:xfrm>
            <a:off x="696000" y="864000"/>
            <a:ext cx="10800000" cy="5400000"/>
          </a:xfrm>
        </p:spPr>
        <p:txBody>
          <a:bodyPr numCol="1">
            <a:normAutofit/>
          </a:bodyPr>
          <a:lstStyle/>
          <a:p>
            <a:r>
              <a:rPr lang="zh-CN" altLang="en-US"/>
              <a:t>高层级、战略性风险</a:t>
            </a:r>
            <a:endParaRPr lang="en-US" altLang="zh-CN"/>
          </a:p>
          <a:p>
            <a:r>
              <a:rPr lang="zh-CN" altLang="en-US"/>
              <a:t>可能直接导致项目失败或严重偏离目标的重大威胁或重大机会</a:t>
            </a:r>
            <a:endParaRPr lang="en-US" altLang="zh-CN"/>
          </a:p>
          <a:p>
            <a:r>
              <a:rPr lang="zh-CN" altLang="en-US"/>
              <a:t>不是详细的风险分析或计划</a:t>
            </a:r>
            <a:endParaRPr lang="en-US" altLang="zh-CN"/>
          </a:p>
          <a:p>
            <a:r>
              <a:rPr lang="zh-CN" altLang="en-US"/>
              <a:t>作用</a:t>
            </a:r>
            <a:endParaRPr lang="en-US" altLang="zh-CN"/>
          </a:p>
          <a:p>
            <a:pPr lvl="1"/>
            <a:r>
              <a:rPr lang="zh-CN" altLang="en-US"/>
              <a:t>预警机制：提醒发起人和管理层，这个项目不是稳赢的，存在哪些致命隐患</a:t>
            </a:r>
          </a:p>
          <a:p>
            <a:pPr lvl="1"/>
            <a:r>
              <a:rPr lang="zh-CN" altLang="en-US"/>
              <a:t>决策依据：帮助发起人判断是否值得批准该项目（例如：技术风险太高，是否还要投钱？）</a:t>
            </a:r>
          </a:p>
          <a:p>
            <a:pPr lvl="1"/>
            <a:r>
              <a:rPr lang="zh-CN" altLang="en-US"/>
              <a:t>资源预留：为后续制定应急储备（</a:t>
            </a:r>
            <a:r>
              <a:rPr lang="en-US" altLang="zh-CN"/>
              <a:t>Contingency Reserve</a:t>
            </a:r>
            <a:r>
              <a:rPr lang="zh-CN" altLang="en-US"/>
              <a:t>）提供初步依据</a:t>
            </a:r>
          </a:p>
        </p:txBody>
      </p:sp>
      <p:sp>
        <p:nvSpPr>
          <p:cNvPr id="6" name="Text Placeholder 5">
            <a:extLst>
              <a:ext uri="{FF2B5EF4-FFF2-40B4-BE49-F238E27FC236}">
                <a16:creationId xmlns:a16="http://schemas.microsoft.com/office/drawing/2014/main" id="{8B8B5191-D8B8-664C-68A9-FF62348574A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0" name="表格 19">
            <a:extLst>
              <a:ext uri="{FF2B5EF4-FFF2-40B4-BE49-F238E27FC236}">
                <a16:creationId xmlns:a16="http://schemas.microsoft.com/office/drawing/2014/main" id="{B56CCC4F-28B7-E22F-F868-CE81E8B5F32D}"/>
              </a:ext>
            </a:extLst>
          </p:cNvPr>
          <p:cNvGraphicFramePr>
            <a:graphicFrameLocks noGrp="1"/>
          </p:cNvGraphicFramePr>
          <p:nvPr>
            <p:extLst>
              <p:ext uri="{D42A27DB-BD31-4B8C-83A1-F6EECF244321}">
                <p14:modId xmlns:p14="http://schemas.microsoft.com/office/powerpoint/2010/main" val="687404078"/>
              </p:ext>
            </p:extLst>
          </p:nvPr>
        </p:nvGraphicFramePr>
        <p:xfrm>
          <a:off x="695325" y="4252595"/>
          <a:ext cx="10801350" cy="2011680"/>
        </p:xfrm>
        <a:graphic>
          <a:graphicData uri="http://schemas.openxmlformats.org/drawingml/2006/table">
            <a:tbl>
              <a:tblPr/>
              <a:tblGrid>
                <a:gridCol w="3040933">
                  <a:extLst>
                    <a:ext uri="{9D8B030D-6E8A-4147-A177-3AD203B41FA5}">
                      <a16:colId xmlns:a16="http://schemas.microsoft.com/office/drawing/2014/main" val="3055693187"/>
                    </a:ext>
                  </a:extLst>
                </a:gridCol>
                <a:gridCol w="7760417">
                  <a:extLst>
                    <a:ext uri="{9D8B030D-6E8A-4147-A177-3AD203B41FA5}">
                      <a16:colId xmlns:a16="http://schemas.microsoft.com/office/drawing/2014/main" val="1937490183"/>
                    </a:ext>
                  </a:extLst>
                </a:gridCol>
              </a:tblGrid>
              <a:tr h="126976">
                <a:tc>
                  <a:txBody>
                    <a:bodyPr/>
                    <a:lstStyle/>
                    <a:p>
                      <a:pPr algn="l">
                        <a:buNone/>
                      </a:pPr>
                      <a:r>
                        <a:rPr lang="en-US" altLang="zh-CN" sz="1600">
                          <a:solidFill>
                            <a:schemeClr val="bg1"/>
                          </a:solidFill>
                        </a:rPr>
                        <a:t>Items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600">
                          <a:solidFill>
                            <a:schemeClr val="bg1"/>
                          </a:solidFill>
                        </a:rPr>
                        <a:t>Sample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21874666"/>
                  </a:ext>
                </a:extLst>
              </a:tr>
              <a:tr h="126976">
                <a:tc>
                  <a:txBody>
                    <a:bodyPr/>
                    <a:lstStyle/>
                    <a:p>
                      <a:pPr algn="l">
                        <a:buNone/>
                      </a:pPr>
                      <a:r>
                        <a:rPr lang="zh-CN" altLang="en-US" sz="1600">
                          <a:solidFill>
                            <a:schemeClr val="bg1"/>
                          </a:solidFill>
                        </a:rPr>
                        <a:t>技术风险 </a:t>
                      </a:r>
                      <a:r>
                        <a:rPr lang="en-US" altLang="zh-CN" sz="1600">
                          <a:solidFill>
                            <a:schemeClr val="bg1"/>
                          </a:solidFill>
                        </a:rPr>
                        <a:t>Technology</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尚未在大规模数据下验证，过渡依赖热门</a:t>
                      </a:r>
                      <a:r>
                        <a:rPr lang="en-US" altLang="zh-CN" sz="1600">
                          <a:solidFill>
                            <a:schemeClr val="bg1"/>
                          </a:solidFill>
                        </a:rPr>
                        <a:t>AI</a:t>
                      </a:r>
                      <a:r>
                        <a:rPr lang="zh-CN" altLang="en-US" sz="1600">
                          <a:solidFill>
                            <a:schemeClr val="bg1"/>
                          </a:solidFill>
                        </a:rPr>
                        <a:t>，存在性能不达标的风险。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522404"/>
                  </a:ext>
                </a:extLst>
              </a:tr>
              <a:tr h="126976">
                <a:tc>
                  <a:txBody>
                    <a:bodyPr/>
                    <a:lstStyle/>
                    <a:p>
                      <a:pPr algn="l">
                        <a:buNone/>
                      </a:pPr>
                      <a:r>
                        <a:rPr lang="zh-CN" altLang="en-US" sz="1600">
                          <a:solidFill>
                            <a:schemeClr val="bg1"/>
                          </a:solidFill>
                        </a:rPr>
                        <a:t>市场</a:t>
                      </a:r>
                      <a:r>
                        <a:rPr lang="en-US" altLang="zh-CN" sz="1600">
                          <a:solidFill>
                            <a:schemeClr val="bg1"/>
                          </a:solidFill>
                        </a:rPr>
                        <a:t>/</a:t>
                      </a:r>
                      <a:r>
                        <a:rPr lang="zh-CN" altLang="en-US" sz="1600">
                          <a:solidFill>
                            <a:schemeClr val="bg1"/>
                          </a:solidFill>
                        </a:rPr>
                        <a:t>商业风险 </a:t>
                      </a:r>
                      <a:r>
                        <a:rPr lang="en-US" altLang="zh-CN" sz="1600">
                          <a:solidFill>
                            <a:schemeClr val="bg1"/>
                          </a:solidFill>
                        </a:rPr>
                        <a:t>Market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竞争对手可能在项目上线前</a:t>
                      </a:r>
                      <a:r>
                        <a:rPr lang="en-US" altLang="zh-CN" sz="1600">
                          <a:solidFill>
                            <a:schemeClr val="bg1"/>
                          </a:solidFill>
                        </a:rPr>
                        <a:t>3</a:t>
                      </a:r>
                      <a:r>
                        <a:rPr lang="zh-CN" altLang="en-US" sz="1600">
                          <a:solidFill>
                            <a:schemeClr val="bg1"/>
                          </a:solidFill>
                        </a:rPr>
                        <a:t>个月发布同类低价产品，导致市场份额预期下降</a:t>
                      </a:r>
                      <a:r>
                        <a:rPr lang="en-US" altLang="zh-CN" sz="1600">
                          <a:solidFill>
                            <a:schemeClr val="bg1"/>
                          </a:solidFill>
                        </a:rPr>
                        <a:t>50%</a:t>
                      </a:r>
                      <a:r>
                        <a:rPr lang="zh-CN" alt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1301155"/>
                  </a:ext>
                </a:extLst>
              </a:tr>
              <a:tr h="126976">
                <a:tc>
                  <a:txBody>
                    <a:bodyPr/>
                    <a:lstStyle/>
                    <a:p>
                      <a:pPr algn="l">
                        <a:buNone/>
                      </a:pPr>
                      <a:r>
                        <a:rPr lang="zh-CN" altLang="en-US" sz="1600">
                          <a:solidFill>
                            <a:schemeClr val="bg1"/>
                          </a:solidFill>
                        </a:rPr>
                        <a:t>资源风险 </a:t>
                      </a:r>
                      <a:r>
                        <a:rPr lang="en-US" altLang="zh-CN" sz="1600">
                          <a:solidFill>
                            <a:schemeClr val="bg1"/>
                          </a:solidFill>
                        </a:rPr>
                        <a:t>Resource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核心架构师未及时到位，可能导致前期设计延期。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637220"/>
                  </a:ext>
                </a:extLst>
              </a:tr>
              <a:tr h="126976">
                <a:tc>
                  <a:txBody>
                    <a:bodyPr/>
                    <a:lstStyle/>
                    <a:p>
                      <a:pPr algn="l">
                        <a:buNone/>
                      </a:pPr>
                      <a:r>
                        <a:rPr lang="zh-CN" altLang="en-US" sz="1600">
                          <a:solidFill>
                            <a:schemeClr val="bg1"/>
                          </a:solidFill>
                        </a:rPr>
                        <a:t>合规</a:t>
                      </a:r>
                      <a:r>
                        <a:rPr lang="en-US" altLang="zh-CN" sz="1600">
                          <a:solidFill>
                            <a:schemeClr val="bg1"/>
                          </a:solidFill>
                        </a:rPr>
                        <a:t>/</a:t>
                      </a:r>
                      <a:r>
                        <a:rPr lang="zh-CN" altLang="en-US" sz="1600">
                          <a:solidFill>
                            <a:schemeClr val="bg1"/>
                          </a:solidFill>
                        </a:rPr>
                        <a:t>法律风险 </a:t>
                      </a:r>
                      <a:r>
                        <a:rPr lang="en-US" altLang="zh-CN" sz="1600">
                          <a:solidFill>
                            <a:schemeClr val="bg1"/>
                          </a:solidFill>
                        </a:rPr>
                        <a:t>Compliance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新出台的数据隐私法规可能导致当前设计方案需重新调整。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5208304"/>
                  </a:ext>
                </a:extLst>
              </a:tr>
              <a:tr h="126976">
                <a:tc>
                  <a:txBody>
                    <a:bodyPr/>
                    <a:lstStyle/>
                    <a:p>
                      <a:pPr algn="l">
                        <a:buNone/>
                      </a:pPr>
                      <a:r>
                        <a:rPr lang="zh-CN" altLang="en-US" sz="1600">
                          <a:solidFill>
                            <a:schemeClr val="bg1"/>
                          </a:solidFill>
                        </a:rPr>
                        <a:t>外部依赖风险 </a:t>
                      </a:r>
                      <a:r>
                        <a:rPr lang="en-US" altLang="zh-CN" sz="1600">
                          <a:solidFill>
                            <a:schemeClr val="bg1"/>
                          </a:solidFill>
                        </a:rPr>
                        <a:t>Dependence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项目依赖第三方供应商的</a:t>
                      </a:r>
                      <a:r>
                        <a:rPr lang="en-US" altLang="zh-CN" sz="1600">
                          <a:solidFill>
                            <a:schemeClr val="bg1"/>
                          </a:solidFill>
                        </a:rPr>
                        <a:t>API</a:t>
                      </a:r>
                      <a:r>
                        <a:rPr lang="zh-CN" altLang="en-US" sz="1600">
                          <a:solidFill>
                            <a:schemeClr val="bg1"/>
                          </a:solidFill>
                        </a:rPr>
                        <a:t>接口，若对方延期交付，整个系统将无法联调。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8580628"/>
                  </a:ext>
                </a:extLst>
              </a:tr>
            </a:tbl>
          </a:graphicData>
        </a:graphic>
      </p:graphicFrame>
    </p:spTree>
    <p:extLst>
      <p:ext uri="{BB962C8B-B14F-4D97-AF65-F5344CB8AC3E}">
        <p14:creationId xmlns:p14="http://schemas.microsoft.com/office/powerpoint/2010/main" val="24792043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81CA6DF6-743A-8041-D6B5-55E00BF41E45}"/>
              </a:ext>
            </a:extLst>
          </p:cNvPr>
          <p:cNvSpPr>
            <a:spLocks noGrp="1"/>
          </p:cNvSpPr>
          <p:nvPr>
            <p:ph type="title"/>
          </p:nvPr>
        </p:nvSpPr>
        <p:spPr>
          <a:xfrm>
            <a:off x="695998" y="360000"/>
            <a:ext cx="6375921" cy="429413"/>
          </a:xfrm>
        </p:spPr>
        <p:txBody>
          <a:bodyPr/>
          <a:lstStyle/>
          <a:p>
            <a:r>
              <a:rPr lang="en-US" altLang="zh-CN"/>
              <a:t>2.4.1 </a:t>
            </a:r>
            <a:r>
              <a:rPr lang="zh-CN" altLang="en-US"/>
              <a:t>项目章程 </a:t>
            </a:r>
            <a:r>
              <a:rPr lang="en-US" altLang="zh-CN"/>
              <a:t>- </a:t>
            </a:r>
            <a:r>
              <a:rPr lang="zh-CN" altLang="en-US"/>
              <a:t>风险摘要</a:t>
            </a:r>
          </a:p>
        </p:txBody>
      </p:sp>
      <p:sp>
        <p:nvSpPr>
          <p:cNvPr id="3" name="内容占位符 2">
            <a:extLst>
              <a:ext uri="{FF2B5EF4-FFF2-40B4-BE49-F238E27FC236}">
                <a16:creationId xmlns:a16="http://schemas.microsoft.com/office/drawing/2014/main" id="{95553B9B-B360-B9BE-ED8F-F20C83FEB4D8}"/>
              </a:ext>
            </a:extLst>
          </p:cNvPr>
          <p:cNvSpPr>
            <a:spLocks noGrp="1"/>
          </p:cNvSpPr>
          <p:nvPr>
            <p:ph idx="1"/>
          </p:nvPr>
        </p:nvSpPr>
        <p:spPr>
          <a:xfrm>
            <a:off x="696000" y="864000"/>
            <a:ext cx="10800000" cy="5400000"/>
          </a:xfrm>
        </p:spPr>
        <p:txBody>
          <a:bodyPr/>
          <a:lstStyle/>
          <a:p>
            <a:r>
              <a:rPr lang="zh-CN" altLang="en-US"/>
              <a:t>更多合规</a:t>
            </a:r>
            <a:r>
              <a:rPr lang="en-US" altLang="zh-CN"/>
              <a:t>/</a:t>
            </a:r>
            <a:r>
              <a:rPr lang="zh-CN" altLang="en-US"/>
              <a:t>法律风险 </a:t>
            </a:r>
            <a:r>
              <a:rPr lang="en-US" altLang="zh-CN"/>
              <a:t>Compliance</a:t>
            </a:r>
            <a:endParaRPr lang="zh-CN" altLang="en-US"/>
          </a:p>
        </p:txBody>
      </p:sp>
      <p:sp>
        <p:nvSpPr>
          <p:cNvPr id="11" name="文本占位符 10">
            <a:extLst>
              <a:ext uri="{FF2B5EF4-FFF2-40B4-BE49-F238E27FC236}">
                <a16:creationId xmlns:a16="http://schemas.microsoft.com/office/drawing/2014/main" id="{CC47DD74-A415-B060-AF39-F7528085D500}"/>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5" name="表格 4">
            <a:extLst>
              <a:ext uri="{FF2B5EF4-FFF2-40B4-BE49-F238E27FC236}">
                <a16:creationId xmlns:a16="http://schemas.microsoft.com/office/drawing/2014/main" id="{C6168A9A-1EC6-4BCA-C453-7E7B575B9A06}"/>
              </a:ext>
            </a:extLst>
          </p:cNvPr>
          <p:cNvGraphicFramePr>
            <a:graphicFrameLocks noGrp="1"/>
          </p:cNvGraphicFramePr>
          <p:nvPr>
            <p:extLst>
              <p:ext uri="{D42A27DB-BD31-4B8C-83A1-F6EECF244321}">
                <p14:modId xmlns:p14="http://schemas.microsoft.com/office/powerpoint/2010/main" val="3788224886"/>
              </p:ext>
            </p:extLst>
          </p:nvPr>
        </p:nvGraphicFramePr>
        <p:xfrm>
          <a:off x="695325" y="2146617"/>
          <a:ext cx="10801350" cy="2346960"/>
        </p:xfrm>
        <a:graphic>
          <a:graphicData uri="http://schemas.openxmlformats.org/drawingml/2006/table">
            <a:tbl>
              <a:tblPr/>
              <a:tblGrid>
                <a:gridCol w="1467772">
                  <a:extLst>
                    <a:ext uri="{9D8B030D-6E8A-4147-A177-3AD203B41FA5}">
                      <a16:colId xmlns:a16="http://schemas.microsoft.com/office/drawing/2014/main" val="2694124379"/>
                    </a:ext>
                  </a:extLst>
                </a:gridCol>
                <a:gridCol w="5733128">
                  <a:extLst>
                    <a:ext uri="{9D8B030D-6E8A-4147-A177-3AD203B41FA5}">
                      <a16:colId xmlns:a16="http://schemas.microsoft.com/office/drawing/2014/main" val="896520459"/>
                    </a:ext>
                  </a:extLst>
                </a:gridCol>
                <a:gridCol w="3600450">
                  <a:extLst>
                    <a:ext uri="{9D8B030D-6E8A-4147-A177-3AD203B41FA5}">
                      <a16:colId xmlns:a16="http://schemas.microsoft.com/office/drawing/2014/main" val="167479894"/>
                    </a:ext>
                  </a:extLst>
                </a:gridCol>
              </a:tblGrid>
              <a:tr h="0">
                <a:tc>
                  <a:txBody>
                    <a:bodyPr/>
                    <a:lstStyle/>
                    <a:p>
                      <a:pPr algn="l">
                        <a:buNone/>
                      </a:pPr>
                      <a:r>
                        <a:rPr lang="zh-CN" altLang="en-US" sz="1600">
                          <a:solidFill>
                            <a:schemeClr val="bg1"/>
                          </a:solidFill>
                        </a:rPr>
                        <a:t>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风险描述示例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后果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955753585"/>
                  </a:ext>
                </a:extLst>
              </a:tr>
              <a:tr h="0">
                <a:tc>
                  <a:txBody>
                    <a:bodyPr/>
                    <a:lstStyle/>
                    <a:p>
                      <a:pPr algn="l">
                        <a:buNone/>
                      </a:pPr>
                      <a:r>
                        <a:rPr lang="zh-CN" altLang="en-US" sz="1600">
                          <a:solidFill>
                            <a:schemeClr val="bg1"/>
                          </a:solidFill>
                        </a:rPr>
                        <a:t>数据隐私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个人信息保护法升级，导致当前用户数据采集方案违规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必须重构系统，否则面临巨额罚款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210207"/>
                  </a:ext>
                </a:extLst>
              </a:tr>
              <a:tr h="0">
                <a:tc>
                  <a:txBody>
                    <a:bodyPr/>
                    <a:lstStyle/>
                    <a:p>
                      <a:pPr algn="l">
                        <a:buNone/>
                      </a:pPr>
                      <a:r>
                        <a:rPr lang="zh-CN" altLang="en-US" sz="1600">
                          <a:solidFill>
                            <a:schemeClr val="bg1"/>
                          </a:solidFill>
                        </a:rPr>
                        <a:t>行业准入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医疗项目未在预计时间内获得药监局</a:t>
                      </a:r>
                      <a:r>
                        <a:rPr lang="en-US" altLang="zh-CN" sz="1600">
                          <a:solidFill>
                            <a:schemeClr val="bg1"/>
                          </a:solidFill>
                        </a:rPr>
                        <a:t>(NMPA)</a:t>
                      </a:r>
                      <a:r>
                        <a:rPr lang="zh-CN" altLang="en-US" sz="1600">
                          <a:solidFill>
                            <a:schemeClr val="bg1"/>
                          </a:solidFill>
                        </a:rPr>
                        <a:t>的临床试验批件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项目暂停，无法进入下一阶段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90262762"/>
                  </a:ext>
                </a:extLst>
              </a:tr>
              <a:tr h="0">
                <a:tc>
                  <a:txBody>
                    <a:bodyPr/>
                    <a:lstStyle/>
                    <a:p>
                      <a:pPr algn="l">
                        <a:buNone/>
                      </a:pPr>
                      <a:r>
                        <a:rPr lang="zh-CN" altLang="en-US" sz="1600">
                          <a:solidFill>
                            <a:schemeClr val="bg1"/>
                          </a:solidFill>
                        </a:rPr>
                        <a:t>环保法规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新环保法禁止在特定区域施工，而项目选址恰好在此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选址变更或停工整改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9401928"/>
                  </a:ext>
                </a:extLst>
              </a:tr>
              <a:tr h="0">
                <a:tc>
                  <a:txBody>
                    <a:bodyPr/>
                    <a:lstStyle/>
                    <a:p>
                      <a:pPr algn="l">
                        <a:buNone/>
                      </a:pPr>
                      <a:r>
                        <a:rPr lang="zh-CN" altLang="en-US" sz="1600">
                          <a:solidFill>
                            <a:schemeClr val="bg1"/>
                          </a:solidFill>
                        </a:rPr>
                        <a:t>劳工法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项目计划大量使用外包人员，但新劳动法限制了外包比例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人力成本激增或招聘计划受阻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6916385"/>
                  </a:ext>
                </a:extLst>
              </a:tr>
              <a:tr h="0">
                <a:tc>
                  <a:txBody>
                    <a:bodyPr/>
                    <a:lstStyle/>
                    <a:p>
                      <a:pPr algn="l">
                        <a:buNone/>
                      </a:pPr>
                      <a:r>
                        <a:rPr lang="zh-CN" altLang="en-US" sz="1600">
                          <a:solidFill>
                            <a:schemeClr val="bg1"/>
                          </a:solidFill>
                        </a:rPr>
                        <a:t>知识产权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竞品公司起诉我方技术侵犯其专利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产品禁售或支付高额赔偿金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4396879"/>
                  </a:ext>
                </a:extLst>
              </a:tr>
              <a:tr h="0">
                <a:tc>
                  <a:txBody>
                    <a:bodyPr/>
                    <a:lstStyle/>
                    <a:p>
                      <a:pPr algn="l">
                        <a:buNone/>
                      </a:pPr>
                      <a:r>
                        <a:rPr lang="zh-CN" altLang="en-US" sz="1600">
                          <a:solidFill>
                            <a:schemeClr val="bg1"/>
                          </a:solidFill>
                        </a:rPr>
                        <a:t>进出口管制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项目依赖的关键芯片被列入出口管制清单，无法进口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供应链断裂，硬件无法生产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7009754"/>
                  </a:ext>
                </a:extLst>
              </a:tr>
            </a:tbl>
          </a:graphicData>
        </a:graphic>
      </p:graphicFrame>
    </p:spTree>
    <p:extLst>
      <p:ext uri="{BB962C8B-B14F-4D97-AF65-F5344CB8AC3E}">
        <p14:creationId xmlns:p14="http://schemas.microsoft.com/office/powerpoint/2010/main" val="19621554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94D40-845B-06EE-26A3-956AFDD3B09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AE3EB4-18C4-B234-BE39-4688478E39B4}"/>
              </a:ext>
            </a:extLst>
          </p:cNvPr>
          <p:cNvSpPr>
            <a:spLocks noGrp="1"/>
          </p:cNvSpPr>
          <p:nvPr>
            <p:ph type="title"/>
          </p:nvPr>
        </p:nvSpPr>
        <p:spPr>
          <a:xfrm>
            <a:off x="695998" y="360000"/>
            <a:ext cx="6375921" cy="429413"/>
          </a:xfrm>
        </p:spPr>
        <p:txBody>
          <a:bodyPr>
            <a:normAutofit/>
          </a:bodyPr>
          <a:lstStyle/>
          <a:p>
            <a:r>
              <a:rPr lang="en-US" altLang="zh-CN"/>
              <a:t>2.4.2 </a:t>
            </a:r>
            <a:r>
              <a:rPr lang="zh-CN" altLang="en-US"/>
              <a:t>项目章程 </a:t>
            </a:r>
            <a:r>
              <a:rPr lang="en-US" altLang="zh-CN"/>
              <a:t>- </a:t>
            </a:r>
            <a:r>
              <a:rPr lang="zh-CN" altLang="en-US"/>
              <a:t>假设条件与制约因素</a:t>
            </a:r>
          </a:p>
        </p:txBody>
      </p:sp>
      <p:sp>
        <p:nvSpPr>
          <p:cNvPr id="7" name="内容占位符 6">
            <a:extLst>
              <a:ext uri="{FF2B5EF4-FFF2-40B4-BE49-F238E27FC236}">
                <a16:creationId xmlns:a16="http://schemas.microsoft.com/office/drawing/2014/main" id="{0705894C-7BED-0A43-12AA-575B14629480}"/>
              </a:ext>
            </a:extLst>
          </p:cNvPr>
          <p:cNvSpPr>
            <a:spLocks noGrp="1"/>
          </p:cNvSpPr>
          <p:nvPr>
            <p:ph idx="1"/>
          </p:nvPr>
        </p:nvSpPr>
        <p:spPr>
          <a:xfrm>
            <a:off x="696000" y="864000"/>
            <a:ext cx="10800000" cy="5400000"/>
          </a:xfrm>
        </p:spPr>
        <p:txBody>
          <a:bodyPr numCol="1">
            <a:normAutofit/>
          </a:bodyPr>
          <a:lstStyle/>
          <a:p>
            <a:r>
              <a:rPr lang="zh-CN" altLang="en-US"/>
              <a:t>假设条件</a:t>
            </a:r>
            <a:endParaRPr lang="en-US" altLang="zh-CN"/>
          </a:p>
          <a:p>
            <a:pPr lvl="1"/>
            <a:r>
              <a:rPr lang="zh-CN" altLang="en-US"/>
              <a:t>定义：制定计划时，被认为是真实、实际或确定的因素，但实际上并未得到证实。</a:t>
            </a:r>
          </a:p>
          <a:p>
            <a:pPr lvl="1"/>
            <a:r>
              <a:rPr lang="zh-CN" altLang="en-US"/>
              <a:t>本质：我们赌它会是这样。如果假设错误，就会变成风险。</a:t>
            </a:r>
            <a:endParaRPr lang="en-US" altLang="zh-CN"/>
          </a:p>
          <a:p>
            <a:r>
              <a:rPr lang="zh-CN" altLang="en-US"/>
              <a:t>制约因素</a:t>
            </a:r>
            <a:endParaRPr lang="en-US" altLang="zh-CN"/>
          </a:p>
          <a:p>
            <a:pPr lvl="1"/>
            <a:r>
              <a:rPr lang="zh-CN" altLang="en-US"/>
              <a:t>定义：限制项目团队行动的强制性限制。团队必须在这些框框内工作，没有商量余地。</a:t>
            </a:r>
          </a:p>
          <a:p>
            <a:pPr lvl="1"/>
            <a:r>
              <a:rPr lang="zh-CN" altLang="en-US"/>
              <a:t>本质：“我们必须在这个范围内做”。</a:t>
            </a:r>
          </a:p>
          <a:p>
            <a:pPr lvl="1"/>
            <a:endParaRPr lang="zh-CN" altLang="en-US"/>
          </a:p>
          <a:p>
            <a:endParaRPr lang="zh-CN" altLang="en-US"/>
          </a:p>
        </p:txBody>
      </p:sp>
      <p:sp>
        <p:nvSpPr>
          <p:cNvPr id="6" name="Text Placeholder 5">
            <a:extLst>
              <a:ext uri="{FF2B5EF4-FFF2-40B4-BE49-F238E27FC236}">
                <a16:creationId xmlns:a16="http://schemas.microsoft.com/office/drawing/2014/main" id="{B37C1A04-A0A4-4665-C50D-7A45ABA8DB5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4" name="表格 23">
            <a:extLst>
              <a:ext uri="{FF2B5EF4-FFF2-40B4-BE49-F238E27FC236}">
                <a16:creationId xmlns:a16="http://schemas.microsoft.com/office/drawing/2014/main" id="{91E808F4-D449-0AA5-E1CB-0FCDD03946BB}"/>
              </a:ext>
            </a:extLst>
          </p:cNvPr>
          <p:cNvGraphicFramePr>
            <a:graphicFrameLocks noGrp="1"/>
          </p:cNvGraphicFramePr>
          <p:nvPr>
            <p:extLst>
              <p:ext uri="{D42A27DB-BD31-4B8C-83A1-F6EECF244321}">
                <p14:modId xmlns:p14="http://schemas.microsoft.com/office/powerpoint/2010/main" val="3310577794"/>
              </p:ext>
            </p:extLst>
          </p:nvPr>
        </p:nvGraphicFramePr>
        <p:xfrm>
          <a:off x="695325" y="4252595"/>
          <a:ext cx="10801350" cy="2011680"/>
        </p:xfrm>
        <a:graphic>
          <a:graphicData uri="http://schemas.openxmlformats.org/drawingml/2006/table">
            <a:tbl>
              <a:tblPr/>
              <a:tblGrid>
                <a:gridCol w="2539488">
                  <a:extLst>
                    <a:ext uri="{9D8B030D-6E8A-4147-A177-3AD203B41FA5}">
                      <a16:colId xmlns:a16="http://schemas.microsoft.com/office/drawing/2014/main" val="1608412307"/>
                    </a:ext>
                  </a:extLst>
                </a:gridCol>
                <a:gridCol w="4385187">
                  <a:extLst>
                    <a:ext uri="{9D8B030D-6E8A-4147-A177-3AD203B41FA5}">
                      <a16:colId xmlns:a16="http://schemas.microsoft.com/office/drawing/2014/main" val="2136814041"/>
                    </a:ext>
                  </a:extLst>
                </a:gridCol>
                <a:gridCol w="3876675">
                  <a:extLst>
                    <a:ext uri="{9D8B030D-6E8A-4147-A177-3AD203B41FA5}">
                      <a16:colId xmlns:a16="http://schemas.microsoft.com/office/drawing/2014/main" val="311717617"/>
                    </a:ext>
                  </a:extLst>
                </a:gridCol>
              </a:tblGrid>
              <a:tr h="0">
                <a:tc>
                  <a:txBody>
                    <a:bodyPr/>
                    <a:lstStyle/>
                    <a:p>
                      <a:pPr algn="l">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假设条件 </a:t>
                      </a:r>
                      <a:r>
                        <a:rPr lang="en-US" sz="1600">
                          <a:solidFill>
                            <a:schemeClr val="bg1"/>
                          </a:solidFill>
                        </a:rPr>
                        <a:t>Assumptions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制约因素 </a:t>
                      </a:r>
                      <a:r>
                        <a:rPr lang="en-US" sz="1600">
                          <a:solidFill>
                            <a:schemeClr val="bg1"/>
                          </a:solidFill>
                        </a:rPr>
                        <a:t>Constraints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287775788"/>
                  </a:ext>
                </a:extLst>
              </a:tr>
              <a:tr h="0">
                <a:tc>
                  <a:txBody>
                    <a:bodyPr/>
                    <a:lstStyle/>
                    <a:p>
                      <a:pPr algn="l">
                        <a:buNone/>
                      </a:pPr>
                      <a:r>
                        <a:rPr lang="zh-CN" altLang="en-US" sz="1600">
                          <a:solidFill>
                            <a:schemeClr val="bg1"/>
                          </a:solidFill>
                        </a:rPr>
                        <a:t>性质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我们认为是真的（但不确定）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必须遵守的限制（确定的）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9125384"/>
                  </a:ext>
                </a:extLst>
              </a:tr>
              <a:tr h="0">
                <a:tc>
                  <a:txBody>
                    <a:bodyPr/>
                    <a:lstStyle/>
                    <a:p>
                      <a:pPr algn="l">
                        <a:buNone/>
                      </a:pPr>
                      <a:r>
                        <a:rPr lang="zh-CN" altLang="en-US" sz="1600">
                          <a:solidFill>
                            <a:schemeClr val="bg1"/>
                          </a:solidFill>
                        </a:rPr>
                        <a:t>如果出错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会变成风险 </a:t>
                      </a:r>
                      <a:r>
                        <a:rPr lang="en-US" altLang="zh-CN" sz="1600">
                          <a:solidFill>
                            <a:schemeClr val="bg1"/>
                          </a:solidFill>
                        </a:rPr>
                        <a:t>(</a:t>
                      </a:r>
                      <a:r>
                        <a:rPr lang="en-US" sz="1600">
                          <a:solidFill>
                            <a:schemeClr val="bg1"/>
                          </a:solidFill>
                        </a:rPr>
                        <a:t>Risk)</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会导致违规或项目失败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18575"/>
                  </a:ext>
                </a:extLst>
              </a:tr>
              <a:tr h="0">
                <a:tc>
                  <a:txBody>
                    <a:bodyPr/>
                    <a:lstStyle/>
                    <a:p>
                      <a:pPr algn="l">
                        <a:buNone/>
                      </a:pPr>
                      <a:r>
                        <a:rPr lang="zh-CN" altLang="en-US" sz="1600">
                          <a:solidFill>
                            <a:schemeClr val="bg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相对较高，可随信息明确而修正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极低，通常由高层或合同强制规定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8180259"/>
                  </a:ext>
                </a:extLst>
              </a:tr>
              <a:tr h="0">
                <a:tc>
                  <a:txBody>
                    <a:bodyPr/>
                    <a:lstStyle/>
                    <a:p>
                      <a:pPr algn="l">
                        <a:buNone/>
                      </a:pPr>
                      <a:r>
                        <a:rPr lang="zh-CN" altLang="en-US" sz="1600">
                          <a:solidFill>
                            <a:schemeClr val="bg1"/>
                          </a:solidFill>
                        </a:rPr>
                        <a:t>口头禅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我们假定</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我们必须</a:t>
                      </a:r>
                      <a:r>
                        <a:rPr lang="en-US" altLang="zh-CN" sz="1600">
                          <a:solidFill>
                            <a:schemeClr val="bg1"/>
                          </a:solidFill>
                        </a:rPr>
                        <a:t>...” / “</a:t>
                      </a:r>
                      <a:r>
                        <a:rPr lang="zh-CN" altLang="en-US" sz="1600">
                          <a:solidFill>
                            <a:schemeClr val="bg1"/>
                          </a:solidFill>
                        </a:rPr>
                        <a:t>不能超过</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94210"/>
                  </a:ext>
                </a:extLst>
              </a:tr>
              <a:tr h="0">
                <a:tc>
                  <a:txBody>
                    <a:bodyPr/>
                    <a:lstStyle/>
                    <a:p>
                      <a:pPr algn="l">
                        <a:buNone/>
                      </a:pPr>
                      <a:r>
                        <a:rPr lang="zh-CN" altLang="en-US" sz="1600">
                          <a:solidFill>
                            <a:schemeClr val="bg1"/>
                          </a:solidFill>
                        </a:rPr>
                        <a:t>例子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假定雨季不会影响室外施工。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必须在雨季结束前完工。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016895"/>
                  </a:ext>
                </a:extLst>
              </a:tr>
            </a:tbl>
          </a:graphicData>
        </a:graphic>
      </p:graphicFrame>
    </p:spTree>
    <p:extLst>
      <p:ext uri="{BB962C8B-B14F-4D97-AF65-F5344CB8AC3E}">
        <p14:creationId xmlns:p14="http://schemas.microsoft.com/office/powerpoint/2010/main" val="22360425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4353083B-FA8B-1D14-94BC-BCD3C69E90A4}"/>
              </a:ext>
            </a:extLst>
          </p:cNvPr>
          <p:cNvSpPr>
            <a:spLocks noGrp="1"/>
          </p:cNvSpPr>
          <p:nvPr>
            <p:ph type="title"/>
          </p:nvPr>
        </p:nvSpPr>
        <p:spPr>
          <a:xfrm>
            <a:off x="695998" y="360000"/>
            <a:ext cx="6375921" cy="429413"/>
          </a:xfrm>
        </p:spPr>
        <p:txBody>
          <a:bodyPr/>
          <a:lstStyle/>
          <a:p>
            <a:r>
              <a:rPr lang="en-US" altLang="zh-CN"/>
              <a:t>2.4.2 </a:t>
            </a:r>
            <a:r>
              <a:rPr lang="zh-CN" altLang="en-US"/>
              <a:t>项目章程 </a:t>
            </a:r>
            <a:r>
              <a:rPr lang="en-US" altLang="zh-CN"/>
              <a:t>– </a:t>
            </a:r>
            <a:r>
              <a:rPr lang="zh-CN" altLang="en-US"/>
              <a:t>示例</a:t>
            </a:r>
          </a:p>
        </p:txBody>
      </p:sp>
      <p:sp>
        <p:nvSpPr>
          <p:cNvPr id="3" name="内容占位符 2">
            <a:extLst>
              <a:ext uri="{FF2B5EF4-FFF2-40B4-BE49-F238E27FC236}">
                <a16:creationId xmlns:a16="http://schemas.microsoft.com/office/drawing/2014/main" id="{170CEA44-783E-FC1C-B35A-EC738A56AEE6}"/>
              </a:ext>
            </a:extLst>
          </p:cNvPr>
          <p:cNvSpPr>
            <a:spLocks noGrp="1"/>
          </p:cNvSpPr>
          <p:nvPr>
            <p:ph idx="1"/>
          </p:nvPr>
        </p:nvSpPr>
        <p:spPr>
          <a:xfrm>
            <a:off x="696000" y="864000"/>
            <a:ext cx="10800000" cy="5400000"/>
          </a:xfrm>
        </p:spPr>
        <p:txBody>
          <a:bodyPr/>
          <a:lstStyle/>
          <a:p>
            <a:r>
              <a:rPr lang="zh-CN" altLang="en-US"/>
              <a:t>主要风险 </a:t>
            </a:r>
            <a:r>
              <a:rPr lang="en-US" altLang="zh-CN"/>
              <a:t>Key Risks</a:t>
            </a:r>
          </a:p>
          <a:p>
            <a:pPr lvl="1"/>
            <a:r>
              <a:rPr lang="zh-CN" altLang="en-US"/>
              <a:t>关键资源依赖：核心架构师到位延迟，存在前期设计延期及资源闲置风险。</a:t>
            </a:r>
          </a:p>
          <a:p>
            <a:pPr lvl="1"/>
            <a:r>
              <a:rPr lang="zh-CN" altLang="en-US"/>
              <a:t>合规不确定性：新数据隐私法规可能导致技术方案返工。</a:t>
            </a:r>
          </a:p>
          <a:p>
            <a:pPr lvl="1"/>
            <a:r>
              <a:rPr lang="zh-CN" altLang="en-US"/>
              <a:t>市场窗口：若无法在年底前上线，将错失春节营销高峰。</a:t>
            </a:r>
          </a:p>
        </p:txBody>
      </p:sp>
      <p:sp>
        <p:nvSpPr>
          <p:cNvPr id="7" name="文本占位符 6">
            <a:extLst>
              <a:ext uri="{FF2B5EF4-FFF2-40B4-BE49-F238E27FC236}">
                <a16:creationId xmlns:a16="http://schemas.microsoft.com/office/drawing/2014/main" id="{37C32B0E-12CA-B36E-2A22-5325060E9054}"/>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6336528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213FC-8D90-9FC2-FD2C-B0DA3F0C3C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51EF75-AFE7-8A5B-B98B-D7BD2AB5CC78}"/>
              </a:ext>
            </a:extLst>
          </p:cNvPr>
          <p:cNvSpPr>
            <a:spLocks noGrp="1"/>
          </p:cNvSpPr>
          <p:nvPr>
            <p:ph type="title"/>
          </p:nvPr>
        </p:nvSpPr>
        <p:spPr>
          <a:xfrm>
            <a:off x="695998" y="360000"/>
            <a:ext cx="6375921" cy="429413"/>
          </a:xfrm>
        </p:spPr>
        <p:txBody>
          <a:bodyPr/>
          <a:lstStyle/>
          <a:p>
            <a:r>
              <a:rPr lang="en-US" altLang="zh-CN"/>
              <a:t>2.4.3 </a:t>
            </a:r>
            <a:r>
              <a:rPr lang="zh-CN" altLang="en-US"/>
              <a:t>项目经理</a:t>
            </a:r>
          </a:p>
        </p:txBody>
      </p:sp>
      <p:sp>
        <p:nvSpPr>
          <p:cNvPr id="10" name="内容占位符 9">
            <a:extLst>
              <a:ext uri="{FF2B5EF4-FFF2-40B4-BE49-F238E27FC236}">
                <a16:creationId xmlns:a16="http://schemas.microsoft.com/office/drawing/2014/main" id="{16897844-2C2F-07A9-32FE-A9BA13E398AE}"/>
              </a:ext>
            </a:extLst>
          </p:cNvPr>
          <p:cNvSpPr>
            <a:spLocks noGrp="1"/>
          </p:cNvSpPr>
          <p:nvPr>
            <p:ph idx="1"/>
          </p:nvPr>
        </p:nvSpPr>
        <p:spPr>
          <a:xfrm>
            <a:off x="696000" y="864000"/>
            <a:ext cx="10800000" cy="5400000"/>
          </a:xfrm>
        </p:spPr>
        <p:txBody>
          <a:bodyPr/>
          <a:lstStyle/>
          <a:p>
            <a:r>
              <a:rPr lang="zh-CN" altLang="en-US"/>
              <a:t>职责</a:t>
            </a:r>
            <a:endParaRPr lang="en-US" altLang="zh-CN"/>
          </a:p>
          <a:p>
            <a:pPr lvl="1"/>
            <a:r>
              <a:rPr lang="zh-CN" altLang="en-US"/>
              <a:t>开发计划</a:t>
            </a:r>
            <a:endParaRPr lang="en-US" altLang="zh-CN"/>
          </a:p>
          <a:p>
            <a:pPr lvl="1"/>
            <a:r>
              <a:rPr lang="zh-CN" altLang="en-US"/>
              <a:t>组织实施</a:t>
            </a:r>
            <a:endParaRPr lang="en-US" altLang="zh-CN"/>
          </a:p>
          <a:p>
            <a:pPr lvl="1"/>
            <a:r>
              <a:rPr lang="zh-CN" altLang="en-US"/>
              <a:t>项目控制</a:t>
            </a:r>
            <a:endParaRPr lang="en-US" altLang="zh-CN"/>
          </a:p>
          <a:p>
            <a:endParaRPr lang="zh-CN" altLang="en-US"/>
          </a:p>
        </p:txBody>
      </p:sp>
      <p:sp>
        <p:nvSpPr>
          <p:cNvPr id="4" name="文本占位符 3">
            <a:extLst>
              <a:ext uri="{FF2B5EF4-FFF2-40B4-BE49-F238E27FC236}">
                <a16:creationId xmlns:a16="http://schemas.microsoft.com/office/drawing/2014/main" id="{B8DDF3F7-09B7-9214-C5BE-1A683681C6D9}"/>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spTree>
    <p:extLst>
      <p:ext uri="{BB962C8B-B14F-4D97-AF65-F5344CB8AC3E}">
        <p14:creationId xmlns:p14="http://schemas.microsoft.com/office/powerpoint/2010/main" val="21983205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DFB79AA-D96B-403F-50A8-32D511051501}"/>
              </a:ext>
            </a:extLst>
          </p:cNvPr>
          <p:cNvSpPr>
            <a:spLocks noGrp="1"/>
          </p:cNvSpPr>
          <p:nvPr>
            <p:ph type="title"/>
          </p:nvPr>
        </p:nvSpPr>
        <p:spPr>
          <a:xfrm>
            <a:off x="695998" y="360000"/>
            <a:ext cx="6375921" cy="429413"/>
          </a:xfrm>
        </p:spPr>
        <p:txBody>
          <a:bodyPr/>
          <a:lstStyle/>
          <a:p>
            <a:r>
              <a:rPr lang="en-US" altLang="zh-CN"/>
              <a:t>2.4.3.1 </a:t>
            </a:r>
            <a:r>
              <a:rPr lang="zh-CN" altLang="en-US"/>
              <a:t>项目经理</a:t>
            </a:r>
          </a:p>
        </p:txBody>
      </p:sp>
      <p:sp>
        <p:nvSpPr>
          <p:cNvPr id="10" name="内容占位符 9">
            <a:extLst>
              <a:ext uri="{FF2B5EF4-FFF2-40B4-BE49-F238E27FC236}">
                <a16:creationId xmlns:a16="http://schemas.microsoft.com/office/drawing/2014/main" id="{8A9775CC-46B1-281F-3C1F-23876021B48D}"/>
              </a:ext>
            </a:extLst>
          </p:cNvPr>
          <p:cNvSpPr>
            <a:spLocks noGrp="1"/>
          </p:cNvSpPr>
          <p:nvPr>
            <p:ph idx="1"/>
          </p:nvPr>
        </p:nvSpPr>
        <p:spPr>
          <a:xfrm>
            <a:off x="696000" y="864000"/>
            <a:ext cx="10800000" cy="5400000"/>
          </a:xfrm>
        </p:spPr>
        <p:txBody>
          <a:bodyPr/>
          <a:lstStyle/>
          <a:p>
            <a:r>
              <a:rPr lang="en-US" altLang="zh-CN"/>
              <a:t>PMI</a:t>
            </a:r>
            <a:r>
              <a:rPr lang="zh-CN" altLang="en-US"/>
              <a:t>人才三角 </a:t>
            </a:r>
            <a:r>
              <a:rPr lang="en-US" altLang="zh-CN"/>
              <a:t>- PMI Talent Triangle</a:t>
            </a:r>
          </a:p>
          <a:p>
            <a:r>
              <a:rPr lang="zh-CN" altLang="en-US"/>
              <a:t>三者同等重要、缺一不可</a:t>
            </a:r>
            <a:endParaRPr lang="en-US" altLang="zh-CN"/>
          </a:p>
          <a:p>
            <a:endParaRPr lang="zh-CN" altLang="en-US"/>
          </a:p>
        </p:txBody>
      </p:sp>
      <p:sp>
        <p:nvSpPr>
          <p:cNvPr id="4" name="文本占位符 3">
            <a:extLst>
              <a:ext uri="{FF2B5EF4-FFF2-40B4-BE49-F238E27FC236}">
                <a16:creationId xmlns:a16="http://schemas.microsoft.com/office/drawing/2014/main" id="{6739C3D2-629D-553F-FC6B-B1A298725F97}"/>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6" name="图片 25">
            <a:extLst>
              <a:ext uri="{FF2B5EF4-FFF2-40B4-BE49-F238E27FC236}">
                <a16:creationId xmlns:a16="http://schemas.microsoft.com/office/drawing/2014/main" id="{FAE53F7D-FEF8-0730-52A8-85955E444F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76000" y="1094318"/>
            <a:ext cx="3240000" cy="2783414"/>
          </a:xfrm>
          <a:prstGeom prst="rect">
            <a:avLst/>
          </a:prstGeom>
        </p:spPr>
      </p:pic>
      <p:graphicFrame>
        <p:nvGraphicFramePr>
          <p:cNvPr id="32" name="表格 31">
            <a:extLst>
              <a:ext uri="{FF2B5EF4-FFF2-40B4-BE49-F238E27FC236}">
                <a16:creationId xmlns:a16="http://schemas.microsoft.com/office/drawing/2014/main" id="{931D2074-636B-1643-E9F7-957A4E58D60B}"/>
              </a:ext>
            </a:extLst>
          </p:cNvPr>
          <p:cNvGraphicFramePr>
            <a:graphicFrameLocks noGrp="1"/>
          </p:cNvGraphicFramePr>
          <p:nvPr>
            <p:extLst>
              <p:ext uri="{D42A27DB-BD31-4B8C-83A1-F6EECF244321}">
                <p14:modId xmlns:p14="http://schemas.microsoft.com/office/powerpoint/2010/main" val="248538380"/>
              </p:ext>
            </p:extLst>
          </p:nvPr>
        </p:nvGraphicFramePr>
        <p:xfrm>
          <a:off x="695325" y="4191635"/>
          <a:ext cx="10801350" cy="2072640"/>
        </p:xfrm>
        <a:graphic>
          <a:graphicData uri="http://schemas.openxmlformats.org/drawingml/2006/table">
            <a:tbl>
              <a:tblPr/>
              <a:tblGrid>
                <a:gridCol w="4276725">
                  <a:extLst>
                    <a:ext uri="{9D8B030D-6E8A-4147-A177-3AD203B41FA5}">
                      <a16:colId xmlns:a16="http://schemas.microsoft.com/office/drawing/2014/main" val="1613235729"/>
                    </a:ext>
                  </a:extLst>
                </a:gridCol>
                <a:gridCol w="6524625">
                  <a:extLst>
                    <a:ext uri="{9D8B030D-6E8A-4147-A177-3AD203B41FA5}">
                      <a16:colId xmlns:a16="http://schemas.microsoft.com/office/drawing/2014/main" val="2647818768"/>
                    </a:ext>
                  </a:extLst>
                </a:gridCol>
              </a:tblGrid>
              <a:tr h="0">
                <a:tc>
                  <a:txBody>
                    <a:bodyPr/>
                    <a:lstStyle/>
                    <a:p>
                      <a:pPr>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129582857"/>
                  </a:ext>
                </a:extLst>
              </a:tr>
              <a:tr h="119983">
                <a:tc>
                  <a:txBody>
                    <a:bodyPr/>
                    <a:lstStyle/>
                    <a:p>
                      <a:pPr>
                        <a:buNone/>
                      </a:pPr>
                      <a:r>
                        <a:rPr lang="zh-CN" altLang="en-US" sz="1600">
                          <a:solidFill>
                            <a:schemeClr val="bg1"/>
                          </a:solidFill>
                        </a:rPr>
                        <a:t>技术项目管理</a:t>
                      </a:r>
                      <a:endParaRPr lang="en-US" altLang="zh-CN" sz="1600">
                        <a:solidFill>
                          <a:schemeClr val="bg1"/>
                        </a:solidFill>
                      </a:endParaRPr>
                    </a:p>
                    <a:p>
                      <a:pPr>
                        <a:buNone/>
                      </a:pPr>
                      <a:r>
                        <a:rPr lang="en-US" altLang="zh-CN" sz="1600">
                          <a:solidFill>
                            <a:schemeClr val="bg1"/>
                          </a:solidFill>
                        </a:rPr>
                        <a:t>Technical Project Management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与项目、项目集和项目组合管理特定领域相关的知识、技能和行为</a:t>
                      </a:r>
                      <a:endParaRPr lang="en-US" altLang="zh-CN" sz="1600">
                        <a:solidFill>
                          <a:schemeClr val="bg1"/>
                        </a:solidFill>
                      </a:endParaRPr>
                    </a:p>
                    <a:p>
                      <a:pPr>
                        <a:buNone/>
                      </a:pPr>
                      <a:r>
                        <a:rPr lang="zh-CN" altLang="en-US" sz="1600">
                          <a:solidFill>
                            <a:schemeClr val="bg1"/>
                          </a:solidFill>
                        </a:rPr>
                        <a:t>即执行你岗位</a:t>
                      </a:r>
                      <a:r>
                        <a:rPr lang="en-US" altLang="zh-CN" sz="1600">
                          <a:solidFill>
                            <a:schemeClr val="bg1"/>
                          </a:solidFill>
                        </a:rPr>
                        <a:t>/</a:t>
                      </a:r>
                      <a:r>
                        <a:rPr lang="zh-CN" altLang="en-US" sz="1600">
                          <a:solidFill>
                            <a:schemeClr val="bg1"/>
                          </a:solidFill>
                        </a:rPr>
                        <a:t>角色所需的技术性方面</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19983">
                <a:tc>
                  <a:txBody>
                    <a:bodyPr/>
                    <a:lstStyle/>
                    <a:p>
                      <a:pPr>
                        <a:buNone/>
                      </a:pPr>
                      <a:r>
                        <a:rPr lang="zh-CN" altLang="en-US" sz="1600">
                          <a:solidFill>
                            <a:schemeClr val="bg1"/>
                          </a:solidFill>
                        </a:rPr>
                        <a:t>领导力</a:t>
                      </a:r>
                      <a:endParaRPr lang="en-US" altLang="zh-CN" sz="1600">
                        <a:solidFill>
                          <a:schemeClr val="bg1"/>
                        </a:solidFill>
                      </a:endParaRPr>
                    </a:p>
                    <a:p>
                      <a:pPr>
                        <a:buNone/>
                      </a:pPr>
                      <a:r>
                        <a:rPr lang="en-US" altLang="zh-CN" sz="1600">
                          <a:solidFill>
                            <a:schemeClr val="bg1"/>
                          </a:solidFill>
                        </a:rPr>
                        <a:t>Leadership</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涉及引导、激励和</a:t>
                      </a:r>
                      <a:r>
                        <a:rPr lang="en-US" altLang="zh-CN" sz="1600">
                          <a:solidFill>
                            <a:schemeClr val="bg1"/>
                          </a:solidFill>
                        </a:rPr>
                        <a:t>/</a:t>
                      </a:r>
                      <a:r>
                        <a:rPr lang="zh-CN" altLang="en-US" sz="1600">
                          <a:solidFill>
                            <a:schemeClr val="bg1"/>
                          </a:solidFill>
                        </a:rPr>
                        <a:t>或指导他人以实现目标的知识、技能和行为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19983">
                <a:tc>
                  <a:txBody>
                    <a:bodyPr/>
                    <a:lstStyle/>
                    <a:p>
                      <a:pPr>
                        <a:buNone/>
                      </a:pPr>
                      <a:r>
                        <a:rPr lang="zh-CN" altLang="en-US" sz="1600">
                          <a:solidFill>
                            <a:schemeClr val="bg1"/>
                          </a:solidFill>
                        </a:rPr>
                        <a:t>战略与商业管理</a:t>
                      </a:r>
                      <a:endParaRPr lang="en-US" altLang="zh-CN" sz="1600">
                        <a:solidFill>
                          <a:schemeClr val="bg1"/>
                        </a:solidFill>
                      </a:endParaRPr>
                    </a:p>
                    <a:p>
                      <a:pPr>
                        <a:buNone/>
                      </a:pPr>
                      <a:r>
                        <a:rPr lang="en-US" altLang="zh-CN" sz="1600">
                          <a:solidFill>
                            <a:schemeClr val="bg1"/>
                          </a:solidFill>
                        </a:rPr>
                        <a:t>Strategic and Business Management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对行业</a:t>
                      </a:r>
                      <a:r>
                        <a:rPr lang="en-US" altLang="zh-CN" sz="1600">
                          <a:solidFill>
                            <a:schemeClr val="bg1"/>
                          </a:solidFill>
                        </a:rPr>
                        <a:t>/</a:t>
                      </a:r>
                      <a:r>
                        <a:rPr lang="zh-CN" altLang="en-US" sz="1600">
                          <a:solidFill>
                            <a:schemeClr val="bg1"/>
                          </a:solidFill>
                        </a:rPr>
                        <a:t>组织的知识与专长，帮助你以增强绩效并更好交付业务成果的方式协调团队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69608844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4B6F4-4D85-A2C4-167A-31BAF1C6B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60A4524-5C08-806B-20D2-44883E5747C5}"/>
              </a:ext>
            </a:extLst>
          </p:cNvPr>
          <p:cNvSpPr>
            <a:spLocks noGrp="1"/>
          </p:cNvSpPr>
          <p:nvPr>
            <p:ph type="title"/>
          </p:nvPr>
        </p:nvSpPr>
        <p:spPr>
          <a:xfrm>
            <a:off x="695998" y="360000"/>
            <a:ext cx="6375921" cy="429413"/>
          </a:xfrm>
        </p:spPr>
        <p:txBody>
          <a:bodyPr/>
          <a:lstStyle/>
          <a:p>
            <a:r>
              <a:rPr lang="en-US" altLang="zh-CN"/>
              <a:t>2.4.3.2 </a:t>
            </a:r>
            <a:r>
              <a:rPr lang="zh-CN" altLang="en-US"/>
              <a:t>项目经理</a:t>
            </a:r>
          </a:p>
        </p:txBody>
      </p:sp>
      <p:sp>
        <p:nvSpPr>
          <p:cNvPr id="10" name="内容占位符 9">
            <a:extLst>
              <a:ext uri="{FF2B5EF4-FFF2-40B4-BE49-F238E27FC236}">
                <a16:creationId xmlns:a16="http://schemas.microsoft.com/office/drawing/2014/main" id="{292FB337-DA83-6EC2-D306-1D232F30D63B}"/>
              </a:ext>
            </a:extLst>
          </p:cNvPr>
          <p:cNvSpPr>
            <a:spLocks noGrp="1"/>
          </p:cNvSpPr>
          <p:nvPr>
            <p:ph idx="1"/>
          </p:nvPr>
        </p:nvSpPr>
        <p:spPr>
          <a:xfrm>
            <a:off x="696000" y="864000"/>
            <a:ext cx="10800000" cy="5400000"/>
          </a:xfrm>
        </p:spPr>
        <p:txBody>
          <a:bodyPr/>
          <a:lstStyle/>
          <a:p>
            <a:r>
              <a:rPr lang="en-US" altLang="zh-CN"/>
              <a:t>PMI</a:t>
            </a:r>
            <a:r>
              <a:rPr lang="zh-CN" altLang="en-US"/>
              <a:t>人才三角演进版</a:t>
            </a:r>
            <a:endParaRPr lang="en-US" altLang="zh-CN"/>
          </a:p>
          <a:p>
            <a:endParaRPr lang="zh-CN" altLang="en-US"/>
          </a:p>
        </p:txBody>
      </p:sp>
      <p:sp>
        <p:nvSpPr>
          <p:cNvPr id="4" name="文本占位符 3">
            <a:extLst>
              <a:ext uri="{FF2B5EF4-FFF2-40B4-BE49-F238E27FC236}">
                <a16:creationId xmlns:a16="http://schemas.microsoft.com/office/drawing/2014/main" id="{783EEEEF-0980-EA16-23C0-CEB4AD960366}"/>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4" name="图片 23">
            <a:extLst>
              <a:ext uri="{FF2B5EF4-FFF2-40B4-BE49-F238E27FC236}">
                <a16:creationId xmlns:a16="http://schemas.microsoft.com/office/drawing/2014/main" id="{E57F7413-768D-A436-D6E5-61448DF74E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6000" y="1031131"/>
            <a:ext cx="3600000" cy="2992974"/>
          </a:xfrm>
          <a:prstGeom prst="rect">
            <a:avLst/>
          </a:prstGeom>
        </p:spPr>
      </p:pic>
      <p:graphicFrame>
        <p:nvGraphicFramePr>
          <p:cNvPr id="18" name="表格 17">
            <a:extLst>
              <a:ext uri="{FF2B5EF4-FFF2-40B4-BE49-F238E27FC236}">
                <a16:creationId xmlns:a16="http://schemas.microsoft.com/office/drawing/2014/main" id="{249CC306-AB3C-D75C-1B3D-2AA78241DA35}"/>
              </a:ext>
            </a:extLst>
          </p:cNvPr>
          <p:cNvGraphicFramePr>
            <a:graphicFrameLocks noGrp="1"/>
          </p:cNvGraphicFramePr>
          <p:nvPr>
            <p:extLst>
              <p:ext uri="{D42A27DB-BD31-4B8C-83A1-F6EECF244321}">
                <p14:modId xmlns:p14="http://schemas.microsoft.com/office/powerpoint/2010/main" val="3899758958"/>
              </p:ext>
            </p:extLst>
          </p:nvPr>
        </p:nvGraphicFramePr>
        <p:xfrm>
          <a:off x="695325" y="4191635"/>
          <a:ext cx="10801350" cy="2072640"/>
        </p:xfrm>
        <a:graphic>
          <a:graphicData uri="http://schemas.openxmlformats.org/drawingml/2006/table">
            <a:tbl>
              <a:tblPr/>
              <a:tblGrid>
                <a:gridCol w="2686050">
                  <a:extLst>
                    <a:ext uri="{9D8B030D-6E8A-4147-A177-3AD203B41FA5}">
                      <a16:colId xmlns:a16="http://schemas.microsoft.com/office/drawing/2014/main" val="1613235729"/>
                    </a:ext>
                  </a:extLst>
                </a:gridCol>
                <a:gridCol w="8115300">
                  <a:extLst>
                    <a:ext uri="{9D8B030D-6E8A-4147-A177-3AD203B41FA5}">
                      <a16:colId xmlns:a16="http://schemas.microsoft.com/office/drawing/2014/main" val="2647818768"/>
                    </a:ext>
                  </a:extLst>
                </a:gridCol>
              </a:tblGrid>
              <a:tr h="0">
                <a:tc>
                  <a:txBody>
                    <a:bodyPr/>
                    <a:lstStyle/>
                    <a:p>
                      <a:pPr>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129582857"/>
                  </a:ext>
                </a:extLst>
              </a:tr>
              <a:tr h="159506">
                <a:tc>
                  <a:txBody>
                    <a:bodyPr/>
                    <a:lstStyle/>
                    <a:p>
                      <a:pPr>
                        <a:buNone/>
                      </a:pPr>
                      <a:r>
                        <a:rPr lang="zh-CN" altLang="en-US" sz="1600">
                          <a:solidFill>
                            <a:schemeClr val="bg1"/>
                          </a:solidFill>
                        </a:rPr>
                        <a:t>工作方式</a:t>
                      </a:r>
                      <a:endParaRPr lang="en-US" altLang="zh-CN" sz="1600">
                        <a:solidFill>
                          <a:schemeClr val="bg1"/>
                        </a:solidFill>
                      </a:endParaRPr>
                    </a:p>
                    <a:p>
                      <a:pPr>
                        <a:buNone/>
                      </a:pPr>
                      <a:r>
                        <a:rPr lang="en-US" altLang="zh-CN" sz="1600">
                          <a:solidFill>
                            <a:schemeClr val="bg1"/>
                          </a:solidFill>
                        </a:rPr>
                        <a:t>Ways of Working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涵盖交付价值的方法、工具、技术和途径 </a:t>
                      </a:r>
                      <a:r>
                        <a:rPr lang="en-US" altLang="zh-CN" sz="1600">
                          <a:solidFill>
                            <a:schemeClr val="bg1"/>
                          </a:solidFill>
                        </a:rPr>
                        <a:t>- </a:t>
                      </a:r>
                      <a:r>
                        <a:rPr lang="zh-CN" altLang="en-US" sz="1600">
                          <a:solidFill>
                            <a:schemeClr val="bg1"/>
                          </a:solidFill>
                        </a:rPr>
                        <a:t>无论是预测型、敏捷型、混合型还是其他新兴框架；不再局限于“项目管理”，而是关注“在任何情境下完成工作”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59506">
                <a:tc>
                  <a:txBody>
                    <a:bodyPr/>
                    <a:lstStyle/>
                    <a:p>
                      <a:pPr>
                        <a:buNone/>
                      </a:pPr>
                      <a:r>
                        <a:rPr lang="zh-CN" altLang="en-US" sz="1600">
                          <a:solidFill>
                            <a:schemeClr val="bg1"/>
                          </a:solidFill>
                        </a:rPr>
                        <a:t>能力技能</a:t>
                      </a:r>
                      <a:endParaRPr lang="en-US" altLang="zh-CN" sz="1600">
                        <a:solidFill>
                          <a:schemeClr val="bg1"/>
                        </a:solidFill>
                      </a:endParaRPr>
                    </a:p>
                    <a:p>
                      <a:pPr>
                        <a:buNone/>
                      </a:pPr>
                      <a:r>
                        <a:rPr lang="en-US" altLang="zh-CN" sz="1600">
                          <a:solidFill>
                            <a:schemeClr val="bg1"/>
                          </a:solidFill>
                        </a:rPr>
                        <a:t>Power Skills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指使个人能够影响、激励、协作和领导的人际能力</a:t>
                      </a:r>
                      <a:r>
                        <a:rPr lang="en-US" altLang="zh-CN" sz="1600">
                          <a:solidFill>
                            <a:schemeClr val="bg1"/>
                          </a:solidFill>
                        </a:rPr>
                        <a:t> - </a:t>
                      </a:r>
                      <a:r>
                        <a:rPr lang="zh-CN" altLang="en-US" sz="1600">
                          <a:solidFill>
                            <a:schemeClr val="bg1"/>
                          </a:solidFill>
                        </a:rPr>
                        <a:t>无论是否拥有正式职权。包括情绪智力、沟通、谈判、冲突解决和故事讲述等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59506">
                <a:tc>
                  <a:txBody>
                    <a:bodyPr/>
                    <a:lstStyle/>
                    <a:p>
                      <a:pPr>
                        <a:buNone/>
                      </a:pPr>
                      <a:r>
                        <a:rPr lang="zh-CN" altLang="en-US" sz="1600">
                          <a:solidFill>
                            <a:schemeClr val="bg1"/>
                          </a:solidFill>
                        </a:rPr>
                        <a:t>商业洞察力</a:t>
                      </a:r>
                      <a:endParaRPr lang="en-US" altLang="zh-CN" sz="1600">
                        <a:solidFill>
                          <a:schemeClr val="bg1"/>
                        </a:solidFill>
                      </a:endParaRPr>
                    </a:p>
                    <a:p>
                      <a:pPr>
                        <a:buNone/>
                      </a:pPr>
                      <a:r>
                        <a:rPr lang="en-US" altLang="zh-CN" sz="1600">
                          <a:solidFill>
                            <a:schemeClr val="bg1"/>
                          </a:solidFill>
                        </a:rPr>
                        <a:t>Business Acumen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指理解企业如何运作、盈利和创造价值的能力，并能运用这种理解来支持组织战略和财务健康的决策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297729292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8ABBE4D-7DD3-6684-964A-87539403D5FB}"/>
              </a:ext>
            </a:extLst>
          </p:cNvPr>
          <p:cNvSpPr>
            <a:spLocks noGrp="1"/>
          </p:cNvSpPr>
          <p:nvPr>
            <p:ph type="title"/>
          </p:nvPr>
        </p:nvSpPr>
        <p:spPr>
          <a:xfrm>
            <a:off x="695998" y="360000"/>
            <a:ext cx="6375921" cy="429413"/>
          </a:xfrm>
        </p:spPr>
        <p:txBody>
          <a:bodyPr/>
          <a:lstStyle/>
          <a:p>
            <a:r>
              <a:rPr lang="en-US" altLang="zh-CN"/>
              <a:t>2.4.3.3 </a:t>
            </a:r>
            <a:r>
              <a:rPr lang="zh-CN" altLang="en-US"/>
              <a:t>项目经理</a:t>
            </a:r>
          </a:p>
        </p:txBody>
      </p:sp>
      <p:sp>
        <p:nvSpPr>
          <p:cNvPr id="14" name="内容占位符 13">
            <a:extLst>
              <a:ext uri="{FF2B5EF4-FFF2-40B4-BE49-F238E27FC236}">
                <a16:creationId xmlns:a16="http://schemas.microsoft.com/office/drawing/2014/main" id="{26B2149F-40EA-E866-C285-E20A9855982F}"/>
              </a:ext>
            </a:extLst>
          </p:cNvPr>
          <p:cNvSpPr>
            <a:spLocks noGrp="1"/>
          </p:cNvSpPr>
          <p:nvPr>
            <p:ph idx="1"/>
          </p:nvPr>
        </p:nvSpPr>
        <p:spPr>
          <a:xfrm>
            <a:off x="696000" y="864000"/>
            <a:ext cx="10800000" cy="5400000"/>
          </a:xfrm>
        </p:spPr>
        <p:txBody>
          <a:bodyPr/>
          <a:lstStyle/>
          <a:p>
            <a:r>
              <a:rPr lang="zh-CN" altLang="en-US"/>
              <a:t>标志着项目管理</a:t>
            </a:r>
            <a:endParaRPr lang="en-US" altLang="zh-CN"/>
          </a:p>
          <a:p>
            <a:pPr lvl="1"/>
            <a:r>
              <a:rPr lang="zh-CN" altLang="en-US"/>
              <a:t>从“技术驱动”迈向“价值驱动”</a:t>
            </a:r>
            <a:endParaRPr lang="en-US" altLang="zh-CN"/>
          </a:p>
          <a:p>
            <a:pPr lvl="1"/>
            <a:r>
              <a:rPr lang="zh-CN" altLang="en-US"/>
              <a:t>从“岗位能力”转向“通用胜任力”</a:t>
            </a:r>
            <a:endParaRPr lang="en-US" altLang="zh-CN"/>
          </a:p>
          <a:p>
            <a:r>
              <a:rPr lang="zh-CN" altLang="en-US"/>
              <a:t>最终目标</a:t>
            </a:r>
            <a:endParaRPr lang="en-US" altLang="zh-CN"/>
          </a:p>
          <a:p>
            <a:pPr lvl="1"/>
            <a:r>
              <a:rPr lang="zh-CN" altLang="en-US"/>
              <a:t>培养能在复杂环境中持续创造商业影响力的复合型人才</a:t>
            </a:r>
          </a:p>
        </p:txBody>
      </p:sp>
      <p:sp>
        <p:nvSpPr>
          <p:cNvPr id="11" name="文本占位符 10">
            <a:extLst>
              <a:ext uri="{FF2B5EF4-FFF2-40B4-BE49-F238E27FC236}">
                <a16:creationId xmlns:a16="http://schemas.microsoft.com/office/drawing/2014/main" id="{8D9D7561-9CD9-A171-7AC8-E74A221BA44B}"/>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graphicFrame>
        <p:nvGraphicFramePr>
          <p:cNvPr id="5" name="表格 4">
            <a:extLst>
              <a:ext uri="{FF2B5EF4-FFF2-40B4-BE49-F238E27FC236}">
                <a16:creationId xmlns:a16="http://schemas.microsoft.com/office/drawing/2014/main" id="{4DBCABE6-4435-30E8-43DA-3A85E38E580A}"/>
              </a:ext>
            </a:extLst>
          </p:cNvPr>
          <p:cNvGraphicFramePr>
            <a:graphicFrameLocks noGrp="1"/>
          </p:cNvGraphicFramePr>
          <p:nvPr>
            <p:extLst>
              <p:ext uri="{D42A27DB-BD31-4B8C-83A1-F6EECF244321}">
                <p14:modId xmlns:p14="http://schemas.microsoft.com/office/powerpoint/2010/main" val="1580499277"/>
              </p:ext>
            </p:extLst>
          </p:nvPr>
        </p:nvGraphicFramePr>
        <p:xfrm>
          <a:off x="695326" y="4191360"/>
          <a:ext cx="10801348" cy="2072640"/>
        </p:xfrm>
        <a:graphic>
          <a:graphicData uri="http://schemas.openxmlformats.org/drawingml/2006/table">
            <a:tbl>
              <a:tblPr/>
              <a:tblGrid>
                <a:gridCol w="1028699">
                  <a:extLst>
                    <a:ext uri="{9D8B030D-6E8A-4147-A177-3AD203B41FA5}">
                      <a16:colId xmlns:a16="http://schemas.microsoft.com/office/drawing/2014/main" val="1556667817"/>
                    </a:ext>
                  </a:extLst>
                </a:gridCol>
                <a:gridCol w="4124325">
                  <a:extLst>
                    <a:ext uri="{9D8B030D-6E8A-4147-A177-3AD203B41FA5}">
                      <a16:colId xmlns:a16="http://schemas.microsoft.com/office/drawing/2014/main" val="875267354"/>
                    </a:ext>
                  </a:extLst>
                </a:gridCol>
                <a:gridCol w="2667000">
                  <a:extLst>
                    <a:ext uri="{9D8B030D-6E8A-4147-A177-3AD203B41FA5}">
                      <a16:colId xmlns:a16="http://schemas.microsoft.com/office/drawing/2014/main" val="3986834464"/>
                    </a:ext>
                  </a:extLst>
                </a:gridCol>
                <a:gridCol w="2981324">
                  <a:extLst>
                    <a:ext uri="{9D8B030D-6E8A-4147-A177-3AD203B41FA5}">
                      <a16:colId xmlns:a16="http://schemas.microsoft.com/office/drawing/2014/main" val="3462028451"/>
                    </a:ext>
                  </a:extLst>
                </a:gridCol>
              </a:tblGrid>
              <a:tr h="187225">
                <a:tc>
                  <a:txBody>
                    <a:bodyPr/>
                    <a:lstStyle/>
                    <a:p>
                      <a:pPr>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Former</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later</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460554950"/>
                  </a:ext>
                </a:extLst>
              </a:tr>
              <a:tr h="323388">
                <a:tc>
                  <a:txBody>
                    <a:bodyPr/>
                    <a:lstStyle/>
                    <a:p>
                      <a:pPr>
                        <a:buNone/>
                      </a:pPr>
                      <a:r>
                        <a:rPr lang="zh-CN" altLang="en-US" sz="1600">
                          <a:solidFill>
                            <a:schemeClr val="bg1"/>
                          </a:solidFill>
                        </a:rPr>
                        <a:t>技术侧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Technical Project Management</a:t>
                      </a:r>
                      <a:br>
                        <a:rPr lang="en-US" sz="1600">
                          <a:solidFill>
                            <a:schemeClr val="bg1"/>
                          </a:solidFill>
                        </a:rPr>
                      </a:br>
                      <a:r>
                        <a:rPr lang="zh-CN" altLang="en-US" sz="1600">
                          <a:solidFill>
                            <a:schemeClr val="bg1"/>
                          </a:solidFill>
                        </a:rPr>
                        <a:t>技术项目管理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Ways of Working</a:t>
                      </a:r>
                      <a:br>
                        <a:rPr lang="en-US" sz="1600">
                          <a:solidFill>
                            <a:schemeClr val="bg1"/>
                          </a:solidFill>
                        </a:rPr>
                      </a:br>
                      <a:r>
                        <a:rPr lang="en-US" sz="1600" err="1">
                          <a:solidFill>
                            <a:schemeClr val="bg1"/>
                          </a:solidFill>
                        </a:rPr>
                        <a:t>工作方式</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更强调方法论灵活性，而非仅限于项目管理本身</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100506"/>
                  </a:ext>
                </a:extLst>
              </a:tr>
              <a:tr h="323388">
                <a:tc>
                  <a:txBody>
                    <a:bodyPr/>
                    <a:lstStyle/>
                    <a:p>
                      <a:pPr>
                        <a:buNone/>
                      </a:pPr>
                      <a:r>
                        <a:rPr lang="zh-CN" altLang="en-US" sz="1600">
                          <a:solidFill>
                            <a:schemeClr val="bg1"/>
                          </a:solidFill>
                        </a:rPr>
                        <a:t>领导力侧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Leadership</a:t>
                      </a:r>
                    </a:p>
                    <a:p>
                      <a:pPr>
                        <a:buNone/>
                      </a:pPr>
                      <a:r>
                        <a:rPr lang="zh-CN" altLang="en-US" sz="1600">
                          <a:solidFill>
                            <a:schemeClr val="bg1"/>
                          </a:solidFill>
                        </a:rPr>
                        <a:t>领导力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Power Skills</a:t>
                      </a:r>
                      <a:br>
                        <a:rPr lang="en-US" sz="1600">
                          <a:solidFill>
                            <a:schemeClr val="bg1"/>
                          </a:solidFill>
                        </a:rPr>
                      </a:br>
                      <a:r>
                        <a:rPr lang="zh-CN" altLang="en-US" sz="1600">
                          <a:solidFill>
                            <a:schemeClr val="bg1"/>
                          </a:solidFill>
                        </a:rPr>
                        <a:t>权力技能 </a:t>
                      </a:r>
                      <a:r>
                        <a:rPr lang="en-US" altLang="zh-CN" sz="1600">
                          <a:solidFill>
                            <a:schemeClr val="bg1"/>
                          </a:solidFill>
                        </a:rPr>
                        <a:t>/ </a:t>
                      </a:r>
                      <a:r>
                        <a:rPr lang="zh-CN" altLang="en-US" sz="1600">
                          <a:solidFill>
                            <a:schemeClr val="bg1"/>
                          </a:solidFill>
                        </a:rPr>
                        <a:t>影响力技能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突出影响他人的核心能力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800013"/>
                  </a:ext>
                </a:extLst>
              </a:tr>
              <a:tr h="323388">
                <a:tc>
                  <a:txBody>
                    <a:bodyPr/>
                    <a:lstStyle/>
                    <a:p>
                      <a:pPr>
                        <a:buNone/>
                      </a:pPr>
                      <a:r>
                        <a:rPr lang="zh-CN" altLang="en-US" sz="1600">
                          <a:solidFill>
                            <a:schemeClr val="bg1"/>
                          </a:solidFill>
                        </a:rPr>
                        <a:t>商业侧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Strategic and Business Management</a:t>
                      </a:r>
                      <a:br>
                        <a:rPr lang="en-US" sz="1600">
                          <a:solidFill>
                            <a:schemeClr val="bg1"/>
                          </a:solidFill>
                        </a:rPr>
                      </a:br>
                      <a:r>
                        <a:rPr lang="zh-CN" altLang="en-US" sz="1600">
                          <a:solidFill>
                            <a:schemeClr val="bg1"/>
                          </a:solidFill>
                        </a:rPr>
                        <a:t>战略与商业管理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Business Acumen</a:t>
                      </a:r>
                      <a:br>
                        <a:rPr lang="en-US" sz="1600">
                          <a:solidFill>
                            <a:schemeClr val="bg1"/>
                          </a:solidFill>
                        </a:rPr>
                      </a:br>
                      <a:r>
                        <a:rPr lang="zh-CN" altLang="en-US" sz="1600">
                          <a:solidFill>
                            <a:schemeClr val="bg1"/>
                          </a:solidFill>
                        </a:rPr>
                        <a:t>商业敏锐度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更简洁、聚焦于“理解业务并创造价值”的本质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5527658"/>
                  </a:ext>
                </a:extLst>
              </a:tr>
            </a:tbl>
          </a:graphicData>
        </a:graphic>
      </p:graphicFrame>
    </p:spTree>
    <p:extLst>
      <p:ext uri="{BB962C8B-B14F-4D97-AF65-F5344CB8AC3E}">
        <p14:creationId xmlns:p14="http://schemas.microsoft.com/office/powerpoint/2010/main" val="3461483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695998" y="360000"/>
            <a:ext cx="6375921" cy="429413"/>
          </a:xfrm>
        </p:spPr>
        <p:txBody>
          <a:bodyPr>
            <a:normAutofit/>
          </a:bodyPr>
          <a:lstStyle/>
          <a:p>
            <a:r>
              <a:rPr lang="en-US" altLang="zh-CN"/>
              <a:t>2.5 </a:t>
            </a:r>
            <a:r>
              <a:rPr lang="zh-CN" altLang="en-US"/>
              <a:t>软件项目生存期模型</a:t>
            </a:r>
          </a:p>
        </p:txBody>
      </p:sp>
      <p:sp>
        <p:nvSpPr>
          <p:cNvPr id="11" name="内容占位符 10">
            <a:extLst>
              <a:ext uri="{FF2B5EF4-FFF2-40B4-BE49-F238E27FC236}">
                <a16:creationId xmlns:a16="http://schemas.microsoft.com/office/drawing/2014/main" id="{7E379A49-97EA-A196-596E-B684984664D9}"/>
              </a:ext>
            </a:extLst>
          </p:cNvPr>
          <p:cNvSpPr>
            <a:spLocks noGrp="1"/>
          </p:cNvSpPr>
          <p:nvPr>
            <p:ph idx="1"/>
          </p:nvPr>
        </p:nvSpPr>
        <p:spPr>
          <a:xfrm>
            <a:off x="696000" y="864000"/>
            <a:ext cx="10800000" cy="5400000"/>
          </a:xfrm>
        </p:spPr>
        <p:txBody>
          <a:bodyPr/>
          <a:lstStyle/>
          <a:p>
            <a:r>
              <a:rPr lang="zh-CN" altLang="en-US"/>
              <a:t>描述开发主要阶段</a:t>
            </a:r>
            <a:endParaRPr lang="en-US" altLang="zh-CN"/>
          </a:p>
          <a:p>
            <a:r>
              <a:rPr lang="zh-CN" altLang="en-US"/>
              <a:t>定义每个阶段要完成的主要过程和活动</a:t>
            </a:r>
            <a:endParaRPr lang="en-US" altLang="zh-CN"/>
          </a:p>
          <a:p>
            <a:r>
              <a:rPr lang="zh-CN" altLang="en-US"/>
              <a:t>规范每个阶段的输入和输出</a:t>
            </a:r>
            <a:endParaRPr lang="en-US" altLang="zh-CN"/>
          </a:p>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2" name="图示 11">
            <a:extLst>
              <a:ext uri="{FF2B5EF4-FFF2-40B4-BE49-F238E27FC236}">
                <a16:creationId xmlns:a16="http://schemas.microsoft.com/office/drawing/2014/main" id="{063E787D-0CC1-C631-5510-2A0C6E347452}"/>
              </a:ext>
            </a:extLst>
          </p:cNvPr>
          <p:cNvGraphicFramePr/>
          <p:nvPr>
            <p:extLst>
              <p:ext uri="{D42A27DB-BD31-4B8C-83A1-F6EECF244321}">
                <p14:modId xmlns:p14="http://schemas.microsoft.com/office/powerpoint/2010/main" val="3819120269"/>
              </p:ext>
            </p:extLst>
          </p:nvPr>
        </p:nvGraphicFramePr>
        <p:xfrm>
          <a:off x="695999" y="3677256"/>
          <a:ext cx="10799999" cy="4356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318645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46A2-A475-D300-6E24-DC4CBF873B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7EF1B26-DCA3-ECFE-3D0A-C3A5EA34F135}"/>
              </a:ext>
            </a:extLst>
          </p:cNvPr>
          <p:cNvSpPr>
            <a:spLocks noGrp="1"/>
          </p:cNvSpPr>
          <p:nvPr>
            <p:ph type="title"/>
          </p:nvPr>
        </p:nvSpPr>
        <p:spPr>
          <a:xfrm>
            <a:off x="695998" y="360000"/>
            <a:ext cx="6375921" cy="429413"/>
          </a:xfrm>
        </p:spPr>
        <p:txBody>
          <a:bodyPr>
            <a:normAutofit/>
          </a:bodyPr>
          <a:lstStyle/>
          <a:p>
            <a:r>
              <a:rPr lang="en-US" altLang="zh-CN"/>
              <a:t>2.5 </a:t>
            </a:r>
            <a:r>
              <a:rPr lang="zh-CN" altLang="en-US"/>
              <a:t>软件项目生存期模型</a:t>
            </a:r>
          </a:p>
        </p:txBody>
      </p:sp>
      <p:sp>
        <p:nvSpPr>
          <p:cNvPr id="17" name="内容占位符 16">
            <a:extLst>
              <a:ext uri="{FF2B5EF4-FFF2-40B4-BE49-F238E27FC236}">
                <a16:creationId xmlns:a16="http://schemas.microsoft.com/office/drawing/2014/main" id="{080AC85C-97CB-6B7B-C6E1-8C97D586500C}"/>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2B21F6-3603-2BBB-25C2-B94BE009CD34}"/>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6" name="内容占位符 2">
            <a:extLst>
              <a:ext uri="{FF2B5EF4-FFF2-40B4-BE49-F238E27FC236}">
                <a16:creationId xmlns:a16="http://schemas.microsoft.com/office/drawing/2014/main" id="{9EE1DA3E-4DCF-A90E-64B6-2FE19C55488E}"/>
              </a:ext>
            </a:extLst>
          </p:cNvPr>
          <p:cNvGraphicFramePr>
            <a:graphicFrameLocks/>
          </p:cNvGraphicFramePr>
          <p:nvPr>
            <p:extLst>
              <p:ext uri="{D42A27DB-BD31-4B8C-83A1-F6EECF244321}">
                <p14:modId xmlns:p14="http://schemas.microsoft.com/office/powerpoint/2010/main" val="1807504263"/>
              </p:ext>
            </p:extLst>
          </p:nvPr>
        </p:nvGraphicFramePr>
        <p:xfrm>
          <a:off x="695325" y="4587600"/>
          <a:ext cx="10801350" cy="1676400"/>
        </p:xfrm>
        <a:graphic>
          <a:graphicData uri="http://schemas.openxmlformats.org/drawingml/2006/table">
            <a:tbl>
              <a:tblPr/>
              <a:tblGrid>
                <a:gridCol w="2136365">
                  <a:extLst>
                    <a:ext uri="{9D8B030D-6E8A-4147-A177-3AD203B41FA5}">
                      <a16:colId xmlns:a16="http://schemas.microsoft.com/office/drawing/2014/main" val="4006582783"/>
                    </a:ext>
                  </a:extLst>
                </a:gridCol>
                <a:gridCol w="658762">
                  <a:extLst>
                    <a:ext uri="{9D8B030D-6E8A-4147-A177-3AD203B41FA5}">
                      <a16:colId xmlns:a16="http://schemas.microsoft.com/office/drawing/2014/main" val="4276722972"/>
                    </a:ext>
                  </a:extLst>
                </a:gridCol>
                <a:gridCol w="2025445">
                  <a:extLst>
                    <a:ext uri="{9D8B030D-6E8A-4147-A177-3AD203B41FA5}">
                      <a16:colId xmlns:a16="http://schemas.microsoft.com/office/drawing/2014/main" val="871455100"/>
                    </a:ext>
                  </a:extLst>
                </a:gridCol>
                <a:gridCol w="1986116">
                  <a:extLst>
                    <a:ext uri="{9D8B030D-6E8A-4147-A177-3AD203B41FA5}">
                      <a16:colId xmlns:a16="http://schemas.microsoft.com/office/drawing/2014/main" val="1263484822"/>
                    </a:ext>
                  </a:extLst>
                </a:gridCol>
                <a:gridCol w="3994662">
                  <a:extLst>
                    <a:ext uri="{9D8B030D-6E8A-4147-A177-3AD203B41FA5}">
                      <a16:colId xmlns:a16="http://schemas.microsoft.com/office/drawing/2014/main" val="3321411109"/>
                    </a:ext>
                  </a:extLst>
                </a:gridCol>
              </a:tblGrid>
              <a:tr h="0">
                <a:tc>
                  <a:txBody>
                    <a:bodyPr/>
                    <a:lstStyle/>
                    <a:p>
                      <a:pPr algn="l">
                        <a:buNone/>
                      </a:pPr>
                      <a:r>
                        <a:rPr lang="zh-CN" altLang="en-US" sz="160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需求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目标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88049931"/>
                  </a:ext>
                </a:extLst>
              </a:tr>
              <a:tr h="0">
                <a:tc>
                  <a:txBody>
                    <a:bodyPr/>
                    <a:lstStyle/>
                    <a:p>
                      <a:pPr algn="l">
                        <a:buNone/>
                      </a:pPr>
                      <a:r>
                        <a:rPr lang="zh-CN" altLang="en-US" sz="1600">
                          <a:solidFill>
                            <a:schemeClr val="bg1"/>
                          </a:solidFill>
                        </a:rPr>
                        <a:t>预测型 </a:t>
                      </a:r>
                      <a:r>
                        <a:rPr lang="en-US" sz="1600">
                          <a:solidFill>
                            <a:schemeClr val="bg1"/>
                          </a:solidFill>
                        </a:rPr>
                        <a:t>Predictive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固定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整个项目仅执行一次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管理成本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pPr algn="l">
                        <a:buNone/>
                      </a:pPr>
                      <a:r>
                        <a:rPr lang="zh-CN" altLang="en-US" sz="1600">
                          <a:solidFill>
                            <a:schemeClr val="bg1"/>
                          </a:solidFill>
                        </a:rPr>
                        <a:t>迭代型 </a:t>
                      </a:r>
                      <a:r>
                        <a:rPr lang="en-US" sz="1600">
                          <a:solidFill>
                            <a:schemeClr val="bg1"/>
                          </a:solidFill>
                        </a:rPr>
                        <a:t>Iterative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解决方案的正确性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702963"/>
                  </a:ext>
                </a:extLst>
              </a:tr>
              <a:tr h="0">
                <a:tc>
                  <a:txBody>
                    <a:bodyPr/>
                    <a:lstStyle/>
                    <a:p>
                      <a:pPr algn="l">
                        <a:buNone/>
                      </a:pPr>
                      <a:r>
                        <a:rPr lang="zh-CN" altLang="en-US" sz="1600">
                          <a:solidFill>
                            <a:schemeClr val="bg1"/>
                          </a:solidFill>
                        </a:rPr>
                        <a:t>增量型 </a:t>
                      </a:r>
                      <a:r>
                        <a:rPr lang="en-US" sz="1600">
                          <a:solidFill>
                            <a:schemeClr val="bg1"/>
                          </a:solidFill>
                        </a:rPr>
                        <a:t>Incremental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对给定增量执行一次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频繁更小规模交付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705839"/>
                  </a:ext>
                </a:extLst>
              </a:tr>
              <a:tr h="0">
                <a:tc>
                  <a:txBody>
                    <a:bodyPr/>
                    <a:lstStyle/>
                    <a:p>
                      <a:pPr algn="l">
                        <a:buNone/>
                      </a:pPr>
                      <a:r>
                        <a:rPr lang="zh-CN" altLang="en-US" sz="1600">
                          <a:solidFill>
                            <a:schemeClr val="bg1"/>
                          </a:solidFill>
                        </a:rPr>
                        <a:t>敏捷型 </a:t>
                      </a:r>
                      <a:r>
                        <a:rPr lang="en-US" sz="1600">
                          <a:solidFill>
                            <a:schemeClr val="bg1"/>
                          </a:solidFill>
                        </a:rPr>
                        <a:t>Agile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频繁小规模交付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通过频繁小规模交付和反馈实现客户价值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2667832"/>
                  </a:ext>
                </a:extLst>
              </a:tr>
            </a:tbl>
          </a:graphicData>
        </a:graphic>
      </p:graphicFrame>
      <p:grpSp>
        <p:nvGrpSpPr>
          <p:cNvPr id="15" name="组合 14">
            <a:extLst>
              <a:ext uri="{FF2B5EF4-FFF2-40B4-BE49-F238E27FC236}">
                <a16:creationId xmlns:a16="http://schemas.microsoft.com/office/drawing/2014/main" id="{913886C7-6D7E-C2C6-011E-F983D22DEC89}"/>
              </a:ext>
            </a:extLst>
          </p:cNvPr>
          <p:cNvGrpSpPr/>
          <p:nvPr/>
        </p:nvGrpSpPr>
        <p:grpSpPr>
          <a:xfrm>
            <a:off x="4697501" y="1366684"/>
            <a:ext cx="2796999" cy="2796999"/>
            <a:chOff x="1541969" y="1366684"/>
            <a:chExt cx="2796999" cy="2796999"/>
          </a:xfrm>
        </p:grpSpPr>
        <p:cxnSp>
          <p:nvCxnSpPr>
            <p:cNvPr id="5" name="直接箭头连接符 4">
              <a:extLst>
                <a:ext uri="{FF2B5EF4-FFF2-40B4-BE49-F238E27FC236}">
                  <a16:creationId xmlns:a16="http://schemas.microsoft.com/office/drawing/2014/main" id="{4010D7DB-FCC5-B93F-96CC-33B18A21CB2B}"/>
                </a:ext>
              </a:extLst>
            </p:cNvPr>
            <p:cNvCxnSpPr>
              <a:cxnSpLocks/>
            </p:cNvCxnSpPr>
            <p:nvPr/>
          </p:nvCxnSpPr>
          <p:spPr>
            <a:xfrm>
              <a:off x="1818968" y="3886684"/>
              <a:ext cx="25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70D30185-13CB-C62E-5AA1-E3E694DF51AC}"/>
                </a:ext>
              </a:extLst>
            </p:cNvPr>
            <p:cNvCxnSpPr>
              <a:cxnSpLocks/>
            </p:cNvCxnSpPr>
            <p:nvPr/>
          </p:nvCxnSpPr>
          <p:spPr>
            <a:xfrm flipV="1">
              <a:off x="1818968" y="1366684"/>
              <a:ext cx="0" cy="252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8" name="箭头: 上下 7">
              <a:extLst>
                <a:ext uri="{FF2B5EF4-FFF2-40B4-BE49-F238E27FC236}">
                  <a16:creationId xmlns:a16="http://schemas.microsoft.com/office/drawing/2014/main" id="{06DC2EBA-EB26-863E-556C-068B7D8BF08C}"/>
                </a:ext>
              </a:extLst>
            </p:cNvPr>
            <p:cNvSpPr/>
            <p:nvPr/>
          </p:nvSpPr>
          <p:spPr>
            <a:xfrm rot="2700000">
              <a:off x="2718968" y="1726684"/>
              <a:ext cx="720000" cy="1800000"/>
            </a:xfrm>
            <a:prstGeom prst="up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9" name="文本框 8">
              <a:extLst>
                <a:ext uri="{FF2B5EF4-FFF2-40B4-BE49-F238E27FC236}">
                  <a16:creationId xmlns:a16="http://schemas.microsoft.com/office/drawing/2014/main" id="{A4161D61-58A0-5B43-9E88-FB1C55B73F88}"/>
                </a:ext>
              </a:extLst>
            </p:cNvPr>
            <p:cNvSpPr txBox="1"/>
            <p:nvPr/>
          </p:nvSpPr>
          <p:spPr>
            <a:xfrm>
              <a:off x="2281314" y="3886684"/>
              <a:ext cx="1595309" cy="276999"/>
            </a:xfrm>
            <a:prstGeom prst="rect">
              <a:avLst/>
            </a:prstGeom>
            <a:noFill/>
          </p:spPr>
          <p:txBody>
            <a:bodyPr wrap="none" rtlCol="0">
              <a:spAutoFit/>
            </a:bodyPr>
            <a:lstStyle/>
            <a:p>
              <a:pPr algn="ctr"/>
              <a:r>
                <a:rPr lang="en-US" altLang="zh-CN" sz="1200">
                  <a:solidFill>
                    <a:schemeClr val="bg1"/>
                  </a:solidFill>
                </a:rPr>
                <a:t>Degree of Change</a:t>
              </a:r>
              <a:endParaRPr lang="zh-CN" altLang="en-US" sz="1200">
                <a:solidFill>
                  <a:schemeClr val="bg1"/>
                </a:solidFill>
              </a:endParaRPr>
            </a:p>
          </p:txBody>
        </p:sp>
        <p:sp>
          <p:nvSpPr>
            <p:cNvPr id="10" name="文本框 9">
              <a:extLst>
                <a:ext uri="{FF2B5EF4-FFF2-40B4-BE49-F238E27FC236}">
                  <a16:creationId xmlns:a16="http://schemas.microsoft.com/office/drawing/2014/main" id="{B84DB059-DC16-A4A9-E7DD-E5DE118F3863}"/>
                </a:ext>
              </a:extLst>
            </p:cNvPr>
            <p:cNvSpPr txBox="1"/>
            <p:nvPr/>
          </p:nvSpPr>
          <p:spPr>
            <a:xfrm rot="16200000">
              <a:off x="748162" y="2488184"/>
              <a:ext cx="1864613" cy="276999"/>
            </a:xfrm>
            <a:prstGeom prst="rect">
              <a:avLst/>
            </a:prstGeom>
            <a:noFill/>
          </p:spPr>
          <p:txBody>
            <a:bodyPr wrap="none" rtlCol="0">
              <a:spAutoFit/>
            </a:bodyPr>
            <a:lstStyle/>
            <a:p>
              <a:pPr algn="ctr"/>
              <a:r>
                <a:rPr lang="en-US" altLang="zh-CN" sz="1200">
                  <a:solidFill>
                    <a:schemeClr val="bg1"/>
                  </a:solidFill>
                </a:rPr>
                <a:t>Frequency of Delivery</a:t>
              </a:r>
              <a:endParaRPr lang="zh-CN" altLang="en-US" sz="1200">
                <a:solidFill>
                  <a:schemeClr val="bg1"/>
                </a:solidFill>
              </a:endParaRPr>
            </a:p>
          </p:txBody>
        </p:sp>
        <p:sp>
          <p:nvSpPr>
            <p:cNvPr id="11" name="文本框 10">
              <a:extLst>
                <a:ext uri="{FF2B5EF4-FFF2-40B4-BE49-F238E27FC236}">
                  <a16:creationId xmlns:a16="http://schemas.microsoft.com/office/drawing/2014/main" id="{F42AC2F8-A9AB-B022-79A5-27F230060FBC}"/>
                </a:ext>
              </a:extLst>
            </p:cNvPr>
            <p:cNvSpPr txBox="1"/>
            <p:nvPr/>
          </p:nvSpPr>
          <p:spPr>
            <a:xfrm>
              <a:off x="1878637" y="3477739"/>
              <a:ext cx="1132041" cy="307777"/>
            </a:xfrm>
            <a:prstGeom prst="rect">
              <a:avLst/>
            </a:prstGeom>
            <a:noFill/>
          </p:spPr>
          <p:txBody>
            <a:bodyPr wrap="none" rtlCol="0">
              <a:spAutoFit/>
            </a:bodyPr>
            <a:lstStyle/>
            <a:p>
              <a:r>
                <a:rPr lang="en-US" altLang="zh-CN" sz="1400">
                  <a:solidFill>
                    <a:schemeClr val="bg1"/>
                  </a:solidFill>
                </a:rPr>
                <a:t>Predictive</a:t>
              </a:r>
              <a:endParaRPr lang="zh-CN" altLang="en-US" sz="1400">
                <a:solidFill>
                  <a:schemeClr val="bg1"/>
                </a:solidFill>
              </a:endParaRPr>
            </a:p>
          </p:txBody>
        </p:sp>
        <p:sp>
          <p:nvSpPr>
            <p:cNvPr id="12" name="文本框 11">
              <a:extLst>
                <a:ext uri="{FF2B5EF4-FFF2-40B4-BE49-F238E27FC236}">
                  <a16:creationId xmlns:a16="http://schemas.microsoft.com/office/drawing/2014/main" id="{D33DD4B2-06CB-E470-B1CF-2AD87C96F45C}"/>
                </a:ext>
              </a:extLst>
            </p:cNvPr>
            <p:cNvSpPr txBox="1"/>
            <p:nvPr/>
          </p:nvSpPr>
          <p:spPr>
            <a:xfrm>
              <a:off x="3413715" y="3458373"/>
              <a:ext cx="925253" cy="307777"/>
            </a:xfrm>
            <a:prstGeom prst="rect">
              <a:avLst/>
            </a:prstGeom>
            <a:noFill/>
          </p:spPr>
          <p:txBody>
            <a:bodyPr wrap="none" rtlCol="0">
              <a:spAutoFit/>
            </a:bodyPr>
            <a:lstStyle/>
            <a:p>
              <a:r>
                <a:rPr lang="en-US" altLang="zh-CN" sz="1400">
                  <a:solidFill>
                    <a:schemeClr val="bg1"/>
                  </a:solidFill>
                </a:rPr>
                <a:t>Iterative</a:t>
              </a:r>
              <a:endParaRPr lang="zh-CN" altLang="en-US" sz="1400">
                <a:solidFill>
                  <a:schemeClr val="bg1"/>
                </a:solidFill>
              </a:endParaRPr>
            </a:p>
          </p:txBody>
        </p:sp>
        <p:sp>
          <p:nvSpPr>
            <p:cNvPr id="13" name="文本框 12">
              <a:extLst>
                <a:ext uri="{FF2B5EF4-FFF2-40B4-BE49-F238E27FC236}">
                  <a16:creationId xmlns:a16="http://schemas.microsoft.com/office/drawing/2014/main" id="{965559BC-4FA1-D22C-3EA3-E733491CFE96}"/>
                </a:ext>
              </a:extLst>
            </p:cNvPr>
            <p:cNvSpPr txBox="1"/>
            <p:nvPr/>
          </p:nvSpPr>
          <p:spPr>
            <a:xfrm>
              <a:off x="1878637" y="1366684"/>
              <a:ext cx="1290738" cy="307777"/>
            </a:xfrm>
            <a:prstGeom prst="rect">
              <a:avLst/>
            </a:prstGeom>
            <a:noFill/>
          </p:spPr>
          <p:txBody>
            <a:bodyPr wrap="none" rtlCol="0">
              <a:spAutoFit/>
            </a:bodyPr>
            <a:lstStyle/>
            <a:p>
              <a:r>
                <a:rPr lang="en-US" altLang="zh-CN" sz="1400">
                  <a:solidFill>
                    <a:schemeClr val="bg1"/>
                  </a:solidFill>
                </a:rPr>
                <a:t>Incremental</a:t>
              </a:r>
              <a:endParaRPr lang="zh-CN" altLang="en-US" sz="1400">
                <a:solidFill>
                  <a:schemeClr val="bg1"/>
                </a:solidFill>
              </a:endParaRPr>
            </a:p>
          </p:txBody>
        </p:sp>
        <p:sp>
          <p:nvSpPr>
            <p:cNvPr id="14" name="文本框 13">
              <a:extLst>
                <a:ext uri="{FF2B5EF4-FFF2-40B4-BE49-F238E27FC236}">
                  <a16:creationId xmlns:a16="http://schemas.microsoft.com/office/drawing/2014/main" id="{0DEC9A66-72FD-C00A-8A1B-8191D522DBA5}"/>
                </a:ext>
              </a:extLst>
            </p:cNvPr>
            <p:cNvSpPr txBox="1"/>
            <p:nvPr/>
          </p:nvSpPr>
          <p:spPr>
            <a:xfrm>
              <a:off x="3697446" y="1366684"/>
              <a:ext cx="641522" cy="307777"/>
            </a:xfrm>
            <a:prstGeom prst="rect">
              <a:avLst/>
            </a:prstGeom>
            <a:noFill/>
          </p:spPr>
          <p:txBody>
            <a:bodyPr wrap="none" rtlCol="0">
              <a:spAutoFit/>
            </a:bodyPr>
            <a:lstStyle/>
            <a:p>
              <a:r>
                <a:rPr lang="en-US" altLang="zh-CN" sz="1400">
                  <a:solidFill>
                    <a:schemeClr val="bg1"/>
                  </a:solidFill>
                </a:rPr>
                <a:t>Agile</a:t>
              </a:r>
              <a:endParaRPr lang="zh-CN" altLang="en-US" sz="1400">
                <a:solidFill>
                  <a:schemeClr val="bg1"/>
                </a:solidFill>
              </a:endParaRPr>
            </a:p>
          </p:txBody>
        </p:sp>
      </p:grpSp>
    </p:spTree>
    <p:extLst>
      <p:ext uri="{BB962C8B-B14F-4D97-AF65-F5344CB8AC3E}">
        <p14:creationId xmlns:p14="http://schemas.microsoft.com/office/powerpoint/2010/main" val="27617009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695998" y="360000"/>
            <a:ext cx="6375921" cy="429413"/>
          </a:xfrm>
        </p:spPr>
        <p:txBody>
          <a:bodyPr>
            <a:normAutofit/>
          </a:bodyPr>
          <a:lstStyle/>
          <a:p>
            <a:r>
              <a:rPr lang="en-US" altLang="zh-CN"/>
              <a:t>2.5.1 </a:t>
            </a:r>
            <a:r>
              <a:rPr lang="zh-CN" altLang="en-US"/>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864000"/>
            <a:ext cx="10800000" cy="5400000"/>
          </a:xfrm>
        </p:spPr>
        <p:txBody>
          <a:bodyPr>
            <a:normAutofit/>
          </a:bodyPr>
          <a:lstStyle/>
          <a:p>
            <a:r>
              <a:rPr lang="zh-CN" altLang="en-US"/>
              <a:t>范围、进度、成本早期定义；对变化容忍度低</a:t>
            </a:r>
            <a:endParaRPr lang="en-US" altLang="zh-CN"/>
          </a:p>
          <a:p>
            <a:pPr lvl="1"/>
            <a:r>
              <a:rPr lang="en-US" altLang="zh-CN"/>
              <a:t>Scope, schedule, and cost defined early; low tolerance for change</a:t>
            </a:r>
          </a:p>
          <a:p>
            <a:r>
              <a:rPr lang="zh-CN" altLang="en-US"/>
              <a:t>特点</a:t>
            </a:r>
            <a:endParaRPr lang="en-US" altLang="zh-CN"/>
          </a:p>
          <a:p>
            <a:pPr lvl="1"/>
            <a:r>
              <a:rPr lang="zh-CN" altLang="en-US"/>
              <a:t>需求清晰</a:t>
            </a:r>
            <a:endParaRPr lang="en-US" altLang="zh-CN"/>
          </a:p>
          <a:p>
            <a:pPr lvl="1"/>
            <a:r>
              <a:rPr lang="zh-CN" altLang="en-US"/>
              <a:t>结构化</a:t>
            </a:r>
            <a:endParaRPr lang="en-US" altLang="zh-CN"/>
          </a:p>
          <a:p>
            <a:pPr lvl="1"/>
            <a:r>
              <a:rPr lang="zh-CN" altLang="en-US"/>
              <a:t>在项目启动阶段就锁定范围、时间、成本（铁三角），后续严格执行</a:t>
            </a:r>
          </a:p>
          <a:p>
            <a:pPr lvl="1"/>
            <a:r>
              <a:rPr lang="zh-CN" altLang="en-US"/>
              <a:t>变更被视为“异常”，需要走严格的变更控制流程</a:t>
            </a:r>
            <a:endParaRPr lang="en-US" altLang="zh-CN"/>
          </a:p>
          <a:p>
            <a:r>
              <a:rPr lang="zh-CN" altLang="en-US"/>
              <a:t>适用场景</a:t>
            </a:r>
            <a:endParaRPr lang="en-US" altLang="zh-CN"/>
          </a:p>
          <a:p>
            <a:pPr lvl="1"/>
            <a:r>
              <a:rPr lang="zh-CN" altLang="en-US"/>
              <a:t>需求稳定、技术成熟、法规约束强的项目（如建筑、航天、医疗设备）</a:t>
            </a:r>
          </a:p>
          <a:p>
            <a:r>
              <a:rPr lang="zh-CN" altLang="en-US"/>
              <a:t>风险：</a:t>
            </a:r>
          </a:p>
          <a:p>
            <a:pPr lvl="1"/>
            <a:r>
              <a:rPr lang="zh-CN" altLang="en-US"/>
              <a:t>如果前期判断错误，后期修正代价极高</a:t>
            </a:r>
          </a:p>
          <a:p>
            <a:pPr lvl="1"/>
            <a:r>
              <a:rPr lang="zh-CN" altLang="en-US"/>
              <a:t>客户直到最后才能看到成果，容易货不对板</a:t>
            </a:r>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7071919" y="448519"/>
            <a:ext cx="4424080" cy="338554"/>
          </a:xfrm>
        </p:spPr>
        <p:txBody>
          <a:bodyPr/>
          <a:lstStyle/>
          <a:p>
            <a:r>
              <a:rPr lang="en-US" altLang="zh-CN"/>
              <a:t>Predictive</a:t>
            </a:r>
          </a:p>
        </p:txBody>
      </p:sp>
    </p:spTree>
    <p:extLst>
      <p:ext uri="{BB962C8B-B14F-4D97-AF65-F5344CB8AC3E}">
        <p14:creationId xmlns:p14="http://schemas.microsoft.com/office/powerpoint/2010/main" val="398825041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695998" y="360000"/>
            <a:ext cx="6375921" cy="429413"/>
          </a:xfrm>
        </p:spPr>
        <p:txBody>
          <a:bodyPr>
            <a:normAutofit/>
          </a:bodyPr>
          <a:lstStyle/>
          <a:p>
            <a:r>
              <a:rPr lang="en-US" altLang="zh-CN"/>
              <a:t>2.5.1.1 </a:t>
            </a:r>
            <a:r>
              <a:rPr lang="zh-CN" altLang="en-US"/>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400000"/>
          </a:xfrm>
        </p:spPr>
        <p:txBody>
          <a:bodyPr/>
          <a:lstStyle/>
          <a:p>
            <a:r>
              <a:rPr lang="en-US" altLang="zh-CN"/>
              <a:t>Waterfall Model</a:t>
            </a:r>
          </a:p>
          <a:p>
            <a:r>
              <a:rPr lang="en-US" altLang="zh-CN"/>
              <a:t>Winston Royce </a:t>
            </a:r>
            <a:r>
              <a:rPr lang="zh-CN" altLang="en-US"/>
              <a:t>于</a:t>
            </a:r>
            <a:r>
              <a:rPr lang="en-US" altLang="zh-CN"/>
              <a:t>1970</a:t>
            </a:r>
            <a:r>
              <a:rPr lang="zh-CN" altLang="en-US"/>
              <a:t>年提出</a:t>
            </a:r>
            <a:endParaRPr lang="en-US" altLang="zh-CN"/>
          </a:p>
          <a:p>
            <a:r>
              <a:rPr lang="zh-CN" altLang="en-US"/>
              <a:t>它将软件开发生命周期划分为若干线性阶段</a:t>
            </a:r>
            <a:endParaRPr lang="en-US" altLang="zh-CN"/>
          </a:p>
          <a:p>
            <a:r>
              <a:rPr lang="zh-CN" altLang="en-US"/>
              <a:t>每个阶段完成后才能进入下一个阶段</a:t>
            </a:r>
            <a:endParaRPr lang="en-US" altLang="zh-CN"/>
          </a:p>
          <a:p>
            <a:r>
              <a:rPr lang="zh-CN" altLang="en-US"/>
              <a:t>阶段分明、顺序执行、没有重叠</a:t>
            </a:r>
          </a:p>
          <a:p>
            <a:r>
              <a:rPr lang="zh-CN" altLang="en-US"/>
              <a:t>特点</a:t>
            </a:r>
          </a:p>
          <a:p>
            <a:pPr lvl="1"/>
            <a:r>
              <a:rPr lang="zh-CN" altLang="en-US"/>
              <a:t>各阶段严格顺序、不可回溯（理想情况下）</a:t>
            </a:r>
          </a:p>
          <a:p>
            <a:pPr lvl="1"/>
            <a:r>
              <a:rPr lang="zh-CN" altLang="en-US"/>
              <a:t>文档驱动，强调前期需求明确</a:t>
            </a:r>
          </a:p>
          <a:p>
            <a:pPr lvl="1"/>
            <a:r>
              <a:rPr lang="zh-CN" altLang="en-US"/>
              <a:t>测试集中在开发后期</a:t>
            </a:r>
          </a:p>
          <a:p>
            <a:pPr lvl="1"/>
            <a:r>
              <a:rPr lang="zh-CN" altLang="en-US"/>
              <a:t>不适合需求频繁变更的项目</a:t>
            </a:r>
            <a:r>
              <a:rPr lang="en-US" altLang="zh-CN"/>
              <a:t>/</a:t>
            </a:r>
            <a:r>
              <a:rPr lang="zh-CN" altLang="en-US"/>
              <a:t>返工</a:t>
            </a:r>
            <a:endParaRPr lang="en-US" altLang="zh-CN"/>
          </a:p>
          <a:p>
            <a:pPr lvl="1"/>
            <a:endParaRPr lang="en-US" altLang="zh-CN"/>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448519"/>
            <a:ext cx="4424080" cy="338554"/>
          </a:xfrm>
        </p:spPr>
        <p:txBody>
          <a:bodyPr/>
          <a:lstStyle/>
          <a:p>
            <a:r>
              <a:rPr lang="en-US" altLang="zh-CN"/>
              <a:t>Waterfall Mode /Predictive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a:solidFill>
                    <a:schemeClr val="bg1"/>
                  </a:solidFill>
                </a:rPr>
                <a:t>Requirement gathering &amp; analysis</a:t>
              </a:r>
              <a:endParaRPr lang="zh-CN" altLang="en-US">
                <a:solidFill>
                  <a:schemeClr val="bg1"/>
                </a:solidFill>
              </a:endParaRPr>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a:solidFill>
                    <a:schemeClr val="bg1"/>
                  </a:solidFill>
                </a:rPr>
                <a:t>System design</a:t>
              </a:r>
              <a:endParaRPr lang="zh-CN" altLang="en-US">
                <a:solidFill>
                  <a:schemeClr val="bg1"/>
                </a:solidFill>
              </a:endParaRPr>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a:solidFill>
                    <a:schemeClr val="bg1"/>
                  </a:solidFill>
                </a:rPr>
                <a:t>Implementation</a:t>
              </a:r>
              <a:endParaRPr lang="zh-CN" altLang="en-US">
                <a:solidFill>
                  <a:schemeClr val="bg1"/>
                </a:solidFill>
              </a:endParaRPr>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2238113" cy="369332"/>
            </a:xfrm>
            <a:prstGeom prst="rect">
              <a:avLst/>
            </a:prstGeom>
            <a:noFill/>
          </p:spPr>
          <p:txBody>
            <a:bodyPr wrap="none" rtlCol="0">
              <a:spAutoFit/>
            </a:bodyPr>
            <a:lstStyle/>
            <a:p>
              <a:r>
                <a:rPr lang="en-US" altLang="zh-CN">
                  <a:solidFill>
                    <a:schemeClr val="bg1"/>
                  </a:solidFill>
                </a:rPr>
                <a:t>Integration &amp; Test</a:t>
              </a:r>
              <a:endParaRPr lang="zh-CN" altLang="en-US">
                <a:solidFill>
                  <a:schemeClr val="bg1"/>
                </a:solidFill>
              </a:endParaRPr>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697901" cy="369332"/>
            </a:xfrm>
            <a:prstGeom prst="rect">
              <a:avLst/>
            </a:prstGeom>
            <a:noFill/>
          </p:spPr>
          <p:txBody>
            <a:bodyPr wrap="none" rtlCol="0">
              <a:spAutoFit/>
            </a:bodyPr>
            <a:lstStyle/>
            <a:p>
              <a:r>
                <a:rPr lang="en-US" altLang="zh-CN">
                  <a:solidFill>
                    <a:schemeClr val="bg1"/>
                  </a:solidFill>
                </a:rPr>
                <a:t>Deployment </a:t>
              </a:r>
              <a:endParaRPr lang="zh-CN" altLang="en-US">
                <a:solidFill>
                  <a:schemeClr val="bg1"/>
                </a:solidFill>
              </a:endParaRPr>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a:solidFill>
                    <a:schemeClr val="bg1"/>
                  </a:solidFill>
                </a:rPr>
                <a:t>Maintenance</a:t>
              </a:r>
              <a:endParaRPr lang="zh-CN" altLang="en-US">
                <a:solidFill>
                  <a:schemeClr val="bg1"/>
                </a:solidFill>
              </a:endParaRPr>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24310721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695998" y="360000"/>
            <a:ext cx="6375921" cy="429413"/>
          </a:xfrm>
        </p:spPr>
        <p:txBody>
          <a:bodyPr>
            <a:normAutofit/>
          </a:bodyPr>
          <a:lstStyle/>
          <a:p>
            <a:r>
              <a:rPr lang="en-US" altLang="zh-CN"/>
              <a:t>2.5.1.2 V</a:t>
            </a:r>
            <a:r>
              <a:rPr lang="zh-CN" altLang="en-US"/>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400000"/>
          </a:xfrm>
        </p:spPr>
        <p:txBody>
          <a:bodyPr>
            <a:normAutofit/>
          </a:bodyPr>
          <a:lstStyle/>
          <a:p>
            <a:r>
              <a:rPr lang="en-US" altLang="zh-CN"/>
              <a:t>Verification and Validation Model</a:t>
            </a:r>
          </a:p>
          <a:p>
            <a:r>
              <a:rPr lang="zh-CN" altLang="en-US"/>
              <a:t>瀑布模型的扩展和改进版本，强调测试与开发阶段的对应关系</a:t>
            </a:r>
            <a:endParaRPr lang="en-US" altLang="zh-CN"/>
          </a:p>
          <a:p>
            <a:r>
              <a:rPr lang="zh-CN" altLang="en-US"/>
              <a:t>其名称来源于图形呈现为</a:t>
            </a:r>
            <a:r>
              <a:rPr lang="en-US" altLang="zh-CN"/>
              <a:t>V</a:t>
            </a:r>
            <a:r>
              <a:rPr lang="zh-CN" altLang="en-US"/>
              <a:t>字形</a:t>
            </a:r>
            <a:endParaRPr lang="en-US" altLang="zh-CN"/>
          </a:p>
          <a:p>
            <a:pPr lvl="1"/>
            <a:r>
              <a:rPr lang="zh-CN" altLang="en-US"/>
              <a:t>左侧是开发阶段</a:t>
            </a:r>
            <a:endParaRPr lang="en-US" altLang="zh-CN"/>
          </a:p>
          <a:p>
            <a:pPr lvl="1"/>
            <a:r>
              <a:rPr lang="zh-CN" altLang="en-US"/>
              <a:t>右侧是对应的测试</a:t>
            </a:r>
            <a:r>
              <a:rPr lang="en-US" altLang="zh-CN"/>
              <a:t>/</a:t>
            </a:r>
            <a:r>
              <a:rPr lang="zh-CN" altLang="en-US"/>
              <a:t>验证阶段</a:t>
            </a:r>
          </a:p>
          <a:p>
            <a:r>
              <a:rPr lang="zh-CN" altLang="en-US"/>
              <a:t>特点</a:t>
            </a:r>
            <a:endParaRPr lang="en-US" altLang="zh-CN"/>
          </a:p>
          <a:p>
            <a:pPr lvl="1"/>
            <a:r>
              <a:rPr lang="zh-CN" altLang="en-US"/>
              <a:t>测试计划在开发早期就制定</a:t>
            </a:r>
            <a:endParaRPr lang="zh-CN" altLang="en-US">
              <a:solidFill>
                <a:srgbClr val="FF0000"/>
              </a:solidFill>
            </a:endParaRPr>
          </a:p>
          <a:p>
            <a:pPr lvl="1"/>
            <a:r>
              <a:rPr lang="zh-CN" altLang="en-US"/>
              <a:t>强调尽早测试理念</a:t>
            </a:r>
          </a:p>
          <a:p>
            <a:pPr lvl="1"/>
            <a:r>
              <a:rPr lang="zh-CN" altLang="en-US"/>
              <a:t>仍为线性模型，灵活性有限</a:t>
            </a:r>
            <a:endParaRPr lang="en-US" altLang="zh-CN"/>
          </a:p>
          <a:p>
            <a:r>
              <a:rPr lang="zh-CN" altLang="en-US"/>
              <a:t>适用</a:t>
            </a:r>
            <a:endParaRPr lang="en-US" altLang="zh-CN"/>
          </a:p>
          <a:p>
            <a:pPr lvl="1"/>
            <a:r>
              <a:rPr lang="zh-CN" altLang="en-US"/>
              <a:t>需求明确、不能出错、且需要严格验证的项目</a:t>
            </a:r>
            <a:endParaRPr lang="en-US" altLang="zh-CN"/>
          </a:p>
          <a:p>
            <a:pPr lvl="1"/>
            <a:r>
              <a:rPr lang="zh-CN" altLang="en-US"/>
              <a:t>质量保障体系模型</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448519"/>
            <a:ext cx="4424080" cy="338554"/>
          </a:xfrm>
        </p:spPr>
        <p:txBody>
          <a:bodyPr/>
          <a:lstStyle/>
          <a:p>
            <a:r>
              <a:rPr lang="en-US" altLang="zh-CN"/>
              <a:t>V Mode /Predictive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Acceptance</a:t>
            </a:r>
          </a:p>
          <a:p>
            <a:pPr algn="ctr"/>
            <a:r>
              <a:rPr lang="en-US" altLang="zh-CN" sz="1600"/>
              <a:t>test</a:t>
            </a:r>
            <a:endParaRPr lang="zh-CN" altLang="en-US" sz="160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design</a:t>
            </a:r>
            <a:endParaRPr lang="zh-CN" altLang="en-US" sz="160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test</a:t>
            </a:r>
            <a:endParaRPr lang="zh-CN" altLang="en-US" sz="160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Architecture design</a:t>
            </a:r>
            <a:endParaRPr lang="zh-CN" altLang="en-US" sz="160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Integration</a:t>
            </a:r>
          </a:p>
          <a:p>
            <a:pPr algn="ctr"/>
            <a:r>
              <a:rPr lang="en-US" altLang="zh-CN" sz="1600"/>
              <a:t>test</a:t>
            </a:r>
            <a:endParaRPr lang="zh-CN" altLang="en-US" sz="160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Modular</a:t>
            </a:r>
          </a:p>
          <a:p>
            <a:pPr algn="ctr"/>
            <a:r>
              <a:rPr lang="en-US" altLang="zh-CN" sz="1600"/>
              <a:t>design</a:t>
            </a:r>
            <a:endParaRPr lang="zh-CN" altLang="en-US" sz="160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Unit</a:t>
            </a:r>
          </a:p>
          <a:p>
            <a:pPr algn="ctr"/>
            <a:r>
              <a:rPr lang="zh-CN" altLang="en-US" sz="1600"/>
              <a:t> </a:t>
            </a:r>
            <a:r>
              <a:rPr lang="en-US" altLang="zh-CN" sz="1600"/>
              <a:t>test</a:t>
            </a:r>
            <a:endParaRPr lang="zh-CN" altLang="en-US" sz="160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Coding</a:t>
            </a:r>
            <a:endParaRPr lang="zh-CN" altLang="en-US" sz="160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F08E98B1-041D-4187-D326-5660D72B9AF6}"/>
              </a:ext>
            </a:extLst>
          </p:cNvPr>
          <p:cNvSpPr txBox="1"/>
          <p:nvPr/>
        </p:nvSpPr>
        <p:spPr>
          <a:xfrm>
            <a:off x="4387839" y="5894668"/>
            <a:ext cx="3416321" cy="369332"/>
          </a:xfrm>
          <a:prstGeom prst="rect">
            <a:avLst/>
          </a:prstGeom>
          <a:noFill/>
        </p:spPr>
        <p:txBody>
          <a:bodyPr wrap="none" rtlCol="0">
            <a:spAutoFit/>
          </a:bodyPr>
          <a:lstStyle/>
          <a:p>
            <a:pPr algn="ctr"/>
            <a:r>
              <a:rPr lang="zh-CN" altLang="en-US" b="1">
                <a:solidFill>
                  <a:schemeClr val="bg1"/>
                </a:solidFill>
              </a:rPr>
              <a:t>同步规划、并行设计、串行执行</a:t>
            </a:r>
          </a:p>
        </p:txBody>
      </p:sp>
    </p:spTree>
    <p:extLst>
      <p:ext uri="{BB962C8B-B14F-4D97-AF65-F5344CB8AC3E}">
        <p14:creationId xmlns:p14="http://schemas.microsoft.com/office/powerpoint/2010/main" val="12668342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a:extLst>
              <a:ext uri="{FF2B5EF4-FFF2-40B4-BE49-F238E27FC236}">
                <a16:creationId xmlns:a16="http://schemas.microsoft.com/office/drawing/2014/main" id="{F9745432-056A-9A43-02D0-EDE4B51F6A5F}"/>
              </a:ext>
            </a:extLst>
          </p:cNvPr>
          <p:cNvGraphicFramePr>
            <a:graphicFrameLocks/>
          </p:cNvGraphicFramePr>
          <p:nvPr>
            <p:extLst>
              <p:ext uri="{D42A27DB-BD31-4B8C-83A1-F6EECF244321}">
                <p14:modId xmlns:p14="http://schemas.microsoft.com/office/powerpoint/2010/main" val="1033972658"/>
              </p:ext>
            </p:extLst>
          </p:nvPr>
        </p:nvGraphicFramePr>
        <p:xfrm>
          <a:off x="695325" y="2758440"/>
          <a:ext cx="10800000" cy="1341120"/>
        </p:xfrm>
        <a:graphic>
          <a:graphicData uri="http://schemas.openxmlformats.org/drawingml/2006/table">
            <a:tbl>
              <a:tblPr/>
              <a:tblGrid>
                <a:gridCol w="2278634">
                  <a:extLst>
                    <a:ext uri="{9D8B030D-6E8A-4147-A177-3AD203B41FA5}">
                      <a16:colId xmlns:a16="http://schemas.microsoft.com/office/drawing/2014/main" val="4006582783"/>
                    </a:ext>
                  </a:extLst>
                </a:gridCol>
                <a:gridCol w="4260683">
                  <a:extLst>
                    <a:ext uri="{9D8B030D-6E8A-4147-A177-3AD203B41FA5}">
                      <a16:colId xmlns:a16="http://schemas.microsoft.com/office/drawing/2014/main" val="2904907447"/>
                    </a:ext>
                  </a:extLst>
                </a:gridCol>
                <a:gridCol w="4260683">
                  <a:extLst>
                    <a:ext uri="{9D8B030D-6E8A-4147-A177-3AD203B41FA5}">
                      <a16:colId xmlns:a16="http://schemas.microsoft.com/office/drawing/2014/main" val="3321411109"/>
                    </a:ext>
                  </a:extLst>
                </a:gridCol>
              </a:tblGrid>
              <a:tr h="0">
                <a:tc>
                  <a:txBody>
                    <a:bodyPr/>
                    <a:lstStyle/>
                    <a:p>
                      <a:pPr algn="l">
                        <a:buNone/>
                      </a:pPr>
                      <a:r>
                        <a:rPr lang="zh-CN" altLang="en-US" sz="160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Waterfall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600">
                          <a:solidFill>
                            <a:schemeClr val="bg1"/>
                          </a:solidFill>
                        </a:rPr>
                        <a:t>V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88049931"/>
                  </a:ext>
                </a:extLst>
              </a:tr>
              <a:tr h="0">
                <a:tc>
                  <a:txBody>
                    <a:bodyPr/>
                    <a:lstStyle/>
                    <a:p>
                      <a:pPr algn="l">
                        <a:buNone/>
                      </a:pPr>
                      <a:r>
                        <a:rPr lang="zh-CN" altLang="en-US" sz="1600">
                          <a:solidFill>
                            <a:schemeClr val="bg1"/>
                          </a:solidFill>
                        </a:rPr>
                        <a:t>测试目的</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检错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r>
                        <a:rPr lang="zh-CN" altLang="en-US" sz="1600">
                          <a:solidFill>
                            <a:schemeClr val="bg1"/>
                          </a:solidFill>
                        </a:rPr>
                        <a:t>测试计划</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同时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50864"/>
                  </a:ext>
                </a:extLst>
              </a:tr>
              <a:tr h="0">
                <a:tc>
                  <a:txBody>
                    <a:bodyPr/>
                    <a:lstStyle/>
                    <a:p>
                      <a:r>
                        <a:rPr lang="zh-CN" altLang="en-US" sz="1600">
                          <a:solidFill>
                            <a:schemeClr val="bg1"/>
                          </a:solidFill>
                        </a:rPr>
                        <a:t>测试执行</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先后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08044648"/>
                  </a:ext>
                </a:extLst>
              </a:tr>
            </a:tbl>
          </a:graphicData>
        </a:graphic>
      </p:graphicFrame>
    </p:spTree>
    <p:extLst>
      <p:ext uri="{BB962C8B-B14F-4D97-AF65-F5344CB8AC3E}">
        <p14:creationId xmlns:p14="http://schemas.microsoft.com/office/powerpoint/2010/main" val="39388233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695998" y="360000"/>
            <a:ext cx="6375921" cy="429413"/>
          </a:xfrm>
        </p:spPr>
        <p:txBody>
          <a:bodyPr>
            <a:normAutofit/>
          </a:bodyPr>
          <a:lstStyle/>
          <a:p>
            <a:r>
              <a:rPr lang="en-US" altLang="zh-CN"/>
              <a:t>2.5.2 </a:t>
            </a:r>
            <a:r>
              <a:rPr lang="zh-CN" altLang="en-US"/>
              <a:t>迭代型</a:t>
            </a:r>
          </a:p>
        </p:txBody>
      </p:sp>
      <p:sp>
        <p:nvSpPr>
          <p:cNvPr id="7" name="内容占位符 6">
            <a:extLst>
              <a:ext uri="{FF2B5EF4-FFF2-40B4-BE49-F238E27FC236}">
                <a16:creationId xmlns:a16="http://schemas.microsoft.com/office/drawing/2014/main" id="{9CA8D7B0-A6AA-3E98-14E8-28EFF1E23145}"/>
              </a:ext>
            </a:extLst>
          </p:cNvPr>
          <p:cNvSpPr>
            <a:spLocks noGrp="1"/>
          </p:cNvSpPr>
          <p:nvPr>
            <p:ph idx="1"/>
          </p:nvPr>
        </p:nvSpPr>
        <p:spPr>
          <a:xfrm>
            <a:off x="696000" y="864000"/>
            <a:ext cx="10800000" cy="5400000"/>
          </a:xfrm>
        </p:spPr>
        <p:txBody>
          <a:bodyPr/>
          <a:lstStyle/>
          <a:p>
            <a:r>
              <a:rPr lang="zh-CN" altLang="en-US"/>
              <a:t>通过迭代向基础软件产品中添加后续功能，直到最终系统完成</a:t>
            </a:r>
            <a:endParaRPr lang="en-US" altLang="zh-CN"/>
          </a:p>
          <a:p>
            <a:pPr lvl="1"/>
            <a:r>
              <a:rPr lang="zh-CN" altLang="en-US"/>
              <a:t>产品通过循环逐步 </a:t>
            </a:r>
            <a:r>
              <a:rPr lang="en-US" altLang="zh-CN"/>
              <a:t>refinement</a:t>
            </a:r>
          </a:p>
          <a:p>
            <a:pPr lvl="1"/>
            <a:r>
              <a:rPr lang="zh-CN" altLang="en-US"/>
              <a:t>每次迭代改进设计或理解</a:t>
            </a:r>
            <a:endParaRPr lang="en-US" altLang="zh-CN"/>
          </a:p>
          <a:p>
            <a:pPr lvl="1"/>
            <a:r>
              <a:rPr lang="en-US" altLang="zh-CN"/>
              <a:t>Product refined over cycles; each iteration improves design/understanding</a:t>
            </a:r>
          </a:p>
          <a:p>
            <a:r>
              <a:rPr lang="zh-CN" altLang="en-US"/>
              <a:t>不追求一次性做对，而是通过多次循环（迭代）不断优化设计方案或对问题的理解</a:t>
            </a:r>
            <a:endParaRPr lang="en-US" altLang="zh-CN"/>
          </a:p>
          <a:p>
            <a:pPr lvl="1"/>
            <a:r>
              <a:rPr lang="zh-CN" altLang="en-US"/>
              <a:t>也被称为循环模型</a:t>
            </a:r>
          </a:p>
          <a:p>
            <a:r>
              <a:rPr lang="zh-CN" altLang="en-US"/>
              <a:t>典型例子</a:t>
            </a:r>
            <a:endParaRPr lang="en-US" altLang="zh-CN"/>
          </a:p>
          <a:p>
            <a:pPr lvl="1"/>
            <a:r>
              <a:rPr lang="zh-CN" altLang="en-US"/>
              <a:t>科研实验</a:t>
            </a:r>
            <a:endParaRPr lang="en-US" altLang="zh-CN"/>
          </a:p>
          <a:p>
            <a:pPr lvl="1"/>
            <a:r>
              <a:rPr lang="zh-CN" altLang="en-US"/>
              <a:t>算法优化</a:t>
            </a:r>
            <a:endParaRPr lang="en-US" altLang="zh-CN"/>
          </a:p>
          <a:p>
            <a:pPr lvl="1"/>
            <a:r>
              <a:rPr lang="en-US" altLang="zh-CN"/>
              <a:t>UI/UX </a:t>
            </a:r>
            <a:r>
              <a:rPr lang="zh-CN" altLang="en-US"/>
              <a:t>原型测试</a:t>
            </a:r>
          </a:p>
          <a:p>
            <a:r>
              <a:rPr lang="zh-CN" altLang="en-US"/>
              <a:t>局限</a:t>
            </a:r>
            <a:endParaRPr lang="en-US" altLang="zh-CN"/>
          </a:p>
          <a:p>
            <a:pPr lvl="1"/>
            <a:r>
              <a:rPr lang="zh-CN" altLang="en-US"/>
              <a:t>虽然内部在进化，但外部用户看不到价值，缺乏反馈闭环</a:t>
            </a:r>
          </a:p>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448519"/>
            <a:ext cx="4424080" cy="338554"/>
          </a:xfrm>
        </p:spPr>
        <p:txBody>
          <a:bodyPr/>
          <a:lstStyle/>
          <a:p>
            <a:r>
              <a:rPr lang="en-US" altLang="zh-CN"/>
              <a:t>Iterative Mode</a:t>
            </a:r>
          </a:p>
        </p:txBody>
      </p:sp>
    </p:spTree>
    <p:extLst>
      <p:ext uri="{BB962C8B-B14F-4D97-AF65-F5344CB8AC3E}">
        <p14:creationId xmlns:p14="http://schemas.microsoft.com/office/powerpoint/2010/main" val="26077800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a:extLst>
              <a:ext uri="{FF2B5EF4-FFF2-40B4-BE49-F238E27FC236}">
                <a16:creationId xmlns:a16="http://schemas.microsoft.com/office/drawing/2014/main" id="{BCEB39AF-33DB-6B02-D2C6-3C6416E65701}"/>
              </a:ext>
            </a:extLst>
          </p:cNvPr>
          <p:cNvGrpSpPr/>
          <p:nvPr/>
        </p:nvGrpSpPr>
        <p:grpSpPr>
          <a:xfrm>
            <a:off x="1267854" y="1048092"/>
            <a:ext cx="1633169" cy="435622"/>
            <a:chOff x="599260" y="949770"/>
            <a:chExt cx="1633169" cy="435622"/>
          </a:xfrm>
        </p:grpSpPr>
        <p:sp>
          <p:nvSpPr>
            <p:cNvPr id="5" name="矩形: 圆角 4">
              <a:extLst>
                <a:ext uri="{FF2B5EF4-FFF2-40B4-BE49-F238E27FC236}">
                  <a16:creationId xmlns:a16="http://schemas.microsoft.com/office/drawing/2014/main" id="{2A3C4448-EDEA-E7B4-B074-4010A296C9D1}"/>
                </a:ext>
              </a:extLst>
            </p:cNvPr>
            <p:cNvSpPr/>
            <p:nvPr/>
          </p:nvSpPr>
          <p:spPr>
            <a:xfrm>
              <a:off x="599260" y="949770"/>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a:lstStyle/>
            <a:p>
              <a:endParaRPr lang="zh-CN" altLang="en-US"/>
            </a:p>
          </p:txBody>
        </p:sp>
        <p:sp>
          <p:nvSpPr>
            <p:cNvPr id="6" name="矩形: 圆角 4">
              <a:extLst>
                <a:ext uri="{FF2B5EF4-FFF2-40B4-BE49-F238E27FC236}">
                  <a16:creationId xmlns:a16="http://schemas.microsoft.com/office/drawing/2014/main" id="{3CC5BF9F-B862-3BE2-5785-0308550D043A}"/>
                </a:ext>
              </a:extLst>
            </p:cNvPr>
            <p:cNvSpPr txBox="1"/>
            <p:nvPr/>
          </p:nvSpPr>
          <p:spPr>
            <a:xfrm>
              <a:off x="612019" y="962529"/>
              <a:ext cx="1607651" cy="410104"/>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Initialization</a:t>
              </a:r>
              <a:endParaRPr lang="zh-CN" altLang="en-US" sz="1600" kern="1200"/>
            </a:p>
          </p:txBody>
        </p:sp>
      </p:grpSp>
      <p:grpSp>
        <p:nvGrpSpPr>
          <p:cNvPr id="14" name="组合 13">
            <a:extLst>
              <a:ext uri="{FF2B5EF4-FFF2-40B4-BE49-F238E27FC236}">
                <a16:creationId xmlns:a16="http://schemas.microsoft.com/office/drawing/2014/main" id="{BADCC926-615D-2FE0-A182-03C00A7F981D}"/>
              </a:ext>
            </a:extLst>
          </p:cNvPr>
          <p:cNvGrpSpPr/>
          <p:nvPr/>
        </p:nvGrpSpPr>
        <p:grpSpPr>
          <a:xfrm>
            <a:off x="2231417" y="2369128"/>
            <a:ext cx="1633169" cy="435622"/>
            <a:chOff x="1552991" y="2276705"/>
            <a:chExt cx="1633169" cy="435622"/>
          </a:xfrm>
        </p:grpSpPr>
        <p:sp>
          <p:nvSpPr>
            <p:cNvPr id="9" name="矩形: 圆角 8">
              <a:extLst>
                <a:ext uri="{FF2B5EF4-FFF2-40B4-BE49-F238E27FC236}">
                  <a16:creationId xmlns:a16="http://schemas.microsoft.com/office/drawing/2014/main" id="{B82AB9CB-7D78-50C1-4220-B3CCDC7D0D09}"/>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0" name="矩形: 圆角 4">
              <a:extLst>
                <a:ext uri="{FF2B5EF4-FFF2-40B4-BE49-F238E27FC236}">
                  <a16:creationId xmlns:a16="http://schemas.microsoft.com/office/drawing/2014/main" id="{E3BE891A-B46E-EE90-6E0A-EFD7EC5DA5D4}"/>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16" name="组合 15">
            <a:extLst>
              <a:ext uri="{FF2B5EF4-FFF2-40B4-BE49-F238E27FC236}">
                <a16:creationId xmlns:a16="http://schemas.microsoft.com/office/drawing/2014/main" id="{F3991402-E0E3-632D-291C-5D5431E68515}"/>
              </a:ext>
            </a:extLst>
          </p:cNvPr>
          <p:cNvGrpSpPr/>
          <p:nvPr/>
        </p:nvGrpSpPr>
        <p:grpSpPr>
          <a:xfrm>
            <a:off x="4251687" y="2369128"/>
            <a:ext cx="3053681" cy="435622"/>
            <a:chOff x="1552991" y="2276705"/>
            <a:chExt cx="1633169" cy="435622"/>
          </a:xfrm>
        </p:grpSpPr>
        <p:sp>
          <p:nvSpPr>
            <p:cNvPr id="17" name="矩形: 圆角 16">
              <a:extLst>
                <a:ext uri="{FF2B5EF4-FFF2-40B4-BE49-F238E27FC236}">
                  <a16:creationId xmlns:a16="http://schemas.microsoft.com/office/drawing/2014/main" id="{ECEB0762-CB44-1912-BA7F-E375C89264E6}"/>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8" name="矩形: 圆角 4">
              <a:extLst>
                <a:ext uri="{FF2B5EF4-FFF2-40B4-BE49-F238E27FC236}">
                  <a16:creationId xmlns:a16="http://schemas.microsoft.com/office/drawing/2014/main" id="{5559095C-6FC3-A80C-17C7-18AF7D9563F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Requirement Gathering</a:t>
              </a:r>
              <a:endParaRPr lang="zh-CN" altLang="en-US" sz="1600" kern="1200"/>
            </a:p>
          </p:txBody>
        </p:sp>
      </p:grpSp>
      <p:grpSp>
        <p:nvGrpSpPr>
          <p:cNvPr id="19" name="组合 18">
            <a:extLst>
              <a:ext uri="{FF2B5EF4-FFF2-40B4-BE49-F238E27FC236}">
                <a16:creationId xmlns:a16="http://schemas.microsoft.com/office/drawing/2014/main" id="{7B762D4B-0877-4378-632C-4C3ACEA92CD5}"/>
              </a:ext>
            </a:extLst>
          </p:cNvPr>
          <p:cNvGrpSpPr/>
          <p:nvPr/>
        </p:nvGrpSpPr>
        <p:grpSpPr>
          <a:xfrm>
            <a:off x="7815157" y="2369128"/>
            <a:ext cx="1633169" cy="435622"/>
            <a:chOff x="1552991" y="2276705"/>
            <a:chExt cx="1633169" cy="435622"/>
          </a:xfrm>
        </p:grpSpPr>
        <p:sp>
          <p:nvSpPr>
            <p:cNvPr id="20" name="矩形: 圆角 19">
              <a:extLst>
                <a:ext uri="{FF2B5EF4-FFF2-40B4-BE49-F238E27FC236}">
                  <a16:creationId xmlns:a16="http://schemas.microsoft.com/office/drawing/2014/main" id="{8F3F1F20-A525-7A1E-07FA-0C212159AD2C}"/>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1" name="矩形: 圆角 4">
              <a:extLst>
                <a:ext uri="{FF2B5EF4-FFF2-40B4-BE49-F238E27FC236}">
                  <a16:creationId xmlns:a16="http://schemas.microsoft.com/office/drawing/2014/main" id="{01DBE11A-C38F-77AC-E93F-FE9DA361CBDF}"/>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Design</a:t>
              </a:r>
              <a:endParaRPr lang="zh-CN" altLang="en-US" sz="1600" kern="1200"/>
            </a:p>
          </p:txBody>
        </p:sp>
      </p:grpSp>
      <p:grpSp>
        <p:nvGrpSpPr>
          <p:cNvPr id="22" name="组合 21">
            <a:extLst>
              <a:ext uri="{FF2B5EF4-FFF2-40B4-BE49-F238E27FC236}">
                <a16:creationId xmlns:a16="http://schemas.microsoft.com/office/drawing/2014/main" id="{CE5CBD48-C08B-C7E5-91BB-0BB9A58AC42A}"/>
              </a:ext>
            </a:extLst>
          </p:cNvPr>
          <p:cNvGrpSpPr/>
          <p:nvPr/>
        </p:nvGrpSpPr>
        <p:grpSpPr>
          <a:xfrm>
            <a:off x="2231417" y="3730612"/>
            <a:ext cx="1633169" cy="435622"/>
            <a:chOff x="1552991" y="2276705"/>
            <a:chExt cx="1633169" cy="435622"/>
          </a:xfrm>
        </p:grpSpPr>
        <p:sp>
          <p:nvSpPr>
            <p:cNvPr id="23" name="矩形: 圆角 22">
              <a:extLst>
                <a:ext uri="{FF2B5EF4-FFF2-40B4-BE49-F238E27FC236}">
                  <a16:creationId xmlns:a16="http://schemas.microsoft.com/office/drawing/2014/main" id="{170FAE65-EC78-6B28-E68C-F6C24C16CEB4}"/>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4" name="矩形: 圆角 4">
              <a:extLst>
                <a:ext uri="{FF2B5EF4-FFF2-40B4-BE49-F238E27FC236}">
                  <a16:creationId xmlns:a16="http://schemas.microsoft.com/office/drawing/2014/main" id="{E8A84556-1BC7-A72B-FEA1-40F0C917866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Evaluation</a:t>
              </a:r>
              <a:endParaRPr lang="zh-CN" altLang="en-US" sz="1600" kern="1200"/>
            </a:p>
          </p:txBody>
        </p:sp>
      </p:grpSp>
      <p:grpSp>
        <p:nvGrpSpPr>
          <p:cNvPr id="25" name="组合 24">
            <a:extLst>
              <a:ext uri="{FF2B5EF4-FFF2-40B4-BE49-F238E27FC236}">
                <a16:creationId xmlns:a16="http://schemas.microsoft.com/office/drawing/2014/main" id="{8AD77840-8837-BE62-AAA9-D98BC5AB4EB3}"/>
              </a:ext>
            </a:extLst>
          </p:cNvPr>
          <p:cNvGrpSpPr/>
          <p:nvPr/>
        </p:nvGrpSpPr>
        <p:grpSpPr>
          <a:xfrm>
            <a:off x="4973169" y="3730612"/>
            <a:ext cx="1633169" cy="435622"/>
            <a:chOff x="1552991" y="2276705"/>
            <a:chExt cx="1633169" cy="435622"/>
          </a:xfrm>
        </p:grpSpPr>
        <p:sp>
          <p:nvSpPr>
            <p:cNvPr id="26" name="矩形: 圆角 25">
              <a:extLst>
                <a:ext uri="{FF2B5EF4-FFF2-40B4-BE49-F238E27FC236}">
                  <a16:creationId xmlns:a16="http://schemas.microsoft.com/office/drawing/2014/main" id="{9E66B27E-2967-495E-C889-BF50FDAB209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7" name="矩形: 圆角 4">
              <a:extLst>
                <a:ext uri="{FF2B5EF4-FFF2-40B4-BE49-F238E27FC236}">
                  <a16:creationId xmlns:a16="http://schemas.microsoft.com/office/drawing/2014/main" id="{926C7503-7209-37EC-1FAF-70F205D12883}"/>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28" name="组合 27">
            <a:extLst>
              <a:ext uri="{FF2B5EF4-FFF2-40B4-BE49-F238E27FC236}">
                <a16:creationId xmlns:a16="http://schemas.microsoft.com/office/drawing/2014/main" id="{5346724F-F083-3DFF-37CF-1D0D8C890AFC}"/>
              </a:ext>
            </a:extLst>
          </p:cNvPr>
          <p:cNvGrpSpPr/>
          <p:nvPr/>
        </p:nvGrpSpPr>
        <p:grpSpPr>
          <a:xfrm>
            <a:off x="7815157" y="3730612"/>
            <a:ext cx="1633169" cy="435622"/>
            <a:chOff x="1552991" y="2276705"/>
            <a:chExt cx="1633169" cy="435622"/>
          </a:xfrm>
        </p:grpSpPr>
        <p:sp>
          <p:nvSpPr>
            <p:cNvPr id="29" name="矩形: 圆角 28">
              <a:extLst>
                <a:ext uri="{FF2B5EF4-FFF2-40B4-BE49-F238E27FC236}">
                  <a16:creationId xmlns:a16="http://schemas.microsoft.com/office/drawing/2014/main" id="{2996AF8D-2467-61B4-5220-7B99804915C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30" name="矩形: 圆角 4">
              <a:extLst>
                <a:ext uri="{FF2B5EF4-FFF2-40B4-BE49-F238E27FC236}">
                  <a16:creationId xmlns:a16="http://schemas.microsoft.com/office/drawing/2014/main" id="{6EDE2DDA-B430-68DD-564B-D89FB53C360C}"/>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Coding</a:t>
              </a:r>
              <a:endParaRPr lang="zh-CN" altLang="en-US" sz="1600" kern="1200"/>
            </a:p>
          </p:txBody>
        </p:sp>
      </p:grpSp>
      <p:sp>
        <p:nvSpPr>
          <p:cNvPr id="33" name="矩形: 圆角 4">
            <a:extLst>
              <a:ext uri="{FF2B5EF4-FFF2-40B4-BE49-F238E27FC236}">
                <a16:creationId xmlns:a16="http://schemas.microsoft.com/office/drawing/2014/main" id="{A35D34CE-A768-B21B-48C8-90BD039656A6}"/>
              </a:ext>
            </a:extLst>
          </p:cNvPr>
          <p:cNvSpPr txBox="1"/>
          <p:nvPr/>
        </p:nvSpPr>
        <p:spPr>
          <a:xfrm>
            <a:off x="8877040" y="5009083"/>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Deployment</a:t>
            </a:r>
            <a:endParaRPr lang="zh-CN" altLang="en-US" sz="1600" kern="1200"/>
          </a:p>
        </p:txBody>
      </p:sp>
      <p:cxnSp>
        <p:nvCxnSpPr>
          <p:cNvPr id="35" name="连接符: 肘形 34">
            <a:extLst>
              <a:ext uri="{FF2B5EF4-FFF2-40B4-BE49-F238E27FC236}">
                <a16:creationId xmlns:a16="http://schemas.microsoft.com/office/drawing/2014/main" id="{E8BED79B-4269-F78B-2E01-DF2B9035A623}"/>
              </a:ext>
            </a:extLst>
          </p:cNvPr>
          <p:cNvCxnSpPr>
            <a:stCxn id="5" idx="2"/>
            <a:endCxn id="10" idx="1"/>
          </p:cNvCxnSpPr>
          <p:nvPr/>
        </p:nvCxnSpPr>
        <p:spPr>
          <a:xfrm rot="16200000" flipH="1">
            <a:off x="1612695" y="1955457"/>
            <a:ext cx="1103225" cy="159737"/>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C848473-26C4-0E56-F4FA-4FB6DE03B904}"/>
              </a:ext>
            </a:extLst>
          </p:cNvPr>
          <p:cNvCxnSpPr>
            <a:stCxn id="10" idx="3"/>
            <a:endCxn id="17" idx="1"/>
          </p:cNvCxnSpPr>
          <p:nvPr/>
        </p:nvCxnSpPr>
        <p:spPr>
          <a:xfrm>
            <a:off x="3851827" y="2586939"/>
            <a:ext cx="399860"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38997121-D955-C782-02F2-3ACE5532FD8A}"/>
              </a:ext>
            </a:extLst>
          </p:cNvPr>
          <p:cNvCxnSpPr>
            <a:stCxn id="18" idx="3"/>
            <a:endCxn id="20" idx="1"/>
          </p:cNvCxnSpPr>
          <p:nvPr/>
        </p:nvCxnSpPr>
        <p:spPr>
          <a:xfrm>
            <a:off x="7281512" y="2586939"/>
            <a:ext cx="533645"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接箭头连接符 40">
            <a:extLst>
              <a:ext uri="{FF2B5EF4-FFF2-40B4-BE49-F238E27FC236}">
                <a16:creationId xmlns:a16="http://schemas.microsoft.com/office/drawing/2014/main" id="{65EB9293-F37C-39FB-99D0-F9BE2027989C}"/>
              </a:ext>
            </a:extLst>
          </p:cNvPr>
          <p:cNvCxnSpPr>
            <a:stCxn id="27" idx="1"/>
            <a:endCxn id="23" idx="3"/>
          </p:cNvCxnSpPr>
          <p:nvPr/>
        </p:nvCxnSpPr>
        <p:spPr>
          <a:xfrm flipH="1">
            <a:off x="3864586" y="3948423"/>
            <a:ext cx="1121342"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14235197-11D4-50DE-2EF9-469B29135EAF}"/>
              </a:ext>
            </a:extLst>
          </p:cNvPr>
          <p:cNvCxnSpPr>
            <a:stCxn id="30" idx="1"/>
            <a:endCxn id="27" idx="3"/>
          </p:cNvCxnSpPr>
          <p:nvPr/>
        </p:nvCxnSpPr>
        <p:spPr>
          <a:xfrm flipH="1">
            <a:off x="6593579" y="3948423"/>
            <a:ext cx="1234337"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52D03AB-BBFE-F650-E6DB-365A91DFBB83}"/>
              </a:ext>
            </a:extLst>
          </p:cNvPr>
          <p:cNvCxnSpPr>
            <a:cxnSpLocks/>
            <a:stCxn id="29" idx="3"/>
          </p:cNvCxnSpPr>
          <p:nvPr/>
        </p:nvCxnSpPr>
        <p:spPr>
          <a:xfrm>
            <a:off x="9448326" y="3948423"/>
            <a:ext cx="232540" cy="1060660"/>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122C0876-9B77-575A-9D22-A894231B91C1}"/>
              </a:ext>
            </a:extLst>
          </p:cNvPr>
          <p:cNvCxnSpPr>
            <a:cxnSpLocks/>
            <a:stCxn id="21" idx="2"/>
            <a:endCxn id="30" idx="0"/>
          </p:cNvCxnSpPr>
          <p:nvPr/>
        </p:nvCxnSpPr>
        <p:spPr>
          <a:xfrm>
            <a:off x="8631742" y="2791991"/>
            <a:ext cx="0" cy="95138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F47A15D8-70BC-D036-2686-EC3FA55979F1}"/>
              </a:ext>
            </a:extLst>
          </p:cNvPr>
          <p:cNvCxnSpPr>
            <a:stCxn id="24" idx="0"/>
            <a:endCxn id="9" idx="2"/>
          </p:cNvCxnSpPr>
          <p:nvPr/>
        </p:nvCxnSpPr>
        <p:spPr>
          <a:xfrm flipV="1">
            <a:off x="3048002" y="2804750"/>
            <a:ext cx="0" cy="938621"/>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500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695998" y="360000"/>
            <a:ext cx="6375921" cy="429413"/>
          </a:xfrm>
        </p:spPr>
        <p:txBody>
          <a:bodyPr>
            <a:normAutofit/>
          </a:bodyPr>
          <a:lstStyle/>
          <a:p>
            <a:r>
              <a:rPr lang="en-US" altLang="zh-CN"/>
              <a:t>2.5.3 </a:t>
            </a:r>
            <a:r>
              <a:rPr lang="zh-CN" altLang="en-US"/>
              <a:t>增量型</a:t>
            </a:r>
          </a:p>
        </p:txBody>
      </p:sp>
      <p:sp>
        <p:nvSpPr>
          <p:cNvPr id="7" name="内容占位符 6">
            <a:extLst>
              <a:ext uri="{FF2B5EF4-FFF2-40B4-BE49-F238E27FC236}">
                <a16:creationId xmlns:a16="http://schemas.microsoft.com/office/drawing/2014/main" id="{7E7FA345-19A2-7A80-BE19-18107E566D8B}"/>
              </a:ext>
            </a:extLst>
          </p:cNvPr>
          <p:cNvSpPr>
            <a:spLocks noGrp="1"/>
          </p:cNvSpPr>
          <p:nvPr>
            <p:ph idx="1"/>
          </p:nvPr>
        </p:nvSpPr>
        <p:spPr>
          <a:xfrm>
            <a:off x="696000" y="864000"/>
            <a:ext cx="10800000" cy="5400000"/>
          </a:xfrm>
        </p:spPr>
        <p:txBody>
          <a:bodyPr>
            <a:normAutofit/>
          </a:bodyPr>
          <a:lstStyle/>
          <a:p>
            <a:r>
              <a:rPr lang="zh-CN" altLang="en-US"/>
              <a:t>复杂的项目划分为更小、独立的模块，这些模块被称为增量</a:t>
            </a:r>
            <a:endParaRPr lang="en-US" altLang="zh-CN"/>
          </a:p>
          <a:p>
            <a:pPr lvl="1"/>
            <a:r>
              <a:rPr lang="zh-CN" altLang="en-US"/>
              <a:t>每完成一块就</a:t>
            </a:r>
            <a:r>
              <a:rPr lang="zh-CN" altLang="en-US">
                <a:solidFill>
                  <a:srgbClr val="FFFF00"/>
                </a:solidFill>
              </a:rPr>
              <a:t>交付</a:t>
            </a:r>
            <a:r>
              <a:rPr lang="zh-CN" altLang="en-US"/>
              <a:t>一部分功能</a:t>
            </a:r>
          </a:p>
          <a:p>
            <a:pPr lvl="1"/>
            <a:r>
              <a:rPr lang="zh-CN" altLang="en-US"/>
              <a:t>每个增量增加功能</a:t>
            </a:r>
          </a:p>
          <a:p>
            <a:pPr lvl="1"/>
            <a:r>
              <a:rPr lang="en-US" altLang="zh-CN"/>
              <a:t>Product delivered in usable chunks; each increment adds functionality</a:t>
            </a:r>
          </a:p>
          <a:p>
            <a:r>
              <a:rPr lang="zh-CN" altLang="en-US"/>
              <a:t>用户能尽早使用部分功能，团队也能获得早期反馈</a:t>
            </a:r>
            <a:endParaRPr lang="en-US" altLang="zh-CN"/>
          </a:p>
          <a:p>
            <a:pPr lvl="1"/>
            <a:r>
              <a:rPr lang="zh-CN" altLang="en-US"/>
              <a:t>快速交付价值 → 速度</a:t>
            </a:r>
            <a:endParaRPr lang="en-US" altLang="zh-CN"/>
          </a:p>
          <a:p>
            <a:pPr lvl="1"/>
            <a:r>
              <a:rPr lang="zh-CN" altLang="en-US"/>
              <a:t>持续评估、反馈和调整是这个模型的核心，能够迅速识别和纠正错误</a:t>
            </a:r>
          </a:p>
          <a:p>
            <a:r>
              <a:rPr lang="zh-CN" altLang="en-US"/>
              <a:t>典型例子</a:t>
            </a:r>
          </a:p>
          <a:p>
            <a:pPr lvl="1"/>
            <a:r>
              <a:rPr lang="zh-CN" altLang="en-US"/>
              <a:t>软件模块化开发（先上线登录注册，再上线支付）</a:t>
            </a:r>
            <a:endParaRPr lang="en-US" altLang="zh-CN"/>
          </a:p>
          <a:p>
            <a:pPr lvl="1"/>
            <a:r>
              <a:rPr lang="zh-CN" altLang="en-US"/>
              <a:t>房地产分期交房</a:t>
            </a:r>
            <a:endParaRPr lang="en-US" altLang="zh-CN"/>
          </a:p>
          <a:p>
            <a:pPr lvl="1"/>
            <a:r>
              <a:rPr lang="zh-CN" altLang="en-US"/>
              <a:t>拼图</a:t>
            </a:r>
          </a:p>
          <a:p>
            <a:r>
              <a:rPr lang="zh-CN" altLang="en-US"/>
              <a:t>局限</a:t>
            </a:r>
          </a:p>
          <a:p>
            <a:pPr lvl="1"/>
            <a:r>
              <a:rPr lang="zh-CN" altLang="en-US"/>
              <a:t>如果整体架构没想清楚，可能导致拼凑式系统，后期难以维护</a:t>
            </a:r>
          </a:p>
          <a:p>
            <a:pPr lvl="1"/>
            <a:r>
              <a:rPr lang="zh-CN" altLang="en-US"/>
              <a:t>缺乏反复修正的机制，可能方向跑偏</a:t>
            </a:r>
          </a:p>
          <a:p>
            <a:pPr lvl="1"/>
            <a:endParaRPr lang="zh-CN" altLang="en-US"/>
          </a:p>
          <a:p>
            <a:endParaRPr lang="en-US" altLang="zh-CN"/>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477213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4B5B5B-07CD-963E-A8F3-A82CEE525FB3}"/>
              </a:ext>
            </a:extLst>
          </p:cNvPr>
          <p:cNvSpPr>
            <a:spLocks noGrp="1"/>
          </p:cNvSpPr>
          <p:nvPr>
            <p:ph type="title"/>
          </p:nvPr>
        </p:nvSpPr>
        <p:spPr>
          <a:xfrm>
            <a:off x="695998" y="360000"/>
            <a:ext cx="6375921" cy="429413"/>
          </a:xfrm>
        </p:spPr>
        <p:txBody>
          <a:bodyPr/>
          <a:lstStyle/>
          <a:p>
            <a:r>
              <a:rPr lang="en-US" altLang="zh-CN"/>
              <a:t>2.5.3 </a:t>
            </a:r>
            <a:r>
              <a:rPr lang="zh-CN" altLang="en-US"/>
              <a:t>增量型</a:t>
            </a:r>
          </a:p>
        </p:txBody>
      </p:sp>
      <p:sp>
        <p:nvSpPr>
          <p:cNvPr id="3" name="内容占位符 2">
            <a:extLst>
              <a:ext uri="{FF2B5EF4-FFF2-40B4-BE49-F238E27FC236}">
                <a16:creationId xmlns:a16="http://schemas.microsoft.com/office/drawing/2014/main" id="{268C1F9C-253F-E541-5E95-2A8FA1CE2FB4}"/>
              </a:ext>
            </a:extLst>
          </p:cNvPr>
          <p:cNvSpPr>
            <a:spLocks noGrp="1"/>
          </p:cNvSpPr>
          <p:nvPr>
            <p:ph idx="1"/>
          </p:nvPr>
        </p:nvSpPr>
        <p:spPr>
          <a:xfrm>
            <a:off x="696000" y="864000"/>
            <a:ext cx="10800000" cy="5400000"/>
          </a:xfrm>
        </p:spPr>
        <p:txBody>
          <a:bodyPr>
            <a:normAutofit/>
          </a:bodyPr>
          <a:lstStyle/>
          <a:p>
            <a:r>
              <a:rPr lang="zh-CN" altLang="en-US"/>
              <a:t>过程</a:t>
            </a:r>
            <a:endParaRPr lang="en-US" altLang="zh-CN"/>
          </a:p>
          <a:p>
            <a:pPr lvl="1"/>
            <a:r>
              <a:rPr lang="zh-CN" altLang="en-US"/>
              <a:t>需求收集 </a:t>
            </a:r>
            <a:r>
              <a:rPr lang="en-US" altLang="zh-CN"/>
              <a:t>Requirements Gathering</a:t>
            </a:r>
            <a:endParaRPr lang="zh-CN" altLang="en-US"/>
          </a:p>
          <a:p>
            <a:pPr lvl="1"/>
            <a:r>
              <a:rPr lang="zh-CN" altLang="en-US"/>
              <a:t>设计 </a:t>
            </a:r>
            <a:r>
              <a:rPr lang="en-US" altLang="zh-CN"/>
              <a:t>Design</a:t>
            </a:r>
          </a:p>
          <a:p>
            <a:pPr lvl="1"/>
            <a:r>
              <a:rPr lang="zh-CN" altLang="en-US"/>
              <a:t>实现 </a:t>
            </a:r>
            <a:r>
              <a:rPr lang="en-US" altLang="zh-CN"/>
              <a:t>Implementation</a:t>
            </a:r>
          </a:p>
          <a:p>
            <a:pPr lvl="1"/>
            <a:r>
              <a:rPr lang="zh-CN" altLang="en-US"/>
              <a:t>测试 </a:t>
            </a:r>
            <a:r>
              <a:rPr lang="en-US" altLang="zh-CN"/>
              <a:t>Testing</a:t>
            </a:r>
          </a:p>
          <a:p>
            <a:pPr lvl="1"/>
            <a:r>
              <a:rPr lang="zh-CN" altLang="en-US"/>
              <a:t>集成 </a:t>
            </a:r>
            <a:r>
              <a:rPr lang="en-US" altLang="zh-CN"/>
              <a:t>Integration</a:t>
            </a:r>
          </a:p>
          <a:p>
            <a:pPr lvl="1"/>
            <a:r>
              <a:rPr lang="zh-CN" altLang="en-US"/>
              <a:t>评估和反馈 </a:t>
            </a:r>
            <a:r>
              <a:rPr lang="en-US" altLang="zh-CN"/>
              <a:t>Evaluation and Feedback</a:t>
            </a:r>
          </a:p>
          <a:p>
            <a:pPr lvl="1"/>
            <a:r>
              <a:rPr lang="zh-CN" altLang="en-US"/>
              <a:t>迭代过程 </a:t>
            </a:r>
            <a:r>
              <a:rPr lang="en-US" altLang="zh-CN"/>
              <a:t>Iterative Process</a:t>
            </a:r>
            <a:endParaRPr lang="zh-CN" altLang="en-US"/>
          </a:p>
        </p:txBody>
      </p:sp>
      <p:sp>
        <p:nvSpPr>
          <p:cNvPr id="4" name="文本占位符 3">
            <a:extLst>
              <a:ext uri="{FF2B5EF4-FFF2-40B4-BE49-F238E27FC236}">
                <a16:creationId xmlns:a16="http://schemas.microsoft.com/office/drawing/2014/main" id="{83461855-6FDD-19AC-E8BE-20FF83A4B53B}"/>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334801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DAB7652-3B05-442E-72DA-61C0BE70E305}"/>
              </a:ext>
            </a:extLst>
          </p:cNvPr>
          <p:cNvGraphicFramePr>
            <a:graphicFrameLocks noGrp="1"/>
          </p:cNvGraphicFramePr>
          <p:nvPr>
            <p:extLst>
              <p:ext uri="{D42A27DB-BD31-4B8C-83A1-F6EECF244321}">
                <p14:modId xmlns:p14="http://schemas.microsoft.com/office/powerpoint/2010/main" val="3535630502"/>
              </p:ext>
            </p:extLst>
          </p:nvPr>
        </p:nvGraphicFramePr>
        <p:xfrm>
          <a:off x="695325" y="2255520"/>
          <a:ext cx="10801350" cy="2346960"/>
        </p:xfrm>
        <a:graphic>
          <a:graphicData uri="http://schemas.openxmlformats.org/drawingml/2006/table">
            <a:tbl>
              <a:tblPr/>
              <a:tblGrid>
                <a:gridCol w="1261294">
                  <a:extLst>
                    <a:ext uri="{9D8B030D-6E8A-4147-A177-3AD203B41FA5}">
                      <a16:colId xmlns:a16="http://schemas.microsoft.com/office/drawing/2014/main" val="2254505056"/>
                    </a:ext>
                  </a:extLst>
                </a:gridCol>
                <a:gridCol w="4955458">
                  <a:extLst>
                    <a:ext uri="{9D8B030D-6E8A-4147-A177-3AD203B41FA5}">
                      <a16:colId xmlns:a16="http://schemas.microsoft.com/office/drawing/2014/main" val="4094901967"/>
                    </a:ext>
                  </a:extLst>
                </a:gridCol>
                <a:gridCol w="4584598">
                  <a:extLst>
                    <a:ext uri="{9D8B030D-6E8A-4147-A177-3AD203B41FA5}">
                      <a16:colId xmlns:a16="http://schemas.microsoft.com/office/drawing/2014/main" val="2647136496"/>
                    </a:ext>
                  </a:extLst>
                </a:gridCol>
              </a:tblGrid>
              <a:tr h="0">
                <a:tc>
                  <a:txBody>
                    <a:bodyPr/>
                    <a:lstStyle/>
                    <a:p>
                      <a:pPr algn="l">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迭代 </a:t>
                      </a:r>
                      <a:r>
                        <a:rPr lang="en-US" sz="1600">
                          <a:solidFill>
                            <a:schemeClr val="bg1"/>
                          </a:solidFill>
                        </a:rPr>
                        <a:t>Iteration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增量 </a:t>
                      </a:r>
                      <a:r>
                        <a:rPr lang="en-US" sz="1600">
                          <a:solidFill>
                            <a:schemeClr val="bg1"/>
                          </a:solidFill>
                        </a:rPr>
                        <a:t>Increment</a:t>
                      </a:r>
                      <a:r>
                        <a:rPr lang="en-US" altLang="zh-CN" sz="1600">
                          <a:solidFill>
                            <a:schemeClr val="bg1"/>
                          </a:solidFill>
                        </a:rPr>
                        <a:t>al</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7242012"/>
                  </a:ext>
                </a:extLst>
              </a:tr>
              <a:tr h="0">
                <a:tc>
                  <a:txBody>
                    <a:bodyPr/>
                    <a:lstStyle/>
                    <a:p>
                      <a:pPr algn="l">
                        <a:buNone/>
                      </a:pPr>
                      <a:r>
                        <a:rPr lang="zh-CN" altLang="en-US" sz="1600">
                          <a:solidFill>
                            <a:schemeClr val="bg1"/>
                          </a:solidFill>
                        </a:rPr>
                        <a:t>核心动作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重复 </a:t>
                      </a:r>
                      <a:r>
                        <a:rPr lang="en-US" altLang="zh-CN" sz="1600">
                          <a:solidFill>
                            <a:schemeClr val="bg1"/>
                          </a:solidFill>
                        </a:rPr>
                        <a:t>(</a:t>
                      </a:r>
                      <a:r>
                        <a:rPr lang="en-US" sz="1600">
                          <a:solidFill>
                            <a:schemeClr val="bg1"/>
                          </a:solidFill>
                        </a:rPr>
                        <a:t>Repeat)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增加 </a:t>
                      </a:r>
                      <a:r>
                        <a:rPr lang="en-US" altLang="zh-CN" sz="1600">
                          <a:solidFill>
                            <a:schemeClr val="bg1"/>
                          </a:solidFill>
                        </a:rPr>
                        <a:t>(</a:t>
                      </a:r>
                      <a:r>
                        <a:rPr lang="en-US" sz="1600">
                          <a:solidFill>
                            <a:schemeClr val="bg1"/>
                          </a:solidFill>
                        </a:rPr>
                        <a:t>Add)</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55205760"/>
                  </a:ext>
                </a:extLst>
              </a:tr>
              <a:tr h="0">
                <a:tc>
                  <a:txBody>
                    <a:bodyPr/>
                    <a:lstStyle/>
                    <a:p>
                      <a:pPr algn="l">
                        <a:buNone/>
                      </a:pPr>
                      <a:r>
                        <a:rPr lang="zh-CN" altLang="en-US" sz="1600">
                          <a:solidFill>
                            <a:schemeClr val="bg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质量 </a:t>
                      </a:r>
                      <a:r>
                        <a:rPr lang="en-US" altLang="zh-CN" sz="1600">
                          <a:solidFill>
                            <a:schemeClr val="bg1"/>
                          </a:solidFill>
                        </a:rPr>
                        <a:t>(</a:t>
                      </a:r>
                      <a:r>
                        <a:rPr lang="en-US" sz="1600">
                          <a:solidFill>
                            <a:schemeClr val="bg1"/>
                          </a:solidFill>
                        </a:rPr>
                        <a:t>Quality)：</a:t>
                      </a:r>
                      <a:r>
                        <a:rPr lang="zh-CN" altLang="en-US" sz="1600">
                          <a:solidFill>
                            <a:schemeClr val="bg1"/>
                          </a:solidFill>
                        </a:rPr>
                        <a:t>把现有的做得更好、更稳</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范围 </a:t>
                      </a:r>
                      <a:r>
                        <a:rPr lang="en-US" altLang="zh-CN" sz="1600">
                          <a:solidFill>
                            <a:schemeClr val="bg1"/>
                          </a:solidFill>
                        </a:rPr>
                        <a:t>(</a:t>
                      </a:r>
                      <a:r>
                        <a:rPr lang="en-US" sz="1600">
                          <a:solidFill>
                            <a:schemeClr val="bg1"/>
                          </a:solidFill>
                        </a:rPr>
                        <a:t>Scope)：</a:t>
                      </a:r>
                      <a:r>
                        <a:rPr lang="zh-CN" altLang="en-US" sz="1600">
                          <a:solidFill>
                            <a:schemeClr val="bg1"/>
                          </a:solidFill>
                        </a:rPr>
                        <a:t>把功能做得更多、更全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0213443"/>
                  </a:ext>
                </a:extLst>
              </a:tr>
              <a:tr h="0">
                <a:tc>
                  <a:txBody>
                    <a:bodyPr/>
                    <a:lstStyle/>
                    <a:p>
                      <a:pPr algn="l">
                        <a:buNone/>
                      </a:pPr>
                      <a:r>
                        <a:rPr lang="zh-CN" altLang="en-US" sz="1600">
                          <a:solidFill>
                            <a:schemeClr val="bg1"/>
                          </a:solidFill>
                        </a:rPr>
                        <a:t>产出物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一个更完善的版本（功能可能没变多，但更好用了）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一个功能更多的版本（多了新模块、新按钮）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78136575"/>
                  </a:ext>
                </a:extLst>
              </a:tr>
              <a:tr h="0">
                <a:tc>
                  <a:txBody>
                    <a:bodyPr/>
                    <a:lstStyle/>
                    <a:p>
                      <a:pPr algn="l">
                        <a:buNone/>
                      </a:pPr>
                      <a:r>
                        <a:rPr lang="zh-CN" altLang="en-US" sz="1600">
                          <a:solidFill>
                            <a:schemeClr val="bg1"/>
                          </a:solidFill>
                        </a:rPr>
                        <a:t>风险策略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通过早期原型降低理解风险（是不是做错了？）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通过分批交付降低交付风险（能不能按时做完？）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66295567"/>
                  </a:ext>
                </a:extLst>
              </a:tr>
              <a:tr h="0">
                <a:tc>
                  <a:txBody>
                    <a:bodyPr/>
                    <a:lstStyle/>
                    <a:p>
                      <a:pPr algn="l">
                        <a:buNone/>
                      </a:pPr>
                      <a:r>
                        <a:rPr lang="zh-CN" altLang="en-US" sz="1600">
                          <a:solidFill>
                            <a:schemeClr val="bg1"/>
                          </a:solidFill>
                        </a:rPr>
                        <a:t>用户视角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哇，这个功能比上次快了很多</a:t>
                      </a:r>
                      <a:r>
                        <a:rPr lang="en-US" altLang="zh-CN" sz="1600">
                          <a:solidFill>
                            <a:schemeClr val="bg1"/>
                          </a:solidFill>
                        </a:rPr>
                        <a:t>/</a:t>
                      </a:r>
                      <a:r>
                        <a:rPr lang="zh-CN" altLang="en-US" sz="1600">
                          <a:solidFill>
                            <a:schemeClr val="bg1"/>
                          </a:solidFill>
                        </a:rPr>
                        <a:t>好看了很多！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哇，这次多了一个新功能！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732859"/>
                  </a:ext>
                </a:extLst>
              </a:tr>
              <a:tr h="0">
                <a:tc>
                  <a:txBody>
                    <a:bodyPr/>
                    <a:lstStyle/>
                    <a:p>
                      <a:pPr algn="l">
                        <a:buNone/>
                      </a:pPr>
                      <a:r>
                        <a:rPr lang="zh-CN" altLang="en-US" sz="1600">
                          <a:solidFill>
                            <a:schemeClr val="bg1"/>
                          </a:solidFill>
                        </a:rPr>
                        <a:t>英文词根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Iterate (</a:t>
                      </a:r>
                      <a:r>
                        <a:rPr lang="zh-CN" altLang="en-US" sz="1600">
                          <a:solidFill>
                            <a:schemeClr val="bg1"/>
                          </a:solidFill>
                        </a:rPr>
                        <a:t>重做</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Increment (</a:t>
                      </a:r>
                      <a:r>
                        <a:rPr lang="zh-CN" altLang="en-US" sz="1600">
                          <a:solidFill>
                            <a:schemeClr val="bg1"/>
                          </a:solidFill>
                        </a:rPr>
                        <a:t>增长</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2950446"/>
                  </a:ext>
                </a:extLst>
              </a:tr>
            </a:tbl>
          </a:graphicData>
        </a:graphic>
      </p:graphicFrame>
    </p:spTree>
    <p:extLst>
      <p:ext uri="{BB962C8B-B14F-4D97-AF65-F5344CB8AC3E}">
        <p14:creationId xmlns:p14="http://schemas.microsoft.com/office/powerpoint/2010/main" val="7414457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793F6CE-F46D-5E7B-1BD7-6A4EDB007217}"/>
              </a:ext>
            </a:extLst>
          </p:cNvPr>
          <p:cNvSpPr>
            <a:spLocks noGrp="1"/>
          </p:cNvSpPr>
          <p:nvPr>
            <p:ph type="body" sz="quarter" idx="10"/>
          </p:nvPr>
        </p:nvSpPr>
        <p:spPr>
          <a:xfrm>
            <a:off x="3219345" y="1629000"/>
            <a:ext cx="8640000" cy="3600000"/>
          </a:xfrm>
        </p:spPr>
        <p:txBody>
          <a:bodyPr/>
          <a:lstStyle/>
          <a:p>
            <a:r>
              <a:rPr lang="zh-CN" altLang="en-US"/>
              <a:t>装修房子的过程是什么模型？</a:t>
            </a:r>
          </a:p>
        </p:txBody>
      </p:sp>
    </p:spTree>
    <p:extLst>
      <p:ext uri="{BB962C8B-B14F-4D97-AF65-F5344CB8AC3E}">
        <p14:creationId xmlns:p14="http://schemas.microsoft.com/office/powerpoint/2010/main" val="3980865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695998" y="360000"/>
            <a:ext cx="6375921" cy="429413"/>
          </a:xfrm>
        </p:spPr>
        <p:txBody>
          <a:bodyPr>
            <a:normAutofit/>
          </a:bodyPr>
          <a:lstStyle/>
          <a:p>
            <a:r>
              <a:rPr lang="en-US" altLang="zh-CN"/>
              <a:t>2.5.4 </a:t>
            </a:r>
            <a:r>
              <a:rPr lang="zh-CN" altLang="en-US"/>
              <a:t>敏捷型</a:t>
            </a:r>
          </a:p>
        </p:txBody>
      </p:sp>
      <p:sp>
        <p:nvSpPr>
          <p:cNvPr id="6" name="Content Placeholder 5">
            <a:extLst>
              <a:ext uri="{FF2B5EF4-FFF2-40B4-BE49-F238E27FC236}">
                <a16:creationId xmlns:a16="http://schemas.microsoft.com/office/drawing/2014/main" id="{C154822F-F89D-B946-B741-513BFA5EAC61}"/>
              </a:ext>
            </a:extLst>
          </p:cNvPr>
          <p:cNvSpPr>
            <a:spLocks noGrp="1"/>
          </p:cNvSpPr>
          <p:nvPr>
            <p:ph idx="1"/>
          </p:nvPr>
        </p:nvSpPr>
        <p:spPr>
          <a:xfrm>
            <a:off x="696000" y="864000"/>
            <a:ext cx="10800000" cy="5400000"/>
          </a:xfrm>
        </p:spPr>
        <p:txBody>
          <a:bodyPr>
            <a:normAutofit/>
          </a:bodyPr>
          <a:lstStyle/>
          <a:p>
            <a:r>
              <a:rPr lang="zh-CN" altLang="en-US"/>
              <a:t>本质</a:t>
            </a:r>
          </a:p>
          <a:p>
            <a:pPr lvl="1"/>
            <a:r>
              <a:rPr lang="zh-CN" altLang="en-US"/>
              <a:t>敏捷 </a:t>
            </a:r>
            <a:r>
              <a:rPr lang="en-US" altLang="zh-CN"/>
              <a:t>= </a:t>
            </a:r>
            <a:r>
              <a:rPr lang="zh-CN" altLang="en-US"/>
              <a:t>迭代 </a:t>
            </a:r>
            <a:r>
              <a:rPr lang="en-US" altLang="zh-CN"/>
              <a:t>× </a:t>
            </a:r>
            <a:r>
              <a:rPr lang="zh-CN" altLang="en-US"/>
              <a:t>增量 </a:t>
            </a:r>
            <a:r>
              <a:rPr lang="en-US" altLang="zh-CN"/>
              <a:t>× </a:t>
            </a:r>
            <a:r>
              <a:rPr lang="zh-CN" altLang="en-US"/>
              <a:t>反馈 </a:t>
            </a:r>
            <a:r>
              <a:rPr lang="en-US" altLang="zh-CN"/>
              <a:t>feedback</a:t>
            </a:r>
            <a:endParaRPr lang="zh-CN" altLang="en-US"/>
          </a:p>
          <a:p>
            <a:pPr lvl="1"/>
            <a:r>
              <a:rPr lang="zh-CN" altLang="en-US"/>
              <a:t>它是一个自适应系统，而非固定流程</a:t>
            </a:r>
          </a:p>
          <a:p>
            <a:r>
              <a:rPr lang="zh-CN" altLang="en-US"/>
              <a:t>高响应变化；依赖干系人反馈</a:t>
            </a:r>
            <a:endParaRPr lang="en-US" altLang="zh-CN"/>
          </a:p>
          <a:p>
            <a:pPr lvl="1"/>
            <a:r>
              <a:rPr lang="en-US" altLang="zh-CN"/>
              <a:t>Combines iterative + incremental; high responsiveness to change; stakeholder feedback</a:t>
            </a:r>
          </a:p>
          <a:p>
            <a:r>
              <a:rPr lang="zh-CN" altLang="en-US"/>
              <a:t>不是简单叠加，而是有机融合：</a:t>
            </a:r>
          </a:p>
          <a:p>
            <a:pPr lvl="2"/>
            <a:r>
              <a:rPr lang="zh-CN" altLang="en-US"/>
              <a:t>用迭代来应对不确定性（不断试错、调整方向）</a:t>
            </a:r>
          </a:p>
          <a:p>
            <a:pPr lvl="2"/>
            <a:r>
              <a:rPr lang="zh-CN" altLang="en-US"/>
              <a:t>用增量来确保价值流动（每个迭代都交付可用成果）</a:t>
            </a:r>
          </a:p>
          <a:p>
            <a:pPr lvl="2"/>
            <a:r>
              <a:rPr lang="zh-CN" altLang="en-US"/>
              <a:t>用反馈来驱动决策（客户</a:t>
            </a:r>
            <a:r>
              <a:rPr lang="en-US" altLang="zh-CN"/>
              <a:t>/</a:t>
            </a:r>
            <a:r>
              <a:rPr lang="zh-CN" altLang="en-US"/>
              <a:t>用户参与评审，决定下一步做什么）</a:t>
            </a:r>
          </a:p>
          <a:p>
            <a:pPr lvl="1"/>
            <a:r>
              <a:rPr lang="zh-CN" altLang="en-US"/>
              <a:t>高响应变化是结果，频繁反馈是手段。</a:t>
            </a:r>
          </a:p>
          <a:p>
            <a:r>
              <a:rPr lang="zh-CN" altLang="en-US"/>
              <a:t>目标</a:t>
            </a:r>
          </a:p>
          <a:p>
            <a:pPr lvl="1"/>
            <a:r>
              <a:rPr lang="zh-CN" altLang="en-US"/>
              <a:t>最大化客户价值</a:t>
            </a:r>
            <a:endParaRPr lang="en-US" altLang="zh-CN"/>
          </a:p>
          <a:p>
            <a:pPr lvl="1"/>
            <a:r>
              <a:rPr lang="zh-CN" altLang="en-US"/>
              <a:t>通过频繁小规模交付和反馈实现的客户价值</a:t>
            </a:r>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spTree>
    <p:extLst>
      <p:ext uri="{BB962C8B-B14F-4D97-AF65-F5344CB8AC3E}">
        <p14:creationId xmlns:p14="http://schemas.microsoft.com/office/powerpoint/2010/main" val="132971080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419CC-9E81-006E-77BD-72CA7F2FEF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1817683-CD45-16BD-14FB-9F6065C2DF30}"/>
              </a:ext>
            </a:extLst>
          </p:cNvPr>
          <p:cNvSpPr>
            <a:spLocks noGrp="1"/>
          </p:cNvSpPr>
          <p:nvPr>
            <p:ph type="title"/>
          </p:nvPr>
        </p:nvSpPr>
        <p:spPr>
          <a:xfrm>
            <a:off x="695998" y="360000"/>
            <a:ext cx="6375921" cy="429413"/>
          </a:xfrm>
        </p:spPr>
        <p:txBody>
          <a:bodyPr>
            <a:normAutofit/>
          </a:bodyPr>
          <a:lstStyle/>
          <a:p>
            <a:r>
              <a:rPr lang="en-US" altLang="zh-CN"/>
              <a:t>2.5.4 </a:t>
            </a:r>
            <a:r>
              <a:rPr lang="zh-CN" altLang="en-US"/>
              <a:t>敏捷型</a:t>
            </a:r>
          </a:p>
        </p:txBody>
      </p:sp>
      <p:sp>
        <p:nvSpPr>
          <p:cNvPr id="8" name="内容占位符 7">
            <a:extLst>
              <a:ext uri="{FF2B5EF4-FFF2-40B4-BE49-F238E27FC236}">
                <a16:creationId xmlns:a16="http://schemas.microsoft.com/office/drawing/2014/main" id="{5979937E-A227-BA01-BD87-40E031A8441E}"/>
              </a:ext>
            </a:extLst>
          </p:cNvPr>
          <p:cNvSpPr>
            <a:spLocks noGrp="1"/>
          </p:cNvSpPr>
          <p:nvPr>
            <p:ph idx="1"/>
          </p:nvPr>
        </p:nvSpPr>
        <p:spPr>
          <a:xfrm>
            <a:off x="696000" y="864000"/>
            <a:ext cx="10800000" cy="5400000"/>
          </a:xfrm>
        </p:spPr>
        <p:txBody>
          <a:bodyPr/>
          <a:lstStyle/>
          <a:p>
            <a:r>
              <a:rPr lang="zh-CN" altLang="en-US"/>
              <a:t>常见应用框架</a:t>
            </a:r>
          </a:p>
        </p:txBody>
      </p:sp>
      <p:sp>
        <p:nvSpPr>
          <p:cNvPr id="4" name="文本占位符 3">
            <a:extLst>
              <a:ext uri="{FF2B5EF4-FFF2-40B4-BE49-F238E27FC236}">
                <a16:creationId xmlns:a16="http://schemas.microsoft.com/office/drawing/2014/main" id="{91B6B93D-2807-69DA-F708-0806EA54FB56}"/>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graphicFrame>
        <p:nvGraphicFramePr>
          <p:cNvPr id="3" name="表格 2">
            <a:extLst>
              <a:ext uri="{FF2B5EF4-FFF2-40B4-BE49-F238E27FC236}">
                <a16:creationId xmlns:a16="http://schemas.microsoft.com/office/drawing/2014/main" id="{D02CF5D7-CC17-0D4C-4862-FACDAD24888E}"/>
              </a:ext>
            </a:extLst>
          </p:cNvPr>
          <p:cNvGraphicFramePr>
            <a:graphicFrameLocks noGrp="1"/>
          </p:cNvGraphicFramePr>
          <p:nvPr>
            <p:extLst>
              <p:ext uri="{D42A27DB-BD31-4B8C-83A1-F6EECF244321}">
                <p14:modId xmlns:p14="http://schemas.microsoft.com/office/powerpoint/2010/main" val="2041810840"/>
              </p:ext>
            </p:extLst>
          </p:nvPr>
        </p:nvGraphicFramePr>
        <p:xfrm>
          <a:off x="695325" y="4252595"/>
          <a:ext cx="10801350" cy="2255520"/>
        </p:xfrm>
        <a:graphic>
          <a:graphicData uri="http://schemas.openxmlformats.org/drawingml/2006/table">
            <a:tbl>
              <a:tblPr/>
              <a:tblGrid>
                <a:gridCol w="1693914">
                  <a:extLst>
                    <a:ext uri="{9D8B030D-6E8A-4147-A177-3AD203B41FA5}">
                      <a16:colId xmlns:a16="http://schemas.microsoft.com/office/drawing/2014/main" val="4243255836"/>
                    </a:ext>
                  </a:extLst>
                </a:gridCol>
                <a:gridCol w="1455174">
                  <a:extLst>
                    <a:ext uri="{9D8B030D-6E8A-4147-A177-3AD203B41FA5}">
                      <a16:colId xmlns:a16="http://schemas.microsoft.com/office/drawing/2014/main" val="2516230689"/>
                    </a:ext>
                  </a:extLst>
                </a:gridCol>
                <a:gridCol w="2418735">
                  <a:extLst>
                    <a:ext uri="{9D8B030D-6E8A-4147-A177-3AD203B41FA5}">
                      <a16:colId xmlns:a16="http://schemas.microsoft.com/office/drawing/2014/main" val="1191142745"/>
                    </a:ext>
                  </a:extLst>
                </a:gridCol>
                <a:gridCol w="2536723">
                  <a:extLst>
                    <a:ext uri="{9D8B030D-6E8A-4147-A177-3AD203B41FA5}">
                      <a16:colId xmlns:a16="http://schemas.microsoft.com/office/drawing/2014/main" val="2129465298"/>
                    </a:ext>
                  </a:extLst>
                </a:gridCol>
                <a:gridCol w="2696804">
                  <a:extLst>
                    <a:ext uri="{9D8B030D-6E8A-4147-A177-3AD203B41FA5}">
                      <a16:colId xmlns:a16="http://schemas.microsoft.com/office/drawing/2014/main" val="3996353846"/>
                    </a:ext>
                  </a:extLst>
                </a:gridCol>
              </a:tblGrid>
              <a:tr h="0">
                <a:tc>
                  <a:txBody>
                    <a:bodyPr/>
                    <a:lstStyle/>
                    <a:p>
                      <a:pPr algn="l">
                        <a:buNone/>
                      </a:pPr>
                      <a:r>
                        <a:rPr lang="zh-CN" altLang="en-US" sz="1600">
                          <a:solidFill>
                            <a:schemeClr val="bg1"/>
                          </a:solidFill>
                        </a:rPr>
                        <a:t>模型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节奏</a:t>
                      </a:r>
                      <a:r>
                        <a:rPr lang="en-US" altLang="zh-CN" sz="1600">
                          <a:solidFill>
                            <a:schemeClr val="bg1"/>
                          </a:solidFill>
                        </a:rPr>
                        <a:t>/</a:t>
                      </a:r>
                      <a:r>
                        <a:rPr lang="zh-CN" altLang="en-US" sz="1600">
                          <a:solidFill>
                            <a:schemeClr val="bg1"/>
                          </a:solidFill>
                        </a:rPr>
                        <a:t>周期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角色定义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最佳适用场景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49275536"/>
                  </a:ext>
                </a:extLst>
              </a:tr>
              <a:tr h="200694">
                <a:tc>
                  <a:txBody>
                    <a:bodyPr/>
                    <a:lstStyle/>
                    <a:p>
                      <a:pPr algn="l">
                        <a:buNone/>
                      </a:pPr>
                      <a:r>
                        <a:rPr lang="en-US" sz="1600">
                          <a:solidFill>
                            <a:schemeClr val="bg1"/>
                          </a:solidFill>
                        </a:rPr>
                        <a:t>Scrum </a:t>
                      </a:r>
                      <a:r>
                        <a:rPr lang="zh-CN" altLang="en-US" sz="1600">
                          <a:solidFill>
                            <a:schemeClr val="bg1"/>
                          </a:solidFill>
                        </a:rPr>
                        <a:t>敏捷</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迭代与增量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固定 </a:t>
                      </a:r>
                      <a:r>
                        <a:rPr lang="en-US" sz="1600">
                          <a:solidFill>
                            <a:schemeClr val="bg1"/>
                          </a:solidFill>
                        </a:rPr>
                        <a:t>Sprint (2-4</a:t>
                      </a:r>
                      <a:r>
                        <a:rPr lang="zh-CN" altLang="en-US" sz="1600">
                          <a:solidFill>
                            <a:schemeClr val="bg1"/>
                          </a:solidFill>
                        </a:rPr>
                        <a:t>周</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严格 </a:t>
                      </a:r>
                      <a:r>
                        <a:rPr lang="en-US" altLang="zh-CN" sz="1600">
                          <a:solidFill>
                            <a:schemeClr val="bg1"/>
                          </a:solidFill>
                        </a:rPr>
                        <a:t>(</a:t>
                      </a:r>
                      <a:r>
                        <a:rPr lang="en-US" sz="1600">
                          <a:solidFill>
                            <a:schemeClr val="bg1"/>
                          </a:solidFill>
                        </a:rPr>
                        <a:t>PO/SM/Team)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新产品开发，需求多变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4532577"/>
                  </a:ext>
                </a:extLst>
              </a:tr>
              <a:tr h="200694">
                <a:tc>
                  <a:txBody>
                    <a:bodyPr/>
                    <a:lstStyle/>
                    <a:p>
                      <a:pPr algn="l">
                        <a:buNone/>
                      </a:pPr>
                      <a:r>
                        <a:rPr lang="en-US" sz="1600">
                          <a:solidFill>
                            <a:schemeClr val="bg1"/>
                          </a:solidFill>
                        </a:rPr>
                        <a:t>Kanban </a:t>
                      </a:r>
                      <a:r>
                        <a:rPr lang="zh-CN" altLang="en-US" sz="1600">
                          <a:solidFill>
                            <a:schemeClr val="bg1"/>
                          </a:solidFill>
                        </a:rPr>
                        <a:t>看板</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流动与效率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持续流动 </a:t>
                      </a:r>
                      <a:r>
                        <a:rPr lang="en-US" altLang="zh-CN" sz="1600">
                          <a:solidFill>
                            <a:schemeClr val="bg1"/>
                          </a:solidFill>
                        </a:rPr>
                        <a:t>(</a:t>
                      </a:r>
                      <a:r>
                        <a:rPr lang="zh-CN" altLang="en-US" sz="1600">
                          <a:solidFill>
                            <a:schemeClr val="bg1"/>
                          </a:solidFill>
                        </a:rPr>
                        <a:t>无固定周期</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 </a:t>
                      </a:r>
                      <a:r>
                        <a:rPr lang="en-US" altLang="zh-CN" sz="1600">
                          <a:solidFill>
                            <a:schemeClr val="bg1"/>
                          </a:solidFill>
                        </a:rPr>
                        <a:t>(</a:t>
                      </a:r>
                      <a:r>
                        <a:rPr lang="zh-CN" altLang="en-US" sz="1600">
                          <a:solidFill>
                            <a:schemeClr val="bg1"/>
                          </a:solidFill>
                        </a:rPr>
                        <a:t>无特定角色</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运维、支持、持续交付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40437675"/>
                  </a:ext>
                </a:extLst>
              </a:tr>
              <a:tr h="200694">
                <a:tc>
                  <a:txBody>
                    <a:bodyPr/>
                    <a:lstStyle/>
                    <a:p>
                      <a:pPr algn="l">
                        <a:buNone/>
                      </a:pPr>
                      <a:r>
                        <a:rPr lang="en-US" sz="1600">
                          <a:solidFill>
                            <a:schemeClr val="bg1"/>
                          </a:solidFill>
                        </a:rPr>
                        <a:t>XP </a:t>
                      </a:r>
                      <a:r>
                        <a:rPr lang="zh-CN" altLang="en-US" sz="1600">
                          <a:solidFill>
                            <a:schemeClr val="bg1"/>
                          </a:solidFill>
                        </a:rPr>
                        <a:t>极限编程</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工程质量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通常配合 </a:t>
                      </a:r>
                      <a:r>
                        <a:rPr lang="en-US" sz="1600">
                          <a:solidFill>
                            <a:schemeClr val="bg1"/>
                          </a:solidFill>
                        </a:rPr>
                        <a:t>Scrum </a:t>
                      </a:r>
                      <a:r>
                        <a:rPr lang="zh-CN" altLang="en-US" sz="1600">
                          <a:solidFill>
                            <a:schemeClr val="bg1"/>
                          </a:solidFill>
                        </a:rPr>
                        <a:t>使用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 </a:t>
                      </a:r>
                      <a:r>
                        <a:rPr lang="en-US" altLang="zh-CN" sz="1600">
                          <a:solidFill>
                            <a:schemeClr val="bg1"/>
                          </a:solidFill>
                        </a:rPr>
                        <a:t>(</a:t>
                      </a:r>
                      <a:r>
                        <a:rPr lang="zh-CN" altLang="en-US" sz="1600">
                          <a:solidFill>
                            <a:schemeClr val="bg1"/>
                          </a:solidFill>
                        </a:rPr>
                        <a:t>强调结对</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高复杂度、高质量要求的代码开发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0807287"/>
                  </a:ext>
                </a:extLst>
              </a:tr>
              <a:tr h="200694">
                <a:tc>
                  <a:txBody>
                    <a:bodyPr/>
                    <a:lstStyle/>
                    <a:p>
                      <a:pPr algn="l">
                        <a:buNone/>
                      </a:pPr>
                      <a:r>
                        <a:rPr lang="en-US" sz="1600">
                          <a:solidFill>
                            <a:schemeClr val="bg1"/>
                          </a:solidFill>
                        </a:rPr>
                        <a:t>FDD </a:t>
                      </a:r>
                      <a:r>
                        <a:rPr lang="zh-CN" altLang="en-US" sz="1600">
                          <a:solidFill>
                            <a:schemeClr val="bg1"/>
                          </a:solidFill>
                        </a:rPr>
                        <a:t>特性驱动</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功能特性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按特性交付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较正式 </a:t>
                      </a:r>
                      <a:r>
                        <a:rPr lang="en-US" altLang="zh-CN" sz="1600">
                          <a:solidFill>
                            <a:schemeClr val="bg1"/>
                          </a:solidFill>
                        </a:rPr>
                        <a:t>(</a:t>
                      </a:r>
                      <a:r>
                        <a:rPr lang="zh-CN" altLang="en-US" sz="1600">
                          <a:solidFill>
                            <a:schemeClr val="bg1"/>
                          </a:solidFill>
                        </a:rPr>
                        <a:t>首席程序员等</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大型项目，需明确进度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6809000"/>
                  </a:ext>
                </a:extLst>
              </a:tr>
              <a:tr h="200694">
                <a:tc>
                  <a:txBody>
                    <a:bodyPr/>
                    <a:lstStyle/>
                    <a:p>
                      <a:pPr algn="l">
                        <a:buNone/>
                      </a:pPr>
                      <a:r>
                        <a:rPr lang="en-US" sz="1600">
                          <a:solidFill>
                            <a:schemeClr val="bg1"/>
                          </a:solidFill>
                        </a:rPr>
                        <a:t>Crystal </a:t>
                      </a:r>
                      <a:r>
                        <a:rPr lang="zh-CN" altLang="en-US" sz="1600">
                          <a:solidFill>
                            <a:schemeClr val="bg1"/>
                          </a:solidFill>
                        </a:rPr>
                        <a:t>水晶</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人与沟通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强调团队协作的文化建设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003630"/>
                  </a:ext>
                </a:extLst>
              </a:tr>
            </a:tbl>
          </a:graphicData>
        </a:graphic>
      </p:graphicFrame>
    </p:spTree>
    <p:extLst>
      <p:ext uri="{BB962C8B-B14F-4D97-AF65-F5344CB8AC3E}">
        <p14:creationId xmlns:p14="http://schemas.microsoft.com/office/powerpoint/2010/main" val="23328263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p:txBody>
          <a:bodyPr>
            <a:normAutofit/>
          </a:bodyPr>
          <a:lstStyle/>
          <a:p>
            <a:r>
              <a:rPr lang="en-US" altLang="zh-CN"/>
              <a:t>2.5.4.1 Scrum</a:t>
            </a:r>
            <a:endParaRPr lang="zh-CN" altLang="en-US"/>
          </a:p>
        </p:txBody>
      </p:sp>
      <p:sp>
        <p:nvSpPr>
          <p:cNvPr id="3" name="内容占位符 2">
            <a:extLst>
              <a:ext uri="{FF2B5EF4-FFF2-40B4-BE49-F238E27FC236}">
                <a16:creationId xmlns:a16="http://schemas.microsoft.com/office/drawing/2014/main" id="{15780787-8DE9-A954-129B-C9315F9232A7}"/>
              </a:ext>
            </a:extLst>
          </p:cNvPr>
          <p:cNvSpPr>
            <a:spLocks noGrp="1"/>
          </p:cNvSpPr>
          <p:nvPr>
            <p:ph sz="quarter" idx="10"/>
          </p:nvPr>
        </p:nvSpPr>
        <p:spPr/>
        <p:txBody>
          <a:bodyPr>
            <a:normAutofit fontScale="92500" lnSpcReduction="10000"/>
          </a:bodyPr>
          <a:lstStyle/>
          <a:p>
            <a:r>
              <a:rPr lang="zh-CN" altLang="en-US"/>
              <a:t>源于橄榄球比赛中的争球（</a:t>
            </a:r>
            <a:r>
              <a:rPr lang="en-US" altLang="zh-CN"/>
              <a:t>Scrum</a:t>
            </a:r>
            <a:r>
              <a:rPr lang="zh-CN" altLang="en-US"/>
              <a:t>）</a:t>
            </a:r>
            <a:endParaRPr lang="en-US" altLang="zh-CN"/>
          </a:p>
          <a:p>
            <a:r>
              <a:rPr lang="zh-CN" altLang="en-US"/>
              <a:t>在橄榄球中，争球是比赛暂停后重新开始的方式：双方前锋队员紧密围拢，低头抵肩，形成密集阵型，共同协作以争夺控球权</a:t>
            </a:r>
            <a:endParaRPr lang="en-US" altLang="zh-CN"/>
          </a:p>
          <a:p>
            <a:r>
              <a:rPr lang="en-US" altLang="zh-CN"/>
              <a:t>1986</a:t>
            </a:r>
            <a:r>
              <a:rPr lang="zh-CN" altLang="en-US"/>
              <a:t>年被哈佛大学教授竹内弘高和野中郁次郎引入管理学领域。在</a:t>
            </a:r>
            <a:r>
              <a:rPr lang="en-US" altLang="zh-CN"/>
              <a:t>《</a:t>
            </a:r>
            <a:r>
              <a:rPr lang="zh-CN" altLang="en-US"/>
              <a:t>哈佛商业评论</a:t>
            </a:r>
            <a:r>
              <a:rPr lang="en-US" altLang="zh-CN"/>
              <a:t>》</a:t>
            </a:r>
            <a:r>
              <a:rPr lang="zh-CN" altLang="en-US"/>
              <a:t>发表的</a:t>
            </a:r>
            <a:r>
              <a:rPr lang="en-US" altLang="zh-CN"/>
              <a:t>《</a:t>
            </a:r>
            <a:r>
              <a:rPr lang="zh-CN" altLang="en-US"/>
              <a:t>新新产品开发游戏</a:t>
            </a:r>
            <a:r>
              <a:rPr lang="en-US" altLang="zh-CN"/>
              <a:t>》</a:t>
            </a:r>
            <a:r>
              <a:rPr lang="zh-CN" altLang="en-US"/>
              <a:t>一文中，用来比喻高效团队的工作方式：团队作为一个整体，在明确的目标下紧密协作、灵活应变、共同前进</a:t>
            </a:r>
            <a:endParaRPr lang="en-US" altLang="zh-CN"/>
          </a:p>
          <a:p>
            <a:r>
              <a:rPr lang="zh-CN" altLang="en-US"/>
              <a:t>这一比喻随后被杰夫</a:t>
            </a:r>
            <a:r>
              <a:rPr lang="en-US" altLang="zh-CN"/>
              <a:t>·</a:t>
            </a:r>
            <a:r>
              <a:rPr lang="zh-CN" altLang="en-US"/>
              <a:t>萨瑟兰等人借鉴，并融合了迭代、增量开发等思想</a:t>
            </a:r>
            <a:endParaRPr lang="en-US" altLang="zh-CN"/>
          </a:p>
          <a:p>
            <a:r>
              <a:rPr lang="en-US" altLang="zh-CN"/>
              <a:t>1990s</a:t>
            </a:r>
            <a:r>
              <a:rPr lang="zh-CN" altLang="en-US"/>
              <a:t>，形成了现代的</a:t>
            </a:r>
            <a:r>
              <a:rPr lang="en-US" altLang="zh-CN"/>
              <a:t>Scrum</a:t>
            </a:r>
            <a:r>
              <a:rPr lang="zh-CN" altLang="en-US"/>
              <a:t>敏捷开发框架</a:t>
            </a:r>
            <a:endParaRPr lang="en-US" altLang="zh-CN"/>
          </a:p>
          <a:p>
            <a:r>
              <a:rPr lang="zh-CN" altLang="en-US"/>
              <a:t>其核心精神与橄榄球争球高度一致：强调团队的自组织、跨职能协作、快速响应变化，以及为了同一个目标而并肩努力</a:t>
            </a:r>
            <a:endParaRPr lang="en-US" altLang="zh-CN"/>
          </a:p>
          <a:p>
            <a:r>
              <a:rPr lang="en-US" altLang="zh-CN"/>
              <a:t>Scrum</a:t>
            </a:r>
            <a:r>
              <a:rPr lang="zh-CN" altLang="en-US"/>
              <a:t>一词不仅是一个名称，更形象地传达了其团队协作与敏捷的核心哲学</a:t>
            </a:r>
            <a:endParaRPr lang="en-US" altLang="zh-CN"/>
          </a:p>
          <a:p>
            <a:endParaRPr lang="en-US" altLang="zh-CN"/>
          </a:p>
        </p:txBody>
      </p:sp>
      <p:pic>
        <p:nvPicPr>
          <p:cNvPr id="5" name="内容占位符 4">
            <a:extLst>
              <a:ext uri="{FF2B5EF4-FFF2-40B4-BE49-F238E27FC236}">
                <a16:creationId xmlns:a16="http://schemas.microsoft.com/office/drawing/2014/main" id="{A53AA19A-1E08-47C0-D3FB-C68E81E3CF80}"/>
              </a:ext>
            </a:extLst>
          </p:cNvPr>
          <p:cNvPicPr>
            <a:picLocks noGrp="1" noChangeAspect="1"/>
          </p:cNvPicPr>
          <p:nvPr>
            <p:ph sz="quarter" idx="11"/>
          </p:nvPr>
        </p:nvPicPr>
        <p:blipFill>
          <a:blip r:embed="rId2"/>
          <a:stretch>
            <a:fillRect/>
          </a:stretch>
        </p:blipFill>
        <p:spPr>
          <a:xfrm>
            <a:off x="6096000" y="1762723"/>
            <a:ext cx="5400675" cy="3602428"/>
          </a:xfrm>
          <a:prstGeom prst="rect">
            <a:avLst/>
          </a:prstGeom>
        </p:spPr>
      </p:pic>
    </p:spTree>
    <p:extLst>
      <p:ext uri="{BB962C8B-B14F-4D97-AF65-F5344CB8AC3E}">
        <p14:creationId xmlns:p14="http://schemas.microsoft.com/office/powerpoint/2010/main" val="19865658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a:t>2.5.4.2 </a:t>
            </a:r>
            <a:r>
              <a:rPr lang="zh-CN" altLang="en-US"/>
              <a:t>看板</a:t>
            </a:r>
          </a:p>
        </p:txBody>
      </p:sp>
      <p:sp>
        <p:nvSpPr>
          <p:cNvPr id="34" name="内容占位符 33">
            <a:extLst>
              <a:ext uri="{FF2B5EF4-FFF2-40B4-BE49-F238E27FC236}">
                <a16:creationId xmlns:a16="http://schemas.microsoft.com/office/drawing/2014/main" id="{8CCC7851-6551-32B3-A2B6-229FFE352F72}"/>
              </a:ext>
            </a:extLst>
          </p:cNvPr>
          <p:cNvSpPr>
            <a:spLocks noGrp="1"/>
          </p:cNvSpPr>
          <p:nvPr>
            <p:ph idx="1"/>
          </p:nvPr>
        </p:nvSpPr>
        <p:spPr>
          <a:xfrm>
            <a:off x="696000" y="864000"/>
            <a:ext cx="10800000" cy="5400000"/>
          </a:xfrm>
        </p:spPr>
        <p:txBody>
          <a:bodyPr/>
          <a:lstStyle/>
          <a:p>
            <a:r>
              <a:rPr lang="zh-CN" altLang="en-US"/>
              <a:t>看板是日语中的一个词</a:t>
            </a:r>
            <a:endParaRPr lang="en-US" altLang="zh-CN"/>
          </a:p>
          <a:p>
            <a:r>
              <a:rPr lang="en-US" altLang="zh-CN"/>
              <a:t>1940s</a:t>
            </a:r>
            <a:r>
              <a:rPr lang="zh-CN" altLang="en-US"/>
              <a:t>，日本丰田汽车公司提出</a:t>
            </a:r>
            <a:endParaRPr lang="en-US" altLang="zh-CN"/>
          </a:p>
          <a:p>
            <a:pPr lvl="1"/>
            <a:r>
              <a:rPr lang="zh-CN" altLang="en-US"/>
              <a:t>为了</a:t>
            </a:r>
            <a:r>
              <a:rPr lang="zh-CN" altLang="en-US">
                <a:solidFill>
                  <a:srgbClr val="FFFF00"/>
                </a:solidFill>
              </a:rPr>
              <a:t>管理制造过程</a:t>
            </a:r>
            <a:r>
              <a:rPr lang="zh-CN" altLang="en-US"/>
              <a:t>而发明</a:t>
            </a:r>
            <a:endParaRPr lang="en-US" altLang="zh-CN"/>
          </a:p>
          <a:p>
            <a:pPr lvl="1"/>
            <a:r>
              <a:rPr lang="zh-CN" altLang="en-US"/>
              <a:t>包含完成产品所需所有信息的卡片，记录了产品从开始到完成的每个阶段</a:t>
            </a:r>
            <a:endParaRPr lang="en-US" altLang="zh-CN"/>
          </a:p>
          <a:p>
            <a:r>
              <a:rPr lang="zh-CN" altLang="en-US"/>
              <a:t>这个框架或方法在软件测试中广泛应用，尤其是在敏捷方法中</a:t>
            </a:r>
            <a:endParaRPr lang="en-US" altLang="zh-CN"/>
          </a:p>
          <a:p>
            <a:r>
              <a:rPr lang="zh-CN" altLang="en-US"/>
              <a:t>强调持续改进和工作流程开放性的视觉项目管理模型</a:t>
            </a:r>
            <a:endParaRPr lang="en-US" altLang="zh-CN"/>
          </a:p>
          <a:p>
            <a:r>
              <a:rPr lang="zh-CN" altLang="en-US"/>
              <a:t>在软件测试中，看板的主要作用是展示项目状态，以便清楚地了解待办事项中等待被选择的工作，正在进行的任务，以及已完成的工作</a:t>
            </a:r>
            <a:endParaRPr lang="en-US" altLang="zh-CN"/>
          </a:p>
          <a:p>
            <a:r>
              <a:rPr lang="zh-CN" altLang="en-US"/>
              <a:t>在软件测试中，看板有助于提高组织效率，保持项目流程的连贯性，并在整个过程中促进工作状态的透明度</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Kanban</a:t>
            </a:r>
            <a:endParaRPr lang="zh-CN" altLang="en-US"/>
          </a:p>
        </p:txBody>
      </p:sp>
    </p:spTree>
    <p:extLst>
      <p:ext uri="{BB962C8B-B14F-4D97-AF65-F5344CB8AC3E}">
        <p14:creationId xmlns:p14="http://schemas.microsoft.com/office/powerpoint/2010/main" val="36480128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A29F4C9C-CF35-6EFD-AFF1-8DEC2AC889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82881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61857524-F31B-2EF0-F825-5990D2AEA6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0150" y="0"/>
            <a:ext cx="97901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847012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idx="4294967295"/>
          </p:nvPr>
        </p:nvSpPr>
        <p:spPr>
          <a:xfrm>
            <a:off x="0" y="360363"/>
            <a:ext cx="6376988" cy="428625"/>
          </a:xfrm>
        </p:spPr>
        <p:txBody>
          <a:bodyPr/>
          <a:lstStyle/>
          <a:p>
            <a:r>
              <a:rPr lang="en-US" altLang="zh-CN"/>
              <a:t>2.5.4.2 </a:t>
            </a:r>
            <a:r>
              <a:rPr lang="zh-CN" altLang="en-US"/>
              <a:t>看板</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4294967295"/>
          </p:nvPr>
        </p:nvSpPr>
        <p:spPr>
          <a:xfrm>
            <a:off x="7767638" y="449263"/>
            <a:ext cx="4424362" cy="338137"/>
          </a:xfrm>
        </p:spPr>
        <p:txBody>
          <a:bodyPr>
            <a:normAutofit fontScale="92500" lnSpcReduction="20000"/>
          </a:bodyPr>
          <a:lstStyle/>
          <a:p>
            <a:r>
              <a:rPr lang="en-US" altLang="zh-CN"/>
              <a:t>Kanban</a:t>
            </a:r>
            <a:endParaRPr lang="zh-CN" altLang="en-US"/>
          </a:p>
        </p:txBody>
      </p:sp>
      <p:pic>
        <p:nvPicPr>
          <p:cNvPr id="1026" name="Picture 2">
            <a:extLst>
              <a:ext uri="{FF2B5EF4-FFF2-40B4-BE49-F238E27FC236}">
                <a16:creationId xmlns:a16="http://schemas.microsoft.com/office/drawing/2014/main" id="{687DB9E3-0665-6134-C070-DCDED6B9E7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07" t="1004" r="645" b="22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670304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表格 9">
            <a:extLst>
              <a:ext uri="{FF2B5EF4-FFF2-40B4-BE49-F238E27FC236}">
                <a16:creationId xmlns:a16="http://schemas.microsoft.com/office/drawing/2014/main" id="{CFDD572B-E7CA-D0EC-CE98-D4CCB68278A9}"/>
              </a:ext>
            </a:extLst>
          </p:cNvPr>
          <p:cNvGraphicFramePr>
            <a:graphicFrameLocks noGrp="1"/>
          </p:cNvGraphicFramePr>
          <p:nvPr>
            <p:extLst>
              <p:ext uri="{D42A27DB-BD31-4B8C-83A1-F6EECF244321}">
                <p14:modId xmlns:p14="http://schemas.microsoft.com/office/powerpoint/2010/main" val="991704868"/>
              </p:ext>
            </p:extLst>
          </p:nvPr>
        </p:nvGraphicFramePr>
        <p:xfrm>
          <a:off x="695325" y="846460"/>
          <a:ext cx="10800676" cy="5400675"/>
        </p:xfrm>
        <a:graphic>
          <a:graphicData uri="http://schemas.openxmlformats.org/drawingml/2006/table">
            <a:tbl>
              <a:tblPr/>
              <a:tblGrid>
                <a:gridCol w="2116701">
                  <a:extLst>
                    <a:ext uri="{9D8B030D-6E8A-4147-A177-3AD203B41FA5}">
                      <a16:colId xmlns:a16="http://schemas.microsoft.com/office/drawing/2014/main" val="587529516"/>
                    </a:ext>
                  </a:extLst>
                </a:gridCol>
                <a:gridCol w="2467897">
                  <a:extLst>
                    <a:ext uri="{9D8B030D-6E8A-4147-A177-3AD203B41FA5}">
                      <a16:colId xmlns:a16="http://schemas.microsoft.com/office/drawing/2014/main" val="1768948301"/>
                    </a:ext>
                  </a:extLst>
                </a:gridCol>
                <a:gridCol w="3108039">
                  <a:extLst>
                    <a:ext uri="{9D8B030D-6E8A-4147-A177-3AD203B41FA5}">
                      <a16:colId xmlns:a16="http://schemas.microsoft.com/office/drawing/2014/main" val="2241009426"/>
                    </a:ext>
                  </a:extLst>
                </a:gridCol>
                <a:gridCol w="3108039">
                  <a:extLst>
                    <a:ext uri="{9D8B030D-6E8A-4147-A177-3AD203B41FA5}">
                      <a16:colId xmlns:a16="http://schemas.microsoft.com/office/drawing/2014/main" val="2032985488"/>
                    </a:ext>
                  </a:extLst>
                </a:gridCol>
              </a:tblGrid>
              <a:tr h="342900">
                <a:tc>
                  <a:txBody>
                    <a:bodyPr/>
                    <a:lstStyle/>
                    <a:p>
                      <a:pPr>
                        <a:buNone/>
                      </a:pPr>
                      <a:r>
                        <a:rPr lang="en-US" altLang="zh-CN" sz="1600">
                          <a:solidFill>
                            <a:schemeClr val="bg1"/>
                          </a:solidFill>
                        </a:rPr>
                        <a:t>Column</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Icon</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Role</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161160263"/>
                  </a:ext>
                </a:extLst>
              </a:tr>
              <a:tr h="857250">
                <a:tc>
                  <a:txBody>
                    <a:bodyPr/>
                    <a:lstStyle/>
                    <a:p>
                      <a:pPr>
                        <a:buNone/>
                      </a:pPr>
                      <a:r>
                        <a:rPr lang="en-US" sz="1600">
                          <a:solidFill>
                            <a:schemeClr val="bg1"/>
                          </a:solidFill>
                        </a:rPr>
                        <a:t>To Do</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待办清单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尚未开始的工作项（如用户故事、</a:t>
                      </a:r>
                      <a:r>
                        <a:rPr lang="en-US" altLang="zh-CN" sz="1600">
                          <a:solidFill>
                            <a:schemeClr val="bg1"/>
                          </a:solidFill>
                        </a:rPr>
                        <a:t>Bug</a:t>
                      </a:r>
                      <a:r>
                        <a:rPr lang="zh-CN" altLang="en-US" sz="1600">
                          <a:solidFill>
                            <a:schemeClr val="bg1"/>
                          </a:solidFill>
                        </a:rPr>
                        <a:t>、技术债等）</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输入池，等待被拉取进入流程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22587138"/>
                  </a:ext>
                </a:extLst>
              </a:tr>
              <a:tr h="600075">
                <a:tc>
                  <a:txBody>
                    <a:bodyPr/>
                    <a:lstStyle/>
                    <a:p>
                      <a:pPr>
                        <a:buNone/>
                      </a:pPr>
                      <a:r>
                        <a:rPr lang="en-US" sz="1600">
                          <a:solidFill>
                            <a:schemeClr val="bg1"/>
                          </a:solidFill>
                        </a:rPr>
                        <a:t>Requirement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需求确认</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需求已明确、可执行（可能包含验收标准）</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“就绪”状态，确保下游不会因需求模糊而阻塞</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60544597"/>
                  </a:ext>
                </a:extLst>
              </a:tr>
              <a:tr h="600075">
                <a:tc>
                  <a:txBody>
                    <a:bodyPr/>
                    <a:lstStyle/>
                    <a:p>
                      <a:pPr>
                        <a:buNone/>
                      </a:pPr>
                      <a:r>
                        <a:rPr lang="en-US" sz="1600">
                          <a:solidFill>
                            <a:schemeClr val="bg1"/>
                          </a:solidFill>
                        </a:rPr>
                        <a:t>Design</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系统设计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架构</a:t>
                      </a:r>
                      <a:r>
                        <a:rPr lang="en-US" altLang="zh-CN" sz="1600">
                          <a:solidFill>
                            <a:schemeClr val="bg1"/>
                          </a:solidFill>
                        </a:rPr>
                        <a:t>/</a:t>
                      </a:r>
                      <a:r>
                        <a:rPr lang="zh-CN" altLang="en-US" sz="1600">
                          <a:solidFill>
                            <a:schemeClr val="bg1"/>
                          </a:solidFill>
                        </a:rPr>
                        <a:t>界面</a:t>
                      </a:r>
                      <a:r>
                        <a:rPr lang="en-US" altLang="zh-CN" sz="1600">
                          <a:solidFill>
                            <a:schemeClr val="bg1"/>
                          </a:solidFill>
                        </a:rPr>
                        <a:t>/</a:t>
                      </a:r>
                      <a:r>
                        <a:rPr lang="zh-CN" altLang="en-US" sz="1600">
                          <a:solidFill>
                            <a:schemeClr val="bg1"/>
                          </a:solidFill>
                        </a:rPr>
                        <a:t>接口设计完成</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防止开发中途返工，提升质量前置</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6723705"/>
                  </a:ext>
                </a:extLst>
              </a:tr>
              <a:tr h="600075">
                <a:tc>
                  <a:txBody>
                    <a:bodyPr/>
                    <a:lstStyle/>
                    <a:p>
                      <a:pPr>
                        <a:buNone/>
                      </a:pPr>
                      <a:r>
                        <a:rPr lang="en-US" sz="1600">
                          <a:solidFill>
                            <a:schemeClr val="bg1"/>
                          </a:solidFill>
                        </a:rPr>
                        <a:t>Development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编码实现</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正在编写代码、单元测试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核心价值创造环节，通常 </a:t>
                      </a:r>
                      <a:r>
                        <a:rPr lang="en-US" altLang="zh-CN" sz="1600">
                          <a:solidFill>
                            <a:schemeClr val="bg1"/>
                          </a:solidFill>
                        </a:rPr>
                        <a:t>WIP </a:t>
                      </a:r>
                      <a:r>
                        <a:rPr lang="zh-CN" altLang="en-US" sz="1600">
                          <a:solidFill>
                            <a:schemeClr val="bg1"/>
                          </a:solidFill>
                        </a:rPr>
                        <a:t>限制最严</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2223918"/>
                  </a:ext>
                </a:extLst>
              </a:tr>
              <a:tr h="600075">
                <a:tc>
                  <a:txBody>
                    <a:bodyPr/>
                    <a:lstStyle/>
                    <a:p>
                      <a:pPr>
                        <a:buNone/>
                      </a:pPr>
                      <a:r>
                        <a:rPr lang="en-US" sz="1600">
                          <a:solidFill>
                            <a:schemeClr val="bg1"/>
                          </a:solidFill>
                        </a:rPr>
                        <a:t>Testing</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测试验证</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a:solidFill>
                            <a:schemeClr val="bg1"/>
                          </a:solidFill>
                        </a:rPr>
                        <a:t>QA </a:t>
                      </a:r>
                      <a:r>
                        <a:rPr lang="zh-CN" altLang="en-US" sz="1600">
                          <a:solidFill>
                            <a:schemeClr val="bg1"/>
                          </a:solidFill>
                        </a:rPr>
                        <a:t>或自动化测试进行中</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质量保证关卡，防止缺陷流入生产</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1476921"/>
                  </a:ext>
                </a:extLst>
              </a:tr>
              <a:tr h="600075">
                <a:tc>
                  <a:txBody>
                    <a:bodyPr/>
                    <a:lstStyle/>
                    <a:p>
                      <a:pPr>
                        <a:buNone/>
                      </a:pPr>
                      <a:r>
                        <a:rPr lang="en-US" sz="1600">
                          <a:solidFill>
                            <a:schemeClr val="bg1"/>
                          </a:solidFill>
                        </a:rPr>
                        <a:t>Acceptance</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用户</a:t>
                      </a:r>
                      <a:r>
                        <a:rPr lang="en-US" altLang="zh-CN" sz="1600">
                          <a:solidFill>
                            <a:schemeClr val="bg1"/>
                          </a:solidFill>
                        </a:rPr>
                        <a:t>/</a:t>
                      </a:r>
                      <a:r>
                        <a:rPr lang="en-US" sz="1600">
                          <a:solidFill>
                            <a:schemeClr val="bg1"/>
                          </a:solidFill>
                        </a:rPr>
                        <a:t>PO </a:t>
                      </a:r>
                      <a:r>
                        <a:rPr lang="zh-CN" altLang="en-US" sz="1600">
                          <a:solidFill>
                            <a:schemeClr val="bg1"/>
                          </a:solidFill>
                        </a:rPr>
                        <a:t>验收</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产品负责人或客户确认功能符合预期</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最终业务价值确认，避免“做错了事”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6229138"/>
                  </a:ext>
                </a:extLst>
              </a:tr>
              <a:tr h="600075">
                <a:tc>
                  <a:txBody>
                    <a:bodyPr/>
                    <a:lstStyle/>
                    <a:p>
                      <a:pPr>
                        <a:buNone/>
                      </a:pPr>
                      <a:r>
                        <a:rPr lang="en-US" sz="1600">
                          <a:solidFill>
                            <a:schemeClr val="bg1"/>
                          </a:solidFill>
                        </a:rPr>
                        <a:t>Deployment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部署发布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自动或手动部署到预发</a:t>
                      </a:r>
                      <a:r>
                        <a:rPr lang="en-US" altLang="zh-CN" sz="1600">
                          <a:solidFill>
                            <a:schemeClr val="bg1"/>
                          </a:solidFill>
                        </a:rPr>
                        <a:t>/</a:t>
                      </a:r>
                      <a:r>
                        <a:rPr lang="zh-CN" altLang="en-US" sz="1600">
                          <a:solidFill>
                            <a:schemeClr val="bg1"/>
                          </a:solidFill>
                        </a:rPr>
                        <a:t>生产环境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技术就绪，准备对外服务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6921987"/>
                  </a:ext>
                </a:extLst>
              </a:tr>
              <a:tr h="600075">
                <a:tc>
                  <a:txBody>
                    <a:bodyPr/>
                    <a:lstStyle/>
                    <a:p>
                      <a:pPr>
                        <a:buNone/>
                      </a:pPr>
                      <a:r>
                        <a:rPr lang="en-US" sz="1600">
                          <a:solidFill>
                            <a:schemeClr val="bg1"/>
                          </a:solidFill>
                        </a:rPr>
                        <a:t>Launch</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正式上线</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功能对用户可见、产生实际价值</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价值交付终点，也是 </a:t>
                      </a:r>
                      <a:r>
                        <a:rPr lang="en-US" altLang="zh-CN" sz="1600">
                          <a:solidFill>
                            <a:schemeClr val="bg1"/>
                          </a:solidFill>
                        </a:rPr>
                        <a:t>Outcome </a:t>
                      </a:r>
                      <a:r>
                        <a:rPr lang="zh-CN" altLang="en-US" sz="1600">
                          <a:solidFill>
                            <a:schemeClr val="bg1"/>
                          </a:solidFill>
                        </a:rPr>
                        <a:t>的起点</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0472053"/>
                  </a:ext>
                </a:extLst>
              </a:tr>
            </a:tbl>
          </a:graphicData>
        </a:graphic>
      </p:graphicFrame>
    </p:spTree>
    <p:extLst>
      <p:ext uri="{BB962C8B-B14F-4D97-AF65-F5344CB8AC3E}">
        <p14:creationId xmlns:p14="http://schemas.microsoft.com/office/powerpoint/2010/main" val="3601414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96DE1-BC7B-F1FA-F610-29BF5CBE18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244F7D3-788B-E8A2-CE2D-C4BC20AC69D2}"/>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877CA60E-837E-D56A-3E66-3C538AFF7BE1}"/>
              </a:ext>
            </a:extLst>
          </p:cNvPr>
          <p:cNvSpPr>
            <a:spLocks noGrp="1"/>
          </p:cNvSpPr>
          <p:nvPr>
            <p:ph idx="1"/>
          </p:nvPr>
        </p:nvSpPr>
        <p:spPr>
          <a:xfrm>
            <a:off x="696000" y="864000"/>
            <a:ext cx="10800000" cy="5400000"/>
          </a:xfrm>
        </p:spPr>
        <p:txBody>
          <a:bodyPr>
            <a:normAutofit/>
          </a:bodyPr>
          <a:lstStyle/>
          <a:p>
            <a:r>
              <a:rPr lang="zh-CN" altLang="en-US">
                <a:hlinkClick r:id="rId3"/>
              </a:rPr>
              <a:t>极限编程 </a:t>
            </a:r>
            <a:r>
              <a:rPr lang="en-US" altLang="zh-CN">
                <a:hlinkClick r:id="rId3"/>
              </a:rPr>
              <a:t>XP</a:t>
            </a:r>
            <a:endParaRPr lang="en-US" altLang="zh-CN"/>
          </a:p>
          <a:p>
            <a:r>
              <a:rPr lang="zh-CN" altLang="en-US"/>
              <a:t>敏捷开发家族中最具体、最严格、最具工程实践性的方法论</a:t>
            </a:r>
            <a:endParaRPr lang="en-US" altLang="zh-CN"/>
          </a:p>
          <a:p>
            <a:r>
              <a:rPr lang="en-US" altLang="zh-CN"/>
              <a:t>1990s</a:t>
            </a:r>
            <a:r>
              <a:rPr lang="zh-CN" altLang="en-US"/>
              <a:t>，</a:t>
            </a:r>
            <a:r>
              <a:rPr lang="en-US" altLang="zh-CN"/>
              <a:t>Kent Beck</a:t>
            </a:r>
            <a:r>
              <a:rPr lang="zh-CN" altLang="en-US"/>
              <a:t>提出</a:t>
            </a:r>
            <a:endParaRPr lang="en-US" altLang="zh-CN"/>
          </a:p>
          <a:p>
            <a:pPr lvl="1"/>
            <a:r>
              <a:rPr lang="zh-CN" altLang="en-US"/>
              <a:t>把软件开发中所有</a:t>
            </a:r>
            <a:r>
              <a:rPr lang="zh-CN" altLang="en-US">
                <a:solidFill>
                  <a:srgbClr val="FFFF00"/>
                </a:solidFill>
              </a:rPr>
              <a:t>有益</a:t>
            </a:r>
            <a:r>
              <a:rPr lang="zh-CN" altLang="en-US"/>
              <a:t>的做法，都做到</a:t>
            </a:r>
            <a:r>
              <a:rPr lang="zh-CN" altLang="en-US">
                <a:solidFill>
                  <a:srgbClr val="FFFF00"/>
                </a:solidFill>
              </a:rPr>
              <a:t>极致</a:t>
            </a:r>
            <a:endParaRPr lang="en-US" altLang="zh-CN">
              <a:solidFill>
                <a:srgbClr val="FFFF00"/>
              </a:solidFill>
            </a:endParaRPr>
          </a:p>
          <a:p>
            <a:r>
              <a:rPr lang="zh-CN" altLang="en-US"/>
              <a:t>适用场景：需求不明确、变化极快、风险高、对</a:t>
            </a:r>
            <a:r>
              <a:rPr lang="zh-CN" altLang="en-US">
                <a:solidFill>
                  <a:srgbClr val="FFFF00"/>
                </a:solidFill>
              </a:rPr>
              <a:t>代码质量</a:t>
            </a:r>
            <a:r>
              <a:rPr lang="zh-CN" altLang="en-US"/>
              <a:t>要求高</a:t>
            </a:r>
            <a:endParaRPr lang="en-US" altLang="zh-CN"/>
          </a:p>
          <a:p>
            <a:endParaRPr lang="zh-CN" altLang="en-US"/>
          </a:p>
        </p:txBody>
      </p:sp>
      <p:sp>
        <p:nvSpPr>
          <p:cNvPr id="13" name="文本占位符 12">
            <a:extLst>
              <a:ext uri="{FF2B5EF4-FFF2-40B4-BE49-F238E27FC236}">
                <a16:creationId xmlns:a16="http://schemas.microsoft.com/office/drawing/2014/main" id="{AD5AE6BE-03AE-2A51-91AB-CD191D6C1777}"/>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30807908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B2999-11AA-7A78-ADA6-529959C387D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22E4A-6EEF-F4BE-8D7E-A2B3BFBEAF60}"/>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30EAD50D-D019-5A2A-1451-4FA129BB263D}"/>
              </a:ext>
            </a:extLst>
          </p:cNvPr>
          <p:cNvSpPr>
            <a:spLocks noGrp="1"/>
          </p:cNvSpPr>
          <p:nvPr>
            <p:ph idx="1"/>
          </p:nvPr>
        </p:nvSpPr>
        <p:spPr>
          <a:xfrm>
            <a:off x="696000" y="864000"/>
            <a:ext cx="10800000" cy="5400000"/>
          </a:xfrm>
        </p:spPr>
        <p:txBody>
          <a:bodyPr>
            <a:normAutofit/>
          </a:bodyPr>
          <a:lstStyle/>
          <a:p>
            <a:r>
              <a:rPr lang="en-US" altLang="zh-CN"/>
              <a:t>13</a:t>
            </a:r>
            <a:r>
              <a:rPr lang="zh-CN" altLang="en-US"/>
              <a:t>个敏捷实践</a:t>
            </a:r>
            <a:endParaRPr lang="en-US" altLang="zh-CN"/>
          </a:p>
          <a:p>
            <a:pPr lvl="1"/>
            <a:r>
              <a:rPr lang="zh-CN" altLang="en-US"/>
              <a:t>统一团队</a:t>
            </a:r>
            <a:endParaRPr lang="en-US" altLang="zh-CN"/>
          </a:p>
          <a:p>
            <a:pPr lvl="1"/>
            <a:r>
              <a:rPr lang="zh-CN" altLang="en-US"/>
              <a:t>策划游戏</a:t>
            </a:r>
            <a:endParaRPr lang="en-US" altLang="zh-CN"/>
          </a:p>
          <a:p>
            <a:pPr lvl="1"/>
            <a:r>
              <a:rPr lang="zh-CN" altLang="en-US"/>
              <a:t>小型发布</a:t>
            </a:r>
            <a:endParaRPr lang="en-US" altLang="zh-CN"/>
          </a:p>
          <a:p>
            <a:pPr lvl="1"/>
            <a:r>
              <a:rPr lang="zh-CN" altLang="en-US"/>
              <a:t>客户验收</a:t>
            </a:r>
            <a:endParaRPr lang="en-US" altLang="zh-CN"/>
          </a:p>
          <a:p>
            <a:pPr lvl="1"/>
            <a:r>
              <a:rPr lang="zh-CN" altLang="en-US"/>
              <a:t>代码集体所有</a:t>
            </a:r>
            <a:endParaRPr lang="en-US" altLang="zh-CN"/>
          </a:p>
          <a:p>
            <a:pPr lvl="1"/>
            <a:r>
              <a:rPr lang="zh-CN" altLang="en-US"/>
              <a:t>编码标准</a:t>
            </a:r>
            <a:endParaRPr lang="en-US" altLang="zh-CN"/>
          </a:p>
          <a:p>
            <a:pPr lvl="1"/>
            <a:r>
              <a:rPr lang="zh-CN" altLang="en-US"/>
              <a:t>恒定速率</a:t>
            </a:r>
            <a:endParaRPr lang="en-US" altLang="zh-CN"/>
          </a:p>
          <a:p>
            <a:pPr lvl="1"/>
            <a:r>
              <a:rPr lang="zh-CN" altLang="en-US"/>
              <a:t>系统隐喻</a:t>
            </a:r>
            <a:endParaRPr lang="en-US" altLang="zh-CN"/>
          </a:p>
          <a:p>
            <a:pPr lvl="1"/>
            <a:r>
              <a:rPr lang="zh-CN" altLang="en-US"/>
              <a:t>持续集成</a:t>
            </a:r>
            <a:endParaRPr lang="en-US" altLang="zh-CN"/>
          </a:p>
          <a:p>
            <a:pPr lvl="1"/>
            <a:r>
              <a:rPr lang="zh-CN" altLang="en-US"/>
              <a:t>简单设计</a:t>
            </a:r>
            <a:endParaRPr lang="en-US" altLang="zh-CN"/>
          </a:p>
          <a:p>
            <a:pPr lvl="1"/>
            <a:r>
              <a:rPr lang="zh-CN" altLang="en-US"/>
              <a:t>结对编程</a:t>
            </a:r>
            <a:endParaRPr lang="en-US" altLang="zh-CN"/>
          </a:p>
          <a:p>
            <a:pPr lvl="1"/>
            <a:r>
              <a:rPr lang="zh-CN" altLang="en-US"/>
              <a:t>测试驱动开发</a:t>
            </a:r>
            <a:endParaRPr lang="en-US" altLang="zh-CN"/>
          </a:p>
          <a:p>
            <a:pPr lvl="1"/>
            <a:r>
              <a:rPr lang="zh-CN" altLang="en-US"/>
              <a:t>重构</a:t>
            </a:r>
          </a:p>
        </p:txBody>
      </p:sp>
      <p:sp>
        <p:nvSpPr>
          <p:cNvPr id="13" name="文本占位符 12">
            <a:extLst>
              <a:ext uri="{FF2B5EF4-FFF2-40B4-BE49-F238E27FC236}">
                <a16:creationId xmlns:a16="http://schemas.microsoft.com/office/drawing/2014/main" id="{6ABB7630-2A3B-A181-E410-93FDBE65BB75}"/>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graphicFrame>
        <p:nvGraphicFramePr>
          <p:cNvPr id="5" name="图示 4">
            <a:extLst>
              <a:ext uri="{FF2B5EF4-FFF2-40B4-BE49-F238E27FC236}">
                <a16:creationId xmlns:a16="http://schemas.microsoft.com/office/drawing/2014/main" id="{07C4F0F0-0BBF-9C75-D490-70B7290B2C63}"/>
              </a:ext>
            </a:extLst>
          </p:cNvPr>
          <p:cNvGraphicFramePr>
            <a:graphicFrameLocks noChangeAspect="1"/>
          </p:cNvGraphicFramePr>
          <p:nvPr>
            <p:extLst>
              <p:ext uri="{D42A27DB-BD31-4B8C-83A1-F6EECF244321}">
                <p14:modId xmlns:p14="http://schemas.microsoft.com/office/powerpoint/2010/main" val="1797760372"/>
              </p:ext>
            </p:extLst>
          </p:nvPr>
        </p:nvGraphicFramePr>
        <p:xfrm>
          <a:off x="6230374" y="1803400"/>
          <a:ext cx="48768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936713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A87FD-E833-DC86-C1D8-23E7E040CA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196B22-A63F-0F30-2E83-3D3F4C63AB1B}"/>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73177BD5-7780-207C-EAF8-FE356E61252E}"/>
              </a:ext>
            </a:extLst>
          </p:cNvPr>
          <p:cNvSpPr>
            <a:spLocks noGrp="1"/>
          </p:cNvSpPr>
          <p:nvPr>
            <p:ph idx="1"/>
          </p:nvPr>
        </p:nvSpPr>
        <p:spPr>
          <a:xfrm>
            <a:off x="696000" y="864000"/>
            <a:ext cx="10800000" cy="5400000"/>
          </a:xfrm>
        </p:spPr>
        <p:txBody>
          <a:bodyPr>
            <a:normAutofit/>
          </a:bodyPr>
          <a:lstStyle/>
          <a:p>
            <a:r>
              <a:rPr lang="en-US" altLang="zh-CN"/>
              <a:t>4</a:t>
            </a:r>
            <a:r>
              <a:rPr lang="zh-CN" altLang="en-US"/>
              <a:t>大价值观 </a:t>
            </a:r>
            <a:r>
              <a:rPr lang="en-US" altLang="zh-CN"/>
              <a:t>Values</a:t>
            </a:r>
          </a:p>
          <a:p>
            <a:pPr lvl="1"/>
            <a:r>
              <a:rPr lang="zh-CN" altLang="en-US"/>
              <a:t>沟通 </a:t>
            </a:r>
            <a:r>
              <a:rPr lang="en-US" altLang="zh-CN"/>
              <a:t>Communication</a:t>
            </a:r>
            <a:r>
              <a:rPr lang="zh-CN" altLang="en-US"/>
              <a:t>：面对面交流胜过文档。程序员必须结对，必须和客户坐在一起</a:t>
            </a:r>
          </a:p>
          <a:p>
            <a:pPr lvl="1"/>
            <a:r>
              <a:rPr lang="zh-CN" altLang="en-US"/>
              <a:t>简单 </a:t>
            </a:r>
            <a:r>
              <a:rPr lang="en-US" altLang="zh-CN"/>
              <a:t>Simplicity</a:t>
            </a:r>
            <a:r>
              <a:rPr lang="zh-CN" altLang="en-US"/>
              <a:t>：只做当前需要做的事；不要过度设计，不要为未来可能的需求写代码</a:t>
            </a:r>
          </a:p>
          <a:p>
            <a:pPr lvl="1"/>
            <a:r>
              <a:rPr lang="zh-CN" altLang="en-US"/>
              <a:t>反馈 </a:t>
            </a:r>
            <a:r>
              <a:rPr lang="en-US" altLang="zh-CN"/>
              <a:t>Feedback</a:t>
            </a:r>
            <a:r>
              <a:rPr lang="zh-CN" altLang="en-US"/>
              <a:t>：快速获得反馈。通过单元测试、持续集成、短迭代，立刻知道代码有没有错</a:t>
            </a:r>
          </a:p>
          <a:p>
            <a:pPr lvl="1"/>
            <a:r>
              <a:rPr lang="zh-CN" altLang="en-US"/>
              <a:t>勇气 </a:t>
            </a:r>
            <a:r>
              <a:rPr lang="en-US" altLang="zh-CN"/>
              <a:t>Courage</a:t>
            </a:r>
            <a:r>
              <a:rPr lang="zh-CN" altLang="en-US"/>
              <a:t>：敢于重构代码，敢于说“不”，敢于在发现错误时立刻停下来修复，而不是掩盖</a:t>
            </a:r>
          </a:p>
          <a:p>
            <a:pPr lvl="1"/>
            <a:r>
              <a:rPr lang="zh-CN" altLang="en-US"/>
              <a:t>尊重 </a:t>
            </a:r>
            <a:r>
              <a:rPr lang="en-US" altLang="zh-CN"/>
              <a:t>Respect</a:t>
            </a:r>
            <a:r>
              <a:rPr lang="zh-CN" altLang="en-US"/>
              <a:t>：</a:t>
            </a:r>
            <a:r>
              <a:rPr lang="en-US" altLang="zh-CN"/>
              <a:t>+</a:t>
            </a:r>
            <a:endParaRPr lang="zh-CN" altLang="en-US"/>
          </a:p>
          <a:p>
            <a:endParaRPr lang="zh-CN" altLang="en-US"/>
          </a:p>
          <a:p>
            <a:endParaRPr lang="zh-CN" altLang="en-US"/>
          </a:p>
        </p:txBody>
      </p:sp>
      <p:sp>
        <p:nvSpPr>
          <p:cNvPr id="13" name="文本占位符 12">
            <a:extLst>
              <a:ext uri="{FF2B5EF4-FFF2-40B4-BE49-F238E27FC236}">
                <a16:creationId xmlns:a16="http://schemas.microsoft.com/office/drawing/2014/main" id="{729F4895-29A0-28DF-229B-7EF0D6133D60}"/>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134719895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16" name="内容占位符 15">
            <a:extLst>
              <a:ext uri="{FF2B5EF4-FFF2-40B4-BE49-F238E27FC236}">
                <a16:creationId xmlns:a16="http://schemas.microsoft.com/office/drawing/2014/main" id="{6703D578-D0A4-D93C-BC47-7EAB869B49D4}"/>
              </a:ext>
            </a:extLst>
          </p:cNvPr>
          <p:cNvSpPr>
            <a:spLocks noGrp="1"/>
          </p:cNvSpPr>
          <p:nvPr>
            <p:ph idx="1"/>
          </p:nvPr>
        </p:nvSpPr>
        <p:spPr>
          <a:xfrm>
            <a:off x="696000" y="864000"/>
            <a:ext cx="10800000" cy="5400000"/>
          </a:xfrm>
        </p:spPr>
        <p:txBody>
          <a:bodyPr>
            <a:normAutofit/>
          </a:bodyPr>
          <a:lstStyle/>
          <a:p>
            <a:r>
              <a:rPr lang="en-US" altLang="zh-CN"/>
              <a:t>FDD</a:t>
            </a:r>
          </a:p>
          <a:p>
            <a:r>
              <a:rPr lang="en-US" altLang="zh-CN"/>
              <a:t>1990s</a:t>
            </a:r>
            <a:r>
              <a:rPr lang="zh-CN" altLang="en-US"/>
              <a:t>，</a:t>
            </a:r>
            <a:r>
              <a:rPr lang="en-US" altLang="zh-CN"/>
              <a:t>Jeff De Luca</a:t>
            </a:r>
            <a:r>
              <a:rPr lang="zh-CN" altLang="en-US"/>
              <a:t> 和 </a:t>
            </a:r>
            <a:r>
              <a:rPr lang="en-US" altLang="zh-CN"/>
              <a:t>Peter Coad</a:t>
            </a:r>
            <a:r>
              <a:rPr lang="zh-CN" altLang="en-US"/>
              <a:t> 提出</a:t>
            </a:r>
            <a:endParaRPr lang="en-US" altLang="zh-CN"/>
          </a:p>
          <a:p>
            <a:pPr lvl="1"/>
            <a:r>
              <a:rPr lang="zh-CN" altLang="en-US"/>
              <a:t>最初是为了解决大型银行系统（如新加坡大华银行）开发中遇到的复杂性和延期问题</a:t>
            </a:r>
            <a:endParaRPr lang="en-US" altLang="zh-CN"/>
          </a:p>
          <a:p>
            <a:r>
              <a:rPr lang="zh-CN" altLang="en-US"/>
              <a:t>主要目标是向客户提供及时更新且功能完善的软件</a:t>
            </a:r>
            <a:endParaRPr lang="en-US" altLang="zh-CN"/>
          </a:p>
          <a:p>
            <a:r>
              <a:rPr lang="zh-CN" altLang="en-US"/>
              <a:t>在</a:t>
            </a:r>
            <a:r>
              <a:rPr lang="en-US" altLang="zh-CN"/>
              <a:t>FDD</a:t>
            </a:r>
            <a:r>
              <a:rPr lang="zh-CN" altLang="en-US"/>
              <a:t>的所有级别，都需要进行报告和进度跟踪</a:t>
            </a:r>
            <a:endParaRPr lang="en-US" altLang="zh-CN"/>
          </a:p>
          <a:p>
            <a:r>
              <a:rPr lang="zh-CN" altLang="en-US"/>
              <a:t>设计和构建功能是此方法的核心</a:t>
            </a:r>
            <a:endParaRPr lang="en-US" altLang="zh-CN"/>
          </a:p>
          <a:p>
            <a:r>
              <a:rPr lang="en-US" altLang="zh-CN"/>
              <a:t>FDD</a:t>
            </a:r>
            <a:r>
              <a:rPr lang="zh-CN" altLang="en-US"/>
              <a:t>的生命周期：</a:t>
            </a:r>
          </a:p>
          <a:p>
            <a:pPr lvl="1"/>
            <a:r>
              <a:rPr lang="zh-CN" altLang="en-US"/>
              <a:t>构建整个模型 </a:t>
            </a:r>
            <a:r>
              <a:rPr lang="en-US" altLang="zh-CN"/>
              <a:t>- First of all entire model is built</a:t>
            </a:r>
          </a:p>
          <a:p>
            <a:pPr lvl="1"/>
            <a:r>
              <a:rPr lang="zh-CN" altLang="en-US"/>
              <a:t>模型完成后，准备特征列表 </a:t>
            </a:r>
            <a:r>
              <a:rPr lang="en-US" altLang="zh-CN"/>
              <a:t>- After the model is done, the feature list is prepared</a:t>
            </a:r>
          </a:p>
          <a:p>
            <a:pPr lvl="1"/>
            <a:r>
              <a:rPr lang="zh-CN" altLang="en-US"/>
              <a:t>然后根据功能制定计划 </a:t>
            </a:r>
            <a:r>
              <a:rPr lang="en-US" altLang="zh-CN"/>
              <a:t>- Then plan according to feature</a:t>
            </a:r>
          </a:p>
          <a:p>
            <a:pPr lvl="1"/>
            <a:r>
              <a:rPr lang="zh-CN" altLang="en-US"/>
              <a:t>根据特性设计 </a:t>
            </a:r>
            <a:r>
              <a:rPr lang="en-US" altLang="zh-CN"/>
              <a:t>- Design according to feature </a:t>
            </a:r>
          </a:p>
          <a:p>
            <a:pPr lvl="1"/>
            <a:r>
              <a:rPr lang="zh-CN" altLang="en-US"/>
              <a:t>最后根据功能构建 </a:t>
            </a:r>
            <a:r>
              <a:rPr lang="en-US" altLang="zh-CN"/>
              <a:t>- At last build according to feature</a:t>
            </a:r>
            <a:endParaRPr lang="zh-CN" altLang="en-US"/>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Tree>
    <p:extLst>
      <p:ext uri="{BB962C8B-B14F-4D97-AF65-F5344CB8AC3E}">
        <p14:creationId xmlns:p14="http://schemas.microsoft.com/office/powerpoint/2010/main" val="6494696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solidFill>
                  <a:srgbClr val="FFFF00"/>
                </a:solidFill>
              </a:rPr>
              <a:t>特性</a:t>
            </a:r>
            <a:r>
              <a:rPr lang="zh-CN" altLang="en-US"/>
              <a:t>不是模糊的需求，而是一个小的、客户可见的、有价值的功能单元</a:t>
            </a:r>
            <a:endParaRPr lang="en-US" altLang="zh-CN"/>
          </a:p>
          <a:p>
            <a:r>
              <a:rPr lang="zh-CN" altLang="en-US"/>
              <a:t>不是“模块”，不是任务，更不是技术实现，而是</a:t>
            </a:r>
            <a:r>
              <a:rPr lang="zh-CN" altLang="en-US" b="1"/>
              <a:t>业务价值的最小交付切片</a:t>
            </a:r>
            <a:endParaRPr lang="en-US" altLang="zh-CN"/>
          </a:p>
          <a:p>
            <a:r>
              <a:rPr lang="zh-CN" altLang="en-US"/>
              <a:t>有一个严格的定义格式</a:t>
            </a:r>
            <a:endParaRPr lang="en-US" altLang="zh-CN"/>
          </a:p>
          <a:p>
            <a:pPr lvl="1"/>
            <a:r>
              <a:rPr lang="zh-CN" altLang="en-US"/>
              <a:t>动作 </a:t>
            </a:r>
            <a:r>
              <a:rPr lang="en-US" altLang="zh-CN"/>
              <a:t>Verb</a:t>
            </a:r>
            <a:r>
              <a:rPr lang="zh-CN" altLang="en-US"/>
              <a:t>：描述系统要执行的操作（如：计算、验证、生成、记录）。</a:t>
            </a:r>
          </a:p>
          <a:p>
            <a:pPr lvl="1"/>
            <a:r>
              <a:rPr lang="zh-CN" altLang="en-US"/>
              <a:t>结果 </a:t>
            </a:r>
            <a:r>
              <a:rPr lang="en-US" altLang="zh-CN"/>
              <a:t>Result</a:t>
            </a:r>
            <a:r>
              <a:rPr lang="zh-CN" altLang="en-US"/>
              <a:t>：描述操作产生的具体产出或状态变化。</a:t>
            </a:r>
          </a:p>
          <a:p>
            <a:pPr lvl="1"/>
            <a:r>
              <a:rPr lang="zh-CN" altLang="en-US"/>
              <a:t>对象 </a:t>
            </a:r>
            <a:r>
              <a:rPr lang="en-US" altLang="zh-CN"/>
              <a:t>Object</a:t>
            </a:r>
            <a:r>
              <a:rPr lang="zh-CN" altLang="en-US"/>
              <a:t>：描述操作针对的具体业务实体（如：订单、用户、报告）。</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
        <p:nvSpPr>
          <p:cNvPr id="20" name="文本框 19">
            <a:extLst>
              <a:ext uri="{FF2B5EF4-FFF2-40B4-BE49-F238E27FC236}">
                <a16:creationId xmlns:a16="http://schemas.microsoft.com/office/drawing/2014/main" id="{B2B7C918-1BAC-7596-1926-BBB7388920BE}"/>
              </a:ext>
            </a:extLst>
          </p:cNvPr>
          <p:cNvSpPr txBox="1"/>
          <p:nvPr/>
        </p:nvSpPr>
        <p:spPr>
          <a:xfrm>
            <a:off x="4214716" y="3433747"/>
            <a:ext cx="3762568" cy="830997"/>
          </a:xfrm>
          <a:prstGeom prst="rect">
            <a:avLst/>
          </a:prstGeom>
          <a:noFill/>
        </p:spPr>
        <p:txBody>
          <a:bodyPr wrap="none" rtlCol="0">
            <a:spAutoFit/>
          </a:bodyPr>
          <a:lstStyle/>
          <a:p>
            <a:pPr algn="ctr"/>
            <a:r>
              <a:rPr lang="en-US" altLang="zh-CN" sz="2400">
                <a:solidFill>
                  <a:srgbClr val="FFFF00"/>
                </a:solidFill>
              </a:rPr>
              <a:t>&lt;</a:t>
            </a:r>
            <a:r>
              <a:rPr lang="zh-CN" altLang="en-US" sz="2400">
                <a:solidFill>
                  <a:srgbClr val="FFFF00"/>
                </a:solidFill>
              </a:rPr>
              <a:t>动作</a:t>
            </a:r>
            <a:r>
              <a:rPr lang="en-US" altLang="zh-CN" sz="2400">
                <a:solidFill>
                  <a:srgbClr val="FFFF00"/>
                </a:solidFill>
              </a:rPr>
              <a:t>&gt; + &lt;</a:t>
            </a:r>
            <a:r>
              <a:rPr lang="zh-CN" altLang="en-US" sz="2400">
                <a:solidFill>
                  <a:srgbClr val="FFFF00"/>
                </a:solidFill>
              </a:rPr>
              <a:t>结果</a:t>
            </a:r>
            <a:r>
              <a:rPr lang="en-US" altLang="zh-CN" sz="2400">
                <a:solidFill>
                  <a:srgbClr val="FFFF00"/>
                </a:solidFill>
              </a:rPr>
              <a:t>&gt; + &lt;</a:t>
            </a:r>
            <a:r>
              <a:rPr lang="zh-CN" altLang="en-US" sz="2400">
                <a:solidFill>
                  <a:srgbClr val="FFFF00"/>
                </a:solidFill>
              </a:rPr>
              <a:t>对象</a:t>
            </a:r>
            <a:r>
              <a:rPr lang="en-US" altLang="zh-CN" sz="2400">
                <a:solidFill>
                  <a:srgbClr val="FFFF00"/>
                </a:solidFill>
              </a:rPr>
              <a:t>&gt;</a:t>
            </a:r>
            <a:br>
              <a:rPr lang="zh-CN" altLang="en-US" sz="2400">
                <a:solidFill>
                  <a:srgbClr val="FFFF00"/>
                </a:solidFill>
              </a:rPr>
            </a:br>
            <a:r>
              <a:rPr lang="en-US" altLang="zh-CN" sz="2400">
                <a:solidFill>
                  <a:srgbClr val="FFFF00"/>
                </a:solidFill>
              </a:rPr>
              <a:t>(Verb-Result-Object)</a:t>
            </a:r>
            <a:endParaRPr lang="zh-CN" altLang="en-US" sz="2400">
              <a:solidFill>
                <a:srgbClr val="FFFF00"/>
              </a:solidFill>
            </a:endParaRPr>
          </a:p>
        </p:txBody>
      </p:sp>
    </p:spTree>
    <p:extLst>
      <p:ext uri="{BB962C8B-B14F-4D97-AF65-F5344CB8AC3E}">
        <p14:creationId xmlns:p14="http://schemas.microsoft.com/office/powerpoint/2010/main" val="16640339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银行系统的“登录”功能</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graphicFrame>
        <p:nvGraphicFramePr>
          <p:cNvPr id="2" name="表格 1">
            <a:extLst>
              <a:ext uri="{FF2B5EF4-FFF2-40B4-BE49-F238E27FC236}">
                <a16:creationId xmlns:a16="http://schemas.microsoft.com/office/drawing/2014/main" id="{9F2D9E60-EAAE-B08C-BE3C-1EC3098425F3}"/>
              </a:ext>
            </a:extLst>
          </p:cNvPr>
          <p:cNvGraphicFramePr>
            <a:graphicFrameLocks noGrp="1"/>
          </p:cNvGraphicFramePr>
          <p:nvPr>
            <p:extLst>
              <p:ext uri="{D42A27DB-BD31-4B8C-83A1-F6EECF244321}">
                <p14:modId xmlns:p14="http://schemas.microsoft.com/office/powerpoint/2010/main" val="4101219854"/>
              </p:ext>
            </p:extLst>
          </p:nvPr>
        </p:nvGraphicFramePr>
        <p:xfrm>
          <a:off x="695325" y="2423160"/>
          <a:ext cx="10801350" cy="2011680"/>
        </p:xfrm>
        <a:graphic>
          <a:graphicData uri="http://schemas.openxmlformats.org/drawingml/2006/table">
            <a:tbl>
              <a:tblPr/>
              <a:tblGrid>
                <a:gridCol w="2077372">
                  <a:extLst>
                    <a:ext uri="{9D8B030D-6E8A-4147-A177-3AD203B41FA5}">
                      <a16:colId xmlns:a16="http://schemas.microsoft.com/office/drawing/2014/main" val="4286079812"/>
                    </a:ext>
                  </a:extLst>
                </a:gridCol>
                <a:gridCol w="5604387">
                  <a:extLst>
                    <a:ext uri="{9D8B030D-6E8A-4147-A177-3AD203B41FA5}">
                      <a16:colId xmlns:a16="http://schemas.microsoft.com/office/drawing/2014/main" val="3319651944"/>
                    </a:ext>
                  </a:extLst>
                </a:gridCol>
                <a:gridCol w="3119591">
                  <a:extLst>
                    <a:ext uri="{9D8B030D-6E8A-4147-A177-3AD203B41FA5}">
                      <a16:colId xmlns:a16="http://schemas.microsoft.com/office/drawing/2014/main" val="87422268"/>
                    </a:ext>
                  </a:extLst>
                </a:gridCol>
              </a:tblGrid>
              <a:tr h="0">
                <a:tc>
                  <a:txBody>
                    <a:bodyPr/>
                    <a:lstStyle/>
                    <a:p>
                      <a:pPr algn="l">
                        <a:buNone/>
                      </a:pPr>
                      <a:r>
                        <a:rPr lang="zh-CN" altLang="en-US" sz="1600">
                          <a:solidFill>
                            <a:schemeClr val="bg1"/>
                          </a:solidFill>
                        </a:rPr>
                        <a:t>类型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评价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598881430"/>
                  </a:ext>
                </a:extLst>
              </a:tr>
              <a:tr h="0">
                <a:tc>
                  <a:txBody>
                    <a:bodyPr/>
                    <a:lstStyle/>
                    <a:p>
                      <a:pPr algn="l">
                        <a:buNone/>
                      </a:pPr>
                      <a:r>
                        <a:rPr lang="zh-CN" altLang="en-US" sz="1600">
                          <a:solidFill>
                            <a:schemeClr val="bg1"/>
                          </a:solidFill>
                        </a:rPr>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用户认证系统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太大，像是一个子系统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5839901"/>
                  </a:ext>
                </a:extLst>
              </a:tr>
              <a:tr h="0">
                <a:tc>
                  <a:txBody>
                    <a:bodyPr/>
                    <a:lstStyle/>
                    <a:p>
                      <a:pPr algn="l">
                        <a:buNone/>
                      </a:pPr>
                      <a:r>
                        <a:rPr lang="zh-CN" altLang="en-US" sz="1600">
                          <a:solidFill>
                            <a:schemeClr val="bg1"/>
                          </a:solidFill>
                        </a:rPr>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编写登录界面的 </a:t>
                      </a:r>
                      <a:r>
                        <a:rPr lang="en-US" altLang="zh-CN" sz="1600">
                          <a:solidFill>
                            <a:schemeClr val="bg1"/>
                          </a:solidFill>
                        </a:rPr>
                        <a:t>HTML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技术任务，不是业务特性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2372035"/>
                  </a:ext>
                </a:extLst>
              </a:tr>
              <a:tr h="0">
                <a:tc>
                  <a:txBody>
                    <a:bodyPr/>
                    <a:lstStyle/>
                    <a:p>
                      <a:pPr algn="l">
                        <a:buNone/>
                      </a:pPr>
                      <a:r>
                        <a:rPr lang="zh-CN" altLang="en-US" sz="1600">
                          <a:solidFill>
                            <a:schemeClr val="bg1"/>
                          </a:solidFill>
                        </a:rPr>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验证 </a:t>
                      </a:r>
                      <a:r>
                        <a:rPr lang="en-US" altLang="zh-CN" sz="1600">
                          <a:solidFill>
                            <a:schemeClr val="bg1"/>
                          </a:solidFill>
                        </a:rPr>
                        <a:t>(</a:t>
                      </a:r>
                      <a:r>
                        <a:rPr lang="zh-CN" altLang="en-US" sz="1600">
                          <a:solidFill>
                            <a:schemeClr val="bg1"/>
                          </a:solidFill>
                        </a:rPr>
                        <a:t>动作</a:t>
                      </a:r>
                      <a:r>
                        <a:rPr lang="en-US" altLang="zh-CN" sz="1600">
                          <a:solidFill>
                            <a:schemeClr val="bg1"/>
                          </a:solidFill>
                        </a:rPr>
                        <a:t>) </a:t>
                      </a:r>
                      <a:r>
                        <a:rPr lang="zh-CN" altLang="en-US" sz="1600">
                          <a:solidFill>
                            <a:schemeClr val="bg1"/>
                          </a:solidFill>
                        </a:rPr>
                        <a:t>用户输入的密码 </a:t>
                      </a:r>
                      <a:r>
                        <a:rPr lang="en-US" altLang="zh-CN" sz="1600">
                          <a:solidFill>
                            <a:schemeClr val="bg1"/>
                          </a:solidFill>
                        </a:rPr>
                        <a:t>(</a:t>
                      </a:r>
                      <a:r>
                        <a:rPr lang="zh-CN" altLang="en-US" sz="1600">
                          <a:solidFill>
                            <a:schemeClr val="bg1"/>
                          </a:solidFill>
                        </a:rPr>
                        <a:t>结果</a:t>
                      </a:r>
                      <a:r>
                        <a:rPr lang="en-US" altLang="zh-CN" sz="1600">
                          <a:solidFill>
                            <a:schemeClr val="bg1"/>
                          </a:solidFill>
                        </a:rPr>
                        <a:t>/</a:t>
                      </a:r>
                      <a:r>
                        <a:rPr lang="zh-CN" altLang="en-US" sz="1600">
                          <a:solidFill>
                            <a:schemeClr val="bg1"/>
                          </a:solidFill>
                        </a:rPr>
                        <a:t>对象</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符合格式，可独立测试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852790"/>
                  </a:ext>
                </a:extLst>
              </a:tr>
              <a:tr h="0">
                <a:tc>
                  <a:txBody>
                    <a:bodyPr/>
                    <a:lstStyle/>
                    <a:p>
                      <a:pPr algn="l">
                        <a:buNone/>
                      </a:pPr>
                      <a:r>
                        <a:rPr lang="zh-CN" altLang="en-US" sz="1600">
                          <a:solidFill>
                            <a:schemeClr val="bg1"/>
                          </a:solidFill>
                        </a:rPr>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锁定 </a:t>
                      </a:r>
                      <a:r>
                        <a:rPr lang="en-US" altLang="zh-CN" sz="1600">
                          <a:solidFill>
                            <a:schemeClr val="bg1"/>
                          </a:solidFill>
                        </a:rPr>
                        <a:t>(</a:t>
                      </a:r>
                      <a:r>
                        <a:rPr lang="zh-CN" altLang="en-US" sz="1600">
                          <a:solidFill>
                            <a:schemeClr val="bg1"/>
                          </a:solidFill>
                        </a:rPr>
                        <a:t>动作</a:t>
                      </a:r>
                      <a:r>
                        <a:rPr lang="en-US" altLang="zh-CN" sz="1600">
                          <a:solidFill>
                            <a:schemeClr val="bg1"/>
                          </a:solidFill>
                        </a:rPr>
                        <a:t>) </a:t>
                      </a:r>
                      <a:r>
                        <a:rPr lang="zh-CN" altLang="en-US" sz="1600">
                          <a:solidFill>
                            <a:schemeClr val="bg1"/>
                          </a:solidFill>
                        </a:rPr>
                        <a:t>账户在 </a:t>
                      </a:r>
                      <a:r>
                        <a:rPr lang="en-US" altLang="zh-CN" sz="1600">
                          <a:solidFill>
                            <a:schemeClr val="bg1"/>
                          </a:solidFill>
                        </a:rPr>
                        <a:t>(</a:t>
                      </a:r>
                      <a:r>
                        <a:rPr lang="zh-CN" altLang="en-US" sz="1600">
                          <a:solidFill>
                            <a:schemeClr val="bg1"/>
                          </a:solidFill>
                        </a:rPr>
                        <a:t>结果</a:t>
                      </a:r>
                      <a:r>
                        <a:rPr lang="en-US" altLang="zh-CN" sz="1600">
                          <a:solidFill>
                            <a:schemeClr val="bg1"/>
                          </a:solidFill>
                        </a:rPr>
                        <a:t>) 5 </a:t>
                      </a:r>
                      <a:r>
                        <a:rPr lang="zh-CN" altLang="en-US" sz="1600">
                          <a:solidFill>
                            <a:schemeClr val="bg1"/>
                          </a:solidFill>
                        </a:rPr>
                        <a:t>次失败尝试后 </a:t>
                      </a:r>
                      <a:r>
                        <a:rPr lang="en-US" altLang="zh-CN" sz="1600">
                          <a:solidFill>
                            <a:schemeClr val="bg1"/>
                          </a:solidFill>
                        </a:rPr>
                        <a:t>(</a:t>
                      </a:r>
                      <a:r>
                        <a:rPr lang="zh-CN" altLang="en-US" sz="1600">
                          <a:solidFill>
                            <a:schemeClr val="bg1"/>
                          </a:solidFill>
                        </a:rPr>
                        <a:t>对象</a:t>
                      </a:r>
                      <a:r>
                        <a:rPr lang="en-US" altLang="zh-CN" sz="1600">
                          <a:solidFill>
                            <a:schemeClr val="bg1"/>
                          </a:solidFill>
                        </a:rPr>
                        <a:t>/</a:t>
                      </a:r>
                      <a:r>
                        <a:rPr lang="zh-CN" altLang="en-US" sz="1600">
                          <a:solidFill>
                            <a:schemeClr val="bg1"/>
                          </a:solidFill>
                        </a:rPr>
                        <a:t>条件</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具体的业务规则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0240495"/>
                  </a:ext>
                </a:extLst>
              </a:tr>
              <a:tr h="0">
                <a:tc>
                  <a:txBody>
                    <a:bodyPr/>
                    <a:lstStyle/>
                    <a:p>
                      <a:pPr algn="l">
                        <a:buNone/>
                      </a:pPr>
                      <a:r>
                        <a:rPr lang="zh-CN" altLang="en-US" sz="1600">
                          <a:solidFill>
                            <a:schemeClr val="bg1"/>
                          </a:solidFill>
                        </a:rPr>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生成 </a:t>
                      </a:r>
                      <a:r>
                        <a:rPr lang="en-US" altLang="zh-CN" sz="1600">
                          <a:solidFill>
                            <a:schemeClr val="bg1"/>
                          </a:solidFill>
                        </a:rPr>
                        <a:t>(</a:t>
                      </a:r>
                      <a:r>
                        <a:rPr lang="zh-CN" altLang="en-US" sz="1600">
                          <a:solidFill>
                            <a:schemeClr val="bg1"/>
                          </a:solidFill>
                        </a:rPr>
                        <a:t>动作</a:t>
                      </a:r>
                      <a:r>
                        <a:rPr lang="en-US" altLang="zh-CN" sz="1600">
                          <a:solidFill>
                            <a:schemeClr val="bg1"/>
                          </a:solidFill>
                        </a:rPr>
                        <a:t>) </a:t>
                      </a:r>
                      <a:r>
                        <a:rPr lang="zh-CN" altLang="en-US" sz="1600">
                          <a:solidFill>
                            <a:schemeClr val="bg1"/>
                          </a:solidFill>
                        </a:rPr>
                        <a:t>临时登录会话令牌 </a:t>
                      </a:r>
                      <a:r>
                        <a:rPr lang="en-US" altLang="zh-CN" sz="1600">
                          <a:solidFill>
                            <a:schemeClr val="bg1"/>
                          </a:solidFill>
                        </a:rPr>
                        <a:t>(</a:t>
                      </a:r>
                      <a:r>
                        <a:rPr lang="zh-CN" altLang="en-US" sz="1600">
                          <a:solidFill>
                            <a:schemeClr val="bg1"/>
                          </a:solidFill>
                        </a:rPr>
                        <a:t>结果</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明确的技术业务价值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7105911"/>
                  </a:ext>
                </a:extLst>
              </a:tr>
            </a:tbl>
          </a:graphicData>
        </a:graphic>
      </p:graphicFrame>
    </p:spTree>
    <p:extLst>
      <p:ext uri="{BB962C8B-B14F-4D97-AF65-F5344CB8AC3E}">
        <p14:creationId xmlns:p14="http://schemas.microsoft.com/office/powerpoint/2010/main" val="27215315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pic>
        <p:nvPicPr>
          <p:cNvPr id="6146" name="Picture 2" descr="千库网_3D立体透明水晶堆_元素编号13457539">
            <a:extLst>
              <a:ext uri="{FF2B5EF4-FFF2-40B4-BE49-F238E27FC236}">
                <a16:creationId xmlns:a16="http://schemas.microsoft.com/office/drawing/2014/main" id="{6AAAAA63-99FC-1A5D-9AFC-D6725AB25EE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595" t="10872" r="7830" b="18481"/>
          <a:stretch>
            <a:fillRect/>
          </a:stretch>
        </p:blipFill>
        <p:spPr bwMode="auto">
          <a:xfrm>
            <a:off x="7678993" y="3043084"/>
            <a:ext cx="4513007" cy="3814916"/>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en-US" altLang="zh-CN"/>
              <a:t>1990s</a:t>
            </a:r>
            <a:r>
              <a:rPr lang="zh-CN" altLang="en-US"/>
              <a:t>，</a:t>
            </a:r>
            <a:r>
              <a:rPr lang="en-US" altLang="zh-CN"/>
              <a:t>Listair Cockburn</a:t>
            </a:r>
            <a:r>
              <a:rPr lang="zh-CN" altLang="en-US"/>
              <a:t>提出</a:t>
            </a:r>
            <a:endParaRPr lang="en-US" altLang="zh-CN"/>
          </a:p>
          <a:p>
            <a:r>
              <a:rPr lang="zh-CN" altLang="en-US"/>
              <a:t>方法论家族</a:t>
            </a:r>
            <a:endParaRPr lang="en-US" altLang="zh-CN"/>
          </a:p>
          <a:p>
            <a:r>
              <a:rPr lang="zh-CN" altLang="en-US"/>
              <a:t>是开发软件中最轻量级和灵活的方法之一</a:t>
            </a:r>
            <a:endParaRPr lang="en-US" altLang="zh-CN"/>
          </a:p>
          <a:p>
            <a:r>
              <a:rPr lang="zh-CN" altLang="en-US"/>
              <a:t>它由多个敏捷流程组成，包括清晰、水晶黄、水晶橙以及其他具有独特特征的方法</a:t>
            </a:r>
            <a:endParaRPr lang="en-US" altLang="zh-CN"/>
          </a:p>
          <a:p>
            <a:r>
              <a:rPr lang="zh-CN" altLang="en-US"/>
              <a:t>用水晶来比喻这个模型，有两层含义：</a:t>
            </a:r>
          </a:p>
          <a:p>
            <a:pPr lvl="1"/>
            <a:r>
              <a:rPr lang="zh-CN" altLang="en-US"/>
              <a:t>透明性：像水晶一样透明，强调团队内部的沟通清晰、可见</a:t>
            </a:r>
          </a:p>
          <a:p>
            <a:pPr lvl="1"/>
            <a:r>
              <a:rPr lang="zh-CN" altLang="en-US"/>
              <a:t>多面性：像水晶有多个切面一样，</a:t>
            </a:r>
            <a:r>
              <a:rPr lang="en-US" altLang="zh-CN"/>
              <a:t>Crystal </a:t>
            </a:r>
            <a:r>
              <a:rPr lang="zh-CN" altLang="en-US"/>
              <a:t>家族有多种颜色（变体），针对不同大小的项目</a:t>
            </a:r>
          </a:p>
          <a:p>
            <a:r>
              <a:rPr lang="zh-CN" altLang="en-US"/>
              <a:t>核心理念</a:t>
            </a:r>
          </a:p>
          <a:p>
            <a:pPr lvl="1"/>
            <a:r>
              <a:rPr lang="zh-CN" altLang="en-US"/>
              <a:t>方法和流程应该根据项目的规模 </a:t>
            </a:r>
            <a:r>
              <a:rPr lang="en-US" altLang="zh-CN"/>
              <a:t>Size</a:t>
            </a:r>
            <a:r>
              <a:rPr lang="zh-CN" altLang="en-US"/>
              <a:t>、团队人数和系统的关键性 </a:t>
            </a:r>
            <a:r>
              <a:rPr lang="en-US" altLang="zh-CN"/>
              <a:t>Criticality </a:t>
            </a:r>
            <a:r>
              <a:rPr lang="zh-CN" altLang="en-US"/>
              <a:t>进行量身定制</a:t>
            </a:r>
            <a:endParaRPr lang="en-US" altLang="zh-CN"/>
          </a:p>
          <a:p>
            <a:pPr lvl="1"/>
            <a:r>
              <a:rPr lang="zh-CN" altLang="en-US"/>
              <a:t>不能一刀切</a:t>
            </a:r>
            <a:endParaRPr lang="en-US" altLang="zh-CN"/>
          </a:p>
          <a:p>
            <a:r>
              <a:rPr lang="zh-CN" altLang="en-US"/>
              <a:t>强调：人及人与人之间的互动，比流程和工具更重要</a:t>
            </a:r>
            <a:endParaRPr lang="en-US" altLang="zh-CN"/>
          </a:p>
          <a:p>
            <a:pPr lvl="1"/>
            <a:endParaRPr lang="zh-CN" altLang="en-US"/>
          </a:p>
          <a:p>
            <a:endParaRPr lang="zh-CN" altLang="en-US"/>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spTree>
    <p:extLst>
      <p:ext uri="{BB962C8B-B14F-4D97-AF65-F5344CB8AC3E}">
        <p14:creationId xmlns:p14="http://schemas.microsoft.com/office/powerpoint/2010/main" val="35326373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zh-CN" altLang="en-US"/>
              <a:t>根据团队人数和系统失败后的后果（关键性），将方法分为不同的颜色</a:t>
            </a:r>
            <a:endParaRPr lang="en-US" altLang="zh-CN"/>
          </a:p>
          <a:p>
            <a:r>
              <a:rPr lang="zh-CN" altLang="en-US"/>
              <a:t>团队越大、系统越关键，流程就越重（颜色越深）</a:t>
            </a:r>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graphicFrame>
        <p:nvGraphicFramePr>
          <p:cNvPr id="3" name="表格 2">
            <a:extLst>
              <a:ext uri="{FF2B5EF4-FFF2-40B4-BE49-F238E27FC236}">
                <a16:creationId xmlns:a16="http://schemas.microsoft.com/office/drawing/2014/main" id="{2D32DA1E-113A-2453-71BA-C24576BC3457}"/>
              </a:ext>
            </a:extLst>
          </p:cNvPr>
          <p:cNvGraphicFramePr>
            <a:graphicFrameLocks noGrp="1"/>
          </p:cNvGraphicFramePr>
          <p:nvPr>
            <p:extLst>
              <p:ext uri="{D42A27DB-BD31-4B8C-83A1-F6EECF244321}">
                <p14:modId xmlns:p14="http://schemas.microsoft.com/office/powerpoint/2010/main" val="1388611509"/>
              </p:ext>
            </p:extLst>
          </p:nvPr>
        </p:nvGraphicFramePr>
        <p:xfrm>
          <a:off x="695326" y="2987380"/>
          <a:ext cx="10801348" cy="3276895"/>
        </p:xfrm>
        <a:graphic>
          <a:graphicData uri="http://schemas.openxmlformats.org/drawingml/2006/table">
            <a:tbl>
              <a:tblPr/>
              <a:tblGrid>
                <a:gridCol w="1920055">
                  <a:extLst>
                    <a:ext uri="{9D8B030D-6E8A-4147-A177-3AD203B41FA5}">
                      <a16:colId xmlns:a16="http://schemas.microsoft.com/office/drawing/2014/main" val="1805883648"/>
                    </a:ext>
                  </a:extLst>
                </a:gridCol>
                <a:gridCol w="1543664">
                  <a:extLst>
                    <a:ext uri="{9D8B030D-6E8A-4147-A177-3AD203B41FA5}">
                      <a16:colId xmlns:a16="http://schemas.microsoft.com/office/drawing/2014/main" val="206858588"/>
                    </a:ext>
                  </a:extLst>
                </a:gridCol>
                <a:gridCol w="2035278">
                  <a:extLst>
                    <a:ext uri="{9D8B030D-6E8A-4147-A177-3AD203B41FA5}">
                      <a16:colId xmlns:a16="http://schemas.microsoft.com/office/drawing/2014/main" val="447211499"/>
                    </a:ext>
                  </a:extLst>
                </a:gridCol>
                <a:gridCol w="5302351">
                  <a:extLst>
                    <a:ext uri="{9D8B030D-6E8A-4147-A177-3AD203B41FA5}">
                      <a16:colId xmlns:a16="http://schemas.microsoft.com/office/drawing/2014/main" val="2403001245"/>
                    </a:ext>
                  </a:extLst>
                </a:gridCol>
              </a:tblGrid>
              <a:tr h="192349">
                <a:tc>
                  <a:txBody>
                    <a:bodyPr/>
                    <a:lstStyle/>
                    <a:p>
                      <a:pPr algn="l">
                        <a:buNone/>
                      </a:pPr>
                      <a:r>
                        <a:rPr lang="zh-CN" altLang="en-US" sz="1600">
                          <a:solidFill>
                            <a:schemeClr val="bg1"/>
                          </a:solidFill>
                        </a:rPr>
                        <a:t>颜色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适用团队规模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关键性 </a:t>
                      </a:r>
                      <a:r>
                        <a:rPr lang="en-US" sz="1600">
                          <a:solidFill>
                            <a:schemeClr val="bg1"/>
                          </a:solidFill>
                        </a:rPr>
                        <a:t>Criticality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特点描述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966257271"/>
                  </a:ext>
                </a:extLst>
              </a:tr>
              <a:tr h="480873">
                <a:tc>
                  <a:txBody>
                    <a:bodyPr/>
                    <a:lstStyle/>
                    <a:p>
                      <a:pPr algn="l">
                        <a:buNone/>
                      </a:pPr>
                      <a:r>
                        <a:rPr lang="en-US" sz="1600">
                          <a:solidFill>
                            <a:schemeClr val="bg1"/>
                          </a:solidFill>
                        </a:rPr>
                        <a:t>Crystal Clear</a:t>
                      </a:r>
                      <a:br>
                        <a:rPr lang="en-US" sz="1600">
                          <a:solidFill>
                            <a:schemeClr val="bg1"/>
                          </a:solidFill>
                        </a:rPr>
                      </a:br>
                      <a:r>
                        <a:rPr lang="zh-CN" altLang="en-US" sz="1600">
                          <a:solidFill>
                            <a:schemeClr val="bg1"/>
                          </a:solidFill>
                        </a:rPr>
                        <a:t>透明水晶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 8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低 </a:t>
                      </a:r>
                      <a:r>
                        <a:rPr lang="en-US" altLang="zh-CN" sz="1600">
                          <a:solidFill>
                            <a:schemeClr val="bg1"/>
                          </a:solidFill>
                        </a:rPr>
                        <a:t>(</a:t>
                      </a:r>
                      <a:r>
                        <a:rPr lang="zh-CN" altLang="en-US" sz="1600">
                          <a:solidFill>
                            <a:schemeClr val="bg1"/>
                          </a:solidFill>
                        </a:rPr>
                        <a:t>舒适型</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最轻量级。几乎不需要文档，靠面对面沟通</a:t>
                      </a:r>
                      <a:endParaRPr lang="en-US" altLang="zh-CN" sz="1600">
                        <a:solidFill>
                          <a:schemeClr val="bg1"/>
                        </a:solidFill>
                      </a:endParaRPr>
                    </a:p>
                    <a:p>
                      <a:pPr algn="l">
                        <a:buNone/>
                      </a:pPr>
                      <a:r>
                        <a:rPr lang="zh-CN" altLang="en-US" sz="1600">
                          <a:solidFill>
                            <a:schemeClr val="bg1"/>
                          </a:solidFill>
                        </a:rPr>
                        <a:t>适合小工具、内部系统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14794"/>
                  </a:ext>
                </a:extLst>
              </a:tr>
              <a:tr h="480873">
                <a:tc>
                  <a:txBody>
                    <a:bodyPr/>
                    <a:lstStyle/>
                    <a:p>
                      <a:pPr algn="l">
                        <a:buNone/>
                      </a:pPr>
                      <a:r>
                        <a:rPr lang="en-US" sz="1600">
                          <a:solidFill>
                            <a:schemeClr val="bg1"/>
                          </a:solidFill>
                        </a:rPr>
                        <a:t>Crystal Yellow</a:t>
                      </a:r>
                      <a:br>
                        <a:rPr lang="en-US" sz="1600">
                          <a:solidFill>
                            <a:schemeClr val="bg1"/>
                          </a:solidFill>
                        </a:rPr>
                      </a:br>
                      <a:r>
                        <a:rPr lang="zh-CN" altLang="en-US" sz="1600">
                          <a:solidFill>
                            <a:schemeClr val="bg1"/>
                          </a:solidFill>
                        </a:rPr>
                        <a:t>黄水晶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10 ~ 20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中 </a:t>
                      </a:r>
                      <a:r>
                        <a:rPr lang="en-US" altLang="zh-CN" sz="1600">
                          <a:solidFill>
                            <a:schemeClr val="bg1"/>
                          </a:solidFill>
                        </a:rPr>
                        <a:t>(</a:t>
                      </a:r>
                      <a:r>
                        <a:rPr lang="zh-CN" altLang="en-US" sz="1600">
                          <a:solidFill>
                            <a:schemeClr val="bg1"/>
                          </a:solidFill>
                        </a:rPr>
                        <a:t>重要型</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需要少量的文档和定期的里程碑检查</a:t>
                      </a:r>
                      <a:endParaRPr lang="en-US" altLang="zh-CN" sz="1600">
                        <a:solidFill>
                          <a:schemeClr val="bg1"/>
                        </a:solidFill>
                      </a:endParaRPr>
                    </a:p>
                    <a:p>
                      <a:pPr algn="l">
                        <a:buNone/>
                      </a:pPr>
                      <a:r>
                        <a:rPr lang="zh-CN" altLang="en-US" sz="1600">
                          <a:solidFill>
                            <a:schemeClr val="bg1"/>
                          </a:solidFill>
                        </a:rPr>
                        <a:t>适合一般商业应用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1173598"/>
                  </a:ext>
                </a:extLst>
              </a:tr>
              <a:tr h="480873">
                <a:tc>
                  <a:txBody>
                    <a:bodyPr/>
                    <a:lstStyle/>
                    <a:p>
                      <a:pPr algn="l">
                        <a:buNone/>
                      </a:pPr>
                      <a:r>
                        <a:rPr lang="en-US" sz="1600">
                          <a:solidFill>
                            <a:schemeClr val="bg1"/>
                          </a:solidFill>
                        </a:rPr>
                        <a:t>Crystal Orange</a:t>
                      </a:r>
                      <a:br>
                        <a:rPr lang="en-US" sz="1600">
                          <a:solidFill>
                            <a:schemeClr val="bg1"/>
                          </a:solidFill>
                        </a:rPr>
                      </a:br>
                      <a:r>
                        <a:rPr lang="zh-CN" altLang="en-US" sz="1600">
                          <a:solidFill>
                            <a:schemeClr val="bg1"/>
                          </a:solidFill>
                        </a:rPr>
                        <a:t>橙水晶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20 ~ 50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高 </a:t>
                      </a:r>
                      <a:r>
                        <a:rPr lang="en-US" altLang="zh-CN" sz="1600">
                          <a:solidFill>
                            <a:schemeClr val="bg1"/>
                          </a:solidFill>
                        </a:rPr>
                        <a:t>(</a:t>
                      </a:r>
                      <a:r>
                        <a:rPr lang="zh-CN" altLang="en-US" sz="1600">
                          <a:solidFill>
                            <a:schemeClr val="bg1"/>
                          </a:solidFill>
                        </a:rPr>
                        <a:t>关键型</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需要更正式的架构设计、详细的文档和严格的测试</a:t>
                      </a:r>
                      <a:endParaRPr lang="en-US" altLang="zh-CN" sz="1600">
                        <a:solidFill>
                          <a:schemeClr val="bg1"/>
                        </a:solidFill>
                      </a:endParaRPr>
                    </a:p>
                    <a:p>
                      <a:pPr algn="l">
                        <a:buNone/>
                      </a:pPr>
                      <a:r>
                        <a:rPr lang="zh-CN" altLang="en-US" sz="1600">
                          <a:solidFill>
                            <a:schemeClr val="bg1"/>
                          </a:solidFill>
                        </a:rPr>
                        <a:t>适合银行、医疗系统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140109"/>
                  </a:ext>
                </a:extLst>
              </a:tr>
              <a:tr h="625135">
                <a:tc>
                  <a:txBody>
                    <a:bodyPr/>
                    <a:lstStyle/>
                    <a:p>
                      <a:pPr algn="l">
                        <a:buNone/>
                      </a:pPr>
                      <a:r>
                        <a:rPr lang="en-US" sz="1600">
                          <a:solidFill>
                            <a:schemeClr val="bg1"/>
                          </a:solidFill>
                        </a:rPr>
                        <a:t>Crystal Red</a:t>
                      </a:r>
                      <a:br>
                        <a:rPr lang="en-US" sz="1600">
                          <a:solidFill>
                            <a:schemeClr val="bg1"/>
                          </a:solidFill>
                        </a:rPr>
                      </a:br>
                      <a:r>
                        <a:rPr lang="zh-CN" altLang="en-US" sz="1600">
                          <a:solidFill>
                            <a:schemeClr val="bg1"/>
                          </a:solidFill>
                        </a:rPr>
                        <a:t>红水晶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50 ~ 100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极高 </a:t>
                      </a:r>
                      <a:r>
                        <a:rPr lang="en-US" altLang="zh-CN" sz="1600">
                          <a:solidFill>
                            <a:schemeClr val="bg1"/>
                          </a:solidFill>
                        </a:rPr>
                        <a:t>(</a:t>
                      </a:r>
                      <a:r>
                        <a:rPr lang="zh-CN" altLang="en-US" sz="1600">
                          <a:solidFill>
                            <a:schemeClr val="bg1"/>
                          </a:solidFill>
                        </a:rPr>
                        <a:t>生命攸关</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非常严格，接近传统瀑布模型的严谨性，但保留敏捷迭代</a:t>
                      </a:r>
                      <a:endParaRPr lang="en-US" altLang="zh-CN" sz="1600">
                        <a:solidFill>
                          <a:schemeClr val="bg1"/>
                        </a:solidFill>
                      </a:endParaRPr>
                    </a:p>
                    <a:p>
                      <a:pPr algn="l">
                        <a:buNone/>
                      </a:pPr>
                      <a:r>
                        <a:rPr lang="zh-CN" altLang="en-US" sz="1600">
                          <a:solidFill>
                            <a:schemeClr val="bg1"/>
                          </a:solidFill>
                        </a:rPr>
                        <a:t>适合航空控制、核电系统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020850"/>
                  </a:ext>
                </a:extLst>
              </a:tr>
              <a:tr h="480873">
                <a:tc>
                  <a:txBody>
                    <a:bodyPr/>
                    <a:lstStyle/>
                    <a:p>
                      <a:pPr algn="l">
                        <a:buNone/>
                      </a:pP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更大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还有 </a:t>
                      </a:r>
                      <a:r>
                        <a:rPr lang="en-US" altLang="zh-CN" sz="1600">
                          <a:solidFill>
                            <a:schemeClr val="bg1"/>
                          </a:solidFill>
                        </a:rPr>
                        <a:t>Diamond (</a:t>
                      </a:r>
                      <a:r>
                        <a:rPr lang="zh-CN" altLang="en-US" sz="1600">
                          <a:solidFill>
                            <a:schemeClr val="bg1"/>
                          </a:solidFill>
                        </a:rPr>
                        <a:t>钻石</a:t>
                      </a:r>
                      <a:r>
                        <a:rPr lang="en-US" altLang="zh-CN" sz="1600">
                          <a:solidFill>
                            <a:schemeClr val="bg1"/>
                          </a:solidFill>
                        </a:rPr>
                        <a:t>) </a:t>
                      </a:r>
                      <a:r>
                        <a:rPr lang="zh-CN" altLang="en-US" sz="1600">
                          <a:solidFill>
                            <a:schemeClr val="bg1"/>
                          </a:solidFill>
                        </a:rPr>
                        <a:t>等更重的变体</a:t>
                      </a:r>
                      <a:endParaRPr lang="en-US" altLang="zh-CN" sz="1600">
                        <a:solidFill>
                          <a:schemeClr val="bg1"/>
                        </a:solidFill>
                      </a:endParaRPr>
                    </a:p>
                    <a:p>
                      <a:pPr algn="l">
                        <a:buNone/>
                      </a:pPr>
                      <a:r>
                        <a:rPr lang="zh-CN" altLang="en-US" sz="1600">
                          <a:solidFill>
                            <a:schemeClr val="bg1"/>
                          </a:solidFill>
                        </a:rPr>
                        <a:t>用于超大型项目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48531"/>
                  </a:ext>
                </a:extLst>
              </a:tr>
            </a:tbl>
          </a:graphicData>
        </a:graphic>
      </p:graphicFrame>
    </p:spTree>
    <p:extLst>
      <p:ext uri="{BB962C8B-B14F-4D97-AF65-F5344CB8AC3E}">
        <p14:creationId xmlns:p14="http://schemas.microsoft.com/office/powerpoint/2010/main" val="249326294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F3E3D-798E-541D-897D-9B5D39F0F839}"/>
            </a:ext>
          </a:extLst>
        </p:cNvPr>
        <p:cNvGrpSpPr/>
        <p:nvPr/>
      </p:nvGrpSpPr>
      <p:grpSpPr>
        <a:xfrm>
          <a:off x="0" y="0"/>
          <a:ext cx="0" cy="0"/>
          <a:chOff x="0" y="0"/>
          <a:chExt cx="0" cy="0"/>
        </a:xfrm>
      </p:grpSpPr>
      <p:pic>
        <p:nvPicPr>
          <p:cNvPr id="10" name="图片 9">
            <a:extLst>
              <a:ext uri="{FF2B5EF4-FFF2-40B4-BE49-F238E27FC236}">
                <a16:creationId xmlns:a16="http://schemas.microsoft.com/office/drawing/2014/main" id="{C38EF9B9-102F-E5D5-FCDF-EE7E8790B2FB}"/>
              </a:ext>
            </a:extLst>
          </p:cNvPr>
          <p:cNvPicPr>
            <a:picLocks noChangeAspect="1"/>
          </p:cNvPicPr>
          <p:nvPr/>
        </p:nvPicPr>
        <p:blipFill>
          <a:blip r:embed="rId2">
            <a:extLst>
              <a:ext uri="{28A0092B-C50C-407E-A947-70E740481C1C}">
                <a14:useLocalDpi xmlns:a14="http://schemas.microsoft.com/office/drawing/2010/main" val="0"/>
              </a:ext>
            </a:extLst>
          </a:blip>
          <a:srcRect t="15431" b="24748"/>
          <a:stretch>
            <a:fillRect/>
          </a:stretch>
        </p:blipFill>
        <p:spPr>
          <a:xfrm>
            <a:off x="1416000" y="2738323"/>
            <a:ext cx="9360000" cy="1381355"/>
          </a:xfrm>
          <a:prstGeom prst="rect">
            <a:avLst/>
          </a:prstGeom>
        </p:spPr>
      </p:pic>
    </p:spTree>
    <p:extLst>
      <p:ext uri="{BB962C8B-B14F-4D97-AF65-F5344CB8AC3E}">
        <p14:creationId xmlns:p14="http://schemas.microsoft.com/office/powerpoint/2010/main" val="32547810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rystal Criticality">
            <a:extLst>
              <a:ext uri="{FF2B5EF4-FFF2-40B4-BE49-F238E27FC236}">
                <a16:creationId xmlns:a16="http://schemas.microsoft.com/office/drawing/2014/main" id="{D0F65BAD-BB39-F692-E050-8E04C3F9F2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89750" y="1629000"/>
            <a:ext cx="4812500" cy="360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520918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6DD97CA-2C91-6249-A32B-C7DB45787201}"/>
              </a:ext>
            </a:extLst>
          </p:cNvPr>
          <p:cNvGraphicFramePr>
            <a:graphicFrameLocks noGrp="1"/>
          </p:cNvGraphicFramePr>
          <p:nvPr>
            <p:extLst>
              <p:ext uri="{D42A27DB-BD31-4B8C-83A1-F6EECF244321}">
                <p14:modId xmlns:p14="http://schemas.microsoft.com/office/powerpoint/2010/main" val="806641664"/>
              </p:ext>
            </p:extLst>
          </p:nvPr>
        </p:nvGraphicFramePr>
        <p:xfrm>
          <a:off x="695326" y="1645920"/>
          <a:ext cx="10801348" cy="3566160"/>
        </p:xfrm>
        <a:graphic>
          <a:graphicData uri="http://schemas.openxmlformats.org/drawingml/2006/table">
            <a:tbl>
              <a:tblPr/>
              <a:tblGrid>
                <a:gridCol w="1497268">
                  <a:extLst>
                    <a:ext uri="{9D8B030D-6E8A-4147-A177-3AD203B41FA5}">
                      <a16:colId xmlns:a16="http://schemas.microsoft.com/office/drawing/2014/main" val="2447770270"/>
                    </a:ext>
                  </a:extLst>
                </a:gridCol>
                <a:gridCol w="3136490">
                  <a:extLst>
                    <a:ext uri="{9D8B030D-6E8A-4147-A177-3AD203B41FA5}">
                      <a16:colId xmlns:a16="http://schemas.microsoft.com/office/drawing/2014/main" val="2006862090"/>
                    </a:ext>
                  </a:extLst>
                </a:gridCol>
                <a:gridCol w="3467253">
                  <a:extLst>
                    <a:ext uri="{9D8B030D-6E8A-4147-A177-3AD203B41FA5}">
                      <a16:colId xmlns:a16="http://schemas.microsoft.com/office/drawing/2014/main" val="915951268"/>
                    </a:ext>
                  </a:extLst>
                </a:gridCol>
                <a:gridCol w="2700337">
                  <a:extLst>
                    <a:ext uri="{9D8B030D-6E8A-4147-A177-3AD203B41FA5}">
                      <a16:colId xmlns:a16="http://schemas.microsoft.com/office/drawing/2014/main" val="4161480708"/>
                    </a:ext>
                  </a:extLst>
                </a:gridCol>
              </a:tblGrid>
              <a:tr h="365760">
                <a:tc>
                  <a:txBody>
                    <a:bodyPr/>
                    <a:lstStyle/>
                    <a:p>
                      <a:pPr algn="l">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600">
                          <a:solidFill>
                            <a:schemeClr val="bg1"/>
                          </a:solidFill>
                        </a:rPr>
                        <a:t>Scrum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600">
                          <a:solidFill>
                            <a:schemeClr val="bg1"/>
                          </a:solidFill>
                        </a:rPr>
                        <a:t>XP</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600">
                          <a:solidFill>
                            <a:schemeClr val="bg1"/>
                          </a:solidFill>
                        </a:rPr>
                        <a:t>Crystal</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632227031"/>
                  </a:ext>
                </a:extLst>
              </a:tr>
              <a:tr h="640080">
                <a:tc>
                  <a:txBody>
                    <a:bodyPr/>
                    <a:lstStyle/>
                    <a:p>
                      <a:pPr algn="l">
                        <a:buNone/>
                      </a:pPr>
                      <a:r>
                        <a:rPr lang="zh-CN" altLang="en-US" sz="160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流程框架 </a:t>
                      </a:r>
                      <a:r>
                        <a:rPr lang="en-US" altLang="zh-CN" sz="1600">
                          <a:solidFill>
                            <a:schemeClr val="bg1"/>
                          </a:solidFill>
                        </a:rPr>
                        <a:t>(</a:t>
                      </a:r>
                      <a:r>
                        <a:rPr lang="zh-CN" altLang="en-US" sz="1600">
                          <a:solidFill>
                            <a:schemeClr val="bg1"/>
                          </a:solidFill>
                        </a:rPr>
                        <a:t>角色、会议、工件</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工程实践 </a:t>
                      </a:r>
                      <a:r>
                        <a:rPr lang="en-US" altLang="zh-CN" sz="1600">
                          <a:solidFill>
                            <a:schemeClr val="bg1"/>
                          </a:solidFill>
                        </a:rPr>
                        <a:t>(</a:t>
                      </a:r>
                      <a:r>
                        <a:rPr lang="zh-CN" altLang="en-US" sz="1600">
                          <a:solidFill>
                            <a:schemeClr val="bg1"/>
                          </a:solidFill>
                        </a:rPr>
                        <a:t>结对编程、</a:t>
                      </a:r>
                      <a:r>
                        <a:rPr lang="en-US" altLang="zh-CN" sz="1600">
                          <a:solidFill>
                            <a:schemeClr val="bg1"/>
                          </a:solidFill>
                        </a:rPr>
                        <a:t>TDD</a:t>
                      </a:r>
                      <a:r>
                        <a:rPr lang="zh-CN" altLang="en-US" sz="1600">
                          <a:solidFill>
                            <a:schemeClr val="bg1"/>
                          </a:solidFill>
                        </a:rPr>
                        <a:t>、重构</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人与沟通 </a:t>
                      </a:r>
                      <a:r>
                        <a:rPr lang="en-US" altLang="zh-CN" sz="1600">
                          <a:solidFill>
                            <a:schemeClr val="bg1"/>
                          </a:solidFill>
                        </a:rPr>
                        <a:t>(</a:t>
                      </a:r>
                      <a:r>
                        <a:rPr lang="zh-CN" altLang="en-US" sz="1600">
                          <a:solidFill>
                            <a:schemeClr val="bg1"/>
                          </a:solidFill>
                        </a:rPr>
                        <a:t>根据情境调整</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15935461"/>
                  </a:ext>
                </a:extLst>
              </a:tr>
              <a:tr h="640080">
                <a:tc>
                  <a:txBody>
                    <a:bodyPr/>
                    <a:lstStyle/>
                    <a:p>
                      <a:pPr algn="l">
                        <a:buNone/>
                      </a:pPr>
                      <a:r>
                        <a:rPr lang="zh-CN" altLang="en-US" sz="1600">
                          <a:solidFill>
                            <a:schemeClr val="bg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中等 </a:t>
                      </a:r>
                      <a:r>
                        <a:rPr lang="en-US" altLang="zh-CN" sz="1600">
                          <a:solidFill>
                            <a:schemeClr val="bg1"/>
                          </a:solidFill>
                        </a:rPr>
                        <a:t>(</a:t>
                      </a:r>
                      <a:r>
                        <a:rPr lang="zh-CN" altLang="en-US" sz="1600">
                          <a:solidFill>
                            <a:schemeClr val="bg1"/>
                          </a:solidFill>
                        </a:rPr>
                        <a:t>规则相对固定</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低 </a:t>
                      </a:r>
                      <a:r>
                        <a:rPr lang="en-US" altLang="zh-CN" sz="1600">
                          <a:solidFill>
                            <a:schemeClr val="bg1"/>
                          </a:solidFill>
                        </a:rPr>
                        <a:t>(</a:t>
                      </a:r>
                      <a:r>
                        <a:rPr lang="zh-CN" altLang="en-US" sz="1600">
                          <a:solidFill>
                            <a:schemeClr val="bg1"/>
                          </a:solidFill>
                        </a:rPr>
                        <a:t>必须遵守严格的技术实践</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极高 </a:t>
                      </a:r>
                      <a:r>
                        <a:rPr lang="en-US" altLang="zh-CN" sz="1600">
                          <a:solidFill>
                            <a:schemeClr val="bg1"/>
                          </a:solidFill>
                        </a:rPr>
                        <a:t>(</a:t>
                      </a:r>
                      <a:r>
                        <a:rPr lang="zh-CN" altLang="en-US" sz="1600">
                          <a:solidFill>
                            <a:schemeClr val="bg1"/>
                          </a:solidFill>
                        </a:rPr>
                        <a:t>没有固定规则，按需定制</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4878275"/>
                  </a:ext>
                </a:extLst>
              </a:tr>
              <a:tr h="640080">
                <a:tc>
                  <a:txBody>
                    <a:bodyPr/>
                    <a:lstStyle/>
                    <a:p>
                      <a:pPr algn="l">
                        <a:buNone/>
                      </a:pPr>
                      <a:r>
                        <a:rPr lang="zh-CN" altLang="en-US" sz="1600">
                          <a:solidFill>
                            <a:schemeClr val="bg1"/>
                          </a:solidFill>
                        </a:rPr>
                        <a:t>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大多数敏捷项目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对代码质量要求极高的项目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各种规模和关键性的项目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0496211"/>
                  </a:ext>
                </a:extLst>
              </a:tr>
              <a:tr h="640080">
                <a:tc>
                  <a:txBody>
                    <a:bodyPr/>
                    <a:lstStyle/>
                    <a:p>
                      <a:pPr algn="l">
                        <a:buNone/>
                      </a:pPr>
                      <a:r>
                        <a:rPr lang="zh-CN" altLang="en-US" sz="1600">
                          <a:solidFill>
                            <a:schemeClr val="bg1"/>
                          </a:solidFill>
                        </a:rPr>
                        <a:t>文档要求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适中 </a:t>
                      </a:r>
                      <a:r>
                        <a:rPr lang="en-US" altLang="zh-CN" sz="1600">
                          <a:solidFill>
                            <a:schemeClr val="bg1"/>
                          </a:solidFill>
                        </a:rPr>
                        <a:t>(</a:t>
                      </a:r>
                      <a:r>
                        <a:rPr lang="en-US" sz="1600">
                          <a:solidFill>
                            <a:schemeClr val="bg1"/>
                          </a:solidFill>
                        </a:rPr>
                        <a:t>Backlog, Burn-down)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低 </a:t>
                      </a:r>
                      <a:r>
                        <a:rPr lang="en-US" altLang="zh-CN" sz="1600">
                          <a:solidFill>
                            <a:schemeClr val="bg1"/>
                          </a:solidFill>
                        </a:rPr>
                        <a:t>(</a:t>
                      </a:r>
                      <a:r>
                        <a:rPr lang="zh-CN" altLang="en-US" sz="1600">
                          <a:solidFill>
                            <a:schemeClr val="bg1"/>
                          </a:solidFill>
                        </a:rPr>
                        <a:t>代码即文档</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动态调整 </a:t>
                      </a:r>
                      <a:r>
                        <a:rPr lang="en-US" altLang="zh-CN" sz="1600">
                          <a:solidFill>
                            <a:schemeClr val="bg1"/>
                          </a:solidFill>
                        </a:rPr>
                        <a:t>(Clear </a:t>
                      </a:r>
                      <a:r>
                        <a:rPr lang="zh-CN" altLang="en-US" sz="1600">
                          <a:solidFill>
                            <a:schemeClr val="bg1"/>
                          </a:solidFill>
                        </a:rPr>
                        <a:t>几乎无文档，</a:t>
                      </a:r>
                      <a:r>
                        <a:rPr lang="en-US" altLang="zh-CN" sz="1600">
                          <a:solidFill>
                            <a:schemeClr val="bg1"/>
                          </a:solidFill>
                        </a:rPr>
                        <a:t>Red </a:t>
                      </a:r>
                      <a:r>
                        <a:rPr lang="zh-CN" altLang="en-US" sz="1600">
                          <a:solidFill>
                            <a:schemeClr val="bg1"/>
                          </a:solidFill>
                        </a:rPr>
                        <a:t>大量文档</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2824656"/>
                  </a:ext>
                </a:extLst>
              </a:tr>
              <a:tr h="640080">
                <a:tc>
                  <a:txBody>
                    <a:bodyPr/>
                    <a:lstStyle/>
                    <a:p>
                      <a:pPr algn="l">
                        <a:buNone/>
                      </a:pPr>
                      <a:r>
                        <a:rPr lang="zh-CN" altLang="en-US" sz="1600">
                          <a:solidFill>
                            <a:schemeClr val="bg1"/>
                          </a:solidFill>
                        </a:rPr>
                        <a:t>口号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Empirical Process 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People over Processes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851025"/>
                  </a:ext>
                </a:extLst>
              </a:tr>
            </a:tbl>
          </a:graphicData>
        </a:graphic>
      </p:graphicFrame>
    </p:spTree>
    <p:extLst>
      <p:ext uri="{BB962C8B-B14F-4D97-AF65-F5344CB8AC3E}">
        <p14:creationId xmlns:p14="http://schemas.microsoft.com/office/powerpoint/2010/main" val="327829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 </a:t>
            </a:r>
            <a:r>
              <a:rPr lang="zh-CN" altLang="en-US"/>
              <a:t>敏捷</a:t>
            </a:r>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en-US" altLang="zh-CN">
                <a:hlinkClick r:id="rId3"/>
              </a:rPr>
              <a:t>https://scrumguides.org</a:t>
            </a:r>
            <a:r>
              <a:rPr lang="en-US" altLang="zh-CN"/>
              <a:t> </a:t>
            </a:r>
          </a:p>
          <a:p>
            <a:r>
              <a:rPr lang="en-US" altLang="zh-CN"/>
              <a:t>Scrum is a lightweight </a:t>
            </a:r>
            <a:r>
              <a:rPr lang="en-US" altLang="zh-CN" b="1">
                <a:solidFill>
                  <a:srgbClr val="FFFF00"/>
                </a:solidFill>
              </a:rPr>
              <a:t>framework</a:t>
            </a:r>
            <a:r>
              <a:rPr lang="en-US" altLang="zh-CN"/>
              <a:t> that helps people, teams and organizations generate value through adaptive solutions for complex problems. </a:t>
            </a:r>
            <a:endParaRPr lang="zh-CN" altLang="en-US"/>
          </a:p>
          <a:p>
            <a:endParaRPr lang="en-US" altLang="zh-CN"/>
          </a:p>
          <a:p>
            <a:r>
              <a:rPr lang="en-US" altLang="zh-CN"/>
              <a:t>Changing the core design or ideas of Scrum</a:t>
            </a:r>
          </a:p>
          <a:p>
            <a:r>
              <a:rPr lang="en-US" altLang="zh-CN"/>
              <a:t>leaving out elements</a:t>
            </a:r>
          </a:p>
          <a:p>
            <a:r>
              <a:rPr lang="en-US" altLang="zh-CN"/>
              <a:t>not following the rules of Scrum</a:t>
            </a:r>
          </a:p>
          <a:p>
            <a:endParaRPr lang="en-US" altLang="zh-CN"/>
          </a:p>
          <a:p>
            <a:r>
              <a:rPr lang="en-US" altLang="zh-CN"/>
              <a:t>covers up problems and limits the benefits of Scrum</a:t>
            </a:r>
          </a:p>
          <a:p>
            <a:r>
              <a:rPr lang="en-US" altLang="zh-CN"/>
              <a:t>potentially even rendering it useless.</a:t>
            </a:r>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a:t>
            </a:r>
            <a:endParaRPr lang="zh-CN" altLang="en-US"/>
          </a:p>
        </p:txBody>
      </p:sp>
      <p:sp>
        <p:nvSpPr>
          <p:cNvPr id="8" name="箭头: 下 7">
            <a:extLst>
              <a:ext uri="{FF2B5EF4-FFF2-40B4-BE49-F238E27FC236}">
                <a16:creationId xmlns:a16="http://schemas.microsoft.com/office/drawing/2014/main" id="{76E0C081-2213-6CF3-8DF6-719693E0A751}"/>
              </a:ext>
            </a:extLst>
          </p:cNvPr>
          <p:cNvSpPr>
            <a:spLocks noChangeAspect="1"/>
          </p:cNvSpPr>
          <p:nvPr/>
        </p:nvSpPr>
        <p:spPr>
          <a:xfrm>
            <a:off x="2130836" y="3421628"/>
            <a:ext cx="216000" cy="436076"/>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20864289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zh-CN" altLang="en-US"/>
              <a:t>透明性 </a:t>
            </a:r>
            <a:r>
              <a:rPr lang="en-US" altLang="zh-CN"/>
              <a:t>Transparency</a:t>
            </a:r>
          </a:p>
          <a:p>
            <a:pPr lvl="1"/>
            <a:r>
              <a:rPr lang="en-US" altLang="zh-CN"/>
              <a:t>must be </a:t>
            </a:r>
            <a:r>
              <a:rPr lang="en-US" altLang="zh-CN" b="1">
                <a:solidFill>
                  <a:srgbClr val="FFFF00"/>
                </a:solidFill>
              </a:rPr>
              <a:t>visible</a:t>
            </a:r>
            <a:r>
              <a:rPr lang="en-US" altLang="zh-CN"/>
              <a:t> to those performing the work as well as those receiving the work</a:t>
            </a:r>
          </a:p>
          <a:p>
            <a:pPr lvl="1"/>
            <a:r>
              <a:rPr lang="en-US" altLang="zh-CN"/>
              <a:t>low transparency can lead to decisions that diminish value and increase risk</a:t>
            </a:r>
          </a:p>
          <a:p>
            <a:pPr lvl="1"/>
            <a:r>
              <a:rPr lang="en-US" altLang="zh-CN"/>
              <a:t>Inspection without transparency is misleading and wasteful.</a:t>
            </a:r>
          </a:p>
          <a:p>
            <a:r>
              <a:rPr lang="zh-CN" altLang="en-US"/>
              <a:t>检视 </a:t>
            </a:r>
            <a:r>
              <a:rPr lang="en-US" altLang="zh-CN"/>
              <a:t>Inspection</a:t>
            </a:r>
          </a:p>
          <a:p>
            <a:pPr lvl="1"/>
            <a:r>
              <a:rPr lang="en-US" altLang="zh-CN"/>
              <a:t>must be inspected </a:t>
            </a:r>
            <a:r>
              <a:rPr lang="en-US" altLang="zh-CN" b="1">
                <a:solidFill>
                  <a:srgbClr val="FFFF00"/>
                </a:solidFill>
              </a:rPr>
              <a:t>frequently</a:t>
            </a:r>
            <a:r>
              <a:rPr lang="en-US" altLang="zh-CN"/>
              <a:t> and </a:t>
            </a:r>
            <a:r>
              <a:rPr lang="en-US" altLang="zh-CN" b="1">
                <a:solidFill>
                  <a:srgbClr val="FFFF00"/>
                </a:solidFill>
              </a:rPr>
              <a:t>diligently</a:t>
            </a:r>
            <a:r>
              <a:rPr lang="en-US" altLang="zh-CN"/>
              <a:t> to detect potentially undesirable variances or problems</a:t>
            </a:r>
          </a:p>
          <a:p>
            <a:r>
              <a:rPr lang="zh-CN" altLang="en-US"/>
              <a:t>适应 </a:t>
            </a:r>
            <a:r>
              <a:rPr lang="en-US" altLang="zh-CN"/>
              <a:t>Adaptation</a:t>
            </a:r>
          </a:p>
          <a:p>
            <a:pPr lvl="1"/>
            <a:r>
              <a:rPr lang="en-US" altLang="zh-CN"/>
              <a:t>Case1</a:t>
            </a:r>
            <a:r>
              <a:rPr lang="zh-CN" altLang="en-US"/>
              <a:t>：</a:t>
            </a:r>
            <a:r>
              <a:rPr lang="en-US" altLang="zh-CN"/>
              <a:t>any aspects of a process </a:t>
            </a:r>
            <a:r>
              <a:rPr lang="en-US" altLang="zh-CN" b="1">
                <a:solidFill>
                  <a:srgbClr val="FFFF00"/>
                </a:solidFill>
              </a:rPr>
              <a:t>deviate</a:t>
            </a:r>
            <a:r>
              <a:rPr lang="en-US" altLang="zh-CN"/>
              <a:t> outside acceptable limits</a:t>
            </a:r>
          </a:p>
          <a:p>
            <a:pPr lvl="1"/>
            <a:r>
              <a:rPr lang="en-US" altLang="zh-CN"/>
              <a:t>Case2</a:t>
            </a:r>
            <a:r>
              <a:rPr lang="zh-CN" altLang="en-US"/>
              <a:t>：</a:t>
            </a:r>
            <a:r>
              <a:rPr lang="en-US" altLang="zh-CN"/>
              <a:t>the resulting product is </a:t>
            </a:r>
            <a:r>
              <a:rPr lang="en-US" altLang="zh-CN" b="1">
                <a:solidFill>
                  <a:srgbClr val="FFFF00"/>
                </a:solidFill>
              </a:rPr>
              <a:t>unacceptable</a:t>
            </a:r>
          </a:p>
          <a:p>
            <a:pPr lvl="1"/>
            <a:r>
              <a:rPr lang="en-US" altLang="zh-CN"/>
              <a:t>Case3</a:t>
            </a:r>
            <a:r>
              <a:rPr lang="zh-CN" altLang="en-US"/>
              <a:t>：</a:t>
            </a:r>
            <a:r>
              <a:rPr lang="en-US" altLang="zh-CN"/>
              <a:t>expected to adapt </a:t>
            </a:r>
            <a:r>
              <a:rPr lang="en-US" altLang="zh-CN" b="1">
                <a:solidFill>
                  <a:srgbClr val="FFFF00"/>
                </a:solidFill>
              </a:rPr>
              <a:t>the</a:t>
            </a:r>
            <a:r>
              <a:rPr lang="en-US" altLang="zh-CN"/>
              <a:t> </a:t>
            </a:r>
            <a:r>
              <a:rPr lang="en-US" altLang="zh-CN" b="1">
                <a:solidFill>
                  <a:srgbClr val="FFFF00"/>
                </a:solidFill>
              </a:rPr>
              <a:t>moment</a:t>
            </a:r>
            <a:r>
              <a:rPr lang="en-US" altLang="zh-CN"/>
              <a:t> it learns anything new through inspection</a:t>
            </a:r>
            <a:endParaRPr lang="en-US" altLang="zh-CN" b="1">
              <a:solidFill>
                <a:srgbClr val="FF0000"/>
              </a:solidFill>
            </a:endParaRPr>
          </a:p>
          <a:p>
            <a:pPr lvl="1"/>
            <a:r>
              <a:rPr lang="en-US" altLang="zh-CN"/>
              <a:t>becomes more difficult when the people involved are </a:t>
            </a:r>
            <a:r>
              <a:rPr lang="en-US" altLang="zh-CN" b="1">
                <a:solidFill>
                  <a:srgbClr val="FFFF00"/>
                </a:solidFill>
              </a:rPr>
              <a:t>not</a:t>
            </a:r>
            <a:r>
              <a:rPr lang="en-US" altLang="zh-CN"/>
              <a:t> empowered or self-managing</a:t>
            </a:r>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Tree>
    <p:extLst>
      <p:ext uri="{BB962C8B-B14F-4D97-AF65-F5344CB8AC3E}">
        <p14:creationId xmlns:p14="http://schemas.microsoft.com/office/powerpoint/2010/main" val="37359337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10" name="内容占位符 9">
            <a:extLst>
              <a:ext uri="{FF2B5EF4-FFF2-40B4-BE49-F238E27FC236}">
                <a16:creationId xmlns:a16="http://schemas.microsoft.com/office/drawing/2014/main" id="{2E77BAD5-2ACC-BBCD-26C2-F4A0C2BDE93A}"/>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7" name="组合 6">
            <a:extLst>
              <a:ext uri="{FF2B5EF4-FFF2-40B4-BE49-F238E27FC236}">
                <a16:creationId xmlns:a16="http://schemas.microsoft.com/office/drawing/2014/main" id="{B28B744E-946A-3078-DDC2-FBCD33F1DECF}"/>
              </a:ext>
            </a:extLst>
          </p:cNvPr>
          <p:cNvGrpSpPr/>
          <p:nvPr/>
        </p:nvGrpSpPr>
        <p:grpSpPr>
          <a:xfrm>
            <a:off x="695324" y="1339271"/>
            <a:ext cx="3240000" cy="4442097"/>
            <a:chOff x="695324" y="1339271"/>
            <a:chExt cx="3240000" cy="4442097"/>
          </a:xfrm>
        </p:grpSpPr>
        <p:sp>
          <p:nvSpPr>
            <p:cNvPr id="12" name="TextBox 11">
              <a:extLst>
                <a:ext uri="{FF2B5EF4-FFF2-40B4-BE49-F238E27FC236}">
                  <a16:creationId xmlns:a16="http://schemas.microsoft.com/office/drawing/2014/main" id="{50841E2C-1314-450F-DBE1-CB2815A416EC}"/>
                </a:ext>
              </a:extLst>
            </p:cNvPr>
            <p:cNvSpPr txBox="1"/>
            <p:nvPr/>
          </p:nvSpPr>
          <p:spPr>
            <a:xfrm>
              <a:off x="695324" y="1893455"/>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solidFill>
                    <a:schemeClr val="bg1"/>
                  </a:solidFill>
                </a:rPr>
                <a:t>所有与过程、工作、进展和挑战相关的信息必须对团队和干系人清晰可见</a:t>
              </a:r>
            </a:p>
            <a:p>
              <a:pPr marL="285750" indent="-285750" algn="just">
                <a:buFont typeface="Arial" panose="020B0604020202020204" pitchFamily="34" charset="0"/>
                <a:buChar char="•"/>
              </a:pPr>
              <a:r>
                <a:rPr lang="zh-CN" altLang="en-US" sz="1600">
                  <a:solidFill>
                    <a:schemeClr val="bg1"/>
                  </a:solidFill>
                </a:rPr>
                <a:t>工作项（如 </a:t>
              </a:r>
              <a:r>
                <a:rPr lang="en-US" altLang="zh-CN" sz="1600">
                  <a:solidFill>
                    <a:schemeClr val="bg1"/>
                  </a:solidFill>
                </a:rPr>
                <a:t>Product Backlog</a:t>
              </a:r>
              <a:r>
                <a:rPr lang="zh-CN" altLang="en-US" sz="1600">
                  <a:solidFill>
                    <a:schemeClr val="bg1"/>
                  </a:solidFill>
                </a:rPr>
                <a:t>）的内容、状态和优先级必须公开</a:t>
              </a:r>
            </a:p>
            <a:p>
              <a:pPr marL="285750" indent="-285750" algn="just">
                <a:buFont typeface="Arial" panose="020B0604020202020204" pitchFamily="34" charset="0"/>
                <a:buChar char="•"/>
              </a:pPr>
              <a:r>
                <a:rPr lang="zh-CN" altLang="en-US" sz="1600">
                  <a:solidFill>
                    <a:schemeClr val="bg1"/>
                  </a:solidFill>
                </a:rPr>
                <a:t>团队使用统一的术语（如完成定义 </a:t>
              </a:r>
              <a:r>
                <a:rPr lang="en-US" altLang="zh-CN" sz="1600">
                  <a:solidFill>
                    <a:schemeClr val="bg1"/>
                  </a:solidFill>
                </a:rPr>
                <a:t>- Definition of Done</a:t>
              </a:r>
              <a:r>
                <a:rPr lang="zh-CN" altLang="en-US" sz="1600">
                  <a:solidFill>
                    <a:schemeClr val="bg1"/>
                  </a:solidFill>
                </a:rPr>
                <a:t>）</a:t>
              </a:r>
            </a:p>
            <a:p>
              <a:pPr marL="285750" indent="-285750" algn="just">
                <a:buFont typeface="Arial" panose="020B0604020202020204" pitchFamily="34" charset="0"/>
                <a:buChar char="•"/>
              </a:pPr>
              <a:r>
                <a:rPr lang="zh-CN" altLang="en-US" sz="1600">
                  <a:solidFill>
                    <a:schemeClr val="bg1"/>
                  </a:solidFill>
                </a:rPr>
                <a:t>进度通过可视化工具（如 </a:t>
              </a:r>
              <a:r>
                <a:rPr lang="en-US" altLang="zh-CN" sz="1600">
                  <a:solidFill>
                    <a:schemeClr val="bg1"/>
                  </a:solidFill>
                </a:rPr>
                <a:t>Sprint Burndown Chart</a:t>
              </a:r>
              <a:r>
                <a:rPr lang="zh-CN" altLang="en-US" sz="1600">
                  <a:solidFill>
                    <a:schemeClr val="bg1"/>
                  </a:solidFill>
                </a:rPr>
                <a:t>、看板）展示</a:t>
              </a:r>
            </a:p>
            <a:p>
              <a:pPr marL="285750" indent="-285750" algn="just">
                <a:buFont typeface="Arial" panose="020B0604020202020204" pitchFamily="34" charset="0"/>
                <a:buChar char="•"/>
              </a:pPr>
              <a:r>
                <a:rPr lang="zh-CN" altLang="en-US" sz="1600">
                  <a:solidFill>
                    <a:schemeClr val="bg1"/>
                  </a:solidFill>
                </a:rPr>
                <a:t>目的：确保所有人基于相同事实做决策，避免误解和隐藏问题</a:t>
              </a:r>
            </a:p>
          </p:txBody>
        </p:sp>
        <p:sp>
          <p:nvSpPr>
            <p:cNvPr id="16" name="Rectangle 15">
              <a:extLst>
                <a:ext uri="{FF2B5EF4-FFF2-40B4-BE49-F238E27FC236}">
                  <a16:creationId xmlns:a16="http://schemas.microsoft.com/office/drawing/2014/main" id="{24290764-14D2-7936-9313-21DD7B82F22D}"/>
                </a:ext>
              </a:extLst>
            </p:cNvPr>
            <p:cNvSpPr/>
            <p:nvPr/>
          </p:nvSpPr>
          <p:spPr>
            <a:xfrm>
              <a:off x="695324"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透明性 </a:t>
              </a:r>
              <a:r>
                <a:rPr lang="en-US" altLang="zh-CN" sz="1600"/>
                <a:t>Transparency</a:t>
              </a:r>
              <a:endParaRPr lang="zh-CN" altLang="en-US" sz="1600"/>
            </a:p>
          </p:txBody>
        </p:sp>
      </p:grpSp>
      <p:grpSp>
        <p:nvGrpSpPr>
          <p:cNvPr id="3" name="组合 2">
            <a:extLst>
              <a:ext uri="{FF2B5EF4-FFF2-40B4-BE49-F238E27FC236}">
                <a16:creationId xmlns:a16="http://schemas.microsoft.com/office/drawing/2014/main" id="{F79935C3-78EF-B58F-0896-68355AD5ED50}"/>
              </a:ext>
            </a:extLst>
          </p:cNvPr>
          <p:cNvGrpSpPr/>
          <p:nvPr/>
        </p:nvGrpSpPr>
        <p:grpSpPr>
          <a:xfrm>
            <a:off x="8256000" y="1339271"/>
            <a:ext cx="3240000" cy="4442095"/>
            <a:chOff x="4476000" y="1339271"/>
            <a:chExt cx="3240000" cy="4442095"/>
          </a:xfrm>
        </p:grpSpPr>
        <p:sp>
          <p:nvSpPr>
            <p:cNvPr id="14" name="TextBox 13">
              <a:extLst>
                <a:ext uri="{FF2B5EF4-FFF2-40B4-BE49-F238E27FC236}">
                  <a16:creationId xmlns:a16="http://schemas.microsoft.com/office/drawing/2014/main" id="{590E775E-DF1C-A695-8EC9-BD2A949E6FB7}"/>
                </a:ext>
              </a:extLst>
            </p:cNvPr>
            <p:cNvSpPr txBox="1"/>
            <p:nvPr/>
          </p:nvSpPr>
          <p:spPr>
            <a:xfrm>
              <a:off x="4476000" y="1893453"/>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solidFill>
                    <a:schemeClr val="bg1"/>
                  </a:solidFill>
                </a:rPr>
                <a:t>基于检视结果，团队必须迅速调整行为、计划或方法</a:t>
              </a:r>
            </a:p>
            <a:p>
              <a:pPr marL="285750" indent="-285750" algn="just">
                <a:buFont typeface="Arial" panose="020B0604020202020204" pitchFamily="34" charset="0"/>
                <a:buChar char="•"/>
              </a:pPr>
              <a:r>
                <a:rPr lang="zh-CN" altLang="en-US" sz="1600">
                  <a:solidFill>
                    <a:schemeClr val="bg1"/>
                  </a:solidFill>
                </a:rPr>
                <a:t>如果发现产品方向偏离，可在下个 </a:t>
              </a:r>
              <a:r>
                <a:rPr lang="en-US" altLang="zh-CN" sz="1600">
                  <a:solidFill>
                    <a:schemeClr val="bg1"/>
                  </a:solidFill>
                </a:rPr>
                <a:t>Sprint </a:t>
              </a:r>
              <a:r>
                <a:rPr lang="zh-CN" altLang="en-US" sz="1600">
                  <a:solidFill>
                    <a:schemeClr val="bg1"/>
                  </a:solidFill>
                </a:rPr>
                <a:t>调整 </a:t>
              </a:r>
              <a:r>
                <a:rPr lang="en-US" altLang="zh-CN" sz="1600">
                  <a:solidFill>
                    <a:schemeClr val="bg1"/>
                  </a:solidFill>
                </a:rPr>
                <a:t>Backlog</a:t>
              </a:r>
              <a:endParaRPr lang="zh-CN" altLang="en-US" sz="1600">
                <a:solidFill>
                  <a:schemeClr val="bg1"/>
                </a:solidFill>
              </a:endParaRPr>
            </a:p>
            <a:p>
              <a:pPr marL="285750" indent="-285750" algn="just">
                <a:buFont typeface="Arial" panose="020B0604020202020204" pitchFamily="34" charset="0"/>
                <a:buChar char="•"/>
              </a:pPr>
              <a:r>
                <a:rPr lang="zh-CN" altLang="en-US" sz="1600">
                  <a:solidFill>
                    <a:schemeClr val="bg1"/>
                  </a:solidFill>
                </a:rPr>
                <a:t>如果流程效率低，可在 </a:t>
              </a:r>
              <a:r>
                <a:rPr lang="en-US" altLang="zh-CN" sz="1600">
                  <a:solidFill>
                    <a:schemeClr val="bg1"/>
                  </a:solidFill>
                </a:rPr>
                <a:t>Retrospective </a:t>
              </a:r>
              <a:r>
                <a:rPr lang="zh-CN" altLang="en-US" sz="1600">
                  <a:solidFill>
                    <a:schemeClr val="bg1"/>
                  </a:solidFill>
                </a:rPr>
                <a:t>后改进工作方式</a:t>
              </a:r>
            </a:p>
            <a:p>
              <a:pPr marL="285750" indent="-285750" algn="just">
                <a:buFont typeface="Arial" panose="020B0604020202020204" pitchFamily="34" charset="0"/>
                <a:buChar char="•"/>
              </a:pPr>
              <a:r>
                <a:rPr lang="zh-CN" altLang="en-US" sz="1600">
                  <a:solidFill>
                    <a:schemeClr val="bg1"/>
                  </a:solidFill>
                </a:rPr>
                <a:t>适应必须在可接受的时间窗口内发生（通常在下一个 </a:t>
              </a:r>
              <a:r>
                <a:rPr lang="en-US" altLang="zh-CN" sz="1600">
                  <a:solidFill>
                    <a:schemeClr val="bg1"/>
                  </a:solidFill>
                </a:rPr>
                <a:t>Sprint </a:t>
              </a:r>
              <a:r>
                <a:rPr lang="zh-CN" altLang="en-US" sz="1600">
                  <a:solidFill>
                    <a:schemeClr val="bg1"/>
                  </a:solidFill>
                </a:rPr>
                <a:t>开始前）</a:t>
              </a:r>
            </a:p>
            <a:p>
              <a:pPr marL="285750" indent="-285750" algn="just">
                <a:buFont typeface="Arial" panose="020B0604020202020204" pitchFamily="34" charset="0"/>
                <a:buChar char="•"/>
              </a:pPr>
              <a:r>
                <a:rPr lang="zh-CN" altLang="en-US" sz="1600">
                  <a:solidFill>
                    <a:schemeClr val="bg1"/>
                  </a:solidFill>
                </a:rPr>
                <a:t>目的：持续优化交付价值的能力和团队效能</a:t>
              </a:r>
            </a:p>
          </p:txBody>
        </p:sp>
        <p:sp>
          <p:nvSpPr>
            <p:cNvPr id="17" name="Rectangle 16">
              <a:extLst>
                <a:ext uri="{FF2B5EF4-FFF2-40B4-BE49-F238E27FC236}">
                  <a16:creationId xmlns:a16="http://schemas.microsoft.com/office/drawing/2014/main" id="{C1E832B5-A547-FC64-84F2-5EA4A6C8D9DB}"/>
                </a:ext>
              </a:extLst>
            </p:cNvPr>
            <p:cNvSpPr/>
            <p:nvPr/>
          </p:nvSpPr>
          <p:spPr>
            <a:xfrm>
              <a:off x="4476000"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适应 </a:t>
              </a:r>
              <a:r>
                <a:rPr lang="en-US" altLang="zh-CN" sz="1600"/>
                <a:t>Adaptation</a:t>
              </a:r>
            </a:p>
          </p:txBody>
        </p:sp>
      </p:grpSp>
      <p:grpSp>
        <p:nvGrpSpPr>
          <p:cNvPr id="5" name="组合 4">
            <a:extLst>
              <a:ext uri="{FF2B5EF4-FFF2-40B4-BE49-F238E27FC236}">
                <a16:creationId xmlns:a16="http://schemas.microsoft.com/office/drawing/2014/main" id="{223DFFC2-4857-1809-38B8-7FFFE6DEE7AF}"/>
              </a:ext>
            </a:extLst>
          </p:cNvPr>
          <p:cNvGrpSpPr/>
          <p:nvPr/>
        </p:nvGrpSpPr>
        <p:grpSpPr>
          <a:xfrm>
            <a:off x="4475662" y="1339271"/>
            <a:ext cx="3240000" cy="4442095"/>
            <a:chOff x="8256675" y="1339271"/>
            <a:chExt cx="3240000" cy="4442095"/>
          </a:xfrm>
        </p:grpSpPr>
        <p:sp>
          <p:nvSpPr>
            <p:cNvPr id="13" name="TextBox 12">
              <a:extLst>
                <a:ext uri="{FF2B5EF4-FFF2-40B4-BE49-F238E27FC236}">
                  <a16:creationId xmlns:a16="http://schemas.microsoft.com/office/drawing/2014/main" id="{255E1BCE-EA06-9F7F-0587-769BC02C12E9}"/>
                </a:ext>
              </a:extLst>
            </p:cNvPr>
            <p:cNvSpPr txBox="1"/>
            <p:nvPr/>
          </p:nvSpPr>
          <p:spPr>
            <a:xfrm>
              <a:off x="8256675" y="1893454"/>
              <a:ext cx="3240000" cy="3887912"/>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en-US" altLang="zh-CN" sz="1600">
                  <a:solidFill>
                    <a:schemeClr val="bg1"/>
                  </a:solidFill>
                </a:rPr>
                <a:t>Scrum </a:t>
              </a:r>
              <a:r>
                <a:rPr lang="zh-CN" altLang="en-US" sz="1600">
                  <a:solidFill>
                    <a:schemeClr val="bg1"/>
                  </a:solidFill>
                </a:rPr>
                <a:t>团队定期检查产品、过程和计划，以识别偏差或改进机会</a:t>
              </a:r>
            </a:p>
            <a:p>
              <a:pPr marL="285750" indent="-285750" algn="just">
                <a:buFont typeface="Arial" panose="020B0604020202020204" pitchFamily="34" charset="0"/>
                <a:buChar char="•"/>
              </a:pPr>
              <a:r>
                <a:rPr lang="zh-CN" altLang="en-US" sz="1600">
                  <a:solidFill>
                    <a:schemeClr val="bg1"/>
                  </a:solidFill>
                </a:rPr>
                <a:t>在固定时间点进行：</a:t>
              </a:r>
            </a:p>
            <a:p>
              <a:pPr marL="285750" indent="-285750" algn="just">
                <a:buFont typeface="Arial" panose="020B0604020202020204" pitchFamily="34" charset="0"/>
                <a:buChar char="•"/>
              </a:pPr>
              <a:r>
                <a:rPr lang="en-US" altLang="zh-CN" sz="1600">
                  <a:solidFill>
                    <a:schemeClr val="bg1"/>
                  </a:solidFill>
                </a:rPr>
                <a:t>Daily Scrum</a:t>
              </a:r>
              <a:r>
                <a:rPr lang="zh-CN" altLang="en-US" sz="1600">
                  <a:solidFill>
                    <a:schemeClr val="bg1"/>
                  </a:solidFill>
                </a:rPr>
                <a:t>：每日检视进度与障碍</a:t>
              </a:r>
            </a:p>
            <a:p>
              <a:pPr marL="285750" indent="-285750" algn="just">
                <a:buFont typeface="Arial" panose="020B0604020202020204" pitchFamily="34" charset="0"/>
                <a:buChar char="•"/>
              </a:pPr>
              <a:r>
                <a:rPr lang="en-US" altLang="zh-CN" sz="1600">
                  <a:solidFill>
                    <a:schemeClr val="bg1"/>
                  </a:solidFill>
                </a:rPr>
                <a:t>Sprint Review</a:t>
              </a:r>
              <a:r>
                <a:rPr lang="zh-CN" altLang="en-US" sz="1600">
                  <a:solidFill>
                    <a:schemeClr val="bg1"/>
                  </a:solidFill>
                </a:rPr>
                <a:t>：检视可交付成果是否满足目标</a:t>
              </a:r>
            </a:p>
            <a:p>
              <a:pPr marL="285750" indent="-285750" algn="just">
                <a:buFont typeface="Arial" panose="020B0604020202020204" pitchFamily="34" charset="0"/>
                <a:buChar char="•"/>
              </a:pPr>
              <a:r>
                <a:rPr lang="en-US" altLang="zh-CN" sz="1600">
                  <a:solidFill>
                    <a:schemeClr val="bg1"/>
                  </a:solidFill>
                </a:rPr>
                <a:t>Sprint Retrospective</a:t>
              </a:r>
              <a:r>
                <a:rPr lang="zh-CN" altLang="en-US" sz="1600">
                  <a:solidFill>
                    <a:schemeClr val="bg1"/>
                  </a:solidFill>
                </a:rPr>
                <a:t>：检视流程与协作方式</a:t>
              </a:r>
            </a:p>
            <a:p>
              <a:pPr marL="285750" indent="-285750" algn="just">
                <a:buFont typeface="Arial" panose="020B0604020202020204" pitchFamily="34" charset="0"/>
                <a:buChar char="•"/>
              </a:pPr>
              <a:r>
                <a:rPr lang="zh-CN" altLang="en-US" sz="1600">
                  <a:solidFill>
                    <a:schemeClr val="bg1"/>
                  </a:solidFill>
                </a:rPr>
                <a:t>检视必须及时（不能等到项目结束），且不影响正常工作流</a:t>
              </a:r>
            </a:p>
            <a:p>
              <a:pPr marL="285750" indent="-285750" algn="just">
                <a:buFont typeface="Arial" panose="020B0604020202020204" pitchFamily="34" charset="0"/>
                <a:buChar char="•"/>
              </a:pPr>
              <a:r>
                <a:rPr lang="zh-CN" altLang="en-US" sz="1600">
                  <a:solidFill>
                    <a:schemeClr val="bg1"/>
                  </a:solidFill>
                </a:rPr>
                <a:t>目的：尽早发现问题，防止小偏差演变成大风险</a:t>
              </a:r>
            </a:p>
          </p:txBody>
        </p:sp>
        <p:sp>
          <p:nvSpPr>
            <p:cNvPr id="18" name="Rectangle 17">
              <a:extLst>
                <a:ext uri="{FF2B5EF4-FFF2-40B4-BE49-F238E27FC236}">
                  <a16:creationId xmlns:a16="http://schemas.microsoft.com/office/drawing/2014/main" id="{9788AF76-B448-9EAB-756A-851C875C9E5E}"/>
                </a:ext>
              </a:extLst>
            </p:cNvPr>
            <p:cNvSpPr/>
            <p:nvPr/>
          </p:nvSpPr>
          <p:spPr>
            <a:xfrm>
              <a:off x="8256675"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检视 </a:t>
              </a:r>
              <a:r>
                <a:rPr lang="en-US" altLang="zh-CN" sz="1600"/>
                <a:t>Inspection</a:t>
              </a:r>
            </a:p>
          </p:txBody>
        </p:sp>
      </p:grpSp>
    </p:spTree>
    <p:extLst>
      <p:ext uri="{BB962C8B-B14F-4D97-AF65-F5344CB8AC3E}">
        <p14:creationId xmlns:p14="http://schemas.microsoft.com/office/powerpoint/2010/main" val="383549778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5B8EA-AE95-3281-C3B9-A9F926531F00}"/>
              </a:ext>
            </a:extLst>
          </p:cNvPr>
          <p:cNvSpPr>
            <a:spLocks noGrp="1"/>
          </p:cNvSpPr>
          <p:nvPr>
            <p:ph type="title"/>
          </p:nvPr>
        </p:nvSpPr>
        <p:spPr>
          <a:xfrm>
            <a:off x="695998" y="360000"/>
            <a:ext cx="6375921" cy="429413"/>
          </a:xfrm>
        </p:spPr>
        <p:txBody>
          <a:bodyPr/>
          <a:lstStyle/>
          <a:p>
            <a:r>
              <a:rPr lang="en-US" altLang="zh-CN"/>
              <a:t>2.6.2 </a:t>
            </a:r>
            <a:r>
              <a:rPr lang="zh-CN" altLang="en-US"/>
              <a:t>体系</a:t>
            </a:r>
          </a:p>
        </p:txBody>
      </p:sp>
      <p:sp>
        <p:nvSpPr>
          <p:cNvPr id="7" name="内容占位符 6">
            <a:extLst>
              <a:ext uri="{FF2B5EF4-FFF2-40B4-BE49-F238E27FC236}">
                <a16:creationId xmlns:a16="http://schemas.microsoft.com/office/drawing/2014/main" id="{D6091357-22F9-23F7-606C-EACB3E9516F7}"/>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BF2FFCA6-7626-9771-0ADA-629FEAA3C107}"/>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aphicFrame>
        <p:nvGraphicFramePr>
          <p:cNvPr id="8" name="Table 7">
            <a:extLst>
              <a:ext uri="{FF2B5EF4-FFF2-40B4-BE49-F238E27FC236}">
                <a16:creationId xmlns:a16="http://schemas.microsoft.com/office/drawing/2014/main" id="{A96257D8-1CB1-6C66-C3D9-DC9BD2C5162A}"/>
              </a:ext>
            </a:extLst>
          </p:cNvPr>
          <p:cNvGraphicFramePr>
            <a:graphicFrameLocks noGrp="1"/>
          </p:cNvGraphicFramePr>
          <p:nvPr>
            <p:extLst>
              <p:ext uri="{D42A27DB-BD31-4B8C-83A1-F6EECF244321}">
                <p14:modId xmlns:p14="http://schemas.microsoft.com/office/powerpoint/2010/main" val="2670571560"/>
              </p:ext>
            </p:extLst>
          </p:nvPr>
        </p:nvGraphicFramePr>
        <p:xfrm>
          <a:off x="695325" y="1626235"/>
          <a:ext cx="10801350" cy="4638040"/>
        </p:xfrm>
        <a:graphic>
          <a:graphicData uri="http://schemas.openxmlformats.org/drawingml/2006/table">
            <a:tbl>
              <a:tblPr firstRow="1" bandRow="1">
                <a:tableStyleId>{2D5ABB26-0587-4C30-8999-92F81FD0307C}</a:tableStyleId>
              </a:tblPr>
              <a:tblGrid>
                <a:gridCol w="1274877">
                  <a:extLst>
                    <a:ext uri="{9D8B030D-6E8A-4147-A177-3AD203B41FA5}">
                      <a16:colId xmlns:a16="http://schemas.microsoft.com/office/drawing/2014/main" val="3703345355"/>
                    </a:ext>
                  </a:extLst>
                </a:gridCol>
                <a:gridCol w="2300140">
                  <a:extLst>
                    <a:ext uri="{9D8B030D-6E8A-4147-A177-3AD203B41FA5}">
                      <a16:colId xmlns:a16="http://schemas.microsoft.com/office/drawing/2014/main" val="2021597401"/>
                    </a:ext>
                  </a:extLst>
                </a:gridCol>
                <a:gridCol w="7226333">
                  <a:extLst>
                    <a:ext uri="{9D8B030D-6E8A-4147-A177-3AD203B41FA5}">
                      <a16:colId xmlns:a16="http://schemas.microsoft.com/office/drawing/2014/main" val="2036264542"/>
                    </a:ext>
                  </a:extLst>
                </a:gridCol>
              </a:tblGrid>
              <a:tr h="370840">
                <a:tc>
                  <a:txBody>
                    <a:bodyPr/>
                    <a:lstStyle/>
                    <a:p>
                      <a:pPr algn="ct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Items</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Description</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496229957"/>
                  </a:ext>
                </a:extLst>
              </a:tr>
              <a:tr h="370840">
                <a:tc>
                  <a:txBody>
                    <a:bodyPr/>
                    <a:lstStyle/>
                    <a:p>
                      <a:pPr algn="ctr"/>
                      <a:r>
                        <a:rPr lang="en-US" altLang="zh-CN" sz="1600">
                          <a:solidFill>
                            <a:schemeClr val="bg1"/>
                          </a:solidFill>
                        </a:rPr>
                        <a:t>5</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价值观 </a:t>
                      </a:r>
                      <a:r>
                        <a:rPr lang="en-US" altLang="zh-CN" sz="1600">
                          <a:solidFill>
                            <a:schemeClr val="bg1"/>
                          </a:solidFill>
                        </a:rPr>
                        <a:t>Values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承诺 </a:t>
                      </a:r>
                      <a:r>
                        <a:rPr lang="en-US" altLang="zh-CN" sz="1600">
                          <a:solidFill>
                            <a:schemeClr val="bg1"/>
                          </a:solidFill>
                        </a:rPr>
                        <a:t>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专注 </a:t>
                      </a:r>
                      <a:r>
                        <a:rPr lang="en-US" altLang="zh-CN" sz="1600">
                          <a:solidFill>
                            <a:schemeClr val="bg1"/>
                          </a:solidFill>
                        </a:rPr>
                        <a:t>Focus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开放</a:t>
                      </a:r>
                      <a:r>
                        <a:rPr lang="en-US" altLang="zh-CN" sz="1600">
                          <a:solidFill>
                            <a:schemeClr val="bg1"/>
                          </a:solidFill>
                        </a:rPr>
                        <a:t> Openness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尊重</a:t>
                      </a:r>
                      <a:r>
                        <a:rPr lang="en-US" altLang="zh-CN" sz="1600">
                          <a:solidFill>
                            <a:schemeClr val="bg1"/>
                          </a:solidFill>
                        </a:rPr>
                        <a:t> Respect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勇气</a:t>
                      </a:r>
                      <a:r>
                        <a:rPr lang="en-US" altLang="zh-CN" sz="1600">
                          <a:solidFill>
                            <a:schemeClr val="bg1"/>
                          </a:solidFill>
                        </a:rPr>
                        <a:t> Courage</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18090371"/>
                  </a:ext>
                </a:extLst>
              </a:tr>
              <a:tr h="370840">
                <a:tc>
                  <a:txBody>
                    <a:bodyPr/>
                    <a:lstStyle/>
                    <a:p>
                      <a:pPr algn="ctr"/>
                      <a:r>
                        <a:rPr lang="en-US" altLang="zh-CN" sz="1600">
                          <a:solidFill>
                            <a:schemeClr val="bg1"/>
                          </a:solidFill>
                        </a:rPr>
                        <a:t>3</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团队 </a:t>
                      </a:r>
                      <a:r>
                        <a:rPr lang="en-US" altLang="zh-CN" sz="1600">
                          <a:solidFill>
                            <a:schemeClr val="bg1"/>
                          </a:solidFill>
                        </a:rPr>
                        <a:t>Team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开发者 </a:t>
                      </a:r>
                      <a:r>
                        <a:rPr lang="en-US" altLang="zh-CN" sz="1600">
                          <a:solidFill>
                            <a:schemeClr val="bg1"/>
                          </a:solidFill>
                        </a:rPr>
                        <a:t>Developer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产品负责人 </a:t>
                      </a:r>
                      <a:r>
                        <a:rPr lang="en-US" altLang="zh-CN" sz="1600">
                          <a:solidFill>
                            <a:schemeClr val="bg1"/>
                          </a:solidFill>
                        </a:rPr>
                        <a:t>Product Owner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敏捷教练 </a:t>
                      </a:r>
                      <a:r>
                        <a:rPr lang="en-US" altLang="zh-CN" sz="1600">
                          <a:solidFill>
                            <a:schemeClr val="bg1"/>
                          </a:solidFill>
                        </a:rPr>
                        <a:t>Scrum Master</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33466322"/>
                  </a:ext>
                </a:extLst>
              </a:tr>
              <a:tr h="370840">
                <a:tc>
                  <a:txBody>
                    <a:bodyPr/>
                    <a:lstStyle/>
                    <a:p>
                      <a:pPr algn="ctr"/>
                      <a:r>
                        <a:rPr lang="en-US" altLang="zh-CN" sz="1600">
                          <a:solidFill>
                            <a:schemeClr val="bg1"/>
                          </a:solidFill>
                        </a:rPr>
                        <a:t>5</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事件 </a:t>
                      </a:r>
                      <a:r>
                        <a:rPr lang="en-US" altLang="zh-CN" sz="1600">
                          <a:solidFill>
                            <a:schemeClr val="bg1"/>
                          </a:solidFill>
                        </a:rPr>
                        <a:t>Events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 </a:t>
                      </a:r>
                      <a:r>
                        <a:rPr lang="en-US" altLang="zh-CN" sz="1600" b="0" i="0" u="none" strike="noStrike" kern="1200">
                          <a:solidFill>
                            <a:schemeClr val="bg1"/>
                          </a:solidFill>
                          <a:effectLst/>
                          <a:latin typeface="+mn-lt"/>
                          <a:ea typeface="+mn-ea"/>
                          <a:cs typeface="+mn-cs"/>
                        </a:rPr>
                        <a:t>The Sprint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冲刺规划 </a:t>
                      </a:r>
                      <a:r>
                        <a:rPr lang="en-US" altLang="zh-CN" sz="1600" b="0" i="0" u="none" strike="noStrike" kern="1200">
                          <a:solidFill>
                            <a:schemeClr val="bg1"/>
                          </a:solidFill>
                          <a:effectLst/>
                          <a:latin typeface="+mn-lt"/>
                          <a:ea typeface="+mn-ea"/>
                          <a:cs typeface="+mn-cs"/>
                        </a:rPr>
                        <a:t>Sprint Planning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每日站会 </a:t>
                      </a:r>
                      <a:r>
                        <a:rPr lang="en-US" altLang="zh-CN" sz="1600" b="0" i="0" u="none" strike="noStrike" kern="1200">
                          <a:solidFill>
                            <a:schemeClr val="bg1"/>
                          </a:solidFill>
                          <a:effectLst/>
                          <a:latin typeface="+mn-lt"/>
                          <a:ea typeface="+mn-ea"/>
                          <a:cs typeface="+mn-cs"/>
                        </a:rPr>
                        <a:t>Daily Scrum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冲刺评审 </a:t>
                      </a:r>
                      <a:r>
                        <a:rPr lang="en-US" altLang="zh-CN" sz="1600" b="0" i="0" u="none" strike="noStrike" kern="1200">
                          <a:solidFill>
                            <a:schemeClr val="bg1"/>
                          </a:solidFill>
                          <a:effectLst/>
                          <a:latin typeface="+mn-lt"/>
                          <a:ea typeface="+mn-ea"/>
                          <a:cs typeface="+mn-cs"/>
                        </a:rPr>
                        <a:t>Sprint Review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冲刺回顾 </a:t>
                      </a:r>
                      <a:r>
                        <a:rPr lang="en-US" altLang="zh-CN" sz="1600" b="0" i="0" u="none" strike="noStrike" kern="1200">
                          <a:solidFill>
                            <a:schemeClr val="bg1"/>
                          </a:solidFill>
                          <a:effectLst/>
                          <a:latin typeface="+mn-lt"/>
                          <a:ea typeface="+mn-ea"/>
                          <a:cs typeface="+mn-cs"/>
                        </a:rPr>
                        <a:t>Sprint Retrospective </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29475179"/>
                  </a:ext>
                </a:extLst>
              </a:tr>
              <a:tr h="370840">
                <a:tc>
                  <a:txBody>
                    <a:bodyPr/>
                    <a:lstStyle/>
                    <a:p>
                      <a:pPr algn="ctr"/>
                      <a:r>
                        <a:rPr lang="en-US" altLang="zh-CN" sz="1600">
                          <a:solidFill>
                            <a:schemeClr val="bg1"/>
                          </a:solidFill>
                        </a:rPr>
                        <a:t>3</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工件 </a:t>
                      </a:r>
                      <a:r>
                        <a:rPr lang="en-US" altLang="zh-CN" sz="1600">
                          <a:solidFill>
                            <a:schemeClr val="bg1"/>
                          </a:solidFill>
                        </a:rPr>
                        <a:t>Aircrafts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产品待办事项 </a:t>
                      </a:r>
                      <a:r>
                        <a:rPr lang="en-US" altLang="zh-CN" sz="1600" b="0" i="0" u="none" strike="noStrike" kern="1200">
                          <a:solidFill>
                            <a:schemeClr val="bg1"/>
                          </a:solidFill>
                          <a:effectLst/>
                          <a:latin typeface="+mn-lt"/>
                          <a:ea typeface="+mn-ea"/>
                          <a:cs typeface="+mn-cs"/>
                        </a:rPr>
                        <a:t>Product Backlog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迭代待办列表 </a:t>
                      </a:r>
                      <a:r>
                        <a:rPr lang="en-US" altLang="zh-CN" sz="1600" b="0" i="0" u="none" strike="noStrike" kern="1200">
                          <a:solidFill>
                            <a:schemeClr val="bg1"/>
                          </a:solidFill>
                          <a:effectLst/>
                          <a:latin typeface="+mn-lt"/>
                          <a:ea typeface="+mn-ea"/>
                          <a:cs typeface="+mn-cs"/>
                        </a:rPr>
                        <a:t>Sprint Backlog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增加 </a:t>
                      </a:r>
                      <a:r>
                        <a:rPr lang="en-US" altLang="zh-CN" sz="1600" b="0" i="0" u="none" strike="noStrike" kern="1200">
                          <a:solidFill>
                            <a:schemeClr val="bg1"/>
                          </a:solidFill>
                          <a:effectLst/>
                          <a:latin typeface="+mn-lt"/>
                          <a:ea typeface="+mn-ea"/>
                          <a:cs typeface="+mn-cs"/>
                        </a:rPr>
                        <a:t>Increment </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6230981"/>
                  </a:ext>
                </a:extLst>
              </a:tr>
            </a:tbl>
          </a:graphicData>
        </a:graphic>
      </p:graphicFrame>
    </p:spTree>
    <p:extLst>
      <p:ext uri="{BB962C8B-B14F-4D97-AF65-F5344CB8AC3E}">
        <p14:creationId xmlns:p14="http://schemas.microsoft.com/office/powerpoint/2010/main" val="17970716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1199750" y="44115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1199750" y="48201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1199750" y="52287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3811622" y="44115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3809727" y="46608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3809727" y="51594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3809727" y="49101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3809727" y="54087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513399" y="5825192"/>
            <a:ext cx="1912703" cy="338554"/>
          </a:xfrm>
          <a:prstGeom prst="rect">
            <a:avLst/>
          </a:prstGeom>
          <a:noFill/>
        </p:spPr>
        <p:txBody>
          <a:bodyPr wrap="none" rtlCol="0">
            <a:spAutoFit/>
          </a:bodyPr>
          <a:lstStyle/>
          <a:p>
            <a:pPr algn="ctr"/>
            <a:r>
              <a:rPr lang="en-US" altLang="zh-CN" sz="1600" u="sng">
                <a:solidFill>
                  <a:srgbClr val="FFFF00"/>
                </a:solidFill>
              </a:rPr>
              <a:t>Product Backlog</a:t>
            </a:r>
            <a:endParaRPr lang="zh-CN" altLang="en-US" sz="1600" u="sng">
              <a:solidFill>
                <a:srgbClr val="FFFF00"/>
              </a:solidFill>
            </a:endParaRPr>
          </a:p>
        </p:txBody>
      </p:sp>
      <p:sp>
        <p:nvSpPr>
          <p:cNvPr id="16" name="文本框 15">
            <a:extLst>
              <a:ext uri="{FF2B5EF4-FFF2-40B4-BE49-F238E27FC236}">
                <a16:creationId xmlns:a16="http://schemas.microsoft.com/office/drawing/2014/main" id="{4262DDDD-FE14-AFB9-5B56-9B47A1F90D75}"/>
              </a:ext>
            </a:extLst>
          </p:cNvPr>
          <p:cNvSpPr txBox="1"/>
          <p:nvPr/>
        </p:nvSpPr>
        <p:spPr>
          <a:xfrm>
            <a:off x="3189754" y="5825192"/>
            <a:ext cx="1704313" cy="338554"/>
          </a:xfrm>
          <a:prstGeom prst="rect">
            <a:avLst/>
          </a:prstGeom>
          <a:noFill/>
        </p:spPr>
        <p:txBody>
          <a:bodyPr wrap="none" rtlCol="0">
            <a:spAutoFit/>
          </a:bodyPr>
          <a:lstStyle/>
          <a:p>
            <a:pPr algn="ctr"/>
            <a:r>
              <a:rPr lang="en-US" altLang="zh-CN" sz="1600" u="sng">
                <a:solidFill>
                  <a:srgbClr val="FFFF00"/>
                </a:solidFill>
              </a:rPr>
              <a:t>Sprint Backlog</a:t>
            </a:r>
            <a:endParaRPr lang="zh-CN" altLang="en-US" sz="1600" u="sng">
              <a:solidFill>
                <a:srgbClr val="FFFF00"/>
              </a:solidFill>
            </a:endParaRPr>
          </a:p>
        </p:txBody>
      </p:sp>
      <p:sp>
        <p:nvSpPr>
          <p:cNvPr id="19" name="文本框 18">
            <a:extLst>
              <a:ext uri="{FF2B5EF4-FFF2-40B4-BE49-F238E27FC236}">
                <a16:creationId xmlns:a16="http://schemas.microsoft.com/office/drawing/2014/main" id="{51C05E4B-16AF-EB18-51CD-5143A0C4944C}"/>
              </a:ext>
            </a:extLst>
          </p:cNvPr>
          <p:cNvSpPr txBox="1"/>
          <p:nvPr/>
        </p:nvSpPr>
        <p:spPr>
          <a:xfrm>
            <a:off x="7605565" y="5825192"/>
            <a:ext cx="1271502" cy="338554"/>
          </a:xfrm>
          <a:prstGeom prst="rect">
            <a:avLst/>
          </a:prstGeom>
          <a:noFill/>
        </p:spPr>
        <p:txBody>
          <a:bodyPr wrap="none" rtlCol="0">
            <a:spAutoFit/>
          </a:bodyPr>
          <a:lstStyle/>
          <a:p>
            <a:pPr algn="ctr"/>
            <a:r>
              <a:rPr lang="en-US" altLang="zh-CN" sz="1600" u="sng">
                <a:solidFill>
                  <a:srgbClr val="FFFF00"/>
                </a:solidFill>
              </a:rPr>
              <a:t>Increment</a:t>
            </a:r>
            <a:endParaRPr lang="zh-CN" altLang="en-US" sz="1600" u="sng">
              <a:solidFill>
                <a:srgbClr val="FFFF00"/>
              </a:solidFill>
            </a:endParaRPr>
          </a:p>
        </p:txBody>
      </p:sp>
      <p:sp>
        <p:nvSpPr>
          <p:cNvPr id="28" name="文本框 27">
            <a:extLst>
              <a:ext uri="{FF2B5EF4-FFF2-40B4-BE49-F238E27FC236}">
                <a16:creationId xmlns:a16="http://schemas.microsoft.com/office/drawing/2014/main" id="{5EA054E3-2D8B-30EB-1FB9-D427AB4834B5}"/>
              </a:ext>
            </a:extLst>
          </p:cNvPr>
          <p:cNvSpPr txBox="1"/>
          <p:nvPr/>
        </p:nvSpPr>
        <p:spPr>
          <a:xfrm>
            <a:off x="2002483" y="4433319"/>
            <a:ext cx="1760417" cy="338554"/>
          </a:xfrm>
          <a:prstGeom prst="rect">
            <a:avLst/>
          </a:prstGeom>
          <a:noFill/>
        </p:spPr>
        <p:txBody>
          <a:bodyPr wrap="none" rtlCol="0">
            <a:spAutoFit/>
          </a:bodyPr>
          <a:lstStyle/>
          <a:p>
            <a:pPr algn="ctr"/>
            <a:r>
              <a:rPr lang="en-US" altLang="zh-CN" sz="1600" b="1">
                <a:solidFill>
                  <a:schemeClr val="bg1"/>
                </a:solidFill>
              </a:rPr>
              <a:t>Sprint planning</a:t>
            </a:r>
            <a:endParaRPr lang="zh-CN" altLang="en-US" sz="1600" b="1">
              <a:solidFill>
                <a:schemeClr val="bg1"/>
              </a:solidFill>
            </a:endParaRPr>
          </a:p>
        </p:txBody>
      </p:sp>
      <p:sp>
        <p:nvSpPr>
          <p:cNvPr id="29" name="文本框 28">
            <a:extLst>
              <a:ext uri="{FF2B5EF4-FFF2-40B4-BE49-F238E27FC236}">
                <a16:creationId xmlns:a16="http://schemas.microsoft.com/office/drawing/2014/main" id="{A99EDA19-CDB9-E837-B15A-D53478C112FE}"/>
              </a:ext>
            </a:extLst>
          </p:cNvPr>
          <p:cNvSpPr txBox="1"/>
          <p:nvPr/>
        </p:nvSpPr>
        <p:spPr>
          <a:xfrm>
            <a:off x="9200481" y="5320601"/>
            <a:ext cx="926857" cy="338554"/>
          </a:xfrm>
          <a:prstGeom prst="rect">
            <a:avLst/>
          </a:prstGeom>
          <a:noFill/>
        </p:spPr>
        <p:txBody>
          <a:bodyPr wrap="none" rtlCol="0">
            <a:spAutoFit/>
          </a:bodyPr>
          <a:lstStyle/>
          <a:p>
            <a:pPr algn="ctr"/>
            <a:r>
              <a:rPr lang="en-US" altLang="zh-CN" sz="1600" b="1">
                <a:solidFill>
                  <a:schemeClr val="bg1"/>
                </a:solidFill>
              </a:rPr>
              <a:t>Review</a:t>
            </a:r>
            <a:endParaRPr lang="zh-CN" altLang="en-US" sz="1600" b="1">
              <a:solidFill>
                <a:schemeClr val="bg1"/>
              </a:solidFill>
            </a:endParaRPr>
          </a:p>
        </p:txBody>
      </p:sp>
      <p:sp>
        <p:nvSpPr>
          <p:cNvPr id="54" name="文本框 53">
            <a:extLst>
              <a:ext uri="{FF2B5EF4-FFF2-40B4-BE49-F238E27FC236}">
                <a16:creationId xmlns:a16="http://schemas.microsoft.com/office/drawing/2014/main" id="{8CB15623-04C7-DD26-E5DC-1D79846BF18D}"/>
              </a:ext>
            </a:extLst>
          </p:cNvPr>
          <p:cNvSpPr txBox="1"/>
          <p:nvPr/>
        </p:nvSpPr>
        <p:spPr>
          <a:xfrm>
            <a:off x="5125125" y="3507896"/>
            <a:ext cx="1465466" cy="584775"/>
          </a:xfrm>
          <a:prstGeom prst="rect">
            <a:avLst/>
          </a:prstGeom>
          <a:noFill/>
        </p:spPr>
        <p:txBody>
          <a:bodyPr wrap="none" rtlCol="0">
            <a:spAutoFit/>
          </a:bodyPr>
          <a:lstStyle/>
          <a:p>
            <a:pPr algn="ctr"/>
            <a:r>
              <a:rPr lang="en-US" altLang="zh-CN" sz="1600" b="1">
                <a:solidFill>
                  <a:schemeClr val="bg1"/>
                </a:solidFill>
              </a:rPr>
              <a:t>Sprint</a:t>
            </a:r>
          </a:p>
          <a:p>
            <a:pPr algn="ctr"/>
            <a:r>
              <a:rPr lang="en-US" altLang="zh-CN" sz="1600">
                <a:solidFill>
                  <a:schemeClr val="bg1"/>
                </a:solidFill>
              </a:rPr>
              <a:t>2 to 4 weeks</a:t>
            </a:r>
            <a:endParaRPr lang="zh-CN" altLang="en-US" sz="1600">
              <a:solidFill>
                <a:schemeClr val="bg1"/>
              </a:solidFill>
            </a:endParaRPr>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4537639"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6105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5490903" y="2514197"/>
            <a:ext cx="785793" cy="338554"/>
          </a:xfrm>
          <a:prstGeom prst="rect">
            <a:avLst/>
          </a:prstGeom>
          <a:noFill/>
        </p:spPr>
        <p:txBody>
          <a:bodyPr wrap="none" rtlCol="0">
            <a:spAutoFit/>
          </a:bodyPr>
          <a:lstStyle/>
          <a:p>
            <a:pPr algn="ctr"/>
            <a:r>
              <a:rPr lang="en-US" altLang="zh-CN" sz="1600">
                <a:solidFill>
                  <a:schemeClr val="bg1"/>
                </a:solidFill>
              </a:rPr>
              <a:t>15min</a:t>
            </a:r>
            <a:endParaRPr lang="zh-CN" altLang="en-US" sz="1600">
              <a:solidFill>
                <a:schemeClr val="bg1"/>
              </a:solidFill>
            </a:endParaRPr>
          </a:p>
        </p:txBody>
      </p:sp>
      <p:sp>
        <p:nvSpPr>
          <p:cNvPr id="17" name="文本框 16">
            <a:extLst>
              <a:ext uri="{FF2B5EF4-FFF2-40B4-BE49-F238E27FC236}">
                <a16:creationId xmlns:a16="http://schemas.microsoft.com/office/drawing/2014/main" id="{563A674A-A145-FECB-1FF2-11714DBBF3F7}"/>
              </a:ext>
            </a:extLst>
          </p:cNvPr>
          <p:cNvSpPr txBox="1"/>
          <p:nvPr/>
        </p:nvSpPr>
        <p:spPr>
          <a:xfrm>
            <a:off x="10478382" y="5320601"/>
            <a:ext cx="1601721" cy="338554"/>
          </a:xfrm>
          <a:prstGeom prst="rect">
            <a:avLst/>
          </a:prstGeom>
          <a:noFill/>
        </p:spPr>
        <p:txBody>
          <a:bodyPr wrap="none" rtlCol="0">
            <a:spAutoFit/>
          </a:bodyPr>
          <a:lstStyle/>
          <a:p>
            <a:pPr algn="ctr"/>
            <a:r>
              <a:rPr lang="en-US" altLang="zh-CN" sz="1600" b="1">
                <a:solidFill>
                  <a:schemeClr val="bg1"/>
                </a:solidFill>
              </a:rPr>
              <a:t>Retrospective</a:t>
            </a:r>
            <a:endParaRPr lang="zh-CN" altLang="en-US" sz="1600" b="1">
              <a:solidFill>
                <a:schemeClr val="bg1"/>
              </a:solidFill>
            </a:endParaRPr>
          </a:p>
        </p:txBody>
      </p:sp>
      <p:sp>
        <p:nvSpPr>
          <p:cNvPr id="32" name="文本框 31">
            <a:extLst>
              <a:ext uri="{FF2B5EF4-FFF2-40B4-BE49-F238E27FC236}">
                <a16:creationId xmlns:a16="http://schemas.microsoft.com/office/drawing/2014/main" id="{95F543A5-685E-23F0-388A-B0E3AC76F149}"/>
              </a:ext>
            </a:extLst>
          </p:cNvPr>
          <p:cNvSpPr txBox="1"/>
          <p:nvPr/>
        </p:nvSpPr>
        <p:spPr>
          <a:xfrm>
            <a:off x="5282496" y="1734851"/>
            <a:ext cx="1404552" cy="338554"/>
          </a:xfrm>
          <a:prstGeom prst="rect">
            <a:avLst/>
          </a:prstGeom>
          <a:noFill/>
        </p:spPr>
        <p:txBody>
          <a:bodyPr wrap="none" rtlCol="0">
            <a:spAutoFit/>
          </a:bodyPr>
          <a:lstStyle/>
          <a:p>
            <a:pPr algn="ctr"/>
            <a:r>
              <a:rPr lang="en-US" altLang="zh-CN" sz="1600" b="1">
                <a:solidFill>
                  <a:schemeClr val="bg1"/>
                </a:solidFill>
              </a:rPr>
              <a:t>Daily scrum</a:t>
            </a:r>
            <a:endParaRPr lang="zh-CN" altLang="en-US" sz="1600" b="1">
              <a:solidFill>
                <a:schemeClr val="bg1"/>
              </a:solidFill>
            </a:endParaRPr>
          </a:p>
        </p:txBody>
      </p:sp>
      <p:sp>
        <p:nvSpPr>
          <p:cNvPr id="33" name="箭头: 右 32">
            <a:extLst>
              <a:ext uri="{FF2B5EF4-FFF2-40B4-BE49-F238E27FC236}">
                <a16:creationId xmlns:a16="http://schemas.microsoft.com/office/drawing/2014/main" id="{7B68A4F3-AE6D-A214-58F3-7D6B6DCF90F1}"/>
              </a:ext>
            </a:extLst>
          </p:cNvPr>
          <p:cNvSpPr/>
          <p:nvPr/>
        </p:nvSpPr>
        <p:spPr>
          <a:xfrm>
            <a:off x="101789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EC192313-67AC-46D0-A9B0-1C96D482D672}"/>
              </a:ext>
            </a:extLst>
          </p:cNvPr>
          <p:cNvSpPr/>
          <p:nvPr/>
        </p:nvSpPr>
        <p:spPr>
          <a:xfrm>
            <a:off x="8776705"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08FBA653-DB7F-B13D-A336-524B12F6EF31}"/>
              </a:ext>
            </a:extLst>
          </p:cNvPr>
          <p:cNvSpPr/>
          <p:nvPr/>
        </p:nvSpPr>
        <p:spPr>
          <a:xfrm>
            <a:off x="1199750" y="31870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39" name="矩形: 圆角 38">
            <a:extLst>
              <a:ext uri="{FF2B5EF4-FFF2-40B4-BE49-F238E27FC236}">
                <a16:creationId xmlns:a16="http://schemas.microsoft.com/office/drawing/2014/main" id="{D7AE4E2E-23C2-36FB-F5AB-BD12A25FC71D}"/>
              </a:ext>
            </a:extLst>
          </p:cNvPr>
          <p:cNvSpPr/>
          <p:nvPr/>
        </p:nvSpPr>
        <p:spPr>
          <a:xfrm>
            <a:off x="1199750" y="35956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40" name="矩形: 圆角 39">
            <a:extLst>
              <a:ext uri="{FF2B5EF4-FFF2-40B4-BE49-F238E27FC236}">
                <a16:creationId xmlns:a16="http://schemas.microsoft.com/office/drawing/2014/main" id="{18CBC69D-9C08-A40B-0496-91AAAB225B01}"/>
              </a:ext>
            </a:extLst>
          </p:cNvPr>
          <p:cNvSpPr/>
          <p:nvPr/>
        </p:nvSpPr>
        <p:spPr>
          <a:xfrm>
            <a:off x="1199750" y="40042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pic>
        <p:nvPicPr>
          <p:cNvPr id="43" name="图形 42" descr="用户">
            <a:extLst>
              <a:ext uri="{FF2B5EF4-FFF2-40B4-BE49-F238E27FC236}">
                <a16:creationId xmlns:a16="http://schemas.microsoft.com/office/drawing/2014/main" id="{BD83FB83-79C8-6824-DCE7-F64AC6A08E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19242" y="4709481"/>
            <a:ext cx="720000" cy="720000"/>
          </a:xfrm>
          <a:prstGeom prst="rect">
            <a:avLst/>
          </a:prstGeom>
        </p:spPr>
      </p:pic>
      <p:pic>
        <p:nvPicPr>
          <p:cNvPr id="44" name="图形 43" descr="用户">
            <a:extLst>
              <a:ext uri="{FF2B5EF4-FFF2-40B4-BE49-F238E27FC236}">
                <a16:creationId xmlns:a16="http://schemas.microsoft.com/office/drawing/2014/main" id="{136D29EF-6BAC-8590-3C22-8C12EAA34B2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24772" y="1172275"/>
            <a:ext cx="720000" cy="720000"/>
          </a:xfrm>
          <a:prstGeom prst="rect">
            <a:avLst/>
          </a:prstGeom>
        </p:spPr>
      </p:pic>
      <p:pic>
        <p:nvPicPr>
          <p:cNvPr id="45" name="图形 44" descr="用户">
            <a:extLst>
              <a:ext uri="{FF2B5EF4-FFF2-40B4-BE49-F238E27FC236}">
                <a16:creationId xmlns:a16="http://schemas.microsoft.com/office/drawing/2014/main" id="{A965042A-9FF6-8606-FA97-26DA6629D7A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22690" y="3924672"/>
            <a:ext cx="720000" cy="720000"/>
          </a:xfrm>
          <a:prstGeom prst="rect">
            <a:avLst/>
          </a:prstGeom>
        </p:spPr>
      </p:pic>
      <p:pic>
        <p:nvPicPr>
          <p:cNvPr id="47" name="图形 46" descr="办公室职员">
            <a:extLst>
              <a:ext uri="{FF2B5EF4-FFF2-40B4-BE49-F238E27FC236}">
                <a16:creationId xmlns:a16="http://schemas.microsoft.com/office/drawing/2014/main" id="{D3F47B48-CA6C-1625-8A50-C9A47B0090B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0925" y="4739626"/>
            <a:ext cx="720000" cy="720000"/>
          </a:xfrm>
          <a:prstGeom prst="rect">
            <a:avLst/>
          </a:prstGeom>
        </p:spPr>
      </p:pic>
      <p:pic>
        <p:nvPicPr>
          <p:cNvPr id="49" name="图形 48" descr="用户">
            <a:extLst>
              <a:ext uri="{FF2B5EF4-FFF2-40B4-BE49-F238E27FC236}">
                <a16:creationId xmlns:a16="http://schemas.microsoft.com/office/drawing/2014/main" id="{A5F91706-9013-B82B-43C5-96C070D3060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21623" y="1636526"/>
            <a:ext cx="720000" cy="720000"/>
          </a:xfrm>
          <a:prstGeom prst="rect">
            <a:avLst/>
          </a:prstGeom>
        </p:spPr>
      </p:pic>
      <p:sp>
        <p:nvSpPr>
          <p:cNvPr id="50" name="文本框 49">
            <a:extLst>
              <a:ext uri="{FF2B5EF4-FFF2-40B4-BE49-F238E27FC236}">
                <a16:creationId xmlns:a16="http://schemas.microsoft.com/office/drawing/2014/main" id="{96E2230A-514A-6740-09DE-4F10C02DD844}"/>
              </a:ext>
            </a:extLst>
          </p:cNvPr>
          <p:cNvSpPr txBox="1"/>
          <p:nvPr/>
        </p:nvSpPr>
        <p:spPr>
          <a:xfrm>
            <a:off x="3222202" y="2297887"/>
            <a:ext cx="918842" cy="338554"/>
          </a:xfrm>
          <a:prstGeom prst="rect">
            <a:avLst/>
          </a:prstGeom>
          <a:noFill/>
        </p:spPr>
        <p:txBody>
          <a:bodyPr wrap="none" rtlCol="0">
            <a:spAutoFit/>
          </a:bodyPr>
          <a:lstStyle/>
          <a:p>
            <a:pPr algn="ctr"/>
            <a:r>
              <a:rPr lang="en-US" altLang="zh-CN" sz="1600">
                <a:solidFill>
                  <a:schemeClr val="bg1"/>
                </a:solidFill>
              </a:rPr>
              <a:t>SM/PM</a:t>
            </a:r>
            <a:endParaRPr lang="zh-CN" altLang="en-US" sz="1600">
              <a:solidFill>
                <a:schemeClr val="bg1"/>
              </a:solidFill>
            </a:endParaRPr>
          </a:p>
        </p:txBody>
      </p:sp>
      <p:sp>
        <p:nvSpPr>
          <p:cNvPr id="51" name="文本框 50">
            <a:extLst>
              <a:ext uri="{FF2B5EF4-FFF2-40B4-BE49-F238E27FC236}">
                <a16:creationId xmlns:a16="http://schemas.microsoft.com/office/drawing/2014/main" id="{A29F0030-8404-5B6F-5078-F5171BA0A0BA}"/>
              </a:ext>
            </a:extLst>
          </p:cNvPr>
          <p:cNvSpPr txBox="1"/>
          <p:nvPr/>
        </p:nvSpPr>
        <p:spPr>
          <a:xfrm>
            <a:off x="339093" y="5368433"/>
            <a:ext cx="503664" cy="338554"/>
          </a:xfrm>
          <a:prstGeom prst="rect">
            <a:avLst/>
          </a:prstGeom>
          <a:noFill/>
        </p:spPr>
        <p:txBody>
          <a:bodyPr wrap="none" rtlCol="0">
            <a:spAutoFit/>
          </a:bodyPr>
          <a:lstStyle/>
          <a:p>
            <a:pPr algn="ctr"/>
            <a:r>
              <a:rPr lang="en-US" altLang="zh-CN" sz="1600">
                <a:solidFill>
                  <a:schemeClr val="bg1"/>
                </a:solidFill>
              </a:rPr>
              <a:t>PO</a:t>
            </a:r>
            <a:endParaRPr lang="zh-CN" altLang="en-US" sz="1600">
              <a:solidFill>
                <a:schemeClr val="bg1"/>
              </a:solidFill>
            </a:endParaRPr>
          </a:p>
        </p:txBody>
      </p:sp>
      <p:pic>
        <p:nvPicPr>
          <p:cNvPr id="53" name="图形 52" descr="重复">
            <a:extLst>
              <a:ext uri="{FF2B5EF4-FFF2-40B4-BE49-F238E27FC236}">
                <a16:creationId xmlns:a16="http://schemas.microsoft.com/office/drawing/2014/main" id="{9AF55B47-C2CD-120B-3543-BC528D69BB0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89750" y="2778439"/>
            <a:ext cx="360000" cy="360000"/>
          </a:xfrm>
          <a:prstGeom prst="rect">
            <a:avLst/>
          </a:prstGeom>
        </p:spPr>
      </p:pic>
      <p:pic>
        <p:nvPicPr>
          <p:cNvPr id="56" name="图形 55" descr="客户审核">
            <a:extLst>
              <a:ext uri="{FF2B5EF4-FFF2-40B4-BE49-F238E27FC236}">
                <a16:creationId xmlns:a16="http://schemas.microsoft.com/office/drawing/2014/main" id="{A28456B8-FF19-FBCD-8F56-324916007C2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303909" y="4709481"/>
            <a:ext cx="720000" cy="720000"/>
          </a:xfrm>
          <a:prstGeom prst="rect">
            <a:avLst/>
          </a:prstGeom>
        </p:spPr>
      </p:pic>
      <p:pic>
        <p:nvPicPr>
          <p:cNvPr id="58" name="图形 57" descr="男人群">
            <a:extLst>
              <a:ext uri="{FF2B5EF4-FFF2-40B4-BE49-F238E27FC236}">
                <a16:creationId xmlns:a16="http://schemas.microsoft.com/office/drawing/2014/main" id="{D75596BC-C8FC-669D-6A60-352BFA96BF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37086" y="4471432"/>
            <a:ext cx="720000" cy="720000"/>
          </a:xfrm>
          <a:prstGeom prst="rect">
            <a:avLst/>
          </a:prstGeom>
        </p:spPr>
      </p:pic>
      <p:sp>
        <p:nvSpPr>
          <p:cNvPr id="59" name="文本框 58">
            <a:extLst>
              <a:ext uri="{FF2B5EF4-FFF2-40B4-BE49-F238E27FC236}">
                <a16:creationId xmlns:a16="http://schemas.microsoft.com/office/drawing/2014/main" id="{40E65857-7150-05C9-4E0E-17CD0892C137}"/>
              </a:ext>
            </a:extLst>
          </p:cNvPr>
          <p:cNvSpPr txBox="1"/>
          <p:nvPr/>
        </p:nvSpPr>
        <p:spPr>
          <a:xfrm>
            <a:off x="4677365" y="5092484"/>
            <a:ext cx="1239442" cy="338554"/>
          </a:xfrm>
          <a:prstGeom prst="rect">
            <a:avLst/>
          </a:prstGeom>
          <a:noFill/>
        </p:spPr>
        <p:txBody>
          <a:bodyPr wrap="none" rtlCol="0">
            <a:spAutoFit/>
          </a:bodyPr>
          <a:lstStyle/>
          <a:p>
            <a:pPr algn="ctr"/>
            <a:r>
              <a:rPr lang="en-US" altLang="zh-CN" sz="1600">
                <a:solidFill>
                  <a:schemeClr val="bg1"/>
                </a:solidFill>
              </a:rPr>
              <a:t>Developer</a:t>
            </a:r>
            <a:endParaRPr lang="zh-CN" altLang="en-US" sz="1600">
              <a:solidFill>
                <a:schemeClr val="bg1"/>
              </a:solidFill>
            </a:endParaRPr>
          </a:p>
        </p:txBody>
      </p:sp>
      <p:pic>
        <p:nvPicPr>
          <p:cNvPr id="61" name="图形 60" descr="框">
            <a:extLst>
              <a:ext uri="{FF2B5EF4-FFF2-40B4-BE49-F238E27FC236}">
                <a16:creationId xmlns:a16="http://schemas.microsoft.com/office/drawing/2014/main" id="{C8C19A9F-916C-B822-7753-6B8702A15B2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881316" y="5159481"/>
            <a:ext cx="720000" cy="720000"/>
          </a:xfrm>
          <a:prstGeom prst="rect">
            <a:avLst/>
          </a:prstGeom>
        </p:spPr>
      </p:pic>
    </p:spTree>
    <p:extLst>
      <p:ext uri="{BB962C8B-B14F-4D97-AF65-F5344CB8AC3E}">
        <p14:creationId xmlns:p14="http://schemas.microsoft.com/office/powerpoint/2010/main" val="39855289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a:t>2.6.3 </a:t>
            </a:r>
            <a:r>
              <a:rPr lang="zh-CN" altLang="en-US"/>
              <a:t>敏捷价值观 </a:t>
            </a:r>
            <a:r>
              <a:rPr lang="en-US" altLang="zh-CN"/>
              <a:t>Scrum Values</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5</a:t>
            </a:r>
            <a:r>
              <a:rPr lang="zh-CN" altLang="en-US"/>
              <a:t>个价值 </a:t>
            </a:r>
            <a:r>
              <a:rPr lang="en-US" altLang="zh-CN"/>
              <a:t>values</a:t>
            </a:r>
          </a:p>
          <a:p>
            <a:r>
              <a:rPr lang="en-US" altLang="zh-CN"/>
              <a:t>Successful use of Scrum depends on people becoming more proficient in living five values: </a:t>
            </a:r>
          </a:p>
          <a:p>
            <a:pPr lvl="1"/>
            <a:r>
              <a:rPr lang="en-US" altLang="zh-CN"/>
              <a:t>Commitment</a:t>
            </a:r>
            <a:r>
              <a:rPr lang="zh-CN" altLang="en-US"/>
              <a:t>：</a:t>
            </a:r>
            <a:r>
              <a:rPr lang="en-US" altLang="zh-CN"/>
              <a:t>supporting each other</a:t>
            </a:r>
          </a:p>
          <a:p>
            <a:pPr lvl="1"/>
            <a:r>
              <a:rPr lang="en-US" altLang="zh-CN"/>
              <a:t>Focus</a:t>
            </a:r>
            <a:r>
              <a:rPr lang="zh-CN" altLang="en-US"/>
              <a:t>：</a:t>
            </a:r>
            <a:r>
              <a:rPr lang="en-US" altLang="zh-CN"/>
              <a:t>the work of the Sprint</a:t>
            </a:r>
          </a:p>
          <a:p>
            <a:pPr lvl="1"/>
            <a:r>
              <a:rPr lang="en-US" altLang="zh-CN"/>
              <a:t>Openness</a:t>
            </a:r>
            <a:r>
              <a:rPr lang="zh-CN" altLang="en-US"/>
              <a:t>：</a:t>
            </a:r>
            <a:r>
              <a:rPr lang="en-US" altLang="zh-CN"/>
              <a:t> about the work and the challenges</a:t>
            </a:r>
          </a:p>
          <a:p>
            <a:pPr lvl="1"/>
            <a:r>
              <a:rPr lang="en-US" altLang="zh-CN"/>
              <a:t>Respect</a:t>
            </a:r>
            <a:r>
              <a:rPr lang="zh-CN" altLang="en-US"/>
              <a:t>：</a:t>
            </a:r>
            <a:r>
              <a:rPr lang="en-US" altLang="zh-CN"/>
              <a:t> to be capable, independent people</a:t>
            </a:r>
          </a:p>
          <a:p>
            <a:pPr lvl="1"/>
            <a:r>
              <a:rPr lang="en-US" altLang="zh-CN"/>
              <a:t>Courage</a:t>
            </a:r>
            <a:r>
              <a:rPr lang="zh-CN" altLang="en-US"/>
              <a:t>：</a:t>
            </a:r>
            <a:r>
              <a:rPr lang="en-US" altLang="zh-CN"/>
              <a:t>to do the right thing, to work on tough problems</a:t>
            </a:r>
          </a:p>
          <a:p>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15" name="Group 14">
            <a:extLst>
              <a:ext uri="{FF2B5EF4-FFF2-40B4-BE49-F238E27FC236}">
                <a16:creationId xmlns:a16="http://schemas.microsoft.com/office/drawing/2014/main" id="{FDEBC3F9-A58A-E7D9-E3F8-6759F0D8E5ED}"/>
              </a:ext>
            </a:extLst>
          </p:cNvPr>
          <p:cNvGrpSpPr/>
          <p:nvPr/>
        </p:nvGrpSpPr>
        <p:grpSpPr>
          <a:xfrm>
            <a:off x="695325" y="4223281"/>
            <a:ext cx="1800000" cy="1350000"/>
            <a:chOff x="695325" y="2206067"/>
            <a:chExt cx="1800000" cy="1350000"/>
          </a:xfrm>
        </p:grpSpPr>
        <p:sp>
          <p:nvSpPr>
            <p:cNvPr id="21" name="文本框 20">
              <a:extLst>
                <a:ext uri="{FF2B5EF4-FFF2-40B4-BE49-F238E27FC236}">
                  <a16:creationId xmlns:a16="http://schemas.microsoft.com/office/drawing/2014/main" id="{DCF03C1D-5E51-CF36-4DCA-6EBB50B1AE80}"/>
                </a:ext>
              </a:extLst>
            </p:cNvPr>
            <p:cNvSpPr txBox="1"/>
            <p:nvPr/>
          </p:nvSpPr>
          <p:spPr>
            <a:xfrm>
              <a:off x="796068" y="2909736"/>
              <a:ext cx="1598515" cy="584775"/>
            </a:xfrm>
            <a:prstGeom prst="rect">
              <a:avLst/>
            </a:prstGeom>
            <a:noFill/>
          </p:spPr>
          <p:txBody>
            <a:bodyPr wrap="none" rtlCol="0">
              <a:spAutoFit/>
            </a:bodyPr>
            <a:lstStyle/>
            <a:p>
              <a:pPr algn="ctr"/>
              <a:r>
                <a:rPr lang="en-US" altLang="zh-CN" sz="1600" b="1">
                  <a:solidFill>
                    <a:schemeClr val="bg1"/>
                  </a:solidFill>
                </a:rPr>
                <a:t>Commitment</a:t>
              </a:r>
            </a:p>
            <a:p>
              <a:pPr algn="ctr"/>
              <a:r>
                <a:rPr lang="zh-CN" altLang="en-US" sz="1600">
                  <a:solidFill>
                    <a:schemeClr val="bg1"/>
                  </a:solidFill>
                </a:rPr>
                <a:t>承诺</a:t>
              </a:r>
            </a:p>
          </p:txBody>
        </p:sp>
        <p:sp>
          <p:nvSpPr>
            <p:cNvPr id="9" name="Rectangle 8">
              <a:extLst>
                <a:ext uri="{FF2B5EF4-FFF2-40B4-BE49-F238E27FC236}">
                  <a16:creationId xmlns:a16="http://schemas.microsoft.com/office/drawing/2014/main" id="{5305C787-E09A-D23E-9FF9-78429AD7DF15}"/>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10" name="Oval 9">
              <a:extLst>
                <a:ext uri="{FF2B5EF4-FFF2-40B4-BE49-F238E27FC236}">
                  <a16:creationId xmlns:a16="http://schemas.microsoft.com/office/drawing/2014/main" id="{1BC00F5E-DE7A-F064-4D35-E3A4A211828A}"/>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1</a:t>
              </a:r>
              <a:endParaRPr lang="zh-CN" altLang="en-US">
                <a:solidFill>
                  <a:schemeClr val="bg1"/>
                </a:solidFill>
              </a:endParaRPr>
            </a:p>
          </p:txBody>
        </p:sp>
      </p:grpSp>
      <p:grpSp>
        <p:nvGrpSpPr>
          <p:cNvPr id="16" name="Group 15">
            <a:extLst>
              <a:ext uri="{FF2B5EF4-FFF2-40B4-BE49-F238E27FC236}">
                <a16:creationId xmlns:a16="http://schemas.microsoft.com/office/drawing/2014/main" id="{8F22E41C-CE27-E0F4-0831-5844E85DF44F}"/>
              </a:ext>
            </a:extLst>
          </p:cNvPr>
          <p:cNvGrpSpPr/>
          <p:nvPr/>
        </p:nvGrpSpPr>
        <p:grpSpPr>
          <a:xfrm>
            <a:off x="2945663" y="4223281"/>
            <a:ext cx="1800000" cy="1350000"/>
            <a:chOff x="695325" y="2206067"/>
            <a:chExt cx="1800000" cy="1350000"/>
          </a:xfrm>
        </p:grpSpPr>
        <p:sp>
          <p:nvSpPr>
            <p:cNvPr id="17" name="文本框 20">
              <a:extLst>
                <a:ext uri="{FF2B5EF4-FFF2-40B4-BE49-F238E27FC236}">
                  <a16:creationId xmlns:a16="http://schemas.microsoft.com/office/drawing/2014/main" id="{AAE9C69B-6A4F-F1E8-F4A8-03791AA95237}"/>
                </a:ext>
              </a:extLst>
            </p:cNvPr>
            <p:cNvSpPr txBox="1"/>
            <p:nvPr/>
          </p:nvSpPr>
          <p:spPr>
            <a:xfrm>
              <a:off x="1196819" y="2909736"/>
              <a:ext cx="797013" cy="584775"/>
            </a:xfrm>
            <a:prstGeom prst="rect">
              <a:avLst/>
            </a:prstGeom>
            <a:noFill/>
          </p:spPr>
          <p:txBody>
            <a:bodyPr wrap="none" rtlCol="0">
              <a:spAutoFit/>
            </a:bodyPr>
            <a:lstStyle/>
            <a:p>
              <a:pPr algn="ctr"/>
              <a:r>
                <a:rPr lang="en-US" altLang="zh-CN" sz="1600" b="1">
                  <a:solidFill>
                    <a:schemeClr val="bg1"/>
                  </a:solidFill>
                </a:rPr>
                <a:t>Focus</a:t>
              </a:r>
            </a:p>
            <a:p>
              <a:pPr algn="ctr"/>
              <a:r>
                <a:rPr lang="zh-CN" altLang="en-US" sz="1600">
                  <a:solidFill>
                    <a:schemeClr val="bg1"/>
                  </a:solidFill>
                </a:rPr>
                <a:t>专注</a:t>
              </a:r>
            </a:p>
          </p:txBody>
        </p:sp>
        <p:sp>
          <p:nvSpPr>
            <p:cNvPr id="18" name="Rectangle 17">
              <a:extLst>
                <a:ext uri="{FF2B5EF4-FFF2-40B4-BE49-F238E27FC236}">
                  <a16:creationId xmlns:a16="http://schemas.microsoft.com/office/drawing/2014/main" id="{0FA5C43D-0F14-4CB4-9C5B-98819210D133}"/>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19" name="Oval 18">
              <a:extLst>
                <a:ext uri="{FF2B5EF4-FFF2-40B4-BE49-F238E27FC236}">
                  <a16:creationId xmlns:a16="http://schemas.microsoft.com/office/drawing/2014/main" id="{57158175-57DE-43E9-5394-B3F365BD0304}"/>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2</a:t>
              </a:r>
              <a:endParaRPr lang="zh-CN" altLang="en-US">
                <a:solidFill>
                  <a:schemeClr val="bg1"/>
                </a:solidFill>
              </a:endParaRPr>
            </a:p>
          </p:txBody>
        </p:sp>
      </p:grpSp>
      <p:grpSp>
        <p:nvGrpSpPr>
          <p:cNvPr id="20" name="Group 19">
            <a:extLst>
              <a:ext uri="{FF2B5EF4-FFF2-40B4-BE49-F238E27FC236}">
                <a16:creationId xmlns:a16="http://schemas.microsoft.com/office/drawing/2014/main" id="{06CDFDA8-7D55-91B9-DF92-4C9A33B30379}"/>
              </a:ext>
            </a:extLst>
          </p:cNvPr>
          <p:cNvGrpSpPr/>
          <p:nvPr/>
        </p:nvGrpSpPr>
        <p:grpSpPr>
          <a:xfrm>
            <a:off x="5196001" y="4223281"/>
            <a:ext cx="1800000" cy="1350000"/>
            <a:chOff x="695325" y="2206067"/>
            <a:chExt cx="1800000" cy="1350000"/>
          </a:xfrm>
        </p:grpSpPr>
        <p:sp>
          <p:nvSpPr>
            <p:cNvPr id="26" name="文本框 20">
              <a:extLst>
                <a:ext uri="{FF2B5EF4-FFF2-40B4-BE49-F238E27FC236}">
                  <a16:creationId xmlns:a16="http://schemas.microsoft.com/office/drawing/2014/main" id="{DB06260B-75B7-6141-7270-598A1E3BEF81}"/>
                </a:ext>
              </a:extLst>
            </p:cNvPr>
            <p:cNvSpPr txBox="1"/>
            <p:nvPr/>
          </p:nvSpPr>
          <p:spPr>
            <a:xfrm>
              <a:off x="983620" y="2909736"/>
              <a:ext cx="1223412" cy="584775"/>
            </a:xfrm>
            <a:prstGeom prst="rect">
              <a:avLst/>
            </a:prstGeom>
            <a:noFill/>
          </p:spPr>
          <p:txBody>
            <a:bodyPr wrap="none" rtlCol="0">
              <a:spAutoFit/>
            </a:bodyPr>
            <a:lstStyle/>
            <a:p>
              <a:pPr algn="ctr"/>
              <a:r>
                <a:rPr lang="en-US" altLang="zh-CN" sz="1600" b="1">
                  <a:solidFill>
                    <a:schemeClr val="bg1"/>
                  </a:solidFill>
                </a:rPr>
                <a:t>Openness</a:t>
              </a:r>
            </a:p>
            <a:p>
              <a:pPr algn="ctr"/>
              <a:r>
                <a:rPr lang="zh-CN" altLang="en-US" sz="1600">
                  <a:solidFill>
                    <a:schemeClr val="bg1"/>
                  </a:solidFill>
                </a:rPr>
                <a:t>开放</a:t>
              </a:r>
            </a:p>
          </p:txBody>
        </p:sp>
        <p:sp>
          <p:nvSpPr>
            <p:cNvPr id="27" name="Rectangle 26">
              <a:extLst>
                <a:ext uri="{FF2B5EF4-FFF2-40B4-BE49-F238E27FC236}">
                  <a16:creationId xmlns:a16="http://schemas.microsoft.com/office/drawing/2014/main" id="{CFE9B6C4-6AE3-0146-C1BA-BAACBC2C61B7}"/>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8" name="Oval 27">
              <a:extLst>
                <a:ext uri="{FF2B5EF4-FFF2-40B4-BE49-F238E27FC236}">
                  <a16:creationId xmlns:a16="http://schemas.microsoft.com/office/drawing/2014/main" id="{37A2F200-5DE7-FD2A-698D-9D64F25EBF0F}"/>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3</a:t>
              </a:r>
              <a:endParaRPr lang="zh-CN" altLang="en-US">
                <a:solidFill>
                  <a:schemeClr val="bg1"/>
                </a:solidFill>
              </a:endParaRPr>
            </a:p>
          </p:txBody>
        </p:sp>
      </p:grpSp>
      <p:grpSp>
        <p:nvGrpSpPr>
          <p:cNvPr id="29" name="Group 28">
            <a:extLst>
              <a:ext uri="{FF2B5EF4-FFF2-40B4-BE49-F238E27FC236}">
                <a16:creationId xmlns:a16="http://schemas.microsoft.com/office/drawing/2014/main" id="{D1883459-EC95-3094-2FA1-2ABB02474CBB}"/>
              </a:ext>
            </a:extLst>
          </p:cNvPr>
          <p:cNvGrpSpPr/>
          <p:nvPr/>
        </p:nvGrpSpPr>
        <p:grpSpPr>
          <a:xfrm>
            <a:off x="7446339" y="4223281"/>
            <a:ext cx="1800000" cy="1350000"/>
            <a:chOff x="695325" y="2206067"/>
            <a:chExt cx="1800000" cy="1350000"/>
          </a:xfrm>
        </p:grpSpPr>
        <p:sp>
          <p:nvSpPr>
            <p:cNvPr id="30" name="文本框 20">
              <a:extLst>
                <a:ext uri="{FF2B5EF4-FFF2-40B4-BE49-F238E27FC236}">
                  <a16:creationId xmlns:a16="http://schemas.microsoft.com/office/drawing/2014/main" id="{ECFFD0A0-BBDE-42F6-31AE-44B4EDA03E1B}"/>
                </a:ext>
              </a:extLst>
            </p:cNvPr>
            <p:cNvSpPr txBox="1"/>
            <p:nvPr/>
          </p:nvSpPr>
          <p:spPr>
            <a:xfrm>
              <a:off x="1085410" y="2909736"/>
              <a:ext cx="1019830" cy="584775"/>
            </a:xfrm>
            <a:prstGeom prst="rect">
              <a:avLst/>
            </a:prstGeom>
            <a:noFill/>
          </p:spPr>
          <p:txBody>
            <a:bodyPr wrap="none" rtlCol="0">
              <a:spAutoFit/>
            </a:bodyPr>
            <a:lstStyle/>
            <a:p>
              <a:pPr algn="ctr"/>
              <a:r>
                <a:rPr lang="en-US" altLang="zh-CN" sz="1600" b="1">
                  <a:solidFill>
                    <a:schemeClr val="bg1"/>
                  </a:solidFill>
                </a:rPr>
                <a:t>Respect</a:t>
              </a:r>
            </a:p>
            <a:p>
              <a:pPr algn="ctr"/>
              <a:r>
                <a:rPr lang="zh-CN" altLang="en-US" sz="1600">
                  <a:solidFill>
                    <a:schemeClr val="bg1"/>
                  </a:solidFill>
                </a:rPr>
                <a:t>尊重</a:t>
              </a:r>
            </a:p>
          </p:txBody>
        </p:sp>
        <p:sp>
          <p:nvSpPr>
            <p:cNvPr id="31" name="Rectangle 30">
              <a:extLst>
                <a:ext uri="{FF2B5EF4-FFF2-40B4-BE49-F238E27FC236}">
                  <a16:creationId xmlns:a16="http://schemas.microsoft.com/office/drawing/2014/main" id="{BE8F6E0E-4517-CB1E-2D35-43945E9F2FA0}"/>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2" name="Oval 31">
              <a:extLst>
                <a:ext uri="{FF2B5EF4-FFF2-40B4-BE49-F238E27FC236}">
                  <a16:creationId xmlns:a16="http://schemas.microsoft.com/office/drawing/2014/main" id="{DC400CFB-BBAB-51FC-9503-63396CBDCE7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4</a:t>
              </a:r>
              <a:endParaRPr lang="zh-CN" altLang="en-US">
                <a:solidFill>
                  <a:schemeClr val="bg1"/>
                </a:solidFill>
              </a:endParaRPr>
            </a:p>
          </p:txBody>
        </p:sp>
      </p:grpSp>
      <p:grpSp>
        <p:nvGrpSpPr>
          <p:cNvPr id="33" name="Group 32">
            <a:extLst>
              <a:ext uri="{FF2B5EF4-FFF2-40B4-BE49-F238E27FC236}">
                <a16:creationId xmlns:a16="http://schemas.microsoft.com/office/drawing/2014/main" id="{60FB258C-1A65-95CE-4CE2-DF3FDDF476A7}"/>
              </a:ext>
            </a:extLst>
          </p:cNvPr>
          <p:cNvGrpSpPr/>
          <p:nvPr/>
        </p:nvGrpSpPr>
        <p:grpSpPr>
          <a:xfrm>
            <a:off x="9696675" y="4223281"/>
            <a:ext cx="1800000" cy="1350000"/>
            <a:chOff x="695325" y="2206067"/>
            <a:chExt cx="1800000" cy="1350000"/>
          </a:xfrm>
        </p:grpSpPr>
        <p:sp>
          <p:nvSpPr>
            <p:cNvPr id="34" name="文本框 20">
              <a:extLst>
                <a:ext uri="{FF2B5EF4-FFF2-40B4-BE49-F238E27FC236}">
                  <a16:creationId xmlns:a16="http://schemas.microsoft.com/office/drawing/2014/main" id="{C2D7E661-E0AE-1796-2727-F26250029569}"/>
                </a:ext>
              </a:extLst>
            </p:cNvPr>
            <p:cNvSpPr txBox="1"/>
            <p:nvPr/>
          </p:nvSpPr>
          <p:spPr>
            <a:xfrm>
              <a:off x="1062166" y="2909736"/>
              <a:ext cx="1066318" cy="584775"/>
            </a:xfrm>
            <a:prstGeom prst="rect">
              <a:avLst/>
            </a:prstGeom>
            <a:noFill/>
          </p:spPr>
          <p:txBody>
            <a:bodyPr wrap="none" rtlCol="0">
              <a:spAutoFit/>
            </a:bodyPr>
            <a:lstStyle/>
            <a:p>
              <a:pPr algn="ctr"/>
              <a:r>
                <a:rPr lang="en-US" altLang="zh-CN" sz="1600" b="1">
                  <a:solidFill>
                    <a:schemeClr val="bg1"/>
                  </a:solidFill>
                </a:rPr>
                <a:t>Courage</a:t>
              </a:r>
              <a:endParaRPr lang="zh-CN" altLang="en-US" sz="1600" b="1">
                <a:solidFill>
                  <a:schemeClr val="bg1"/>
                </a:solidFill>
              </a:endParaRPr>
            </a:p>
            <a:p>
              <a:pPr algn="ctr"/>
              <a:r>
                <a:rPr lang="zh-CN" altLang="en-US" sz="1600">
                  <a:solidFill>
                    <a:schemeClr val="bg1"/>
                  </a:solidFill>
                </a:rPr>
                <a:t>勇气</a:t>
              </a:r>
            </a:p>
          </p:txBody>
        </p:sp>
        <p:sp>
          <p:nvSpPr>
            <p:cNvPr id="35" name="Rectangle 34">
              <a:extLst>
                <a:ext uri="{FF2B5EF4-FFF2-40B4-BE49-F238E27FC236}">
                  <a16:creationId xmlns:a16="http://schemas.microsoft.com/office/drawing/2014/main" id="{84EEB97E-DD3A-BE97-6C98-759D5BAB0FD8}"/>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6" name="Oval 35">
              <a:extLst>
                <a:ext uri="{FF2B5EF4-FFF2-40B4-BE49-F238E27FC236}">
                  <a16:creationId xmlns:a16="http://schemas.microsoft.com/office/drawing/2014/main" id="{CCEA5DDB-A69A-CFAB-8500-FF848B2634B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5</a:t>
              </a:r>
              <a:endParaRPr lang="zh-CN" altLang="en-US">
                <a:solidFill>
                  <a:schemeClr val="bg1"/>
                </a:solidFill>
              </a:endParaRPr>
            </a:p>
          </p:txBody>
        </p:sp>
      </p:grpSp>
    </p:spTree>
    <p:extLst>
      <p:ext uri="{BB962C8B-B14F-4D97-AF65-F5344CB8AC3E}">
        <p14:creationId xmlns:p14="http://schemas.microsoft.com/office/powerpoint/2010/main" val="46128615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a:t>2.6.4 </a:t>
            </a:r>
            <a:r>
              <a:rPr lang="zh-CN" altLang="en-US"/>
              <a:t>敏捷团队 </a:t>
            </a:r>
            <a:r>
              <a:rPr lang="en-US" altLang="zh-CN"/>
              <a:t>Scrum Team</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3</a:t>
            </a:r>
            <a:r>
              <a:rPr lang="zh-CN" altLang="en-US"/>
              <a:t>个角色 </a:t>
            </a:r>
            <a:r>
              <a:rPr lang="en-US" altLang="zh-CN"/>
              <a:t>Roles</a:t>
            </a:r>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
        <p:nvSpPr>
          <p:cNvPr id="6" name="任意多边形: 形状 5">
            <a:extLst>
              <a:ext uri="{FF2B5EF4-FFF2-40B4-BE49-F238E27FC236}">
                <a16:creationId xmlns:a16="http://schemas.microsoft.com/office/drawing/2014/main" id="{5344A21E-59D9-0847-CDA9-C1269120F217}"/>
              </a:ext>
            </a:extLst>
          </p:cNvPr>
          <p:cNvSpPr/>
          <p:nvPr/>
        </p:nvSpPr>
        <p:spPr>
          <a:xfrm>
            <a:off x="6096000" y="3074671"/>
            <a:ext cx="3067529" cy="567070"/>
          </a:xfrm>
          <a:custGeom>
            <a:avLst/>
            <a:gdLst/>
            <a:ahLst/>
            <a:cxnLst/>
            <a:rect l="0" t="0" r="0" b="0"/>
            <a:pathLst>
              <a:path>
                <a:moveTo>
                  <a:pt x="0" y="0"/>
                </a:moveTo>
                <a:lnTo>
                  <a:pt x="0" y="283535"/>
                </a:lnTo>
                <a:lnTo>
                  <a:pt x="3067529" y="283535"/>
                </a:lnTo>
                <a:lnTo>
                  <a:pt x="3067529" y="567070"/>
                </a:lnTo>
              </a:path>
            </a:pathLst>
          </a:custGeom>
          <a:noFill/>
          <a:ln w="12700">
            <a:solidFill>
              <a:schemeClr val="bg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7" name="任意多边形: 形状 6">
            <a:extLst>
              <a:ext uri="{FF2B5EF4-FFF2-40B4-BE49-F238E27FC236}">
                <a16:creationId xmlns:a16="http://schemas.microsoft.com/office/drawing/2014/main" id="{8E46336B-C745-5415-8919-8DEF04FC0EDD}"/>
              </a:ext>
            </a:extLst>
          </p:cNvPr>
          <p:cNvSpPr/>
          <p:nvPr/>
        </p:nvSpPr>
        <p:spPr>
          <a:xfrm>
            <a:off x="6050280" y="3074671"/>
            <a:ext cx="91440" cy="567070"/>
          </a:xfrm>
          <a:custGeom>
            <a:avLst/>
            <a:gdLst/>
            <a:ahLst/>
            <a:cxnLst/>
            <a:rect l="0" t="0" r="0" b="0"/>
            <a:pathLst>
              <a:path>
                <a:moveTo>
                  <a:pt x="45720" y="0"/>
                </a:moveTo>
                <a:lnTo>
                  <a:pt x="45720" y="567070"/>
                </a:lnTo>
              </a:path>
            </a:pathLst>
          </a:custGeom>
          <a:noFill/>
          <a:ln w="12700">
            <a:solidFill>
              <a:schemeClr val="bg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8" name="任意多边形: 形状 7">
            <a:extLst>
              <a:ext uri="{FF2B5EF4-FFF2-40B4-BE49-F238E27FC236}">
                <a16:creationId xmlns:a16="http://schemas.microsoft.com/office/drawing/2014/main" id="{4F72B4FF-E1DA-CAA1-4A1A-E91CA7697A50}"/>
              </a:ext>
            </a:extLst>
          </p:cNvPr>
          <p:cNvSpPr/>
          <p:nvPr/>
        </p:nvSpPr>
        <p:spPr>
          <a:xfrm>
            <a:off x="3028470" y="3074671"/>
            <a:ext cx="3067529" cy="567070"/>
          </a:xfrm>
          <a:custGeom>
            <a:avLst/>
            <a:gdLst/>
            <a:ahLst/>
            <a:cxnLst/>
            <a:rect l="0" t="0" r="0" b="0"/>
            <a:pathLst>
              <a:path>
                <a:moveTo>
                  <a:pt x="3067529" y="0"/>
                </a:moveTo>
                <a:lnTo>
                  <a:pt x="3067529" y="283535"/>
                </a:lnTo>
                <a:lnTo>
                  <a:pt x="0" y="283535"/>
                </a:lnTo>
                <a:lnTo>
                  <a:pt x="0" y="567070"/>
                </a:lnTo>
              </a:path>
            </a:pathLst>
          </a:custGeom>
          <a:noFill/>
          <a:ln w="12700">
            <a:solidFill>
              <a:schemeClr val="bg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0" name="矩形: 圆角 9">
            <a:extLst>
              <a:ext uri="{FF2B5EF4-FFF2-40B4-BE49-F238E27FC236}">
                <a16:creationId xmlns:a16="http://schemas.microsoft.com/office/drawing/2014/main" id="{0A154760-09CB-D635-1E66-DD9AE7546B7E}"/>
              </a:ext>
            </a:extLst>
          </p:cNvPr>
          <p:cNvSpPr/>
          <p:nvPr/>
        </p:nvSpPr>
        <p:spPr>
          <a:xfrm>
            <a:off x="4845770" y="2305061"/>
            <a:ext cx="2500458" cy="769609"/>
          </a:xfrm>
          <a:prstGeom prst="roundRect">
            <a:avLst/>
          </a:prstGeom>
          <a:solidFill>
            <a:schemeClr val="accent2"/>
          </a:solidFill>
          <a:ln>
            <a:noFill/>
          </a:ln>
        </p:spPr>
        <p:style>
          <a:lnRef idx="2">
            <a:schemeClr val="lt1">
              <a:hueOff val="0"/>
              <a:satOff val="0"/>
              <a:lumOff val="0"/>
              <a:alphaOff val="0"/>
            </a:schemeClr>
          </a:lnRef>
          <a:fillRef idx="1">
            <a:scrgbClr r="0" g="0" b="0"/>
          </a:fillRef>
          <a:effectRef idx="0">
            <a:schemeClr val="accent3">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Team</a:t>
            </a:r>
          </a:p>
          <a:p>
            <a:pPr marL="0" lvl="0" indent="0" algn="ctr" defTabSz="711200">
              <a:lnSpc>
                <a:spcPct val="100000"/>
              </a:lnSpc>
              <a:spcBef>
                <a:spcPct val="0"/>
              </a:spcBef>
              <a:spcAft>
                <a:spcPts val="0"/>
              </a:spcAft>
              <a:buNone/>
            </a:pPr>
            <a:r>
              <a:rPr lang="zh-CN" altLang="en-US" sz="1600" kern="1200"/>
              <a:t>团队</a:t>
            </a:r>
          </a:p>
        </p:txBody>
      </p:sp>
      <p:sp>
        <p:nvSpPr>
          <p:cNvPr id="11" name="矩形: 圆角 10">
            <a:extLst>
              <a:ext uri="{FF2B5EF4-FFF2-40B4-BE49-F238E27FC236}">
                <a16:creationId xmlns:a16="http://schemas.microsoft.com/office/drawing/2014/main" id="{25DAC169-0AD3-771E-609C-8AF652C24DFD}"/>
              </a:ext>
            </a:extLst>
          </p:cNvPr>
          <p:cNvSpPr/>
          <p:nvPr/>
        </p:nvSpPr>
        <p:spPr>
          <a:xfrm>
            <a:off x="1778241"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Developer</a:t>
            </a:r>
          </a:p>
          <a:p>
            <a:pPr marL="0" lvl="0" indent="0" algn="ctr" defTabSz="711200">
              <a:lnSpc>
                <a:spcPct val="100000"/>
              </a:lnSpc>
              <a:spcBef>
                <a:spcPct val="0"/>
              </a:spcBef>
              <a:spcAft>
                <a:spcPts val="0"/>
              </a:spcAft>
              <a:buNone/>
            </a:pPr>
            <a:r>
              <a:rPr lang="zh-CN" altLang="en-US" sz="1600" kern="1200"/>
              <a:t>开发者</a:t>
            </a:r>
          </a:p>
        </p:txBody>
      </p:sp>
      <p:sp>
        <p:nvSpPr>
          <p:cNvPr id="12" name="矩形: 圆角 11">
            <a:extLst>
              <a:ext uri="{FF2B5EF4-FFF2-40B4-BE49-F238E27FC236}">
                <a16:creationId xmlns:a16="http://schemas.microsoft.com/office/drawing/2014/main" id="{118A4B60-7120-1F21-456F-6DA122072775}"/>
              </a:ext>
            </a:extLst>
          </p:cNvPr>
          <p:cNvSpPr/>
          <p:nvPr/>
        </p:nvSpPr>
        <p:spPr>
          <a:xfrm>
            <a:off x="4845770" y="3641742"/>
            <a:ext cx="2500458" cy="769609"/>
          </a:xfrm>
          <a:prstGeom prst="roundRect">
            <a:avLst/>
          </a:prstGeom>
          <a:solidFill>
            <a:srgbClr val="00B050"/>
          </a:solidFill>
          <a:ln>
            <a:noFill/>
          </a:ln>
        </p:spPr>
        <p:style>
          <a:lnRef idx="2">
            <a:schemeClr val="lt1">
              <a:hueOff val="0"/>
              <a:satOff val="0"/>
              <a:lumOff val="0"/>
              <a:alphaOff val="0"/>
            </a:schemeClr>
          </a:lnRef>
          <a:fillRef idx="1">
            <a:scrgbClr r="0" g="0" b="0"/>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Master</a:t>
            </a:r>
          </a:p>
          <a:p>
            <a:pPr marL="0" lvl="0" indent="0" algn="ctr" defTabSz="711200">
              <a:lnSpc>
                <a:spcPct val="100000"/>
              </a:lnSpc>
              <a:spcBef>
                <a:spcPct val="0"/>
              </a:spcBef>
              <a:spcAft>
                <a:spcPts val="0"/>
              </a:spcAft>
              <a:buNone/>
            </a:pPr>
            <a:r>
              <a:rPr lang="zh-CN" altLang="en-US" sz="1600" kern="1200"/>
              <a:t>敏捷教练</a:t>
            </a:r>
          </a:p>
        </p:txBody>
      </p:sp>
      <p:sp>
        <p:nvSpPr>
          <p:cNvPr id="13" name="矩形: 圆角 12">
            <a:extLst>
              <a:ext uri="{FF2B5EF4-FFF2-40B4-BE49-F238E27FC236}">
                <a16:creationId xmlns:a16="http://schemas.microsoft.com/office/drawing/2014/main" id="{FF31B6E5-B4B8-8B36-9162-D917C5D8AF73}"/>
              </a:ext>
            </a:extLst>
          </p:cNvPr>
          <p:cNvSpPr/>
          <p:nvPr/>
        </p:nvSpPr>
        <p:spPr>
          <a:xfrm>
            <a:off x="7913300"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Product Owner</a:t>
            </a:r>
          </a:p>
          <a:p>
            <a:pPr marL="0" lvl="0" indent="0" algn="ctr" defTabSz="711200">
              <a:lnSpc>
                <a:spcPct val="100000"/>
              </a:lnSpc>
              <a:spcBef>
                <a:spcPct val="0"/>
              </a:spcBef>
              <a:spcAft>
                <a:spcPts val="0"/>
              </a:spcAft>
              <a:buNone/>
            </a:pPr>
            <a:r>
              <a:rPr lang="zh-CN" altLang="en-US" sz="1600" kern="1200"/>
              <a:t>产品负责人</a:t>
            </a:r>
          </a:p>
        </p:txBody>
      </p:sp>
      <p:cxnSp>
        <p:nvCxnSpPr>
          <p:cNvPr id="15" name="直接箭头连接符 14">
            <a:extLst>
              <a:ext uri="{FF2B5EF4-FFF2-40B4-BE49-F238E27FC236}">
                <a16:creationId xmlns:a16="http://schemas.microsoft.com/office/drawing/2014/main" id="{ACE5352D-1711-4C15-8844-0CBF67DE4B7E}"/>
              </a:ext>
            </a:extLst>
          </p:cNvPr>
          <p:cNvCxnSpPr>
            <a:cxnSpLocks/>
          </p:cNvCxnSpPr>
          <p:nvPr/>
        </p:nvCxnSpPr>
        <p:spPr>
          <a:xfrm>
            <a:off x="4278699" y="4050890"/>
            <a:ext cx="567071" cy="0"/>
          </a:xfrm>
          <a:prstGeom prst="straightConnector1">
            <a:avLst/>
          </a:prstGeom>
          <a:ln>
            <a:solidFill>
              <a:schemeClr val="bg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911CC70-1382-D5FA-684F-2A86583E436F}"/>
              </a:ext>
            </a:extLst>
          </p:cNvPr>
          <p:cNvCxnSpPr>
            <a:cxnSpLocks/>
          </p:cNvCxnSpPr>
          <p:nvPr/>
        </p:nvCxnSpPr>
        <p:spPr>
          <a:xfrm>
            <a:off x="7346228" y="4050890"/>
            <a:ext cx="567071" cy="0"/>
          </a:xfrm>
          <a:prstGeom prst="straightConnector1">
            <a:avLst/>
          </a:prstGeom>
          <a:ln>
            <a:solidFill>
              <a:schemeClr val="bg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47899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EFA025-951A-B307-A948-CDC36CF2F010}"/>
              </a:ext>
            </a:extLst>
          </p:cNvPr>
          <p:cNvSpPr>
            <a:spLocks noGrp="1"/>
          </p:cNvSpPr>
          <p:nvPr>
            <p:ph type="title"/>
          </p:nvPr>
        </p:nvSpPr>
        <p:spPr>
          <a:xfrm>
            <a:off x="695998" y="360000"/>
            <a:ext cx="6375921" cy="429413"/>
          </a:xfrm>
        </p:spPr>
        <p:txBody>
          <a:bodyPr/>
          <a:lstStyle/>
          <a:p>
            <a:pPr lvl="0"/>
            <a:r>
              <a:rPr lang="en-US" altLang="zh-CN"/>
              <a:t>2.6.4.1 </a:t>
            </a:r>
            <a:r>
              <a:rPr lang="zh-CN" altLang="en-US"/>
              <a:t>开发者</a:t>
            </a:r>
          </a:p>
        </p:txBody>
      </p:sp>
      <p:sp>
        <p:nvSpPr>
          <p:cNvPr id="10" name="内容占位符 9">
            <a:extLst>
              <a:ext uri="{FF2B5EF4-FFF2-40B4-BE49-F238E27FC236}">
                <a16:creationId xmlns:a16="http://schemas.microsoft.com/office/drawing/2014/main" id="{DD8BAC52-0920-707D-19F7-1B7A62436758}"/>
              </a:ext>
            </a:extLst>
          </p:cNvPr>
          <p:cNvSpPr>
            <a:spLocks noGrp="1"/>
          </p:cNvSpPr>
          <p:nvPr>
            <p:ph idx="1"/>
          </p:nvPr>
        </p:nvSpPr>
        <p:spPr>
          <a:xfrm>
            <a:off x="696000" y="864000"/>
            <a:ext cx="10800000" cy="5400000"/>
          </a:xfrm>
        </p:spPr>
        <p:txBody>
          <a:bodyPr/>
          <a:lstStyle/>
          <a:p>
            <a:pPr lvl="0"/>
            <a:r>
              <a:rPr lang="zh-CN" altLang="en-US"/>
              <a:t>制定计划，确定冲刺代办列表</a:t>
            </a:r>
            <a:endParaRPr lang="en-US" altLang="zh-CN"/>
          </a:p>
          <a:p>
            <a:pPr lvl="1"/>
            <a:r>
              <a:rPr lang="en-US" altLang="zh-CN"/>
              <a:t>Creating a plan for the Sprint, the Sprint Backlog</a:t>
            </a:r>
          </a:p>
          <a:p>
            <a:pPr lvl="0"/>
            <a:r>
              <a:rPr lang="zh-CN" altLang="en-US"/>
              <a:t>根据完成定义，坚守质量标准</a:t>
            </a:r>
            <a:endParaRPr lang="en-US" altLang="zh-CN"/>
          </a:p>
          <a:p>
            <a:pPr lvl="1"/>
            <a:r>
              <a:rPr lang="en-US" altLang="zh-CN"/>
              <a:t>Instilling quality by adhering to a </a:t>
            </a:r>
            <a:r>
              <a:rPr lang="en-US" altLang="zh-CN" b="1">
                <a:solidFill>
                  <a:srgbClr val="FFFF00"/>
                </a:solidFill>
              </a:rPr>
              <a:t>Definition of Done</a:t>
            </a:r>
            <a:r>
              <a:rPr lang="zh-CN" altLang="en-US" b="1">
                <a:solidFill>
                  <a:srgbClr val="FFFF00"/>
                </a:solidFill>
              </a:rPr>
              <a:t>（</a:t>
            </a:r>
            <a:r>
              <a:rPr lang="en-US" altLang="zh-CN" b="1">
                <a:solidFill>
                  <a:srgbClr val="FFFF00"/>
                </a:solidFill>
              </a:rPr>
              <a:t>DOD</a:t>
            </a:r>
            <a:r>
              <a:rPr lang="zh-CN" altLang="en-US" b="1">
                <a:solidFill>
                  <a:srgbClr val="FFFF00"/>
                </a:solidFill>
              </a:rPr>
              <a:t>）</a:t>
            </a:r>
            <a:endParaRPr lang="en-US" altLang="zh-CN" b="1">
              <a:solidFill>
                <a:srgbClr val="FFFF00"/>
              </a:solidFill>
            </a:endParaRPr>
          </a:p>
          <a:p>
            <a:pPr lvl="0"/>
            <a:r>
              <a:rPr lang="zh-CN" altLang="en-US"/>
              <a:t>根据目标调整计划</a:t>
            </a:r>
            <a:endParaRPr lang="en-US" altLang="zh-CN"/>
          </a:p>
          <a:p>
            <a:pPr lvl="1"/>
            <a:r>
              <a:rPr lang="en-US" altLang="zh-CN"/>
              <a:t>Adapting their plan each day toward the Sprint Goal</a:t>
            </a:r>
          </a:p>
          <a:p>
            <a:r>
              <a:rPr lang="zh-CN" altLang="en-US"/>
              <a:t>作为专业人员，要互相负责</a:t>
            </a:r>
            <a:endParaRPr lang="en-US" altLang="zh-CN"/>
          </a:p>
          <a:p>
            <a:pPr lvl="1"/>
            <a:r>
              <a:rPr lang="en-US" altLang="zh-CN"/>
              <a:t>Holding each other accountable as professionals.</a:t>
            </a:r>
          </a:p>
          <a:p>
            <a:pPr lvl="1"/>
            <a:endParaRPr lang="en-US" altLang="zh-CN"/>
          </a:p>
          <a:p>
            <a:pPr lvl="0"/>
            <a:r>
              <a:rPr lang="zh-CN" altLang="en-US"/>
              <a:t>将冲刺目标转化为增量交付的任何方面的人员</a:t>
            </a:r>
            <a:endParaRPr lang="en-US" altLang="zh-CN"/>
          </a:p>
          <a:p>
            <a:pPr lvl="0"/>
            <a:r>
              <a:rPr lang="zh-CN" altLang="en-US"/>
              <a:t>创造增量</a:t>
            </a:r>
            <a:r>
              <a:rPr lang="en-US" altLang="zh-CN"/>
              <a:t>/</a:t>
            </a:r>
            <a:r>
              <a:rPr lang="zh-CN" altLang="en-US"/>
              <a:t>价值</a:t>
            </a:r>
            <a:endParaRPr lang="en-US" altLang="zh-CN"/>
          </a:p>
          <a:p>
            <a:pPr lvl="0"/>
            <a:r>
              <a:rPr lang="zh-CN" altLang="en-US"/>
              <a:t>不仅仅是单纯的开发团队</a:t>
            </a:r>
            <a:endParaRPr lang="en-US" altLang="zh-CN"/>
          </a:p>
          <a:p>
            <a:pPr lvl="0"/>
            <a:r>
              <a:rPr lang="en-US" altLang="zh-CN"/>
              <a:t>5-9</a:t>
            </a:r>
            <a:r>
              <a:rPr lang="zh-CN" altLang="en-US"/>
              <a:t>人</a:t>
            </a:r>
          </a:p>
        </p:txBody>
      </p:sp>
      <p:sp>
        <p:nvSpPr>
          <p:cNvPr id="4" name="文本占位符 3">
            <a:extLst>
              <a:ext uri="{FF2B5EF4-FFF2-40B4-BE49-F238E27FC236}">
                <a16:creationId xmlns:a16="http://schemas.microsoft.com/office/drawing/2014/main" id="{4EFEC0C1-0ED5-06C7-F2F3-5E6666970865}"/>
              </a:ext>
            </a:extLst>
          </p:cNvPr>
          <p:cNvSpPr>
            <a:spLocks noGrp="1"/>
          </p:cNvSpPr>
          <p:nvPr>
            <p:ph type="body" sz="quarter" idx="10"/>
          </p:nvPr>
        </p:nvSpPr>
        <p:spPr>
          <a:xfrm>
            <a:off x="7071919" y="448519"/>
            <a:ext cx="4424080" cy="338554"/>
          </a:xfrm>
        </p:spPr>
        <p:txBody>
          <a:bodyPr/>
          <a:lstStyle/>
          <a:p>
            <a:r>
              <a:rPr lang="en-US" altLang="zh-CN"/>
              <a:t>Developer</a:t>
            </a:r>
            <a:endParaRPr lang="zh-CN" altLang="en-US"/>
          </a:p>
        </p:txBody>
      </p:sp>
    </p:spTree>
    <p:extLst>
      <p:ext uri="{BB962C8B-B14F-4D97-AF65-F5344CB8AC3E}">
        <p14:creationId xmlns:p14="http://schemas.microsoft.com/office/powerpoint/2010/main" val="17746730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11C1B-05DA-60D0-34C6-62F7C6B699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781519-0944-C675-951A-CD714D42C39B}"/>
              </a:ext>
            </a:extLst>
          </p:cNvPr>
          <p:cNvSpPr>
            <a:spLocks noGrp="1"/>
          </p:cNvSpPr>
          <p:nvPr>
            <p:ph type="title"/>
          </p:nvPr>
        </p:nvSpPr>
        <p:spPr>
          <a:xfrm>
            <a:off x="695998" y="360000"/>
            <a:ext cx="6375921" cy="429413"/>
          </a:xfrm>
        </p:spPr>
        <p:txBody>
          <a:bodyPr/>
          <a:lstStyle/>
          <a:p>
            <a:pPr lvl="0"/>
            <a:r>
              <a:rPr lang="en-US" altLang="zh-CN"/>
              <a:t>2.6.4.2 </a:t>
            </a:r>
            <a:r>
              <a:rPr lang="zh-CN" altLang="en-US"/>
              <a:t>产品负责人</a:t>
            </a:r>
          </a:p>
        </p:txBody>
      </p:sp>
      <p:sp>
        <p:nvSpPr>
          <p:cNvPr id="10" name="内容占位符 9">
            <a:extLst>
              <a:ext uri="{FF2B5EF4-FFF2-40B4-BE49-F238E27FC236}">
                <a16:creationId xmlns:a16="http://schemas.microsoft.com/office/drawing/2014/main" id="{025F0A1F-00E5-3599-6618-036018999D2E}"/>
              </a:ext>
            </a:extLst>
          </p:cNvPr>
          <p:cNvSpPr>
            <a:spLocks noGrp="1"/>
          </p:cNvSpPr>
          <p:nvPr>
            <p:ph idx="1"/>
          </p:nvPr>
        </p:nvSpPr>
        <p:spPr>
          <a:xfrm>
            <a:off x="696000" y="864000"/>
            <a:ext cx="10800000" cy="5400000"/>
          </a:xfrm>
        </p:spPr>
        <p:txBody>
          <a:bodyPr/>
          <a:lstStyle/>
          <a:p>
            <a:r>
              <a:rPr lang="zh-CN" altLang="en-US"/>
              <a:t>开发并明确地表达产品目标</a:t>
            </a:r>
            <a:endParaRPr lang="en-US" altLang="zh-CN"/>
          </a:p>
          <a:p>
            <a:pPr lvl="1"/>
            <a:r>
              <a:rPr lang="en-US" altLang="zh-CN" b="1">
                <a:solidFill>
                  <a:srgbClr val="FFFF00"/>
                </a:solidFill>
              </a:rPr>
              <a:t>Developing</a:t>
            </a:r>
            <a:r>
              <a:rPr lang="en-US" altLang="zh-CN"/>
              <a:t> and </a:t>
            </a:r>
            <a:r>
              <a:rPr lang="en-US" altLang="zh-CN" b="1">
                <a:solidFill>
                  <a:srgbClr val="FFFF00"/>
                </a:solidFill>
              </a:rPr>
              <a:t>explicitly</a:t>
            </a:r>
            <a:r>
              <a:rPr lang="en-US" altLang="zh-CN">
                <a:solidFill>
                  <a:srgbClr val="FFFF00"/>
                </a:solidFill>
              </a:rPr>
              <a:t> </a:t>
            </a:r>
            <a:r>
              <a:rPr lang="en-US" altLang="zh-CN" b="1">
                <a:solidFill>
                  <a:srgbClr val="FFFF00"/>
                </a:solidFill>
              </a:rPr>
              <a:t>communicating</a:t>
            </a:r>
            <a:r>
              <a:rPr lang="en-US" altLang="zh-CN"/>
              <a:t> the Product Goal</a:t>
            </a:r>
          </a:p>
          <a:p>
            <a:r>
              <a:rPr lang="zh-CN" altLang="en-US"/>
              <a:t>创建并清晰地传达产品代办事项</a:t>
            </a:r>
            <a:endParaRPr lang="en-US" altLang="zh-CN"/>
          </a:p>
          <a:p>
            <a:pPr lvl="1"/>
            <a:r>
              <a:rPr lang="en-US" altLang="zh-CN"/>
              <a:t>Creating and </a:t>
            </a:r>
            <a:r>
              <a:rPr lang="en-US" altLang="zh-CN" b="1">
                <a:solidFill>
                  <a:srgbClr val="FFFF00"/>
                </a:solidFill>
              </a:rPr>
              <a:t>clearly</a:t>
            </a:r>
            <a:r>
              <a:rPr lang="en-US" altLang="zh-CN"/>
              <a:t> communicating Product Backlog items</a:t>
            </a:r>
          </a:p>
          <a:p>
            <a:r>
              <a:rPr lang="zh-CN" altLang="en-US"/>
              <a:t>对产品代办事项排序</a:t>
            </a:r>
            <a:endParaRPr lang="en-US" altLang="zh-CN"/>
          </a:p>
          <a:p>
            <a:pPr lvl="1"/>
            <a:r>
              <a:rPr lang="en-US" altLang="zh-CN"/>
              <a:t>Ordering Product Backlog items</a:t>
            </a:r>
          </a:p>
          <a:p>
            <a:r>
              <a:rPr lang="zh-CN" altLang="en-US"/>
              <a:t>确保产品代办事项透明、可见和可理解</a:t>
            </a:r>
            <a:endParaRPr lang="en-US" altLang="zh-CN"/>
          </a:p>
          <a:p>
            <a:pPr lvl="1"/>
            <a:r>
              <a:rPr lang="en-US" altLang="zh-CN"/>
              <a:t>Ensuring that the Product Backlog is transparent, visible and understood</a:t>
            </a:r>
          </a:p>
          <a:p>
            <a:pPr lvl="1"/>
            <a:endParaRPr lang="en-US" altLang="zh-CN"/>
          </a:p>
          <a:p>
            <a:pPr lvl="0"/>
            <a:r>
              <a:rPr lang="en-US" altLang="zh-CN"/>
              <a:t>PO</a:t>
            </a:r>
          </a:p>
          <a:p>
            <a:pPr lvl="0"/>
            <a:r>
              <a:rPr lang="zh-CN" altLang="en-US"/>
              <a:t>是一个人，而不是一个委员会</a:t>
            </a:r>
            <a:endParaRPr lang="en-US" altLang="zh-CN"/>
          </a:p>
          <a:p>
            <a:pPr lvl="0"/>
            <a:r>
              <a:rPr lang="zh-CN" altLang="en-US"/>
              <a:t>可以委托其它人，但最终负责人还是他</a:t>
            </a:r>
            <a:endParaRPr lang="en-US" altLang="zh-CN"/>
          </a:p>
          <a:p>
            <a:pPr lvl="1"/>
            <a:endParaRPr lang="zh-CN" altLang="en-US"/>
          </a:p>
          <a:p>
            <a:endParaRPr lang="zh-CN" altLang="en-US"/>
          </a:p>
        </p:txBody>
      </p:sp>
      <p:sp>
        <p:nvSpPr>
          <p:cNvPr id="4" name="文本占位符 3">
            <a:extLst>
              <a:ext uri="{FF2B5EF4-FFF2-40B4-BE49-F238E27FC236}">
                <a16:creationId xmlns:a16="http://schemas.microsoft.com/office/drawing/2014/main" id="{4BA7F5A2-627F-F3DD-8017-10302AD5FD90}"/>
              </a:ext>
            </a:extLst>
          </p:cNvPr>
          <p:cNvSpPr>
            <a:spLocks noGrp="1"/>
          </p:cNvSpPr>
          <p:nvPr>
            <p:ph type="body" sz="quarter" idx="10"/>
          </p:nvPr>
        </p:nvSpPr>
        <p:spPr>
          <a:xfrm>
            <a:off x="7071919" y="448519"/>
            <a:ext cx="4424080" cy="338554"/>
          </a:xfrm>
        </p:spPr>
        <p:txBody>
          <a:bodyPr/>
          <a:lstStyle/>
          <a:p>
            <a:r>
              <a:rPr lang="en-US" altLang="zh-CN"/>
              <a:t>Product Owner</a:t>
            </a:r>
            <a:endParaRPr lang="zh-CN" altLang="en-US"/>
          </a:p>
        </p:txBody>
      </p:sp>
      <p:sp>
        <p:nvSpPr>
          <p:cNvPr id="8" name="任意多边形: 形状 7">
            <a:extLst>
              <a:ext uri="{FF2B5EF4-FFF2-40B4-BE49-F238E27FC236}">
                <a16:creationId xmlns:a16="http://schemas.microsoft.com/office/drawing/2014/main" id="{3216076A-D122-D427-59A7-EB4CCA373D4B}"/>
              </a:ext>
            </a:extLst>
          </p:cNvPr>
          <p:cNvSpPr/>
          <p:nvPr/>
        </p:nvSpPr>
        <p:spPr>
          <a:xfrm>
            <a:off x="10019074" y="1002890"/>
            <a:ext cx="288000" cy="2753033"/>
          </a:xfrm>
          <a:custGeom>
            <a:avLst/>
            <a:gdLst>
              <a:gd name="csX0" fmla="*/ 108155 w 432619"/>
              <a:gd name="csY0" fmla="*/ 1958898 h 2753033"/>
              <a:gd name="csX1" fmla="*/ 324464 w 432619"/>
              <a:gd name="csY1" fmla="*/ 1958898 h 2753033"/>
              <a:gd name="csX2" fmla="*/ 324464 w 432619"/>
              <a:gd name="csY2" fmla="*/ 2536724 h 2753033"/>
              <a:gd name="csX3" fmla="*/ 432619 w 432619"/>
              <a:gd name="csY3" fmla="*/ 2536724 h 2753033"/>
              <a:gd name="csX4" fmla="*/ 216310 w 432619"/>
              <a:gd name="csY4" fmla="*/ 2753033 h 2753033"/>
              <a:gd name="csX5" fmla="*/ 0 w 432619"/>
              <a:gd name="csY5" fmla="*/ 2536724 h 2753033"/>
              <a:gd name="csX6" fmla="*/ 108155 w 432619"/>
              <a:gd name="csY6" fmla="*/ 2536724 h 2753033"/>
              <a:gd name="csX7" fmla="*/ 108155 w 432619"/>
              <a:gd name="csY7" fmla="*/ 1236226 h 2753033"/>
              <a:gd name="csX8" fmla="*/ 324464 w 432619"/>
              <a:gd name="csY8" fmla="*/ 1236226 h 2753033"/>
              <a:gd name="csX9" fmla="*/ 324464 w 432619"/>
              <a:gd name="csY9" fmla="*/ 1814898 h 2753033"/>
              <a:gd name="csX10" fmla="*/ 108155 w 432619"/>
              <a:gd name="csY10" fmla="*/ 1814898 h 2753033"/>
              <a:gd name="csX11" fmla="*/ 108155 w 432619"/>
              <a:gd name="csY11" fmla="*/ 513554 h 2753033"/>
              <a:gd name="csX12" fmla="*/ 324464 w 432619"/>
              <a:gd name="csY12" fmla="*/ 513554 h 2753033"/>
              <a:gd name="csX13" fmla="*/ 324464 w 432619"/>
              <a:gd name="csY13" fmla="*/ 1092226 h 2753033"/>
              <a:gd name="csX14" fmla="*/ 108155 w 432619"/>
              <a:gd name="csY14" fmla="*/ 1092226 h 2753033"/>
              <a:gd name="csX15" fmla="*/ 108155 w 432619"/>
              <a:gd name="csY15" fmla="*/ 0 h 2753033"/>
              <a:gd name="csX16" fmla="*/ 324464 w 432619"/>
              <a:gd name="csY16" fmla="*/ 0 h 2753033"/>
              <a:gd name="csX17" fmla="*/ 324464 w 432619"/>
              <a:gd name="csY17" fmla="*/ 369554 h 2753033"/>
              <a:gd name="csX18" fmla="*/ 108155 w 432619"/>
              <a:gd name="csY18" fmla="*/ 369554 h 27530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432619" h="2753033">
                <a:moveTo>
                  <a:pt x="108155" y="1958898"/>
                </a:moveTo>
                <a:lnTo>
                  <a:pt x="324464" y="1958898"/>
                </a:lnTo>
                <a:lnTo>
                  <a:pt x="324464" y="2536724"/>
                </a:lnTo>
                <a:lnTo>
                  <a:pt x="432619" y="2536724"/>
                </a:lnTo>
                <a:lnTo>
                  <a:pt x="216310" y="2753033"/>
                </a:lnTo>
                <a:lnTo>
                  <a:pt x="0" y="2536724"/>
                </a:lnTo>
                <a:lnTo>
                  <a:pt x="108155" y="2536724"/>
                </a:lnTo>
                <a:close/>
                <a:moveTo>
                  <a:pt x="108155" y="1236226"/>
                </a:moveTo>
                <a:lnTo>
                  <a:pt x="324464" y="1236226"/>
                </a:lnTo>
                <a:lnTo>
                  <a:pt x="324464" y="1814898"/>
                </a:lnTo>
                <a:lnTo>
                  <a:pt x="108155" y="1814898"/>
                </a:lnTo>
                <a:close/>
                <a:moveTo>
                  <a:pt x="108155" y="513554"/>
                </a:moveTo>
                <a:lnTo>
                  <a:pt x="324464" y="513554"/>
                </a:lnTo>
                <a:lnTo>
                  <a:pt x="324464" y="1092226"/>
                </a:lnTo>
                <a:lnTo>
                  <a:pt x="108155" y="1092226"/>
                </a:lnTo>
                <a:close/>
                <a:moveTo>
                  <a:pt x="108155" y="0"/>
                </a:moveTo>
                <a:lnTo>
                  <a:pt x="324464" y="0"/>
                </a:lnTo>
                <a:lnTo>
                  <a:pt x="324464" y="369554"/>
                </a:lnTo>
                <a:lnTo>
                  <a:pt x="108155" y="369554"/>
                </a:lnTo>
                <a:close/>
              </a:path>
            </a:pathLst>
          </a:custGeom>
          <a:gradFill>
            <a:gsLst>
              <a:gs pos="0">
                <a:schemeClr val="bg1"/>
              </a:gs>
              <a:gs pos="100000">
                <a:srgbClr val="FFFF00"/>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Tree>
    <p:extLst>
      <p:ext uri="{BB962C8B-B14F-4D97-AF65-F5344CB8AC3E}">
        <p14:creationId xmlns:p14="http://schemas.microsoft.com/office/powerpoint/2010/main" val="26185097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也称项目经理 </a:t>
            </a:r>
            <a:r>
              <a:rPr lang="en-US" altLang="zh-CN"/>
              <a:t>PM</a:t>
            </a:r>
          </a:p>
          <a:p>
            <a:r>
              <a:rPr lang="zh-CN" altLang="en-US"/>
              <a:t>真正的领导者：组建团队、主持冲刺会议、移除开发障碍</a:t>
            </a:r>
            <a:endParaRPr lang="en-US" altLang="zh-CN"/>
          </a:p>
          <a:p>
            <a:r>
              <a:rPr lang="zh-CN" altLang="en-US"/>
              <a:t>仆人式领导 </a:t>
            </a:r>
            <a:r>
              <a:rPr lang="en-US" altLang="zh-CN"/>
              <a:t>a servant-leader</a:t>
            </a:r>
          </a:p>
          <a:p>
            <a:r>
              <a:rPr lang="zh-CN" altLang="en-US"/>
              <a:t>促成者 </a:t>
            </a:r>
            <a:r>
              <a:rPr lang="en-US" altLang="zh-CN"/>
              <a:t> Facilitator</a:t>
            </a:r>
          </a:p>
          <a:p>
            <a:r>
              <a:rPr lang="zh-CN" altLang="en-US"/>
              <a:t>不是团队的保姆或超级英雄</a:t>
            </a:r>
            <a:endParaRPr lang="en-US" altLang="zh-CN"/>
          </a:p>
          <a:p>
            <a:endParaRPr lang="en-US" altLang="zh-CN"/>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spTree>
    <p:extLst>
      <p:ext uri="{BB962C8B-B14F-4D97-AF65-F5344CB8AC3E}">
        <p14:creationId xmlns:p14="http://schemas.microsoft.com/office/powerpoint/2010/main" val="192103642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0C7AC-06AD-1F4A-6176-71077B86B35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7B3003C-335C-A690-4BE8-4C698D3D014C}"/>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43D3639D-E59D-B1A9-A568-E9BA05ABCE19}"/>
              </a:ext>
            </a:extLst>
          </p:cNvPr>
          <p:cNvSpPr>
            <a:spLocks noGrp="1"/>
          </p:cNvSpPr>
          <p:nvPr>
            <p:ph idx="1"/>
          </p:nvPr>
        </p:nvSpPr>
        <p:spPr>
          <a:xfrm>
            <a:off x="696000" y="864000"/>
            <a:ext cx="10800000" cy="5400000"/>
          </a:xfrm>
        </p:spPr>
        <p:txBody>
          <a:bodyPr>
            <a:normAutofit/>
          </a:bodyPr>
          <a:lstStyle/>
          <a:p>
            <a:r>
              <a:rPr lang="zh-CN" altLang="en-US"/>
              <a:t>作为教练在自管理和跨职能方面辅导团队成员</a:t>
            </a:r>
            <a:endParaRPr lang="en-US" altLang="zh-CN"/>
          </a:p>
          <a:p>
            <a:pPr lvl="1"/>
            <a:r>
              <a:rPr lang="en-US" altLang="zh-CN" b="1">
                <a:solidFill>
                  <a:srgbClr val="FFFF00"/>
                </a:solidFill>
              </a:rPr>
              <a:t>Coaching</a:t>
            </a:r>
            <a:r>
              <a:rPr lang="en-US" altLang="zh-CN"/>
              <a:t> the team members in self-management and cross-functionality</a:t>
            </a:r>
          </a:p>
          <a:p>
            <a:r>
              <a:rPr lang="zh-CN" altLang="en-US"/>
              <a:t>帮助团队专注于创建符合 </a:t>
            </a:r>
            <a:r>
              <a:rPr lang="en-US" altLang="zh-CN"/>
              <a:t>DOD </a:t>
            </a:r>
            <a:r>
              <a:rPr lang="zh-CN" altLang="en-US"/>
              <a:t>的高价值增量</a:t>
            </a:r>
            <a:endParaRPr lang="en-US" altLang="zh-CN"/>
          </a:p>
          <a:p>
            <a:pPr lvl="1"/>
            <a:r>
              <a:rPr lang="en-US" altLang="zh-CN"/>
              <a:t>Helping the Scrum Team focus on creating high-value Increments that meet the Definition of Done</a:t>
            </a:r>
          </a:p>
          <a:p>
            <a:r>
              <a:rPr lang="zh-CN" altLang="en-US"/>
              <a:t>促使移除团队工作进展中的障碍</a:t>
            </a:r>
            <a:endParaRPr lang="en-US" altLang="zh-CN"/>
          </a:p>
          <a:p>
            <a:pPr lvl="1"/>
            <a:r>
              <a:rPr lang="en-US" altLang="zh-CN" b="1">
                <a:solidFill>
                  <a:srgbClr val="FFFF00"/>
                </a:solidFill>
              </a:rPr>
              <a:t>Causing</a:t>
            </a:r>
            <a:r>
              <a:rPr lang="en-US" altLang="zh-CN"/>
              <a:t> the removal of </a:t>
            </a:r>
            <a:r>
              <a:rPr lang="en-US" altLang="zh-CN" b="1">
                <a:solidFill>
                  <a:srgbClr val="FFFF00"/>
                </a:solidFill>
              </a:rPr>
              <a:t>impediments</a:t>
            </a:r>
            <a:r>
              <a:rPr lang="en-US" altLang="zh-CN"/>
              <a:t> to the Scrum Team’s progress</a:t>
            </a:r>
          </a:p>
          <a:p>
            <a:r>
              <a:rPr lang="zh-CN" altLang="en-US"/>
              <a:t>确保所有 </a:t>
            </a:r>
            <a:r>
              <a:rPr lang="en-US" altLang="zh-CN"/>
              <a:t>Scrum </a:t>
            </a:r>
            <a:r>
              <a:rPr lang="zh-CN" altLang="en-US"/>
              <a:t>事件都发生并且是积极的、富有成效的，并在冲刺时间盒内完成</a:t>
            </a:r>
            <a:endParaRPr lang="en-US" altLang="zh-CN"/>
          </a:p>
          <a:p>
            <a:pPr lvl="1"/>
            <a:r>
              <a:rPr lang="en-US" altLang="zh-CN"/>
              <a:t>Ensuring that all Scrum events take place and are positive, productive, and kept within the timebox</a:t>
            </a:r>
          </a:p>
          <a:p>
            <a:endParaRPr lang="en-US" altLang="zh-CN"/>
          </a:p>
        </p:txBody>
      </p:sp>
      <p:sp>
        <p:nvSpPr>
          <p:cNvPr id="4" name="文本占位符 3">
            <a:extLst>
              <a:ext uri="{FF2B5EF4-FFF2-40B4-BE49-F238E27FC236}">
                <a16:creationId xmlns:a16="http://schemas.microsoft.com/office/drawing/2014/main" id="{961E455C-0C0F-AC1D-F9A9-42003591C9D4}"/>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0D79EB0B-AD98-775E-5D98-5B4F6B8F0FE7}"/>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24365109-72C5-285D-E0BA-E5C6D3937364}"/>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B8ACD2F3-6B03-D90F-9F6B-927A5D8107E4}"/>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4A3E557D-AE5B-49AE-BAAE-E170332F0B53}"/>
              </a:ext>
            </a:extLst>
          </p:cNvPr>
          <p:cNvSpPr txBox="1"/>
          <p:nvPr/>
        </p:nvSpPr>
        <p:spPr>
          <a:xfrm>
            <a:off x="9267329" y="4522834"/>
            <a:ext cx="2337498" cy="369332"/>
          </a:xfrm>
          <a:prstGeom prst="rect">
            <a:avLst/>
          </a:prstGeom>
          <a:noFill/>
        </p:spPr>
        <p:txBody>
          <a:bodyPr wrap="none" rtlCol="0">
            <a:spAutoFit/>
          </a:bodyPr>
          <a:lstStyle/>
          <a:p>
            <a:pPr algn="r"/>
            <a:r>
              <a:rPr lang="en-US" altLang="zh-CN">
                <a:solidFill>
                  <a:schemeClr val="bg1"/>
                </a:solidFill>
              </a:rPr>
              <a:t>- </a:t>
            </a:r>
            <a:r>
              <a:rPr lang="zh-CN" altLang="en-US">
                <a:solidFill>
                  <a:schemeClr val="bg1"/>
                </a:solidFill>
              </a:rPr>
              <a:t>服务 </a:t>
            </a:r>
            <a:r>
              <a:rPr lang="en-US" altLang="zh-CN">
                <a:solidFill>
                  <a:schemeClr val="bg1"/>
                </a:solidFill>
              </a:rPr>
              <a:t>Scrum Team</a:t>
            </a:r>
            <a:endParaRPr lang="zh-CN" altLang="en-US">
              <a:solidFill>
                <a:schemeClr val="bg1"/>
              </a:solidFill>
            </a:endParaRPr>
          </a:p>
        </p:txBody>
      </p:sp>
    </p:spTree>
    <p:extLst>
      <p:ext uri="{BB962C8B-B14F-4D97-AF65-F5344CB8AC3E}">
        <p14:creationId xmlns:p14="http://schemas.microsoft.com/office/powerpoint/2010/main" val="26037507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帮助找到有效定义产品目标和管理产品代办事项的技巧</a:t>
            </a:r>
            <a:endParaRPr lang="en-US" altLang="zh-CN"/>
          </a:p>
          <a:p>
            <a:pPr lvl="1"/>
            <a:r>
              <a:rPr lang="en-US" altLang="zh-CN"/>
              <a:t>Helping find techniques for effective Product Goal definition and Product Backlog management	</a:t>
            </a:r>
          </a:p>
          <a:p>
            <a:r>
              <a:rPr lang="zh-CN" altLang="en-US"/>
              <a:t>帮助团队理解为何需要清晰且简明的产品代办事项</a:t>
            </a:r>
            <a:endParaRPr lang="en-US" altLang="zh-CN"/>
          </a:p>
          <a:p>
            <a:pPr lvl="1"/>
            <a:r>
              <a:rPr lang="en-US" altLang="zh-CN"/>
              <a:t>Helping the Scrum Team understand the need for clear and concise Product Backlog items</a:t>
            </a:r>
          </a:p>
          <a:p>
            <a:r>
              <a:rPr lang="zh-CN" altLang="en-US"/>
              <a:t>帮助建立针对复杂环境的基于经验主义的产品规划</a:t>
            </a:r>
            <a:endParaRPr lang="en-US" altLang="zh-CN"/>
          </a:p>
          <a:p>
            <a:pPr lvl="1"/>
            <a:r>
              <a:rPr lang="en-US" altLang="zh-CN"/>
              <a:t>Helping establish empirical product planning for a complex environment</a:t>
            </a:r>
          </a:p>
          <a:p>
            <a:r>
              <a:rPr lang="zh-CN" altLang="en-US"/>
              <a:t>当需要或被要求时，引导干系人之间的协作</a:t>
            </a:r>
            <a:endParaRPr lang="en-US" altLang="zh-CN"/>
          </a:p>
          <a:p>
            <a:pPr lvl="1"/>
            <a:r>
              <a:rPr lang="en-US" altLang="zh-CN"/>
              <a:t>Facilitating stakeholder collaboration as requested or needed</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8964361" y="4522834"/>
            <a:ext cx="2640466" cy="369332"/>
          </a:xfrm>
          <a:prstGeom prst="rect">
            <a:avLst/>
          </a:prstGeom>
          <a:noFill/>
        </p:spPr>
        <p:txBody>
          <a:bodyPr wrap="none" rtlCol="0">
            <a:spAutoFit/>
          </a:bodyPr>
          <a:lstStyle/>
          <a:p>
            <a:pPr algn="r"/>
            <a:r>
              <a:rPr lang="en-US" altLang="zh-CN">
                <a:solidFill>
                  <a:schemeClr val="bg1"/>
                </a:solidFill>
              </a:rPr>
              <a:t>- </a:t>
            </a:r>
            <a:r>
              <a:rPr lang="zh-CN" altLang="en-US">
                <a:solidFill>
                  <a:schemeClr val="bg1"/>
                </a:solidFill>
              </a:rPr>
              <a:t>服务 </a:t>
            </a:r>
            <a:r>
              <a:rPr lang="en-US" altLang="zh-CN">
                <a:solidFill>
                  <a:schemeClr val="bg1"/>
                </a:solidFill>
              </a:rPr>
              <a:t>Product Owner</a:t>
            </a:r>
            <a:endParaRPr lang="zh-CN" altLang="en-US">
              <a:solidFill>
                <a:schemeClr val="bg1"/>
              </a:solidFill>
            </a:endParaRPr>
          </a:p>
        </p:txBody>
      </p:sp>
    </p:spTree>
    <p:extLst>
      <p:ext uri="{BB962C8B-B14F-4D97-AF65-F5344CB8AC3E}">
        <p14:creationId xmlns:p14="http://schemas.microsoft.com/office/powerpoint/2010/main" val="9592671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带领、培训和作为教练辅导组织采纳 </a:t>
            </a:r>
            <a:r>
              <a:rPr lang="en-US" altLang="zh-CN"/>
              <a:t>Scrum </a:t>
            </a:r>
          </a:p>
          <a:p>
            <a:pPr lvl="1"/>
            <a:r>
              <a:rPr lang="en-US" altLang="zh-CN"/>
              <a:t>Leading, training, and coaching the organization in its Scrum adoption</a:t>
            </a:r>
          </a:p>
          <a:p>
            <a:r>
              <a:rPr lang="zh-CN" altLang="en-US"/>
              <a:t>在组织范围内规划并建议 </a:t>
            </a:r>
            <a:r>
              <a:rPr lang="en-US" altLang="zh-CN"/>
              <a:t>Scrum </a:t>
            </a:r>
            <a:r>
              <a:rPr lang="zh-CN" altLang="en-US"/>
              <a:t>的实施</a:t>
            </a:r>
            <a:endParaRPr lang="en-US" altLang="zh-CN"/>
          </a:p>
          <a:p>
            <a:pPr lvl="1"/>
            <a:r>
              <a:rPr lang="en-US" altLang="zh-CN"/>
              <a:t>Planning and advising Scrum implementations within the organization</a:t>
            </a:r>
          </a:p>
          <a:p>
            <a:r>
              <a:rPr lang="zh-CN" altLang="en-US"/>
              <a:t>帮助员工和干系人理解并实施针对复杂工作的经验主义方法</a:t>
            </a:r>
            <a:endParaRPr lang="en-US" altLang="zh-CN"/>
          </a:p>
          <a:p>
            <a:pPr lvl="1"/>
            <a:r>
              <a:rPr lang="en-US" altLang="zh-CN"/>
              <a:t>Helping employees and stakeholders understand and </a:t>
            </a:r>
            <a:r>
              <a:rPr lang="en-US" altLang="zh-CN" b="1"/>
              <a:t>enact</a:t>
            </a:r>
            <a:r>
              <a:rPr lang="en-US" altLang="zh-CN"/>
              <a:t> an empirical approach for complex work</a:t>
            </a:r>
          </a:p>
          <a:p>
            <a:r>
              <a:rPr lang="zh-CN" altLang="en-US"/>
              <a:t>消除干系人和团队之间的隔阂</a:t>
            </a:r>
            <a:endParaRPr lang="en-US" altLang="zh-CN"/>
          </a:p>
          <a:p>
            <a:pPr lvl="1"/>
            <a:r>
              <a:rPr lang="en-US" altLang="zh-CN"/>
              <a:t>Removing barriers between stakeholders and Scrum Teams</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9288167" y="4522834"/>
            <a:ext cx="2316660" cy="369332"/>
          </a:xfrm>
          <a:prstGeom prst="rect">
            <a:avLst/>
          </a:prstGeom>
          <a:noFill/>
        </p:spPr>
        <p:txBody>
          <a:bodyPr wrap="none" rtlCol="0">
            <a:spAutoFit/>
          </a:bodyPr>
          <a:lstStyle/>
          <a:p>
            <a:pPr algn="r"/>
            <a:r>
              <a:rPr lang="en-US" altLang="zh-CN">
                <a:solidFill>
                  <a:schemeClr val="bg1"/>
                </a:solidFill>
              </a:rPr>
              <a:t>- </a:t>
            </a:r>
            <a:r>
              <a:rPr lang="zh-CN" altLang="en-US">
                <a:solidFill>
                  <a:schemeClr val="bg1"/>
                </a:solidFill>
              </a:rPr>
              <a:t>服务 </a:t>
            </a:r>
            <a:r>
              <a:rPr lang="en-US" altLang="zh-CN">
                <a:solidFill>
                  <a:schemeClr val="bg1"/>
                </a:solidFill>
              </a:rPr>
              <a:t>organization</a:t>
            </a:r>
            <a:endParaRPr lang="zh-CN" altLang="en-US">
              <a:solidFill>
                <a:schemeClr val="bg1"/>
              </a:solidFill>
            </a:endParaRPr>
          </a:p>
        </p:txBody>
      </p:sp>
    </p:spTree>
    <p:extLst>
      <p:ext uri="{BB962C8B-B14F-4D97-AF65-F5344CB8AC3E}">
        <p14:creationId xmlns:p14="http://schemas.microsoft.com/office/powerpoint/2010/main" val="65484094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35" name="Arrow: Right 34">
            <a:extLst>
              <a:ext uri="{FF2B5EF4-FFF2-40B4-BE49-F238E27FC236}">
                <a16:creationId xmlns:a16="http://schemas.microsoft.com/office/drawing/2014/main" id="{830A5471-117D-6C62-DF00-D75E00BF02E9}"/>
              </a:ext>
            </a:extLst>
          </p:cNvPr>
          <p:cNvSpPr/>
          <p:nvPr/>
        </p:nvSpPr>
        <p:spPr>
          <a:xfrm>
            <a:off x="461913" y="3817636"/>
            <a:ext cx="10800000" cy="72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2377238" y="3175437"/>
            <a:ext cx="1189749" cy="646331"/>
          </a:xfrm>
          <a:prstGeom prst="rect">
            <a:avLst/>
          </a:prstGeom>
          <a:noFill/>
        </p:spPr>
        <p:txBody>
          <a:bodyPr wrap="none" rtlCol="0">
            <a:spAutoFit/>
          </a:bodyPr>
          <a:lstStyle/>
          <a:p>
            <a:r>
              <a:rPr lang="zh-CN" altLang="en-US">
                <a:solidFill>
                  <a:schemeClr val="bg1"/>
                </a:solidFill>
              </a:rPr>
              <a:t>形成</a:t>
            </a:r>
            <a:endParaRPr lang="en-US" altLang="zh-CN">
              <a:solidFill>
                <a:schemeClr val="bg1"/>
              </a:solidFill>
            </a:endParaRPr>
          </a:p>
          <a:p>
            <a:r>
              <a:rPr lang="en-US" altLang="zh-CN">
                <a:solidFill>
                  <a:schemeClr val="bg1"/>
                </a:solidFill>
              </a:rPr>
              <a:t>Forming</a:t>
            </a:r>
            <a:endParaRPr lang="zh-CN" altLang="en-US">
              <a:solidFill>
                <a:schemeClr val="bg1"/>
              </a:solidFill>
            </a:endParaRPr>
          </a:p>
        </p:txBody>
      </p:sp>
      <p:sp>
        <p:nvSpPr>
          <p:cNvPr id="8" name="文本框 7">
            <a:extLst>
              <a:ext uri="{FF2B5EF4-FFF2-40B4-BE49-F238E27FC236}">
                <a16:creationId xmlns:a16="http://schemas.microsoft.com/office/drawing/2014/main" id="{1DB84078-9392-CEAC-1DC1-79A9C4AC5BAE}"/>
              </a:ext>
            </a:extLst>
          </p:cNvPr>
          <p:cNvSpPr txBox="1"/>
          <p:nvPr/>
        </p:nvSpPr>
        <p:spPr>
          <a:xfrm>
            <a:off x="2377238" y="3885505"/>
            <a:ext cx="1114408" cy="646331"/>
          </a:xfrm>
          <a:prstGeom prst="rect">
            <a:avLst/>
          </a:prstGeom>
          <a:noFill/>
        </p:spPr>
        <p:txBody>
          <a:bodyPr wrap="none" rtlCol="0">
            <a:spAutoFit/>
          </a:bodyPr>
          <a:lstStyle/>
          <a:p>
            <a:r>
              <a:rPr lang="zh-CN" altLang="en-US">
                <a:solidFill>
                  <a:schemeClr val="bg1"/>
                </a:solidFill>
              </a:rPr>
              <a:t>指导</a:t>
            </a:r>
            <a:endParaRPr lang="en-US" altLang="zh-CN">
              <a:solidFill>
                <a:schemeClr val="bg1"/>
              </a:solidFill>
            </a:endParaRPr>
          </a:p>
          <a:p>
            <a:r>
              <a:rPr lang="en-US" altLang="zh-CN">
                <a:solidFill>
                  <a:schemeClr val="bg1"/>
                </a:solidFill>
              </a:rPr>
              <a:t>Guiding</a:t>
            </a:r>
            <a:endParaRPr lang="zh-CN" altLang="en-US">
              <a:solidFill>
                <a:schemeClr val="bg1"/>
              </a:solidFill>
            </a:endParaRPr>
          </a:p>
        </p:txBody>
      </p:sp>
      <p:sp>
        <p:nvSpPr>
          <p:cNvPr id="13" name="文本框 12">
            <a:extLst>
              <a:ext uri="{FF2B5EF4-FFF2-40B4-BE49-F238E27FC236}">
                <a16:creationId xmlns:a16="http://schemas.microsoft.com/office/drawing/2014/main" id="{204911E3-1783-5E2A-B2C1-7D684A13AAB5}"/>
              </a:ext>
            </a:extLst>
          </p:cNvPr>
          <p:cNvSpPr txBox="1"/>
          <p:nvPr/>
        </p:nvSpPr>
        <p:spPr>
          <a:xfrm>
            <a:off x="4120789" y="3175437"/>
            <a:ext cx="1279517" cy="646331"/>
          </a:xfrm>
          <a:prstGeom prst="rect">
            <a:avLst/>
          </a:prstGeom>
          <a:noFill/>
        </p:spPr>
        <p:txBody>
          <a:bodyPr wrap="none" rtlCol="0">
            <a:spAutoFit/>
          </a:bodyPr>
          <a:lstStyle/>
          <a:p>
            <a:r>
              <a:rPr lang="zh-CN" altLang="en-US">
                <a:solidFill>
                  <a:schemeClr val="bg1"/>
                </a:solidFill>
              </a:rPr>
              <a:t>震荡</a:t>
            </a:r>
            <a:endParaRPr lang="en-US" altLang="zh-CN">
              <a:solidFill>
                <a:schemeClr val="bg1"/>
              </a:solidFill>
            </a:endParaRPr>
          </a:p>
          <a:p>
            <a:r>
              <a:rPr lang="en-US" altLang="zh-CN">
                <a:solidFill>
                  <a:schemeClr val="bg1"/>
                </a:solidFill>
              </a:rPr>
              <a:t>Storming</a:t>
            </a:r>
            <a:endParaRPr lang="zh-CN" altLang="en-US">
              <a:solidFill>
                <a:schemeClr val="bg1"/>
              </a:solidFill>
            </a:endParaRPr>
          </a:p>
        </p:txBody>
      </p:sp>
      <p:sp>
        <p:nvSpPr>
          <p:cNvPr id="14" name="文本框 13">
            <a:extLst>
              <a:ext uri="{FF2B5EF4-FFF2-40B4-BE49-F238E27FC236}">
                <a16:creationId xmlns:a16="http://schemas.microsoft.com/office/drawing/2014/main" id="{56DB0103-73F7-5CB0-6DF5-D6B269CF630C}"/>
              </a:ext>
            </a:extLst>
          </p:cNvPr>
          <p:cNvSpPr txBox="1"/>
          <p:nvPr/>
        </p:nvSpPr>
        <p:spPr>
          <a:xfrm>
            <a:off x="4120789" y="3885505"/>
            <a:ext cx="1293944" cy="646331"/>
          </a:xfrm>
          <a:prstGeom prst="rect">
            <a:avLst/>
          </a:prstGeom>
          <a:noFill/>
        </p:spPr>
        <p:txBody>
          <a:bodyPr wrap="none" rtlCol="0">
            <a:spAutoFit/>
          </a:bodyPr>
          <a:lstStyle/>
          <a:p>
            <a:r>
              <a:rPr lang="zh-CN" altLang="en-US">
                <a:solidFill>
                  <a:schemeClr val="bg1"/>
                </a:solidFill>
              </a:rPr>
              <a:t>教练</a:t>
            </a:r>
            <a:endParaRPr lang="en-US" altLang="zh-CN">
              <a:solidFill>
                <a:schemeClr val="bg1"/>
              </a:solidFill>
            </a:endParaRPr>
          </a:p>
          <a:p>
            <a:r>
              <a:rPr lang="en-US" altLang="zh-CN">
                <a:solidFill>
                  <a:schemeClr val="bg1"/>
                </a:solidFill>
              </a:rPr>
              <a:t>Coaching</a:t>
            </a:r>
            <a:endParaRPr lang="zh-CN" altLang="en-US">
              <a:solidFill>
                <a:schemeClr val="bg1"/>
              </a:solidFill>
            </a:endParaRPr>
          </a:p>
        </p:txBody>
      </p:sp>
      <p:sp>
        <p:nvSpPr>
          <p:cNvPr id="17" name="文本框 16">
            <a:extLst>
              <a:ext uri="{FF2B5EF4-FFF2-40B4-BE49-F238E27FC236}">
                <a16:creationId xmlns:a16="http://schemas.microsoft.com/office/drawing/2014/main" id="{E043D0E5-7470-3CA7-FE38-2330E88A4427}"/>
              </a:ext>
            </a:extLst>
          </p:cNvPr>
          <p:cNvSpPr txBox="1"/>
          <p:nvPr/>
        </p:nvSpPr>
        <p:spPr>
          <a:xfrm>
            <a:off x="5864340" y="3175437"/>
            <a:ext cx="1231427" cy="646331"/>
          </a:xfrm>
          <a:prstGeom prst="rect">
            <a:avLst/>
          </a:prstGeom>
          <a:noFill/>
        </p:spPr>
        <p:txBody>
          <a:bodyPr wrap="none" rtlCol="0">
            <a:spAutoFit/>
          </a:bodyPr>
          <a:lstStyle/>
          <a:p>
            <a:r>
              <a:rPr lang="zh-CN" altLang="en-US">
                <a:solidFill>
                  <a:schemeClr val="bg1"/>
                </a:solidFill>
              </a:rPr>
              <a:t>规范</a:t>
            </a:r>
            <a:endParaRPr lang="en-US" altLang="zh-CN">
              <a:solidFill>
                <a:schemeClr val="bg1"/>
              </a:solidFill>
            </a:endParaRPr>
          </a:p>
          <a:p>
            <a:r>
              <a:rPr lang="en-US" altLang="zh-CN">
                <a:solidFill>
                  <a:schemeClr val="bg1"/>
                </a:solidFill>
              </a:rPr>
              <a:t>Norming</a:t>
            </a:r>
            <a:endParaRPr lang="zh-CN" altLang="en-US">
              <a:solidFill>
                <a:schemeClr val="bg1"/>
              </a:solidFill>
            </a:endParaRPr>
          </a:p>
        </p:txBody>
      </p:sp>
      <p:sp>
        <p:nvSpPr>
          <p:cNvPr id="18" name="文本框 17">
            <a:extLst>
              <a:ext uri="{FF2B5EF4-FFF2-40B4-BE49-F238E27FC236}">
                <a16:creationId xmlns:a16="http://schemas.microsoft.com/office/drawing/2014/main" id="{C2EF03C7-4501-9849-E7EF-BC0B547D5E4F}"/>
              </a:ext>
            </a:extLst>
          </p:cNvPr>
          <p:cNvSpPr txBox="1"/>
          <p:nvPr/>
        </p:nvSpPr>
        <p:spPr>
          <a:xfrm>
            <a:off x="5864340" y="3885505"/>
            <a:ext cx="1750800" cy="646331"/>
          </a:xfrm>
          <a:prstGeom prst="rect">
            <a:avLst/>
          </a:prstGeom>
          <a:noFill/>
        </p:spPr>
        <p:txBody>
          <a:bodyPr wrap="none" rtlCol="0">
            <a:spAutoFit/>
          </a:bodyPr>
          <a:lstStyle/>
          <a:p>
            <a:r>
              <a:rPr lang="zh-CN" altLang="en-US">
                <a:solidFill>
                  <a:schemeClr val="bg1"/>
                </a:solidFill>
              </a:rPr>
              <a:t>参与</a:t>
            </a:r>
            <a:endParaRPr lang="en-US" altLang="zh-CN">
              <a:solidFill>
                <a:schemeClr val="bg1"/>
              </a:solidFill>
            </a:endParaRPr>
          </a:p>
          <a:p>
            <a:r>
              <a:rPr lang="en-US" altLang="zh-CN">
                <a:solidFill>
                  <a:schemeClr val="bg1"/>
                </a:solidFill>
              </a:rPr>
              <a:t>Participating </a:t>
            </a:r>
            <a:endParaRPr lang="zh-CN" altLang="en-US">
              <a:solidFill>
                <a:schemeClr val="bg1"/>
              </a:solidFill>
            </a:endParaRPr>
          </a:p>
        </p:txBody>
      </p:sp>
      <p:sp>
        <p:nvSpPr>
          <p:cNvPr id="21" name="文本框 20">
            <a:extLst>
              <a:ext uri="{FF2B5EF4-FFF2-40B4-BE49-F238E27FC236}">
                <a16:creationId xmlns:a16="http://schemas.microsoft.com/office/drawing/2014/main" id="{9E5BC592-D92B-FF0A-4B76-54F0B41BC81D}"/>
              </a:ext>
            </a:extLst>
          </p:cNvPr>
          <p:cNvSpPr txBox="1"/>
          <p:nvPr/>
        </p:nvSpPr>
        <p:spPr>
          <a:xfrm>
            <a:off x="7607891" y="3175437"/>
            <a:ext cx="1519968" cy="646331"/>
          </a:xfrm>
          <a:prstGeom prst="rect">
            <a:avLst/>
          </a:prstGeom>
          <a:noFill/>
        </p:spPr>
        <p:txBody>
          <a:bodyPr wrap="none" rtlCol="0">
            <a:spAutoFit/>
          </a:bodyPr>
          <a:lstStyle/>
          <a:p>
            <a:r>
              <a:rPr lang="zh-CN" altLang="en-US">
                <a:solidFill>
                  <a:schemeClr val="bg1"/>
                </a:solidFill>
              </a:rPr>
              <a:t>成熟</a:t>
            </a:r>
            <a:endParaRPr lang="en-US" altLang="zh-CN">
              <a:solidFill>
                <a:schemeClr val="bg1"/>
              </a:solidFill>
            </a:endParaRPr>
          </a:p>
          <a:p>
            <a:r>
              <a:rPr lang="en-US" altLang="zh-CN">
                <a:solidFill>
                  <a:schemeClr val="bg1"/>
                </a:solidFill>
              </a:rPr>
              <a:t>Performing</a:t>
            </a:r>
            <a:endParaRPr lang="zh-CN" altLang="en-US">
              <a:solidFill>
                <a:schemeClr val="bg1"/>
              </a:solidFill>
            </a:endParaRPr>
          </a:p>
        </p:txBody>
      </p:sp>
      <p:sp>
        <p:nvSpPr>
          <p:cNvPr id="22" name="文本框 21">
            <a:extLst>
              <a:ext uri="{FF2B5EF4-FFF2-40B4-BE49-F238E27FC236}">
                <a16:creationId xmlns:a16="http://schemas.microsoft.com/office/drawing/2014/main" id="{53D15627-CC8C-65A6-D2F5-3EB58FC125D7}"/>
              </a:ext>
            </a:extLst>
          </p:cNvPr>
          <p:cNvSpPr txBox="1"/>
          <p:nvPr/>
        </p:nvSpPr>
        <p:spPr>
          <a:xfrm>
            <a:off x="7607891" y="3885505"/>
            <a:ext cx="1697901" cy="646331"/>
          </a:xfrm>
          <a:prstGeom prst="rect">
            <a:avLst/>
          </a:prstGeom>
          <a:noFill/>
        </p:spPr>
        <p:txBody>
          <a:bodyPr wrap="none" rtlCol="0">
            <a:spAutoFit/>
          </a:bodyPr>
          <a:lstStyle/>
          <a:p>
            <a:r>
              <a:rPr lang="zh-CN" altLang="en-US">
                <a:solidFill>
                  <a:schemeClr val="bg1"/>
                </a:solidFill>
              </a:rPr>
              <a:t>授权</a:t>
            </a:r>
            <a:endParaRPr lang="en-US" altLang="zh-CN">
              <a:solidFill>
                <a:schemeClr val="bg1"/>
              </a:solidFill>
            </a:endParaRPr>
          </a:p>
          <a:p>
            <a:r>
              <a:rPr lang="en-US" altLang="zh-CN">
                <a:solidFill>
                  <a:schemeClr val="bg1"/>
                </a:solidFill>
              </a:rPr>
              <a:t>Empowering</a:t>
            </a:r>
            <a:endParaRPr lang="zh-CN" altLang="en-US">
              <a:solidFill>
                <a:schemeClr val="bg1"/>
              </a:solidFill>
            </a:endParaRPr>
          </a:p>
        </p:txBody>
      </p:sp>
      <p:sp>
        <p:nvSpPr>
          <p:cNvPr id="25" name="文本框 24">
            <a:extLst>
              <a:ext uri="{FF2B5EF4-FFF2-40B4-BE49-F238E27FC236}">
                <a16:creationId xmlns:a16="http://schemas.microsoft.com/office/drawing/2014/main" id="{893ABB7C-855E-A57A-A9A4-8471674896A8}"/>
              </a:ext>
            </a:extLst>
          </p:cNvPr>
          <p:cNvSpPr txBox="1"/>
          <p:nvPr/>
        </p:nvSpPr>
        <p:spPr>
          <a:xfrm>
            <a:off x="9351442" y="3175437"/>
            <a:ext cx="1494320" cy="646331"/>
          </a:xfrm>
          <a:prstGeom prst="rect">
            <a:avLst/>
          </a:prstGeom>
          <a:noFill/>
        </p:spPr>
        <p:txBody>
          <a:bodyPr wrap="none" rtlCol="0">
            <a:spAutoFit/>
          </a:bodyPr>
          <a:lstStyle/>
          <a:p>
            <a:r>
              <a:rPr lang="zh-CN" altLang="en-US">
                <a:solidFill>
                  <a:schemeClr val="bg1"/>
                </a:solidFill>
              </a:rPr>
              <a:t>解散</a:t>
            </a:r>
            <a:endParaRPr lang="en-US" altLang="zh-CN">
              <a:solidFill>
                <a:schemeClr val="bg1"/>
              </a:solidFill>
            </a:endParaRPr>
          </a:p>
          <a:p>
            <a:r>
              <a:rPr lang="en-US" altLang="zh-CN">
                <a:solidFill>
                  <a:schemeClr val="bg1"/>
                </a:solidFill>
              </a:rPr>
              <a:t>Adjourning</a:t>
            </a:r>
            <a:endParaRPr lang="zh-CN" altLang="en-US">
              <a:solidFill>
                <a:schemeClr val="bg1"/>
              </a:solidFill>
            </a:endParaRPr>
          </a:p>
        </p:txBody>
      </p:sp>
      <p:sp>
        <p:nvSpPr>
          <p:cNvPr id="42" name="Isosceles Triangle 41">
            <a:extLst>
              <a:ext uri="{FF2B5EF4-FFF2-40B4-BE49-F238E27FC236}">
                <a16:creationId xmlns:a16="http://schemas.microsoft.com/office/drawing/2014/main" id="{8DEF9255-9072-EC32-C8BD-CB0EAFC614FE}"/>
              </a:ext>
            </a:extLst>
          </p:cNvPr>
          <p:cNvSpPr/>
          <p:nvPr/>
        </p:nvSpPr>
        <p:spPr>
          <a:xfrm rot="5400000">
            <a:off x="11034570" y="3668971"/>
            <a:ext cx="301657" cy="369332"/>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Rectangle 39">
            <a:extLst>
              <a:ext uri="{FF2B5EF4-FFF2-40B4-BE49-F238E27FC236}">
                <a16:creationId xmlns:a16="http://schemas.microsoft.com/office/drawing/2014/main" id="{4C5874C0-A90E-88F9-5819-500E842963B5}"/>
              </a:ext>
            </a:extLst>
          </p:cNvPr>
          <p:cNvSpPr/>
          <p:nvPr/>
        </p:nvSpPr>
        <p:spPr>
          <a:xfrm>
            <a:off x="461913" y="3380532"/>
            <a:ext cx="1800000" cy="43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Team</a:t>
            </a:r>
          </a:p>
        </p:txBody>
      </p:sp>
      <p:sp>
        <p:nvSpPr>
          <p:cNvPr id="41" name="Rectangle 40">
            <a:extLst>
              <a:ext uri="{FF2B5EF4-FFF2-40B4-BE49-F238E27FC236}">
                <a16:creationId xmlns:a16="http://schemas.microsoft.com/office/drawing/2014/main" id="{6419E630-1197-93FB-0508-7B0C9D5745FA}"/>
              </a:ext>
            </a:extLst>
          </p:cNvPr>
          <p:cNvSpPr/>
          <p:nvPr/>
        </p:nvSpPr>
        <p:spPr>
          <a:xfrm>
            <a:off x="461913" y="3885505"/>
            <a:ext cx="1800000" cy="43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Scrum Master</a:t>
            </a:r>
          </a:p>
        </p:txBody>
      </p:sp>
    </p:spTree>
    <p:extLst>
      <p:ext uri="{BB962C8B-B14F-4D97-AF65-F5344CB8AC3E}">
        <p14:creationId xmlns:p14="http://schemas.microsoft.com/office/powerpoint/2010/main" val="303334585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695998" y="360000"/>
            <a:ext cx="6375921" cy="429413"/>
          </a:xfrm>
        </p:spPr>
        <p:txBody>
          <a:bodyPr>
            <a:normAutofit/>
          </a:bodyPr>
          <a:lstStyle/>
          <a:p>
            <a:r>
              <a:rPr lang="en-US" altLang="zh-CN"/>
              <a:t>2.6.5 </a:t>
            </a:r>
            <a:r>
              <a:rPr lang="zh-CN" altLang="en-US"/>
              <a:t>敏捷活动</a:t>
            </a:r>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5325" y="863600"/>
            <a:ext cx="10801350" cy="5400675"/>
          </a:xfrm>
        </p:spPr>
        <p:txBody>
          <a:bodyPr/>
          <a:lstStyle/>
          <a:p>
            <a:r>
              <a:rPr lang="en-US" altLang="zh-CN"/>
              <a:t>5</a:t>
            </a:r>
            <a:r>
              <a:rPr lang="zh-CN" altLang="en-US"/>
              <a:t>个事件 </a:t>
            </a:r>
            <a:r>
              <a:rPr lang="en-US" altLang="zh-CN"/>
              <a:t>Events</a:t>
            </a:r>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448519"/>
            <a:ext cx="4424080" cy="338554"/>
          </a:xfrm>
        </p:spPr>
        <p:txBody>
          <a:bodyPr/>
          <a:lstStyle/>
          <a:p>
            <a:r>
              <a:rPr lang="en-US" altLang="zh-CN"/>
              <a:t>Scrum Events</a:t>
            </a:r>
            <a:endParaRPr lang="zh-CN" altLang="en-US"/>
          </a:p>
        </p:txBody>
      </p:sp>
      <p:sp>
        <p:nvSpPr>
          <p:cNvPr id="4" name="任意多边形: 形状 3">
            <a:extLst>
              <a:ext uri="{FF2B5EF4-FFF2-40B4-BE49-F238E27FC236}">
                <a16:creationId xmlns:a16="http://schemas.microsoft.com/office/drawing/2014/main" id="{CD20B4E4-0503-F63B-EAB6-1A325A9DC519}"/>
              </a:ext>
            </a:extLst>
          </p:cNvPr>
          <p:cNvSpPr/>
          <p:nvPr/>
        </p:nvSpPr>
        <p:spPr>
          <a:xfrm>
            <a:off x="684588" y="1210012"/>
            <a:ext cx="10801350" cy="1011581"/>
          </a:xfrm>
          <a:custGeom>
            <a:avLst/>
            <a:gdLst>
              <a:gd name="csX0" fmla="*/ 0 w 7577955"/>
              <a:gd name="csY0" fmla="*/ 252895 h 1011581"/>
              <a:gd name="csX1" fmla="*/ 7072165 w 7577955"/>
              <a:gd name="csY1" fmla="*/ 252895 h 1011581"/>
              <a:gd name="csX2" fmla="*/ 7072165 w 7577955"/>
              <a:gd name="csY2" fmla="*/ 0 h 1011581"/>
              <a:gd name="csX3" fmla="*/ 7577955 w 7577955"/>
              <a:gd name="csY3" fmla="*/ 505791 h 1011581"/>
              <a:gd name="csX4" fmla="*/ 7072165 w 7577955"/>
              <a:gd name="csY4" fmla="*/ 1011581 h 1011581"/>
              <a:gd name="csX5" fmla="*/ 7072165 w 7577955"/>
              <a:gd name="csY5" fmla="*/ 758686 h 1011581"/>
              <a:gd name="csX6" fmla="*/ 0 w 7577955"/>
              <a:gd name="csY6" fmla="*/ 758686 h 1011581"/>
              <a:gd name="csX7" fmla="*/ 0 w 7577955"/>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577955" h="1011581">
                <a:moveTo>
                  <a:pt x="0" y="252895"/>
                </a:moveTo>
                <a:lnTo>
                  <a:pt x="7072165" y="252895"/>
                </a:lnTo>
                <a:lnTo>
                  <a:pt x="7072165" y="0"/>
                </a:lnTo>
                <a:lnTo>
                  <a:pt x="7577955" y="505791"/>
                </a:lnTo>
                <a:lnTo>
                  <a:pt x="7072165" y="1011581"/>
                </a:lnTo>
                <a:lnTo>
                  <a:pt x="7072165" y="758686"/>
                </a:lnTo>
                <a:lnTo>
                  <a:pt x="0" y="758686"/>
                </a:lnTo>
                <a:lnTo>
                  <a:pt x="0" y="252895"/>
                </a:lnTo>
                <a:close/>
              </a:path>
            </a:pathLst>
          </a:cu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Sprint</a:t>
            </a:r>
            <a:endParaRPr lang="zh-CN" altLang="en-US" sz="1600" kern="1200"/>
          </a:p>
        </p:txBody>
      </p:sp>
      <p:sp>
        <p:nvSpPr>
          <p:cNvPr id="5" name="任意多边形: 形状 4">
            <a:extLst>
              <a:ext uri="{FF2B5EF4-FFF2-40B4-BE49-F238E27FC236}">
                <a16:creationId xmlns:a16="http://schemas.microsoft.com/office/drawing/2014/main" id="{9247C78C-39B0-5A69-1CA4-9713529A1507}"/>
              </a:ext>
            </a:extLst>
          </p:cNvPr>
          <p:cNvSpPr/>
          <p:nvPr/>
        </p:nvSpPr>
        <p:spPr>
          <a:xfrm>
            <a:off x="713192" y="1978949"/>
            <a:ext cx="10259608" cy="4285325"/>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冲刺</a:t>
            </a:r>
            <a:endParaRPr lang="en-US" altLang="zh-CN" sz="1600" b="1" kern="12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容器</a:t>
            </a:r>
            <a:endParaRPr lang="en-US" altLang="zh-CN" sz="1400">
              <a:solidFill>
                <a:schemeClr val="bg1"/>
              </a:solidFill>
            </a:endParaRPr>
          </a:p>
          <a:p>
            <a:pPr marL="0" lvl="0" indent="0" algn="l" defTabSz="711200">
              <a:lnSpc>
                <a:spcPct val="90000"/>
              </a:lnSpc>
              <a:spcBef>
                <a:spcPct val="0"/>
              </a:spcBef>
              <a:spcAft>
                <a:spcPct val="35000"/>
              </a:spcAft>
              <a:buNone/>
            </a:pPr>
            <a:r>
              <a:rPr lang="zh-CN" altLang="en-US" sz="1400" kern="1200">
                <a:solidFill>
                  <a:schemeClr val="bg1"/>
                </a:solidFill>
              </a:rPr>
              <a:t>时间盒 </a:t>
            </a:r>
            <a:r>
              <a:rPr lang="en-US" altLang="zh-CN" sz="1400" kern="1200">
                <a:solidFill>
                  <a:schemeClr val="bg1"/>
                </a:solidFill>
              </a:rPr>
              <a:t>Time-box</a:t>
            </a:r>
          </a:p>
          <a:p>
            <a:pPr defTabSz="711200">
              <a:lnSpc>
                <a:spcPct val="90000"/>
              </a:lnSpc>
              <a:spcBef>
                <a:spcPct val="0"/>
              </a:spcBef>
              <a:spcAft>
                <a:spcPct val="35000"/>
              </a:spcAft>
            </a:pPr>
            <a:r>
              <a:rPr lang="en-US" altLang="zh-CN" sz="1400">
                <a:solidFill>
                  <a:schemeClr val="bg1"/>
                </a:solidFill>
              </a:rPr>
              <a:t>PO </a:t>
            </a:r>
            <a:r>
              <a:rPr lang="zh-CN" altLang="en-US" sz="1400">
                <a:solidFill>
                  <a:schemeClr val="bg1"/>
                </a:solidFill>
              </a:rPr>
              <a:t>可以取消冲刺</a:t>
            </a:r>
          </a:p>
          <a:p>
            <a:pPr marL="0" lvl="0" indent="0" algn="l" defTabSz="711200">
              <a:lnSpc>
                <a:spcPct val="90000"/>
              </a:lnSpc>
              <a:spcBef>
                <a:spcPct val="0"/>
              </a:spcBef>
              <a:spcAft>
                <a:spcPct val="35000"/>
              </a:spcAft>
              <a:buNone/>
            </a:pPr>
            <a:r>
              <a:rPr lang="en-US" altLang="zh-CN" sz="1400">
                <a:solidFill>
                  <a:schemeClr val="bg1"/>
                </a:solidFill>
              </a:rPr>
              <a:t>1month or less</a:t>
            </a:r>
          </a:p>
        </p:txBody>
      </p:sp>
      <p:sp>
        <p:nvSpPr>
          <p:cNvPr id="6" name="任意多边形: 形状 5">
            <a:extLst>
              <a:ext uri="{FF2B5EF4-FFF2-40B4-BE49-F238E27FC236}">
                <a16:creationId xmlns:a16="http://schemas.microsoft.com/office/drawing/2014/main" id="{C52295D2-CE3C-F8E6-E4D2-83DFF48DDC6D}"/>
              </a:ext>
            </a:extLst>
          </p:cNvPr>
          <p:cNvSpPr/>
          <p:nvPr/>
        </p:nvSpPr>
        <p:spPr>
          <a:xfrm>
            <a:off x="3126659" y="1601412"/>
            <a:ext cx="8349460" cy="1011581"/>
          </a:xfrm>
          <a:custGeom>
            <a:avLst/>
            <a:gdLst>
              <a:gd name="csX0" fmla="*/ 0 w 6272869"/>
              <a:gd name="csY0" fmla="*/ 252895 h 1011581"/>
              <a:gd name="csX1" fmla="*/ 5767079 w 6272869"/>
              <a:gd name="csY1" fmla="*/ 252895 h 1011581"/>
              <a:gd name="csX2" fmla="*/ 5767079 w 6272869"/>
              <a:gd name="csY2" fmla="*/ 0 h 1011581"/>
              <a:gd name="csX3" fmla="*/ 6272869 w 6272869"/>
              <a:gd name="csY3" fmla="*/ 505791 h 1011581"/>
              <a:gd name="csX4" fmla="*/ 5767079 w 6272869"/>
              <a:gd name="csY4" fmla="*/ 1011581 h 1011581"/>
              <a:gd name="csX5" fmla="*/ 5767079 w 6272869"/>
              <a:gd name="csY5" fmla="*/ 758686 h 1011581"/>
              <a:gd name="csX6" fmla="*/ 0 w 6272869"/>
              <a:gd name="csY6" fmla="*/ 758686 h 1011581"/>
              <a:gd name="csX7" fmla="*/ 0 w 6272869"/>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72869" h="1011581">
                <a:moveTo>
                  <a:pt x="0" y="252895"/>
                </a:moveTo>
                <a:lnTo>
                  <a:pt x="5767079" y="252895"/>
                </a:lnTo>
                <a:lnTo>
                  <a:pt x="5767079" y="0"/>
                </a:lnTo>
                <a:lnTo>
                  <a:pt x="6272869" y="505791"/>
                </a:lnTo>
                <a:lnTo>
                  <a:pt x="5767079" y="1011581"/>
                </a:lnTo>
                <a:lnTo>
                  <a:pt x="5767079" y="758686"/>
                </a:lnTo>
                <a:lnTo>
                  <a:pt x="0" y="758686"/>
                </a:lnTo>
                <a:lnTo>
                  <a:pt x="0" y="252895"/>
                </a:lnTo>
                <a:close/>
              </a:path>
            </a:pathLst>
          </a:cu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Spring Planning</a:t>
            </a:r>
            <a:endParaRPr lang="zh-CN" altLang="en-US" sz="1600" kern="1200"/>
          </a:p>
        </p:txBody>
      </p:sp>
      <p:sp>
        <p:nvSpPr>
          <p:cNvPr id="7" name="任意多边形: 形状 6">
            <a:extLst>
              <a:ext uri="{FF2B5EF4-FFF2-40B4-BE49-F238E27FC236}">
                <a16:creationId xmlns:a16="http://schemas.microsoft.com/office/drawing/2014/main" id="{5805AF75-B8E3-ECBC-92BB-9413D8FC5FAC}"/>
              </a:ext>
            </a:extLst>
          </p:cNvPr>
          <p:cNvSpPr/>
          <p:nvPr/>
        </p:nvSpPr>
        <p:spPr>
          <a:xfrm>
            <a:off x="3123971" y="2365434"/>
            <a:ext cx="1993423" cy="2767006"/>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1689636"/>
              <a:satOff val="-4355"/>
              <a:lumOff val="-2941"/>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规划</a:t>
            </a:r>
            <a:endParaRPr lang="en-US" altLang="zh-CN" sz="1600" b="1" kern="12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会议</a:t>
            </a:r>
            <a:endParaRPr lang="en-US" altLang="zh-CN" sz="1400" kern="1200">
              <a:solidFill>
                <a:schemeClr val="bg1"/>
              </a:solidFill>
            </a:endParaRPr>
          </a:p>
          <a:p>
            <a:pPr lvl="0" defTabSz="711200">
              <a:lnSpc>
                <a:spcPct val="90000"/>
              </a:lnSpc>
              <a:spcBef>
                <a:spcPct val="0"/>
              </a:spcBef>
              <a:spcAft>
                <a:spcPct val="35000"/>
              </a:spcAft>
            </a:pPr>
            <a:r>
              <a:rPr lang="zh-CN" altLang="en-US" sz="1400">
                <a:solidFill>
                  <a:schemeClr val="bg1"/>
                </a:solidFill>
              </a:rPr>
              <a:t>第一个事件</a:t>
            </a:r>
            <a:endParaRPr lang="en-US" altLang="zh-CN" sz="1400">
              <a:solidFill>
                <a:schemeClr val="bg1"/>
              </a:solidFill>
            </a:endParaRPr>
          </a:p>
          <a:p>
            <a:pPr lvl="0" defTabSz="711200">
              <a:lnSpc>
                <a:spcPct val="90000"/>
              </a:lnSpc>
              <a:spcBef>
                <a:spcPct val="0"/>
              </a:spcBef>
              <a:spcAft>
                <a:spcPct val="35000"/>
              </a:spcAft>
            </a:pPr>
            <a:r>
              <a:rPr lang="en-US" altLang="zh-CN" sz="1400">
                <a:solidFill>
                  <a:schemeClr val="bg1"/>
                </a:solidFill>
              </a:rPr>
              <a:t>Why </a:t>
            </a:r>
            <a:r>
              <a:rPr lang="zh-CN" altLang="en-US" sz="1400">
                <a:solidFill>
                  <a:schemeClr val="bg1"/>
                </a:solidFill>
              </a:rPr>
              <a:t>为什么</a:t>
            </a:r>
            <a:endParaRPr lang="en-US" altLang="zh-CN" sz="1400">
              <a:solidFill>
                <a:schemeClr val="bg1"/>
              </a:solidFill>
            </a:endParaRPr>
          </a:p>
          <a:p>
            <a:pPr lvl="0" defTabSz="711200">
              <a:lnSpc>
                <a:spcPct val="90000"/>
              </a:lnSpc>
              <a:spcBef>
                <a:spcPct val="0"/>
              </a:spcBef>
              <a:spcAft>
                <a:spcPct val="35000"/>
              </a:spcAft>
            </a:pPr>
            <a:r>
              <a:rPr lang="en-US" altLang="zh-CN" sz="1400">
                <a:solidFill>
                  <a:schemeClr val="bg1"/>
                </a:solidFill>
              </a:rPr>
              <a:t>What </a:t>
            </a:r>
            <a:r>
              <a:rPr lang="zh-CN" altLang="en-US" sz="1400">
                <a:solidFill>
                  <a:schemeClr val="bg1"/>
                </a:solidFill>
              </a:rPr>
              <a:t>做什么</a:t>
            </a:r>
            <a:endParaRPr lang="en-US" altLang="zh-CN" sz="1400">
              <a:solidFill>
                <a:schemeClr val="bg1"/>
              </a:solidFill>
            </a:endParaRPr>
          </a:p>
          <a:p>
            <a:pPr lvl="0" defTabSz="711200">
              <a:lnSpc>
                <a:spcPct val="90000"/>
              </a:lnSpc>
              <a:spcBef>
                <a:spcPct val="0"/>
              </a:spcBef>
              <a:spcAft>
                <a:spcPct val="35000"/>
              </a:spcAft>
            </a:pPr>
            <a:r>
              <a:rPr lang="en-US" altLang="zh-CN" sz="1400">
                <a:solidFill>
                  <a:schemeClr val="bg1"/>
                </a:solidFill>
              </a:rPr>
              <a:t>How </a:t>
            </a:r>
            <a:r>
              <a:rPr lang="zh-CN" altLang="en-US" sz="1400">
                <a:solidFill>
                  <a:schemeClr val="bg1"/>
                </a:solidFill>
              </a:rPr>
              <a:t>如何做</a:t>
            </a:r>
            <a:endParaRPr lang="en-US" altLang="zh-CN" sz="1400">
              <a:solidFill>
                <a:schemeClr val="bg1"/>
              </a:solidFill>
            </a:endParaRPr>
          </a:p>
          <a:p>
            <a:pPr marL="0" lvl="0" indent="0" algn="l" defTabSz="711200">
              <a:lnSpc>
                <a:spcPct val="90000"/>
              </a:lnSpc>
              <a:spcBef>
                <a:spcPct val="0"/>
              </a:spcBef>
              <a:spcAft>
                <a:spcPct val="35000"/>
              </a:spcAft>
              <a:buNone/>
            </a:pPr>
            <a:r>
              <a:rPr lang="en-US" altLang="zh-CN" sz="1400" kern="1200">
                <a:solidFill>
                  <a:schemeClr val="bg1"/>
                </a:solidFill>
              </a:rPr>
              <a:t>8h</a:t>
            </a:r>
          </a:p>
          <a:p>
            <a:pPr marL="0" lvl="0" indent="0" algn="l" defTabSz="711200">
              <a:lnSpc>
                <a:spcPct val="90000"/>
              </a:lnSpc>
              <a:spcBef>
                <a:spcPct val="0"/>
              </a:spcBef>
              <a:spcAft>
                <a:spcPct val="35000"/>
              </a:spcAft>
              <a:buNone/>
            </a:pPr>
            <a:endParaRPr lang="en-US" altLang="zh-CN" sz="1400">
              <a:solidFill>
                <a:schemeClr val="bg1"/>
              </a:solidFill>
            </a:endParaRPr>
          </a:p>
          <a:p>
            <a:pPr marL="0" lvl="0" indent="0" algn="l" defTabSz="711200">
              <a:lnSpc>
                <a:spcPct val="90000"/>
              </a:lnSpc>
              <a:spcBef>
                <a:spcPct val="0"/>
              </a:spcBef>
              <a:spcAft>
                <a:spcPct val="35000"/>
              </a:spcAft>
              <a:buNone/>
            </a:pPr>
            <a:endParaRPr lang="zh-CN" altLang="en-US" sz="1400" kern="1200">
              <a:solidFill>
                <a:schemeClr val="bg1"/>
              </a:solidFill>
            </a:endParaRPr>
          </a:p>
        </p:txBody>
      </p:sp>
      <p:sp>
        <p:nvSpPr>
          <p:cNvPr id="8" name="任意多边形: 形状 7">
            <a:extLst>
              <a:ext uri="{FF2B5EF4-FFF2-40B4-BE49-F238E27FC236}">
                <a16:creationId xmlns:a16="http://schemas.microsoft.com/office/drawing/2014/main" id="{942EBA69-E512-98D2-7283-FB23330EBAAD}"/>
              </a:ext>
            </a:extLst>
          </p:cNvPr>
          <p:cNvSpPr/>
          <p:nvPr/>
        </p:nvSpPr>
        <p:spPr>
          <a:xfrm>
            <a:off x="5120082" y="1992812"/>
            <a:ext cx="6376593" cy="1011581"/>
          </a:xfrm>
          <a:custGeom>
            <a:avLst/>
            <a:gdLst>
              <a:gd name="csX0" fmla="*/ 0 w 5028534"/>
              <a:gd name="csY0" fmla="*/ 252895 h 1011581"/>
              <a:gd name="csX1" fmla="*/ 4522744 w 5028534"/>
              <a:gd name="csY1" fmla="*/ 252895 h 1011581"/>
              <a:gd name="csX2" fmla="*/ 4522744 w 5028534"/>
              <a:gd name="csY2" fmla="*/ 0 h 1011581"/>
              <a:gd name="csX3" fmla="*/ 5028534 w 5028534"/>
              <a:gd name="csY3" fmla="*/ 505791 h 1011581"/>
              <a:gd name="csX4" fmla="*/ 4522744 w 5028534"/>
              <a:gd name="csY4" fmla="*/ 1011581 h 1011581"/>
              <a:gd name="csX5" fmla="*/ 4522744 w 5028534"/>
              <a:gd name="csY5" fmla="*/ 758686 h 1011581"/>
              <a:gd name="csX6" fmla="*/ 0 w 5028534"/>
              <a:gd name="csY6" fmla="*/ 758686 h 1011581"/>
              <a:gd name="csX7" fmla="*/ 0 w 5028534"/>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28534" h="1011581">
                <a:moveTo>
                  <a:pt x="0" y="252895"/>
                </a:moveTo>
                <a:lnTo>
                  <a:pt x="4522744" y="252895"/>
                </a:lnTo>
                <a:lnTo>
                  <a:pt x="4522744" y="0"/>
                </a:lnTo>
                <a:lnTo>
                  <a:pt x="5028534" y="505791"/>
                </a:lnTo>
                <a:lnTo>
                  <a:pt x="4522744" y="1011581"/>
                </a:lnTo>
                <a:lnTo>
                  <a:pt x="4522744" y="758686"/>
                </a:lnTo>
                <a:lnTo>
                  <a:pt x="0" y="758686"/>
                </a:lnTo>
                <a:lnTo>
                  <a:pt x="0" y="252895"/>
                </a:lnTo>
                <a:close/>
              </a:path>
            </a:pathLst>
          </a:custGeom>
          <a:ln>
            <a:noFill/>
          </a:ln>
        </p:spPr>
        <p:style>
          <a:lnRef idx="2">
            <a:schemeClr val="lt1">
              <a:hueOff val="0"/>
              <a:satOff val="0"/>
              <a:lumOff val="0"/>
              <a:alphaOff val="0"/>
            </a:schemeClr>
          </a:lnRef>
          <a:fillRef idx="1">
            <a:schemeClr val="accent5">
              <a:hueOff val="-3379271"/>
              <a:satOff val="-8710"/>
              <a:lumOff val="-5883"/>
              <a:alphaOff val="0"/>
            </a:schemeClr>
          </a:fillRef>
          <a:effectRef idx="0">
            <a:schemeClr val="accent5">
              <a:hueOff val="-3379271"/>
              <a:satOff val="-8710"/>
              <a:lumOff val="-5883"/>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Daily Scrum</a:t>
            </a:r>
            <a:endParaRPr lang="zh-CN" altLang="en-US" sz="1600" kern="1200"/>
          </a:p>
        </p:txBody>
      </p:sp>
      <p:sp>
        <p:nvSpPr>
          <p:cNvPr id="9" name="任意多边形: 形状 8">
            <a:extLst>
              <a:ext uri="{FF2B5EF4-FFF2-40B4-BE49-F238E27FC236}">
                <a16:creationId xmlns:a16="http://schemas.microsoft.com/office/drawing/2014/main" id="{95F7A082-CD9F-5050-A53C-69BA22B02D0A}"/>
              </a:ext>
            </a:extLst>
          </p:cNvPr>
          <p:cNvSpPr/>
          <p:nvPr/>
        </p:nvSpPr>
        <p:spPr>
          <a:xfrm>
            <a:off x="5120083" y="2751918"/>
            <a:ext cx="1985819" cy="2394384"/>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3379271"/>
              <a:satOff val="-8710"/>
              <a:lumOff val="-5883"/>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每日站会</a:t>
            </a:r>
            <a:endParaRPr lang="en-US" altLang="zh-CN" sz="1600" b="1" kern="1200">
              <a:solidFill>
                <a:schemeClr val="bg1"/>
              </a:solidFill>
            </a:endParaRPr>
          </a:p>
          <a:p>
            <a:pPr lvl="0" defTabSz="711200">
              <a:lnSpc>
                <a:spcPct val="90000"/>
              </a:lnSpc>
              <a:spcBef>
                <a:spcPct val="0"/>
              </a:spcBef>
              <a:spcAft>
                <a:spcPct val="35000"/>
              </a:spcAft>
            </a:pPr>
            <a:r>
              <a:rPr lang="zh-CN" altLang="en-US" sz="1400">
                <a:solidFill>
                  <a:schemeClr val="bg1"/>
                </a:solidFill>
              </a:rPr>
              <a:t>固定时间和地点</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检查进度</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同步信息</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调整计划及工作</a:t>
            </a:r>
          </a:p>
          <a:p>
            <a:pPr marL="0" lvl="0" indent="0" algn="l" defTabSz="711200">
              <a:lnSpc>
                <a:spcPct val="90000"/>
              </a:lnSpc>
              <a:spcBef>
                <a:spcPct val="0"/>
              </a:spcBef>
              <a:spcAft>
                <a:spcPct val="35000"/>
              </a:spcAft>
              <a:buNone/>
            </a:pPr>
            <a:r>
              <a:rPr lang="en-US" altLang="zh-CN" sz="1400" kern="1200">
                <a:solidFill>
                  <a:schemeClr val="bg1"/>
                </a:solidFill>
              </a:rPr>
              <a:t>15min</a:t>
            </a:r>
          </a:p>
        </p:txBody>
      </p:sp>
      <p:sp>
        <p:nvSpPr>
          <p:cNvPr id="10" name="任意多边形: 形状 9">
            <a:extLst>
              <a:ext uri="{FF2B5EF4-FFF2-40B4-BE49-F238E27FC236}">
                <a16:creationId xmlns:a16="http://schemas.microsoft.com/office/drawing/2014/main" id="{3346163A-DE8F-D83B-2581-D5CB2C3D997C}"/>
              </a:ext>
            </a:extLst>
          </p:cNvPr>
          <p:cNvSpPr/>
          <p:nvPr/>
        </p:nvSpPr>
        <p:spPr>
          <a:xfrm>
            <a:off x="7071919" y="2384212"/>
            <a:ext cx="4406889" cy="1011581"/>
          </a:xfrm>
          <a:custGeom>
            <a:avLst/>
            <a:gdLst>
              <a:gd name="csX0" fmla="*/ 0 w 3706657"/>
              <a:gd name="csY0" fmla="*/ 252895 h 1011581"/>
              <a:gd name="csX1" fmla="*/ 3200867 w 3706657"/>
              <a:gd name="csY1" fmla="*/ 252895 h 1011581"/>
              <a:gd name="csX2" fmla="*/ 3200867 w 3706657"/>
              <a:gd name="csY2" fmla="*/ 0 h 1011581"/>
              <a:gd name="csX3" fmla="*/ 3706657 w 3706657"/>
              <a:gd name="csY3" fmla="*/ 505791 h 1011581"/>
              <a:gd name="csX4" fmla="*/ 3200867 w 3706657"/>
              <a:gd name="csY4" fmla="*/ 1011581 h 1011581"/>
              <a:gd name="csX5" fmla="*/ 3200867 w 3706657"/>
              <a:gd name="csY5" fmla="*/ 758686 h 1011581"/>
              <a:gd name="csX6" fmla="*/ 0 w 3706657"/>
              <a:gd name="csY6" fmla="*/ 758686 h 1011581"/>
              <a:gd name="csX7" fmla="*/ 0 w 3706657"/>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706657" h="1011581">
                <a:moveTo>
                  <a:pt x="0" y="252895"/>
                </a:moveTo>
                <a:lnTo>
                  <a:pt x="3200867" y="252895"/>
                </a:lnTo>
                <a:lnTo>
                  <a:pt x="3200867" y="0"/>
                </a:lnTo>
                <a:lnTo>
                  <a:pt x="3706657" y="505791"/>
                </a:lnTo>
                <a:lnTo>
                  <a:pt x="3200867" y="1011581"/>
                </a:lnTo>
                <a:lnTo>
                  <a:pt x="3200867" y="758686"/>
                </a:lnTo>
                <a:lnTo>
                  <a:pt x="0" y="758686"/>
                </a:lnTo>
                <a:lnTo>
                  <a:pt x="0" y="252895"/>
                </a:lnTo>
                <a:close/>
              </a:path>
            </a:pathLst>
          </a:custGeom>
          <a:ln>
            <a:noFill/>
          </a:ln>
        </p:spPr>
        <p:style>
          <a:lnRef idx="2">
            <a:schemeClr val="lt1">
              <a:hueOff val="0"/>
              <a:satOff val="0"/>
              <a:lumOff val="0"/>
              <a:alphaOff val="0"/>
            </a:schemeClr>
          </a:lnRef>
          <a:fillRef idx="1">
            <a:schemeClr val="accent5">
              <a:hueOff val="-5068907"/>
              <a:satOff val="-13064"/>
              <a:lumOff val="-8824"/>
              <a:alphaOff val="0"/>
            </a:schemeClr>
          </a:fillRef>
          <a:effectRef idx="0">
            <a:schemeClr val="accent5">
              <a:hueOff val="-5068907"/>
              <a:satOff val="-13064"/>
              <a:lumOff val="-8824"/>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Review</a:t>
            </a:r>
            <a:endParaRPr lang="zh-CN" altLang="en-US" sz="1600" kern="1200"/>
          </a:p>
        </p:txBody>
      </p:sp>
      <p:sp>
        <p:nvSpPr>
          <p:cNvPr id="11" name="任意多边形: 形状 10">
            <a:extLst>
              <a:ext uri="{FF2B5EF4-FFF2-40B4-BE49-F238E27FC236}">
                <a16:creationId xmlns:a16="http://schemas.microsoft.com/office/drawing/2014/main" id="{E1D23A52-85E0-B825-0D1D-E3502F06B0B0}"/>
              </a:ext>
            </a:extLst>
          </p:cNvPr>
          <p:cNvSpPr/>
          <p:nvPr/>
        </p:nvSpPr>
        <p:spPr>
          <a:xfrm>
            <a:off x="7071919" y="3138402"/>
            <a:ext cx="1985819" cy="1994038"/>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5068907"/>
              <a:satOff val="-13064"/>
              <a:lumOff val="-8824"/>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评审</a:t>
            </a:r>
            <a:endParaRPr lang="en-US" altLang="zh-CN" sz="1600" b="1" kern="1200">
              <a:solidFill>
                <a:schemeClr val="bg1"/>
              </a:solidFill>
            </a:endParaRPr>
          </a:p>
          <a:p>
            <a:pPr marL="0" lvl="0" indent="0" algn="l" defTabSz="711200">
              <a:lnSpc>
                <a:spcPct val="90000"/>
              </a:lnSpc>
              <a:spcBef>
                <a:spcPct val="0"/>
              </a:spcBef>
              <a:spcAft>
                <a:spcPct val="35000"/>
              </a:spcAft>
              <a:buNone/>
            </a:pPr>
            <a:r>
              <a:rPr lang="zh-CN" altLang="en-US" sz="1400" kern="1200">
                <a:solidFill>
                  <a:schemeClr val="bg1"/>
                </a:solidFill>
              </a:rPr>
              <a:t>监视冲刺成果</a:t>
            </a:r>
            <a:endParaRPr lang="en-US" altLang="zh-CN" sz="1400" kern="12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搜集反馈</a:t>
            </a:r>
            <a:endParaRPr lang="en-US" altLang="zh-CN" sz="14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调整方向</a:t>
            </a:r>
            <a:endParaRPr lang="en-US" altLang="zh-CN" sz="1400">
              <a:solidFill>
                <a:schemeClr val="bg1"/>
              </a:solidFill>
            </a:endParaRPr>
          </a:p>
          <a:p>
            <a:pPr marL="0" lvl="0" indent="0" algn="l" defTabSz="711200">
              <a:lnSpc>
                <a:spcPct val="90000"/>
              </a:lnSpc>
              <a:spcBef>
                <a:spcPct val="0"/>
              </a:spcBef>
              <a:spcAft>
                <a:spcPct val="35000"/>
              </a:spcAft>
              <a:buNone/>
            </a:pPr>
            <a:r>
              <a:rPr lang="zh-CN" altLang="en-US" sz="1400" kern="1200">
                <a:solidFill>
                  <a:schemeClr val="bg1"/>
                </a:solidFill>
              </a:rPr>
              <a:t>促进协作和透明</a:t>
            </a:r>
            <a:endParaRPr lang="en-US" altLang="zh-CN" sz="1400" kern="1200">
              <a:solidFill>
                <a:schemeClr val="bg1"/>
              </a:solidFill>
            </a:endParaRPr>
          </a:p>
          <a:p>
            <a:pPr defTabSz="711200">
              <a:lnSpc>
                <a:spcPct val="90000"/>
              </a:lnSpc>
              <a:spcBef>
                <a:spcPct val="0"/>
              </a:spcBef>
              <a:spcAft>
                <a:spcPct val="35000"/>
              </a:spcAft>
            </a:pPr>
            <a:r>
              <a:rPr lang="zh-CN" altLang="en-US" sz="1400">
                <a:solidFill>
                  <a:schemeClr val="bg1"/>
                </a:solidFill>
              </a:rPr>
              <a:t>非仅仅展示</a:t>
            </a:r>
          </a:p>
          <a:p>
            <a:pPr marL="0" lvl="0" indent="0" algn="l" defTabSz="711200">
              <a:lnSpc>
                <a:spcPct val="90000"/>
              </a:lnSpc>
              <a:spcBef>
                <a:spcPct val="0"/>
              </a:spcBef>
              <a:spcAft>
                <a:spcPct val="35000"/>
              </a:spcAft>
              <a:buNone/>
            </a:pPr>
            <a:r>
              <a:rPr lang="en-US" altLang="zh-CN" sz="1400" kern="1200">
                <a:solidFill>
                  <a:schemeClr val="bg1"/>
                </a:solidFill>
              </a:rPr>
              <a:t>4h</a:t>
            </a:r>
          </a:p>
        </p:txBody>
      </p:sp>
      <p:sp>
        <p:nvSpPr>
          <p:cNvPr id="13" name="任意多边形: 形状 12">
            <a:extLst>
              <a:ext uri="{FF2B5EF4-FFF2-40B4-BE49-F238E27FC236}">
                <a16:creationId xmlns:a16="http://schemas.microsoft.com/office/drawing/2014/main" id="{82705CF4-7057-910B-5907-A87C903A2056}"/>
              </a:ext>
            </a:extLst>
          </p:cNvPr>
          <p:cNvSpPr/>
          <p:nvPr/>
        </p:nvSpPr>
        <p:spPr>
          <a:xfrm>
            <a:off x="9073690" y="2775611"/>
            <a:ext cx="2389028" cy="1011581"/>
          </a:xfrm>
          <a:custGeom>
            <a:avLst/>
            <a:gdLst>
              <a:gd name="csX0" fmla="*/ 0 w 2389028"/>
              <a:gd name="csY0" fmla="*/ 252895 h 1011581"/>
              <a:gd name="csX1" fmla="*/ 1883238 w 2389028"/>
              <a:gd name="csY1" fmla="*/ 252895 h 1011581"/>
              <a:gd name="csX2" fmla="*/ 1883238 w 2389028"/>
              <a:gd name="csY2" fmla="*/ 0 h 1011581"/>
              <a:gd name="csX3" fmla="*/ 2389028 w 2389028"/>
              <a:gd name="csY3" fmla="*/ 505791 h 1011581"/>
              <a:gd name="csX4" fmla="*/ 1883238 w 2389028"/>
              <a:gd name="csY4" fmla="*/ 1011581 h 1011581"/>
              <a:gd name="csX5" fmla="*/ 1883238 w 2389028"/>
              <a:gd name="csY5" fmla="*/ 758686 h 1011581"/>
              <a:gd name="csX6" fmla="*/ 0 w 2389028"/>
              <a:gd name="csY6" fmla="*/ 758686 h 1011581"/>
              <a:gd name="csX7" fmla="*/ 0 w 2389028"/>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89028" h="1011581">
                <a:moveTo>
                  <a:pt x="0" y="252895"/>
                </a:moveTo>
                <a:lnTo>
                  <a:pt x="1883238" y="252895"/>
                </a:lnTo>
                <a:lnTo>
                  <a:pt x="1883238" y="0"/>
                </a:lnTo>
                <a:lnTo>
                  <a:pt x="2389028" y="505791"/>
                </a:lnTo>
                <a:lnTo>
                  <a:pt x="1883238" y="1011581"/>
                </a:lnTo>
                <a:lnTo>
                  <a:pt x="1883238" y="758686"/>
                </a:lnTo>
                <a:lnTo>
                  <a:pt x="0" y="758686"/>
                </a:lnTo>
                <a:lnTo>
                  <a:pt x="0" y="252895"/>
                </a:lnTo>
                <a:close/>
              </a:path>
            </a:pathLst>
          </a:cu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Retrospective</a:t>
            </a:r>
            <a:endParaRPr lang="zh-CN" altLang="en-US" sz="1600" kern="1200"/>
          </a:p>
        </p:txBody>
      </p:sp>
      <p:sp>
        <p:nvSpPr>
          <p:cNvPr id="14" name="任意多边形: 形状 13">
            <a:extLst>
              <a:ext uri="{FF2B5EF4-FFF2-40B4-BE49-F238E27FC236}">
                <a16:creationId xmlns:a16="http://schemas.microsoft.com/office/drawing/2014/main" id="{0AE37BB5-9D64-178F-D325-C79C75F2FBE0}"/>
              </a:ext>
            </a:extLst>
          </p:cNvPr>
          <p:cNvSpPr/>
          <p:nvPr/>
        </p:nvSpPr>
        <p:spPr>
          <a:xfrm>
            <a:off x="9073690" y="3524885"/>
            <a:ext cx="1899110" cy="1621417"/>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6758543"/>
              <a:satOff val="-17419"/>
              <a:lumOff val="-11765"/>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回顾</a:t>
            </a:r>
            <a:endParaRPr lang="en-US" altLang="zh-CN" sz="1600" b="1" kern="1200">
              <a:solidFill>
                <a:schemeClr val="bg1"/>
              </a:solidFill>
            </a:endParaRPr>
          </a:p>
          <a:p>
            <a:pPr lvl="0" defTabSz="711200">
              <a:lnSpc>
                <a:spcPct val="90000"/>
              </a:lnSpc>
              <a:spcBef>
                <a:spcPct val="0"/>
              </a:spcBef>
              <a:spcAft>
                <a:spcPct val="35000"/>
              </a:spcAft>
            </a:pPr>
            <a:r>
              <a:rPr lang="zh-CN" altLang="en-US" sz="1400">
                <a:solidFill>
                  <a:schemeClr val="bg1"/>
                </a:solidFill>
              </a:rPr>
              <a:t>最后一个事件</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监视整个 </a:t>
            </a:r>
            <a:r>
              <a:rPr lang="en-US" altLang="zh-CN" sz="1400">
                <a:solidFill>
                  <a:schemeClr val="bg1"/>
                </a:solidFill>
              </a:rPr>
              <a:t>Sprint</a:t>
            </a:r>
          </a:p>
          <a:p>
            <a:pPr lvl="0" defTabSz="711200">
              <a:lnSpc>
                <a:spcPct val="90000"/>
              </a:lnSpc>
              <a:spcBef>
                <a:spcPct val="0"/>
              </a:spcBef>
              <a:spcAft>
                <a:spcPct val="35000"/>
              </a:spcAft>
            </a:pPr>
            <a:r>
              <a:rPr lang="zh-CN" altLang="en-US" sz="1400">
                <a:solidFill>
                  <a:schemeClr val="bg1"/>
                </a:solidFill>
              </a:rPr>
              <a:t>仅团队成员参加</a:t>
            </a:r>
            <a:endParaRPr lang="en-US" altLang="zh-CN" sz="1400">
              <a:solidFill>
                <a:schemeClr val="bg1"/>
              </a:solidFill>
            </a:endParaRPr>
          </a:p>
          <a:p>
            <a:pPr marL="0" lvl="0" indent="0" algn="l" defTabSz="711200">
              <a:lnSpc>
                <a:spcPct val="90000"/>
              </a:lnSpc>
              <a:spcBef>
                <a:spcPct val="0"/>
              </a:spcBef>
              <a:spcAft>
                <a:spcPct val="35000"/>
              </a:spcAft>
              <a:buNone/>
            </a:pPr>
            <a:r>
              <a:rPr lang="en-US" altLang="zh-CN" sz="1400">
                <a:solidFill>
                  <a:schemeClr val="bg1"/>
                </a:solidFill>
              </a:rPr>
              <a:t>3h</a:t>
            </a:r>
          </a:p>
        </p:txBody>
      </p:sp>
    </p:spTree>
    <p:extLst>
      <p:ext uri="{BB962C8B-B14F-4D97-AF65-F5344CB8AC3E}">
        <p14:creationId xmlns:p14="http://schemas.microsoft.com/office/powerpoint/2010/main" val="259632493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D5441-EBFD-69E6-6226-DF57229080E7}"/>
              </a:ext>
            </a:extLst>
          </p:cNvPr>
          <p:cNvSpPr>
            <a:spLocks noGrp="1"/>
          </p:cNvSpPr>
          <p:nvPr>
            <p:ph type="title"/>
          </p:nvPr>
        </p:nvSpPr>
        <p:spPr>
          <a:xfrm>
            <a:off x="695998" y="360000"/>
            <a:ext cx="6375921" cy="429413"/>
          </a:xfrm>
        </p:spPr>
        <p:txBody>
          <a:bodyPr/>
          <a:lstStyle/>
          <a:p>
            <a:r>
              <a:rPr lang="en-US" altLang="zh-CN"/>
              <a:t>2.6.5.1 </a:t>
            </a:r>
            <a:r>
              <a:rPr lang="zh-CN" altLang="en-US"/>
              <a:t>冲刺</a:t>
            </a:r>
          </a:p>
        </p:txBody>
      </p:sp>
      <p:sp>
        <p:nvSpPr>
          <p:cNvPr id="3" name="内容占位符 2">
            <a:extLst>
              <a:ext uri="{FF2B5EF4-FFF2-40B4-BE49-F238E27FC236}">
                <a16:creationId xmlns:a16="http://schemas.microsoft.com/office/drawing/2014/main" id="{48D554B0-AF84-B69A-EC4B-13529DB37D08}"/>
              </a:ext>
            </a:extLst>
          </p:cNvPr>
          <p:cNvSpPr>
            <a:spLocks noGrp="1"/>
          </p:cNvSpPr>
          <p:nvPr>
            <p:ph idx="1"/>
          </p:nvPr>
        </p:nvSpPr>
        <p:spPr>
          <a:xfrm>
            <a:off x="696000" y="864000"/>
            <a:ext cx="10800000" cy="5400000"/>
          </a:xfrm>
        </p:spPr>
        <p:txBody>
          <a:bodyPr/>
          <a:lstStyle/>
          <a:p>
            <a:r>
              <a:rPr lang="en-US" altLang="zh-CN"/>
              <a:t>No changes are made that would endanger the </a:t>
            </a:r>
            <a:r>
              <a:rPr lang="en-US" altLang="zh-CN" b="1">
                <a:solidFill>
                  <a:srgbClr val="FFFF00"/>
                </a:solidFill>
              </a:rPr>
              <a:t>Sprint</a:t>
            </a:r>
            <a:r>
              <a:rPr lang="en-US" altLang="zh-CN" b="1">
                <a:solidFill>
                  <a:srgbClr val="FF0000"/>
                </a:solidFill>
              </a:rPr>
              <a:t> </a:t>
            </a:r>
            <a:r>
              <a:rPr lang="en-US" altLang="zh-CN" b="1">
                <a:solidFill>
                  <a:srgbClr val="FFFF00"/>
                </a:solidFill>
              </a:rPr>
              <a:t>Goal</a:t>
            </a:r>
          </a:p>
          <a:p>
            <a:r>
              <a:rPr lang="en-US" altLang="zh-CN"/>
              <a:t>Quality does not decrease</a:t>
            </a:r>
          </a:p>
          <a:p>
            <a:r>
              <a:rPr lang="en-US" altLang="zh-CN"/>
              <a:t>The Product Backlog is </a:t>
            </a:r>
            <a:r>
              <a:rPr lang="en-US" altLang="zh-CN" b="1">
                <a:solidFill>
                  <a:srgbClr val="FFFF00"/>
                </a:solidFill>
              </a:rPr>
              <a:t>refined</a:t>
            </a:r>
            <a:r>
              <a:rPr lang="en-US" altLang="zh-CN"/>
              <a:t> as needed</a:t>
            </a:r>
          </a:p>
          <a:p>
            <a:r>
              <a:rPr lang="en-US" altLang="zh-CN"/>
              <a:t>Scope may be clarified and renegotiated with the Product Owner as more is learned</a:t>
            </a:r>
          </a:p>
          <a:p>
            <a:endParaRPr lang="en-US" altLang="zh-CN"/>
          </a:p>
          <a:p>
            <a:r>
              <a:rPr lang="en-US" altLang="zh-CN"/>
              <a:t>A Sprint could be cancelled if the Sprint Goal becomes </a:t>
            </a:r>
            <a:r>
              <a:rPr lang="en-US" altLang="zh-CN" b="1">
                <a:solidFill>
                  <a:srgbClr val="FFFF00"/>
                </a:solidFill>
              </a:rPr>
              <a:t>obsolete</a:t>
            </a:r>
            <a:endParaRPr lang="en-US" altLang="zh-CN">
              <a:solidFill>
                <a:srgbClr val="FFFF00"/>
              </a:solidFill>
            </a:endParaRPr>
          </a:p>
          <a:p>
            <a:r>
              <a:rPr lang="en-US" altLang="zh-CN"/>
              <a:t>Only the Product Owner has the authority to cancel the Sprint</a:t>
            </a:r>
          </a:p>
          <a:p>
            <a:endParaRPr lang="en-US" altLang="zh-CN"/>
          </a:p>
          <a:p>
            <a:r>
              <a:rPr lang="en-US" altLang="zh-CN"/>
              <a:t>Tips</a:t>
            </a:r>
          </a:p>
          <a:p>
            <a:pPr lvl="1"/>
            <a:r>
              <a:rPr lang="zh-CN" altLang="en-US"/>
              <a:t>自然月 </a:t>
            </a:r>
            <a:r>
              <a:rPr lang="en-US" altLang="zh-CN"/>
              <a:t>Calendar Month vs </a:t>
            </a:r>
            <a:r>
              <a:rPr lang="zh-CN" altLang="en-US"/>
              <a:t>滚动月</a:t>
            </a:r>
            <a:r>
              <a:rPr lang="en-US" altLang="zh-CN"/>
              <a:t>Rolling Month</a:t>
            </a:r>
            <a:endParaRPr lang="zh-CN" altLang="en-US"/>
          </a:p>
        </p:txBody>
      </p:sp>
      <p:sp>
        <p:nvSpPr>
          <p:cNvPr id="4" name="文本占位符 3">
            <a:extLst>
              <a:ext uri="{FF2B5EF4-FFF2-40B4-BE49-F238E27FC236}">
                <a16:creationId xmlns:a16="http://schemas.microsoft.com/office/drawing/2014/main" id="{819CA702-2E75-0746-28EA-70F36B580B6A}"/>
              </a:ext>
            </a:extLst>
          </p:cNvPr>
          <p:cNvSpPr>
            <a:spLocks noGrp="1"/>
          </p:cNvSpPr>
          <p:nvPr>
            <p:ph type="body" sz="quarter" idx="10"/>
          </p:nvPr>
        </p:nvSpPr>
        <p:spPr>
          <a:xfrm>
            <a:off x="7071919" y="448519"/>
            <a:ext cx="4424080" cy="338554"/>
          </a:xfrm>
        </p:spPr>
        <p:txBody>
          <a:bodyPr/>
          <a:lstStyle/>
          <a:p>
            <a:r>
              <a:rPr lang="en-US" altLang="zh-CN"/>
              <a:t>Sprint</a:t>
            </a:r>
            <a:endParaRPr lang="zh-CN" altLang="en-US"/>
          </a:p>
        </p:txBody>
      </p:sp>
    </p:spTree>
    <p:extLst>
      <p:ext uri="{BB962C8B-B14F-4D97-AF65-F5344CB8AC3E}">
        <p14:creationId xmlns:p14="http://schemas.microsoft.com/office/powerpoint/2010/main" val="346884336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D1C1A-E92C-BEE7-FE41-B38A45D1A6B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61436EA-B0CB-DA13-5613-5A5556178BA3}"/>
              </a:ext>
            </a:extLst>
          </p:cNvPr>
          <p:cNvSpPr>
            <a:spLocks noGrp="1"/>
          </p:cNvSpPr>
          <p:nvPr>
            <p:ph type="title"/>
          </p:nvPr>
        </p:nvSpPr>
        <p:spPr/>
        <p:txBody>
          <a:bodyPr/>
          <a:lstStyle/>
          <a:p>
            <a:r>
              <a:rPr lang="en-US" altLang="zh-CN"/>
              <a:t>2.6.5.2 </a:t>
            </a:r>
            <a:r>
              <a:rPr lang="zh-CN" altLang="en-US"/>
              <a:t>冲刺计划</a:t>
            </a:r>
          </a:p>
        </p:txBody>
      </p:sp>
      <p:sp>
        <p:nvSpPr>
          <p:cNvPr id="3" name="内容占位符 2">
            <a:extLst>
              <a:ext uri="{FF2B5EF4-FFF2-40B4-BE49-F238E27FC236}">
                <a16:creationId xmlns:a16="http://schemas.microsoft.com/office/drawing/2014/main" id="{87A983A9-C0EA-8834-4185-BFF766D1665D}"/>
              </a:ext>
            </a:extLst>
          </p:cNvPr>
          <p:cNvSpPr>
            <a:spLocks noGrp="1"/>
          </p:cNvSpPr>
          <p:nvPr>
            <p:ph idx="1"/>
          </p:nvPr>
        </p:nvSpPr>
        <p:spPr/>
        <p:txBody>
          <a:bodyPr/>
          <a:lstStyle/>
          <a:p>
            <a:r>
              <a:rPr lang="en-US" altLang="zh-CN"/>
              <a:t>Topics</a:t>
            </a:r>
            <a:r>
              <a:rPr lang="zh-CN" altLang="en-US"/>
              <a:t>：</a:t>
            </a:r>
            <a:endParaRPr lang="en-US" altLang="zh-CN"/>
          </a:p>
          <a:p>
            <a:pPr lvl="1"/>
            <a:r>
              <a:rPr lang="en-US" altLang="zh-CN"/>
              <a:t>Topic One: </a:t>
            </a:r>
            <a:r>
              <a:rPr lang="en-US" altLang="zh-CN" b="1">
                <a:solidFill>
                  <a:srgbClr val="FFFF00"/>
                </a:solidFill>
              </a:rPr>
              <a:t>Why</a:t>
            </a:r>
            <a:r>
              <a:rPr lang="en-US" altLang="zh-CN"/>
              <a:t> is this Sprint valuable?</a:t>
            </a:r>
          </a:p>
          <a:p>
            <a:pPr lvl="1"/>
            <a:r>
              <a:rPr lang="en-US" altLang="zh-CN"/>
              <a:t>Topic Two: </a:t>
            </a:r>
            <a:r>
              <a:rPr lang="en-US" altLang="zh-CN" b="1">
                <a:solidFill>
                  <a:srgbClr val="FFFF00"/>
                </a:solidFill>
              </a:rPr>
              <a:t>What</a:t>
            </a:r>
            <a:r>
              <a:rPr lang="en-US" altLang="zh-CN"/>
              <a:t> can be Done this Sprint?</a:t>
            </a:r>
          </a:p>
          <a:p>
            <a:pPr lvl="1"/>
            <a:r>
              <a:rPr lang="en-US" altLang="zh-CN"/>
              <a:t>Topic Three: </a:t>
            </a:r>
            <a:r>
              <a:rPr lang="en-US" altLang="zh-CN" b="1">
                <a:solidFill>
                  <a:srgbClr val="FFFF00"/>
                </a:solidFill>
              </a:rPr>
              <a:t>How</a:t>
            </a:r>
            <a:r>
              <a:rPr lang="en-US" altLang="zh-CN"/>
              <a:t> will the chosen work get done?</a:t>
            </a:r>
          </a:p>
          <a:p>
            <a:r>
              <a:rPr lang="en-US" altLang="zh-CN"/>
              <a:t>is timeboxed to a </a:t>
            </a:r>
            <a:r>
              <a:rPr lang="en-US" altLang="zh-CN" b="1">
                <a:solidFill>
                  <a:srgbClr val="FFFF00"/>
                </a:solidFill>
              </a:rPr>
              <a:t>maximum</a:t>
            </a:r>
            <a:r>
              <a:rPr lang="en-US" altLang="zh-CN"/>
              <a:t> of eight hours for a one-month Sprint</a:t>
            </a:r>
            <a:endParaRPr lang="zh-CN" altLang="en-US"/>
          </a:p>
        </p:txBody>
      </p:sp>
      <p:sp>
        <p:nvSpPr>
          <p:cNvPr id="4" name="文本占位符 3">
            <a:extLst>
              <a:ext uri="{FF2B5EF4-FFF2-40B4-BE49-F238E27FC236}">
                <a16:creationId xmlns:a16="http://schemas.microsoft.com/office/drawing/2014/main" id="{6618F1C2-DDB0-904E-CEE9-18C4BF744D12}"/>
              </a:ext>
            </a:extLst>
          </p:cNvPr>
          <p:cNvSpPr>
            <a:spLocks noGrp="1"/>
          </p:cNvSpPr>
          <p:nvPr>
            <p:ph type="body" sz="quarter" idx="10"/>
          </p:nvPr>
        </p:nvSpPr>
        <p:spPr/>
        <p:txBody>
          <a:bodyPr/>
          <a:lstStyle/>
          <a:p>
            <a:r>
              <a:rPr lang="en-US" altLang="zh-CN"/>
              <a:t>Sprint planning</a:t>
            </a:r>
            <a:endParaRPr lang="zh-CN" altLang="en-US"/>
          </a:p>
        </p:txBody>
      </p:sp>
    </p:spTree>
    <p:extLst>
      <p:ext uri="{BB962C8B-B14F-4D97-AF65-F5344CB8AC3E}">
        <p14:creationId xmlns:p14="http://schemas.microsoft.com/office/powerpoint/2010/main" val="305709435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C2049-CD25-9BE3-973C-D849554F16F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048BFF2-F452-0D67-280D-A55635017782}"/>
              </a:ext>
            </a:extLst>
          </p:cNvPr>
          <p:cNvSpPr>
            <a:spLocks noGrp="1"/>
          </p:cNvSpPr>
          <p:nvPr>
            <p:ph type="title"/>
          </p:nvPr>
        </p:nvSpPr>
        <p:spPr>
          <a:xfrm>
            <a:off x="695998" y="360000"/>
            <a:ext cx="6375921" cy="429413"/>
          </a:xfrm>
        </p:spPr>
        <p:txBody>
          <a:bodyPr/>
          <a:lstStyle/>
          <a:p>
            <a:r>
              <a:rPr lang="en-US" altLang="zh-CN"/>
              <a:t>2.6.5.3 </a:t>
            </a:r>
            <a:r>
              <a:rPr lang="zh-CN" altLang="en-US"/>
              <a:t>每日站会</a:t>
            </a:r>
          </a:p>
        </p:txBody>
      </p:sp>
      <p:sp>
        <p:nvSpPr>
          <p:cNvPr id="7" name="内容占位符 6">
            <a:extLst>
              <a:ext uri="{FF2B5EF4-FFF2-40B4-BE49-F238E27FC236}">
                <a16:creationId xmlns:a16="http://schemas.microsoft.com/office/drawing/2014/main" id="{8FC31593-BBF7-E3CB-628C-A1280E773663}"/>
              </a:ext>
            </a:extLst>
          </p:cNvPr>
          <p:cNvSpPr>
            <a:spLocks noGrp="1"/>
          </p:cNvSpPr>
          <p:nvPr>
            <p:ph idx="1"/>
          </p:nvPr>
        </p:nvSpPr>
        <p:spPr>
          <a:xfrm>
            <a:off x="696000" y="864000"/>
            <a:ext cx="10800000" cy="5400000"/>
          </a:xfrm>
        </p:spPr>
        <p:txBody>
          <a:bodyPr/>
          <a:lstStyle/>
          <a:p>
            <a:r>
              <a:rPr lang="en-US" altLang="zh-CN"/>
              <a:t>to inspect progress toward the Sprint Goal and adapt the Sprint Backlog as necessary, adjusting the upcoming planned work</a:t>
            </a:r>
          </a:p>
          <a:p>
            <a:r>
              <a:rPr lang="en-US" altLang="zh-CN"/>
              <a:t>a 15-minute event</a:t>
            </a:r>
          </a:p>
          <a:p>
            <a:r>
              <a:rPr lang="en-US" altLang="zh-CN"/>
              <a:t>at the same time and place every working day</a:t>
            </a:r>
          </a:p>
          <a:p>
            <a:r>
              <a:rPr lang="en-US" altLang="zh-CN">
                <a:solidFill>
                  <a:srgbClr val="FFFF00"/>
                </a:solidFill>
              </a:rPr>
              <a:t>improve</a:t>
            </a:r>
            <a:r>
              <a:rPr lang="en-US" altLang="zh-CN"/>
              <a:t> communications, </a:t>
            </a:r>
            <a:r>
              <a:rPr lang="en-US" altLang="zh-CN">
                <a:solidFill>
                  <a:srgbClr val="FFFF00"/>
                </a:solidFill>
              </a:rPr>
              <a:t>identify</a:t>
            </a:r>
            <a:r>
              <a:rPr lang="en-US" altLang="zh-CN"/>
              <a:t> impediments, </a:t>
            </a:r>
            <a:r>
              <a:rPr lang="en-US" altLang="zh-CN">
                <a:solidFill>
                  <a:srgbClr val="FFFF00"/>
                </a:solidFill>
              </a:rPr>
              <a:t>promote</a:t>
            </a:r>
            <a:r>
              <a:rPr lang="en-US" altLang="zh-CN"/>
              <a:t> quick decision-making, and consequently </a:t>
            </a:r>
            <a:r>
              <a:rPr lang="en-US" altLang="zh-CN">
                <a:solidFill>
                  <a:srgbClr val="FFFF00"/>
                </a:solidFill>
              </a:rPr>
              <a:t>eliminate</a:t>
            </a:r>
            <a:r>
              <a:rPr lang="en-US" altLang="zh-CN"/>
              <a:t> the need for other meetings</a:t>
            </a:r>
          </a:p>
          <a:p>
            <a:r>
              <a:rPr lang="en-US" altLang="zh-CN"/>
              <a:t>often meet throughout the day</a:t>
            </a:r>
            <a:endParaRPr lang="zh-CN" altLang="en-US"/>
          </a:p>
        </p:txBody>
      </p:sp>
      <p:sp>
        <p:nvSpPr>
          <p:cNvPr id="4" name="文本占位符 3">
            <a:extLst>
              <a:ext uri="{FF2B5EF4-FFF2-40B4-BE49-F238E27FC236}">
                <a16:creationId xmlns:a16="http://schemas.microsoft.com/office/drawing/2014/main" id="{C9101E6F-A3BA-1197-E530-7402F23A5AEB}"/>
              </a:ext>
            </a:extLst>
          </p:cNvPr>
          <p:cNvSpPr>
            <a:spLocks noGrp="1"/>
          </p:cNvSpPr>
          <p:nvPr>
            <p:ph type="body" sz="quarter" idx="10"/>
          </p:nvPr>
        </p:nvSpPr>
        <p:spPr>
          <a:xfrm>
            <a:off x="7071919" y="448519"/>
            <a:ext cx="4424080" cy="338554"/>
          </a:xfrm>
        </p:spPr>
        <p:txBody>
          <a:bodyPr/>
          <a:lstStyle/>
          <a:p>
            <a:r>
              <a:rPr lang="en-US" altLang="zh-CN"/>
              <a:t>Daily scrum</a:t>
            </a:r>
            <a:endParaRPr lang="zh-CN" altLang="en-US"/>
          </a:p>
        </p:txBody>
      </p:sp>
    </p:spTree>
    <p:extLst>
      <p:ext uri="{BB962C8B-B14F-4D97-AF65-F5344CB8AC3E}">
        <p14:creationId xmlns:p14="http://schemas.microsoft.com/office/powerpoint/2010/main" val="52565204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B159F-09B7-BF6A-6C42-E1241234A2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AAF167-B579-4524-099E-B47FF64C98A6}"/>
              </a:ext>
            </a:extLst>
          </p:cNvPr>
          <p:cNvSpPr>
            <a:spLocks noGrp="1"/>
          </p:cNvSpPr>
          <p:nvPr>
            <p:ph type="title"/>
          </p:nvPr>
        </p:nvSpPr>
        <p:spPr>
          <a:xfrm>
            <a:off x="695998" y="360000"/>
            <a:ext cx="6375921" cy="429413"/>
          </a:xfrm>
        </p:spPr>
        <p:txBody>
          <a:bodyPr/>
          <a:lstStyle/>
          <a:p>
            <a:r>
              <a:rPr lang="en-US" altLang="zh-CN"/>
              <a:t>2.6.5.4 </a:t>
            </a:r>
            <a:r>
              <a:rPr lang="zh-CN" altLang="en-US"/>
              <a:t>冲刺评审</a:t>
            </a:r>
          </a:p>
        </p:txBody>
      </p:sp>
      <p:sp>
        <p:nvSpPr>
          <p:cNvPr id="7" name="内容占位符 6">
            <a:extLst>
              <a:ext uri="{FF2B5EF4-FFF2-40B4-BE49-F238E27FC236}">
                <a16:creationId xmlns:a16="http://schemas.microsoft.com/office/drawing/2014/main" id="{1E8F2881-4406-D0F7-DAB7-4223A054D78F}"/>
              </a:ext>
            </a:extLst>
          </p:cNvPr>
          <p:cNvSpPr>
            <a:spLocks noGrp="1"/>
          </p:cNvSpPr>
          <p:nvPr>
            <p:ph idx="1"/>
          </p:nvPr>
        </p:nvSpPr>
        <p:spPr>
          <a:xfrm>
            <a:off x="696000" y="864000"/>
            <a:ext cx="10800000" cy="5400000"/>
          </a:xfrm>
        </p:spPr>
        <p:txBody>
          <a:bodyPr/>
          <a:lstStyle/>
          <a:p>
            <a:r>
              <a:rPr lang="en-US" altLang="zh-CN"/>
              <a:t>inspect the </a:t>
            </a:r>
            <a:r>
              <a:rPr lang="en-US" altLang="zh-CN" b="1">
                <a:solidFill>
                  <a:srgbClr val="FFFF00"/>
                </a:solidFill>
              </a:rPr>
              <a:t>outcome</a:t>
            </a:r>
            <a:r>
              <a:rPr lang="en-US" altLang="zh-CN"/>
              <a:t> of the Sprint and determine future </a:t>
            </a:r>
            <a:r>
              <a:rPr lang="en-US" altLang="zh-CN">
                <a:solidFill>
                  <a:srgbClr val="FFFF00"/>
                </a:solidFill>
              </a:rPr>
              <a:t>adaptations</a:t>
            </a:r>
          </a:p>
          <a:p>
            <a:r>
              <a:rPr lang="en-US" altLang="zh-CN"/>
              <a:t>presents the results of their work to key stakeholders</a:t>
            </a:r>
          </a:p>
          <a:p>
            <a:r>
              <a:rPr lang="en-US" altLang="zh-CN"/>
              <a:t>progress toward the Product Goal is discussed</a:t>
            </a:r>
          </a:p>
          <a:p>
            <a:r>
              <a:rPr lang="en-US" altLang="zh-CN"/>
              <a:t>The Product Backlog may also be adjusted to meet new opportunities</a:t>
            </a:r>
          </a:p>
          <a:p>
            <a:r>
              <a:rPr lang="en-US" altLang="zh-CN" b="1">
                <a:solidFill>
                  <a:srgbClr val="FFFF00"/>
                </a:solidFill>
              </a:rPr>
              <a:t>avoid</a:t>
            </a:r>
            <a:r>
              <a:rPr lang="en-US" altLang="zh-CN"/>
              <a:t> limiting it to a presentation</a:t>
            </a:r>
          </a:p>
          <a:p>
            <a:r>
              <a:rPr lang="en-US" altLang="zh-CN"/>
              <a:t>the second to last event of the Sprint</a:t>
            </a:r>
          </a:p>
          <a:p>
            <a:r>
              <a:rPr lang="en-US" altLang="zh-CN"/>
              <a:t>is timeboxed to a maximum of four hours for a one-month Sprint</a:t>
            </a:r>
          </a:p>
          <a:p>
            <a:endParaRPr lang="zh-CN" altLang="en-US"/>
          </a:p>
        </p:txBody>
      </p:sp>
      <p:sp>
        <p:nvSpPr>
          <p:cNvPr id="4" name="文本占位符 3">
            <a:extLst>
              <a:ext uri="{FF2B5EF4-FFF2-40B4-BE49-F238E27FC236}">
                <a16:creationId xmlns:a16="http://schemas.microsoft.com/office/drawing/2014/main" id="{DD4A3D7D-74CD-5F79-1AC1-2E1C639473B0}"/>
              </a:ext>
            </a:extLst>
          </p:cNvPr>
          <p:cNvSpPr>
            <a:spLocks noGrp="1"/>
          </p:cNvSpPr>
          <p:nvPr>
            <p:ph type="body" sz="quarter" idx="10"/>
          </p:nvPr>
        </p:nvSpPr>
        <p:spPr>
          <a:xfrm>
            <a:off x="7071919" y="448519"/>
            <a:ext cx="4424080" cy="338554"/>
          </a:xfrm>
        </p:spPr>
        <p:txBody>
          <a:bodyPr/>
          <a:lstStyle/>
          <a:p>
            <a:r>
              <a:rPr lang="en-US" altLang="zh-CN"/>
              <a:t>Sprint Review</a:t>
            </a:r>
            <a:endParaRPr lang="zh-CN" altLang="en-US"/>
          </a:p>
        </p:txBody>
      </p:sp>
    </p:spTree>
    <p:extLst>
      <p:ext uri="{BB962C8B-B14F-4D97-AF65-F5344CB8AC3E}">
        <p14:creationId xmlns:p14="http://schemas.microsoft.com/office/powerpoint/2010/main" val="2226480001"/>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8368E-FC16-7F1A-43D8-9CE01BE3B7F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7B1C4B1-82DE-7548-3EE8-B4906BBF715F}"/>
              </a:ext>
            </a:extLst>
          </p:cNvPr>
          <p:cNvSpPr>
            <a:spLocks noGrp="1"/>
          </p:cNvSpPr>
          <p:nvPr>
            <p:ph type="title"/>
          </p:nvPr>
        </p:nvSpPr>
        <p:spPr>
          <a:xfrm>
            <a:off x="695998" y="360000"/>
            <a:ext cx="6375921" cy="429413"/>
          </a:xfrm>
        </p:spPr>
        <p:txBody>
          <a:bodyPr/>
          <a:lstStyle/>
          <a:p>
            <a:r>
              <a:rPr lang="en-US" altLang="zh-CN"/>
              <a:t>2.6.5.5 </a:t>
            </a:r>
            <a:r>
              <a:rPr lang="zh-CN" altLang="en-US"/>
              <a:t>冲刺回顾</a:t>
            </a:r>
          </a:p>
        </p:txBody>
      </p:sp>
      <p:sp>
        <p:nvSpPr>
          <p:cNvPr id="10" name="内容占位符 9">
            <a:extLst>
              <a:ext uri="{FF2B5EF4-FFF2-40B4-BE49-F238E27FC236}">
                <a16:creationId xmlns:a16="http://schemas.microsoft.com/office/drawing/2014/main" id="{1550FB92-2484-D646-82B6-ECE9EC45CEC0}"/>
              </a:ext>
            </a:extLst>
          </p:cNvPr>
          <p:cNvSpPr>
            <a:spLocks noGrp="1"/>
          </p:cNvSpPr>
          <p:nvPr>
            <p:ph idx="1"/>
          </p:nvPr>
        </p:nvSpPr>
        <p:spPr>
          <a:xfrm>
            <a:off x="696000" y="864000"/>
            <a:ext cx="10800000" cy="5400000"/>
          </a:xfrm>
        </p:spPr>
        <p:txBody>
          <a:bodyPr/>
          <a:lstStyle/>
          <a:p>
            <a:r>
              <a:rPr lang="en-US" altLang="zh-CN"/>
              <a:t>The Sprint Retrospective </a:t>
            </a:r>
            <a:r>
              <a:rPr lang="en-US" altLang="zh-CN" b="1">
                <a:solidFill>
                  <a:srgbClr val="FFFF00"/>
                </a:solidFill>
              </a:rPr>
              <a:t>concludes</a:t>
            </a:r>
            <a:r>
              <a:rPr lang="en-US" altLang="zh-CN"/>
              <a:t> the Sprint</a:t>
            </a:r>
          </a:p>
          <a:p>
            <a:r>
              <a:rPr lang="en-US" altLang="zh-CN" b="1">
                <a:solidFill>
                  <a:srgbClr val="FFFF00"/>
                </a:solidFill>
              </a:rPr>
              <a:t>Purpose</a:t>
            </a:r>
            <a:r>
              <a:rPr lang="zh-CN" altLang="en-US"/>
              <a:t>：</a:t>
            </a:r>
            <a:r>
              <a:rPr lang="en-US" altLang="zh-CN"/>
              <a:t>to plan ways to increase quality and effectiveness</a:t>
            </a:r>
          </a:p>
          <a:p>
            <a:r>
              <a:rPr lang="en-US" altLang="zh-CN"/>
              <a:t>Discusses</a:t>
            </a:r>
          </a:p>
          <a:p>
            <a:pPr lvl="1"/>
            <a:r>
              <a:rPr lang="en-US" altLang="zh-CN"/>
              <a:t>what went well during the Sprint</a:t>
            </a:r>
          </a:p>
          <a:p>
            <a:pPr lvl="1"/>
            <a:r>
              <a:rPr lang="en-US" altLang="zh-CN"/>
              <a:t>what problems it encountered</a:t>
            </a:r>
          </a:p>
          <a:p>
            <a:pPr lvl="1"/>
            <a:r>
              <a:rPr lang="en-US" altLang="zh-CN"/>
              <a:t>how those problems were (or were not) solved</a:t>
            </a:r>
          </a:p>
          <a:p>
            <a:r>
              <a:rPr lang="en-US" altLang="zh-CN" b="1">
                <a:solidFill>
                  <a:srgbClr val="FFFF00"/>
                </a:solidFill>
              </a:rPr>
              <a:t>identifies</a:t>
            </a:r>
            <a:r>
              <a:rPr lang="en-US" altLang="zh-CN"/>
              <a:t> the most helpful changes … for the next Sprint</a:t>
            </a:r>
          </a:p>
          <a:p>
            <a:r>
              <a:rPr lang="en-US" altLang="zh-CN"/>
              <a:t>is timeboxed to a maximum of three hours for a one month Sprint</a:t>
            </a:r>
          </a:p>
          <a:p>
            <a:endParaRPr lang="zh-CN" altLang="en-US"/>
          </a:p>
        </p:txBody>
      </p:sp>
      <p:sp>
        <p:nvSpPr>
          <p:cNvPr id="4" name="文本占位符 3">
            <a:extLst>
              <a:ext uri="{FF2B5EF4-FFF2-40B4-BE49-F238E27FC236}">
                <a16:creationId xmlns:a16="http://schemas.microsoft.com/office/drawing/2014/main" id="{A6B335A3-D243-AC15-A822-014298FF4F6E}"/>
              </a:ext>
            </a:extLst>
          </p:cNvPr>
          <p:cNvSpPr>
            <a:spLocks noGrp="1"/>
          </p:cNvSpPr>
          <p:nvPr>
            <p:ph type="body" sz="quarter" idx="10"/>
          </p:nvPr>
        </p:nvSpPr>
        <p:spPr>
          <a:xfrm>
            <a:off x="7071919" y="448519"/>
            <a:ext cx="4424080" cy="338554"/>
          </a:xfrm>
        </p:spPr>
        <p:txBody>
          <a:bodyPr/>
          <a:lstStyle/>
          <a:p>
            <a:r>
              <a:rPr lang="en-US" altLang="zh-CN"/>
              <a:t>Sprint Retrospective</a:t>
            </a:r>
            <a:endParaRPr lang="zh-CN" altLang="en-US"/>
          </a:p>
        </p:txBody>
      </p:sp>
    </p:spTree>
    <p:extLst>
      <p:ext uri="{BB962C8B-B14F-4D97-AF65-F5344CB8AC3E}">
        <p14:creationId xmlns:p14="http://schemas.microsoft.com/office/powerpoint/2010/main" val="854177934"/>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695998" y="360000"/>
            <a:ext cx="6375921" cy="429413"/>
          </a:xfrm>
        </p:spPr>
        <p:txBody>
          <a:bodyPr>
            <a:normAutofit/>
          </a:bodyPr>
          <a:lstStyle/>
          <a:p>
            <a:r>
              <a:rPr lang="en-US" altLang="zh-CN"/>
              <a:t>2.6.6 </a:t>
            </a:r>
            <a:r>
              <a:rPr lang="zh-CN" altLang="en-US"/>
              <a:t>敏捷工件</a:t>
            </a:r>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400000"/>
          </a:xfrm>
        </p:spPr>
        <p:txBody>
          <a:bodyPr/>
          <a:lstStyle/>
          <a:p>
            <a:r>
              <a:rPr lang="en-US" altLang="zh-CN"/>
              <a:t>3</a:t>
            </a:r>
            <a:r>
              <a:rPr lang="zh-CN" altLang="en-US"/>
              <a:t>个工件 </a:t>
            </a:r>
            <a:r>
              <a:rPr lang="en-US" altLang="zh-CN"/>
              <a:t>Aircrafts</a:t>
            </a:r>
          </a:p>
          <a:p>
            <a:r>
              <a:rPr lang="zh-CN" altLang="en-US"/>
              <a:t>代表工作或者价值</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448519"/>
            <a:ext cx="4424080" cy="338554"/>
          </a:xfrm>
        </p:spPr>
        <p:txBody>
          <a:bodyPr/>
          <a:lstStyle/>
          <a:p>
            <a:r>
              <a:rPr lang="en-US" altLang="zh-CN"/>
              <a:t>Scrum Artifacts</a:t>
            </a:r>
            <a:endParaRPr lang="zh-CN" altLang="en-US"/>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1624593725"/>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文本框 2">
            <a:extLst>
              <a:ext uri="{FF2B5EF4-FFF2-40B4-BE49-F238E27FC236}">
                <a16:creationId xmlns:a16="http://schemas.microsoft.com/office/drawing/2014/main" id="{AA585EF1-4CF1-A164-A458-7D07AD287E38}"/>
              </a:ext>
            </a:extLst>
          </p:cNvPr>
          <p:cNvSpPr txBox="1"/>
          <p:nvPr/>
        </p:nvSpPr>
        <p:spPr>
          <a:xfrm>
            <a:off x="7849907" y="3507656"/>
            <a:ext cx="946093" cy="276999"/>
          </a:xfrm>
          <a:prstGeom prst="rect">
            <a:avLst/>
          </a:prstGeom>
          <a:noFill/>
        </p:spPr>
        <p:txBody>
          <a:bodyPr wrap="none" rtlCol="0">
            <a:spAutoFit/>
          </a:bodyPr>
          <a:lstStyle/>
          <a:p>
            <a:r>
              <a:rPr lang="en-US" altLang="zh-CN" sz="1200">
                <a:solidFill>
                  <a:schemeClr val="bg1"/>
                </a:solidFill>
              </a:rPr>
              <a:t>To do lists</a:t>
            </a:r>
            <a:endParaRPr lang="zh-CN" altLang="en-US" sz="1200">
              <a:solidFill>
                <a:schemeClr val="bg1"/>
              </a:solidFill>
            </a:endParaRPr>
          </a:p>
        </p:txBody>
      </p:sp>
    </p:spTree>
    <p:extLst>
      <p:ext uri="{BB962C8B-B14F-4D97-AF65-F5344CB8AC3E}">
        <p14:creationId xmlns:p14="http://schemas.microsoft.com/office/powerpoint/2010/main" val="175382507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09D11-AE50-FCDE-91FA-FDA58FF1472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872038E-09FB-AFD8-947E-AA0F3B772490}"/>
              </a:ext>
            </a:extLst>
          </p:cNvPr>
          <p:cNvSpPr>
            <a:spLocks noGrp="1"/>
          </p:cNvSpPr>
          <p:nvPr>
            <p:ph type="title"/>
          </p:nvPr>
        </p:nvSpPr>
        <p:spPr>
          <a:xfrm>
            <a:off x="695998" y="360000"/>
            <a:ext cx="6375921" cy="429413"/>
          </a:xfrm>
        </p:spPr>
        <p:txBody>
          <a:bodyPr>
            <a:normAutofit/>
          </a:bodyPr>
          <a:lstStyle/>
          <a:p>
            <a:r>
              <a:rPr lang="en-US" altLang="zh-CN"/>
              <a:t>2.6.6.1 </a:t>
            </a:r>
            <a:r>
              <a:rPr lang="zh-CN" altLang="en-US"/>
              <a:t>产品待办事项 </a:t>
            </a:r>
          </a:p>
        </p:txBody>
      </p:sp>
      <p:sp>
        <p:nvSpPr>
          <p:cNvPr id="11" name="内容占位符 10">
            <a:extLst>
              <a:ext uri="{FF2B5EF4-FFF2-40B4-BE49-F238E27FC236}">
                <a16:creationId xmlns:a16="http://schemas.microsoft.com/office/drawing/2014/main" id="{B7A1A00E-3DBB-1D58-E29C-46C3EC7A39BB}"/>
              </a:ext>
            </a:extLst>
          </p:cNvPr>
          <p:cNvSpPr>
            <a:spLocks noGrp="1"/>
          </p:cNvSpPr>
          <p:nvPr>
            <p:ph idx="1"/>
          </p:nvPr>
        </p:nvSpPr>
        <p:spPr>
          <a:xfrm>
            <a:off x="695325" y="863600"/>
            <a:ext cx="10801350" cy="5400675"/>
          </a:xfrm>
        </p:spPr>
        <p:txBody>
          <a:bodyPr/>
          <a:lstStyle/>
          <a:p>
            <a:pPr lvl="0"/>
            <a:r>
              <a:rPr lang="en-US" altLang="zh-CN"/>
              <a:t>Product Backlog </a:t>
            </a:r>
            <a:r>
              <a:rPr lang="zh-CN" altLang="en-US"/>
              <a:t>产品待办事项 </a:t>
            </a:r>
            <a:endParaRPr lang="en-US" altLang="zh-CN"/>
          </a:p>
          <a:p>
            <a:pPr lvl="1"/>
            <a:r>
              <a:rPr lang="zh-CN" altLang="en-US"/>
              <a:t>包含产品目标 </a:t>
            </a:r>
            <a:r>
              <a:rPr lang="en-US" altLang="zh-CN"/>
              <a:t>Product Goal </a:t>
            </a:r>
            <a:r>
              <a:rPr lang="zh-CN" altLang="en-US"/>
              <a:t>以及为实现该目标需要做的事项 </a:t>
            </a:r>
            <a:r>
              <a:rPr lang="en-US" altLang="zh-CN"/>
              <a:t>items</a:t>
            </a:r>
          </a:p>
          <a:p>
            <a:pPr lvl="1"/>
            <a:r>
              <a:rPr lang="zh-CN" altLang="en-US"/>
              <a:t>涌现 </a:t>
            </a:r>
            <a:r>
              <a:rPr lang="en-US" altLang="zh-CN">
                <a:solidFill>
                  <a:srgbClr val="FFFF00"/>
                </a:solidFill>
              </a:rPr>
              <a:t>Emergent</a:t>
            </a:r>
            <a:r>
              <a:rPr lang="zh-CN" altLang="en-US"/>
              <a:t>，随着项目深入而逐渐清晰</a:t>
            </a:r>
          </a:p>
          <a:p>
            <a:pPr lvl="1"/>
            <a:r>
              <a:rPr lang="zh-CN" altLang="en-US"/>
              <a:t>有序清单 </a:t>
            </a:r>
            <a:r>
              <a:rPr lang="en-US" altLang="zh-CN">
                <a:solidFill>
                  <a:srgbClr val="FFFF00"/>
                </a:solidFill>
              </a:rPr>
              <a:t>ordered</a:t>
            </a:r>
            <a:r>
              <a:rPr lang="zh-CN" altLang="en-US"/>
              <a:t>，通常按价值、风险、必要性排序</a:t>
            </a:r>
            <a:endParaRPr lang="en-US" altLang="zh-CN"/>
          </a:p>
          <a:p>
            <a:pPr lvl="1"/>
            <a:r>
              <a:rPr lang="en-US" altLang="zh-CN"/>
              <a:t>Team </a:t>
            </a:r>
            <a:r>
              <a:rPr lang="zh-CN" altLang="en-US"/>
              <a:t>工作的单一 </a:t>
            </a:r>
            <a:r>
              <a:rPr lang="en-US" altLang="zh-CN" b="1"/>
              <a:t>single</a:t>
            </a:r>
            <a:r>
              <a:rPr lang="en-US" altLang="zh-CN"/>
              <a:t> </a:t>
            </a:r>
            <a:r>
              <a:rPr lang="zh-CN" altLang="en-US"/>
              <a:t>来源；不在其中的事项，可以不执行</a:t>
            </a:r>
            <a:endParaRPr lang="en-US" altLang="zh-CN"/>
          </a:p>
          <a:p>
            <a:pPr lvl="1"/>
            <a:r>
              <a:rPr lang="en-US" altLang="zh-CN"/>
              <a:t>PO </a:t>
            </a:r>
            <a:r>
              <a:rPr lang="zh-CN" altLang="en-US"/>
              <a:t>负责排序</a:t>
            </a:r>
            <a:endParaRPr lang="en-US" altLang="zh-CN"/>
          </a:p>
          <a:p>
            <a:pPr lvl="1"/>
            <a:r>
              <a:rPr lang="en-US" altLang="zh-CN"/>
              <a:t>Developer </a:t>
            </a:r>
            <a:r>
              <a:rPr lang="zh-CN" altLang="en-US"/>
              <a:t>决定每个 </a:t>
            </a:r>
            <a:r>
              <a:rPr lang="en-US" altLang="zh-CN"/>
              <a:t>item </a:t>
            </a:r>
            <a:r>
              <a:rPr lang="zh-CN" altLang="en-US"/>
              <a:t>的规模 </a:t>
            </a:r>
            <a:r>
              <a:rPr lang="en-US" altLang="zh-CN" b="1"/>
              <a:t>Size</a:t>
            </a:r>
            <a:endParaRPr lang="en-US" altLang="zh-CN"/>
          </a:p>
          <a:p>
            <a:pPr lvl="1"/>
            <a:r>
              <a:rPr lang="en-US" altLang="zh-CN"/>
              <a:t>PO </a:t>
            </a:r>
            <a:r>
              <a:rPr lang="zh-CN" altLang="en-US"/>
              <a:t>可以影响但不是命令</a:t>
            </a:r>
            <a:endParaRPr lang="en-US" altLang="zh-CN"/>
          </a:p>
          <a:p>
            <a:pPr lvl="1"/>
            <a:r>
              <a:rPr lang="zh-CN" altLang="en-US"/>
              <a:t>一个 </a:t>
            </a:r>
            <a:r>
              <a:rPr lang="en-US" altLang="zh-CN"/>
              <a:t>Sprint </a:t>
            </a:r>
            <a:r>
              <a:rPr lang="zh-CN" altLang="en-US"/>
              <a:t>内可以完成</a:t>
            </a:r>
            <a:endParaRPr lang="en-US" altLang="zh-CN"/>
          </a:p>
        </p:txBody>
      </p:sp>
      <p:sp>
        <p:nvSpPr>
          <p:cNvPr id="4" name="文本占位符 3">
            <a:extLst>
              <a:ext uri="{FF2B5EF4-FFF2-40B4-BE49-F238E27FC236}">
                <a16:creationId xmlns:a16="http://schemas.microsoft.com/office/drawing/2014/main" id="{6B1761B8-948D-28D9-611B-01FC48ACEE35}"/>
              </a:ext>
            </a:extLst>
          </p:cNvPr>
          <p:cNvSpPr>
            <a:spLocks noGrp="1"/>
          </p:cNvSpPr>
          <p:nvPr>
            <p:ph type="body" sz="quarter" idx="10"/>
          </p:nvPr>
        </p:nvSpPr>
        <p:spPr>
          <a:xfrm>
            <a:off x="7071919" y="448519"/>
            <a:ext cx="4424080" cy="338554"/>
          </a:xfrm>
        </p:spPr>
        <p:txBody>
          <a:bodyPr/>
          <a:lstStyle/>
          <a:p>
            <a:r>
              <a:rPr lang="en-US" altLang="zh-CN"/>
              <a:t>Product Backlog/Scrum Artifacts</a:t>
            </a:r>
            <a:endParaRPr lang="zh-CN" altLang="en-US"/>
          </a:p>
        </p:txBody>
      </p:sp>
      <p:sp>
        <p:nvSpPr>
          <p:cNvPr id="28" name="矩形: 圆角 27">
            <a:extLst>
              <a:ext uri="{FF2B5EF4-FFF2-40B4-BE49-F238E27FC236}">
                <a16:creationId xmlns:a16="http://schemas.microsoft.com/office/drawing/2014/main" id="{5FE0D07A-491F-6663-8E0F-BE85DB418EF8}"/>
              </a:ext>
            </a:extLst>
          </p:cNvPr>
          <p:cNvSpPr/>
          <p:nvPr/>
        </p:nvSpPr>
        <p:spPr>
          <a:xfrm>
            <a:off x="8556018" y="2117683"/>
            <a:ext cx="1800000" cy="432000"/>
          </a:xfrm>
          <a:prstGeom prst="roundRect">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sz="1400">
                <a:solidFill>
                  <a:schemeClr val="bg1"/>
                </a:solidFill>
              </a:rPr>
              <a:t>PO </a:t>
            </a:r>
            <a:r>
              <a:rPr lang="zh-CN" altLang="en-US" sz="1400">
                <a:solidFill>
                  <a:schemeClr val="bg1"/>
                </a:solidFill>
              </a:rPr>
              <a:t>列举 </a:t>
            </a:r>
            <a:r>
              <a:rPr lang="en-US" altLang="zh-CN" sz="1400">
                <a:solidFill>
                  <a:schemeClr val="bg1"/>
                </a:solidFill>
              </a:rPr>
              <a:t>items</a:t>
            </a:r>
            <a:endParaRPr lang="zh-CN" altLang="en-US" sz="1400">
              <a:solidFill>
                <a:schemeClr val="bg1"/>
              </a:solidFill>
            </a:endParaRPr>
          </a:p>
        </p:txBody>
      </p:sp>
      <p:sp>
        <p:nvSpPr>
          <p:cNvPr id="29" name="矩形: 圆角 28">
            <a:extLst>
              <a:ext uri="{FF2B5EF4-FFF2-40B4-BE49-F238E27FC236}">
                <a16:creationId xmlns:a16="http://schemas.microsoft.com/office/drawing/2014/main" id="{1E76B0AA-ECFF-6A17-8286-C7CC91FA946A}"/>
              </a:ext>
            </a:extLst>
          </p:cNvPr>
          <p:cNvSpPr/>
          <p:nvPr/>
        </p:nvSpPr>
        <p:spPr>
          <a:xfrm>
            <a:off x="8376018" y="2895710"/>
            <a:ext cx="2160000" cy="432000"/>
          </a:xfrm>
          <a:prstGeom prst="roundRect">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sz="1400">
                <a:solidFill>
                  <a:schemeClr val="bg1"/>
                </a:solidFill>
              </a:rPr>
              <a:t>Developer </a:t>
            </a:r>
            <a:r>
              <a:rPr lang="zh-CN" altLang="en-US" sz="1400">
                <a:solidFill>
                  <a:schemeClr val="bg1"/>
                </a:solidFill>
              </a:rPr>
              <a:t>决定 </a:t>
            </a:r>
            <a:r>
              <a:rPr lang="en-US" altLang="zh-CN" sz="1400">
                <a:solidFill>
                  <a:schemeClr val="bg1"/>
                </a:solidFill>
              </a:rPr>
              <a:t>size</a:t>
            </a:r>
            <a:endParaRPr lang="zh-CN" altLang="en-US" sz="1400">
              <a:solidFill>
                <a:schemeClr val="bg1"/>
              </a:solidFill>
            </a:endParaRPr>
          </a:p>
        </p:txBody>
      </p:sp>
      <p:cxnSp>
        <p:nvCxnSpPr>
          <p:cNvPr id="31" name="直接箭头连接符 30">
            <a:extLst>
              <a:ext uri="{FF2B5EF4-FFF2-40B4-BE49-F238E27FC236}">
                <a16:creationId xmlns:a16="http://schemas.microsoft.com/office/drawing/2014/main" id="{DC1AF3D7-F0F3-C0C5-2393-CCBF79D1E963}"/>
              </a:ext>
            </a:extLst>
          </p:cNvPr>
          <p:cNvCxnSpPr>
            <a:stCxn id="28" idx="2"/>
            <a:endCxn id="29" idx="0"/>
          </p:cNvCxnSpPr>
          <p:nvPr/>
        </p:nvCxnSpPr>
        <p:spPr>
          <a:xfrm>
            <a:off x="9456018" y="2549683"/>
            <a:ext cx="0" cy="34602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F481CF46-2898-FA5B-AC83-3935D3CD4C30}"/>
              </a:ext>
            </a:extLst>
          </p:cNvPr>
          <p:cNvSpPr/>
          <p:nvPr/>
        </p:nvSpPr>
        <p:spPr>
          <a:xfrm>
            <a:off x="8556018" y="3671937"/>
            <a:ext cx="1800000" cy="432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sz="1400">
                <a:solidFill>
                  <a:schemeClr val="bg1"/>
                </a:solidFill>
              </a:rPr>
              <a:t>PO </a:t>
            </a:r>
            <a:r>
              <a:rPr lang="zh-CN" altLang="en-US" sz="1400">
                <a:solidFill>
                  <a:schemeClr val="bg1"/>
                </a:solidFill>
              </a:rPr>
              <a:t>同意</a:t>
            </a:r>
          </a:p>
        </p:txBody>
      </p:sp>
      <p:cxnSp>
        <p:nvCxnSpPr>
          <p:cNvPr id="34" name="直接箭头连接符 33">
            <a:extLst>
              <a:ext uri="{FF2B5EF4-FFF2-40B4-BE49-F238E27FC236}">
                <a16:creationId xmlns:a16="http://schemas.microsoft.com/office/drawing/2014/main" id="{DC8F7C2D-76C0-7420-4054-1E0D0D908BD0}"/>
              </a:ext>
            </a:extLst>
          </p:cNvPr>
          <p:cNvCxnSpPr>
            <a:stCxn id="29" idx="2"/>
            <a:endCxn id="32" idx="0"/>
          </p:cNvCxnSpPr>
          <p:nvPr/>
        </p:nvCxnSpPr>
        <p:spPr>
          <a:xfrm>
            <a:off x="9456018" y="3327710"/>
            <a:ext cx="0" cy="34422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03A2B1D9-0757-B4C2-466E-75D92CA524DA}"/>
              </a:ext>
            </a:extLst>
          </p:cNvPr>
          <p:cNvSpPr/>
          <p:nvPr/>
        </p:nvSpPr>
        <p:spPr>
          <a:xfrm>
            <a:off x="8556018" y="4448164"/>
            <a:ext cx="1800000" cy="432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400">
                <a:solidFill>
                  <a:schemeClr val="bg1"/>
                </a:solidFill>
              </a:rPr>
              <a:t>Backlog</a:t>
            </a:r>
            <a:endParaRPr lang="zh-CN" altLang="en-US" sz="1400">
              <a:solidFill>
                <a:schemeClr val="bg1"/>
              </a:solidFill>
            </a:endParaRPr>
          </a:p>
        </p:txBody>
      </p:sp>
      <p:cxnSp>
        <p:nvCxnSpPr>
          <p:cNvPr id="39" name="直接箭头连接符 38">
            <a:extLst>
              <a:ext uri="{FF2B5EF4-FFF2-40B4-BE49-F238E27FC236}">
                <a16:creationId xmlns:a16="http://schemas.microsoft.com/office/drawing/2014/main" id="{13C54090-94E8-F1F7-F98A-B213C68949D6}"/>
              </a:ext>
            </a:extLst>
          </p:cNvPr>
          <p:cNvCxnSpPr>
            <a:stCxn id="32" idx="2"/>
            <a:endCxn id="37" idx="0"/>
          </p:cNvCxnSpPr>
          <p:nvPr/>
        </p:nvCxnSpPr>
        <p:spPr>
          <a:xfrm>
            <a:off x="9456018" y="4103937"/>
            <a:ext cx="0" cy="34422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478B9E4D-BE4F-7AD6-6A23-5EBEDC79E42B}"/>
              </a:ext>
            </a:extLst>
          </p:cNvPr>
          <p:cNvCxnSpPr>
            <a:stCxn id="32" idx="3"/>
            <a:endCxn id="29" idx="3"/>
          </p:cNvCxnSpPr>
          <p:nvPr/>
        </p:nvCxnSpPr>
        <p:spPr>
          <a:xfrm flipV="1">
            <a:off x="10356018" y="3111710"/>
            <a:ext cx="180000" cy="776227"/>
          </a:xfrm>
          <a:prstGeom prst="bentConnector3">
            <a:avLst>
              <a:gd name="adj1" fmla="val 227000"/>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2DD1254-A1DB-FAC1-A2D5-72A06CACE97C}"/>
              </a:ext>
            </a:extLst>
          </p:cNvPr>
          <p:cNvSpPr txBox="1"/>
          <p:nvPr/>
        </p:nvSpPr>
        <p:spPr>
          <a:xfrm>
            <a:off x="10770194" y="3345935"/>
            <a:ext cx="726481" cy="307777"/>
          </a:xfrm>
          <a:prstGeom prst="rect">
            <a:avLst/>
          </a:prstGeom>
          <a:noFill/>
          <a:ln>
            <a:noFill/>
          </a:ln>
        </p:spPr>
        <p:txBody>
          <a:bodyPr wrap="none" rtlCol="0">
            <a:spAutoFit/>
          </a:bodyPr>
          <a:lstStyle/>
          <a:p>
            <a:r>
              <a:rPr lang="en-US" altLang="zh-CN" sz="1400">
                <a:solidFill>
                  <a:schemeClr val="bg1"/>
                </a:solidFill>
              </a:rPr>
              <a:t>Battle</a:t>
            </a:r>
            <a:endParaRPr lang="zh-CN" altLang="en-US" sz="1400">
              <a:solidFill>
                <a:schemeClr val="bg1"/>
              </a:solidFill>
            </a:endParaRPr>
          </a:p>
        </p:txBody>
      </p:sp>
      <p:cxnSp>
        <p:nvCxnSpPr>
          <p:cNvPr id="56" name="连接符: 肘形 55">
            <a:extLst>
              <a:ext uri="{FF2B5EF4-FFF2-40B4-BE49-F238E27FC236}">
                <a16:creationId xmlns:a16="http://schemas.microsoft.com/office/drawing/2014/main" id="{436C99B5-1F4E-5615-FC92-4C53B258035A}"/>
              </a:ext>
            </a:extLst>
          </p:cNvPr>
          <p:cNvCxnSpPr>
            <a:stCxn id="28" idx="3"/>
            <a:endCxn id="37" idx="3"/>
          </p:cNvCxnSpPr>
          <p:nvPr/>
        </p:nvCxnSpPr>
        <p:spPr>
          <a:xfrm>
            <a:off x="10356018" y="2333683"/>
            <a:ext cx="12700" cy="2330481"/>
          </a:xfrm>
          <a:prstGeom prst="bentConnector3">
            <a:avLst>
              <a:gd name="adj1" fmla="val 9309677"/>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5915A121-C6B5-0911-73DF-40CAC0F857CE}"/>
              </a:ext>
            </a:extLst>
          </p:cNvPr>
          <p:cNvSpPr txBox="1"/>
          <p:nvPr/>
        </p:nvSpPr>
        <p:spPr>
          <a:xfrm>
            <a:off x="10350016" y="2025906"/>
            <a:ext cx="466794" cy="307777"/>
          </a:xfrm>
          <a:prstGeom prst="rect">
            <a:avLst/>
          </a:prstGeom>
          <a:noFill/>
          <a:ln>
            <a:noFill/>
          </a:ln>
        </p:spPr>
        <p:txBody>
          <a:bodyPr wrap="none" rtlCol="0">
            <a:spAutoFit/>
          </a:bodyPr>
          <a:lstStyle/>
          <a:p>
            <a:r>
              <a:rPr lang="en-US" altLang="zh-CN" sz="1400">
                <a:solidFill>
                  <a:schemeClr val="bg1"/>
                </a:solidFill>
              </a:rPr>
              <a:t>SM</a:t>
            </a:r>
            <a:endParaRPr lang="zh-CN" altLang="en-US" sz="1400">
              <a:solidFill>
                <a:schemeClr val="bg1"/>
              </a:solidFill>
            </a:endParaRPr>
          </a:p>
        </p:txBody>
      </p:sp>
    </p:spTree>
    <p:extLst>
      <p:ext uri="{BB962C8B-B14F-4D97-AF65-F5344CB8AC3E}">
        <p14:creationId xmlns:p14="http://schemas.microsoft.com/office/powerpoint/2010/main" val="290534908"/>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47D34-2BB3-B33C-22A8-92747E316F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400089-1A20-5F22-CF8E-DA1723A47C93}"/>
              </a:ext>
            </a:extLst>
          </p:cNvPr>
          <p:cNvSpPr>
            <a:spLocks noGrp="1"/>
          </p:cNvSpPr>
          <p:nvPr>
            <p:ph type="title"/>
          </p:nvPr>
        </p:nvSpPr>
        <p:spPr>
          <a:xfrm>
            <a:off x="695998" y="360000"/>
            <a:ext cx="6375921" cy="429413"/>
          </a:xfrm>
        </p:spPr>
        <p:txBody>
          <a:bodyPr>
            <a:normAutofit/>
          </a:bodyPr>
          <a:lstStyle/>
          <a:p>
            <a:r>
              <a:rPr lang="en-US" altLang="zh-CN"/>
              <a:t>2.6.6.2 </a:t>
            </a:r>
            <a:r>
              <a:rPr lang="zh-CN" altLang="en-US"/>
              <a:t>冲刺待办事项</a:t>
            </a:r>
          </a:p>
        </p:txBody>
      </p:sp>
      <p:sp>
        <p:nvSpPr>
          <p:cNvPr id="11" name="内容占位符 10">
            <a:extLst>
              <a:ext uri="{FF2B5EF4-FFF2-40B4-BE49-F238E27FC236}">
                <a16:creationId xmlns:a16="http://schemas.microsoft.com/office/drawing/2014/main" id="{9D038873-9E0C-8AEA-B673-73EF291A7AC4}"/>
              </a:ext>
            </a:extLst>
          </p:cNvPr>
          <p:cNvSpPr>
            <a:spLocks noGrp="1"/>
          </p:cNvSpPr>
          <p:nvPr>
            <p:ph idx="1"/>
          </p:nvPr>
        </p:nvSpPr>
        <p:spPr>
          <a:xfrm>
            <a:off x="696000" y="864000"/>
            <a:ext cx="10800000" cy="5400000"/>
          </a:xfrm>
        </p:spPr>
        <p:txBody>
          <a:bodyPr/>
          <a:lstStyle/>
          <a:p>
            <a:pPr lvl="0"/>
            <a:r>
              <a:rPr lang="zh-CN" altLang="en-US"/>
              <a:t>一份计划 </a:t>
            </a:r>
            <a:r>
              <a:rPr lang="en-US" altLang="zh-CN"/>
              <a:t>Plan</a:t>
            </a:r>
          </a:p>
          <a:p>
            <a:pPr lvl="0"/>
            <a:r>
              <a:rPr lang="zh-CN" altLang="en-US"/>
              <a:t>组成 </a:t>
            </a:r>
            <a:r>
              <a:rPr lang="en-US" altLang="zh-CN"/>
              <a:t>composition</a:t>
            </a:r>
          </a:p>
          <a:p>
            <a:pPr lvl="1"/>
            <a:r>
              <a:rPr lang="en-US" altLang="zh-CN"/>
              <a:t>Why</a:t>
            </a:r>
            <a:r>
              <a:rPr lang="zh-CN" altLang="en-US"/>
              <a:t>：实现冲刺目标 </a:t>
            </a:r>
            <a:r>
              <a:rPr lang="en-US" altLang="zh-CN"/>
              <a:t>Sprint Goal</a:t>
            </a:r>
          </a:p>
          <a:p>
            <a:pPr lvl="1"/>
            <a:r>
              <a:rPr lang="en-US" altLang="zh-CN"/>
              <a:t>What</a:t>
            </a:r>
            <a:r>
              <a:rPr lang="zh-CN" altLang="en-US"/>
              <a:t>：从产品代办事项中选出的事项集合 </a:t>
            </a:r>
            <a:r>
              <a:rPr lang="en-US" altLang="zh-CN"/>
              <a:t>Set</a:t>
            </a:r>
          </a:p>
          <a:p>
            <a:pPr lvl="1"/>
            <a:r>
              <a:rPr lang="en-US" altLang="zh-CN"/>
              <a:t>How</a:t>
            </a:r>
            <a:r>
              <a:rPr lang="zh-CN" altLang="en-US"/>
              <a:t>：为了实现交付需要制定可行 </a:t>
            </a:r>
            <a:r>
              <a:rPr lang="en-US" altLang="zh-CN"/>
              <a:t>Actionable </a:t>
            </a:r>
            <a:r>
              <a:rPr lang="zh-CN" altLang="en-US"/>
              <a:t>的计划</a:t>
            </a:r>
            <a:endParaRPr lang="en-US" altLang="zh-CN"/>
          </a:p>
          <a:p>
            <a:r>
              <a:rPr lang="zh-CN" altLang="en-US"/>
              <a:t>在冲刺计划 </a:t>
            </a:r>
            <a:r>
              <a:rPr lang="en-US" altLang="zh-CN"/>
              <a:t>Sprint planning </a:t>
            </a:r>
            <a:r>
              <a:rPr lang="zh-CN" altLang="en-US"/>
              <a:t>中确定</a:t>
            </a:r>
            <a:endParaRPr lang="en-US" altLang="zh-CN"/>
          </a:p>
          <a:p>
            <a:r>
              <a:rPr lang="zh-CN" altLang="en-US"/>
              <a:t>由 </a:t>
            </a:r>
            <a:r>
              <a:rPr lang="en-US" altLang="zh-CN"/>
              <a:t>Developer </a:t>
            </a:r>
            <a:r>
              <a:rPr lang="zh-CN" altLang="en-US"/>
              <a:t>制定并实施 </a:t>
            </a:r>
            <a:r>
              <a:rPr lang="en-US" altLang="zh-CN">
                <a:solidFill>
                  <a:srgbClr val="FFFF00"/>
                </a:solidFill>
              </a:rPr>
              <a:t>by and for</a:t>
            </a:r>
            <a:r>
              <a:rPr lang="zh-CN" altLang="en-US"/>
              <a:t>；体现自组织 </a:t>
            </a:r>
            <a:r>
              <a:rPr lang="en-US" altLang="zh-CN"/>
              <a:t>Self-Management</a:t>
            </a:r>
          </a:p>
          <a:p>
            <a:r>
              <a:rPr lang="zh-CN" altLang="en-US"/>
              <a:t>彼此连贯 </a:t>
            </a:r>
            <a:r>
              <a:rPr lang="en-US" altLang="zh-CN"/>
              <a:t>Coherence</a:t>
            </a:r>
            <a:r>
              <a:rPr lang="zh-CN" altLang="en-US"/>
              <a:t>，聚焦冲刺目标</a:t>
            </a:r>
            <a:endParaRPr lang="en-US" altLang="zh-CN"/>
          </a:p>
          <a:p>
            <a:r>
              <a:rPr lang="zh-CN" altLang="en-US"/>
              <a:t>随着认知的深入，可以更新 </a:t>
            </a:r>
            <a:r>
              <a:rPr lang="en-US" altLang="zh-CN">
                <a:solidFill>
                  <a:srgbClr val="FFFF00"/>
                </a:solidFill>
              </a:rPr>
              <a:t>updated throughout</a:t>
            </a:r>
            <a:r>
              <a:rPr lang="zh-CN" altLang="en-US"/>
              <a:t>，以保持计划的真实性和有效性</a:t>
            </a:r>
            <a:endParaRPr lang="en-US" altLang="zh-CN"/>
          </a:p>
          <a:p>
            <a:r>
              <a:rPr lang="zh-CN" altLang="en-US"/>
              <a:t>工作偏离时，需要和 </a:t>
            </a:r>
            <a:r>
              <a:rPr lang="en-US" altLang="zh-CN"/>
              <a:t>PO </a:t>
            </a:r>
            <a:r>
              <a:rPr lang="zh-CN" altLang="en-US"/>
              <a:t>重新协商调整冲刺范围，不能影响冲刺目标；否则可能需要取消 </a:t>
            </a:r>
            <a:r>
              <a:rPr lang="en-US" altLang="zh-CN"/>
              <a:t>Sprint </a:t>
            </a:r>
            <a:r>
              <a:rPr lang="zh-CN" altLang="en-US"/>
              <a:t>或重新规划</a:t>
            </a:r>
          </a:p>
        </p:txBody>
      </p:sp>
      <p:sp>
        <p:nvSpPr>
          <p:cNvPr id="4" name="文本占位符 3">
            <a:extLst>
              <a:ext uri="{FF2B5EF4-FFF2-40B4-BE49-F238E27FC236}">
                <a16:creationId xmlns:a16="http://schemas.microsoft.com/office/drawing/2014/main" id="{96256328-1B0A-8643-661B-E06A03D570B9}"/>
              </a:ext>
            </a:extLst>
          </p:cNvPr>
          <p:cNvSpPr>
            <a:spLocks noGrp="1"/>
          </p:cNvSpPr>
          <p:nvPr>
            <p:ph type="body" sz="quarter" idx="10"/>
          </p:nvPr>
        </p:nvSpPr>
        <p:spPr>
          <a:xfrm>
            <a:off x="7071919" y="448519"/>
            <a:ext cx="4424080" cy="338554"/>
          </a:xfrm>
        </p:spPr>
        <p:txBody>
          <a:bodyPr/>
          <a:lstStyle/>
          <a:p>
            <a:r>
              <a:rPr lang="en-US" altLang="zh-CN"/>
              <a:t>Sprint Backlog/Scrum Artifacts</a:t>
            </a:r>
            <a:endParaRPr lang="zh-CN" altLang="en-US"/>
          </a:p>
        </p:txBody>
      </p:sp>
    </p:spTree>
    <p:extLst>
      <p:ext uri="{BB962C8B-B14F-4D97-AF65-F5344CB8AC3E}">
        <p14:creationId xmlns:p14="http://schemas.microsoft.com/office/powerpoint/2010/main" val="302077688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499E-6EED-69E5-32DB-932094382D8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86DB9-4A35-A1A8-89EE-1F780FB3E474}"/>
              </a:ext>
            </a:extLst>
          </p:cNvPr>
          <p:cNvSpPr>
            <a:spLocks noGrp="1"/>
          </p:cNvSpPr>
          <p:nvPr>
            <p:ph type="title"/>
          </p:nvPr>
        </p:nvSpPr>
        <p:spPr>
          <a:xfrm>
            <a:off x="695998" y="360000"/>
            <a:ext cx="6375921" cy="429413"/>
          </a:xfrm>
        </p:spPr>
        <p:txBody>
          <a:bodyPr>
            <a:normAutofit/>
          </a:bodyPr>
          <a:lstStyle/>
          <a:p>
            <a:r>
              <a:rPr lang="en-US" altLang="zh-CN"/>
              <a:t>2.6.6.3 </a:t>
            </a:r>
            <a:r>
              <a:rPr lang="zh-CN" altLang="en-US"/>
              <a:t>增量</a:t>
            </a:r>
          </a:p>
        </p:txBody>
      </p:sp>
      <p:sp>
        <p:nvSpPr>
          <p:cNvPr id="11" name="内容占位符 10">
            <a:extLst>
              <a:ext uri="{FF2B5EF4-FFF2-40B4-BE49-F238E27FC236}">
                <a16:creationId xmlns:a16="http://schemas.microsoft.com/office/drawing/2014/main" id="{73A18975-E8CD-AB9A-FEAB-3B6E5E098A42}"/>
              </a:ext>
            </a:extLst>
          </p:cNvPr>
          <p:cNvSpPr>
            <a:spLocks noGrp="1"/>
          </p:cNvSpPr>
          <p:nvPr>
            <p:ph idx="1"/>
          </p:nvPr>
        </p:nvSpPr>
        <p:spPr>
          <a:xfrm>
            <a:off x="696000" y="864000"/>
            <a:ext cx="10800000" cy="5400000"/>
          </a:xfrm>
        </p:spPr>
        <p:txBody>
          <a:bodyPr/>
          <a:lstStyle/>
          <a:p>
            <a:pPr lvl="0"/>
            <a:r>
              <a:rPr lang="zh-CN" altLang="en-US"/>
              <a:t>为实现目标的坚实基石 </a:t>
            </a:r>
            <a:r>
              <a:rPr lang="en-US" altLang="zh-CN"/>
              <a:t>concrete stepping stone</a:t>
            </a:r>
          </a:p>
          <a:p>
            <a:pPr lvl="0"/>
            <a:r>
              <a:rPr lang="zh-CN" altLang="en-US"/>
              <a:t>必须有用 </a:t>
            </a:r>
            <a:r>
              <a:rPr lang="en-US" altLang="zh-CN">
                <a:solidFill>
                  <a:srgbClr val="FFFF00"/>
                </a:solidFill>
              </a:rPr>
              <a:t>Usable</a:t>
            </a:r>
            <a:r>
              <a:rPr lang="zh-CN" altLang="en-US"/>
              <a:t>，且经过检验 </a:t>
            </a:r>
            <a:r>
              <a:rPr lang="en-US" altLang="zh-CN">
                <a:solidFill>
                  <a:srgbClr val="FFFF00"/>
                </a:solidFill>
              </a:rPr>
              <a:t>Verified</a:t>
            </a:r>
            <a:r>
              <a:rPr lang="zh-CN" altLang="en-US"/>
              <a:t>，价值累加 </a:t>
            </a:r>
            <a:r>
              <a:rPr lang="en-US" altLang="zh-CN">
                <a:solidFill>
                  <a:srgbClr val="FFFF00"/>
                </a:solidFill>
              </a:rPr>
              <a:t>Additive</a:t>
            </a:r>
          </a:p>
          <a:p>
            <a:pPr lvl="0"/>
            <a:r>
              <a:rPr lang="zh-CN" altLang="en-US"/>
              <a:t>确保之前所有的增量能一起工作 </a:t>
            </a:r>
            <a:r>
              <a:rPr lang="en-US" altLang="zh-CN">
                <a:solidFill>
                  <a:srgbClr val="FFFF00"/>
                </a:solidFill>
              </a:rPr>
              <a:t>Work</a:t>
            </a:r>
            <a:r>
              <a:rPr lang="en-US" altLang="zh-CN"/>
              <a:t> </a:t>
            </a:r>
            <a:r>
              <a:rPr lang="en-US" altLang="zh-CN">
                <a:solidFill>
                  <a:srgbClr val="FFFF00"/>
                </a:solidFill>
              </a:rPr>
              <a:t>Together</a:t>
            </a:r>
          </a:p>
          <a:p>
            <a:pPr lvl="0"/>
            <a:r>
              <a:rPr lang="zh-CN" altLang="en-US"/>
              <a:t>一个冲刺可以实现多个 </a:t>
            </a:r>
            <a:r>
              <a:rPr lang="en-US" altLang="zh-CN"/>
              <a:t>Multiple </a:t>
            </a:r>
            <a:r>
              <a:rPr lang="zh-CN" altLang="en-US"/>
              <a:t>增量</a:t>
            </a:r>
            <a:endParaRPr lang="en-US" altLang="zh-CN"/>
          </a:p>
          <a:p>
            <a:pPr lvl="0"/>
            <a:r>
              <a:rPr lang="zh-CN" altLang="en-US"/>
              <a:t>完成定义 </a:t>
            </a:r>
            <a:r>
              <a:rPr lang="en-US" altLang="zh-CN"/>
              <a:t>DOD(Definition of Done)</a:t>
            </a:r>
          </a:p>
          <a:p>
            <a:pPr lvl="1"/>
            <a:r>
              <a:rPr lang="zh-CN" altLang="en-US"/>
              <a:t>只有符合完成定义 </a:t>
            </a:r>
            <a:r>
              <a:rPr lang="en-US" altLang="zh-CN"/>
              <a:t>DOD</a:t>
            </a:r>
            <a:r>
              <a:rPr lang="zh-CN" altLang="en-US"/>
              <a:t>，才可被视作增量的一部分</a:t>
            </a:r>
            <a:endParaRPr lang="en-US" altLang="zh-CN"/>
          </a:p>
          <a:p>
            <a:pPr lvl="1"/>
            <a:r>
              <a:rPr lang="zh-CN" altLang="en-US"/>
              <a:t>一旦一个 </a:t>
            </a:r>
            <a:r>
              <a:rPr lang="en-US" altLang="zh-CN"/>
              <a:t>item </a:t>
            </a:r>
            <a:r>
              <a:rPr lang="zh-CN" altLang="en-US"/>
              <a:t>满足了完成定义，一个增量就诞生了</a:t>
            </a:r>
            <a:endParaRPr lang="en-US" altLang="zh-CN"/>
          </a:p>
          <a:p>
            <a:pPr lvl="1"/>
            <a:r>
              <a:rPr lang="zh-CN" altLang="en-US"/>
              <a:t>可以提前交付 </a:t>
            </a:r>
            <a:r>
              <a:rPr lang="en-US" altLang="zh-CN"/>
              <a:t>prior to</a:t>
            </a:r>
            <a:r>
              <a:rPr lang="zh-CN" altLang="en-US"/>
              <a:t>，不用等到冲刺结束</a:t>
            </a:r>
            <a:r>
              <a:rPr lang="en-US" altLang="zh-CN"/>
              <a:t>/</a:t>
            </a:r>
            <a:r>
              <a:rPr lang="zh-CN" altLang="en-US"/>
              <a:t>不需要冲刺审核通过</a:t>
            </a:r>
            <a:endParaRPr lang="en-US" altLang="zh-CN"/>
          </a:p>
          <a:p>
            <a:pPr lvl="1"/>
            <a:r>
              <a:rPr lang="zh-CN" altLang="en-US"/>
              <a:t>没有完成定义的 </a:t>
            </a:r>
            <a:r>
              <a:rPr lang="en-US" altLang="zh-CN"/>
              <a:t>item </a:t>
            </a:r>
            <a:r>
              <a:rPr lang="zh-CN" altLang="en-US"/>
              <a:t>不能发布，甚至不用在审查会议上展示，但需要重新在产品代办事项中考虑</a:t>
            </a:r>
            <a:endParaRPr lang="en-US" altLang="zh-CN"/>
          </a:p>
          <a:p>
            <a:pPr lvl="1"/>
            <a:r>
              <a:rPr lang="en-US" altLang="zh-CN"/>
              <a:t>DOD </a:t>
            </a:r>
            <a:r>
              <a:rPr lang="zh-CN" altLang="en-US"/>
              <a:t>可以由组织制定，所有团队遵守 </a:t>
            </a:r>
            <a:r>
              <a:rPr lang="en-US" altLang="zh-CN"/>
              <a:t>– </a:t>
            </a:r>
            <a:r>
              <a:rPr lang="zh-CN" altLang="en-US"/>
              <a:t>最低标准 </a:t>
            </a:r>
            <a:r>
              <a:rPr lang="en-US" altLang="zh-CN"/>
              <a:t>as a minimum</a:t>
            </a:r>
          </a:p>
          <a:p>
            <a:pPr lvl="1"/>
            <a:r>
              <a:rPr lang="zh-CN" altLang="en-US"/>
              <a:t>也可以由某个团队制定并遵守 </a:t>
            </a:r>
            <a:r>
              <a:rPr lang="en-US" altLang="zh-CN"/>
              <a:t>– </a:t>
            </a:r>
            <a:r>
              <a:rPr lang="zh-CN" altLang="en-US"/>
              <a:t>定制标准</a:t>
            </a:r>
            <a:endParaRPr lang="en-US" altLang="zh-CN"/>
          </a:p>
          <a:p>
            <a:pPr lvl="1"/>
            <a:r>
              <a:rPr lang="zh-CN" altLang="en-US"/>
              <a:t>通常是</a:t>
            </a:r>
            <a:r>
              <a:rPr lang="en-US" altLang="zh-CN"/>
              <a:t>2</a:t>
            </a:r>
            <a:r>
              <a:rPr lang="zh-CN" altLang="en-US"/>
              <a:t>者兼有</a:t>
            </a:r>
          </a:p>
        </p:txBody>
      </p:sp>
      <p:sp>
        <p:nvSpPr>
          <p:cNvPr id="4" name="文本占位符 3">
            <a:extLst>
              <a:ext uri="{FF2B5EF4-FFF2-40B4-BE49-F238E27FC236}">
                <a16:creationId xmlns:a16="http://schemas.microsoft.com/office/drawing/2014/main" id="{6EFE7DD9-DF23-360E-6683-76C98EF7E732}"/>
              </a:ext>
            </a:extLst>
          </p:cNvPr>
          <p:cNvSpPr>
            <a:spLocks noGrp="1"/>
          </p:cNvSpPr>
          <p:nvPr>
            <p:ph type="body" sz="quarter" idx="10"/>
          </p:nvPr>
        </p:nvSpPr>
        <p:spPr>
          <a:xfrm>
            <a:off x="7071919" y="448519"/>
            <a:ext cx="4424080" cy="338554"/>
          </a:xfrm>
        </p:spPr>
        <p:txBody>
          <a:bodyPr/>
          <a:lstStyle/>
          <a:p>
            <a:r>
              <a:rPr lang="en-US" altLang="zh-CN"/>
              <a:t>Increment/Scrum Artifacts</a:t>
            </a:r>
            <a:endParaRPr lang="zh-CN" altLang="en-US"/>
          </a:p>
        </p:txBody>
      </p:sp>
    </p:spTree>
    <p:extLst>
      <p:ext uri="{BB962C8B-B14F-4D97-AF65-F5344CB8AC3E}">
        <p14:creationId xmlns:p14="http://schemas.microsoft.com/office/powerpoint/2010/main" val="260734475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7CD30C-28A2-77FB-4A3C-AEF8275EECA2}"/>
              </a:ext>
            </a:extLst>
          </p:cNvPr>
          <p:cNvSpPr>
            <a:spLocks noGrp="1"/>
          </p:cNvSpPr>
          <p:nvPr>
            <p:ph type="title"/>
          </p:nvPr>
        </p:nvSpPr>
        <p:spPr>
          <a:xfrm>
            <a:off x="695998" y="360000"/>
            <a:ext cx="6375921" cy="429413"/>
          </a:xfrm>
        </p:spPr>
        <p:txBody>
          <a:bodyPr/>
          <a:lstStyle/>
          <a:p>
            <a:r>
              <a:rPr lang="en-US" altLang="zh-CN"/>
              <a:t>2.7 </a:t>
            </a:r>
            <a:r>
              <a:rPr lang="zh-CN" altLang="en-US"/>
              <a:t>开发流程</a:t>
            </a:r>
          </a:p>
        </p:txBody>
      </p:sp>
      <p:sp>
        <p:nvSpPr>
          <p:cNvPr id="3" name="内容占位符 2">
            <a:extLst>
              <a:ext uri="{FF2B5EF4-FFF2-40B4-BE49-F238E27FC236}">
                <a16:creationId xmlns:a16="http://schemas.microsoft.com/office/drawing/2014/main" id="{47338198-83BC-37AF-39E2-D0642DC07DB0}"/>
              </a:ext>
            </a:extLst>
          </p:cNvPr>
          <p:cNvSpPr>
            <a:spLocks noGrp="1"/>
          </p:cNvSpPr>
          <p:nvPr>
            <p:ph idx="1"/>
          </p:nvPr>
        </p:nvSpPr>
        <p:spPr>
          <a:xfrm>
            <a:off x="696000" y="864000"/>
            <a:ext cx="10800000" cy="5400000"/>
          </a:xfrm>
        </p:spPr>
        <p:txBody>
          <a:bodyPr/>
          <a:lstStyle/>
          <a:p>
            <a:r>
              <a:rPr lang="zh-CN" altLang="en-US"/>
              <a:t>每次敏捷迭代被称为冲刺</a:t>
            </a:r>
          </a:p>
          <a:p>
            <a:pPr lvl="1"/>
            <a:r>
              <a:rPr lang="en-US" altLang="zh-CN"/>
              <a:t>Each iteration of a scrum is termed as Sprint.</a:t>
            </a:r>
          </a:p>
          <a:p>
            <a:r>
              <a:rPr lang="zh-CN" altLang="en-US"/>
              <a:t>产品待办事项列表是包含创建最终产品所需所有信息的列表</a:t>
            </a:r>
          </a:p>
          <a:p>
            <a:pPr lvl="1"/>
            <a:r>
              <a:rPr lang="en-US" altLang="zh-CN"/>
              <a:t>A </a:t>
            </a:r>
            <a:r>
              <a:rPr lang="en-US" altLang="zh-CN">
                <a:solidFill>
                  <a:srgbClr val="FFFF00"/>
                </a:solidFill>
              </a:rPr>
              <a:t>product</a:t>
            </a:r>
            <a:r>
              <a:rPr lang="en-US" altLang="zh-CN"/>
              <a:t> </a:t>
            </a:r>
            <a:r>
              <a:rPr lang="en-US" altLang="zh-CN">
                <a:solidFill>
                  <a:srgbClr val="FFFF00"/>
                </a:solidFill>
              </a:rPr>
              <a:t>backlog</a:t>
            </a:r>
            <a:r>
              <a:rPr lang="en-US" altLang="zh-CN"/>
              <a:t> is a list that contains all of the information needed to create the final product.</a:t>
            </a:r>
          </a:p>
          <a:p>
            <a:r>
              <a:rPr lang="zh-CN" altLang="en-US"/>
              <a:t>每个迭代周期，从产品待办事项中挑选出顶级用户故事，并将其翻译到迭代待办事项中</a:t>
            </a:r>
          </a:p>
          <a:p>
            <a:pPr lvl="1"/>
            <a:r>
              <a:rPr lang="en-US" altLang="zh-CN"/>
              <a:t>The top user stories from the Product backlog are chosen and translated into </a:t>
            </a:r>
            <a:r>
              <a:rPr lang="en-US" altLang="zh-CN">
                <a:solidFill>
                  <a:srgbClr val="FFFF00"/>
                </a:solidFill>
              </a:rPr>
              <a:t>Sprint</a:t>
            </a:r>
            <a:r>
              <a:rPr lang="en-US" altLang="zh-CN"/>
              <a:t> </a:t>
            </a:r>
            <a:r>
              <a:rPr lang="en-US" altLang="zh-CN">
                <a:solidFill>
                  <a:srgbClr val="FFFF00"/>
                </a:solidFill>
              </a:rPr>
              <a:t>backlogs</a:t>
            </a:r>
            <a:r>
              <a:rPr lang="en-US" altLang="zh-CN"/>
              <a:t> during each Sprint.</a:t>
            </a:r>
          </a:p>
          <a:p>
            <a:r>
              <a:rPr lang="zh-CN" altLang="en-US"/>
              <a:t>团队处理已建立的冲刺待办事项</a:t>
            </a:r>
          </a:p>
          <a:p>
            <a:pPr lvl="1"/>
            <a:r>
              <a:rPr lang="en-US" altLang="zh-CN"/>
              <a:t>The team works on the sprint backlog that has been established.</a:t>
            </a:r>
          </a:p>
          <a:p>
            <a:r>
              <a:rPr lang="zh-CN" altLang="en-US"/>
              <a:t>团队会双重检查日常工作</a:t>
            </a:r>
          </a:p>
          <a:p>
            <a:pPr lvl="1"/>
            <a:r>
              <a:rPr lang="en-US" altLang="zh-CN"/>
              <a:t>The team double-checks the everyday job.</a:t>
            </a:r>
          </a:p>
          <a:p>
            <a:r>
              <a:rPr lang="zh-CN" altLang="en-US"/>
              <a:t>团队在冲刺结束时交付产品功能</a:t>
            </a:r>
          </a:p>
          <a:p>
            <a:pPr lvl="1"/>
            <a:r>
              <a:rPr lang="en-US" altLang="zh-CN"/>
              <a:t>The team delivers product functionality at the end of the sprint.</a:t>
            </a:r>
          </a:p>
          <a:p>
            <a:endParaRPr lang="zh-CN" altLang="en-US"/>
          </a:p>
        </p:txBody>
      </p:sp>
      <p:sp>
        <p:nvSpPr>
          <p:cNvPr id="4" name="文本占位符 3">
            <a:extLst>
              <a:ext uri="{FF2B5EF4-FFF2-40B4-BE49-F238E27FC236}">
                <a16:creationId xmlns:a16="http://schemas.microsoft.com/office/drawing/2014/main" id="{01EE63DD-E822-9633-5613-63A718EAD1B3}"/>
              </a:ext>
            </a:extLst>
          </p:cNvPr>
          <p:cNvSpPr>
            <a:spLocks noGrp="1"/>
          </p:cNvSpPr>
          <p:nvPr>
            <p:ph type="body" sz="quarter" idx="10"/>
          </p:nvPr>
        </p:nvSpPr>
        <p:spPr>
          <a:xfrm>
            <a:off x="7071919" y="448519"/>
            <a:ext cx="4424080" cy="338554"/>
          </a:xfrm>
        </p:spPr>
        <p:txBody>
          <a:bodyPr/>
          <a:lstStyle/>
          <a:p>
            <a:r>
              <a:rPr lang="en-US" altLang="zh-CN"/>
              <a:t>Process flow</a:t>
            </a:r>
            <a:endParaRPr lang="zh-CN" altLang="en-US"/>
          </a:p>
        </p:txBody>
      </p:sp>
    </p:spTree>
    <p:extLst>
      <p:ext uri="{BB962C8B-B14F-4D97-AF65-F5344CB8AC3E}">
        <p14:creationId xmlns:p14="http://schemas.microsoft.com/office/powerpoint/2010/main" val="276003709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1727F555-CAF1-0D3F-ACD9-7B2FF8D9EBA4}"/>
              </a:ext>
            </a:extLst>
          </p:cNvPr>
          <p:cNvGraphicFramePr>
            <a:graphicFrameLocks noGrp="1"/>
          </p:cNvGraphicFramePr>
          <p:nvPr>
            <p:extLst>
              <p:ext uri="{D42A27DB-BD31-4B8C-83A1-F6EECF244321}">
                <p14:modId xmlns:p14="http://schemas.microsoft.com/office/powerpoint/2010/main" val="1460814071"/>
              </p:ext>
            </p:extLst>
          </p:nvPr>
        </p:nvGraphicFramePr>
        <p:xfrm>
          <a:off x="695325" y="2255520"/>
          <a:ext cx="10801350" cy="2346960"/>
        </p:xfrm>
        <a:graphic>
          <a:graphicData uri="http://schemas.openxmlformats.org/drawingml/2006/table">
            <a:tbl>
              <a:tblPr/>
              <a:tblGrid>
                <a:gridCol w="1861062">
                  <a:extLst>
                    <a:ext uri="{9D8B030D-6E8A-4147-A177-3AD203B41FA5}">
                      <a16:colId xmlns:a16="http://schemas.microsoft.com/office/drawing/2014/main" val="713579413"/>
                    </a:ext>
                  </a:extLst>
                </a:gridCol>
                <a:gridCol w="3962400">
                  <a:extLst>
                    <a:ext uri="{9D8B030D-6E8A-4147-A177-3AD203B41FA5}">
                      <a16:colId xmlns:a16="http://schemas.microsoft.com/office/drawing/2014/main" val="2697331974"/>
                    </a:ext>
                  </a:extLst>
                </a:gridCol>
                <a:gridCol w="4977888">
                  <a:extLst>
                    <a:ext uri="{9D8B030D-6E8A-4147-A177-3AD203B41FA5}">
                      <a16:colId xmlns:a16="http://schemas.microsoft.com/office/drawing/2014/main" val="3990686425"/>
                    </a:ext>
                  </a:extLst>
                </a:gridCol>
              </a:tblGrid>
              <a:tr h="0">
                <a:tc>
                  <a:txBody>
                    <a:bodyPr/>
                    <a:lstStyle/>
                    <a:p>
                      <a:pPr>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sz="1600">
                          <a:solidFill>
                            <a:schemeClr val="bg1"/>
                          </a:solidFill>
                        </a:rPr>
                        <a:t>Backlog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sz="1600">
                          <a:solidFill>
                            <a:schemeClr val="bg1"/>
                          </a:solidFill>
                        </a:rPr>
                        <a:t>To Do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449365441"/>
                  </a:ext>
                </a:extLst>
              </a:tr>
              <a:tr h="0">
                <a:tc>
                  <a:txBody>
                    <a:bodyPr/>
                    <a:lstStyle/>
                    <a:p>
                      <a:pPr>
                        <a:buNone/>
                      </a:pPr>
                      <a:r>
                        <a:rPr lang="zh-CN" altLang="en-US" sz="1600">
                          <a:solidFill>
                            <a:schemeClr val="bg1"/>
                          </a:solidFill>
                        </a:rPr>
                        <a:t>含义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所有潜在任务的总池</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即将执行的任务子集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8286771"/>
                  </a:ext>
                </a:extLst>
              </a:tr>
              <a:tr h="0">
                <a:tc>
                  <a:txBody>
                    <a:bodyPr/>
                    <a:lstStyle/>
                    <a:p>
                      <a:pPr>
                        <a:buNone/>
                      </a:pPr>
                      <a:r>
                        <a:rPr lang="zh-CN" altLang="en-US" sz="1600">
                          <a:solidFill>
                            <a:schemeClr val="bg1"/>
                          </a:solidFill>
                        </a:rPr>
                        <a:t>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动态调整，无强制顺序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已排序，高优先级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281986"/>
                  </a:ext>
                </a:extLst>
              </a:tr>
              <a:tr h="0">
                <a:tc>
                  <a:txBody>
                    <a:bodyPr/>
                    <a:lstStyle/>
                    <a:p>
                      <a:pPr>
                        <a:buNone/>
                      </a:pPr>
                      <a:r>
                        <a:rPr lang="zh-CN" altLang="en-US" sz="1600">
                          <a:solidFill>
                            <a:schemeClr val="bg1"/>
                          </a:solidFill>
                        </a:rPr>
                        <a:t>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可粗可细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通常已拆解为可执行单元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948076"/>
                  </a:ext>
                </a:extLst>
              </a:tr>
              <a:tr h="0">
                <a:tc>
                  <a:txBody>
                    <a:bodyPr/>
                    <a:lstStyle/>
                    <a:p>
                      <a:pPr>
                        <a:buNone/>
                      </a:pPr>
                      <a:r>
                        <a:rPr lang="zh-CN" altLang="en-US" sz="1600">
                          <a:solidFill>
                            <a:schemeClr val="bg1"/>
                          </a:solidFill>
                        </a:rPr>
                        <a:t>管理者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产品经理 </a:t>
                      </a:r>
                      <a:r>
                        <a:rPr lang="en-US" altLang="zh-CN" sz="1600">
                          <a:solidFill>
                            <a:schemeClr val="bg1"/>
                          </a:solidFill>
                        </a:rPr>
                        <a:t>/ </a:t>
                      </a:r>
                      <a:r>
                        <a:rPr lang="en-US" sz="1600">
                          <a:solidFill>
                            <a:schemeClr val="bg1"/>
                          </a:solidFill>
                        </a:rPr>
                        <a:t>PO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团队共同确认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4604113"/>
                  </a:ext>
                </a:extLst>
              </a:tr>
              <a:tr h="0">
                <a:tc>
                  <a:txBody>
                    <a:bodyPr/>
                    <a:lstStyle/>
                    <a:p>
                      <a:pPr>
                        <a:buNone/>
                      </a:pPr>
                      <a:r>
                        <a:rPr lang="zh-CN" altLang="en-US" sz="1600">
                          <a:solidFill>
                            <a:schemeClr val="bg1"/>
                          </a:solidFill>
                        </a:rPr>
                        <a:t>更新频率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持续添加</a:t>
                      </a:r>
                      <a:r>
                        <a:rPr lang="en-US" altLang="zh-CN" sz="1600">
                          <a:solidFill>
                            <a:schemeClr val="bg1"/>
                          </a:solidFill>
                        </a:rPr>
                        <a:t>/</a:t>
                      </a:r>
                      <a:r>
                        <a:rPr lang="zh-CN" altLang="en-US" sz="1600">
                          <a:solidFill>
                            <a:schemeClr val="bg1"/>
                          </a:solidFill>
                        </a:rPr>
                        <a:t>删除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每轮迭代前更新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3710017"/>
                  </a:ext>
                </a:extLst>
              </a:tr>
              <a:tr h="0">
                <a:tc>
                  <a:txBody>
                    <a:bodyPr/>
                    <a:lstStyle/>
                    <a:p>
                      <a:pPr>
                        <a:buNone/>
                      </a:pPr>
                      <a:r>
                        <a:rPr lang="zh-CN" altLang="en-US" sz="1600">
                          <a:solidFill>
                            <a:schemeClr val="bg1"/>
                          </a:solidFill>
                        </a:rPr>
                        <a:t>类比</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人生愿望清单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今日待办事项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7882566"/>
                  </a:ext>
                </a:extLst>
              </a:tr>
            </a:tbl>
          </a:graphicData>
        </a:graphic>
      </p:graphicFrame>
    </p:spTree>
    <p:extLst>
      <p:ext uri="{BB962C8B-B14F-4D97-AF65-F5344CB8AC3E}">
        <p14:creationId xmlns:p14="http://schemas.microsoft.com/office/powerpoint/2010/main" val="418445596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DD16D6C-FAE2-BCF4-E8E6-96003ABB6351}"/>
              </a:ext>
            </a:extLst>
          </p:cNvPr>
          <p:cNvGraphicFramePr>
            <a:graphicFrameLocks noGrp="1"/>
          </p:cNvGraphicFramePr>
          <p:nvPr>
            <p:extLst>
              <p:ext uri="{D42A27DB-BD31-4B8C-83A1-F6EECF244321}">
                <p14:modId xmlns:p14="http://schemas.microsoft.com/office/powerpoint/2010/main" val="1878882028"/>
              </p:ext>
            </p:extLst>
          </p:nvPr>
        </p:nvGraphicFramePr>
        <p:xfrm>
          <a:off x="695325" y="1965960"/>
          <a:ext cx="10801350" cy="2926080"/>
        </p:xfrm>
        <a:graphic>
          <a:graphicData uri="http://schemas.openxmlformats.org/drawingml/2006/table">
            <a:tbl>
              <a:tblPr/>
              <a:tblGrid>
                <a:gridCol w="1664417">
                  <a:extLst>
                    <a:ext uri="{9D8B030D-6E8A-4147-A177-3AD203B41FA5}">
                      <a16:colId xmlns:a16="http://schemas.microsoft.com/office/drawing/2014/main" val="3304585830"/>
                    </a:ext>
                  </a:extLst>
                </a:gridCol>
                <a:gridCol w="3913239">
                  <a:extLst>
                    <a:ext uri="{9D8B030D-6E8A-4147-A177-3AD203B41FA5}">
                      <a16:colId xmlns:a16="http://schemas.microsoft.com/office/drawing/2014/main" val="1853662817"/>
                    </a:ext>
                  </a:extLst>
                </a:gridCol>
                <a:gridCol w="5223694">
                  <a:extLst>
                    <a:ext uri="{9D8B030D-6E8A-4147-A177-3AD203B41FA5}">
                      <a16:colId xmlns:a16="http://schemas.microsoft.com/office/drawing/2014/main" val="753807895"/>
                    </a:ext>
                  </a:extLst>
                </a:gridCol>
              </a:tblGrid>
              <a:tr h="0">
                <a:tc>
                  <a:txBody>
                    <a:bodyPr/>
                    <a:lstStyle/>
                    <a:p>
                      <a:pPr algn="l">
                        <a:buNone/>
                      </a:pPr>
                      <a:r>
                        <a:rPr lang="zh-CN" altLang="en-US" sz="160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特性 </a:t>
                      </a:r>
                      <a:r>
                        <a:rPr lang="en-US" sz="1600">
                          <a:solidFill>
                            <a:schemeClr val="bg1"/>
                          </a:solidFill>
                        </a:rPr>
                        <a:t>Feature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增量 </a:t>
                      </a:r>
                      <a:r>
                        <a:rPr lang="en-US" sz="1600">
                          <a:solidFill>
                            <a:schemeClr val="bg1"/>
                          </a:solidFill>
                        </a:rPr>
                        <a:t>Increment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162318852"/>
                  </a:ext>
                </a:extLst>
              </a:tr>
              <a:tr h="0">
                <a:tc>
                  <a:txBody>
                    <a:bodyPr/>
                    <a:lstStyle/>
                    <a:p>
                      <a:pPr algn="l">
                        <a:buNone/>
                      </a:pPr>
                      <a:r>
                        <a:rPr lang="zh-CN" altLang="en-US" sz="160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单个、独立的业务功能单元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在原有软件基础上，新增功能后形成的新的、可运行的整体版本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2875405"/>
                  </a:ext>
                </a:extLst>
              </a:tr>
              <a:tr h="0">
                <a:tc>
                  <a:txBody>
                    <a:bodyPr/>
                    <a:lstStyle/>
                    <a:p>
                      <a:pPr algn="l">
                        <a:buNone/>
                      </a:pPr>
                      <a:r>
                        <a:rPr lang="zh-CN" altLang="en-US" sz="1600">
                          <a:solidFill>
                            <a:schemeClr val="bg1"/>
                          </a:solidFill>
                        </a:rPr>
                        <a:t>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业务</a:t>
                      </a:r>
                      <a:r>
                        <a:rPr lang="en-US" altLang="zh-CN" sz="1600">
                          <a:solidFill>
                            <a:schemeClr val="bg1"/>
                          </a:solidFill>
                        </a:rPr>
                        <a:t>/</a:t>
                      </a:r>
                      <a:r>
                        <a:rPr lang="zh-CN" altLang="en-US" sz="1600">
                          <a:solidFill>
                            <a:schemeClr val="bg1"/>
                          </a:solidFill>
                        </a:rPr>
                        <a:t>功能视角（用户能用什么新功能？）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产品</a:t>
                      </a:r>
                      <a:r>
                        <a:rPr lang="en-US" altLang="zh-CN" sz="1600">
                          <a:solidFill>
                            <a:schemeClr val="bg1"/>
                          </a:solidFill>
                        </a:rPr>
                        <a:t>/</a:t>
                      </a:r>
                      <a:r>
                        <a:rPr lang="zh-CN" altLang="en-US" sz="1600">
                          <a:solidFill>
                            <a:schemeClr val="bg1"/>
                          </a:solidFill>
                        </a:rPr>
                        <a:t>版本视角（系统现在变成了什么样？）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713005"/>
                  </a:ext>
                </a:extLst>
              </a:tr>
              <a:tr h="0">
                <a:tc>
                  <a:txBody>
                    <a:bodyPr/>
                    <a:lstStyle/>
                    <a:p>
                      <a:pPr algn="l">
                        <a:buNone/>
                      </a:pPr>
                      <a:r>
                        <a:rPr lang="zh-CN" altLang="en-US" sz="1600">
                          <a:solidFill>
                            <a:schemeClr val="bg1"/>
                          </a:solidFill>
                        </a:rPr>
                        <a:t>构成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代码 </a:t>
                      </a:r>
                      <a:r>
                        <a:rPr lang="en-US" altLang="zh-CN" sz="1600">
                          <a:solidFill>
                            <a:schemeClr val="bg1"/>
                          </a:solidFill>
                        </a:rPr>
                        <a:t>+ </a:t>
                      </a:r>
                      <a:r>
                        <a:rPr lang="zh-CN" altLang="en-US" sz="1600">
                          <a:solidFill>
                            <a:schemeClr val="bg1"/>
                          </a:solidFill>
                        </a:rPr>
                        <a:t>测试 </a:t>
                      </a:r>
                      <a:r>
                        <a:rPr lang="en-US" altLang="zh-CN" sz="1600">
                          <a:solidFill>
                            <a:schemeClr val="bg1"/>
                          </a:solidFill>
                        </a:rPr>
                        <a:t>+ </a:t>
                      </a:r>
                      <a:r>
                        <a:rPr lang="zh-CN" altLang="en-US" sz="1600">
                          <a:solidFill>
                            <a:schemeClr val="bg1"/>
                          </a:solidFill>
                        </a:rPr>
                        <a:t>文档（针对单一功能）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所有已完成的特性 </a:t>
                      </a:r>
                      <a:r>
                        <a:rPr lang="en-US" altLang="zh-CN" sz="1600">
                          <a:solidFill>
                            <a:schemeClr val="bg1"/>
                          </a:solidFill>
                        </a:rPr>
                        <a:t>+ </a:t>
                      </a:r>
                      <a:r>
                        <a:rPr lang="zh-CN" altLang="en-US" sz="1600">
                          <a:solidFill>
                            <a:schemeClr val="bg1"/>
                          </a:solidFill>
                        </a:rPr>
                        <a:t>旧功能 </a:t>
                      </a:r>
                      <a:r>
                        <a:rPr lang="en-US" altLang="zh-CN" sz="1600">
                          <a:solidFill>
                            <a:schemeClr val="bg1"/>
                          </a:solidFill>
                        </a:rPr>
                        <a:t>+ </a:t>
                      </a:r>
                      <a:r>
                        <a:rPr lang="zh-CN" altLang="en-US" sz="1600">
                          <a:solidFill>
                            <a:schemeClr val="bg1"/>
                          </a:solidFill>
                        </a:rPr>
                        <a:t>修复的</a:t>
                      </a:r>
                      <a:r>
                        <a:rPr lang="en-US" altLang="zh-CN" sz="1600">
                          <a:solidFill>
                            <a:schemeClr val="bg1"/>
                          </a:solidFill>
                        </a:rPr>
                        <a:t>Bug + </a:t>
                      </a:r>
                      <a:r>
                        <a:rPr lang="zh-CN" altLang="en-US" sz="1600">
                          <a:solidFill>
                            <a:schemeClr val="bg1"/>
                          </a:solidFill>
                        </a:rPr>
                        <a:t>性能优化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75403"/>
                  </a:ext>
                </a:extLst>
              </a:tr>
              <a:tr h="0">
                <a:tc>
                  <a:txBody>
                    <a:bodyPr/>
                    <a:lstStyle/>
                    <a:p>
                      <a:pPr algn="l">
                        <a:buNone/>
                      </a:pPr>
                      <a:r>
                        <a:rPr lang="zh-CN" altLang="en-US" sz="1600">
                          <a:solidFill>
                            <a:schemeClr val="bg1"/>
                          </a:solidFill>
                        </a:rPr>
                        <a:t>独立性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逻辑上独立，但可能依赖底层架构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必须独立可运行，不能依赖未完成的部分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5690415"/>
                  </a:ext>
                </a:extLst>
              </a:tr>
              <a:tr h="0">
                <a:tc>
                  <a:txBody>
                    <a:bodyPr/>
                    <a:lstStyle/>
                    <a:p>
                      <a:pPr algn="l">
                        <a:buNone/>
                      </a:pPr>
                      <a:r>
                        <a:rPr lang="zh-CN" altLang="en-US" sz="1600">
                          <a:solidFill>
                            <a:schemeClr val="bg1"/>
                          </a:solidFill>
                        </a:rPr>
                        <a:t>累积性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不累积（它是一个点）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强累积（</a:t>
                      </a:r>
                      <a:r>
                        <a:rPr lang="en-US" sz="1600">
                          <a:solidFill>
                            <a:schemeClr val="bg1"/>
                          </a:solidFill>
                        </a:rPr>
                        <a:t>Increment 2 = Increment 1 + </a:t>
                      </a:r>
                      <a:r>
                        <a:rPr lang="zh-CN" altLang="en-US" sz="1600">
                          <a:solidFill>
                            <a:schemeClr val="bg1"/>
                          </a:solidFill>
                        </a:rPr>
                        <a:t>新特性）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5209504"/>
                  </a:ext>
                </a:extLst>
              </a:tr>
              <a:tr h="0">
                <a:tc>
                  <a:txBody>
                    <a:bodyPr/>
                    <a:lstStyle/>
                    <a:p>
                      <a:pPr algn="l">
                        <a:buNone/>
                      </a:pPr>
                      <a:r>
                        <a:rPr lang="zh-CN" altLang="en-US" sz="1600">
                          <a:solidFill>
                            <a:schemeClr val="bg1"/>
                          </a:solidFill>
                        </a:rPr>
                        <a:t>时间粒度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较小（通常几天到两周）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较大（通常是一个迭代</a:t>
                      </a:r>
                      <a:r>
                        <a:rPr lang="en-US" altLang="zh-CN" sz="1600">
                          <a:solidFill>
                            <a:schemeClr val="bg1"/>
                          </a:solidFill>
                        </a:rPr>
                        <a:t>/Sprint</a:t>
                      </a:r>
                      <a:r>
                        <a:rPr lang="zh-CN" altLang="en-US" sz="1600">
                          <a:solidFill>
                            <a:schemeClr val="bg1"/>
                          </a:solidFill>
                        </a:rPr>
                        <a:t>结束，或一个月发布一次）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0416970"/>
                  </a:ext>
                </a:extLst>
              </a:tr>
              <a:tr h="0">
                <a:tc>
                  <a:txBody>
                    <a:bodyPr/>
                    <a:lstStyle/>
                    <a:p>
                      <a:pPr algn="l">
                        <a:buNone/>
                      </a:pPr>
                      <a:r>
                        <a:rPr lang="en-US" sz="1600">
                          <a:solidFill>
                            <a:schemeClr val="bg1"/>
                          </a:solidFill>
                        </a:rPr>
                        <a:t>FDD</a:t>
                      </a:r>
                      <a:r>
                        <a:rPr lang="zh-CN" altLang="en-US" sz="1600">
                          <a:solidFill>
                            <a:schemeClr val="bg1"/>
                          </a:solidFill>
                        </a:rPr>
                        <a:t>中的角色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FDD</a:t>
                      </a:r>
                      <a:r>
                        <a:rPr lang="zh-CN" altLang="en-US" sz="1600">
                          <a:solidFill>
                            <a:schemeClr val="bg1"/>
                          </a:solidFill>
                        </a:rPr>
                        <a:t>的核心驱动单位（按特性开发）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FDD</a:t>
                      </a:r>
                      <a:r>
                        <a:rPr lang="zh-CN" altLang="en-US" sz="1600">
                          <a:solidFill>
                            <a:schemeClr val="bg1"/>
                          </a:solidFill>
                        </a:rPr>
                        <a:t>的结果（每完成一组特性，就形成一个增量）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6632810"/>
                  </a:ext>
                </a:extLst>
              </a:tr>
            </a:tbl>
          </a:graphicData>
        </a:graphic>
      </p:graphicFrame>
    </p:spTree>
    <p:extLst>
      <p:ext uri="{BB962C8B-B14F-4D97-AF65-F5344CB8AC3E}">
        <p14:creationId xmlns:p14="http://schemas.microsoft.com/office/powerpoint/2010/main" val="316212856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2464886" y="4681056"/>
            <a:ext cx="7262228" cy="798491"/>
          </a:xfrm>
        </p:spPr>
        <p:txBody>
          <a:bodyPr/>
          <a:lstStyle/>
          <a:p>
            <a:r>
              <a:rPr lang="zh-CN" altLang="en-US"/>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2464886" y="5479548"/>
            <a:ext cx="7262228" cy="458180"/>
          </a:xfrm>
        </p:spPr>
        <p:txBody>
          <a:bodyPr/>
          <a:lstStyle/>
          <a:p>
            <a:r>
              <a:rPr lang="en-US" altLang="zh-CN"/>
              <a:t>Section 3 Project Scope</a:t>
            </a:r>
            <a:endParaRPr lang="zh-CN" altLang="en-US"/>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3883891" y="2278857"/>
            <a:ext cx="4424219" cy="2300287"/>
          </a:xfrm>
        </p:spPr>
        <p:txBody>
          <a:bodyPr>
            <a:normAutofit lnSpcReduction="10000"/>
          </a:bodyPr>
          <a:lstStyle/>
          <a:p>
            <a:r>
              <a:rPr lang="zh-CN" altLang="en-US"/>
              <a:t>需求管理</a:t>
            </a:r>
            <a:endParaRPr lang="en-US" altLang="zh-CN"/>
          </a:p>
          <a:p>
            <a:r>
              <a:rPr lang="zh-CN" altLang="en-US"/>
              <a:t>传统项目需求分析</a:t>
            </a:r>
            <a:endParaRPr lang="en-US" altLang="zh-CN"/>
          </a:p>
          <a:p>
            <a:r>
              <a:rPr lang="zh-CN" altLang="en-US"/>
              <a:t>敏捷项目需求分析</a:t>
            </a:r>
            <a:endParaRPr lang="en-US" altLang="zh-CN"/>
          </a:p>
          <a:p>
            <a:r>
              <a:rPr lang="zh-CN" altLang="en-US"/>
              <a:t>工作范围</a:t>
            </a:r>
            <a:endParaRPr lang="en-US" altLang="zh-CN"/>
          </a:p>
          <a:p>
            <a:r>
              <a:rPr lang="zh-CN" altLang="en-US"/>
              <a:t>任务分解</a:t>
            </a:r>
            <a:endParaRPr lang="en-US" altLang="zh-CN"/>
          </a:p>
          <a:p>
            <a:r>
              <a:rPr lang="zh-CN" altLang="en-US"/>
              <a:t>敏捷任务分解</a:t>
            </a:r>
          </a:p>
        </p:txBody>
      </p:sp>
    </p:spTree>
    <p:extLst>
      <p:ext uri="{BB962C8B-B14F-4D97-AF65-F5344CB8AC3E}">
        <p14:creationId xmlns:p14="http://schemas.microsoft.com/office/powerpoint/2010/main" val="8063145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1B6CD-2821-8D97-CF70-BFE248B8E9A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1C8D09A6-AAA8-0CB0-1495-83B0B7B35FAD}"/>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528160D3-2122-79BB-75BA-3EC3FDC3199C}"/>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719EE9C-1DDA-5D18-B6F2-2449583A67AA}"/>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B2FEDFBA-B342-47D4-F8CE-891903D97A93}"/>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2566E38D-D49F-86D8-EFAA-EE198FC57E5E}"/>
              </a:ext>
            </a:extLst>
          </p:cNvPr>
          <p:cNvSpPr/>
          <p:nvPr/>
        </p:nvSpPr>
        <p:spPr>
          <a:xfrm>
            <a:off x="3452485" y="2998839"/>
            <a:ext cx="432000"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6F99D44F-7EE5-B94D-C03F-A2C8C0CEA4BD}"/>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035FEBA3-10E5-1B8E-2B26-546B6C332C3D}"/>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625D6DDE-3AB6-5016-3B62-AC827235C00E}"/>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6CC8E7-8609-5AC8-A81C-B408EDEDA3D5}"/>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CAB11DA4-DE03-B05D-26A6-0343DBE620DB}"/>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3165500D-4931-0F51-61A0-D7BBE51485AA}"/>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293B3A09-877F-726F-D7B7-0C0679047EFB}"/>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E22877EF-D6EE-F23A-8EB9-07413335C1CA}"/>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5931196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C650F3A-1925-D4AB-1C2F-FBC72098EC31}"/>
              </a:ext>
            </a:extLst>
          </p:cNvPr>
          <p:cNvSpPr txBox="1"/>
          <p:nvPr/>
        </p:nvSpPr>
        <p:spPr>
          <a:xfrm>
            <a:off x="5740775" y="2456507"/>
            <a:ext cx="710451" cy="338554"/>
          </a:xfrm>
          <a:prstGeom prst="rect">
            <a:avLst/>
          </a:prstGeom>
          <a:noFill/>
        </p:spPr>
        <p:txBody>
          <a:bodyPr wrap="none" rtlCol="0">
            <a:spAutoFit/>
          </a:bodyPr>
          <a:lstStyle/>
          <a:p>
            <a:pPr algn="ctr"/>
            <a:r>
              <a:rPr lang="en-US" altLang="zh-CN" sz="1600" dirty="0">
                <a:solidFill>
                  <a:schemeClr val="bg1"/>
                </a:solidFill>
              </a:rPr>
              <a:t>SOW</a:t>
            </a:r>
            <a:endParaRPr lang="zh-CN" altLang="en-US" sz="1600" dirty="0">
              <a:solidFill>
                <a:schemeClr val="bg1"/>
              </a:solidFill>
            </a:endParaRPr>
          </a:p>
        </p:txBody>
      </p:sp>
      <p:sp>
        <p:nvSpPr>
          <p:cNvPr id="3" name="文本框 2">
            <a:extLst>
              <a:ext uri="{FF2B5EF4-FFF2-40B4-BE49-F238E27FC236}">
                <a16:creationId xmlns:a16="http://schemas.microsoft.com/office/drawing/2014/main" id="{DFEC9C8F-EDD0-1044-F95B-45D0B6E10E50}"/>
              </a:ext>
            </a:extLst>
          </p:cNvPr>
          <p:cNvSpPr txBox="1"/>
          <p:nvPr/>
        </p:nvSpPr>
        <p:spPr>
          <a:xfrm>
            <a:off x="5802490" y="2991985"/>
            <a:ext cx="587020" cy="338554"/>
          </a:xfrm>
          <a:prstGeom prst="rect">
            <a:avLst/>
          </a:prstGeom>
          <a:noFill/>
        </p:spPr>
        <p:txBody>
          <a:bodyPr wrap="none" rtlCol="0">
            <a:spAutoFit/>
          </a:bodyPr>
          <a:lstStyle/>
          <a:p>
            <a:pPr algn="ctr"/>
            <a:r>
              <a:rPr lang="en-US" altLang="zh-CN" sz="1600" dirty="0">
                <a:solidFill>
                  <a:schemeClr val="bg1"/>
                </a:solidFill>
              </a:rPr>
              <a:t>SRS</a:t>
            </a:r>
            <a:endParaRPr lang="zh-CN" altLang="en-US" sz="1600" dirty="0">
              <a:solidFill>
                <a:schemeClr val="bg1"/>
              </a:solidFill>
            </a:endParaRPr>
          </a:p>
        </p:txBody>
      </p:sp>
      <p:sp>
        <p:nvSpPr>
          <p:cNvPr id="4" name="文本框 3">
            <a:extLst>
              <a:ext uri="{FF2B5EF4-FFF2-40B4-BE49-F238E27FC236}">
                <a16:creationId xmlns:a16="http://schemas.microsoft.com/office/drawing/2014/main" id="{C3B1F37D-C855-4E97-E03C-0C328C4C657C}"/>
              </a:ext>
            </a:extLst>
          </p:cNvPr>
          <p:cNvSpPr txBox="1"/>
          <p:nvPr/>
        </p:nvSpPr>
        <p:spPr>
          <a:xfrm>
            <a:off x="5748790" y="3527463"/>
            <a:ext cx="694421" cy="338554"/>
          </a:xfrm>
          <a:prstGeom prst="rect">
            <a:avLst/>
          </a:prstGeom>
          <a:noFill/>
        </p:spPr>
        <p:txBody>
          <a:bodyPr wrap="none" rtlCol="0">
            <a:spAutoFit/>
          </a:bodyPr>
          <a:lstStyle/>
          <a:p>
            <a:pPr algn="ctr"/>
            <a:r>
              <a:rPr lang="en-US" altLang="zh-CN" sz="1600" dirty="0">
                <a:solidFill>
                  <a:schemeClr val="bg1"/>
                </a:solidFill>
              </a:rPr>
              <a:t>WBS</a:t>
            </a:r>
            <a:endParaRPr lang="zh-CN" altLang="en-US" sz="1600" dirty="0">
              <a:solidFill>
                <a:schemeClr val="bg1"/>
              </a:solidFill>
            </a:endParaRPr>
          </a:p>
        </p:txBody>
      </p:sp>
      <p:sp>
        <p:nvSpPr>
          <p:cNvPr id="5" name="文本框 4">
            <a:extLst>
              <a:ext uri="{FF2B5EF4-FFF2-40B4-BE49-F238E27FC236}">
                <a16:creationId xmlns:a16="http://schemas.microsoft.com/office/drawing/2014/main" id="{318E8237-4CFD-6A59-C4DE-07B7AA86F5FE}"/>
              </a:ext>
            </a:extLst>
          </p:cNvPr>
          <p:cNvSpPr txBox="1"/>
          <p:nvPr/>
        </p:nvSpPr>
        <p:spPr>
          <a:xfrm>
            <a:off x="5556429" y="4062940"/>
            <a:ext cx="1079142" cy="338554"/>
          </a:xfrm>
          <a:prstGeom prst="rect">
            <a:avLst/>
          </a:prstGeom>
          <a:noFill/>
        </p:spPr>
        <p:txBody>
          <a:bodyPr wrap="none" rtlCol="0">
            <a:spAutoFit/>
          </a:bodyPr>
          <a:lstStyle/>
          <a:p>
            <a:pPr algn="ctr"/>
            <a:r>
              <a:rPr lang="en-US" altLang="zh-CN" sz="1600" dirty="0">
                <a:solidFill>
                  <a:schemeClr val="bg1"/>
                </a:solidFill>
              </a:rPr>
              <a:t>Package</a:t>
            </a:r>
            <a:endParaRPr lang="zh-CN" altLang="en-US" sz="1600" dirty="0">
              <a:solidFill>
                <a:schemeClr val="bg1"/>
              </a:solidFill>
            </a:endParaRPr>
          </a:p>
        </p:txBody>
      </p:sp>
      <p:cxnSp>
        <p:nvCxnSpPr>
          <p:cNvPr id="8" name="直接箭头连接符 7">
            <a:extLst>
              <a:ext uri="{FF2B5EF4-FFF2-40B4-BE49-F238E27FC236}">
                <a16:creationId xmlns:a16="http://schemas.microsoft.com/office/drawing/2014/main" id="{E1B50B47-6B69-E9DA-37EB-40CE97948307}"/>
              </a:ext>
            </a:extLst>
          </p:cNvPr>
          <p:cNvCxnSpPr>
            <a:stCxn id="2" idx="2"/>
            <a:endCxn id="3" idx="0"/>
          </p:cNvCxnSpPr>
          <p:nvPr/>
        </p:nvCxnSpPr>
        <p:spPr>
          <a:xfrm flipH="1">
            <a:off x="6096000" y="2795061"/>
            <a:ext cx="1" cy="19692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6ACCC05E-C646-C0E9-DE93-3A47C4CBF10B}"/>
              </a:ext>
            </a:extLst>
          </p:cNvPr>
          <p:cNvCxnSpPr>
            <a:stCxn id="3" idx="2"/>
            <a:endCxn id="4" idx="0"/>
          </p:cNvCxnSpPr>
          <p:nvPr/>
        </p:nvCxnSpPr>
        <p:spPr>
          <a:xfrm>
            <a:off x="6096000" y="3330539"/>
            <a:ext cx="1" cy="19692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6B915D98-2383-7333-B9C4-60ABA7EF4047}"/>
              </a:ext>
            </a:extLst>
          </p:cNvPr>
          <p:cNvCxnSpPr>
            <a:stCxn id="4" idx="2"/>
            <a:endCxn id="5" idx="0"/>
          </p:cNvCxnSpPr>
          <p:nvPr/>
        </p:nvCxnSpPr>
        <p:spPr>
          <a:xfrm flipH="1">
            <a:off x="6096000" y="3866017"/>
            <a:ext cx="1" cy="19692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EC30D3BF-04A5-CBE2-A4B0-BA1860764D6F}"/>
              </a:ext>
            </a:extLst>
          </p:cNvPr>
          <p:cNvSpPr txBox="1"/>
          <p:nvPr/>
        </p:nvSpPr>
        <p:spPr>
          <a:xfrm>
            <a:off x="7213268" y="2456507"/>
            <a:ext cx="1210588" cy="338554"/>
          </a:xfrm>
          <a:prstGeom prst="rect">
            <a:avLst/>
          </a:prstGeom>
          <a:noFill/>
        </p:spPr>
        <p:txBody>
          <a:bodyPr wrap="none" rtlCol="0">
            <a:spAutoFit/>
          </a:bodyPr>
          <a:lstStyle/>
          <a:p>
            <a:r>
              <a:rPr lang="zh-CN" altLang="en-US" sz="1600" dirty="0">
                <a:solidFill>
                  <a:schemeClr val="bg1"/>
                </a:solidFill>
              </a:rPr>
              <a:t>工作说明书</a:t>
            </a:r>
          </a:p>
        </p:txBody>
      </p:sp>
      <p:sp>
        <p:nvSpPr>
          <p:cNvPr id="14" name="文本框 13">
            <a:extLst>
              <a:ext uri="{FF2B5EF4-FFF2-40B4-BE49-F238E27FC236}">
                <a16:creationId xmlns:a16="http://schemas.microsoft.com/office/drawing/2014/main" id="{0B87C4C6-9406-6A93-D19F-2AF7478F9806}"/>
              </a:ext>
            </a:extLst>
          </p:cNvPr>
          <p:cNvSpPr txBox="1"/>
          <p:nvPr/>
        </p:nvSpPr>
        <p:spPr>
          <a:xfrm>
            <a:off x="7213268" y="2991985"/>
            <a:ext cx="2031325" cy="338554"/>
          </a:xfrm>
          <a:prstGeom prst="rect">
            <a:avLst/>
          </a:prstGeom>
          <a:noFill/>
        </p:spPr>
        <p:txBody>
          <a:bodyPr wrap="none" rtlCol="0">
            <a:spAutoFit/>
          </a:bodyPr>
          <a:lstStyle/>
          <a:p>
            <a:r>
              <a:rPr lang="zh-CN" altLang="en-US" sz="1600" dirty="0">
                <a:solidFill>
                  <a:schemeClr val="bg1"/>
                </a:solidFill>
              </a:rPr>
              <a:t>软件需求规格说明书</a:t>
            </a:r>
          </a:p>
        </p:txBody>
      </p:sp>
      <p:sp>
        <p:nvSpPr>
          <p:cNvPr id="15" name="文本框 14">
            <a:extLst>
              <a:ext uri="{FF2B5EF4-FFF2-40B4-BE49-F238E27FC236}">
                <a16:creationId xmlns:a16="http://schemas.microsoft.com/office/drawing/2014/main" id="{181E4BD1-60E9-E2B6-95CF-25D43E3B373B}"/>
              </a:ext>
            </a:extLst>
          </p:cNvPr>
          <p:cNvSpPr txBox="1"/>
          <p:nvPr/>
        </p:nvSpPr>
        <p:spPr>
          <a:xfrm>
            <a:off x="7213268" y="3527463"/>
            <a:ext cx="1415772" cy="338554"/>
          </a:xfrm>
          <a:prstGeom prst="rect">
            <a:avLst/>
          </a:prstGeom>
          <a:noFill/>
        </p:spPr>
        <p:txBody>
          <a:bodyPr wrap="none" rtlCol="0">
            <a:spAutoFit/>
          </a:bodyPr>
          <a:lstStyle/>
          <a:p>
            <a:r>
              <a:rPr lang="zh-CN" altLang="en-US" sz="1600" dirty="0">
                <a:solidFill>
                  <a:schemeClr val="bg1"/>
                </a:solidFill>
              </a:rPr>
              <a:t>工作分解结构</a:t>
            </a:r>
          </a:p>
        </p:txBody>
      </p:sp>
      <p:sp>
        <p:nvSpPr>
          <p:cNvPr id="16" name="文本框 15">
            <a:extLst>
              <a:ext uri="{FF2B5EF4-FFF2-40B4-BE49-F238E27FC236}">
                <a16:creationId xmlns:a16="http://schemas.microsoft.com/office/drawing/2014/main" id="{88E17A1A-509B-C80B-0491-2A982B45D290}"/>
              </a:ext>
            </a:extLst>
          </p:cNvPr>
          <p:cNvSpPr txBox="1"/>
          <p:nvPr/>
        </p:nvSpPr>
        <p:spPr>
          <a:xfrm>
            <a:off x="7213268" y="4062940"/>
            <a:ext cx="800219" cy="338554"/>
          </a:xfrm>
          <a:prstGeom prst="rect">
            <a:avLst/>
          </a:prstGeom>
          <a:noFill/>
        </p:spPr>
        <p:txBody>
          <a:bodyPr wrap="none" rtlCol="0">
            <a:spAutoFit/>
          </a:bodyPr>
          <a:lstStyle/>
          <a:p>
            <a:r>
              <a:rPr lang="zh-CN" altLang="en-US" sz="1600" dirty="0">
                <a:solidFill>
                  <a:schemeClr val="bg1"/>
                </a:solidFill>
              </a:rPr>
              <a:t>工作包</a:t>
            </a:r>
          </a:p>
        </p:txBody>
      </p:sp>
      <p:cxnSp>
        <p:nvCxnSpPr>
          <p:cNvPr id="18" name="直接箭头连接符 17">
            <a:extLst>
              <a:ext uri="{FF2B5EF4-FFF2-40B4-BE49-F238E27FC236}">
                <a16:creationId xmlns:a16="http://schemas.microsoft.com/office/drawing/2014/main" id="{E5ED8B6A-247E-A21F-18F7-AC7990C36F45}"/>
              </a:ext>
            </a:extLst>
          </p:cNvPr>
          <p:cNvCxnSpPr>
            <a:stCxn id="2" idx="3"/>
            <a:endCxn id="13" idx="1"/>
          </p:cNvCxnSpPr>
          <p:nvPr/>
        </p:nvCxnSpPr>
        <p:spPr>
          <a:xfrm>
            <a:off x="6451226" y="2625784"/>
            <a:ext cx="762042"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C2AC4A43-0621-8841-51FF-34A72088E34E}"/>
              </a:ext>
            </a:extLst>
          </p:cNvPr>
          <p:cNvCxnSpPr>
            <a:stCxn id="3" idx="3"/>
            <a:endCxn id="14" idx="1"/>
          </p:cNvCxnSpPr>
          <p:nvPr/>
        </p:nvCxnSpPr>
        <p:spPr>
          <a:xfrm>
            <a:off x="6389510" y="3161262"/>
            <a:ext cx="823758"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571DABFE-949A-2743-52F1-362E0BD770C7}"/>
              </a:ext>
            </a:extLst>
          </p:cNvPr>
          <p:cNvCxnSpPr>
            <a:stCxn id="4" idx="3"/>
            <a:endCxn id="15" idx="1"/>
          </p:cNvCxnSpPr>
          <p:nvPr/>
        </p:nvCxnSpPr>
        <p:spPr>
          <a:xfrm>
            <a:off x="6443211" y="3696740"/>
            <a:ext cx="770057"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06C8BC0C-FF7A-555D-4262-9C873F430CF1}"/>
              </a:ext>
            </a:extLst>
          </p:cNvPr>
          <p:cNvCxnSpPr>
            <a:stCxn id="5" idx="3"/>
            <a:endCxn id="16" idx="1"/>
          </p:cNvCxnSpPr>
          <p:nvPr/>
        </p:nvCxnSpPr>
        <p:spPr>
          <a:xfrm>
            <a:off x="6635571" y="4232217"/>
            <a:ext cx="577697"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008112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52CC29-439F-793E-203E-071762287136}"/>
              </a:ext>
            </a:extLst>
          </p:cNvPr>
          <p:cNvSpPr>
            <a:spLocks noGrp="1"/>
          </p:cNvSpPr>
          <p:nvPr>
            <p:ph type="title"/>
          </p:nvPr>
        </p:nvSpPr>
        <p:spPr>
          <a:xfrm>
            <a:off x="695998" y="360000"/>
            <a:ext cx="6375921" cy="429413"/>
          </a:xfrm>
        </p:spPr>
        <p:txBody>
          <a:bodyPr/>
          <a:lstStyle/>
          <a:p>
            <a:r>
              <a:rPr lang="zh-CN" altLang="en-US" dirty="0"/>
              <a:t>项目范围</a:t>
            </a:r>
          </a:p>
        </p:txBody>
      </p:sp>
      <p:sp>
        <p:nvSpPr>
          <p:cNvPr id="3" name="内容占位符 2">
            <a:extLst>
              <a:ext uri="{FF2B5EF4-FFF2-40B4-BE49-F238E27FC236}">
                <a16:creationId xmlns:a16="http://schemas.microsoft.com/office/drawing/2014/main" id="{A1BC5544-5504-294C-F71A-02AB77A9A581}"/>
              </a:ext>
            </a:extLst>
          </p:cNvPr>
          <p:cNvSpPr>
            <a:spLocks noGrp="1"/>
          </p:cNvSpPr>
          <p:nvPr>
            <p:ph idx="1"/>
          </p:nvPr>
        </p:nvSpPr>
        <p:spPr>
          <a:xfrm>
            <a:off x="696000" y="864000"/>
            <a:ext cx="10800000" cy="5400000"/>
          </a:xfrm>
        </p:spPr>
        <p:txBody>
          <a:bodyPr/>
          <a:lstStyle/>
          <a:p>
            <a:r>
              <a:rPr lang="en-US" altLang="zh-CN" dirty="0"/>
              <a:t>SOW - </a:t>
            </a:r>
            <a:r>
              <a:rPr lang="en-US" altLang="zh-CN" dirty="0">
                <a:hlinkClick r:id="rId2"/>
              </a:rPr>
              <a:t>Statement of Work</a:t>
            </a:r>
            <a:endParaRPr lang="en-US" altLang="zh-CN" dirty="0"/>
          </a:p>
          <a:p>
            <a:pPr lvl="1"/>
            <a:r>
              <a:rPr lang="zh-CN" altLang="en-US" dirty="0"/>
              <a:t>讲做什么、多少钱、什么时候交，给老板和法务看</a:t>
            </a:r>
            <a:endParaRPr lang="en-US" altLang="zh-CN" dirty="0"/>
          </a:p>
          <a:p>
            <a:pPr lvl="1"/>
            <a:r>
              <a:rPr lang="zh-CN" altLang="en-US" dirty="0"/>
              <a:t>战略级文档</a:t>
            </a:r>
            <a:endParaRPr lang="en-US" altLang="zh-CN" dirty="0"/>
          </a:p>
          <a:p>
            <a:pPr lvl="1"/>
            <a:r>
              <a:rPr lang="zh-CN" altLang="en-US" dirty="0"/>
              <a:t>合同的附件，用来防止项目范围无限蔓延 </a:t>
            </a:r>
            <a:r>
              <a:rPr lang="en-US" altLang="zh-CN" dirty="0"/>
              <a:t>Scope Creep</a:t>
            </a:r>
          </a:p>
          <a:p>
            <a:pPr lvl="1"/>
            <a:r>
              <a:rPr lang="en-US" altLang="zh-CN" dirty="0"/>
              <a:t>A scope of work in project management is a formal document that defines the specific tasks, deliverables, timelines and responsibilities required to complete a project. </a:t>
            </a:r>
          </a:p>
          <a:p>
            <a:endParaRPr lang="zh-CN" altLang="en-US" dirty="0"/>
          </a:p>
        </p:txBody>
      </p:sp>
      <p:sp>
        <p:nvSpPr>
          <p:cNvPr id="4" name="文本占位符 3">
            <a:extLst>
              <a:ext uri="{FF2B5EF4-FFF2-40B4-BE49-F238E27FC236}">
                <a16:creationId xmlns:a16="http://schemas.microsoft.com/office/drawing/2014/main" id="{BF88ADC4-5BC0-F0B1-5AC0-1B28C176FD42}"/>
              </a:ext>
            </a:extLst>
          </p:cNvPr>
          <p:cNvSpPr>
            <a:spLocks noGrp="1"/>
          </p:cNvSpPr>
          <p:nvPr>
            <p:ph type="body" sz="quarter" idx="10"/>
          </p:nvPr>
        </p:nvSpPr>
        <p:spPr>
          <a:xfrm>
            <a:off x="7071919" y="448519"/>
            <a:ext cx="4424080" cy="338554"/>
          </a:xfrm>
        </p:spPr>
        <p:txBody>
          <a:bodyPr/>
          <a:lstStyle/>
          <a:p>
            <a:r>
              <a:rPr lang="en-US" altLang="zh-CN" dirty="0"/>
              <a:t>SOW</a:t>
            </a:r>
            <a:endParaRPr lang="zh-CN" altLang="en-US" dirty="0"/>
          </a:p>
        </p:txBody>
      </p:sp>
    </p:spTree>
    <p:extLst>
      <p:ext uri="{BB962C8B-B14F-4D97-AF65-F5344CB8AC3E}">
        <p14:creationId xmlns:p14="http://schemas.microsoft.com/office/powerpoint/2010/main" val="40018112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06" name="表格 405">
            <a:extLst>
              <a:ext uri="{FF2B5EF4-FFF2-40B4-BE49-F238E27FC236}">
                <a16:creationId xmlns:a16="http://schemas.microsoft.com/office/drawing/2014/main" id="{D6B7B114-8EF2-8465-3EF2-FB5AF2A6FE07}"/>
              </a:ext>
            </a:extLst>
          </p:cNvPr>
          <p:cNvGraphicFramePr>
            <a:graphicFrameLocks noGrp="1"/>
          </p:cNvGraphicFramePr>
          <p:nvPr>
            <p:extLst>
              <p:ext uri="{D42A27DB-BD31-4B8C-83A1-F6EECF244321}">
                <p14:modId xmlns:p14="http://schemas.microsoft.com/office/powerpoint/2010/main" val="2327829692"/>
              </p:ext>
            </p:extLst>
          </p:nvPr>
        </p:nvGraphicFramePr>
        <p:xfrm>
          <a:off x="580102" y="1716586"/>
          <a:ext cx="11031796" cy="3424828"/>
        </p:xfrm>
        <a:graphic>
          <a:graphicData uri="http://schemas.openxmlformats.org/drawingml/2006/table">
            <a:tbl>
              <a:tblPr/>
              <a:tblGrid>
                <a:gridCol w="865239">
                  <a:extLst>
                    <a:ext uri="{9D8B030D-6E8A-4147-A177-3AD203B41FA5}">
                      <a16:colId xmlns:a16="http://schemas.microsoft.com/office/drawing/2014/main" val="3871176651"/>
                    </a:ext>
                  </a:extLst>
                </a:gridCol>
                <a:gridCol w="5712542">
                  <a:extLst>
                    <a:ext uri="{9D8B030D-6E8A-4147-A177-3AD203B41FA5}">
                      <a16:colId xmlns:a16="http://schemas.microsoft.com/office/drawing/2014/main" val="2335876"/>
                    </a:ext>
                  </a:extLst>
                </a:gridCol>
                <a:gridCol w="3460955">
                  <a:extLst>
                    <a:ext uri="{9D8B030D-6E8A-4147-A177-3AD203B41FA5}">
                      <a16:colId xmlns:a16="http://schemas.microsoft.com/office/drawing/2014/main" val="3609104247"/>
                    </a:ext>
                  </a:extLst>
                </a:gridCol>
                <a:gridCol w="993060">
                  <a:extLst>
                    <a:ext uri="{9D8B030D-6E8A-4147-A177-3AD203B41FA5}">
                      <a16:colId xmlns:a16="http://schemas.microsoft.com/office/drawing/2014/main" val="684226483"/>
                    </a:ext>
                  </a:extLst>
                </a:gridCol>
              </a:tblGrid>
              <a:tr h="0">
                <a:tc>
                  <a:txBody>
                    <a:bodyPr/>
                    <a:lstStyle/>
                    <a:p>
                      <a:pPr algn="ctr">
                        <a:buNone/>
                      </a:pPr>
                      <a:r>
                        <a:rPr lang="en-US" altLang="zh-CN" sz="1600">
                          <a:solidFill>
                            <a:schemeClr val="bg1"/>
                          </a:solidFill>
                        </a:rPr>
                        <a:t>Rank</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English</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Chinese</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a:solidFill>
                            <a:schemeClr val="bg1"/>
                          </a:solidFill>
                        </a:rPr>
                        <a:t>Average</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104703908"/>
                  </a:ext>
                </a:extLst>
              </a:tr>
              <a:tr h="0">
                <a:tc>
                  <a:txBody>
                    <a:bodyPr/>
                    <a:lstStyle/>
                    <a:p>
                      <a:pPr algn="ctr">
                        <a:buNone/>
                      </a:pPr>
                      <a:r>
                        <a:rPr lang="en-US" altLang="zh-CN" sz="1600">
                          <a:solidFill>
                            <a:schemeClr val="bg1"/>
                          </a:solidFill>
                        </a:rPr>
                        <a:t>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Inadequate requirements specification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不充分的需求规范</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951141"/>
                  </a:ext>
                </a:extLst>
              </a:tr>
              <a:tr h="0">
                <a:tc>
                  <a:txBody>
                    <a:bodyPr/>
                    <a:lstStyle/>
                    <a:p>
                      <a:pPr algn="ctr">
                        <a:buNone/>
                      </a:pPr>
                      <a:r>
                        <a:rPr lang="en-US" altLang="zh-CN" sz="1600">
                          <a:solidFill>
                            <a:schemeClr val="bg1"/>
                          </a:solidFill>
                        </a:rPr>
                        <a:t>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Changes in requirements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需求的改变</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4754884"/>
                  </a:ext>
                </a:extLst>
              </a:tr>
              <a:tr h="0">
                <a:tc>
                  <a:txBody>
                    <a:bodyPr/>
                    <a:lstStyle/>
                    <a:p>
                      <a:pPr algn="ctr">
                        <a:buNone/>
                      </a:pPr>
                      <a:r>
                        <a:rPr lang="en-US" altLang="zh-CN" sz="1600">
                          <a:solidFill>
                            <a:schemeClr val="bg1"/>
                          </a:solidFill>
                        </a:rPr>
                        <a:t>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systems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缺乏系统工程师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6542195"/>
                  </a:ext>
                </a:extLst>
              </a:tr>
              <a:tr h="0">
                <a:tc>
                  <a:txBody>
                    <a:bodyPr/>
                    <a:lstStyle/>
                    <a:p>
                      <a:pPr algn="ctr">
                        <a:buNone/>
                      </a:pPr>
                      <a:r>
                        <a:rPr lang="en-US" altLang="zh-CN" sz="1600">
                          <a:solidFill>
                            <a:schemeClr val="bg1"/>
                          </a:solidFill>
                        </a:rPr>
                        <a:t>4</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software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缺乏了解软件特性的经理人</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99465746"/>
                  </a:ext>
                </a:extLst>
              </a:tr>
              <a:tr h="0">
                <a:tc>
                  <a:txBody>
                    <a:bodyPr/>
                    <a:lstStyle/>
                    <a:p>
                      <a:pPr algn="ctr">
                        <a:buNone/>
                      </a:pPr>
                      <a:r>
                        <a:rPr lang="en-US" altLang="zh-CN" sz="1600">
                          <a:solidFill>
                            <a:schemeClr val="bg1"/>
                          </a:solidFill>
                        </a:rPr>
                        <a:t>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qualified project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缺乏合格的项目经理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09214140"/>
                  </a:ext>
                </a:extLst>
              </a:tr>
              <a:tr h="0">
                <a:tc>
                  <a:txBody>
                    <a:bodyPr/>
                    <a:lstStyle/>
                    <a:p>
                      <a:pPr algn="ctr">
                        <a:buNone/>
                      </a:pPr>
                      <a:r>
                        <a:rPr lang="en-US" altLang="zh-CN" sz="1600">
                          <a:solidFill>
                            <a:schemeClr val="bg1"/>
                          </a:solidFill>
                        </a:rPr>
                        <a:t>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software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缺乏软件工程师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9431038"/>
                  </a:ext>
                </a:extLst>
              </a:tr>
              <a:tr h="0">
                <a:tc>
                  <a:txBody>
                    <a:bodyPr/>
                    <a:lstStyle/>
                    <a:p>
                      <a:pPr algn="ctr">
                        <a:buNone/>
                      </a:pPr>
                      <a:r>
                        <a:rPr lang="en-US" altLang="zh-CN" sz="1600">
                          <a:solidFill>
                            <a:schemeClr val="bg1"/>
                          </a:solidFill>
                        </a:rPr>
                        <a:t>7</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Fixed-price contract</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固定价合同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1775017"/>
                  </a:ext>
                </a:extLst>
              </a:tr>
              <a:tr h="0">
                <a:tc>
                  <a:txBody>
                    <a:bodyPr/>
                    <a:lstStyle/>
                    <a:p>
                      <a:pPr algn="ctr">
                        <a:buNone/>
                      </a:pPr>
                      <a:r>
                        <a:rPr lang="en-US" altLang="zh-CN" sz="1600">
                          <a:solidFill>
                            <a:schemeClr val="bg1"/>
                          </a:solidFill>
                        </a:rPr>
                        <a:t>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Inadequate communications for system integration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系统集成阶段，交流与沟通不充分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125985"/>
                  </a:ext>
                </a:extLst>
              </a:tr>
              <a:tr h="0">
                <a:tc>
                  <a:txBody>
                    <a:bodyPr/>
                    <a:lstStyle/>
                    <a:p>
                      <a:pPr algn="ctr">
                        <a:buNone/>
                      </a:pPr>
                      <a:r>
                        <a:rPr lang="en-US" altLang="zh-CN" sz="1600">
                          <a:solidFill>
                            <a:schemeClr val="bg1"/>
                          </a:solidFill>
                        </a:rPr>
                        <a:t>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Insufficient experience as team</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团队缺乏经验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0973147"/>
                  </a:ext>
                </a:extLst>
              </a:tr>
              <a:tr h="0">
                <a:tc>
                  <a:txBody>
                    <a:bodyPr/>
                    <a:lstStyle/>
                    <a:p>
                      <a:pPr algn="ctr">
                        <a:buNone/>
                      </a:pPr>
                      <a:r>
                        <a:rPr lang="en-US" altLang="zh-CN" sz="1600">
                          <a:solidFill>
                            <a:schemeClr val="bg1"/>
                          </a:solidFill>
                        </a:rPr>
                        <a:t>10</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application domain experts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缺乏应用领域专家</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44647477"/>
                  </a:ext>
                </a:extLst>
              </a:tr>
            </a:tbl>
          </a:graphicData>
        </a:graphic>
      </p:graphicFrame>
    </p:spTree>
    <p:extLst>
      <p:ext uri="{BB962C8B-B14F-4D97-AF65-F5344CB8AC3E}">
        <p14:creationId xmlns:p14="http://schemas.microsoft.com/office/powerpoint/2010/main" val="201479016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41B1FE-B5AB-C287-1DD8-77B1FF37B373}"/>
              </a:ext>
            </a:extLst>
          </p:cNvPr>
          <p:cNvSpPr>
            <a:spLocks noGrp="1"/>
          </p:cNvSpPr>
          <p:nvPr>
            <p:ph type="title"/>
          </p:nvPr>
        </p:nvSpPr>
        <p:spPr>
          <a:xfrm>
            <a:off x="695998" y="360000"/>
            <a:ext cx="6375921" cy="429413"/>
          </a:xfrm>
        </p:spPr>
        <p:txBody>
          <a:bodyPr/>
          <a:lstStyle/>
          <a:p>
            <a:r>
              <a:rPr lang="en-US" altLang="zh-CN"/>
              <a:t>1. </a:t>
            </a:r>
            <a:r>
              <a:rPr lang="zh-CN" altLang="en-US"/>
              <a:t>项目需求涵义</a:t>
            </a:r>
          </a:p>
        </p:txBody>
      </p:sp>
      <p:sp>
        <p:nvSpPr>
          <p:cNvPr id="3" name="内容占位符 2">
            <a:extLst>
              <a:ext uri="{FF2B5EF4-FFF2-40B4-BE49-F238E27FC236}">
                <a16:creationId xmlns:a16="http://schemas.microsoft.com/office/drawing/2014/main" id="{5A1F2112-27C4-25BB-C531-056DA2351A52}"/>
              </a:ext>
            </a:extLst>
          </p:cNvPr>
          <p:cNvSpPr>
            <a:spLocks noGrp="1"/>
          </p:cNvSpPr>
          <p:nvPr>
            <p:ph idx="1"/>
          </p:nvPr>
        </p:nvSpPr>
        <p:spPr>
          <a:xfrm>
            <a:off x="696000" y="864000"/>
            <a:ext cx="10800000" cy="5400000"/>
          </a:xfrm>
        </p:spPr>
        <p:txBody>
          <a:bodyPr/>
          <a:lstStyle/>
          <a:p>
            <a:r>
              <a:rPr lang="zh-CN" altLang="en-US" dirty="0"/>
              <a:t>是软件工程中将用户模糊的业务期望转化为清晰、可执行、可验证的系统规格说明的过程</a:t>
            </a:r>
            <a:endParaRPr lang="en-US" altLang="zh-CN" dirty="0"/>
          </a:p>
          <a:p>
            <a:r>
              <a:rPr lang="zh-CN" altLang="en-US" dirty="0"/>
              <a:t>它是连接“</a:t>
            </a:r>
            <a:r>
              <a:rPr lang="zh-CN" altLang="en-US" dirty="0">
                <a:solidFill>
                  <a:srgbClr val="FFFF00"/>
                </a:solidFill>
              </a:rPr>
              <a:t>用户</a:t>
            </a:r>
            <a:r>
              <a:rPr lang="zh-CN" altLang="en-US" dirty="0"/>
              <a:t>想要什么”与“</a:t>
            </a:r>
            <a:r>
              <a:rPr lang="zh-CN" altLang="en-US" dirty="0">
                <a:solidFill>
                  <a:srgbClr val="FFFF00"/>
                </a:solidFill>
              </a:rPr>
              <a:t>开发团队</a:t>
            </a:r>
            <a:r>
              <a:rPr lang="zh-CN" altLang="en-US" dirty="0"/>
              <a:t>做什么”的桥梁，直接决定了项目的成败</a:t>
            </a:r>
            <a:endParaRPr lang="en-US" altLang="zh-CN" dirty="0"/>
          </a:p>
          <a:p>
            <a:r>
              <a:rPr lang="zh-CN" altLang="en-US" dirty="0"/>
              <a:t>开发的基础</a:t>
            </a:r>
            <a:endParaRPr lang="en-US" altLang="zh-CN" dirty="0"/>
          </a:p>
          <a:p>
            <a:pPr lvl="1"/>
            <a:r>
              <a:rPr lang="zh-CN" altLang="en-US" dirty="0"/>
              <a:t>做什么</a:t>
            </a:r>
            <a:endParaRPr lang="en-US" altLang="zh-CN" dirty="0"/>
          </a:p>
          <a:p>
            <a:pPr lvl="1"/>
            <a:r>
              <a:rPr lang="zh-CN" altLang="en-US" dirty="0"/>
              <a:t>具备什么</a:t>
            </a:r>
            <a:r>
              <a:rPr lang="zh-CN" altLang="en-US" dirty="0">
                <a:solidFill>
                  <a:srgbClr val="FFFF00"/>
                </a:solidFill>
              </a:rPr>
              <a:t>功能</a:t>
            </a:r>
            <a:endParaRPr lang="en-US" altLang="zh-CN" dirty="0">
              <a:solidFill>
                <a:srgbClr val="FFFF00"/>
              </a:solidFill>
            </a:endParaRPr>
          </a:p>
          <a:p>
            <a:pPr lvl="1"/>
            <a:r>
              <a:rPr lang="zh-CN" altLang="en-US" dirty="0"/>
              <a:t>达到怎样的</a:t>
            </a:r>
            <a:r>
              <a:rPr lang="zh-CN" altLang="en-US" dirty="0">
                <a:solidFill>
                  <a:srgbClr val="FFFF00"/>
                </a:solidFill>
              </a:rPr>
              <a:t>性能</a:t>
            </a:r>
            <a:endParaRPr lang="en-US" altLang="zh-CN" dirty="0">
              <a:solidFill>
                <a:srgbClr val="FFFF00"/>
              </a:solidFill>
            </a:endParaRPr>
          </a:p>
          <a:p>
            <a:endParaRPr lang="en-US" altLang="zh-CN" dirty="0"/>
          </a:p>
          <a:p>
            <a:endParaRPr lang="zh-CN" altLang="en-US" dirty="0"/>
          </a:p>
        </p:txBody>
      </p:sp>
      <p:sp>
        <p:nvSpPr>
          <p:cNvPr id="4" name="文本占位符 3">
            <a:extLst>
              <a:ext uri="{FF2B5EF4-FFF2-40B4-BE49-F238E27FC236}">
                <a16:creationId xmlns:a16="http://schemas.microsoft.com/office/drawing/2014/main" id="{E72576CC-499B-7AFE-407C-00ECC8C25501}"/>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722120510"/>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E50D-8F35-462B-6843-ACB57EC9DF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4A7A6F-37EE-61DB-6537-42C03BA4D6C5}"/>
              </a:ext>
            </a:extLst>
          </p:cNvPr>
          <p:cNvSpPr>
            <a:spLocks noGrp="1"/>
          </p:cNvSpPr>
          <p:nvPr>
            <p:ph type="title"/>
          </p:nvPr>
        </p:nvSpPr>
        <p:spPr>
          <a:xfrm>
            <a:off x="695998" y="360000"/>
            <a:ext cx="6375921" cy="429413"/>
          </a:xfrm>
        </p:spPr>
        <p:txBody>
          <a:bodyPr/>
          <a:lstStyle/>
          <a:p>
            <a:r>
              <a:rPr lang="en-US" altLang="zh-CN"/>
              <a:t>1.1 </a:t>
            </a:r>
            <a:r>
              <a:rPr lang="zh-CN" altLang="en-US"/>
              <a:t>项目需求</a:t>
            </a:r>
          </a:p>
        </p:txBody>
      </p:sp>
      <p:sp>
        <p:nvSpPr>
          <p:cNvPr id="3" name="内容占位符 2">
            <a:extLst>
              <a:ext uri="{FF2B5EF4-FFF2-40B4-BE49-F238E27FC236}">
                <a16:creationId xmlns:a16="http://schemas.microsoft.com/office/drawing/2014/main" id="{F929526C-DACD-36EA-7DEA-3DF2F0753B68}"/>
              </a:ext>
            </a:extLst>
          </p:cNvPr>
          <p:cNvSpPr>
            <a:spLocks noGrp="1"/>
          </p:cNvSpPr>
          <p:nvPr>
            <p:ph idx="1"/>
          </p:nvPr>
        </p:nvSpPr>
        <p:spPr>
          <a:xfrm>
            <a:off x="696000" y="864000"/>
            <a:ext cx="10800000" cy="5400000"/>
          </a:xfrm>
        </p:spPr>
        <p:txBody>
          <a:bodyPr>
            <a:normAutofit/>
          </a:bodyPr>
          <a:lstStyle/>
          <a:p>
            <a:r>
              <a:rPr lang="zh-CN" altLang="en-US"/>
              <a:t>业务需求 </a:t>
            </a:r>
            <a:r>
              <a:rPr lang="en-US" altLang="zh-CN"/>
              <a:t>business requirement</a:t>
            </a:r>
          </a:p>
          <a:p>
            <a:pPr lvl="1"/>
            <a:r>
              <a:rPr lang="zh-CN" altLang="en-US"/>
              <a:t>关注商业价值、战略目标、投资回报等</a:t>
            </a:r>
            <a:endParaRPr lang="en-US" altLang="zh-CN"/>
          </a:p>
          <a:p>
            <a:pPr lvl="1"/>
            <a:r>
              <a:rPr lang="en-US" altLang="zh-CN"/>
              <a:t>Why?</a:t>
            </a:r>
          </a:p>
          <a:p>
            <a:r>
              <a:rPr lang="zh-CN" altLang="en-US"/>
              <a:t>用户需求 </a:t>
            </a:r>
            <a:r>
              <a:rPr lang="en-US" altLang="zh-CN"/>
              <a:t>user requirement</a:t>
            </a:r>
          </a:p>
          <a:p>
            <a:pPr lvl="1"/>
            <a:r>
              <a:rPr lang="en-US" altLang="zh-CN"/>
              <a:t>C</a:t>
            </a:r>
            <a:r>
              <a:rPr lang="zh-CN" altLang="en-US"/>
              <a:t>端的需求</a:t>
            </a:r>
            <a:endParaRPr lang="en-US" altLang="zh-CN"/>
          </a:p>
          <a:p>
            <a:pPr lvl="1"/>
            <a:r>
              <a:rPr lang="en-US" altLang="zh-CN"/>
              <a:t>What?</a:t>
            </a:r>
          </a:p>
          <a:p>
            <a:r>
              <a:rPr lang="zh-CN" altLang="en-US"/>
              <a:t>功能需求 </a:t>
            </a:r>
            <a:r>
              <a:rPr lang="en-US" altLang="zh-CN"/>
              <a:t>functional requirement</a:t>
            </a:r>
          </a:p>
          <a:p>
            <a:pPr lvl="1"/>
            <a:r>
              <a:rPr lang="zh-CN" altLang="en-US"/>
              <a:t>必须具备哪些具体功能来满足用户需求</a:t>
            </a:r>
            <a:endParaRPr lang="en-US" altLang="zh-CN"/>
          </a:p>
          <a:p>
            <a:pPr lvl="1"/>
            <a:r>
              <a:rPr lang="en-US" altLang="zh-CN"/>
              <a:t>How?</a:t>
            </a:r>
          </a:p>
          <a:p>
            <a:endParaRPr lang="en-US" altLang="zh-CN"/>
          </a:p>
        </p:txBody>
      </p:sp>
      <p:sp>
        <p:nvSpPr>
          <p:cNvPr id="4" name="文本占位符 3">
            <a:extLst>
              <a:ext uri="{FF2B5EF4-FFF2-40B4-BE49-F238E27FC236}">
                <a16:creationId xmlns:a16="http://schemas.microsoft.com/office/drawing/2014/main" id="{9E8F397C-5A0C-DAE9-870C-87386687CE2D}"/>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15485548"/>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EC8950F-5AFA-1BD9-51E9-156D627DADA1}"/>
              </a:ext>
            </a:extLst>
          </p:cNvPr>
          <p:cNvSpPr txBox="1"/>
          <p:nvPr/>
        </p:nvSpPr>
        <p:spPr>
          <a:xfrm>
            <a:off x="696001" y="1305342"/>
            <a:ext cx="10799999" cy="4247317"/>
          </a:xfrm>
          <a:prstGeom prst="rect">
            <a:avLst/>
          </a:prstGeom>
          <a:noFill/>
        </p:spPr>
        <p:txBody>
          <a:bodyPr wrap="square" rtlCol="0">
            <a:spAutoFit/>
          </a:bodyPr>
          <a:lstStyle/>
          <a:p>
            <a:r>
              <a:rPr lang="zh-CN" altLang="en-US" b="1">
                <a:solidFill>
                  <a:schemeClr val="bg1"/>
                </a:solidFill>
              </a:rPr>
              <a:t>背景：某电商公司计划开发一键退货功能。</a:t>
            </a:r>
          </a:p>
          <a:p>
            <a:r>
              <a:rPr lang="zh-CN" altLang="en-US" b="1">
                <a:solidFill>
                  <a:schemeClr val="bg1"/>
                </a:solidFill>
              </a:rPr>
              <a:t>描述</a:t>
            </a:r>
            <a:r>
              <a:rPr lang="en-US" altLang="zh-CN" b="1">
                <a:solidFill>
                  <a:schemeClr val="bg1"/>
                </a:solidFill>
              </a:rPr>
              <a:t>1</a:t>
            </a:r>
            <a:r>
              <a:rPr lang="zh-CN" altLang="en-US">
                <a:solidFill>
                  <a:schemeClr val="bg1"/>
                </a:solidFill>
              </a:rPr>
              <a:t>：为了降低客服人力成本（预计减少</a:t>
            </a:r>
            <a:r>
              <a:rPr lang="en-US" altLang="zh-CN">
                <a:solidFill>
                  <a:schemeClr val="bg1"/>
                </a:solidFill>
              </a:rPr>
              <a:t>30%</a:t>
            </a:r>
            <a:r>
              <a:rPr lang="zh-CN" altLang="en-US">
                <a:solidFill>
                  <a:schemeClr val="bg1"/>
                </a:solidFill>
              </a:rPr>
              <a:t>），并提升客户复购率，公司决定优化售后流程</a:t>
            </a:r>
            <a:br>
              <a:rPr lang="zh-CN" altLang="en-US">
                <a:solidFill>
                  <a:schemeClr val="bg1"/>
                </a:solidFill>
              </a:rPr>
            </a:br>
            <a:endParaRPr lang="en-US" altLang="zh-CN">
              <a:solidFill>
                <a:schemeClr val="bg1"/>
              </a:solidFill>
            </a:endParaRPr>
          </a:p>
          <a:p>
            <a:r>
              <a:rPr lang="zh-CN" altLang="en-US" b="1">
                <a:solidFill>
                  <a:schemeClr val="bg1"/>
                </a:solidFill>
              </a:rPr>
              <a:t>描述</a:t>
            </a:r>
            <a:r>
              <a:rPr lang="en-US" altLang="zh-CN" b="1">
                <a:solidFill>
                  <a:schemeClr val="bg1"/>
                </a:solidFill>
              </a:rPr>
              <a:t>2</a:t>
            </a:r>
            <a:r>
              <a:rPr lang="zh-CN" altLang="en-US">
                <a:solidFill>
                  <a:schemeClr val="bg1"/>
                </a:solidFill>
              </a:rPr>
              <a:t>：</a:t>
            </a:r>
            <a:r>
              <a:rPr lang="zh-CN" altLang="en-US" b="1">
                <a:solidFill>
                  <a:schemeClr val="bg1"/>
                </a:solidFill>
              </a:rPr>
              <a:t>用户反馈</a:t>
            </a:r>
            <a:r>
              <a:rPr lang="zh-CN" altLang="en-US">
                <a:solidFill>
                  <a:schemeClr val="bg1"/>
                </a:solidFill>
              </a:rPr>
              <a:t>希望在收到商品不满意时，不用打电话给客服解释半天，只需要在手机上点一下，快递员就能上门取件，马上退钱</a:t>
            </a:r>
            <a:endParaRPr lang="en-US" altLang="zh-CN">
              <a:solidFill>
                <a:schemeClr val="bg1"/>
              </a:solidFill>
            </a:endParaRPr>
          </a:p>
          <a:p>
            <a:br>
              <a:rPr lang="zh-CN" altLang="en-US">
                <a:solidFill>
                  <a:schemeClr val="bg1"/>
                </a:solidFill>
              </a:rPr>
            </a:br>
            <a:r>
              <a:rPr lang="zh-CN" altLang="en-US" b="1">
                <a:solidFill>
                  <a:schemeClr val="bg1"/>
                </a:solidFill>
              </a:rPr>
              <a:t>描述</a:t>
            </a:r>
            <a:r>
              <a:rPr lang="en-US" altLang="zh-CN" b="1">
                <a:solidFill>
                  <a:schemeClr val="bg1"/>
                </a:solidFill>
              </a:rPr>
              <a:t>3</a:t>
            </a:r>
            <a:r>
              <a:rPr lang="zh-CN" altLang="en-US">
                <a:solidFill>
                  <a:schemeClr val="bg1"/>
                </a:solidFill>
              </a:rPr>
              <a:t>：</a:t>
            </a:r>
            <a:r>
              <a:rPr lang="zh-CN" altLang="en-US" b="1">
                <a:solidFill>
                  <a:schemeClr val="bg1"/>
                </a:solidFill>
              </a:rPr>
              <a:t>系统开发人员设计方案：</a:t>
            </a:r>
            <a:r>
              <a:rPr lang="zh-CN" altLang="en-US">
                <a:solidFill>
                  <a:schemeClr val="bg1"/>
                </a:solidFill>
              </a:rPr>
              <a:t>当用户点击申请退货按钮且订单状态为已签收未满</a:t>
            </a:r>
            <a:r>
              <a:rPr lang="en-US" altLang="zh-CN">
                <a:solidFill>
                  <a:schemeClr val="bg1"/>
                </a:solidFill>
              </a:rPr>
              <a:t>7</a:t>
            </a:r>
            <a:r>
              <a:rPr lang="zh-CN" altLang="en-US">
                <a:solidFill>
                  <a:schemeClr val="bg1"/>
                </a:solidFill>
              </a:rPr>
              <a:t>天时，系统应自动调用物流接口生成取件码，并在数据库中将该订单状态更新为退货中，同时触发财务系统原路退款</a:t>
            </a:r>
            <a:br>
              <a:rPr lang="zh-CN" altLang="en-US">
                <a:solidFill>
                  <a:schemeClr val="bg1"/>
                </a:solidFill>
              </a:rPr>
            </a:br>
            <a:endParaRPr lang="en-US" altLang="zh-CN">
              <a:solidFill>
                <a:schemeClr val="bg1"/>
              </a:solidFill>
            </a:endParaRPr>
          </a:p>
          <a:p>
            <a:r>
              <a:rPr lang="zh-CN" altLang="en-US">
                <a:solidFill>
                  <a:schemeClr val="bg1"/>
                </a:solidFill>
              </a:rPr>
              <a:t>以上描述分别属于哪类需求？</a:t>
            </a:r>
            <a:endParaRPr lang="en-US" altLang="zh-CN">
              <a:solidFill>
                <a:schemeClr val="bg1"/>
              </a:solidFill>
            </a:endParaRPr>
          </a:p>
          <a:p>
            <a:br>
              <a:rPr lang="zh-CN" altLang="en-US">
                <a:solidFill>
                  <a:schemeClr val="bg1"/>
                </a:solidFill>
              </a:rPr>
            </a:br>
            <a:r>
              <a:rPr lang="en-US" altLang="zh-CN">
                <a:solidFill>
                  <a:schemeClr val="bg1"/>
                </a:solidFill>
              </a:rPr>
              <a:t>A. </a:t>
            </a:r>
            <a:r>
              <a:rPr lang="zh-CN" altLang="en-US">
                <a:solidFill>
                  <a:schemeClr val="bg1"/>
                </a:solidFill>
              </a:rPr>
              <a:t>业务需求</a:t>
            </a:r>
            <a:br>
              <a:rPr lang="zh-CN" altLang="en-US">
                <a:solidFill>
                  <a:schemeClr val="bg1"/>
                </a:solidFill>
              </a:rPr>
            </a:br>
            <a:r>
              <a:rPr lang="en-US" altLang="zh-CN">
                <a:solidFill>
                  <a:schemeClr val="bg1"/>
                </a:solidFill>
              </a:rPr>
              <a:t>B. </a:t>
            </a:r>
            <a:r>
              <a:rPr lang="zh-CN" altLang="en-US">
                <a:solidFill>
                  <a:schemeClr val="bg1"/>
                </a:solidFill>
              </a:rPr>
              <a:t>用户需求</a:t>
            </a:r>
            <a:br>
              <a:rPr lang="zh-CN" altLang="en-US">
                <a:solidFill>
                  <a:schemeClr val="bg1"/>
                </a:solidFill>
              </a:rPr>
            </a:br>
            <a:r>
              <a:rPr lang="en-US" altLang="zh-CN">
                <a:solidFill>
                  <a:schemeClr val="bg1"/>
                </a:solidFill>
              </a:rPr>
              <a:t>C. </a:t>
            </a:r>
            <a:r>
              <a:rPr lang="zh-CN" altLang="en-US">
                <a:solidFill>
                  <a:schemeClr val="bg1"/>
                </a:solidFill>
              </a:rPr>
              <a:t>功能需求</a:t>
            </a:r>
            <a:br>
              <a:rPr lang="zh-CN" altLang="en-US">
                <a:solidFill>
                  <a:schemeClr val="bg1"/>
                </a:solidFill>
              </a:rPr>
            </a:br>
            <a:r>
              <a:rPr lang="en-US" altLang="zh-CN">
                <a:solidFill>
                  <a:schemeClr val="bg1"/>
                </a:solidFill>
              </a:rPr>
              <a:t>D. </a:t>
            </a:r>
            <a:r>
              <a:rPr lang="zh-CN" altLang="en-US">
                <a:solidFill>
                  <a:schemeClr val="bg1"/>
                </a:solidFill>
              </a:rPr>
              <a:t>战略目标</a:t>
            </a:r>
          </a:p>
        </p:txBody>
      </p:sp>
    </p:spTree>
    <p:extLst>
      <p:ext uri="{BB962C8B-B14F-4D97-AF65-F5344CB8AC3E}">
        <p14:creationId xmlns:p14="http://schemas.microsoft.com/office/powerpoint/2010/main" val="244364671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497AA-3B83-E765-02F6-5F3F5D5EB5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D98553-98F9-3C34-7BCF-EBDEA3AD1EAE}"/>
              </a:ext>
            </a:extLst>
          </p:cNvPr>
          <p:cNvSpPr>
            <a:spLocks noGrp="1"/>
          </p:cNvSpPr>
          <p:nvPr>
            <p:ph type="title"/>
          </p:nvPr>
        </p:nvSpPr>
        <p:spPr>
          <a:xfrm>
            <a:off x="695998" y="360000"/>
            <a:ext cx="6375921" cy="429413"/>
          </a:xfrm>
        </p:spPr>
        <p:txBody>
          <a:bodyPr/>
          <a:lstStyle/>
          <a:p>
            <a:r>
              <a:rPr lang="en-US" altLang="zh-CN"/>
              <a:t>1.2 </a:t>
            </a:r>
            <a:r>
              <a:rPr lang="zh-CN" altLang="en-US"/>
              <a:t>需求过程</a:t>
            </a:r>
          </a:p>
        </p:txBody>
      </p:sp>
      <p:sp>
        <p:nvSpPr>
          <p:cNvPr id="3" name="内容占位符 2">
            <a:extLst>
              <a:ext uri="{FF2B5EF4-FFF2-40B4-BE49-F238E27FC236}">
                <a16:creationId xmlns:a16="http://schemas.microsoft.com/office/drawing/2014/main" id="{81F4E1DD-7342-B2EB-1173-FB42F6B04175}"/>
              </a:ext>
            </a:extLst>
          </p:cNvPr>
          <p:cNvSpPr>
            <a:spLocks noGrp="1"/>
          </p:cNvSpPr>
          <p:nvPr>
            <p:ph idx="1"/>
          </p:nvPr>
        </p:nvSpPr>
        <p:spPr>
          <a:xfrm>
            <a:off x="696000" y="864000"/>
            <a:ext cx="10800000" cy="5400000"/>
          </a:xfrm>
        </p:spPr>
        <p:txBody>
          <a:bodyPr>
            <a:normAutofit/>
          </a:bodyPr>
          <a:lstStyle/>
          <a:p>
            <a:r>
              <a:rPr lang="en-US" altLang="zh-CN"/>
              <a:t>5</a:t>
            </a:r>
            <a:r>
              <a:rPr lang="zh-CN" altLang="en-US"/>
              <a:t>个过程</a:t>
            </a:r>
            <a:endParaRPr lang="en-US" altLang="zh-CN"/>
          </a:p>
        </p:txBody>
      </p:sp>
      <p:sp>
        <p:nvSpPr>
          <p:cNvPr id="4" name="文本占位符 3">
            <a:extLst>
              <a:ext uri="{FF2B5EF4-FFF2-40B4-BE49-F238E27FC236}">
                <a16:creationId xmlns:a16="http://schemas.microsoft.com/office/drawing/2014/main" id="{1322DEA5-B30F-BE61-F8C5-418F51B610E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grpSp>
        <p:nvGrpSpPr>
          <p:cNvPr id="8" name="组合 7">
            <a:extLst>
              <a:ext uri="{FF2B5EF4-FFF2-40B4-BE49-F238E27FC236}">
                <a16:creationId xmlns:a16="http://schemas.microsoft.com/office/drawing/2014/main" id="{B57589A4-B5D8-C699-97E1-F63CA0CFE14D}"/>
              </a:ext>
            </a:extLst>
          </p:cNvPr>
          <p:cNvGrpSpPr/>
          <p:nvPr/>
        </p:nvGrpSpPr>
        <p:grpSpPr>
          <a:xfrm>
            <a:off x="3395663" y="1796644"/>
            <a:ext cx="5400675" cy="3534587"/>
            <a:chOff x="5322789" y="2320412"/>
            <a:chExt cx="5400675" cy="3534587"/>
          </a:xfrm>
        </p:grpSpPr>
        <p:sp>
          <p:nvSpPr>
            <p:cNvPr id="11" name="矩形: 圆角 10">
              <a:extLst>
                <a:ext uri="{FF2B5EF4-FFF2-40B4-BE49-F238E27FC236}">
                  <a16:creationId xmlns:a16="http://schemas.microsoft.com/office/drawing/2014/main" id="{2CAD1AB7-6284-F323-27D3-37F654FC67D8}"/>
                </a:ext>
              </a:extLst>
            </p:cNvPr>
            <p:cNvSpPr/>
            <p:nvPr/>
          </p:nvSpPr>
          <p:spPr>
            <a:xfrm>
              <a:off x="6043310" y="2654710"/>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需求获取</a:t>
              </a:r>
            </a:p>
          </p:txBody>
        </p:sp>
        <p:sp>
          <p:nvSpPr>
            <p:cNvPr id="12" name="矩形: 圆角 11">
              <a:extLst>
                <a:ext uri="{FF2B5EF4-FFF2-40B4-BE49-F238E27FC236}">
                  <a16:creationId xmlns:a16="http://schemas.microsoft.com/office/drawing/2014/main" id="{F0881128-026E-4063-58C3-D589793CF7DC}"/>
                </a:ext>
              </a:extLst>
            </p:cNvPr>
            <p:cNvSpPr/>
            <p:nvPr/>
          </p:nvSpPr>
          <p:spPr>
            <a:xfrm>
              <a:off x="8265400" y="2654710"/>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需求分析</a:t>
              </a:r>
            </a:p>
          </p:txBody>
        </p:sp>
        <p:sp>
          <p:nvSpPr>
            <p:cNvPr id="13" name="矩形: 圆角 12">
              <a:extLst>
                <a:ext uri="{FF2B5EF4-FFF2-40B4-BE49-F238E27FC236}">
                  <a16:creationId xmlns:a16="http://schemas.microsoft.com/office/drawing/2014/main" id="{3F482D1A-9201-E3CC-6A0C-323B4D81756E}"/>
                </a:ext>
              </a:extLst>
            </p:cNvPr>
            <p:cNvSpPr/>
            <p:nvPr/>
          </p:nvSpPr>
          <p:spPr>
            <a:xfrm>
              <a:off x="8265400" y="3647768"/>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需求规约编写</a:t>
              </a:r>
            </a:p>
          </p:txBody>
        </p:sp>
        <p:sp>
          <p:nvSpPr>
            <p:cNvPr id="14" name="矩形: 圆角 13">
              <a:extLst>
                <a:ext uri="{FF2B5EF4-FFF2-40B4-BE49-F238E27FC236}">
                  <a16:creationId xmlns:a16="http://schemas.microsoft.com/office/drawing/2014/main" id="{8D4A0BC0-119E-4CBE-A208-7D324B827D9A}"/>
                </a:ext>
              </a:extLst>
            </p:cNvPr>
            <p:cNvSpPr/>
            <p:nvPr/>
          </p:nvSpPr>
          <p:spPr>
            <a:xfrm>
              <a:off x="6043310" y="3642233"/>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需求验证</a:t>
              </a:r>
            </a:p>
          </p:txBody>
        </p:sp>
        <p:sp>
          <p:nvSpPr>
            <p:cNvPr id="15" name="矩形: 圆角 14">
              <a:extLst>
                <a:ext uri="{FF2B5EF4-FFF2-40B4-BE49-F238E27FC236}">
                  <a16:creationId xmlns:a16="http://schemas.microsoft.com/office/drawing/2014/main" id="{6814D424-20F2-D81C-5146-474EBF8C8B65}"/>
                </a:ext>
              </a:extLst>
            </p:cNvPr>
            <p:cNvSpPr/>
            <p:nvPr/>
          </p:nvSpPr>
          <p:spPr>
            <a:xfrm>
              <a:off x="8265400" y="5098999"/>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需求变更</a:t>
              </a:r>
            </a:p>
          </p:txBody>
        </p:sp>
        <p:cxnSp>
          <p:nvCxnSpPr>
            <p:cNvPr id="17" name="直接箭头连接符 16">
              <a:extLst>
                <a:ext uri="{FF2B5EF4-FFF2-40B4-BE49-F238E27FC236}">
                  <a16:creationId xmlns:a16="http://schemas.microsoft.com/office/drawing/2014/main" id="{5C415D8B-B8AC-8E07-6681-371152FF1696}"/>
                </a:ext>
              </a:extLst>
            </p:cNvPr>
            <p:cNvCxnSpPr>
              <a:stCxn id="11" idx="3"/>
              <a:endCxn id="12" idx="1"/>
            </p:cNvCxnSpPr>
            <p:nvPr/>
          </p:nvCxnSpPr>
          <p:spPr>
            <a:xfrm>
              <a:off x="7843310" y="2870710"/>
              <a:ext cx="42209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8BF7564A-F025-A5AC-0C69-B88DF56094E7}"/>
                </a:ext>
              </a:extLst>
            </p:cNvPr>
            <p:cNvCxnSpPr>
              <a:stCxn id="12" idx="2"/>
              <a:endCxn id="13" idx="0"/>
            </p:cNvCxnSpPr>
            <p:nvPr/>
          </p:nvCxnSpPr>
          <p:spPr>
            <a:xfrm>
              <a:off x="9165400" y="3086710"/>
              <a:ext cx="0" cy="56105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6BEDF7B-CFCD-01F5-84B2-9479A75B81DE}"/>
                </a:ext>
              </a:extLst>
            </p:cNvPr>
            <p:cNvCxnSpPr>
              <a:stCxn id="13" idx="1"/>
              <a:endCxn id="14" idx="3"/>
            </p:cNvCxnSpPr>
            <p:nvPr/>
          </p:nvCxnSpPr>
          <p:spPr>
            <a:xfrm flipH="1" flipV="1">
              <a:off x="7843310" y="3858233"/>
              <a:ext cx="422090" cy="553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2" name="矩形 21">
              <a:extLst>
                <a:ext uri="{FF2B5EF4-FFF2-40B4-BE49-F238E27FC236}">
                  <a16:creationId xmlns:a16="http://schemas.microsoft.com/office/drawing/2014/main" id="{22AFA216-48E3-5659-8FFF-544A734C8B1E}"/>
                </a:ext>
              </a:extLst>
            </p:cNvPr>
            <p:cNvSpPr/>
            <p:nvPr/>
          </p:nvSpPr>
          <p:spPr>
            <a:xfrm>
              <a:off x="5322789" y="2320412"/>
              <a:ext cx="5400675" cy="2160000"/>
            </a:xfrm>
            <a:prstGeom prst="rect">
              <a:avLst/>
            </a:prstGeom>
            <a:noFill/>
            <a:ln>
              <a:solidFill>
                <a:schemeClr val="bg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23" name="矩形 22">
              <a:extLst>
                <a:ext uri="{FF2B5EF4-FFF2-40B4-BE49-F238E27FC236}">
                  <a16:creationId xmlns:a16="http://schemas.microsoft.com/office/drawing/2014/main" id="{22A5B788-A1F8-1526-5DFC-95C00FADE28C}"/>
                </a:ext>
              </a:extLst>
            </p:cNvPr>
            <p:cNvSpPr/>
            <p:nvPr/>
          </p:nvSpPr>
          <p:spPr>
            <a:xfrm>
              <a:off x="5322789" y="4774999"/>
              <a:ext cx="5400675" cy="1080000"/>
            </a:xfrm>
            <a:prstGeom prst="rect">
              <a:avLst/>
            </a:prstGeom>
            <a:noFill/>
            <a:ln>
              <a:solidFill>
                <a:schemeClr val="bg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25" name="文本框 24">
              <a:extLst>
                <a:ext uri="{FF2B5EF4-FFF2-40B4-BE49-F238E27FC236}">
                  <a16:creationId xmlns:a16="http://schemas.microsoft.com/office/drawing/2014/main" id="{4DBF0F29-9678-B5F4-DC8F-A81E603161B0}"/>
                </a:ext>
              </a:extLst>
            </p:cNvPr>
            <p:cNvSpPr txBox="1"/>
            <p:nvPr/>
          </p:nvSpPr>
          <p:spPr>
            <a:xfrm>
              <a:off x="5322789" y="4097075"/>
              <a:ext cx="902811" cy="307777"/>
            </a:xfrm>
            <a:prstGeom prst="rect">
              <a:avLst/>
            </a:prstGeom>
            <a:noFill/>
            <a:ln>
              <a:noFill/>
            </a:ln>
          </p:spPr>
          <p:txBody>
            <a:bodyPr wrap="none" rtlCol="0">
              <a:spAutoFit/>
            </a:bodyPr>
            <a:lstStyle/>
            <a:p>
              <a:r>
                <a:rPr lang="zh-CN" altLang="en-US" sz="1400">
                  <a:solidFill>
                    <a:srgbClr val="FFFF00"/>
                  </a:solidFill>
                </a:rPr>
                <a:t>需求确认</a:t>
              </a:r>
            </a:p>
          </p:txBody>
        </p:sp>
        <p:sp>
          <p:nvSpPr>
            <p:cNvPr id="26" name="文本框 25">
              <a:extLst>
                <a:ext uri="{FF2B5EF4-FFF2-40B4-BE49-F238E27FC236}">
                  <a16:creationId xmlns:a16="http://schemas.microsoft.com/office/drawing/2014/main" id="{36ADC767-EC47-4190-3C94-4AD7C52FE06A}"/>
                </a:ext>
              </a:extLst>
            </p:cNvPr>
            <p:cNvSpPr txBox="1"/>
            <p:nvPr/>
          </p:nvSpPr>
          <p:spPr>
            <a:xfrm>
              <a:off x="5322789" y="4774999"/>
              <a:ext cx="902811" cy="307777"/>
            </a:xfrm>
            <a:prstGeom prst="rect">
              <a:avLst/>
            </a:prstGeom>
            <a:noFill/>
            <a:ln>
              <a:noFill/>
            </a:ln>
          </p:spPr>
          <p:txBody>
            <a:bodyPr wrap="none" rtlCol="0">
              <a:spAutoFit/>
            </a:bodyPr>
            <a:lstStyle/>
            <a:p>
              <a:r>
                <a:rPr lang="zh-CN" altLang="en-US" sz="1400">
                  <a:solidFill>
                    <a:srgbClr val="FFFF00"/>
                  </a:solidFill>
                </a:rPr>
                <a:t>需求变更</a:t>
              </a:r>
            </a:p>
          </p:txBody>
        </p:sp>
      </p:grpSp>
    </p:spTree>
    <p:extLst>
      <p:ext uri="{BB962C8B-B14F-4D97-AF65-F5344CB8AC3E}">
        <p14:creationId xmlns:p14="http://schemas.microsoft.com/office/powerpoint/2010/main" val="65638254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1DD21-57FB-3760-0F79-CAD50ABD9DC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00CAF1-7466-0BA6-DBAD-87A3C7D798E1}"/>
              </a:ext>
            </a:extLst>
          </p:cNvPr>
          <p:cNvSpPr>
            <a:spLocks noGrp="1"/>
          </p:cNvSpPr>
          <p:nvPr>
            <p:ph type="title"/>
          </p:nvPr>
        </p:nvSpPr>
        <p:spPr>
          <a:xfrm>
            <a:off x="695998" y="360000"/>
            <a:ext cx="6375921" cy="429413"/>
          </a:xfrm>
        </p:spPr>
        <p:txBody>
          <a:bodyPr/>
          <a:lstStyle/>
          <a:p>
            <a:r>
              <a:rPr lang="en-US" altLang="zh-CN"/>
              <a:t>1.2.1 </a:t>
            </a:r>
            <a:r>
              <a:rPr lang="zh-CN" altLang="en-US"/>
              <a:t>需求获取</a:t>
            </a:r>
          </a:p>
        </p:txBody>
      </p:sp>
      <p:sp>
        <p:nvSpPr>
          <p:cNvPr id="3" name="内容占位符 2">
            <a:extLst>
              <a:ext uri="{FF2B5EF4-FFF2-40B4-BE49-F238E27FC236}">
                <a16:creationId xmlns:a16="http://schemas.microsoft.com/office/drawing/2014/main" id="{6567CCF0-C01D-AD4D-2087-277E25F2379B}"/>
              </a:ext>
            </a:extLst>
          </p:cNvPr>
          <p:cNvSpPr>
            <a:spLocks noGrp="1"/>
          </p:cNvSpPr>
          <p:nvPr>
            <p:ph idx="1"/>
          </p:nvPr>
        </p:nvSpPr>
        <p:spPr>
          <a:xfrm>
            <a:off x="696000" y="864000"/>
            <a:ext cx="10800000" cy="5400000"/>
          </a:xfrm>
        </p:spPr>
        <p:txBody>
          <a:bodyPr>
            <a:normAutofit/>
          </a:bodyPr>
          <a:lstStyle/>
          <a:p>
            <a:r>
              <a:rPr lang="zh-CN" altLang="en-US"/>
              <a:t>访谈：面对面沟通、电话、专题会议类 </a:t>
            </a:r>
            <a:r>
              <a:rPr lang="en-US" altLang="zh-CN"/>
              <a:t>…</a:t>
            </a:r>
          </a:p>
          <a:p>
            <a:r>
              <a:rPr lang="zh-CN" altLang="en-US"/>
              <a:t>文档：问卷、数据筛选、电子邮件 </a:t>
            </a:r>
            <a:r>
              <a:rPr lang="en-US" altLang="zh-CN"/>
              <a:t>…</a:t>
            </a:r>
          </a:p>
          <a:p>
            <a:r>
              <a:rPr lang="zh-CN" altLang="en-US"/>
              <a:t>注意：</a:t>
            </a:r>
            <a:endParaRPr lang="en-US" altLang="zh-CN"/>
          </a:p>
          <a:p>
            <a:pPr lvl="1"/>
            <a:r>
              <a:rPr lang="zh-CN" altLang="en-US"/>
              <a:t>识别真正的用户</a:t>
            </a:r>
            <a:r>
              <a:rPr lang="en-US" altLang="zh-CN"/>
              <a:t>/</a:t>
            </a:r>
            <a:r>
              <a:rPr lang="zh-CN" altLang="en-US"/>
              <a:t>干系人</a:t>
            </a:r>
            <a:endParaRPr lang="en-US" altLang="zh-CN"/>
          </a:p>
          <a:p>
            <a:pPr lvl="1"/>
            <a:r>
              <a:rPr lang="zh-CN" altLang="en-US"/>
              <a:t>正确理解用户需求</a:t>
            </a:r>
            <a:endParaRPr lang="en-US" altLang="zh-CN"/>
          </a:p>
          <a:p>
            <a:pPr lvl="1"/>
            <a:r>
              <a:rPr lang="zh-CN" altLang="en-US"/>
              <a:t>耐心</a:t>
            </a:r>
            <a:endParaRPr lang="en-US" altLang="zh-CN"/>
          </a:p>
          <a:p>
            <a:pPr lvl="1"/>
            <a:r>
              <a:rPr lang="zh-CN" altLang="en-US"/>
              <a:t>引导并说服</a:t>
            </a:r>
            <a:endParaRPr lang="en-US" altLang="zh-CN"/>
          </a:p>
        </p:txBody>
      </p:sp>
      <p:sp>
        <p:nvSpPr>
          <p:cNvPr id="4" name="文本占位符 3">
            <a:extLst>
              <a:ext uri="{FF2B5EF4-FFF2-40B4-BE49-F238E27FC236}">
                <a16:creationId xmlns:a16="http://schemas.microsoft.com/office/drawing/2014/main" id="{AC12B03A-49F2-437B-115C-7570B099B773}"/>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20953606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D39B3-306C-A28C-B7AD-36C3A62261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F972E35-1DF3-DAD2-3FF5-4320AA049CC3}"/>
              </a:ext>
            </a:extLst>
          </p:cNvPr>
          <p:cNvSpPr>
            <a:spLocks noGrp="1"/>
          </p:cNvSpPr>
          <p:nvPr>
            <p:ph type="title"/>
          </p:nvPr>
        </p:nvSpPr>
        <p:spPr>
          <a:xfrm>
            <a:off x="695998" y="360000"/>
            <a:ext cx="6375921" cy="429413"/>
          </a:xfrm>
        </p:spPr>
        <p:txBody>
          <a:bodyPr/>
          <a:lstStyle/>
          <a:p>
            <a:r>
              <a:rPr lang="en-US" altLang="zh-CN"/>
              <a:t>1.2.2 </a:t>
            </a:r>
            <a:r>
              <a:rPr lang="zh-CN" altLang="en-US"/>
              <a:t>需求分析</a:t>
            </a:r>
          </a:p>
        </p:txBody>
      </p:sp>
      <p:sp>
        <p:nvSpPr>
          <p:cNvPr id="3" name="内容占位符 2">
            <a:extLst>
              <a:ext uri="{FF2B5EF4-FFF2-40B4-BE49-F238E27FC236}">
                <a16:creationId xmlns:a16="http://schemas.microsoft.com/office/drawing/2014/main" id="{142B66A5-2BED-3A68-0171-CF070B29569B}"/>
              </a:ext>
            </a:extLst>
          </p:cNvPr>
          <p:cNvSpPr>
            <a:spLocks noGrp="1"/>
          </p:cNvSpPr>
          <p:nvPr>
            <p:ph idx="1"/>
          </p:nvPr>
        </p:nvSpPr>
        <p:spPr>
          <a:xfrm>
            <a:off x="696000" y="864000"/>
            <a:ext cx="10800000" cy="5400000"/>
          </a:xfrm>
        </p:spPr>
        <p:txBody>
          <a:bodyPr>
            <a:normAutofit/>
          </a:bodyPr>
          <a:lstStyle/>
          <a:p>
            <a:r>
              <a:rPr lang="zh-CN" altLang="en-US"/>
              <a:t>也称系统建模</a:t>
            </a:r>
            <a:endParaRPr lang="en-US" altLang="zh-CN"/>
          </a:p>
          <a:p>
            <a:r>
              <a:rPr lang="zh-CN" altLang="en-US"/>
              <a:t>为最终用户所看到的系统建立一个概念模型，是对需求的抽象描述</a:t>
            </a:r>
            <a:endParaRPr lang="en-US" altLang="zh-CN"/>
          </a:p>
          <a:p>
            <a:r>
              <a:rPr lang="zh-CN" altLang="en-US"/>
              <a:t>尽可能全面、详细</a:t>
            </a:r>
            <a:endParaRPr lang="en-US" altLang="zh-CN"/>
          </a:p>
          <a:p>
            <a:r>
              <a:rPr lang="zh-CN" altLang="en-US"/>
              <a:t>工具类：</a:t>
            </a:r>
            <a:r>
              <a:rPr lang="en-US" altLang="zh-CN"/>
              <a:t>DFD</a:t>
            </a:r>
            <a:r>
              <a:rPr lang="zh-CN" altLang="en-US"/>
              <a:t>看数据，流程图看步骤，用例图看用户，时序图看交互，</a:t>
            </a:r>
            <a:r>
              <a:rPr lang="en-US" altLang="zh-CN"/>
              <a:t>E-R</a:t>
            </a:r>
            <a:r>
              <a:rPr lang="zh-CN" altLang="en-US"/>
              <a:t>图看结构</a:t>
            </a:r>
            <a:r>
              <a:rPr lang="en-US" altLang="zh-CN"/>
              <a:t>…</a:t>
            </a:r>
          </a:p>
          <a:p>
            <a:pPr lvl="1"/>
            <a:r>
              <a:rPr lang="zh-CN" altLang="en-US"/>
              <a:t>用例图（</a:t>
            </a:r>
            <a:r>
              <a:rPr lang="en-US" altLang="zh-CN"/>
              <a:t>Use Case Diagram</a:t>
            </a:r>
            <a:r>
              <a:rPr lang="zh-CN" altLang="en-US"/>
              <a:t>）→ 描述“谁用什么功能”</a:t>
            </a:r>
            <a:endParaRPr lang="en-US" altLang="zh-CN"/>
          </a:p>
          <a:p>
            <a:pPr lvl="1"/>
            <a:r>
              <a:rPr lang="zh-CN" altLang="en-US"/>
              <a:t>活动图 </a:t>
            </a:r>
            <a:r>
              <a:rPr lang="en-US" altLang="zh-CN"/>
              <a:t>/ </a:t>
            </a:r>
            <a:r>
              <a:rPr lang="zh-CN" altLang="en-US"/>
              <a:t>流程图（</a:t>
            </a:r>
            <a:r>
              <a:rPr lang="en-US" altLang="zh-CN"/>
              <a:t>Activity Diagram</a:t>
            </a:r>
            <a:r>
              <a:rPr lang="zh-CN" altLang="en-US"/>
              <a:t>）→ 描述“业务流程怎么走”</a:t>
            </a:r>
            <a:endParaRPr lang="en-US" altLang="zh-CN"/>
          </a:p>
          <a:p>
            <a:pPr lvl="1"/>
            <a:r>
              <a:rPr lang="zh-CN" altLang="en-US"/>
              <a:t>状态图（</a:t>
            </a:r>
            <a:r>
              <a:rPr lang="en-US" altLang="zh-CN"/>
              <a:t>State Diagram</a:t>
            </a:r>
            <a:r>
              <a:rPr lang="zh-CN" altLang="en-US"/>
              <a:t>）→ 描述“对象生命周期变化”</a:t>
            </a:r>
            <a:endParaRPr lang="en-US" altLang="zh-CN"/>
          </a:p>
          <a:p>
            <a:pPr lvl="1"/>
            <a:r>
              <a:rPr lang="zh-CN" altLang="en-US"/>
              <a:t>实体关系图（</a:t>
            </a:r>
            <a:r>
              <a:rPr lang="en-US" altLang="zh-CN"/>
              <a:t>ERD</a:t>
            </a:r>
            <a:r>
              <a:rPr lang="zh-CN" altLang="en-US"/>
              <a:t>）→ 描述“数据怎么组织”</a:t>
            </a:r>
            <a:endParaRPr lang="en-US" altLang="zh-CN"/>
          </a:p>
          <a:p>
            <a:pPr lvl="1"/>
            <a:r>
              <a:rPr lang="zh-CN" altLang="en-US"/>
              <a:t>原型图 </a:t>
            </a:r>
            <a:r>
              <a:rPr lang="en-US" altLang="zh-CN"/>
              <a:t>/ </a:t>
            </a:r>
            <a:r>
              <a:rPr lang="zh-CN" altLang="en-US"/>
              <a:t>线框图（</a:t>
            </a:r>
            <a:r>
              <a:rPr lang="en-US" altLang="zh-CN"/>
              <a:t>Wireframe</a:t>
            </a:r>
            <a:r>
              <a:rPr lang="zh-CN" altLang="en-US"/>
              <a:t>）→ 描述“界面长什么样”</a:t>
            </a:r>
            <a:endParaRPr lang="en-US" altLang="zh-CN"/>
          </a:p>
          <a:p>
            <a:endParaRPr lang="en-US" altLang="zh-CN"/>
          </a:p>
        </p:txBody>
      </p:sp>
      <p:sp>
        <p:nvSpPr>
          <p:cNvPr id="4" name="文本占位符 3">
            <a:extLst>
              <a:ext uri="{FF2B5EF4-FFF2-40B4-BE49-F238E27FC236}">
                <a16:creationId xmlns:a16="http://schemas.microsoft.com/office/drawing/2014/main" id="{58C79665-699E-457D-3086-E729A522AD2A}"/>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16518698"/>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4CA8F-1E9D-3C80-B0E4-1C1072F013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9D7A94-7AA3-3755-BAF9-68E96616FD88}"/>
              </a:ext>
            </a:extLst>
          </p:cNvPr>
          <p:cNvSpPr>
            <a:spLocks noGrp="1"/>
          </p:cNvSpPr>
          <p:nvPr>
            <p:ph type="title"/>
          </p:nvPr>
        </p:nvSpPr>
        <p:spPr>
          <a:xfrm>
            <a:off x="695998" y="360000"/>
            <a:ext cx="6375921" cy="429413"/>
          </a:xfrm>
        </p:spPr>
        <p:txBody>
          <a:bodyPr/>
          <a:lstStyle/>
          <a:p>
            <a:r>
              <a:rPr lang="en-US" altLang="zh-CN"/>
              <a:t>1.2.3 </a:t>
            </a:r>
            <a:r>
              <a:rPr lang="zh-CN" altLang="en-US"/>
              <a:t>需求规约编写</a:t>
            </a:r>
          </a:p>
        </p:txBody>
      </p:sp>
      <p:sp>
        <p:nvSpPr>
          <p:cNvPr id="3" name="内容占位符 2">
            <a:extLst>
              <a:ext uri="{FF2B5EF4-FFF2-40B4-BE49-F238E27FC236}">
                <a16:creationId xmlns:a16="http://schemas.microsoft.com/office/drawing/2014/main" id="{4F5258E2-73B7-2438-5DD2-ABA1B98A35A1}"/>
              </a:ext>
            </a:extLst>
          </p:cNvPr>
          <p:cNvSpPr>
            <a:spLocks noGrp="1"/>
          </p:cNvSpPr>
          <p:nvPr>
            <p:ph idx="1"/>
          </p:nvPr>
        </p:nvSpPr>
        <p:spPr>
          <a:xfrm>
            <a:off x="696000" y="864000"/>
            <a:ext cx="10800000" cy="5400000"/>
          </a:xfrm>
        </p:spPr>
        <p:txBody>
          <a:bodyPr>
            <a:normAutofit/>
          </a:bodyPr>
          <a:lstStyle/>
          <a:p>
            <a:r>
              <a:rPr lang="zh-CN" altLang="en-US" dirty="0"/>
              <a:t>需求分析完成的标志，提交软件需求规格说明书 </a:t>
            </a:r>
            <a:endParaRPr lang="en-US" altLang="zh-CN" dirty="0"/>
          </a:p>
          <a:p>
            <a:r>
              <a:rPr lang="en-US" altLang="zh-CN" dirty="0"/>
              <a:t>SRS </a:t>
            </a:r>
            <a:r>
              <a:rPr lang="en-US" altLang="zh-CN" dirty="0">
                <a:hlinkClick r:id="rId3"/>
              </a:rPr>
              <a:t>Software Requirement Specification</a:t>
            </a:r>
            <a:endParaRPr lang="en-US" altLang="zh-CN" dirty="0"/>
          </a:p>
          <a:p>
            <a:pPr lvl="1"/>
            <a:r>
              <a:rPr lang="zh-CN" altLang="en-US" dirty="0"/>
              <a:t>对软件范围正式且书面的界定</a:t>
            </a:r>
            <a:endParaRPr lang="en-US" altLang="zh-CN" dirty="0"/>
          </a:p>
          <a:p>
            <a:pPr lvl="1"/>
            <a:r>
              <a:rPr lang="zh-CN" altLang="en-US" dirty="0"/>
              <a:t>系统具体怎么运作、逻辑是什么、细节有哪些，给开发、测试和产品经理看</a:t>
            </a:r>
            <a:endParaRPr lang="en-US" altLang="zh-CN" dirty="0"/>
          </a:p>
          <a:p>
            <a:pPr lvl="1"/>
            <a:r>
              <a:rPr lang="zh-CN" altLang="en-US" dirty="0">
                <a:solidFill>
                  <a:srgbClr val="FFFF00"/>
                </a:solidFill>
              </a:rPr>
              <a:t>战术级</a:t>
            </a:r>
            <a:r>
              <a:rPr lang="zh-CN" altLang="en-US" dirty="0"/>
              <a:t>文档</a:t>
            </a:r>
            <a:endParaRPr lang="en-US" altLang="zh-CN" dirty="0"/>
          </a:p>
          <a:p>
            <a:pPr lvl="1"/>
            <a:r>
              <a:rPr lang="en-US" altLang="zh-CN" dirty="0"/>
              <a:t>An SRS document acts as a guide for the </a:t>
            </a:r>
            <a:r>
              <a:rPr lang="en-US" altLang="zh-CN" dirty="0">
                <a:solidFill>
                  <a:srgbClr val="FFFF00"/>
                </a:solidFill>
              </a:rPr>
              <a:t>development</a:t>
            </a:r>
            <a:r>
              <a:rPr lang="en-US" altLang="zh-CN" dirty="0"/>
              <a:t> </a:t>
            </a:r>
            <a:r>
              <a:rPr lang="en-US" altLang="zh-CN" dirty="0">
                <a:solidFill>
                  <a:srgbClr val="FFFF00"/>
                </a:solidFill>
              </a:rPr>
              <a:t>team</a:t>
            </a:r>
            <a:r>
              <a:rPr lang="en-US" altLang="zh-CN" dirty="0"/>
              <a:t>, detailing how the software should perform and interact. It outlines the purpose, behavior, and functionality of a software application.</a:t>
            </a:r>
          </a:p>
        </p:txBody>
      </p:sp>
      <p:sp>
        <p:nvSpPr>
          <p:cNvPr id="4" name="文本占位符 3">
            <a:extLst>
              <a:ext uri="{FF2B5EF4-FFF2-40B4-BE49-F238E27FC236}">
                <a16:creationId xmlns:a16="http://schemas.microsoft.com/office/drawing/2014/main" id="{FDDFED50-FA4B-E86A-84B3-C11920CCBEF4}"/>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12548841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BCE46FC-40FF-10CF-E8B1-B1CEF0279766}"/>
              </a:ext>
            </a:extLst>
          </p:cNvPr>
          <p:cNvGraphicFramePr>
            <a:graphicFrameLocks noGrp="1"/>
          </p:cNvGraphicFramePr>
          <p:nvPr>
            <p:extLst>
              <p:ext uri="{D42A27DB-BD31-4B8C-83A1-F6EECF244321}">
                <p14:modId xmlns:p14="http://schemas.microsoft.com/office/powerpoint/2010/main" val="3435024695"/>
              </p:ext>
            </p:extLst>
          </p:nvPr>
        </p:nvGraphicFramePr>
        <p:xfrm>
          <a:off x="696000" y="1003300"/>
          <a:ext cx="10800000" cy="4851400"/>
        </p:xfrm>
        <a:graphic>
          <a:graphicData uri="http://schemas.openxmlformats.org/drawingml/2006/table">
            <a:tbl>
              <a:tblPr firstRow="1" bandRow="1">
                <a:tableStyleId>{5C22544A-7EE6-4342-B048-85BDC9FD1C3A}</a:tableStyleId>
              </a:tblPr>
              <a:tblGrid>
                <a:gridCol w="10800000">
                  <a:extLst>
                    <a:ext uri="{9D8B030D-6E8A-4147-A177-3AD203B41FA5}">
                      <a16:colId xmlns:a16="http://schemas.microsoft.com/office/drawing/2014/main" val="923585089"/>
                    </a:ext>
                  </a:extLst>
                </a:gridCol>
              </a:tblGrid>
              <a:tr h="370840">
                <a:tc>
                  <a:txBody>
                    <a:bodyPr/>
                    <a:lstStyle/>
                    <a:p>
                      <a:pPr algn="ctr"/>
                      <a:r>
                        <a:rPr lang="en-US" altLang="zh-CN">
                          <a:solidFill>
                            <a:schemeClr val="bg1"/>
                          </a:solidFill>
                        </a:rPr>
                        <a:t>Software Requirement Specification</a:t>
                      </a:r>
                      <a:endParaRPr lang="zh-CN" altLang="en-US">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51438"/>
                  </a:ext>
                </a:extLst>
              </a:tr>
              <a:tr h="370840">
                <a:tc>
                  <a:txBody>
                    <a:bodyPr/>
                    <a:lstStyle/>
                    <a:p>
                      <a:r>
                        <a:rPr lang="en-US" altLang="zh-CN">
                          <a:solidFill>
                            <a:schemeClr val="bg1"/>
                          </a:solidFill>
                        </a:rPr>
                        <a:t>1. </a:t>
                      </a:r>
                      <a:r>
                        <a:rPr lang="zh-CN" altLang="en-US">
                          <a:solidFill>
                            <a:schemeClr val="bg1"/>
                          </a:solidFill>
                        </a:rPr>
                        <a:t>引言</a:t>
                      </a:r>
                    </a:p>
                    <a:p>
                      <a:r>
                        <a:rPr lang="zh-CN" altLang="en-US">
                          <a:solidFill>
                            <a:schemeClr val="bg1"/>
                          </a:solidFill>
                        </a:rPr>
                        <a:t>目的、范围、术语定义、参考文献</a:t>
                      </a: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50210945"/>
                  </a:ext>
                </a:extLst>
              </a:tr>
              <a:tr h="370840">
                <a:tc>
                  <a:txBody>
                    <a:bodyPr/>
                    <a:lstStyle/>
                    <a:p>
                      <a:r>
                        <a:rPr lang="en-US" altLang="zh-CN">
                          <a:solidFill>
                            <a:schemeClr val="bg1"/>
                          </a:solidFill>
                        </a:rPr>
                        <a:t>2. </a:t>
                      </a:r>
                      <a:r>
                        <a:rPr lang="zh-CN" altLang="en-US">
                          <a:solidFill>
                            <a:schemeClr val="bg1"/>
                          </a:solidFill>
                        </a:rPr>
                        <a:t>总体描述</a:t>
                      </a:r>
                    </a:p>
                    <a:p>
                      <a:r>
                        <a:rPr lang="zh-CN" altLang="en-US">
                          <a:solidFill>
                            <a:schemeClr val="bg1"/>
                          </a:solidFill>
                        </a:rPr>
                        <a:t>产品愿景、用户特征、运行环境、假设与依赖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47685735"/>
                  </a:ext>
                </a:extLst>
              </a:tr>
              <a:tr h="370840">
                <a:tc>
                  <a:txBody>
                    <a:bodyPr/>
                    <a:lstStyle/>
                    <a:p>
                      <a:r>
                        <a:rPr lang="en-US" altLang="zh-CN">
                          <a:solidFill>
                            <a:schemeClr val="bg1"/>
                          </a:solidFill>
                        </a:rPr>
                        <a:t>3. </a:t>
                      </a:r>
                      <a:r>
                        <a:rPr lang="zh-CN" altLang="en-US">
                          <a:solidFill>
                            <a:schemeClr val="bg1"/>
                          </a:solidFill>
                        </a:rPr>
                        <a:t>功能需求</a:t>
                      </a:r>
                    </a:p>
                    <a:p>
                      <a:r>
                        <a:rPr lang="zh-CN" altLang="en-US">
                          <a:solidFill>
                            <a:schemeClr val="bg1"/>
                          </a:solidFill>
                        </a:rPr>
                        <a:t>按模块划分，每个功能包含： * 功能编号 * 功能名称 * 描述 * 输入</a:t>
                      </a:r>
                      <a:r>
                        <a:rPr lang="en-US" altLang="zh-CN">
                          <a:solidFill>
                            <a:schemeClr val="bg1"/>
                          </a:solidFill>
                        </a:rPr>
                        <a:t>/</a:t>
                      </a:r>
                      <a:r>
                        <a:rPr lang="zh-CN" altLang="en-US">
                          <a:solidFill>
                            <a:schemeClr val="bg1"/>
                          </a:solidFill>
                        </a:rPr>
                        <a:t>输出 * 处理逻辑 * 异常处理</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28856406"/>
                  </a:ext>
                </a:extLst>
              </a:tr>
              <a:tr h="370840">
                <a:tc>
                  <a:txBody>
                    <a:bodyPr/>
                    <a:lstStyle/>
                    <a:p>
                      <a:r>
                        <a:rPr lang="en-US" altLang="zh-CN">
                          <a:solidFill>
                            <a:schemeClr val="bg1"/>
                          </a:solidFill>
                        </a:rPr>
                        <a:t>4. </a:t>
                      </a:r>
                      <a:r>
                        <a:rPr lang="zh-CN" altLang="en-US">
                          <a:solidFill>
                            <a:schemeClr val="bg1"/>
                          </a:solidFill>
                        </a:rPr>
                        <a:t>非功能需求</a:t>
                      </a:r>
                    </a:p>
                    <a:p>
                      <a:r>
                        <a:rPr lang="zh-CN" altLang="en-US">
                          <a:solidFill>
                            <a:schemeClr val="bg1"/>
                          </a:solidFill>
                        </a:rPr>
                        <a:t>性能、安全性、可用性、兼容性、可维护性等</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79039541"/>
                  </a:ext>
                </a:extLst>
              </a:tr>
              <a:tr h="370840">
                <a:tc>
                  <a:txBody>
                    <a:bodyPr/>
                    <a:lstStyle/>
                    <a:p>
                      <a:r>
                        <a:rPr lang="en-US" altLang="zh-CN">
                          <a:solidFill>
                            <a:schemeClr val="bg1"/>
                          </a:solidFill>
                        </a:rPr>
                        <a:t>5. </a:t>
                      </a:r>
                      <a:r>
                        <a:rPr lang="zh-CN" altLang="en-US">
                          <a:solidFill>
                            <a:schemeClr val="bg1"/>
                          </a:solidFill>
                        </a:rPr>
                        <a:t>数据需求</a:t>
                      </a:r>
                    </a:p>
                    <a:p>
                      <a:r>
                        <a:rPr lang="zh-CN" altLang="en-US">
                          <a:solidFill>
                            <a:schemeClr val="bg1"/>
                          </a:solidFill>
                        </a:rPr>
                        <a:t>数据字典、</a:t>
                      </a:r>
                      <a:r>
                        <a:rPr lang="en-US" altLang="zh-CN">
                          <a:solidFill>
                            <a:schemeClr val="bg1"/>
                          </a:solidFill>
                        </a:rPr>
                        <a:t>E-R </a:t>
                      </a:r>
                      <a:r>
                        <a:rPr lang="zh-CN" altLang="en-US">
                          <a:solidFill>
                            <a:schemeClr val="bg1"/>
                          </a:solidFill>
                        </a:rPr>
                        <a:t>图、数据流图</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3068504"/>
                  </a:ext>
                </a:extLst>
              </a:tr>
              <a:tr h="370840">
                <a:tc>
                  <a:txBody>
                    <a:bodyPr/>
                    <a:lstStyle/>
                    <a:p>
                      <a:r>
                        <a:rPr lang="en-US" altLang="zh-CN">
                          <a:solidFill>
                            <a:schemeClr val="bg1"/>
                          </a:solidFill>
                        </a:rPr>
                        <a:t>6. </a:t>
                      </a:r>
                      <a:r>
                        <a:rPr lang="zh-CN" altLang="en-US">
                          <a:solidFill>
                            <a:schemeClr val="bg1"/>
                          </a:solidFill>
                        </a:rPr>
                        <a:t>接口需求</a:t>
                      </a:r>
                    </a:p>
                    <a:p>
                      <a:r>
                        <a:rPr lang="zh-CN" altLang="en-US">
                          <a:solidFill>
                            <a:schemeClr val="bg1"/>
                          </a:solidFill>
                        </a:rPr>
                        <a:t>外部系统接口、硬件接口、通信协议</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1930958"/>
                  </a:ext>
                </a:extLst>
              </a:tr>
              <a:tr h="370840">
                <a:tc>
                  <a:txBody>
                    <a:bodyPr/>
                    <a:lstStyle/>
                    <a:p>
                      <a:r>
                        <a:rPr lang="en-US" altLang="zh-CN">
                          <a:solidFill>
                            <a:schemeClr val="bg1"/>
                          </a:solidFill>
                        </a:rPr>
                        <a:t>7. </a:t>
                      </a:r>
                      <a:r>
                        <a:rPr lang="zh-CN" altLang="en-US">
                          <a:solidFill>
                            <a:schemeClr val="bg1"/>
                          </a:solidFill>
                        </a:rPr>
                        <a:t>附录</a:t>
                      </a:r>
                      <a:endParaRPr lang="en-US" altLang="zh-CN">
                        <a:solidFill>
                          <a:schemeClr val="bg1"/>
                        </a:solidFill>
                      </a:endParaRPr>
                    </a:p>
                    <a:p>
                      <a:r>
                        <a:rPr lang="zh-CN" altLang="en-US">
                          <a:solidFill>
                            <a:schemeClr val="bg1"/>
                          </a:solidFill>
                        </a:rPr>
                        <a:t>用例图、活动图、原型截图、会议纪要等</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22323180"/>
                  </a:ext>
                </a:extLst>
              </a:tr>
            </a:tbl>
          </a:graphicData>
        </a:graphic>
      </p:graphicFrame>
    </p:spTree>
    <p:extLst>
      <p:ext uri="{BB962C8B-B14F-4D97-AF65-F5344CB8AC3E}">
        <p14:creationId xmlns:p14="http://schemas.microsoft.com/office/powerpoint/2010/main" val="397970695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ADC00-668F-232B-54C9-B3AB3B5354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11753F8-ADC5-BE1F-6EC5-150550309270}"/>
              </a:ext>
            </a:extLst>
          </p:cNvPr>
          <p:cNvSpPr>
            <a:spLocks noGrp="1"/>
          </p:cNvSpPr>
          <p:nvPr>
            <p:ph type="title"/>
          </p:nvPr>
        </p:nvSpPr>
        <p:spPr>
          <a:xfrm>
            <a:off x="695998" y="360000"/>
            <a:ext cx="6375921" cy="429413"/>
          </a:xfrm>
        </p:spPr>
        <p:txBody>
          <a:bodyPr/>
          <a:lstStyle/>
          <a:p>
            <a:r>
              <a:rPr lang="en-US" altLang="zh-CN"/>
              <a:t>1.2.4 </a:t>
            </a:r>
            <a:r>
              <a:rPr lang="zh-CN" altLang="en-US"/>
              <a:t>需求验证</a:t>
            </a:r>
          </a:p>
        </p:txBody>
      </p:sp>
      <p:graphicFrame>
        <p:nvGraphicFramePr>
          <p:cNvPr id="5" name="内容占位符 4">
            <a:extLst>
              <a:ext uri="{FF2B5EF4-FFF2-40B4-BE49-F238E27FC236}">
                <a16:creationId xmlns:a16="http://schemas.microsoft.com/office/drawing/2014/main" id="{94E48FC1-EA4A-68B4-B88E-A1CB4D5DEBCD}"/>
              </a:ext>
            </a:extLst>
          </p:cNvPr>
          <p:cNvGraphicFramePr>
            <a:graphicFrameLocks noGrp="1"/>
          </p:cNvGraphicFramePr>
          <p:nvPr>
            <p:ph idx="1"/>
            <p:extLst>
              <p:ext uri="{D42A27DB-BD31-4B8C-83A1-F6EECF244321}">
                <p14:modId xmlns:p14="http://schemas.microsoft.com/office/powerpoint/2010/main" val="2539519583"/>
              </p:ext>
            </p:extLst>
          </p:nvPr>
        </p:nvGraphicFramePr>
        <p:xfrm>
          <a:off x="695325" y="1124907"/>
          <a:ext cx="10800675" cy="4608186"/>
        </p:xfrm>
        <a:graphic>
          <a:graphicData uri="http://schemas.openxmlformats.org/drawingml/2006/table">
            <a:tbl>
              <a:tblPr/>
              <a:tblGrid>
                <a:gridCol w="2401837">
                  <a:extLst>
                    <a:ext uri="{9D8B030D-6E8A-4147-A177-3AD203B41FA5}">
                      <a16:colId xmlns:a16="http://schemas.microsoft.com/office/drawing/2014/main" val="3155584670"/>
                    </a:ext>
                  </a:extLst>
                </a:gridCol>
                <a:gridCol w="3539613">
                  <a:extLst>
                    <a:ext uri="{9D8B030D-6E8A-4147-A177-3AD203B41FA5}">
                      <a16:colId xmlns:a16="http://schemas.microsoft.com/office/drawing/2014/main" val="914284030"/>
                    </a:ext>
                  </a:extLst>
                </a:gridCol>
                <a:gridCol w="4859225">
                  <a:extLst>
                    <a:ext uri="{9D8B030D-6E8A-4147-A177-3AD203B41FA5}">
                      <a16:colId xmlns:a16="http://schemas.microsoft.com/office/drawing/2014/main" val="12435453"/>
                    </a:ext>
                  </a:extLst>
                </a:gridCol>
              </a:tblGrid>
              <a:tr h="0">
                <a:tc>
                  <a:txBody>
                    <a:bodyPr/>
                    <a:lstStyle/>
                    <a:p>
                      <a:pPr>
                        <a:buNone/>
                      </a:pPr>
                      <a:r>
                        <a:rPr lang="en-US" altLang="zh-CN" sz="1600">
                          <a:solidFill>
                            <a:schemeClr val="bg1"/>
                          </a:solidFill>
                        </a:rPr>
                        <a:t>Aspect</a:t>
                      </a:r>
                      <a:endParaRPr lang="zh-CN" altLang="en-US" sz="160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Tools</a:t>
                      </a:r>
                      <a:endParaRPr lang="zh-CN" altLang="en-US" sz="160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335777"/>
                  </a:ext>
                </a:extLst>
              </a:tr>
              <a:tr h="129354">
                <a:tc>
                  <a:txBody>
                    <a:bodyPr/>
                    <a:lstStyle/>
                    <a:p>
                      <a:pPr>
                        <a:buNone/>
                      </a:pPr>
                      <a:r>
                        <a:rPr lang="zh-CN" altLang="en-US" sz="1600">
                          <a:solidFill>
                            <a:schemeClr val="bg1"/>
                          </a:solidFill>
                        </a:rPr>
                        <a:t>正确性 </a:t>
                      </a:r>
                      <a:r>
                        <a:rPr lang="en-US" sz="1600">
                          <a:solidFill>
                            <a:schemeClr val="bg1"/>
                          </a:solidFill>
                        </a:rPr>
                        <a:t>Correctness</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需求是否准确反映用户真实意图？是否符合业务规则</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用户访谈确认、业务流程图比对</a:t>
                      </a:r>
                      <a:br>
                        <a:rPr lang="zh-CN" altLang="en-US" sz="1600">
                          <a:solidFill>
                            <a:schemeClr val="bg1"/>
                          </a:solidFill>
                        </a:rPr>
                      </a:br>
                      <a:r>
                        <a:rPr lang="zh-CN" altLang="en-US" sz="1600">
                          <a:solidFill>
                            <a:schemeClr val="bg1"/>
                          </a:solidFill>
                        </a:rPr>
                        <a:t>原型演示反馈</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8703945"/>
                  </a:ext>
                </a:extLst>
              </a:tr>
              <a:tr h="129354">
                <a:tc>
                  <a:txBody>
                    <a:bodyPr/>
                    <a:lstStyle/>
                    <a:p>
                      <a:pPr>
                        <a:buNone/>
                      </a:pPr>
                      <a:r>
                        <a:rPr lang="zh-CN" altLang="en-US" sz="1600">
                          <a:solidFill>
                            <a:schemeClr val="bg1"/>
                          </a:solidFill>
                        </a:rPr>
                        <a:t>完整性 </a:t>
                      </a:r>
                      <a:r>
                        <a:rPr lang="en-US" sz="1600">
                          <a:solidFill>
                            <a:schemeClr val="bg1"/>
                          </a:solidFill>
                        </a:rPr>
                        <a:t>Completeness</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是否覆盖所有功能、非功能、边界条件、异常场景</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需求追踪矩阵（</a:t>
                      </a:r>
                      <a:r>
                        <a:rPr lang="en-US" altLang="zh-CN" sz="1600">
                          <a:solidFill>
                            <a:schemeClr val="bg1"/>
                          </a:solidFill>
                        </a:rPr>
                        <a:t>RTM</a:t>
                      </a:r>
                      <a:r>
                        <a:rPr lang="zh-CN" altLang="en-US" sz="1600">
                          <a:solidFill>
                            <a:schemeClr val="bg1"/>
                          </a:solidFill>
                        </a:rPr>
                        <a:t>、用例全覆盖检查</a:t>
                      </a:r>
                      <a:br>
                        <a:rPr lang="zh-CN" altLang="en-US" sz="1600">
                          <a:solidFill>
                            <a:schemeClr val="bg1"/>
                          </a:solidFill>
                        </a:rPr>
                      </a:br>
                      <a:r>
                        <a:rPr lang="en-US" altLang="zh-CN" sz="1600">
                          <a:solidFill>
                            <a:schemeClr val="bg1"/>
                          </a:solidFill>
                        </a:rPr>
                        <a:t>FURPS+ </a:t>
                      </a:r>
                      <a:r>
                        <a:rPr lang="zh-CN" altLang="en-US" sz="1600">
                          <a:solidFill>
                            <a:schemeClr val="bg1"/>
                          </a:solidFill>
                        </a:rPr>
                        <a:t>模型对照</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0532725"/>
                  </a:ext>
                </a:extLst>
              </a:tr>
              <a:tr h="129354">
                <a:tc>
                  <a:txBody>
                    <a:bodyPr/>
                    <a:lstStyle/>
                    <a:p>
                      <a:pPr>
                        <a:buNone/>
                      </a:pPr>
                      <a:r>
                        <a:rPr lang="zh-CN" altLang="en-US" sz="1600">
                          <a:solidFill>
                            <a:schemeClr val="bg1"/>
                          </a:solidFill>
                        </a:rPr>
                        <a:t>一致性 </a:t>
                      </a:r>
                      <a:r>
                        <a:rPr lang="en-US" sz="1600">
                          <a:solidFill>
                            <a:schemeClr val="bg1"/>
                          </a:solidFill>
                        </a:rPr>
                        <a:t>Consistency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需求之间是否存在矛盾或冲突？术语是否统一</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需求交叉审查、术语表（</a:t>
                      </a:r>
                      <a:r>
                        <a:rPr lang="en-US" altLang="zh-CN" sz="1600">
                          <a:solidFill>
                            <a:schemeClr val="bg1"/>
                          </a:solidFill>
                        </a:rPr>
                        <a:t>Glossary</a:t>
                      </a:r>
                      <a:r>
                        <a:rPr lang="zh-CN" altLang="en-US" sz="1600">
                          <a:solidFill>
                            <a:schemeClr val="bg1"/>
                          </a:solidFill>
                        </a:rPr>
                        <a:t>）</a:t>
                      </a:r>
                      <a:br>
                        <a:rPr lang="zh-CN" altLang="en-US" sz="1600">
                          <a:solidFill>
                            <a:schemeClr val="bg1"/>
                          </a:solidFill>
                        </a:rPr>
                      </a:br>
                      <a:r>
                        <a:rPr lang="zh-CN" altLang="en-US" sz="1600">
                          <a:solidFill>
                            <a:schemeClr val="bg1"/>
                          </a:solidFill>
                        </a:rPr>
                        <a:t>自动化一致性检查工具</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02435104"/>
                  </a:ext>
                </a:extLst>
              </a:tr>
              <a:tr h="129354">
                <a:tc>
                  <a:txBody>
                    <a:bodyPr/>
                    <a:lstStyle/>
                    <a:p>
                      <a:pPr>
                        <a:buNone/>
                      </a:pPr>
                      <a:r>
                        <a:rPr lang="zh-CN" altLang="en-US" sz="1600">
                          <a:solidFill>
                            <a:schemeClr val="bg1"/>
                          </a:solidFill>
                        </a:rPr>
                        <a:t>可行性 </a:t>
                      </a:r>
                      <a:r>
                        <a:rPr lang="en-US" sz="1600">
                          <a:solidFill>
                            <a:schemeClr val="bg1"/>
                          </a:solidFill>
                        </a:rPr>
                        <a:t>Feasibility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技术上能否实现？成本</a:t>
                      </a:r>
                      <a:r>
                        <a:rPr lang="en-US" altLang="zh-CN" sz="1600">
                          <a:solidFill>
                            <a:schemeClr val="bg1"/>
                          </a:solidFill>
                        </a:rPr>
                        <a:t>/</a:t>
                      </a:r>
                      <a:r>
                        <a:rPr lang="zh-CN" altLang="en-US" sz="1600">
                          <a:solidFill>
                            <a:schemeClr val="bg1"/>
                          </a:solidFill>
                        </a:rPr>
                        <a:t>时间是否可控？避免“</a:t>
                      </a:r>
                      <a:r>
                        <a:rPr lang="zh-CN" altLang="en-US" sz="1600">
                          <a:solidFill>
                            <a:srgbClr val="FFFF00"/>
                          </a:solidFill>
                        </a:rPr>
                        <a:t>为了开发而开发</a:t>
                      </a:r>
                      <a:r>
                        <a:rPr lang="zh-CN" altLang="en-US" sz="1600">
                          <a:solidFill>
                            <a:schemeClr val="bg1"/>
                          </a:solidFill>
                        </a:rPr>
                        <a:t>”</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技术预研（</a:t>
                      </a:r>
                      <a:r>
                        <a:rPr lang="en-US" altLang="zh-CN" sz="1600">
                          <a:solidFill>
                            <a:schemeClr val="bg1"/>
                          </a:solidFill>
                        </a:rPr>
                        <a:t>PoC</a:t>
                      </a:r>
                      <a:r>
                        <a:rPr lang="zh-CN" altLang="en-US" sz="1600">
                          <a:solidFill>
                            <a:schemeClr val="bg1"/>
                          </a:solidFill>
                        </a:rPr>
                        <a:t>）、架构师评估</a:t>
                      </a:r>
                      <a:br>
                        <a:rPr lang="zh-CN" altLang="en-US" sz="1600">
                          <a:solidFill>
                            <a:schemeClr val="bg1"/>
                          </a:solidFill>
                        </a:rPr>
                      </a:br>
                      <a:r>
                        <a:rPr lang="en-US" altLang="zh-CN" sz="1600">
                          <a:solidFill>
                            <a:schemeClr val="bg1"/>
                          </a:solidFill>
                        </a:rPr>
                        <a:t>ROI </a:t>
                      </a:r>
                      <a:r>
                        <a:rPr lang="zh-CN" altLang="en-US" sz="1600">
                          <a:solidFill>
                            <a:schemeClr val="bg1"/>
                          </a:solidFill>
                        </a:rPr>
                        <a:t>分析</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6258700"/>
                  </a:ext>
                </a:extLst>
              </a:tr>
              <a:tr h="129354">
                <a:tc>
                  <a:txBody>
                    <a:bodyPr/>
                    <a:lstStyle/>
                    <a:p>
                      <a:pPr>
                        <a:buNone/>
                      </a:pPr>
                      <a:r>
                        <a:rPr lang="zh-CN" altLang="en-US" sz="1600">
                          <a:solidFill>
                            <a:schemeClr val="bg1"/>
                          </a:solidFill>
                        </a:rPr>
                        <a:t>必要性 </a:t>
                      </a:r>
                      <a:r>
                        <a:rPr lang="en-US" sz="1600">
                          <a:solidFill>
                            <a:schemeClr val="bg1"/>
                          </a:solidFill>
                        </a:rPr>
                        <a:t>Necessity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该需求是否真正影响核心价值？是否属于 </a:t>
                      </a:r>
                      <a:r>
                        <a:rPr lang="en-US" altLang="zh-CN" sz="1600">
                          <a:solidFill>
                            <a:schemeClr val="bg1"/>
                          </a:solidFill>
                        </a:rPr>
                        <a:t>MVP </a:t>
                      </a:r>
                      <a:r>
                        <a:rPr lang="zh-CN" altLang="en-US" sz="1600">
                          <a:solidFill>
                            <a:schemeClr val="bg1"/>
                          </a:solidFill>
                        </a:rPr>
                        <a:t>范围</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err="1">
                          <a:solidFill>
                            <a:schemeClr val="bg1"/>
                          </a:solidFill>
                        </a:rPr>
                        <a:t>MoSCoW</a:t>
                      </a:r>
                      <a:r>
                        <a:rPr lang="en-US" sz="1600">
                          <a:solidFill>
                            <a:schemeClr val="bg1"/>
                          </a:solidFill>
                        </a:rPr>
                        <a:t> </a:t>
                      </a:r>
                      <a:r>
                        <a:rPr lang="zh-CN" altLang="en-US" sz="1600">
                          <a:solidFill>
                            <a:schemeClr val="bg1"/>
                          </a:solidFill>
                        </a:rPr>
                        <a:t>优先级排序、</a:t>
                      </a:r>
                      <a:r>
                        <a:rPr lang="en-US" sz="1600">
                          <a:solidFill>
                            <a:schemeClr val="bg1"/>
                          </a:solidFill>
                        </a:rPr>
                        <a:t>Kano </a:t>
                      </a:r>
                      <a:r>
                        <a:rPr lang="zh-CN" altLang="en-US" sz="1600">
                          <a:solidFill>
                            <a:schemeClr val="bg1"/>
                          </a:solidFill>
                        </a:rPr>
                        <a:t>模型分析</a:t>
                      </a:r>
                      <a:br>
                        <a:rPr lang="zh-CN" altLang="en-US" sz="1600">
                          <a:solidFill>
                            <a:schemeClr val="bg1"/>
                          </a:solidFill>
                        </a:rPr>
                      </a:br>
                      <a:r>
                        <a:rPr lang="zh-CN" altLang="en-US" sz="1600">
                          <a:solidFill>
                            <a:schemeClr val="bg1"/>
                          </a:solidFill>
                        </a:rPr>
                        <a:t>业务价值映射</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0193635"/>
                  </a:ext>
                </a:extLst>
              </a:tr>
              <a:tr h="129354">
                <a:tc>
                  <a:txBody>
                    <a:bodyPr/>
                    <a:lstStyle/>
                    <a:p>
                      <a:pPr>
                        <a:buNone/>
                      </a:pPr>
                      <a:r>
                        <a:rPr lang="zh-CN" altLang="en-US" sz="1600">
                          <a:solidFill>
                            <a:schemeClr val="bg1"/>
                          </a:solidFill>
                        </a:rPr>
                        <a:t>可检验性 </a:t>
                      </a:r>
                      <a:r>
                        <a:rPr lang="en-US" sz="1600">
                          <a:solidFill>
                            <a:schemeClr val="bg1"/>
                          </a:solidFill>
                        </a:rPr>
                        <a:t>Verifiability </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是否能通过测试证明其被满足？是否有明确验收标准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Acceptance Criteria </a:t>
                      </a:r>
                      <a:r>
                        <a:rPr lang="zh-CN" altLang="en-US" sz="1600">
                          <a:solidFill>
                            <a:schemeClr val="bg1"/>
                          </a:solidFill>
                        </a:rPr>
                        <a:t>编写、</a:t>
                      </a:r>
                      <a:r>
                        <a:rPr lang="en-US" sz="1600">
                          <a:solidFill>
                            <a:schemeClr val="bg1"/>
                          </a:solidFill>
                        </a:rPr>
                        <a:t>Gherkin </a:t>
                      </a:r>
                      <a:r>
                        <a:rPr lang="zh-CN" altLang="en-US" sz="1600">
                          <a:solidFill>
                            <a:schemeClr val="bg1"/>
                          </a:solidFill>
                        </a:rPr>
                        <a:t>语法</a:t>
                      </a:r>
                      <a:br>
                        <a:rPr lang="en-US" sz="1600">
                          <a:solidFill>
                            <a:schemeClr val="bg1"/>
                          </a:solidFill>
                        </a:rPr>
                      </a:br>
                      <a:r>
                        <a:rPr lang="zh-CN" altLang="en-US" sz="1600">
                          <a:solidFill>
                            <a:schemeClr val="bg1"/>
                          </a:solidFill>
                        </a:rPr>
                        <a:t>测试用例前置评审</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14944801"/>
                  </a:ext>
                </a:extLst>
              </a:tr>
              <a:tr h="129354">
                <a:tc>
                  <a:txBody>
                    <a:bodyPr/>
                    <a:lstStyle/>
                    <a:p>
                      <a:pPr>
                        <a:buNone/>
                      </a:pPr>
                      <a:r>
                        <a:rPr lang="zh-CN" altLang="en-US" sz="1600">
                          <a:solidFill>
                            <a:schemeClr val="bg1"/>
                          </a:solidFill>
                        </a:rPr>
                        <a:t>可跟踪性 </a:t>
                      </a:r>
                      <a:r>
                        <a:rPr lang="en-US" sz="1600">
                          <a:solidFill>
                            <a:schemeClr val="bg1"/>
                          </a:solidFill>
                        </a:rPr>
                        <a:t>Traceability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需求能否</a:t>
                      </a:r>
                      <a:r>
                        <a:rPr lang="zh-CN" altLang="en-US" sz="1600">
                          <a:solidFill>
                            <a:srgbClr val="FFFF00"/>
                          </a:solidFill>
                        </a:rPr>
                        <a:t>溯源</a:t>
                      </a:r>
                      <a:r>
                        <a:rPr lang="zh-CN" altLang="en-US" sz="1600">
                          <a:solidFill>
                            <a:schemeClr val="bg1"/>
                          </a:solidFill>
                        </a:rPr>
                        <a:t>，并向下关联设计、代码、测试</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需求追踪矩阵 </a:t>
                      </a:r>
                      <a:r>
                        <a:rPr lang="en-US" sz="1600">
                          <a:solidFill>
                            <a:srgbClr val="FFFF00"/>
                          </a:solidFill>
                        </a:rPr>
                        <a:t>RTM</a:t>
                      </a:r>
                      <a:r>
                        <a:rPr lang="zh-CN" altLang="en-US" sz="1600">
                          <a:solidFill>
                            <a:schemeClr val="bg1"/>
                          </a:solidFill>
                        </a:rPr>
                        <a:t>、</a:t>
                      </a:r>
                      <a:r>
                        <a:rPr lang="en-US" altLang="zh-CN" sz="1600">
                          <a:solidFill>
                            <a:schemeClr val="bg1"/>
                          </a:solidFill>
                        </a:rPr>
                        <a:t>Jira/TAPD </a:t>
                      </a:r>
                      <a:r>
                        <a:rPr lang="zh-CN" altLang="en-US" sz="1600">
                          <a:solidFill>
                            <a:schemeClr val="bg1"/>
                          </a:solidFill>
                        </a:rPr>
                        <a:t>等工具链路</a:t>
                      </a:r>
                      <a:br>
                        <a:rPr lang="en-US" sz="1600">
                          <a:solidFill>
                            <a:schemeClr val="bg1"/>
                          </a:solidFill>
                        </a:rPr>
                      </a:br>
                      <a:r>
                        <a:rPr lang="en-US" sz="1600">
                          <a:solidFill>
                            <a:srgbClr val="FFFF00"/>
                          </a:solidFill>
                        </a:rPr>
                        <a:t>Git</a:t>
                      </a:r>
                      <a:r>
                        <a:rPr lang="en-US" sz="1600">
                          <a:solidFill>
                            <a:schemeClr val="bg1"/>
                          </a:solidFill>
                        </a:rPr>
                        <a:t>/</a:t>
                      </a:r>
                      <a:r>
                        <a:rPr lang="en-US" sz="1600">
                          <a:solidFill>
                            <a:srgbClr val="FFFF00"/>
                          </a:solidFill>
                        </a:rPr>
                        <a:t>GitHub</a:t>
                      </a:r>
                      <a:r>
                        <a:rPr lang="en-US" sz="1600">
                          <a:solidFill>
                            <a:schemeClr val="bg1"/>
                          </a:solidFill>
                        </a:rPr>
                        <a:t> </a:t>
                      </a:r>
                      <a:r>
                        <a:rPr lang="zh-CN" altLang="en-US" sz="1600">
                          <a:solidFill>
                            <a:schemeClr val="bg1"/>
                          </a:solidFill>
                        </a:rPr>
                        <a:t>版本控制 </a:t>
                      </a:r>
                      <a:r>
                        <a:rPr lang="en-US" altLang="zh-CN" sz="1600">
                          <a:solidFill>
                            <a:schemeClr val="bg1"/>
                          </a:solidFill>
                        </a:rPr>
                        <a:t>+ </a:t>
                      </a:r>
                      <a:r>
                        <a:rPr lang="en-US" sz="1600">
                          <a:solidFill>
                            <a:schemeClr val="bg1"/>
                          </a:solidFill>
                        </a:rPr>
                        <a:t>Commit Message </a:t>
                      </a:r>
                      <a:r>
                        <a:rPr lang="zh-CN" altLang="en-US" sz="1600">
                          <a:solidFill>
                            <a:schemeClr val="bg1"/>
                          </a:solidFill>
                        </a:rPr>
                        <a:t>规范</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2333913"/>
                  </a:ext>
                </a:extLst>
              </a:tr>
              <a:tr h="129354">
                <a:tc>
                  <a:txBody>
                    <a:bodyPr/>
                    <a:lstStyle/>
                    <a:p>
                      <a:pPr>
                        <a:buNone/>
                      </a:pPr>
                      <a:r>
                        <a:rPr lang="zh-CN" altLang="en-US" sz="1600">
                          <a:solidFill>
                            <a:schemeClr val="bg1"/>
                          </a:solidFill>
                        </a:rPr>
                        <a:t>签字确认 </a:t>
                      </a:r>
                      <a:r>
                        <a:rPr lang="en-US" sz="1600">
                          <a:solidFill>
                            <a:schemeClr val="bg1"/>
                          </a:solidFill>
                        </a:rPr>
                        <a:t>Sign-off</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所有关键干系人（产品、开发、测试、客户）是否正式批准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电子签名系统、会议评审纪要 </a:t>
                      </a:r>
                      <a:r>
                        <a:rPr lang="en-US" altLang="zh-CN" sz="1600">
                          <a:solidFill>
                            <a:schemeClr val="bg1"/>
                          </a:solidFill>
                        </a:rPr>
                        <a:t>+ </a:t>
                      </a:r>
                      <a:r>
                        <a:rPr lang="zh-CN" altLang="en-US" sz="1600">
                          <a:solidFill>
                            <a:schemeClr val="bg1"/>
                          </a:solidFill>
                        </a:rPr>
                        <a:t>邮件确认</a:t>
                      </a:r>
                      <a:br>
                        <a:rPr lang="zh-CN" altLang="en-US" sz="1600">
                          <a:solidFill>
                            <a:schemeClr val="bg1"/>
                          </a:solidFill>
                        </a:rPr>
                      </a:br>
                      <a:r>
                        <a:rPr lang="zh-CN" altLang="en-US" sz="1600">
                          <a:solidFill>
                            <a:schemeClr val="bg1"/>
                          </a:solidFill>
                        </a:rPr>
                        <a:t>项目管理系统中的“批准”状态</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555883"/>
                  </a:ext>
                </a:extLst>
              </a:tr>
            </a:tbl>
          </a:graphicData>
        </a:graphic>
      </p:graphicFrame>
      <p:sp>
        <p:nvSpPr>
          <p:cNvPr id="4" name="文本占位符 3">
            <a:extLst>
              <a:ext uri="{FF2B5EF4-FFF2-40B4-BE49-F238E27FC236}">
                <a16:creationId xmlns:a16="http://schemas.microsoft.com/office/drawing/2014/main" id="{93375026-EC7D-5373-3793-5E3779A3EDE9}"/>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4978927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7BDCF-099C-2B4C-5648-DDED6DADDB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BE8222B-9DEE-35BF-DE89-71A367132293}"/>
              </a:ext>
            </a:extLst>
          </p:cNvPr>
          <p:cNvSpPr>
            <a:spLocks noGrp="1"/>
          </p:cNvSpPr>
          <p:nvPr>
            <p:ph type="title"/>
          </p:nvPr>
        </p:nvSpPr>
        <p:spPr>
          <a:xfrm>
            <a:off x="695998" y="360000"/>
            <a:ext cx="6375921" cy="429413"/>
          </a:xfrm>
        </p:spPr>
        <p:txBody>
          <a:bodyPr/>
          <a:lstStyle/>
          <a:p>
            <a:r>
              <a:rPr lang="en-US" altLang="zh-CN"/>
              <a:t>1.2.5 </a:t>
            </a:r>
            <a:r>
              <a:rPr lang="zh-CN" altLang="en-US"/>
              <a:t>需求变更</a:t>
            </a:r>
          </a:p>
        </p:txBody>
      </p:sp>
      <p:sp>
        <p:nvSpPr>
          <p:cNvPr id="3" name="内容占位符 2">
            <a:extLst>
              <a:ext uri="{FF2B5EF4-FFF2-40B4-BE49-F238E27FC236}">
                <a16:creationId xmlns:a16="http://schemas.microsoft.com/office/drawing/2014/main" id="{E84D42A3-DE25-D4F8-B6AC-DDE93412782F}"/>
              </a:ext>
            </a:extLst>
          </p:cNvPr>
          <p:cNvSpPr>
            <a:spLocks noGrp="1"/>
          </p:cNvSpPr>
          <p:nvPr>
            <p:ph idx="1"/>
          </p:nvPr>
        </p:nvSpPr>
        <p:spPr>
          <a:xfrm>
            <a:off x="696000" y="864000"/>
            <a:ext cx="10800000" cy="5400000"/>
          </a:xfrm>
        </p:spPr>
        <p:txBody>
          <a:bodyPr/>
          <a:lstStyle/>
          <a:p>
            <a:r>
              <a:rPr lang="zh-CN" altLang="en-US"/>
              <a:t>客观存在：对事务的认知</a:t>
            </a:r>
            <a:r>
              <a:rPr lang="zh-CN" altLang="en-US">
                <a:solidFill>
                  <a:srgbClr val="FFFF00"/>
                </a:solidFill>
              </a:rPr>
              <a:t>由浅入深</a:t>
            </a:r>
            <a:r>
              <a:rPr lang="zh-CN" altLang="en-US"/>
              <a:t>、</a:t>
            </a:r>
            <a:r>
              <a:rPr lang="zh-CN" altLang="en-US">
                <a:solidFill>
                  <a:srgbClr val="FFFF00"/>
                </a:solidFill>
              </a:rPr>
              <a:t>逐步深入</a:t>
            </a:r>
            <a:r>
              <a:rPr lang="zh-CN" altLang="en-US"/>
              <a:t>、</a:t>
            </a:r>
            <a:r>
              <a:rPr lang="zh-CN" altLang="en-US">
                <a:solidFill>
                  <a:srgbClr val="FFFF00"/>
                </a:solidFill>
              </a:rPr>
              <a:t>逐步明晰</a:t>
            </a:r>
            <a:endParaRPr lang="en-US" altLang="zh-CN">
              <a:solidFill>
                <a:srgbClr val="FFFF00"/>
              </a:solidFill>
            </a:endParaRPr>
          </a:p>
          <a:p>
            <a:r>
              <a:rPr lang="zh-CN" altLang="en-US"/>
              <a:t>正视并接受</a:t>
            </a:r>
            <a:endParaRPr lang="en-US" altLang="zh-CN"/>
          </a:p>
          <a:p>
            <a:r>
              <a:rPr lang="zh-CN" altLang="en-US"/>
              <a:t>由变更控制委员会</a:t>
            </a:r>
            <a:r>
              <a:rPr lang="en-US" altLang="zh-CN"/>
              <a:t>SCCB(Software  Change Control Board)</a:t>
            </a:r>
            <a:r>
              <a:rPr lang="zh-CN" altLang="en-US"/>
              <a:t>审核并确定</a:t>
            </a:r>
            <a:endParaRPr lang="en-US" altLang="zh-CN"/>
          </a:p>
          <a:p>
            <a:r>
              <a:rPr lang="zh-CN" altLang="en-US"/>
              <a:t>主要工作</a:t>
            </a:r>
            <a:endParaRPr lang="en-US" altLang="zh-CN"/>
          </a:p>
          <a:p>
            <a:pPr lvl="1"/>
            <a:r>
              <a:rPr lang="zh-CN" altLang="en-US"/>
              <a:t>建立需求基线 </a:t>
            </a:r>
            <a:r>
              <a:rPr lang="en-US" altLang="zh-CN"/>
              <a:t>Requirement Baseline</a:t>
            </a:r>
          </a:p>
          <a:p>
            <a:pPr lvl="1"/>
            <a:r>
              <a:rPr lang="zh-CN" altLang="en-US"/>
              <a:t>确定需求变更过程</a:t>
            </a:r>
            <a:endParaRPr lang="en-US" altLang="zh-CN"/>
          </a:p>
          <a:p>
            <a:pPr lvl="1"/>
            <a:r>
              <a:rPr lang="zh-CN" altLang="en-US"/>
              <a:t>建立变更控制委员会 </a:t>
            </a:r>
            <a:r>
              <a:rPr lang="en-US" altLang="zh-CN">
                <a:hlinkClick r:id="rId3"/>
              </a:rPr>
              <a:t>SCCB</a:t>
            </a:r>
            <a:endParaRPr lang="en-US" altLang="zh-CN"/>
          </a:p>
          <a:p>
            <a:pPr lvl="1"/>
            <a:r>
              <a:rPr lang="zh-CN" altLang="en-US"/>
              <a:t>进行变更影响分析</a:t>
            </a:r>
            <a:endParaRPr lang="en-US" altLang="zh-CN"/>
          </a:p>
          <a:p>
            <a:pPr lvl="1"/>
            <a:r>
              <a:rPr lang="zh-CN" altLang="en-US"/>
              <a:t>跟踪受影响的部分</a:t>
            </a:r>
            <a:endParaRPr lang="en-US" altLang="zh-CN"/>
          </a:p>
          <a:p>
            <a:pPr lvl="1"/>
            <a:r>
              <a:rPr lang="zh-CN" altLang="en-US"/>
              <a:t>建立变更记录</a:t>
            </a:r>
            <a:endParaRPr lang="en-US" altLang="zh-CN"/>
          </a:p>
          <a:p>
            <a:pPr lvl="1"/>
            <a:r>
              <a:rPr lang="zh-CN" altLang="en-US"/>
              <a:t>跟踪状态衡量稳定</a:t>
            </a:r>
            <a:endParaRPr lang="en-US" altLang="zh-CN"/>
          </a:p>
          <a:p>
            <a:pPr lvl="1"/>
            <a:endParaRPr lang="zh-CN" altLang="en-US"/>
          </a:p>
        </p:txBody>
      </p:sp>
      <p:sp>
        <p:nvSpPr>
          <p:cNvPr id="4" name="文本占位符 3">
            <a:extLst>
              <a:ext uri="{FF2B5EF4-FFF2-40B4-BE49-F238E27FC236}">
                <a16:creationId xmlns:a16="http://schemas.microsoft.com/office/drawing/2014/main" id="{62B371E0-993C-6225-64CC-403DEEF5124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85101994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179F8868-9064-B42D-B206-D1E063593182}"/>
              </a:ext>
            </a:extLst>
          </p:cNvPr>
          <p:cNvSpPr/>
          <p:nvPr/>
        </p:nvSpPr>
        <p:spPr>
          <a:xfrm>
            <a:off x="5592479" y="501445"/>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需求分析方法</a:t>
            </a:r>
          </a:p>
        </p:txBody>
      </p:sp>
      <p:sp>
        <p:nvSpPr>
          <p:cNvPr id="7" name="矩形: 圆角 6">
            <a:extLst>
              <a:ext uri="{FF2B5EF4-FFF2-40B4-BE49-F238E27FC236}">
                <a16:creationId xmlns:a16="http://schemas.microsoft.com/office/drawing/2014/main" id="{8AA2A745-2656-1994-7370-89EA19D4711D}"/>
              </a:ext>
            </a:extLst>
          </p:cNvPr>
          <p:cNvSpPr/>
          <p:nvPr/>
        </p:nvSpPr>
        <p:spPr>
          <a:xfrm>
            <a:off x="2820816" y="1572851"/>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传统需求分析方法</a:t>
            </a:r>
          </a:p>
        </p:txBody>
      </p:sp>
      <p:sp>
        <p:nvSpPr>
          <p:cNvPr id="8" name="矩形: 圆角 7">
            <a:extLst>
              <a:ext uri="{FF2B5EF4-FFF2-40B4-BE49-F238E27FC236}">
                <a16:creationId xmlns:a16="http://schemas.microsoft.com/office/drawing/2014/main" id="{B8A46783-418A-B419-A532-7121BE01247C}"/>
              </a:ext>
            </a:extLst>
          </p:cNvPr>
          <p:cNvSpPr/>
          <p:nvPr/>
        </p:nvSpPr>
        <p:spPr>
          <a:xfrm>
            <a:off x="8364142" y="1572851"/>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敏捷需求分析方法</a:t>
            </a:r>
          </a:p>
        </p:txBody>
      </p:sp>
      <p:sp>
        <p:nvSpPr>
          <p:cNvPr id="9" name="矩形: 圆角 8">
            <a:extLst>
              <a:ext uri="{FF2B5EF4-FFF2-40B4-BE49-F238E27FC236}">
                <a16:creationId xmlns:a16="http://schemas.microsoft.com/office/drawing/2014/main" id="{9262A569-7822-3DD3-013E-56564334050D}"/>
              </a:ext>
            </a:extLst>
          </p:cNvPr>
          <p:cNvSpPr/>
          <p:nvPr/>
        </p:nvSpPr>
        <p:spPr>
          <a:xfrm>
            <a:off x="1016596" y="2819400"/>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基于数据流</a:t>
            </a:r>
          </a:p>
        </p:txBody>
      </p:sp>
      <p:sp>
        <p:nvSpPr>
          <p:cNvPr id="10" name="矩形: 圆角 9">
            <a:extLst>
              <a:ext uri="{FF2B5EF4-FFF2-40B4-BE49-F238E27FC236}">
                <a16:creationId xmlns:a16="http://schemas.microsoft.com/office/drawing/2014/main" id="{2C6F5B37-10B1-3FD8-CC8E-B73AC6FF2862}"/>
              </a:ext>
            </a:extLst>
          </p:cNvPr>
          <p:cNvSpPr/>
          <p:nvPr/>
        </p:nvSpPr>
        <p:spPr>
          <a:xfrm>
            <a:off x="4625035" y="2819400"/>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基于</a:t>
            </a:r>
            <a:r>
              <a:rPr lang="en-US" altLang="zh-CN" sz="1400">
                <a:solidFill>
                  <a:schemeClr val="bg1"/>
                </a:solidFill>
              </a:rPr>
              <a:t>UML</a:t>
            </a:r>
            <a:endParaRPr lang="zh-CN" altLang="en-US" sz="1400">
              <a:solidFill>
                <a:schemeClr val="bg1"/>
              </a:solidFill>
            </a:endParaRPr>
          </a:p>
        </p:txBody>
      </p:sp>
      <p:cxnSp>
        <p:nvCxnSpPr>
          <p:cNvPr id="12" name="连接符: 肘形 11">
            <a:extLst>
              <a:ext uri="{FF2B5EF4-FFF2-40B4-BE49-F238E27FC236}">
                <a16:creationId xmlns:a16="http://schemas.microsoft.com/office/drawing/2014/main" id="{E85A3736-4AD7-9A99-0BDF-6711BB3C373C}"/>
              </a:ext>
            </a:extLst>
          </p:cNvPr>
          <p:cNvCxnSpPr>
            <a:cxnSpLocks/>
            <a:stCxn id="7" idx="1"/>
            <a:endCxn id="9" idx="0"/>
          </p:cNvCxnSpPr>
          <p:nvPr/>
        </p:nvCxnSpPr>
        <p:spPr>
          <a:xfrm rot="10800000" flipV="1">
            <a:off x="1916596" y="1788850"/>
            <a:ext cx="904220" cy="1030549"/>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FB6D64F2-F518-344A-D596-6EEB039076A4}"/>
              </a:ext>
            </a:extLst>
          </p:cNvPr>
          <p:cNvCxnSpPr>
            <a:cxnSpLocks/>
            <a:stCxn id="7" idx="3"/>
            <a:endCxn id="10" idx="0"/>
          </p:cNvCxnSpPr>
          <p:nvPr/>
        </p:nvCxnSpPr>
        <p:spPr>
          <a:xfrm>
            <a:off x="4620816" y="1788851"/>
            <a:ext cx="904219" cy="1030549"/>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1EA42520-07D1-0C5C-2E5A-452F83D6FCE0}"/>
              </a:ext>
            </a:extLst>
          </p:cNvPr>
          <p:cNvSpPr/>
          <p:nvPr/>
        </p:nvSpPr>
        <p:spPr>
          <a:xfrm>
            <a:off x="1016596" y="3438525"/>
            <a:ext cx="288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系统流程图 </a:t>
            </a:r>
            <a:r>
              <a:rPr lang="en-US" altLang="zh-CN" sz="1400">
                <a:solidFill>
                  <a:schemeClr val="bg1"/>
                </a:solidFill>
              </a:rPr>
              <a:t>System Flowchart</a:t>
            </a:r>
            <a:endParaRPr lang="zh-CN" altLang="en-US" sz="1400">
              <a:solidFill>
                <a:schemeClr val="bg1"/>
              </a:solidFill>
            </a:endParaRPr>
          </a:p>
        </p:txBody>
      </p:sp>
      <p:sp>
        <p:nvSpPr>
          <p:cNvPr id="16" name="矩形: 圆角 15">
            <a:extLst>
              <a:ext uri="{FF2B5EF4-FFF2-40B4-BE49-F238E27FC236}">
                <a16:creationId xmlns:a16="http://schemas.microsoft.com/office/drawing/2014/main" id="{5764132A-ABCB-CECA-B693-F4882887E790}"/>
              </a:ext>
            </a:extLst>
          </p:cNvPr>
          <p:cNvSpPr/>
          <p:nvPr/>
        </p:nvSpPr>
        <p:spPr>
          <a:xfrm>
            <a:off x="1016596" y="3984833"/>
            <a:ext cx="288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数据流 </a:t>
            </a:r>
            <a:r>
              <a:rPr lang="en-US" altLang="zh-CN" sz="1400">
                <a:solidFill>
                  <a:schemeClr val="bg1"/>
                </a:solidFill>
              </a:rPr>
              <a:t>Data Flow Diagram</a:t>
            </a:r>
            <a:endParaRPr lang="zh-CN" altLang="en-US" sz="1400">
              <a:solidFill>
                <a:schemeClr val="bg1"/>
              </a:solidFill>
            </a:endParaRPr>
          </a:p>
        </p:txBody>
      </p:sp>
      <p:sp>
        <p:nvSpPr>
          <p:cNvPr id="17" name="文本框 16">
            <a:extLst>
              <a:ext uri="{FF2B5EF4-FFF2-40B4-BE49-F238E27FC236}">
                <a16:creationId xmlns:a16="http://schemas.microsoft.com/office/drawing/2014/main" id="{683F1ED6-5EF7-7DAE-BED2-BDC31C147A38}"/>
              </a:ext>
            </a:extLst>
          </p:cNvPr>
          <p:cNvSpPr txBox="1"/>
          <p:nvPr/>
        </p:nvSpPr>
        <p:spPr>
          <a:xfrm>
            <a:off x="2669935" y="4525296"/>
            <a:ext cx="902811" cy="307777"/>
          </a:xfrm>
          <a:prstGeom prst="rect">
            <a:avLst/>
          </a:prstGeom>
          <a:noFill/>
        </p:spPr>
        <p:txBody>
          <a:bodyPr wrap="none" rtlCol="0">
            <a:spAutoFit/>
          </a:bodyPr>
          <a:lstStyle/>
          <a:p>
            <a:r>
              <a:rPr lang="zh-CN" altLang="en-US" sz="1400">
                <a:solidFill>
                  <a:schemeClr val="bg1"/>
                </a:solidFill>
              </a:rPr>
              <a:t>数据词典</a:t>
            </a:r>
          </a:p>
        </p:txBody>
      </p:sp>
      <p:cxnSp>
        <p:nvCxnSpPr>
          <p:cNvPr id="25" name="连接符: 肘形 24">
            <a:extLst>
              <a:ext uri="{FF2B5EF4-FFF2-40B4-BE49-F238E27FC236}">
                <a16:creationId xmlns:a16="http://schemas.microsoft.com/office/drawing/2014/main" id="{55A99DA7-19C1-A104-7018-836F25C3A15F}"/>
              </a:ext>
            </a:extLst>
          </p:cNvPr>
          <p:cNvCxnSpPr>
            <a:cxnSpLocks/>
            <a:stCxn id="16" idx="2"/>
            <a:endCxn id="17" idx="1"/>
          </p:cNvCxnSpPr>
          <p:nvPr/>
        </p:nvCxnSpPr>
        <p:spPr>
          <a:xfrm rot="16200000" flipH="1">
            <a:off x="2432089" y="4441339"/>
            <a:ext cx="262352" cy="213339"/>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A22A1B8B-396C-FE80-5C67-B050FA23AE00}"/>
              </a:ext>
            </a:extLst>
          </p:cNvPr>
          <p:cNvCxnSpPr>
            <a:stCxn id="5" idx="1"/>
            <a:endCxn id="7" idx="0"/>
          </p:cNvCxnSpPr>
          <p:nvPr/>
        </p:nvCxnSpPr>
        <p:spPr>
          <a:xfrm rot="10800000" flipV="1">
            <a:off x="3720817" y="717445"/>
            <a:ext cx="1871663" cy="85540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22A94693-4798-D6A2-628A-2023A3357651}"/>
              </a:ext>
            </a:extLst>
          </p:cNvPr>
          <p:cNvCxnSpPr>
            <a:stCxn id="5" idx="3"/>
            <a:endCxn id="8" idx="0"/>
          </p:cNvCxnSpPr>
          <p:nvPr/>
        </p:nvCxnSpPr>
        <p:spPr>
          <a:xfrm>
            <a:off x="7392479" y="717445"/>
            <a:ext cx="1871663" cy="85540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3BA5256F-D6B0-14BB-889D-C10C72C8184E}"/>
              </a:ext>
            </a:extLst>
          </p:cNvPr>
          <p:cNvCxnSpPr>
            <a:cxnSpLocks/>
            <a:stCxn id="9" idx="1"/>
            <a:endCxn id="34" idx="2"/>
          </p:cNvCxnSpPr>
          <p:nvPr/>
        </p:nvCxnSpPr>
        <p:spPr>
          <a:xfrm rot="10800000" flipV="1">
            <a:off x="783562" y="3035399"/>
            <a:ext cx="233034" cy="892279"/>
          </a:xfrm>
          <a:prstGeom prst="bentConnector3">
            <a:avLst>
              <a:gd name="adj1" fmla="val 198097"/>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4" name="椭圆 33">
            <a:extLst>
              <a:ext uri="{FF2B5EF4-FFF2-40B4-BE49-F238E27FC236}">
                <a16:creationId xmlns:a16="http://schemas.microsoft.com/office/drawing/2014/main" id="{5E35368F-C7E4-785F-7D5F-0A88D1C45DD3}"/>
              </a:ext>
            </a:extLst>
          </p:cNvPr>
          <p:cNvSpPr/>
          <p:nvPr/>
        </p:nvSpPr>
        <p:spPr>
          <a:xfrm>
            <a:off x="783562" y="3909679"/>
            <a:ext cx="36000" cy="36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39" name="矩形: 圆角 38">
            <a:extLst>
              <a:ext uri="{FF2B5EF4-FFF2-40B4-BE49-F238E27FC236}">
                <a16:creationId xmlns:a16="http://schemas.microsoft.com/office/drawing/2014/main" id="{43CA4D45-39C3-49CE-9423-B5BFDEDCCB52}"/>
              </a:ext>
            </a:extLst>
          </p:cNvPr>
          <p:cNvSpPr/>
          <p:nvPr/>
        </p:nvSpPr>
        <p:spPr>
          <a:xfrm>
            <a:off x="4617109" y="3438525"/>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用例图 </a:t>
            </a:r>
            <a:r>
              <a:rPr lang="en-US" altLang="zh-CN" sz="1400">
                <a:solidFill>
                  <a:schemeClr val="bg1"/>
                </a:solidFill>
              </a:rPr>
              <a:t>Use Case</a:t>
            </a:r>
            <a:endParaRPr lang="zh-CN" altLang="en-US" sz="1400">
              <a:solidFill>
                <a:schemeClr val="bg1"/>
              </a:solidFill>
            </a:endParaRPr>
          </a:p>
        </p:txBody>
      </p:sp>
      <p:sp>
        <p:nvSpPr>
          <p:cNvPr id="40" name="矩形: 圆角 39">
            <a:extLst>
              <a:ext uri="{FF2B5EF4-FFF2-40B4-BE49-F238E27FC236}">
                <a16:creationId xmlns:a16="http://schemas.microsoft.com/office/drawing/2014/main" id="{782E889C-F799-D4A3-C911-5B5E7CE723E1}"/>
              </a:ext>
            </a:extLst>
          </p:cNvPr>
          <p:cNvSpPr/>
          <p:nvPr/>
        </p:nvSpPr>
        <p:spPr>
          <a:xfrm>
            <a:off x="4617109" y="3984833"/>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活动图 </a:t>
            </a:r>
            <a:r>
              <a:rPr lang="en-US" altLang="zh-CN" sz="1400">
                <a:solidFill>
                  <a:schemeClr val="bg1"/>
                </a:solidFill>
              </a:rPr>
              <a:t>Activity</a:t>
            </a:r>
            <a:endParaRPr lang="zh-CN" altLang="en-US" sz="1400">
              <a:solidFill>
                <a:schemeClr val="bg1"/>
              </a:solidFill>
            </a:endParaRPr>
          </a:p>
        </p:txBody>
      </p:sp>
      <p:cxnSp>
        <p:nvCxnSpPr>
          <p:cNvPr id="44" name="连接符: 肘形 43">
            <a:extLst>
              <a:ext uri="{FF2B5EF4-FFF2-40B4-BE49-F238E27FC236}">
                <a16:creationId xmlns:a16="http://schemas.microsoft.com/office/drawing/2014/main" id="{E9AF0839-70B5-9607-51F1-56B02A624B29}"/>
              </a:ext>
            </a:extLst>
          </p:cNvPr>
          <p:cNvCxnSpPr>
            <a:cxnSpLocks/>
            <a:stCxn id="10" idx="1"/>
            <a:endCxn id="45" idx="2"/>
          </p:cNvCxnSpPr>
          <p:nvPr/>
        </p:nvCxnSpPr>
        <p:spPr>
          <a:xfrm rot="10800000" flipV="1">
            <a:off x="4384075" y="3035400"/>
            <a:ext cx="240960" cy="1432742"/>
          </a:xfrm>
          <a:prstGeom prst="bentConnector3">
            <a:avLst>
              <a:gd name="adj1" fmla="val 19487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5" name="椭圆 44">
            <a:extLst>
              <a:ext uri="{FF2B5EF4-FFF2-40B4-BE49-F238E27FC236}">
                <a16:creationId xmlns:a16="http://schemas.microsoft.com/office/drawing/2014/main" id="{658CA35B-CAD7-7202-511A-0AF84F6A910A}"/>
              </a:ext>
            </a:extLst>
          </p:cNvPr>
          <p:cNvSpPr/>
          <p:nvPr/>
        </p:nvSpPr>
        <p:spPr>
          <a:xfrm>
            <a:off x="4384075" y="4450142"/>
            <a:ext cx="36000" cy="36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48" name="文本框 47">
            <a:extLst>
              <a:ext uri="{FF2B5EF4-FFF2-40B4-BE49-F238E27FC236}">
                <a16:creationId xmlns:a16="http://schemas.microsoft.com/office/drawing/2014/main" id="{58CFC57C-37B8-0D6D-895C-EE2AB7803A52}"/>
              </a:ext>
            </a:extLst>
          </p:cNvPr>
          <p:cNvSpPr txBox="1"/>
          <p:nvPr/>
        </p:nvSpPr>
        <p:spPr>
          <a:xfrm>
            <a:off x="3732191" y="1166361"/>
            <a:ext cx="1011815" cy="338554"/>
          </a:xfrm>
          <a:prstGeom prst="rect">
            <a:avLst/>
          </a:prstGeom>
          <a:noFill/>
        </p:spPr>
        <p:txBody>
          <a:bodyPr wrap="none" rtlCol="0">
            <a:spAutoFit/>
          </a:bodyPr>
          <a:lstStyle/>
          <a:p>
            <a:pPr algn="l"/>
            <a:r>
              <a:rPr lang="zh-CN" altLang="en-US" sz="1600">
                <a:solidFill>
                  <a:srgbClr val="FFFF00"/>
                </a:solidFill>
              </a:rPr>
              <a:t>面向结构</a:t>
            </a:r>
          </a:p>
        </p:txBody>
      </p:sp>
      <p:sp>
        <p:nvSpPr>
          <p:cNvPr id="49" name="文本框 48">
            <a:extLst>
              <a:ext uri="{FF2B5EF4-FFF2-40B4-BE49-F238E27FC236}">
                <a16:creationId xmlns:a16="http://schemas.microsoft.com/office/drawing/2014/main" id="{68527258-48E3-14EE-B35E-4D25DAC7BAA5}"/>
              </a:ext>
            </a:extLst>
          </p:cNvPr>
          <p:cNvSpPr txBox="1"/>
          <p:nvPr/>
        </p:nvSpPr>
        <p:spPr>
          <a:xfrm>
            <a:off x="8256889" y="1166361"/>
            <a:ext cx="1005403" cy="338554"/>
          </a:xfrm>
          <a:prstGeom prst="rect">
            <a:avLst/>
          </a:prstGeom>
          <a:noFill/>
        </p:spPr>
        <p:txBody>
          <a:bodyPr wrap="none" rtlCol="0">
            <a:spAutoFit/>
          </a:bodyPr>
          <a:lstStyle/>
          <a:p>
            <a:pPr algn="l"/>
            <a:r>
              <a:rPr lang="zh-CN" altLang="en-US" sz="1600">
                <a:solidFill>
                  <a:srgbClr val="FFFF00"/>
                </a:solidFill>
              </a:rPr>
              <a:t>面向对象</a:t>
            </a:r>
          </a:p>
        </p:txBody>
      </p:sp>
      <p:sp>
        <p:nvSpPr>
          <p:cNvPr id="50" name="矩形: 圆角 49">
            <a:extLst>
              <a:ext uri="{FF2B5EF4-FFF2-40B4-BE49-F238E27FC236}">
                <a16:creationId xmlns:a16="http://schemas.microsoft.com/office/drawing/2014/main" id="{46E045D6-7C6D-C302-2D6C-64C58EEDE447}"/>
              </a:ext>
            </a:extLst>
          </p:cNvPr>
          <p:cNvSpPr/>
          <p:nvPr/>
        </p:nvSpPr>
        <p:spPr>
          <a:xfrm>
            <a:off x="4629809" y="4525296"/>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序列图 </a:t>
            </a:r>
            <a:r>
              <a:rPr lang="en-US" altLang="zh-CN" sz="1400">
                <a:solidFill>
                  <a:schemeClr val="bg1"/>
                </a:solidFill>
              </a:rPr>
              <a:t>Sequence</a:t>
            </a:r>
            <a:endParaRPr lang="zh-CN" altLang="en-US" sz="1400">
              <a:solidFill>
                <a:schemeClr val="bg1"/>
              </a:solidFill>
            </a:endParaRPr>
          </a:p>
        </p:txBody>
      </p:sp>
      <p:sp>
        <p:nvSpPr>
          <p:cNvPr id="51" name="矩形: 圆角 50">
            <a:extLst>
              <a:ext uri="{FF2B5EF4-FFF2-40B4-BE49-F238E27FC236}">
                <a16:creationId xmlns:a16="http://schemas.microsoft.com/office/drawing/2014/main" id="{4201A84E-55F2-BCF7-586A-0FA5796EF5BB}"/>
              </a:ext>
            </a:extLst>
          </p:cNvPr>
          <p:cNvSpPr/>
          <p:nvPr/>
        </p:nvSpPr>
        <p:spPr>
          <a:xfrm>
            <a:off x="4617108" y="5065759"/>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状态图 </a:t>
            </a:r>
            <a:r>
              <a:rPr lang="en-US" altLang="zh-CN" sz="1400">
                <a:solidFill>
                  <a:schemeClr val="bg1"/>
                </a:solidFill>
              </a:rPr>
              <a:t>State Machine</a:t>
            </a:r>
            <a:endParaRPr lang="zh-CN" altLang="en-US" sz="1400">
              <a:solidFill>
                <a:schemeClr val="bg1"/>
              </a:solidFill>
            </a:endParaRPr>
          </a:p>
        </p:txBody>
      </p:sp>
      <p:sp>
        <p:nvSpPr>
          <p:cNvPr id="56" name="矩形: 圆角 55">
            <a:extLst>
              <a:ext uri="{FF2B5EF4-FFF2-40B4-BE49-F238E27FC236}">
                <a16:creationId xmlns:a16="http://schemas.microsoft.com/office/drawing/2014/main" id="{2B3CBFA8-E366-A16A-0DB9-DC23D30B6607}"/>
              </a:ext>
            </a:extLst>
          </p:cNvPr>
          <p:cNvSpPr/>
          <p:nvPr/>
        </p:nvSpPr>
        <p:spPr>
          <a:xfrm>
            <a:off x="8364142" y="2892217"/>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影响地图 </a:t>
            </a:r>
            <a:r>
              <a:rPr lang="en-US" altLang="zh-CN" sz="1400">
                <a:solidFill>
                  <a:schemeClr val="bg1"/>
                </a:solidFill>
              </a:rPr>
              <a:t>Impact Mapping</a:t>
            </a:r>
          </a:p>
        </p:txBody>
      </p:sp>
      <p:sp>
        <p:nvSpPr>
          <p:cNvPr id="57" name="矩形: 圆角 56">
            <a:extLst>
              <a:ext uri="{FF2B5EF4-FFF2-40B4-BE49-F238E27FC236}">
                <a16:creationId xmlns:a16="http://schemas.microsoft.com/office/drawing/2014/main" id="{7FBF96A1-CEF6-2004-7B8A-9CE284774FD4}"/>
              </a:ext>
            </a:extLst>
          </p:cNvPr>
          <p:cNvSpPr/>
          <p:nvPr/>
        </p:nvSpPr>
        <p:spPr>
          <a:xfrm>
            <a:off x="8364142" y="3438525"/>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需求池 </a:t>
            </a:r>
            <a:r>
              <a:rPr lang="en-US" altLang="zh-CN" sz="1400">
                <a:solidFill>
                  <a:schemeClr val="bg1"/>
                </a:solidFill>
              </a:rPr>
              <a:t>Product Backlog</a:t>
            </a:r>
          </a:p>
        </p:txBody>
      </p:sp>
      <p:sp>
        <p:nvSpPr>
          <p:cNvPr id="58" name="矩形: 圆角 57">
            <a:extLst>
              <a:ext uri="{FF2B5EF4-FFF2-40B4-BE49-F238E27FC236}">
                <a16:creationId xmlns:a16="http://schemas.microsoft.com/office/drawing/2014/main" id="{7A83A0ED-021D-9944-992C-4BB2DF7041C3}"/>
              </a:ext>
            </a:extLst>
          </p:cNvPr>
          <p:cNvSpPr/>
          <p:nvPr/>
        </p:nvSpPr>
        <p:spPr>
          <a:xfrm>
            <a:off x="8364142" y="3984833"/>
            <a:ext cx="324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用户故事地图 </a:t>
            </a:r>
            <a:r>
              <a:rPr lang="en-US" altLang="zh-CN" sz="1400">
                <a:solidFill>
                  <a:schemeClr val="bg1"/>
                </a:solidFill>
              </a:rPr>
              <a:t>User Story Mapping</a:t>
            </a:r>
          </a:p>
        </p:txBody>
      </p:sp>
      <p:sp>
        <p:nvSpPr>
          <p:cNvPr id="59" name="矩形: 圆角 58">
            <a:extLst>
              <a:ext uri="{FF2B5EF4-FFF2-40B4-BE49-F238E27FC236}">
                <a16:creationId xmlns:a16="http://schemas.microsoft.com/office/drawing/2014/main" id="{518DBAF0-4833-DFA3-9A28-560DD541E88A}"/>
              </a:ext>
            </a:extLst>
          </p:cNvPr>
          <p:cNvSpPr/>
          <p:nvPr/>
        </p:nvSpPr>
        <p:spPr>
          <a:xfrm>
            <a:off x="8364142" y="4525296"/>
            <a:ext cx="324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用户故事编写 </a:t>
            </a:r>
            <a:r>
              <a:rPr lang="en-US" altLang="zh-CN" sz="1400">
                <a:solidFill>
                  <a:schemeClr val="bg1"/>
                </a:solidFill>
              </a:rPr>
              <a:t>User Story Writing</a:t>
            </a:r>
          </a:p>
        </p:txBody>
      </p:sp>
      <p:sp>
        <p:nvSpPr>
          <p:cNvPr id="60" name="矩形: 圆角 59">
            <a:extLst>
              <a:ext uri="{FF2B5EF4-FFF2-40B4-BE49-F238E27FC236}">
                <a16:creationId xmlns:a16="http://schemas.microsoft.com/office/drawing/2014/main" id="{4A6EB610-3B7E-AE18-7519-1637D771FEBD}"/>
              </a:ext>
            </a:extLst>
          </p:cNvPr>
          <p:cNvSpPr/>
          <p:nvPr/>
        </p:nvSpPr>
        <p:spPr>
          <a:xfrm>
            <a:off x="8364142" y="5065759"/>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chemeClr val="bg1"/>
                </a:solidFill>
              </a:rPr>
              <a:t>INVEST </a:t>
            </a:r>
            <a:r>
              <a:rPr lang="zh-CN" altLang="en-US" sz="1400">
                <a:solidFill>
                  <a:schemeClr val="bg1"/>
                </a:solidFill>
              </a:rPr>
              <a:t>原则</a:t>
            </a:r>
            <a:endParaRPr lang="en-US" altLang="zh-CN" sz="1400">
              <a:solidFill>
                <a:schemeClr val="bg1"/>
              </a:solidFill>
            </a:endParaRPr>
          </a:p>
        </p:txBody>
      </p:sp>
      <p:cxnSp>
        <p:nvCxnSpPr>
          <p:cNvPr id="63" name="连接符: 肘形 62">
            <a:extLst>
              <a:ext uri="{FF2B5EF4-FFF2-40B4-BE49-F238E27FC236}">
                <a16:creationId xmlns:a16="http://schemas.microsoft.com/office/drawing/2014/main" id="{4935B680-2217-3867-FA61-43BDA8228DE3}"/>
              </a:ext>
            </a:extLst>
          </p:cNvPr>
          <p:cNvCxnSpPr>
            <a:cxnSpLocks/>
          </p:cNvCxnSpPr>
          <p:nvPr/>
        </p:nvCxnSpPr>
        <p:spPr>
          <a:xfrm rot="10800000" flipV="1">
            <a:off x="1016596" y="3654525"/>
            <a:ext cx="12700" cy="546308"/>
          </a:xfrm>
          <a:prstGeom prst="bentConnector3">
            <a:avLst>
              <a:gd name="adj1" fmla="val 1800000"/>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64" name="矩形: 圆角 63">
            <a:extLst>
              <a:ext uri="{FF2B5EF4-FFF2-40B4-BE49-F238E27FC236}">
                <a16:creationId xmlns:a16="http://schemas.microsoft.com/office/drawing/2014/main" id="{BCFCAC8E-B795-74D0-EDD0-E9F83F18D154}"/>
              </a:ext>
            </a:extLst>
          </p:cNvPr>
          <p:cNvSpPr/>
          <p:nvPr/>
        </p:nvSpPr>
        <p:spPr>
          <a:xfrm>
            <a:off x="8364142" y="5606222"/>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行为驱动开发 </a:t>
            </a:r>
            <a:r>
              <a:rPr lang="en-US" altLang="zh-CN" sz="1400">
                <a:solidFill>
                  <a:schemeClr val="bg1"/>
                </a:solidFill>
              </a:rPr>
              <a:t>BDD</a:t>
            </a:r>
          </a:p>
        </p:txBody>
      </p:sp>
      <p:cxnSp>
        <p:nvCxnSpPr>
          <p:cNvPr id="66" name="连接符: 肘形 65">
            <a:extLst>
              <a:ext uri="{FF2B5EF4-FFF2-40B4-BE49-F238E27FC236}">
                <a16:creationId xmlns:a16="http://schemas.microsoft.com/office/drawing/2014/main" id="{E13EE4C1-9241-5463-DB50-5FF8747F31E1}"/>
              </a:ext>
            </a:extLst>
          </p:cNvPr>
          <p:cNvCxnSpPr>
            <a:cxnSpLocks/>
          </p:cNvCxnSpPr>
          <p:nvPr/>
        </p:nvCxnSpPr>
        <p:spPr>
          <a:xfrm rot="10800000" flipV="1">
            <a:off x="8364142" y="3108216"/>
            <a:ext cx="12700" cy="2714005"/>
          </a:xfrm>
          <a:prstGeom prst="bentConnector3">
            <a:avLst>
              <a:gd name="adj1" fmla="val 1800000"/>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7" name="连接符: 肘形 66">
            <a:extLst>
              <a:ext uri="{FF2B5EF4-FFF2-40B4-BE49-F238E27FC236}">
                <a16:creationId xmlns:a16="http://schemas.microsoft.com/office/drawing/2014/main" id="{AEA05C9B-0C35-0669-7870-3577C2600FC3}"/>
              </a:ext>
            </a:extLst>
          </p:cNvPr>
          <p:cNvCxnSpPr>
            <a:cxnSpLocks/>
            <a:stCxn id="8" idx="1"/>
            <a:endCxn id="68" idx="2"/>
          </p:cNvCxnSpPr>
          <p:nvPr/>
        </p:nvCxnSpPr>
        <p:spPr>
          <a:xfrm rot="10800000" flipV="1">
            <a:off x="8123820" y="1788851"/>
            <a:ext cx="240322" cy="2676368"/>
          </a:xfrm>
          <a:prstGeom prst="bentConnector3">
            <a:avLst>
              <a:gd name="adj1" fmla="val 19512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8" name="椭圆 67">
            <a:extLst>
              <a:ext uri="{FF2B5EF4-FFF2-40B4-BE49-F238E27FC236}">
                <a16:creationId xmlns:a16="http://schemas.microsoft.com/office/drawing/2014/main" id="{36637338-F1F1-468E-471C-5AA76237D4BB}"/>
              </a:ext>
            </a:extLst>
          </p:cNvPr>
          <p:cNvSpPr/>
          <p:nvPr/>
        </p:nvSpPr>
        <p:spPr>
          <a:xfrm>
            <a:off x="8123820" y="4447219"/>
            <a:ext cx="36000" cy="36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2" name="矩形: 圆角 1">
            <a:extLst>
              <a:ext uri="{FF2B5EF4-FFF2-40B4-BE49-F238E27FC236}">
                <a16:creationId xmlns:a16="http://schemas.microsoft.com/office/drawing/2014/main" id="{D566B97B-72B8-C135-4A93-1792ABC76B7F}"/>
              </a:ext>
            </a:extLst>
          </p:cNvPr>
          <p:cNvSpPr/>
          <p:nvPr/>
        </p:nvSpPr>
        <p:spPr>
          <a:xfrm>
            <a:off x="4616414" y="5606222"/>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chemeClr val="bg1"/>
                </a:solidFill>
              </a:rPr>
              <a:t>… …</a:t>
            </a:r>
            <a:endParaRPr lang="zh-CN" altLang="en-US" sz="1400">
              <a:solidFill>
                <a:schemeClr val="bg1"/>
              </a:solidFill>
            </a:endParaRPr>
          </a:p>
        </p:txBody>
      </p:sp>
      <p:cxnSp>
        <p:nvCxnSpPr>
          <p:cNvPr id="6" name="连接符: 肘形 5">
            <a:extLst>
              <a:ext uri="{FF2B5EF4-FFF2-40B4-BE49-F238E27FC236}">
                <a16:creationId xmlns:a16="http://schemas.microsoft.com/office/drawing/2014/main" id="{99D18EC2-05BA-A5C0-F2AC-FDEB56A84A66}"/>
              </a:ext>
            </a:extLst>
          </p:cNvPr>
          <p:cNvCxnSpPr>
            <a:stCxn id="39" idx="1"/>
            <a:endCxn id="2" idx="1"/>
          </p:cNvCxnSpPr>
          <p:nvPr/>
        </p:nvCxnSpPr>
        <p:spPr>
          <a:xfrm rot="10800000" flipV="1">
            <a:off x="4616415" y="3654524"/>
            <a:ext cx="695" cy="2167697"/>
          </a:xfrm>
          <a:prstGeom prst="bentConnector3">
            <a:avLst>
              <a:gd name="adj1" fmla="val 32992086"/>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194384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AA8D0-0669-872F-B258-71853E4B9E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FC64F2-A3E8-0C4D-FF7A-21E2C79E73AF}"/>
              </a:ext>
            </a:extLst>
          </p:cNvPr>
          <p:cNvSpPr>
            <a:spLocks noGrp="1"/>
          </p:cNvSpPr>
          <p:nvPr>
            <p:ph type="title"/>
          </p:nvPr>
        </p:nvSpPr>
        <p:spPr>
          <a:xfrm>
            <a:off x="695998" y="360000"/>
            <a:ext cx="6375921" cy="429413"/>
          </a:xfrm>
        </p:spPr>
        <p:txBody>
          <a:bodyPr/>
          <a:lstStyle/>
          <a:p>
            <a:r>
              <a:rPr lang="en-US" altLang="zh-CN"/>
              <a:t>2.1 System Flowchart</a:t>
            </a:r>
            <a:endParaRPr lang="zh-CN" altLang="en-US"/>
          </a:p>
        </p:txBody>
      </p:sp>
      <p:sp>
        <p:nvSpPr>
          <p:cNvPr id="3" name="内容占位符 2">
            <a:extLst>
              <a:ext uri="{FF2B5EF4-FFF2-40B4-BE49-F238E27FC236}">
                <a16:creationId xmlns:a16="http://schemas.microsoft.com/office/drawing/2014/main" id="{997752C3-0CF7-2385-F4A3-7AEE8BB0E854}"/>
              </a:ext>
            </a:extLst>
          </p:cNvPr>
          <p:cNvSpPr>
            <a:spLocks noGrp="1"/>
          </p:cNvSpPr>
          <p:nvPr>
            <p:ph idx="1"/>
          </p:nvPr>
        </p:nvSpPr>
        <p:spPr>
          <a:xfrm>
            <a:off x="696000" y="864000"/>
            <a:ext cx="10800000" cy="5400000"/>
          </a:xfrm>
        </p:spPr>
        <p:txBody>
          <a:bodyPr>
            <a:normAutofit/>
          </a:bodyPr>
          <a:lstStyle/>
          <a:p>
            <a:r>
              <a:rPr lang="zh-CN" altLang="en-US" dirty="0"/>
              <a:t>系统流程图 </a:t>
            </a:r>
            <a:r>
              <a:rPr lang="en-US" altLang="zh-CN" dirty="0"/>
              <a:t>System Flowchart</a:t>
            </a:r>
          </a:p>
          <a:p>
            <a:r>
              <a:rPr lang="zh-CN" altLang="en-US" dirty="0"/>
              <a:t>以图形符号“</a:t>
            </a:r>
            <a:r>
              <a:rPr lang="zh-CN" altLang="en-US" dirty="0">
                <a:solidFill>
                  <a:srgbClr val="FFFF00"/>
                </a:solidFill>
              </a:rPr>
              <a:t>黑盒子</a:t>
            </a:r>
            <a:r>
              <a:rPr lang="zh-CN" altLang="en-US" dirty="0"/>
              <a:t>”形式描绘系统内部的各个部件（如程序、文件、数据库、人工过程等），并表达信息在这些部件之间的流动情况</a:t>
            </a:r>
            <a:endParaRPr lang="en-US" altLang="zh-CN" dirty="0"/>
          </a:p>
          <a:p>
            <a:r>
              <a:rPr lang="zh-CN" altLang="en-US" dirty="0"/>
              <a:t>不表示对信息的加工处理控制过程，而是侧重于系统各部件之间的数据流动关系</a:t>
            </a:r>
            <a:endParaRPr lang="en-US" altLang="zh-CN" dirty="0"/>
          </a:p>
          <a:p>
            <a:pPr lvl="1"/>
            <a:r>
              <a:rPr lang="zh-CN" altLang="en-US" dirty="0"/>
              <a:t>只关心“做什么”，不关心“数据存在哪”</a:t>
            </a:r>
            <a:endParaRPr lang="en-US" altLang="zh-CN" dirty="0"/>
          </a:p>
          <a:p>
            <a:r>
              <a:rPr lang="zh-CN" altLang="en-US" dirty="0"/>
              <a:t>基本图例</a:t>
            </a:r>
            <a:endParaRPr lang="en-US" altLang="zh-CN" dirty="0"/>
          </a:p>
          <a:p>
            <a:pPr lvl="1"/>
            <a:r>
              <a:rPr lang="zh-CN" altLang="en-US" dirty="0"/>
              <a:t>开始</a:t>
            </a:r>
            <a:r>
              <a:rPr lang="en-US" altLang="zh-CN" dirty="0"/>
              <a:t>/</a:t>
            </a:r>
            <a:r>
              <a:rPr lang="zh-CN" altLang="en-US" dirty="0"/>
              <a:t>结束</a:t>
            </a:r>
            <a:endParaRPr lang="en-US" altLang="zh-CN" dirty="0"/>
          </a:p>
          <a:p>
            <a:pPr lvl="1"/>
            <a:r>
              <a:rPr lang="zh-CN" altLang="en-US" dirty="0"/>
              <a:t>处理</a:t>
            </a:r>
            <a:endParaRPr lang="en-US" altLang="zh-CN" dirty="0"/>
          </a:p>
          <a:p>
            <a:pPr lvl="1"/>
            <a:r>
              <a:rPr lang="zh-CN" altLang="en-US" dirty="0"/>
              <a:t>判断</a:t>
            </a:r>
            <a:endParaRPr lang="en-US" altLang="zh-CN" dirty="0"/>
          </a:p>
          <a:p>
            <a:pPr lvl="1"/>
            <a:r>
              <a:rPr lang="zh-CN" altLang="en-US" dirty="0"/>
              <a:t>输入</a:t>
            </a:r>
            <a:r>
              <a:rPr lang="en-US" altLang="zh-CN" dirty="0"/>
              <a:t>/</a:t>
            </a:r>
            <a:r>
              <a:rPr lang="zh-CN" altLang="en-US" dirty="0"/>
              <a:t>输出</a:t>
            </a:r>
            <a:endParaRPr lang="en-US" altLang="zh-CN" dirty="0"/>
          </a:p>
          <a:p>
            <a:endParaRPr lang="zh-CN" altLang="en-US" dirty="0"/>
          </a:p>
        </p:txBody>
      </p:sp>
      <p:sp>
        <p:nvSpPr>
          <p:cNvPr id="4" name="文本占位符 3">
            <a:extLst>
              <a:ext uri="{FF2B5EF4-FFF2-40B4-BE49-F238E27FC236}">
                <a16:creationId xmlns:a16="http://schemas.microsoft.com/office/drawing/2014/main" id="{B7FB06C2-28DC-6EDB-F4FE-2734632F21FC}"/>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14" name="流程图: 可选过程 13">
            <a:extLst>
              <a:ext uri="{FF2B5EF4-FFF2-40B4-BE49-F238E27FC236}">
                <a16:creationId xmlns:a16="http://schemas.microsoft.com/office/drawing/2014/main" id="{7280284A-2A10-AAE2-4DB1-2EE124144CB7}"/>
              </a:ext>
            </a:extLst>
          </p:cNvPr>
          <p:cNvSpPr/>
          <p:nvPr/>
        </p:nvSpPr>
        <p:spPr>
          <a:xfrm>
            <a:off x="5545097" y="4261270"/>
            <a:ext cx="1080000" cy="432000"/>
          </a:xfrm>
          <a:prstGeom prst="flowChartAlternate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Start </a:t>
            </a:r>
            <a:endParaRPr lang="zh-CN" altLang="en-US" sz="1400">
              <a:solidFill>
                <a:schemeClr val="bg1"/>
              </a:solidFill>
            </a:endParaRPr>
          </a:p>
        </p:txBody>
      </p:sp>
      <p:sp>
        <p:nvSpPr>
          <p:cNvPr id="15" name="流程图: 过程 14">
            <a:extLst>
              <a:ext uri="{FF2B5EF4-FFF2-40B4-BE49-F238E27FC236}">
                <a16:creationId xmlns:a16="http://schemas.microsoft.com/office/drawing/2014/main" id="{47B07B53-E127-90B3-CF47-A1ED992C3837}"/>
              </a:ext>
            </a:extLst>
          </p:cNvPr>
          <p:cNvSpPr/>
          <p:nvPr/>
        </p:nvSpPr>
        <p:spPr>
          <a:xfrm>
            <a:off x="6976956" y="4261270"/>
            <a:ext cx="108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Process</a:t>
            </a:r>
            <a:endParaRPr lang="zh-CN" altLang="en-US" sz="1400">
              <a:solidFill>
                <a:schemeClr val="bg1"/>
              </a:solidFill>
            </a:endParaRPr>
          </a:p>
        </p:txBody>
      </p:sp>
      <p:sp>
        <p:nvSpPr>
          <p:cNvPr id="16" name="流程图: 决策 15">
            <a:extLst>
              <a:ext uri="{FF2B5EF4-FFF2-40B4-BE49-F238E27FC236}">
                <a16:creationId xmlns:a16="http://schemas.microsoft.com/office/drawing/2014/main" id="{61F66E49-08EB-0939-D474-F7FF95308C39}"/>
              </a:ext>
            </a:extLst>
          </p:cNvPr>
          <p:cNvSpPr/>
          <p:nvPr/>
        </p:nvSpPr>
        <p:spPr>
          <a:xfrm>
            <a:off x="8408815" y="4117270"/>
            <a:ext cx="1656000" cy="72000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Decide</a:t>
            </a:r>
            <a:endParaRPr lang="zh-CN" altLang="en-US" sz="1400">
              <a:solidFill>
                <a:schemeClr val="bg1"/>
              </a:solidFill>
            </a:endParaRPr>
          </a:p>
        </p:txBody>
      </p:sp>
      <p:sp>
        <p:nvSpPr>
          <p:cNvPr id="17" name="流程图: 过程 16">
            <a:extLst>
              <a:ext uri="{FF2B5EF4-FFF2-40B4-BE49-F238E27FC236}">
                <a16:creationId xmlns:a16="http://schemas.microsoft.com/office/drawing/2014/main" id="{0E734944-CF37-3EF7-8311-7A3D0778817E}"/>
              </a:ext>
            </a:extLst>
          </p:cNvPr>
          <p:cNvSpPr/>
          <p:nvPr/>
        </p:nvSpPr>
        <p:spPr>
          <a:xfrm>
            <a:off x="10416675" y="4261270"/>
            <a:ext cx="108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Process</a:t>
            </a:r>
            <a:endParaRPr lang="zh-CN" altLang="en-US" sz="1400">
              <a:solidFill>
                <a:schemeClr val="bg1"/>
              </a:solidFill>
            </a:endParaRPr>
          </a:p>
        </p:txBody>
      </p:sp>
      <p:sp>
        <p:nvSpPr>
          <p:cNvPr id="18" name="流程图: 过程 17">
            <a:extLst>
              <a:ext uri="{FF2B5EF4-FFF2-40B4-BE49-F238E27FC236}">
                <a16:creationId xmlns:a16="http://schemas.microsoft.com/office/drawing/2014/main" id="{3A7225BE-9BAC-8025-7878-7345274BD04A}"/>
              </a:ext>
            </a:extLst>
          </p:cNvPr>
          <p:cNvSpPr/>
          <p:nvPr/>
        </p:nvSpPr>
        <p:spPr>
          <a:xfrm>
            <a:off x="10416675" y="5046773"/>
            <a:ext cx="108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Process</a:t>
            </a:r>
            <a:endParaRPr lang="zh-CN" altLang="en-US" sz="1400">
              <a:solidFill>
                <a:schemeClr val="bg1"/>
              </a:solidFill>
            </a:endParaRPr>
          </a:p>
        </p:txBody>
      </p:sp>
      <p:cxnSp>
        <p:nvCxnSpPr>
          <p:cNvPr id="21" name="直接箭头连接符 20">
            <a:extLst>
              <a:ext uri="{FF2B5EF4-FFF2-40B4-BE49-F238E27FC236}">
                <a16:creationId xmlns:a16="http://schemas.microsoft.com/office/drawing/2014/main" id="{F16B40D5-42BE-0CD1-FEBB-9B7B54CD06EE}"/>
              </a:ext>
            </a:extLst>
          </p:cNvPr>
          <p:cNvCxnSpPr>
            <a:cxnSpLocks/>
            <a:stCxn id="14" idx="3"/>
            <a:endCxn id="15" idx="1"/>
          </p:cNvCxnSpPr>
          <p:nvPr/>
        </p:nvCxnSpPr>
        <p:spPr>
          <a:xfrm>
            <a:off x="6625097" y="4477270"/>
            <a:ext cx="351859"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7FA1081C-B0D8-F84A-EA7A-28826F07A14F}"/>
              </a:ext>
            </a:extLst>
          </p:cNvPr>
          <p:cNvCxnSpPr>
            <a:stCxn id="15" idx="3"/>
            <a:endCxn id="16" idx="1"/>
          </p:cNvCxnSpPr>
          <p:nvPr/>
        </p:nvCxnSpPr>
        <p:spPr>
          <a:xfrm>
            <a:off x="8056956" y="4477270"/>
            <a:ext cx="351859"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96F3DA5D-CEB1-F562-A982-E58A18C612C2}"/>
              </a:ext>
            </a:extLst>
          </p:cNvPr>
          <p:cNvCxnSpPr>
            <a:stCxn id="16" idx="3"/>
            <a:endCxn id="17" idx="1"/>
          </p:cNvCxnSpPr>
          <p:nvPr/>
        </p:nvCxnSpPr>
        <p:spPr>
          <a:xfrm>
            <a:off x="10064815" y="4477270"/>
            <a:ext cx="35186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9934274-5126-AAEF-76F4-C9BF9E9F829B}"/>
              </a:ext>
            </a:extLst>
          </p:cNvPr>
          <p:cNvCxnSpPr>
            <a:cxnSpLocks/>
            <a:stCxn id="17" idx="2"/>
            <a:endCxn id="18" idx="0"/>
          </p:cNvCxnSpPr>
          <p:nvPr/>
        </p:nvCxnSpPr>
        <p:spPr>
          <a:xfrm>
            <a:off x="10956675" y="4693270"/>
            <a:ext cx="0" cy="35350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35535AA8-8D88-C8ED-838A-AA328FB6CE59}"/>
              </a:ext>
            </a:extLst>
          </p:cNvPr>
          <p:cNvCxnSpPr>
            <a:stCxn id="16" idx="2"/>
            <a:endCxn id="18" idx="1"/>
          </p:cNvCxnSpPr>
          <p:nvPr/>
        </p:nvCxnSpPr>
        <p:spPr>
          <a:xfrm rot="16200000" flipH="1">
            <a:off x="9613994" y="4460091"/>
            <a:ext cx="425503" cy="117986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3" name="流程图: 终止 32">
            <a:extLst>
              <a:ext uri="{FF2B5EF4-FFF2-40B4-BE49-F238E27FC236}">
                <a16:creationId xmlns:a16="http://schemas.microsoft.com/office/drawing/2014/main" id="{94939D4E-CAEC-7302-AB05-B7145B43C7CF}"/>
              </a:ext>
            </a:extLst>
          </p:cNvPr>
          <p:cNvSpPr/>
          <p:nvPr/>
        </p:nvSpPr>
        <p:spPr>
          <a:xfrm>
            <a:off x="10416675" y="5832275"/>
            <a:ext cx="1080000" cy="432000"/>
          </a:xfrm>
          <a:prstGeom prst="flowChartTerminator">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End</a:t>
            </a:r>
            <a:endParaRPr lang="zh-CN" altLang="en-US" sz="1400">
              <a:solidFill>
                <a:schemeClr val="bg1"/>
              </a:solidFill>
            </a:endParaRPr>
          </a:p>
        </p:txBody>
      </p:sp>
      <p:cxnSp>
        <p:nvCxnSpPr>
          <p:cNvPr id="46" name="直接箭头连接符 45">
            <a:extLst>
              <a:ext uri="{FF2B5EF4-FFF2-40B4-BE49-F238E27FC236}">
                <a16:creationId xmlns:a16="http://schemas.microsoft.com/office/drawing/2014/main" id="{87AD7835-9666-8393-F03B-5EC3EC8F9BF8}"/>
              </a:ext>
            </a:extLst>
          </p:cNvPr>
          <p:cNvCxnSpPr>
            <a:cxnSpLocks/>
            <a:endCxn id="33" idx="0"/>
          </p:cNvCxnSpPr>
          <p:nvPr/>
        </p:nvCxnSpPr>
        <p:spPr>
          <a:xfrm>
            <a:off x="10956675" y="5478772"/>
            <a:ext cx="0" cy="35350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629824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5FBFF-AB43-E9E6-FE6B-805846CD0A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938B49-D815-C5E5-2ED0-AF66D27E7A66}"/>
              </a:ext>
            </a:extLst>
          </p:cNvPr>
          <p:cNvSpPr>
            <a:spLocks noGrp="1"/>
          </p:cNvSpPr>
          <p:nvPr>
            <p:ph type="title"/>
          </p:nvPr>
        </p:nvSpPr>
        <p:spPr>
          <a:xfrm>
            <a:off x="695998" y="360000"/>
            <a:ext cx="6375921" cy="429413"/>
          </a:xfrm>
        </p:spPr>
        <p:txBody>
          <a:bodyPr/>
          <a:lstStyle/>
          <a:p>
            <a:r>
              <a:rPr lang="en-US" altLang="zh-CN"/>
              <a:t>2.2 DFD</a:t>
            </a:r>
            <a:endParaRPr lang="zh-CN" altLang="en-US"/>
          </a:p>
        </p:txBody>
      </p:sp>
      <p:sp>
        <p:nvSpPr>
          <p:cNvPr id="3" name="内容占位符 2">
            <a:extLst>
              <a:ext uri="{FF2B5EF4-FFF2-40B4-BE49-F238E27FC236}">
                <a16:creationId xmlns:a16="http://schemas.microsoft.com/office/drawing/2014/main" id="{2ECF4E00-7338-51E9-2C4C-D5A4E426D0AE}"/>
              </a:ext>
            </a:extLst>
          </p:cNvPr>
          <p:cNvSpPr>
            <a:spLocks noGrp="1"/>
          </p:cNvSpPr>
          <p:nvPr>
            <p:ph idx="1"/>
          </p:nvPr>
        </p:nvSpPr>
        <p:spPr>
          <a:xfrm>
            <a:off x="696000" y="864000"/>
            <a:ext cx="10800000" cy="5400000"/>
          </a:xfrm>
        </p:spPr>
        <p:txBody>
          <a:bodyPr>
            <a:normAutofit/>
          </a:bodyPr>
          <a:lstStyle/>
          <a:p>
            <a:r>
              <a:rPr lang="zh-CN" altLang="en-US" dirty="0"/>
              <a:t>数据流图 </a:t>
            </a:r>
            <a:r>
              <a:rPr lang="en-US" altLang="zh-CN" dirty="0"/>
              <a:t>DFD(Data Flow Diagram)</a:t>
            </a:r>
          </a:p>
          <a:p>
            <a:pPr lvl="1"/>
            <a:r>
              <a:rPr lang="zh-CN" altLang="en-US" dirty="0"/>
              <a:t>数据被加工处理的过程</a:t>
            </a:r>
            <a:endParaRPr lang="en-US" altLang="zh-CN" dirty="0"/>
          </a:p>
          <a:p>
            <a:r>
              <a:rPr lang="en-US" altLang="zh-CN" dirty="0"/>
              <a:t>4</a:t>
            </a:r>
            <a:r>
              <a:rPr lang="zh-CN" altLang="en-US" dirty="0"/>
              <a:t>个元素：</a:t>
            </a:r>
            <a:endParaRPr lang="en-US" altLang="zh-CN" dirty="0"/>
          </a:p>
          <a:p>
            <a:pPr lvl="1"/>
            <a:r>
              <a:rPr lang="zh-CN" altLang="en-US" dirty="0"/>
              <a:t>实体 </a:t>
            </a:r>
            <a:r>
              <a:rPr lang="en-US" altLang="zh-CN" dirty="0"/>
              <a:t>External Entity </a:t>
            </a:r>
          </a:p>
          <a:p>
            <a:pPr lvl="1"/>
            <a:r>
              <a:rPr lang="zh-CN" altLang="en-US" dirty="0"/>
              <a:t>过程 </a:t>
            </a:r>
            <a:r>
              <a:rPr lang="en-US" altLang="zh-CN" dirty="0"/>
              <a:t>Process </a:t>
            </a:r>
          </a:p>
          <a:p>
            <a:pPr lvl="1"/>
            <a:r>
              <a:rPr lang="zh-CN" altLang="en-US" dirty="0"/>
              <a:t>数据流 </a:t>
            </a:r>
            <a:r>
              <a:rPr lang="en-US" altLang="zh-CN" dirty="0"/>
              <a:t>Data Flow </a:t>
            </a:r>
          </a:p>
          <a:p>
            <a:pPr lvl="1"/>
            <a:r>
              <a:rPr lang="zh-CN" altLang="en-US" dirty="0"/>
              <a:t>存储 </a:t>
            </a:r>
            <a:r>
              <a:rPr lang="en-US" altLang="zh-CN" dirty="0"/>
              <a:t>Data Storage</a:t>
            </a:r>
          </a:p>
          <a:p>
            <a:r>
              <a:rPr lang="zh-CN" altLang="en-US" dirty="0"/>
              <a:t>没有具体的物理部件</a:t>
            </a:r>
          </a:p>
        </p:txBody>
      </p:sp>
      <p:sp>
        <p:nvSpPr>
          <p:cNvPr id="4" name="文本占位符 3">
            <a:extLst>
              <a:ext uri="{FF2B5EF4-FFF2-40B4-BE49-F238E27FC236}">
                <a16:creationId xmlns:a16="http://schemas.microsoft.com/office/drawing/2014/main" id="{DC3BB405-1D40-0E41-A9D4-2467B8A89918}"/>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8" name="矩形 7">
            <a:extLst>
              <a:ext uri="{FF2B5EF4-FFF2-40B4-BE49-F238E27FC236}">
                <a16:creationId xmlns:a16="http://schemas.microsoft.com/office/drawing/2014/main" id="{FDFF49EF-3CAB-DC1E-27FD-F4F41EA747FE}"/>
              </a:ext>
            </a:extLst>
          </p:cNvPr>
          <p:cNvSpPr/>
          <p:nvPr/>
        </p:nvSpPr>
        <p:spPr>
          <a:xfrm>
            <a:off x="6992206" y="2093224"/>
            <a:ext cx="180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9" name="椭圆 8">
            <a:extLst>
              <a:ext uri="{FF2B5EF4-FFF2-40B4-BE49-F238E27FC236}">
                <a16:creationId xmlns:a16="http://schemas.microsoft.com/office/drawing/2014/main" id="{5E9D9847-36C1-C3DD-70A2-DA4B98FC01FA}"/>
              </a:ext>
            </a:extLst>
          </p:cNvPr>
          <p:cNvSpPr/>
          <p:nvPr/>
        </p:nvSpPr>
        <p:spPr>
          <a:xfrm>
            <a:off x="6632206" y="2847561"/>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grpSp>
        <p:nvGrpSpPr>
          <p:cNvPr id="20" name="组合 19">
            <a:extLst>
              <a:ext uri="{FF2B5EF4-FFF2-40B4-BE49-F238E27FC236}">
                <a16:creationId xmlns:a16="http://schemas.microsoft.com/office/drawing/2014/main" id="{03B11A9D-1C8C-A477-AD62-74147497C777}"/>
              </a:ext>
            </a:extLst>
          </p:cNvPr>
          <p:cNvGrpSpPr/>
          <p:nvPr/>
        </p:nvGrpSpPr>
        <p:grpSpPr>
          <a:xfrm>
            <a:off x="6992206" y="4105898"/>
            <a:ext cx="1800000" cy="432000"/>
            <a:chOff x="7443019" y="3106994"/>
            <a:chExt cx="1800000" cy="432000"/>
          </a:xfrm>
        </p:grpSpPr>
        <p:cxnSp>
          <p:nvCxnSpPr>
            <p:cNvPr id="16" name="直接连接符 15">
              <a:extLst>
                <a:ext uri="{FF2B5EF4-FFF2-40B4-BE49-F238E27FC236}">
                  <a16:creationId xmlns:a16="http://schemas.microsoft.com/office/drawing/2014/main" id="{4E9FF47E-5584-09F8-C740-9B6D96DC0DDF}"/>
                </a:ext>
              </a:extLst>
            </p:cNvPr>
            <p:cNvCxnSpPr>
              <a:cxnSpLocks/>
            </p:cNvCxnSpPr>
            <p:nvPr/>
          </p:nvCxnSpPr>
          <p:spPr>
            <a:xfrm>
              <a:off x="7443019" y="3106994"/>
              <a:ext cx="1800000"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ACDE3103-C904-4396-645B-0276CECEF220}"/>
                </a:ext>
              </a:extLst>
            </p:cNvPr>
            <p:cNvCxnSpPr>
              <a:cxnSpLocks/>
            </p:cNvCxnSpPr>
            <p:nvPr/>
          </p:nvCxnSpPr>
          <p:spPr>
            <a:xfrm>
              <a:off x="7443019" y="3538994"/>
              <a:ext cx="1800000"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FEC91352-7D4B-AAFE-F08B-83B1CA2DE109}"/>
                </a:ext>
              </a:extLst>
            </p:cNvPr>
            <p:cNvCxnSpPr>
              <a:cxnSpLocks/>
            </p:cNvCxnSpPr>
            <p:nvPr/>
          </p:nvCxnSpPr>
          <p:spPr>
            <a:xfrm>
              <a:off x="7443019" y="3106994"/>
              <a:ext cx="0" cy="432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cxnSp>
        <p:nvCxnSpPr>
          <p:cNvPr id="22" name="直接箭头连接符 21">
            <a:extLst>
              <a:ext uri="{FF2B5EF4-FFF2-40B4-BE49-F238E27FC236}">
                <a16:creationId xmlns:a16="http://schemas.microsoft.com/office/drawing/2014/main" id="{4293423A-2219-A3EE-C925-BEC28AC72F0B}"/>
              </a:ext>
            </a:extLst>
          </p:cNvPr>
          <p:cNvCxnSpPr/>
          <p:nvPr/>
        </p:nvCxnSpPr>
        <p:spPr>
          <a:xfrm>
            <a:off x="6992206" y="3840619"/>
            <a:ext cx="180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21CB760D-2BAF-67D4-3F4E-02786AE2CC84}"/>
              </a:ext>
            </a:extLst>
          </p:cNvPr>
          <p:cNvSpPr/>
          <p:nvPr/>
        </p:nvSpPr>
        <p:spPr>
          <a:xfrm>
            <a:off x="7624440" y="2991561"/>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Tree>
    <p:extLst>
      <p:ext uri="{BB962C8B-B14F-4D97-AF65-F5344CB8AC3E}">
        <p14:creationId xmlns:p14="http://schemas.microsoft.com/office/powerpoint/2010/main" val="1953881346"/>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7D3B09-7ABE-830B-C98C-3826163C8013}"/>
              </a:ext>
            </a:extLst>
          </p:cNvPr>
          <p:cNvSpPr>
            <a:spLocks noGrp="1"/>
          </p:cNvSpPr>
          <p:nvPr>
            <p:ph type="title"/>
          </p:nvPr>
        </p:nvSpPr>
        <p:spPr>
          <a:xfrm>
            <a:off x="695998" y="360000"/>
            <a:ext cx="6375921" cy="429413"/>
          </a:xfrm>
        </p:spPr>
        <p:txBody>
          <a:bodyPr/>
          <a:lstStyle/>
          <a:p>
            <a:r>
              <a:rPr lang="en-US" altLang="zh-CN"/>
              <a:t>2.3 Data Dictionary</a:t>
            </a:r>
            <a:endParaRPr lang="zh-CN" altLang="en-US"/>
          </a:p>
        </p:txBody>
      </p:sp>
      <p:sp>
        <p:nvSpPr>
          <p:cNvPr id="3" name="内容占位符 2">
            <a:extLst>
              <a:ext uri="{FF2B5EF4-FFF2-40B4-BE49-F238E27FC236}">
                <a16:creationId xmlns:a16="http://schemas.microsoft.com/office/drawing/2014/main" id="{84AE5E3A-CBAD-F8C5-84A6-ECC990885F8C}"/>
              </a:ext>
            </a:extLst>
          </p:cNvPr>
          <p:cNvSpPr>
            <a:spLocks noGrp="1"/>
          </p:cNvSpPr>
          <p:nvPr>
            <p:ph idx="1"/>
          </p:nvPr>
        </p:nvSpPr>
        <p:spPr>
          <a:xfrm>
            <a:off x="696000" y="864000"/>
            <a:ext cx="10800000" cy="5400000"/>
          </a:xfrm>
        </p:spPr>
        <p:txBody>
          <a:bodyPr/>
          <a:lstStyle/>
          <a:p>
            <a:r>
              <a:rPr lang="zh-CN" altLang="en-US"/>
              <a:t>数据字典 </a:t>
            </a:r>
            <a:r>
              <a:rPr lang="en-US" altLang="zh-CN"/>
              <a:t>Data Dictionary</a:t>
            </a:r>
          </a:p>
          <a:p>
            <a:r>
              <a:rPr lang="zh-CN" altLang="en-US"/>
              <a:t>关于数据的信息的集合</a:t>
            </a:r>
            <a:endParaRPr lang="en-US" altLang="zh-CN"/>
          </a:p>
          <a:p>
            <a:pPr lvl="1"/>
            <a:r>
              <a:rPr lang="zh-CN" altLang="en-US"/>
              <a:t>对数据流图 </a:t>
            </a:r>
            <a:r>
              <a:rPr lang="en-US" altLang="zh-CN"/>
              <a:t>DFD</a:t>
            </a:r>
            <a:r>
              <a:rPr lang="zh-CN" altLang="en-US"/>
              <a:t> 中所有元素的定义集合</a:t>
            </a:r>
          </a:p>
          <a:p>
            <a:r>
              <a:rPr lang="zh-CN" altLang="en-US"/>
              <a:t>数据流图 </a:t>
            </a:r>
            <a:r>
              <a:rPr lang="en-US" altLang="zh-CN"/>
              <a:t>DFD</a:t>
            </a:r>
            <a:r>
              <a:rPr lang="zh-CN" altLang="en-US"/>
              <a:t> ：是系统分析中用于描述数据流动和处理过程的图形化工具</a:t>
            </a:r>
          </a:p>
          <a:p>
            <a:r>
              <a:rPr lang="zh-CN" altLang="en-US"/>
              <a:t>数据字典的作用：为 </a:t>
            </a:r>
            <a:r>
              <a:rPr lang="en-US" altLang="zh-CN"/>
              <a:t>DFD </a:t>
            </a:r>
            <a:r>
              <a:rPr lang="zh-CN" altLang="en-US"/>
              <a:t>中的每一个元素（如数据流、数据存储、处理过程、外部实体等）提供详细的定义和说明，确保所有参与者对系统中的数据有一致的理解</a:t>
            </a:r>
          </a:p>
          <a:p>
            <a:endParaRPr lang="zh-CN" altLang="en-US"/>
          </a:p>
        </p:txBody>
      </p:sp>
      <p:sp>
        <p:nvSpPr>
          <p:cNvPr id="4" name="文本占位符 3">
            <a:extLst>
              <a:ext uri="{FF2B5EF4-FFF2-40B4-BE49-F238E27FC236}">
                <a16:creationId xmlns:a16="http://schemas.microsoft.com/office/drawing/2014/main" id="{FDB65457-2986-F885-A3B0-8FB68BE9D759}"/>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104011681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5A6A0E-6449-4C33-5471-C909D98B8F64}"/>
              </a:ext>
            </a:extLst>
          </p:cNvPr>
          <p:cNvGraphicFramePr>
            <a:graphicFrameLocks noGrp="1"/>
          </p:cNvGraphicFramePr>
          <p:nvPr>
            <p:extLst>
              <p:ext uri="{D42A27DB-BD31-4B8C-83A1-F6EECF244321}">
                <p14:modId xmlns:p14="http://schemas.microsoft.com/office/powerpoint/2010/main" val="1935353738"/>
              </p:ext>
            </p:extLst>
          </p:nvPr>
        </p:nvGraphicFramePr>
        <p:xfrm>
          <a:off x="696000" y="1515786"/>
          <a:ext cx="10800000" cy="3826428"/>
        </p:xfrm>
        <a:graphic>
          <a:graphicData uri="http://schemas.openxmlformats.org/drawingml/2006/table">
            <a:tbl>
              <a:tblPr/>
              <a:tblGrid>
                <a:gridCol w="1080000">
                  <a:extLst>
                    <a:ext uri="{9D8B030D-6E8A-4147-A177-3AD203B41FA5}">
                      <a16:colId xmlns:a16="http://schemas.microsoft.com/office/drawing/2014/main" val="2100046245"/>
                    </a:ext>
                  </a:extLst>
                </a:gridCol>
                <a:gridCol w="1440000">
                  <a:extLst>
                    <a:ext uri="{9D8B030D-6E8A-4147-A177-3AD203B41FA5}">
                      <a16:colId xmlns:a16="http://schemas.microsoft.com/office/drawing/2014/main" val="1089623193"/>
                    </a:ext>
                  </a:extLst>
                </a:gridCol>
                <a:gridCol w="1440000">
                  <a:extLst>
                    <a:ext uri="{9D8B030D-6E8A-4147-A177-3AD203B41FA5}">
                      <a16:colId xmlns:a16="http://schemas.microsoft.com/office/drawing/2014/main" val="2837315405"/>
                    </a:ext>
                  </a:extLst>
                </a:gridCol>
                <a:gridCol w="3600000">
                  <a:extLst>
                    <a:ext uri="{9D8B030D-6E8A-4147-A177-3AD203B41FA5}">
                      <a16:colId xmlns:a16="http://schemas.microsoft.com/office/drawing/2014/main" val="4171875191"/>
                    </a:ext>
                  </a:extLst>
                </a:gridCol>
                <a:gridCol w="3240000">
                  <a:extLst>
                    <a:ext uri="{9D8B030D-6E8A-4147-A177-3AD203B41FA5}">
                      <a16:colId xmlns:a16="http://schemas.microsoft.com/office/drawing/2014/main" val="2634054395"/>
                    </a:ext>
                  </a:extLst>
                </a:gridCol>
              </a:tblGrid>
              <a:tr h="179829">
                <a:tc>
                  <a:txBody>
                    <a:bodyPr/>
                    <a:lstStyle/>
                    <a:p>
                      <a:pPr algn="l">
                        <a:buNone/>
                      </a:pPr>
                      <a:r>
                        <a:rPr lang="zh-CN" altLang="en-US" sz="1600">
                          <a:solidFill>
                            <a:schemeClr val="bg1"/>
                          </a:solidFill>
                        </a:rPr>
                        <a:t>符号</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名称</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含义说明</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示例</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解释</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74419942"/>
                  </a:ext>
                </a:extLst>
              </a:tr>
              <a:tr h="318660">
                <a:tc>
                  <a:txBody>
                    <a:bodyPr/>
                    <a:lstStyle/>
                    <a:p>
                      <a:pPr algn="l">
                        <a:buNone/>
                      </a:pPr>
                      <a:r>
                        <a:rPr lang="en-US" altLang="zh-CN" sz="1600">
                          <a:solidFill>
                            <a:schemeClr val="bg1"/>
                          </a:solidFill>
                        </a:rPr>
                        <a:t>=</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定义符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由</a:t>
                      </a:r>
                      <a:r>
                        <a:rPr lang="en-US" altLang="zh-CN" sz="1600">
                          <a:solidFill>
                            <a:schemeClr val="bg1"/>
                          </a:solidFill>
                        </a:rPr>
                        <a:t>……</a:t>
                      </a:r>
                      <a:r>
                        <a:rPr lang="zh-CN" altLang="en-US" sz="1600">
                          <a:solidFill>
                            <a:schemeClr val="bg1"/>
                          </a:solidFill>
                        </a:rPr>
                        <a:t>组成</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订单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订单</a:t>
                      </a:r>
                      <a:r>
                        <a:rPr lang="en-US" altLang="zh-CN" sz="1600">
                          <a:solidFill>
                            <a:schemeClr val="bg1"/>
                          </a:solidFill>
                          <a:latin typeface="Courier New" panose="02070309020205020404" pitchFamily="49" charset="0"/>
                        </a:rPr>
                        <a:t>ID + </a:t>
                      </a:r>
                      <a:r>
                        <a:rPr lang="zh-CN" altLang="en-US" sz="1600">
                          <a:solidFill>
                            <a:schemeClr val="bg1"/>
                          </a:solidFill>
                          <a:latin typeface="Courier New" panose="02070309020205020404" pitchFamily="49" charset="0"/>
                        </a:rPr>
                        <a:t>客户名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商品</a:t>
                      </a:r>
                      <a:r>
                        <a:rPr lang="en-US" altLang="zh-CN" sz="1600">
                          <a:solidFill>
                            <a:schemeClr val="bg1"/>
                          </a:solidFill>
                          <a:latin typeface="Courier New" panose="02070309020205020404" pitchFamily="49" charset="0"/>
                        </a:rPr>
                        <a:t>}</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左边的条目由右边的元素构成</a:t>
                      </a:r>
                    </a:p>
                  </a:txBody>
                  <a:tcPr marL="72009" marR="72009" marT="36004" marB="36004" anchor="ctr">
                    <a:lnL>
                      <a:noFill/>
                    </a:lnL>
                    <a:lnR>
                      <a:noFill/>
                    </a:lnR>
                    <a:lnT>
                      <a:noFill/>
                    </a:lnT>
                    <a:lnB>
                      <a:noFill/>
                    </a:lnB>
                    <a:noFill/>
                  </a:tcPr>
                </a:tc>
                <a:extLst>
                  <a:ext uri="{0D108BD9-81ED-4DB2-BD59-A6C34878D82A}">
                    <a16:rowId xmlns:a16="http://schemas.microsoft.com/office/drawing/2014/main" val="368228190"/>
                  </a:ext>
                </a:extLst>
              </a:tr>
              <a:tr h="318660">
                <a:tc>
                  <a:txBody>
                    <a:bodyPr/>
                    <a:lstStyle/>
                    <a:p>
                      <a:pPr algn="l">
                        <a:buNone/>
                      </a:pPr>
                      <a:r>
                        <a:rPr lang="en-US" altLang="zh-CN" sz="1600">
                          <a:solidFill>
                            <a:schemeClr val="bg1"/>
                          </a:solidFill>
                        </a:rPr>
                        <a:t>+</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连接符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和 </a:t>
                      </a:r>
                      <a:r>
                        <a:rPr lang="en-US" altLang="zh-CN" sz="1600">
                          <a:solidFill>
                            <a:schemeClr val="bg1"/>
                          </a:solidFill>
                        </a:rPr>
                        <a:t>/ </a:t>
                      </a:r>
                      <a:r>
                        <a:rPr lang="zh-CN" altLang="en-US" sz="1600">
                          <a:solidFill>
                            <a:schemeClr val="bg1"/>
                          </a:solidFill>
                        </a:rPr>
                        <a:t>与</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地址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省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市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区</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表示多个数据项的并列组合</a:t>
                      </a:r>
                    </a:p>
                  </a:txBody>
                  <a:tcPr marL="72009" marR="72009" marT="36004" marB="36004" anchor="ctr">
                    <a:lnL>
                      <a:noFill/>
                    </a:lnL>
                    <a:lnR>
                      <a:noFill/>
                    </a:lnR>
                    <a:lnT>
                      <a:noFill/>
                    </a:lnT>
                    <a:lnB>
                      <a:noFill/>
                    </a:lnB>
                    <a:noFill/>
                  </a:tcPr>
                </a:tc>
                <a:extLst>
                  <a:ext uri="{0D108BD9-81ED-4DB2-BD59-A6C34878D82A}">
                    <a16:rowId xmlns:a16="http://schemas.microsoft.com/office/drawing/2014/main" val="4227657146"/>
                  </a:ext>
                </a:extLst>
              </a:tr>
              <a:tr h="179829">
                <a:tc>
                  <a:txBody>
                    <a:bodyPr/>
                    <a:lstStyle/>
                    <a:p>
                      <a:pPr algn="l">
                        <a:buNone/>
                      </a:pPr>
                      <a:r>
                        <a:rPr lang="en-US" altLang="zh-CN" sz="1600">
                          <a:solidFill>
                            <a:schemeClr val="bg1"/>
                          </a:solidFill>
                        </a:rPr>
                        <a:t>[ ]</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选择符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或 </a:t>
                      </a:r>
                      <a:r>
                        <a:rPr lang="en-US" altLang="zh-CN" sz="1600">
                          <a:solidFill>
                            <a:schemeClr val="bg1"/>
                          </a:solidFill>
                        </a:rPr>
                        <a:t>/ </a:t>
                      </a:r>
                      <a:r>
                        <a:rPr lang="zh-CN" altLang="en-US" sz="1600">
                          <a:solidFill>
                            <a:schemeClr val="bg1"/>
                          </a:solidFill>
                        </a:rPr>
                        <a:t>互斥</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支付方式 </a:t>
                      </a:r>
                      <a:r>
                        <a:rPr lang="en-US" altLang="zh-CN" sz="1600">
                          <a:solidFill>
                            <a:schemeClr val="bg1"/>
                          </a:solidFill>
                        </a:rPr>
                        <a:t>= [</a:t>
                      </a:r>
                      <a:r>
                        <a:rPr lang="zh-CN" altLang="en-US" sz="1600">
                          <a:solidFill>
                            <a:schemeClr val="bg1"/>
                          </a:solidFill>
                        </a:rPr>
                        <a:t>支付宝 </a:t>
                      </a:r>
                      <a:r>
                        <a:rPr lang="en-US" altLang="zh-CN" sz="1600">
                          <a:solidFill>
                            <a:schemeClr val="bg1"/>
                          </a:solidFill>
                        </a:rPr>
                        <a:t>| </a:t>
                      </a:r>
                      <a:r>
                        <a:rPr lang="zh-CN" altLang="en-US" sz="1600">
                          <a:solidFill>
                            <a:schemeClr val="bg1"/>
                          </a:solidFill>
                        </a:rPr>
                        <a:t>微信</a:t>
                      </a:r>
                      <a:r>
                        <a:rPr lang="en-US" altLang="zh-CN" sz="1600">
                          <a:solidFill>
                            <a:schemeClr val="bg1"/>
                          </a:solidFill>
                        </a:rPr>
                        <a:t>]</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支付宝或微信</a:t>
                      </a:r>
                    </a:p>
                  </a:txBody>
                  <a:tcPr marL="72009" marR="72009" marT="36004" marB="36004" anchor="ctr">
                    <a:lnL>
                      <a:noFill/>
                    </a:lnL>
                    <a:lnR>
                      <a:noFill/>
                    </a:lnR>
                    <a:lnT>
                      <a:noFill/>
                    </a:lnT>
                    <a:lnB>
                      <a:noFill/>
                    </a:lnB>
                    <a:noFill/>
                  </a:tcPr>
                </a:tc>
                <a:extLst>
                  <a:ext uri="{0D108BD9-81ED-4DB2-BD59-A6C34878D82A}">
                    <a16:rowId xmlns:a16="http://schemas.microsoft.com/office/drawing/2014/main" val="3785771895"/>
                  </a:ext>
                </a:extLst>
              </a:tr>
              <a:tr h="318660">
                <a:tc>
                  <a:txBody>
                    <a:bodyPr/>
                    <a:lstStyle/>
                    <a:p>
                      <a:pPr algn="l">
                        <a:buNone/>
                      </a:pPr>
                      <a:r>
                        <a:rPr lang="en-US" altLang="zh-CN" sz="1600">
                          <a:solidFill>
                            <a:schemeClr val="bg1"/>
                          </a:solidFill>
                        </a:rPr>
                        <a:t>( )</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可选符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可选</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电话 </a:t>
                      </a:r>
                      <a:r>
                        <a:rPr lang="en-US" altLang="zh-CN" sz="1600">
                          <a:solidFill>
                            <a:schemeClr val="bg1"/>
                          </a:solidFill>
                          <a:latin typeface="Courier New" panose="02070309020205020404" pitchFamily="49" charset="0"/>
                        </a:rPr>
                        <a:t>=(</a:t>
                      </a:r>
                      <a:r>
                        <a:rPr lang="zh-CN" altLang="en-US" sz="1600">
                          <a:solidFill>
                            <a:schemeClr val="bg1"/>
                          </a:solidFill>
                          <a:latin typeface="Courier New" panose="02070309020205020404" pitchFamily="49" charset="0"/>
                        </a:rPr>
                        <a:t>区号</a:t>
                      </a:r>
                      <a:r>
                        <a:rPr lang="en-US" altLang="zh-CN" sz="1600">
                          <a:solidFill>
                            <a:schemeClr val="bg1"/>
                          </a:solidFill>
                          <a:latin typeface="Courier New" panose="02070309020205020404" pitchFamily="49" charset="0"/>
                        </a:rPr>
                        <a:t>) + </a:t>
                      </a:r>
                      <a:r>
                        <a:rPr lang="zh-CN" altLang="en-US" sz="1600">
                          <a:solidFill>
                            <a:schemeClr val="bg1"/>
                          </a:solidFill>
                          <a:latin typeface="Courier New" panose="02070309020205020404" pitchFamily="49" charset="0"/>
                        </a:rPr>
                        <a:t>号码</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表示圆括号内的元素是可有可无的</a:t>
                      </a:r>
                    </a:p>
                  </a:txBody>
                  <a:tcPr marL="72009" marR="72009" marT="36004" marB="36004" anchor="ctr">
                    <a:lnL>
                      <a:noFill/>
                    </a:lnL>
                    <a:lnR>
                      <a:noFill/>
                    </a:lnR>
                    <a:lnT>
                      <a:noFill/>
                    </a:lnT>
                    <a:lnB>
                      <a:noFill/>
                    </a:lnB>
                    <a:noFill/>
                  </a:tcPr>
                </a:tc>
                <a:extLst>
                  <a:ext uri="{0D108BD9-81ED-4DB2-BD59-A6C34878D82A}">
                    <a16:rowId xmlns:a16="http://schemas.microsoft.com/office/drawing/2014/main" val="1402032865"/>
                  </a:ext>
                </a:extLst>
              </a:tr>
              <a:tr h="457491">
                <a:tc>
                  <a:txBody>
                    <a:bodyPr/>
                    <a:lstStyle/>
                    <a:p>
                      <a:pPr algn="l">
                        <a:buNone/>
                      </a:pPr>
                      <a:r>
                        <a:rPr lang="en-US" altLang="zh-CN" sz="1600">
                          <a:solidFill>
                            <a:schemeClr val="bg1"/>
                          </a:solidFill>
                        </a:rPr>
                        <a:t>{ }</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重复符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重复</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订单明细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商品信息</a:t>
                      </a:r>
                      <a:r>
                        <a:rPr lang="en-US" altLang="zh-CN" sz="1600">
                          <a:solidFill>
                            <a:schemeClr val="bg1"/>
                          </a:solidFill>
                          <a:latin typeface="Courier New" panose="02070309020205020404" pitchFamily="49" charset="0"/>
                        </a:rPr>
                        <a:t>}</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表示花括号内的元素可以重复出现（</a:t>
                      </a:r>
                      <a:r>
                        <a:rPr lang="en-US" altLang="zh-CN" sz="1600">
                          <a:solidFill>
                            <a:schemeClr val="bg1"/>
                          </a:solidFill>
                        </a:rPr>
                        <a:t>0</a:t>
                      </a:r>
                      <a:r>
                        <a:rPr lang="zh-CN" altLang="en-US" sz="1600">
                          <a:solidFill>
                            <a:schemeClr val="bg1"/>
                          </a:solidFill>
                        </a:rPr>
                        <a:t>次或多次）</a:t>
                      </a:r>
                    </a:p>
                  </a:txBody>
                  <a:tcPr marL="72009" marR="72009" marT="36004" marB="36004" anchor="ctr">
                    <a:lnL>
                      <a:noFill/>
                    </a:lnL>
                    <a:lnR>
                      <a:noFill/>
                    </a:lnR>
                    <a:lnT>
                      <a:noFill/>
                    </a:lnT>
                    <a:lnB>
                      <a:noFill/>
                    </a:lnB>
                    <a:noFill/>
                  </a:tcPr>
                </a:tc>
                <a:extLst>
                  <a:ext uri="{0D108BD9-81ED-4DB2-BD59-A6C34878D82A}">
                    <a16:rowId xmlns:a16="http://schemas.microsoft.com/office/drawing/2014/main" val="1540327194"/>
                  </a:ext>
                </a:extLst>
              </a:tr>
              <a:tr h="457491">
                <a:tc>
                  <a:txBody>
                    <a:bodyPr/>
                    <a:lstStyle/>
                    <a:p>
                      <a:pPr algn="l">
                        <a:buNone/>
                      </a:pPr>
                      <a:r>
                        <a:rPr lang="en-US" sz="1600">
                          <a:solidFill>
                            <a:schemeClr val="bg1"/>
                          </a:solidFill>
                        </a:rPr>
                        <a:t>{ }n</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限定重复符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固定次数重复</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坐标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数字</a:t>
                      </a:r>
                      <a:r>
                        <a:rPr lang="en-US" altLang="zh-CN" sz="1600">
                          <a:solidFill>
                            <a:schemeClr val="bg1"/>
                          </a:solidFill>
                          <a:latin typeface="Courier New" panose="02070309020205020404" pitchFamily="49" charset="0"/>
                        </a:rPr>
                        <a:t>}2</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表示花括号内的元素必须重复 </a:t>
                      </a:r>
                      <a:r>
                        <a:rPr lang="en-US" altLang="zh-CN" sz="1600">
                          <a:solidFill>
                            <a:schemeClr val="bg1"/>
                          </a:solidFill>
                        </a:rPr>
                        <a:t>n </a:t>
                      </a:r>
                      <a:r>
                        <a:rPr lang="zh-CN" altLang="en-US" sz="1600">
                          <a:solidFill>
                            <a:schemeClr val="bg1"/>
                          </a:solidFill>
                        </a:rPr>
                        <a:t>次（例如坐标必须有两个数字）</a:t>
                      </a:r>
                    </a:p>
                  </a:txBody>
                  <a:tcPr marL="72009" marR="72009" marT="36004" marB="36004" anchor="ctr">
                    <a:lnL>
                      <a:noFill/>
                    </a:lnL>
                    <a:lnR>
                      <a:noFill/>
                    </a:lnR>
                    <a:lnT>
                      <a:noFill/>
                    </a:lnT>
                    <a:lnB>
                      <a:noFill/>
                    </a:lnB>
                    <a:noFill/>
                  </a:tcPr>
                </a:tc>
                <a:extLst>
                  <a:ext uri="{0D108BD9-81ED-4DB2-BD59-A6C34878D82A}">
                    <a16:rowId xmlns:a16="http://schemas.microsoft.com/office/drawing/2014/main" val="3173369090"/>
                  </a:ext>
                </a:extLst>
              </a:tr>
              <a:tr h="457491">
                <a:tc>
                  <a:txBody>
                    <a:bodyPr/>
                    <a:lstStyle/>
                    <a:p>
                      <a:pPr algn="l">
                        <a:buNone/>
                      </a:pPr>
                      <a:r>
                        <a:rPr lang="en-US" sz="1600">
                          <a:solidFill>
                            <a:schemeClr val="bg1"/>
                          </a:solidFill>
                        </a:rPr>
                        <a:t>{ }</a:t>
                      </a:r>
                      <a:r>
                        <a:rPr lang="en-US" sz="1600" err="1">
                          <a:solidFill>
                            <a:schemeClr val="bg1"/>
                          </a:solidFill>
                        </a:rPr>
                        <a:t>m,n</a:t>
                      </a:r>
                      <a:endParaRPr 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范围重复符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范围重复</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密码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字母或数字</a:t>
                      </a:r>
                      <a:r>
                        <a:rPr lang="en-US" altLang="zh-CN" sz="1600">
                          <a:solidFill>
                            <a:schemeClr val="bg1"/>
                          </a:solidFill>
                          <a:latin typeface="Courier New" panose="02070309020205020404" pitchFamily="49" charset="0"/>
                        </a:rPr>
                        <a:t>}6,12</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表示花括号内的元素重复次数在 </a:t>
                      </a:r>
                      <a:r>
                        <a:rPr lang="en-US" altLang="zh-CN" sz="1600">
                          <a:solidFill>
                            <a:schemeClr val="bg1"/>
                          </a:solidFill>
                        </a:rPr>
                        <a:t>m </a:t>
                      </a:r>
                      <a:r>
                        <a:rPr lang="zh-CN" altLang="en-US" sz="1600">
                          <a:solidFill>
                            <a:schemeClr val="bg1"/>
                          </a:solidFill>
                        </a:rPr>
                        <a:t>到 </a:t>
                      </a:r>
                      <a:r>
                        <a:rPr lang="en-US" altLang="zh-CN" sz="1600">
                          <a:solidFill>
                            <a:schemeClr val="bg1"/>
                          </a:solidFill>
                        </a:rPr>
                        <a:t>n </a:t>
                      </a:r>
                      <a:r>
                        <a:rPr lang="zh-CN" altLang="en-US" sz="1600">
                          <a:solidFill>
                            <a:schemeClr val="bg1"/>
                          </a:solidFill>
                        </a:rPr>
                        <a:t>次之间</a:t>
                      </a:r>
                    </a:p>
                  </a:txBody>
                  <a:tcPr marL="72009" marR="72009" marT="36004" marB="36004" anchor="ctr">
                    <a:lnL>
                      <a:noFill/>
                    </a:lnL>
                    <a:lnR>
                      <a:noFill/>
                    </a:lnR>
                    <a:lnT>
                      <a:noFill/>
                    </a:lnT>
                    <a:lnB>
                      <a:noFill/>
                    </a:lnB>
                    <a:noFill/>
                  </a:tcPr>
                </a:tc>
                <a:extLst>
                  <a:ext uri="{0D108BD9-81ED-4DB2-BD59-A6C34878D82A}">
                    <a16:rowId xmlns:a16="http://schemas.microsoft.com/office/drawing/2014/main" val="3601504622"/>
                  </a:ext>
                </a:extLst>
              </a:tr>
              <a:tr h="318660">
                <a:tc>
                  <a:txBody>
                    <a:bodyPr/>
                    <a:lstStyle/>
                    <a:p>
                      <a:pPr algn="l">
                        <a:buNone/>
                      </a:pPr>
                      <a:r>
                        <a:rPr lang="en-US" altLang="zh-CN" sz="1600">
                          <a:solidFill>
                            <a:schemeClr val="bg1"/>
                          </a:solidFill>
                        </a:rPr>
                        <a:t>…</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省略符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范围</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年龄 </a:t>
                      </a:r>
                      <a:r>
                        <a:rPr lang="en-US" altLang="zh-CN" sz="1600">
                          <a:solidFill>
                            <a:schemeClr val="bg1"/>
                          </a:solidFill>
                          <a:latin typeface="Courier New" panose="02070309020205020404" pitchFamily="49" charset="0"/>
                        </a:rPr>
                        <a:t>= 0…150</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表示取值范围是从左边的值到右边的值</a:t>
                      </a:r>
                    </a:p>
                  </a:txBody>
                  <a:tcPr marL="72009" marR="72009" marT="36004" marB="36004" anchor="ctr">
                    <a:lnL>
                      <a:noFill/>
                    </a:lnL>
                    <a:lnR>
                      <a:noFill/>
                    </a:lnR>
                    <a:lnT>
                      <a:noFill/>
                    </a:lnT>
                    <a:lnB>
                      <a:noFill/>
                    </a:lnB>
                    <a:noFill/>
                  </a:tcPr>
                </a:tc>
                <a:extLst>
                  <a:ext uri="{0D108BD9-81ED-4DB2-BD59-A6C34878D82A}">
                    <a16:rowId xmlns:a16="http://schemas.microsoft.com/office/drawing/2014/main" val="1757710848"/>
                  </a:ext>
                </a:extLst>
              </a:tr>
            </a:tbl>
          </a:graphicData>
        </a:graphic>
      </p:graphicFrame>
    </p:spTree>
    <p:extLst>
      <p:ext uri="{BB962C8B-B14F-4D97-AF65-F5344CB8AC3E}">
        <p14:creationId xmlns:p14="http://schemas.microsoft.com/office/powerpoint/2010/main" val="185148768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506F2-F7E0-0B7C-00C7-FA8DF25DFB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FA51DF-401F-E97C-3DB4-CA8DF09D79C0}"/>
              </a:ext>
            </a:extLst>
          </p:cNvPr>
          <p:cNvSpPr>
            <a:spLocks noGrp="1"/>
          </p:cNvSpPr>
          <p:nvPr>
            <p:ph type="title"/>
          </p:nvPr>
        </p:nvSpPr>
        <p:spPr>
          <a:xfrm>
            <a:off x="695998" y="360000"/>
            <a:ext cx="6375921" cy="429413"/>
          </a:xfrm>
        </p:spPr>
        <p:txBody>
          <a:bodyPr/>
          <a:lstStyle/>
          <a:p>
            <a:r>
              <a:rPr lang="en-US" altLang="zh-CN"/>
              <a:t>2.4 UML</a:t>
            </a:r>
            <a:endParaRPr lang="zh-CN" altLang="en-US"/>
          </a:p>
        </p:txBody>
      </p:sp>
      <p:sp>
        <p:nvSpPr>
          <p:cNvPr id="3" name="内容占位符 2">
            <a:extLst>
              <a:ext uri="{FF2B5EF4-FFF2-40B4-BE49-F238E27FC236}">
                <a16:creationId xmlns:a16="http://schemas.microsoft.com/office/drawing/2014/main" id="{8E11DE42-B1AF-8A0C-8732-749BEE5EA576}"/>
              </a:ext>
            </a:extLst>
          </p:cNvPr>
          <p:cNvSpPr>
            <a:spLocks noGrp="1"/>
          </p:cNvSpPr>
          <p:nvPr>
            <p:ph idx="1"/>
          </p:nvPr>
        </p:nvSpPr>
        <p:spPr>
          <a:xfrm>
            <a:off x="696000" y="864000"/>
            <a:ext cx="10800000" cy="5400000"/>
          </a:xfrm>
        </p:spPr>
        <p:txBody>
          <a:bodyPr>
            <a:normAutofit/>
          </a:bodyPr>
          <a:lstStyle/>
          <a:p>
            <a:r>
              <a:rPr lang="zh-CN" altLang="en-US" dirty="0"/>
              <a:t>统一建模语言 </a:t>
            </a:r>
            <a:r>
              <a:rPr lang="en-US" altLang="zh-CN" dirty="0"/>
              <a:t>UML(Unified Modeling Language)</a:t>
            </a:r>
          </a:p>
          <a:p>
            <a:pPr lvl="1"/>
            <a:r>
              <a:rPr lang="zh-CN" altLang="en-US" dirty="0"/>
              <a:t>用例图 </a:t>
            </a:r>
            <a:r>
              <a:rPr lang="en-US" altLang="zh-CN" dirty="0"/>
              <a:t>Use Case Diagram</a:t>
            </a:r>
          </a:p>
          <a:p>
            <a:pPr lvl="2"/>
            <a:r>
              <a:rPr lang="zh-CN" altLang="en-US" dirty="0"/>
              <a:t>系统边界 </a:t>
            </a:r>
            <a:r>
              <a:rPr lang="en-US" altLang="zh-CN" dirty="0"/>
              <a:t>Boundary</a:t>
            </a:r>
          </a:p>
          <a:p>
            <a:pPr lvl="2"/>
            <a:r>
              <a:rPr lang="zh-CN" altLang="en-US" dirty="0"/>
              <a:t>参与者 </a:t>
            </a:r>
            <a:r>
              <a:rPr lang="en-US" altLang="zh-CN" dirty="0"/>
              <a:t>Actor</a:t>
            </a:r>
            <a:endParaRPr lang="zh-CN" altLang="en-US" dirty="0"/>
          </a:p>
          <a:p>
            <a:pPr lvl="2"/>
            <a:r>
              <a:rPr lang="zh-CN" altLang="en-US" dirty="0"/>
              <a:t>用例 </a:t>
            </a:r>
            <a:r>
              <a:rPr lang="en-US" altLang="zh-CN" dirty="0"/>
              <a:t>Use Case</a:t>
            </a:r>
            <a:endParaRPr lang="zh-CN" altLang="en-US" dirty="0"/>
          </a:p>
          <a:p>
            <a:pPr lvl="2"/>
            <a:r>
              <a:rPr lang="zh-CN" altLang="en-US" dirty="0"/>
              <a:t>关联 </a:t>
            </a:r>
            <a:r>
              <a:rPr lang="en-US" altLang="zh-CN" dirty="0"/>
              <a:t>Association</a:t>
            </a:r>
            <a:r>
              <a:rPr lang="zh-CN" altLang="en-US" dirty="0"/>
              <a:t>、包含 </a:t>
            </a:r>
            <a:r>
              <a:rPr lang="en-US" altLang="zh-CN" dirty="0"/>
              <a:t>include</a:t>
            </a:r>
            <a:r>
              <a:rPr lang="zh-CN" altLang="en-US" dirty="0"/>
              <a:t>、扩展 </a:t>
            </a:r>
            <a:r>
              <a:rPr lang="en-US" altLang="zh-CN" dirty="0"/>
              <a:t>extend</a:t>
            </a:r>
            <a:r>
              <a:rPr lang="zh-CN" altLang="en-US" dirty="0"/>
              <a:t>、泛化 </a:t>
            </a:r>
            <a:r>
              <a:rPr lang="en-US" altLang="zh-CN" dirty="0"/>
              <a:t>generalization</a:t>
            </a:r>
          </a:p>
          <a:p>
            <a:pPr lvl="1"/>
            <a:r>
              <a:rPr lang="zh-CN" altLang="en-US" dirty="0"/>
              <a:t>时序图 </a:t>
            </a:r>
            <a:r>
              <a:rPr lang="en-US" altLang="zh-CN" dirty="0"/>
              <a:t>Sequence Diagram</a:t>
            </a:r>
          </a:p>
          <a:p>
            <a:pPr lvl="1"/>
            <a:r>
              <a:rPr lang="en-US" altLang="zh-CN" dirty="0"/>
              <a:t>…</a:t>
            </a:r>
            <a:endParaRPr lang="zh-CN" altLang="en-US" dirty="0"/>
          </a:p>
        </p:txBody>
      </p:sp>
      <p:sp>
        <p:nvSpPr>
          <p:cNvPr id="4" name="文本占位符 3">
            <a:extLst>
              <a:ext uri="{FF2B5EF4-FFF2-40B4-BE49-F238E27FC236}">
                <a16:creationId xmlns:a16="http://schemas.microsoft.com/office/drawing/2014/main" id="{0F72E6B0-722A-9D9E-EBD8-2F56E72C1B33}"/>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219781564"/>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C3EE7-C1B1-6EB5-CBE5-7E6469CF00E5}"/>
              </a:ext>
            </a:extLst>
          </p:cNvPr>
          <p:cNvSpPr>
            <a:spLocks noGrp="1"/>
          </p:cNvSpPr>
          <p:nvPr>
            <p:ph type="title"/>
          </p:nvPr>
        </p:nvSpPr>
        <p:spPr>
          <a:xfrm>
            <a:off x="695998" y="360000"/>
            <a:ext cx="6375921" cy="429413"/>
          </a:xfrm>
        </p:spPr>
        <p:txBody>
          <a:bodyPr/>
          <a:lstStyle/>
          <a:p>
            <a:r>
              <a:rPr lang="en-US" altLang="zh-CN"/>
              <a:t>3.1 </a:t>
            </a:r>
            <a:r>
              <a:rPr lang="zh-CN" altLang="en-US"/>
              <a:t>影响地图 </a:t>
            </a:r>
          </a:p>
        </p:txBody>
      </p:sp>
      <p:sp>
        <p:nvSpPr>
          <p:cNvPr id="7" name="内容占位符 6">
            <a:extLst>
              <a:ext uri="{FF2B5EF4-FFF2-40B4-BE49-F238E27FC236}">
                <a16:creationId xmlns:a16="http://schemas.microsoft.com/office/drawing/2014/main" id="{C2A300F1-1B38-27F8-4679-FF6701C46325}"/>
              </a:ext>
            </a:extLst>
          </p:cNvPr>
          <p:cNvSpPr>
            <a:spLocks noGrp="1"/>
          </p:cNvSpPr>
          <p:nvPr>
            <p:ph idx="1"/>
          </p:nvPr>
        </p:nvSpPr>
        <p:spPr>
          <a:xfrm>
            <a:off x="696000" y="864000"/>
            <a:ext cx="10800000" cy="5400000"/>
          </a:xfrm>
        </p:spPr>
        <p:txBody>
          <a:bodyPr/>
          <a:lstStyle/>
          <a:p>
            <a:r>
              <a:rPr lang="zh-CN" altLang="en-US">
                <a:hlinkClick r:id="rId3"/>
              </a:rPr>
              <a:t>影响地图 </a:t>
            </a:r>
            <a:r>
              <a:rPr lang="en-US" altLang="zh-CN">
                <a:hlinkClick r:id="rId3"/>
              </a:rPr>
              <a:t>Impact Mapping</a:t>
            </a:r>
            <a:endParaRPr lang="en-US" altLang="zh-CN"/>
          </a:p>
          <a:p>
            <a:r>
              <a:rPr lang="zh-CN" altLang="en-US"/>
              <a:t>从“业务目标”出发，</a:t>
            </a:r>
            <a:r>
              <a:rPr lang="zh-CN" altLang="en-US">
                <a:solidFill>
                  <a:srgbClr val="FFFF00"/>
                </a:solidFill>
              </a:rPr>
              <a:t>逆向推导</a:t>
            </a:r>
            <a:r>
              <a:rPr lang="zh-CN" altLang="en-US"/>
              <a:t>出“应该做什么功能</a:t>
            </a:r>
            <a:endParaRPr lang="en-US" altLang="zh-CN"/>
          </a:p>
          <a:p>
            <a:r>
              <a:rPr lang="zh-CN" altLang="en-US"/>
              <a:t>从一个明确的业务目标出发，通过识别关键角色、期望的行为改变（影响），最终推导出具体的交付物</a:t>
            </a:r>
            <a:endParaRPr lang="en-US" altLang="zh-CN"/>
          </a:p>
          <a:p>
            <a:pPr lvl="1"/>
            <a:r>
              <a:rPr lang="zh-CN" altLang="en-US"/>
              <a:t>为什么做？（业务目标）</a:t>
            </a:r>
          </a:p>
          <a:p>
            <a:pPr lvl="1"/>
            <a:r>
              <a:rPr lang="zh-CN" altLang="en-US"/>
              <a:t>为谁做？（受影响的角色）</a:t>
            </a:r>
          </a:p>
          <a:p>
            <a:pPr lvl="1"/>
            <a:r>
              <a:rPr lang="zh-CN" altLang="en-US"/>
              <a:t>如何影响他们？（行为改变</a:t>
            </a:r>
            <a:r>
              <a:rPr lang="en-US" altLang="zh-CN"/>
              <a:t>/</a:t>
            </a:r>
            <a:r>
              <a:rPr lang="zh-CN" altLang="en-US"/>
              <a:t>影响）</a:t>
            </a:r>
          </a:p>
          <a:p>
            <a:pPr lvl="1"/>
            <a:r>
              <a:rPr lang="zh-CN" altLang="en-US"/>
              <a:t>做什么来实现？（具体功能项）</a:t>
            </a:r>
          </a:p>
          <a:p>
            <a:endParaRPr lang="zh-CN" altLang="en-US"/>
          </a:p>
        </p:txBody>
      </p:sp>
      <p:sp>
        <p:nvSpPr>
          <p:cNvPr id="4" name="文本占位符 3">
            <a:extLst>
              <a:ext uri="{FF2B5EF4-FFF2-40B4-BE49-F238E27FC236}">
                <a16:creationId xmlns:a16="http://schemas.microsoft.com/office/drawing/2014/main" id="{6D1AD4C8-AAF0-5540-8B20-2A477A4A1786}"/>
              </a:ext>
            </a:extLst>
          </p:cNvPr>
          <p:cNvSpPr>
            <a:spLocks noGrp="1"/>
          </p:cNvSpPr>
          <p:nvPr>
            <p:ph type="body" sz="quarter" idx="10"/>
          </p:nvPr>
        </p:nvSpPr>
        <p:spPr>
          <a:xfrm>
            <a:off x="7071919" y="448519"/>
            <a:ext cx="4424080" cy="338554"/>
          </a:xfrm>
        </p:spPr>
        <p:txBody>
          <a:bodyPr/>
          <a:lstStyle/>
          <a:p>
            <a:r>
              <a:rPr lang="en-US" altLang="zh-CN"/>
              <a:t>Impact Mapping/Agile</a:t>
            </a:r>
            <a:endParaRPr lang="zh-CN" altLang="en-US"/>
          </a:p>
        </p:txBody>
      </p:sp>
      <p:sp>
        <p:nvSpPr>
          <p:cNvPr id="14" name="矩形: 圆角 13">
            <a:extLst>
              <a:ext uri="{FF2B5EF4-FFF2-40B4-BE49-F238E27FC236}">
                <a16:creationId xmlns:a16="http://schemas.microsoft.com/office/drawing/2014/main" id="{501F5A51-893A-E04B-F906-C2AB7320A322}"/>
              </a:ext>
            </a:extLst>
          </p:cNvPr>
          <p:cNvSpPr/>
          <p:nvPr/>
        </p:nvSpPr>
        <p:spPr>
          <a:xfrm>
            <a:off x="1645802" y="3955264"/>
            <a:ext cx="1440000" cy="432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solidFill>
                  <a:schemeClr val="bg1"/>
                </a:solidFill>
              </a:rPr>
              <a:t>Goal</a:t>
            </a:r>
            <a:endParaRPr lang="zh-CN" altLang="en-US" sz="1600">
              <a:solidFill>
                <a:schemeClr val="bg1"/>
              </a:solidFill>
            </a:endParaRPr>
          </a:p>
        </p:txBody>
      </p:sp>
      <p:sp>
        <p:nvSpPr>
          <p:cNvPr id="15" name="矩形: 圆角 14">
            <a:extLst>
              <a:ext uri="{FF2B5EF4-FFF2-40B4-BE49-F238E27FC236}">
                <a16:creationId xmlns:a16="http://schemas.microsoft.com/office/drawing/2014/main" id="{255DF7D2-EBC9-B6BB-62F5-974317C9C0E2}"/>
              </a:ext>
            </a:extLst>
          </p:cNvPr>
          <p:cNvSpPr/>
          <p:nvPr/>
        </p:nvSpPr>
        <p:spPr>
          <a:xfrm>
            <a:off x="9000331" y="3955264"/>
            <a:ext cx="1440000" cy="432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solidFill>
                  <a:schemeClr val="bg1"/>
                </a:solidFill>
              </a:rPr>
              <a:t>Delivery</a:t>
            </a:r>
            <a:endParaRPr lang="zh-CN" altLang="en-US" sz="1600">
              <a:solidFill>
                <a:schemeClr val="bg1"/>
              </a:solidFill>
            </a:endParaRPr>
          </a:p>
        </p:txBody>
      </p:sp>
      <p:cxnSp>
        <p:nvCxnSpPr>
          <p:cNvPr id="17" name="直接箭头连接符 16">
            <a:extLst>
              <a:ext uri="{FF2B5EF4-FFF2-40B4-BE49-F238E27FC236}">
                <a16:creationId xmlns:a16="http://schemas.microsoft.com/office/drawing/2014/main" id="{47B3A7E6-A439-4C21-5714-326E7EC673DC}"/>
              </a:ext>
            </a:extLst>
          </p:cNvPr>
          <p:cNvCxnSpPr>
            <a:cxnSpLocks/>
          </p:cNvCxnSpPr>
          <p:nvPr/>
        </p:nvCxnSpPr>
        <p:spPr>
          <a:xfrm>
            <a:off x="3575170" y="4171264"/>
            <a:ext cx="4935794" cy="0"/>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FCF1747E-4FAD-0596-A5FD-8F658E45257C}"/>
              </a:ext>
            </a:extLst>
          </p:cNvPr>
          <p:cNvSpPr txBox="1"/>
          <p:nvPr/>
        </p:nvSpPr>
        <p:spPr>
          <a:xfrm>
            <a:off x="2365802" y="4951689"/>
            <a:ext cx="721672" cy="369332"/>
          </a:xfrm>
          <a:prstGeom prst="rect">
            <a:avLst/>
          </a:prstGeom>
          <a:noFill/>
        </p:spPr>
        <p:txBody>
          <a:bodyPr wrap="none" rtlCol="0">
            <a:spAutoFit/>
          </a:bodyPr>
          <a:lstStyle/>
          <a:p>
            <a:r>
              <a:rPr lang="en-US" altLang="zh-CN">
                <a:solidFill>
                  <a:schemeClr val="bg1"/>
                </a:solidFill>
              </a:rPr>
              <a:t>Why</a:t>
            </a:r>
            <a:endParaRPr lang="zh-CN" altLang="en-US">
              <a:solidFill>
                <a:schemeClr val="bg1"/>
              </a:solidFill>
            </a:endParaRPr>
          </a:p>
        </p:txBody>
      </p:sp>
      <p:sp>
        <p:nvSpPr>
          <p:cNvPr id="19" name="文本框 18">
            <a:extLst>
              <a:ext uri="{FF2B5EF4-FFF2-40B4-BE49-F238E27FC236}">
                <a16:creationId xmlns:a16="http://schemas.microsoft.com/office/drawing/2014/main" id="{5C33681C-4D75-DA83-07F2-13211F50ED9C}"/>
              </a:ext>
            </a:extLst>
          </p:cNvPr>
          <p:cNvSpPr txBox="1"/>
          <p:nvPr/>
        </p:nvSpPr>
        <p:spPr>
          <a:xfrm>
            <a:off x="6622087" y="4436379"/>
            <a:ext cx="1015021" cy="369332"/>
          </a:xfrm>
          <a:prstGeom prst="rect">
            <a:avLst/>
          </a:prstGeom>
          <a:noFill/>
        </p:spPr>
        <p:txBody>
          <a:bodyPr wrap="none" rtlCol="0">
            <a:spAutoFit/>
          </a:bodyPr>
          <a:lstStyle/>
          <a:p>
            <a:r>
              <a:rPr lang="en-US" altLang="zh-CN">
                <a:solidFill>
                  <a:schemeClr val="bg1"/>
                </a:solidFill>
              </a:rPr>
              <a:t>Impact</a:t>
            </a:r>
            <a:endParaRPr lang="zh-CN" altLang="en-US">
              <a:solidFill>
                <a:schemeClr val="bg1"/>
              </a:solidFill>
            </a:endParaRPr>
          </a:p>
        </p:txBody>
      </p:sp>
      <p:cxnSp>
        <p:nvCxnSpPr>
          <p:cNvPr id="21" name="直接连接符 20">
            <a:extLst>
              <a:ext uri="{FF2B5EF4-FFF2-40B4-BE49-F238E27FC236}">
                <a16:creationId xmlns:a16="http://schemas.microsoft.com/office/drawing/2014/main" id="{753BD55C-9849-F4D3-CAF9-B03161F8128B}"/>
              </a:ext>
            </a:extLst>
          </p:cNvPr>
          <p:cNvCxnSpPr>
            <a:cxnSpLocks/>
          </p:cNvCxnSpPr>
          <p:nvPr/>
        </p:nvCxnSpPr>
        <p:spPr>
          <a:xfrm>
            <a:off x="4949589" y="3991264"/>
            <a:ext cx="0" cy="360000"/>
          </a:xfrm>
          <a:prstGeom prst="line">
            <a:avLst/>
          </a:prstGeom>
          <a:ln w="28575">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5F1F62F-49F1-BD98-79FB-00C2A7C11876}"/>
              </a:ext>
            </a:extLst>
          </p:cNvPr>
          <p:cNvCxnSpPr>
            <a:cxnSpLocks/>
          </p:cNvCxnSpPr>
          <p:nvPr/>
        </p:nvCxnSpPr>
        <p:spPr>
          <a:xfrm>
            <a:off x="7136542" y="3991264"/>
            <a:ext cx="0" cy="360000"/>
          </a:xfrm>
          <a:prstGeom prst="line">
            <a:avLst/>
          </a:prstGeom>
          <a:ln w="28575">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6FD7194C-6CC7-1224-D3B7-1506E08B2B6E}"/>
              </a:ext>
            </a:extLst>
          </p:cNvPr>
          <p:cNvCxnSpPr>
            <a:cxnSpLocks/>
          </p:cNvCxnSpPr>
          <p:nvPr/>
        </p:nvCxnSpPr>
        <p:spPr>
          <a:xfrm flipV="1">
            <a:off x="2365802"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EE807EBF-7EAD-5D06-08CF-A393DF2B6ECE}"/>
              </a:ext>
            </a:extLst>
          </p:cNvPr>
          <p:cNvCxnSpPr>
            <a:cxnSpLocks/>
          </p:cNvCxnSpPr>
          <p:nvPr/>
        </p:nvCxnSpPr>
        <p:spPr>
          <a:xfrm flipV="1">
            <a:off x="4949589"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ECD40C30-3D6B-E6D0-C344-88A2E85B52C7}"/>
              </a:ext>
            </a:extLst>
          </p:cNvPr>
          <p:cNvCxnSpPr>
            <a:cxnSpLocks/>
          </p:cNvCxnSpPr>
          <p:nvPr/>
        </p:nvCxnSpPr>
        <p:spPr>
          <a:xfrm flipV="1">
            <a:off x="7136542"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7C7BDA69-38D1-117A-A813-87F5008E97FB}"/>
              </a:ext>
            </a:extLst>
          </p:cNvPr>
          <p:cNvCxnSpPr>
            <a:cxnSpLocks/>
          </p:cNvCxnSpPr>
          <p:nvPr/>
        </p:nvCxnSpPr>
        <p:spPr>
          <a:xfrm flipV="1">
            <a:off x="9720331"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61A0704B-1F16-F02D-5A3B-C5A39EE1625B}"/>
              </a:ext>
            </a:extLst>
          </p:cNvPr>
          <p:cNvSpPr txBox="1"/>
          <p:nvPr/>
        </p:nvSpPr>
        <p:spPr>
          <a:xfrm>
            <a:off x="4949589" y="4951689"/>
            <a:ext cx="740908" cy="369332"/>
          </a:xfrm>
          <a:prstGeom prst="rect">
            <a:avLst/>
          </a:prstGeom>
          <a:noFill/>
        </p:spPr>
        <p:txBody>
          <a:bodyPr wrap="none" rtlCol="0">
            <a:spAutoFit/>
          </a:bodyPr>
          <a:lstStyle/>
          <a:p>
            <a:r>
              <a:rPr lang="en-US" altLang="zh-CN">
                <a:solidFill>
                  <a:schemeClr val="bg1"/>
                </a:solidFill>
              </a:rPr>
              <a:t>Who</a:t>
            </a:r>
            <a:endParaRPr lang="zh-CN" altLang="en-US">
              <a:solidFill>
                <a:schemeClr val="bg1"/>
              </a:solidFill>
            </a:endParaRPr>
          </a:p>
        </p:txBody>
      </p:sp>
      <p:sp>
        <p:nvSpPr>
          <p:cNvPr id="29" name="文本框 28">
            <a:extLst>
              <a:ext uri="{FF2B5EF4-FFF2-40B4-BE49-F238E27FC236}">
                <a16:creationId xmlns:a16="http://schemas.microsoft.com/office/drawing/2014/main" id="{85F848DA-D28E-8DA8-A6F9-990C996F5EB7}"/>
              </a:ext>
            </a:extLst>
          </p:cNvPr>
          <p:cNvSpPr txBox="1"/>
          <p:nvPr/>
        </p:nvSpPr>
        <p:spPr>
          <a:xfrm>
            <a:off x="7136542" y="4951689"/>
            <a:ext cx="720069" cy="369332"/>
          </a:xfrm>
          <a:prstGeom prst="rect">
            <a:avLst/>
          </a:prstGeom>
          <a:noFill/>
        </p:spPr>
        <p:txBody>
          <a:bodyPr wrap="none" rtlCol="0">
            <a:spAutoFit/>
          </a:bodyPr>
          <a:lstStyle/>
          <a:p>
            <a:r>
              <a:rPr lang="en-US" altLang="zh-CN">
                <a:solidFill>
                  <a:schemeClr val="bg1"/>
                </a:solidFill>
              </a:rPr>
              <a:t>How</a:t>
            </a:r>
            <a:endParaRPr lang="zh-CN" altLang="en-US">
              <a:solidFill>
                <a:schemeClr val="bg1"/>
              </a:solidFill>
            </a:endParaRPr>
          </a:p>
        </p:txBody>
      </p:sp>
      <p:sp>
        <p:nvSpPr>
          <p:cNvPr id="30" name="文本框 29">
            <a:extLst>
              <a:ext uri="{FF2B5EF4-FFF2-40B4-BE49-F238E27FC236}">
                <a16:creationId xmlns:a16="http://schemas.microsoft.com/office/drawing/2014/main" id="{5C90C536-A90C-67AF-EF47-83FA34D3241E}"/>
              </a:ext>
            </a:extLst>
          </p:cNvPr>
          <p:cNvSpPr txBox="1"/>
          <p:nvPr/>
        </p:nvSpPr>
        <p:spPr>
          <a:xfrm>
            <a:off x="9720331" y="4951689"/>
            <a:ext cx="825867" cy="369332"/>
          </a:xfrm>
          <a:prstGeom prst="rect">
            <a:avLst/>
          </a:prstGeom>
          <a:noFill/>
        </p:spPr>
        <p:txBody>
          <a:bodyPr wrap="none" rtlCol="0">
            <a:spAutoFit/>
          </a:bodyPr>
          <a:lstStyle/>
          <a:p>
            <a:r>
              <a:rPr lang="en-US" altLang="zh-CN">
                <a:solidFill>
                  <a:schemeClr val="bg1"/>
                </a:solidFill>
              </a:rPr>
              <a:t>What</a:t>
            </a:r>
            <a:endParaRPr lang="zh-CN" altLang="en-US">
              <a:solidFill>
                <a:schemeClr val="bg1"/>
              </a:solidFill>
            </a:endParaRPr>
          </a:p>
        </p:txBody>
      </p:sp>
      <p:sp>
        <p:nvSpPr>
          <p:cNvPr id="31" name="文本框 30">
            <a:extLst>
              <a:ext uri="{FF2B5EF4-FFF2-40B4-BE49-F238E27FC236}">
                <a16:creationId xmlns:a16="http://schemas.microsoft.com/office/drawing/2014/main" id="{E3B8EFC7-04BE-00F1-E098-FD2109EE631E}"/>
              </a:ext>
            </a:extLst>
          </p:cNvPr>
          <p:cNvSpPr txBox="1"/>
          <p:nvPr/>
        </p:nvSpPr>
        <p:spPr>
          <a:xfrm>
            <a:off x="4449026" y="4436379"/>
            <a:ext cx="809837" cy="369332"/>
          </a:xfrm>
          <a:prstGeom prst="rect">
            <a:avLst/>
          </a:prstGeom>
          <a:noFill/>
        </p:spPr>
        <p:txBody>
          <a:bodyPr wrap="none" rtlCol="0">
            <a:spAutoFit/>
          </a:bodyPr>
          <a:lstStyle/>
          <a:p>
            <a:r>
              <a:rPr lang="en-US" altLang="zh-CN">
                <a:solidFill>
                  <a:schemeClr val="bg1"/>
                </a:solidFill>
              </a:rPr>
              <a:t>Actor</a:t>
            </a:r>
            <a:endParaRPr lang="zh-CN" altLang="en-US">
              <a:solidFill>
                <a:schemeClr val="bg1"/>
              </a:solidFill>
            </a:endParaRPr>
          </a:p>
        </p:txBody>
      </p:sp>
    </p:spTree>
    <p:extLst>
      <p:ext uri="{BB962C8B-B14F-4D97-AF65-F5344CB8AC3E}">
        <p14:creationId xmlns:p14="http://schemas.microsoft.com/office/powerpoint/2010/main" val="136726951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6AB83D28-0676-C547-F4EB-AEC54200303B}"/>
              </a:ext>
            </a:extLst>
          </p:cNvPr>
          <p:cNvGraphicFramePr>
            <a:graphicFrameLocks noGrp="1"/>
          </p:cNvGraphicFramePr>
          <p:nvPr>
            <p:extLst>
              <p:ext uri="{D42A27DB-BD31-4B8C-83A1-F6EECF244321}">
                <p14:modId xmlns:p14="http://schemas.microsoft.com/office/powerpoint/2010/main" val="4033241661"/>
              </p:ext>
            </p:extLst>
          </p:nvPr>
        </p:nvGraphicFramePr>
        <p:xfrm>
          <a:off x="1302775" y="467360"/>
          <a:ext cx="9586450" cy="5923280"/>
        </p:xfrm>
        <a:graphic>
          <a:graphicData uri="http://schemas.openxmlformats.org/drawingml/2006/table">
            <a:tbl>
              <a:tblPr firstRow="1" bandRow="1">
                <a:tableStyleId>{5C22544A-7EE6-4342-B048-85BDC9FD1C3A}</a:tableStyleId>
              </a:tblPr>
              <a:tblGrid>
                <a:gridCol w="9586450">
                  <a:extLst>
                    <a:ext uri="{9D8B030D-6E8A-4147-A177-3AD203B41FA5}">
                      <a16:colId xmlns:a16="http://schemas.microsoft.com/office/drawing/2014/main" val="1567772971"/>
                    </a:ext>
                  </a:extLst>
                </a:gridCol>
              </a:tblGrid>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800">
                          <a:solidFill>
                            <a:srgbClr val="FFFF00"/>
                          </a:solidFill>
                        </a:rPr>
                        <a:t>Goal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5736790"/>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a:solidFill>
                            <a:schemeClr val="bg1"/>
                          </a:solidFill>
                        </a:rPr>
                        <a:t>The central of an impact map answers the most important question: </a:t>
                      </a:r>
                      <a:r>
                        <a:rPr lang="en-US" altLang="zh-CN">
                          <a:solidFill>
                            <a:srgbClr val="FFFF00"/>
                          </a:solidFill>
                        </a:rPr>
                        <a:t>Why</a:t>
                      </a:r>
                      <a:r>
                        <a:rPr lang="en-US" altLang="zh-CN">
                          <a:solidFill>
                            <a:schemeClr val="bg1"/>
                          </a:solidFill>
                        </a:rPr>
                        <a:t> are we doing this? This is the goal we are </a:t>
                      </a:r>
                      <a:r>
                        <a:rPr lang="en-US" altLang="zh-CN">
                          <a:solidFill>
                            <a:srgbClr val="FFFF00"/>
                          </a:solidFill>
                        </a:rPr>
                        <a:t>trying to achieve</a:t>
                      </a:r>
                      <a:r>
                        <a:rPr lang="en-US" altLang="zh-CN">
                          <a:solidFill>
                            <a:schemeClr val="bg1"/>
                          </a:solidFill>
                        </a:rPr>
                        <a: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7057755"/>
                  </a:ext>
                </a:extLst>
              </a:tr>
              <a:tr h="370840">
                <a:tc>
                  <a:txBody>
                    <a:bodyPr/>
                    <a:lstStyle/>
                    <a:p>
                      <a:pPr algn="just" fontAlgn="base"/>
                      <a:r>
                        <a:rPr lang="en-US" altLang="zh-CN" sz="2000" dirty="0">
                          <a:solidFill>
                            <a:srgbClr val="FFFF00"/>
                          </a:solidFill>
                        </a:rPr>
                        <a:t>Actors</a:t>
                      </a:r>
                    </a:p>
                    <a:p>
                      <a:pPr algn="just" fontAlgn="base"/>
                      <a:r>
                        <a:rPr lang="en-US" altLang="zh-CN" dirty="0">
                          <a:solidFill>
                            <a:schemeClr val="bg1"/>
                          </a:solidFill>
                        </a:rPr>
                        <a:t>The first branch of an impact map provides answers to the following questions: </a:t>
                      </a:r>
                      <a:r>
                        <a:rPr lang="en-US" altLang="zh-CN" dirty="0">
                          <a:solidFill>
                            <a:srgbClr val="FFFF00"/>
                          </a:solidFill>
                        </a:rPr>
                        <a:t>Who</a:t>
                      </a:r>
                      <a:r>
                        <a:rPr lang="en-US" altLang="zh-CN" dirty="0">
                          <a:solidFill>
                            <a:schemeClr val="bg1"/>
                          </a:solidFill>
                        </a:rPr>
                        <a:t> can produce the desired effect? </a:t>
                      </a:r>
                      <a:r>
                        <a:rPr lang="en-US" altLang="zh-CN" dirty="0">
                          <a:solidFill>
                            <a:srgbClr val="FFFF00"/>
                          </a:solidFill>
                        </a:rPr>
                        <a:t>Who</a:t>
                      </a:r>
                      <a:r>
                        <a:rPr lang="en-US" altLang="zh-CN" dirty="0">
                          <a:solidFill>
                            <a:schemeClr val="bg1"/>
                          </a:solidFill>
                        </a:rPr>
                        <a:t> can obstruct it? </a:t>
                      </a:r>
                      <a:r>
                        <a:rPr lang="en-US" altLang="zh-CN" dirty="0">
                          <a:solidFill>
                            <a:srgbClr val="FFFF00"/>
                          </a:solidFill>
                        </a:rPr>
                        <a:t>Who</a:t>
                      </a:r>
                      <a:r>
                        <a:rPr lang="en-US" altLang="zh-CN" dirty="0">
                          <a:solidFill>
                            <a:schemeClr val="bg1"/>
                          </a:solidFill>
                        </a:rPr>
                        <a:t> are the consumers or users of our product? </a:t>
                      </a:r>
                      <a:r>
                        <a:rPr lang="en-US" altLang="zh-CN" dirty="0">
                          <a:solidFill>
                            <a:srgbClr val="FFFF00"/>
                          </a:solidFill>
                        </a:rPr>
                        <a:t>Who</a:t>
                      </a:r>
                      <a:r>
                        <a:rPr lang="en-US" altLang="zh-CN" dirty="0">
                          <a:solidFill>
                            <a:schemeClr val="bg1"/>
                          </a:solidFill>
                        </a:rPr>
                        <a:t> will be impacted by it? These are the actors who can influence the outcome.</a:t>
                      </a:r>
                      <a:endParaRPr lang="zh-CN" altLang="en-US"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848957"/>
                  </a:ext>
                </a:extLst>
              </a:tr>
              <a:tr h="370840">
                <a:tc>
                  <a:txBody>
                    <a:bodyPr/>
                    <a:lstStyle/>
                    <a:p>
                      <a:pPr algn="just" fontAlgn="base"/>
                      <a:r>
                        <a:rPr lang="en-US" altLang="zh-CN" sz="2000">
                          <a:solidFill>
                            <a:srgbClr val="FFFF00"/>
                          </a:solidFill>
                        </a:rPr>
                        <a:t>Impacts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70985"/>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a:solidFill>
                            <a:schemeClr val="bg1"/>
                          </a:solidFill>
                        </a:rPr>
                        <a:t>The second branch level of an impact map sets the actors in the perspective of our business goal. It answers the following questions: </a:t>
                      </a:r>
                      <a:r>
                        <a:rPr lang="en-US" altLang="zh-CN">
                          <a:solidFill>
                            <a:srgbClr val="FFFF00"/>
                          </a:solidFill>
                        </a:rPr>
                        <a:t>How</a:t>
                      </a:r>
                      <a:r>
                        <a:rPr lang="en-US" altLang="zh-CN">
                          <a:solidFill>
                            <a:schemeClr val="bg1"/>
                          </a:solidFill>
                        </a:rPr>
                        <a:t> should our actors’ behaviors change? </a:t>
                      </a:r>
                      <a:r>
                        <a:rPr lang="en-US" altLang="zh-CN">
                          <a:solidFill>
                            <a:srgbClr val="FFFF00"/>
                          </a:solidFill>
                        </a:rPr>
                        <a:t>How</a:t>
                      </a:r>
                      <a:r>
                        <a:rPr lang="en-US" altLang="zh-CN">
                          <a:solidFill>
                            <a:schemeClr val="bg1"/>
                          </a:solidFill>
                        </a:rPr>
                        <a:t> can they help us to achieve the goal? How can they obstruct or prevent us from succeeding? These are the impacts that we’re trying to create.</a:t>
                      </a:r>
                      <a:endParaRPr lang="zh-CN" alt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321553"/>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800">
                          <a:solidFill>
                            <a:srgbClr val="FFFF00"/>
                          </a:solidFill>
                        </a:rPr>
                        <a:t>Deliverables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239"/>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dirty="0">
                          <a:solidFill>
                            <a:schemeClr val="bg1"/>
                          </a:solidFill>
                        </a:rPr>
                        <a:t>Once we have the first three questions answered, we can talk about scope. The third branch level of an impact map answers the following question: </a:t>
                      </a:r>
                      <a:r>
                        <a:rPr lang="en-US" altLang="zh-CN" dirty="0">
                          <a:solidFill>
                            <a:srgbClr val="FFFF00"/>
                          </a:solidFill>
                        </a:rPr>
                        <a:t>What</a:t>
                      </a:r>
                      <a:r>
                        <a:rPr lang="en-US" altLang="zh-CN" dirty="0">
                          <a:solidFill>
                            <a:schemeClr val="bg1"/>
                          </a:solidFill>
                        </a:rPr>
                        <a:t> can we do, as an organization or a delivery team, to support the required impacts? These are the deliverables, software features and organizational activities.</a:t>
                      </a:r>
                      <a:endParaRPr lang="zh-CN" altLang="en-US"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13744"/>
                  </a:ext>
                </a:extLst>
              </a:tr>
            </a:tbl>
          </a:graphicData>
        </a:graphic>
      </p:graphicFrame>
    </p:spTree>
    <p:extLst>
      <p:ext uri="{BB962C8B-B14F-4D97-AF65-F5344CB8AC3E}">
        <p14:creationId xmlns:p14="http://schemas.microsoft.com/office/powerpoint/2010/main" val="81677351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B6F77430-16DA-99AF-A882-A5CB97247F1C}"/>
              </a:ext>
            </a:extLst>
          </p:cNvPr>
          <p:cNvPicPr>
            <a:picLocks noChangeAspect="1"/>
          </p:cNvPicPr>
          <p:nvPr/>
        </p:nvPicPr>
        <p:blipFill>
          <a:blip r:embed="rId2"/>
          <a:stretch>
            <a:fillRect/>
          </a:stretch>
        </p:blipFill>
        <p:spPr>
          <a:xfrm>
            <a:off x="690562" y="500062"/>
            <a:ext cx="10810875" cy="5857875"/>
          </a:xfrm>
          <a:prstGeom prst="rect">
            <a:avLst/>
          </a:prstGeom>
        </p:spPr>
      </p:pic>
    </p:spTree>
    <p:extLst>
      <p:ext uri="{BB962C8B-B14F-4D97-AF65-F5344CB8AC3E}">
        <p14:creationId xmlns:p14="http://schemas.microsoft.com/office/powerpoint/2010/main" val="167864277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22316565-CB62-4048-236A-9007E6B1C5C8}"/>
              </a:ext>
            </a:extLst>
          </p:cNvPr>
          <p:cNvGraphicFramePr>
            <a:graphicFrameLocks noGrp="1"/>
          </p:cNvGraphicFramePr>
          <p:nvPr>
            <p:extLst>
              <p:ext uri="{D42A27DB-BD31-4B8C-83A1-F6EECF244321}">
                <p14:modId xmlns:p14="http://schemas.microsoft.com/office/powerpoint/2010/main" val="2976906221"/>
              </p:ext>
            </p:extLst>
          </p:nvPr>
        </p:nvGraphicFramePr>
        <p:xfrm>
          <a:off x="695325" y="2283777"/>
          <a:ext cx="10801350" cy="2072640"/>
        </p:xfrm>
        <a:graphic>
          <a:graphicData uri="http://schemas.openxmlformats.org/drawingml/2006/table">
            <a:tbl>
              <a:tblPr/>
              <a:tblGrid>
                <a:gridCol w="3906172">
                  <a:extLst>
                    <a:ext uri="{9D8B030D-6E8A-4147-A177-3AD203B41FA5}">
                      <a16:colId xmlns:a16="http://schemas.microsoft.com/office/drawing/2014/main" val="1405474354"/>
                    </a:ext>
                  </a:extLst>
                </a:gridCol>
                <a:gridCol w="3824748">
                  <a:extLst>
                    <a:ext uri="{9D8B030D-6E8A-4147-A177-3AD203B41FA5}">
                      <a16:colId xmlns:a16="http://schemas.microsoft.com/office/drawing/2014/main" val="2240367278"/>
                    </a:ext>
                  </a:extLst>
                </a:gridCol>
                <a:gridCol w="3070430">
                  <a:extLst>
                    <a:ext uri="{9D8B030D-6E8A-4147-A177-3AD203B41FA5}">
                      <a16:colId xmlns:a16="http://schemas.microsoft.com/office/drawing/2014/main" val="2741461381"/>
                    </a:ext>
                  </a:extLst>
                </a:gridCol>
              </a:tblGrid>
              <a:tr h="0">
                <a:tc>
                  <a:txBody>
                    <a:bodyPr/>
                    <a:lstStyle/>
                    <a:p>
                      <a:pPr>
                        <a:buNone/>
                      </a:pPr>
                      <a:r>
                        <a:rPr lang="zh-CN" altLang="en-US" sz="1600">
                          <a:solidFill>
                            <a:schemeClr val="bg1"/>
                          </a:solidFill>
                        </a:rPr>
                        <a:t>交付物</a:t>
                      </a:r>
                    </a:p>
                  </a:txBody>
                  <a:tcPr anchor="ctr">
                    <a:lnL>
                      <a:noFill/>
                    </a:lnL>
                    <a:lnR>
                      <a:noFill/>
                    </a:lnR>
                    <a:lnT>
                      <a:noFill/>
                    </a:lnT>
                    <a:lnB>
                      <a:noFill/>
                    </a:lnB>
                    <a:solidFill>
                      <a:schemeClr val="accent2"/>
                    </a:solidFill>
                  </a:tcPr>
                </a:tc>
                <a:tc>
                  <a:txBody>
                    <a:bodyPr/>
                    <a:lstStyle/>
                    <a:p>
                      <a:pPr>
                        <a:buNone/>
                      </a:pPr>
                      <a:r>
                        <a:rPr lang="zh-CN" altLang="en-US" sz="1600">
                          <a:solidFill>
                            <a:schemeClr val="bg1"/>
                          </a:solidFill>
                        </a:rPr>
                        <a:t>作用机制</a:t>
                      </a:r>
                    </a:p>
                  </a:txBody>
                  <a:tcPr anchor="ctr">
                    <a:lnL>
                      <a:noFill/>
                    </a:lnL>
                    <a:lnR>
                      <a:noFill/>
                    </a:lnR>
                    <a:lnT>
                      <a:noFill/>
                    </a:lnT>
                    <a:lnB>
                      <a:noFill/>
                    </a:lnB>
                    <a:solidFill>
                      <a:schemeClr val="accent2"/>
                    </a:solidFill>
                  </a:tcPr>
                </a:tc>
                <a:tc>
                  <a:txBody>
                    <a:bodyPr/>
                    <a:lstStyle/>
                    <a:p>
                      <a:pPr>
                        <a:buNone/>
                      </a:pPr>
                      <a:r>
                        <a:rPr lang="zh-CN" altLang="en-US" sz="1600">
                          <a:solidFill>
                            <a:schemeClr val="bg1"/>
                          </a:solidFill>
                        </a:rPr>
                        <a:t>预期效果</a:t>
                      </a:r>
                    </a:p>
                  </a:txBody>
                  <a:tcPr anchor="ctr">
                    <a:lnL>
                      <a:noFill/>
                    </a:lnL>
                    <a:lnR>
                      <a:noFill/>
                    </a:lnR>
                    <a:lnT>
                      <a:noFill/>
                    </a:lnT>
                    <a:lnB>
                      <a:noFill/>
                    </a:lnB>
                    <a:solidFill>
                      <a:schemeClr val="accent2"/>
                    </a:solidFill>
                  </a:tcPr>
                </a:tc>
                <a:extLst>
                  <a:ext uri="{0D108BD9-81ED-4DB2-BD59-A6C34878D82A}">
                    <a16:rowId xmlns:a16="http://schemas.microsoft.com/office/drawing/2014/main" val="2072298893"/>
                  </a:ext>
                </a:extLst>
              </a:tr>
              <a:tr h="161559">
                <a:tc>
                  <a:txBody>
                    <a:bodyPr/>
                    <a:lstStyle/>
                    <a:p>
                      <a:pPr>
                        <a:buNone/>
                      </a:pPr>
                      <a:r>
                        <a:rPr lang="en-US" sz="1600">
                          <a:solidFill>
                            <a:schemeClr val="bg1"/>
                          </a:solidFill>
                        </a:rPr>
                        <a:t>Push updates on the app</a:t>
                      </a:r>
                      <a:br>
                        <a:rPr lang="en-US" sz="1600">
                          <a:solidFill>
                            <a:schemeClr val="bg1"/>
                          </a:solidFill>
                        </a:rPr>
                      </a:br>
                      <a:r>
                        <a:rPr lang="en-US" sz="1600" err="1">
                          <a:solidFill>
                            <a:schemeClr val="bg1"/>
                          </a:solidFill>
                        </a:rPr>
                        <a:t>App</a:t>
                      </a:r>
                      <a:r>
                        <a:rPr lang="en-US" sz="1600">
                          <a:solidFill>
                            <a:schemeClr val="bg1"/>
                          </a:solidFill>
                        </a:rPr>
                        <a:t> </a:t>
                      </a:r>
                      <a:r>
                        <a:rPr lang="zh-CN" altLang="en-US" sz="1600">
                          <a:solidFill>
                            <a:schemeClr val="bg1"/>
                          </a:solidFill>
                        </a:rPr>
                        <a:t>内推送更新</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主动提醒用户有新内容</a:t>
                      </a:r>
                      <a:r>
                        <a:rPr lang="en-US" altLang="zh-CN" sz="1600">
                          <a:solidFill>
                            <a:schemeClr val="bg1"/>
                          </a:solidFill>
                        </a:rPr>
                        <a:t>/</a:t>
                      </a:r>
                      <a:r>
                        <a:rPr lang="zh-CN" altLang="en-US" sz="1600">
                          <a:solidFill>
                            <a:schemeClr val="bg1"/>
                          </a:solidFill>
                        </a:rPr>
                        <a:t>活动 → 触发回流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提高日活</a:t>
                      </a:r>
                      <a:r>
                        <a:rPr lang="en-US" altLang="zh-CN" sz="1600">
                          <a:solidFill>
                            <a:schemeClr val="bg1"/>
                          </a:solidFill>
                        </a:rPr>
                        <a:t>/</a:t>
                      </a:r>
                      <a:r>
                        <a:rPr lang="zh-CN" altLang="en-US" sz="1600">
                          <a:solidFill>
                            <a:schemeClr val="bg1"/>
                          </a:solidFill>
                        </a:rPr>
                        <a:t>周活</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06087979"/>
                  </a:ext>
                </a:extLst>
              </a:tr>
              <a:tr h="161559">
                <a:tc>
                  <a:txBody>
                    <a:bodyPr/>
                    <a:lstStyle/>
                    <a:p>
                      <a:pPr>
                        <a:buNone/>
                      </a:pPr>
                      <a:r>
                        <a:rPr lang="en-US" sz="1600">
                          <a:solidFill>
                            <a:schemeClr val="bg1"/>
                          </a:solidFill>
                        </a:rPr>
                        <a:t>Special offers every month</a:t>
                      </a:r>
                      <a:br>
                        <a:rPr lang="en-US" sz="1600">
                          <a:solidFill>
                            <a:schemeClr val="bg1"/>
                          </a:solidFill>
                        </a:rPr>
                      </a:br>
                      <a:r>
                        <a:rPr lang="zh-CN" altLang="en-US" sz="1600">
                          <a:solidFill>
                            <a:schemeClr val="bg1"/>
                          </a:solidFill>
                        </a:rPr>
                        <a:t>每月特别优惠</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制造稀缺感和奖励感 → 激励重复访问</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提升复访率和转化率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16656013"/>
                  </a:ext>
                </a:extLst>
              </a:tr>
              <a:tr h="229584">
                <a:tc>
                  <a:txBody>
                    <a:bodyPr/>
                    <a:lstStyle/>
                    <a:p>
                      <a:pPr>
                        <a:buNone/>
                      </a:pPr>
                      <a:r>
                        <a:rPr lang="en-US" sz="1600">
                          <a:solidFill>
                            <a:schemeClr val="bg1"/>
                          </a:solidFill>
                        </a:rPr>
                        <a:t>Better layout when browsing events</a:t>
                      </a:r>
                      <a:br>
                        <a:rPr lang="en-US" sz="1600">
                          <a:solidFill>
                            <a:schemeClr val="bg1"/>
                          </a:solidFill>
                        </a:rPr>
                      </a:br>
                      <a:r>
                        <a:rPr lang="zh-CN" altLang="en-US" sz="1600">
                          <a:solidFill>
                            <a:schemeClr val="bg1"/>
                          </a:solidFill>
                        </a:rPr>
                        <a:t>浏览活动时更好的布局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优化体验 → 减少跳出，延长停留时间</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间接支持“</a:t>
                      </a:r>
                      <a:r>
                        <a:rPr lang="en-US" sz="1600">
                          <a:solidFill>
                            <a:schemeClr val="bg1"/>
                          </a:solidFill>
                        </a:rPr>
                        <a:t>Stay longer”</a:t>
                      </a:r>
                      <a:r>
                        <a:rPr lang="zh-CN" altLang="en-US" sz="1600">
                          <a:solidFill>
                            <a:schemeClr val="bg1"/>
                          </a:solidFill>
                        </a:rPr>
                        <a:t>和“</a:t>
                      </a:r>
                      <a:r>
                        <a:rPr lang="en-US" sz="1600">
                          <a:solidFill>
                            <a:schemeClr val="bg1"/>
                          </a:solidFill>
                        </a:rPr>
                        <a:t>View more ads”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57360399"/>
                  </a:ext>
                </a:extLst>
              </a:tr>
            </a:tbl>
          </a:graphicData>
        </a:graphic>
      </p:graphicFrame>
    </p:spTree>
    <p:extLst>
      <p:ext uri="{BB962C8B-B14F-4D97-AF65-F5344CB8AC3E}">
        <p14:creationId xmlns:p14="http://schemas.microsoft.com/office/powerpoint/2010/main" val="280458038"/>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03521-1126-C3FB-AFF5-586A14B4C72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0CB249-AFC9-3589-E731-5AE9214C86A0}"/>
              </a:ext>
            </a:extLst>
          </p:cNvPr>
          <p:cNvSpPr>
            <a:spLocks noGrp="1"/>
          </p:cNvSpPr>
          <p:nvPr>
            <p:ph type="title"/>
          </p:nvPr>
        </p:nvSpPr>
        <p:spPr>
          <a:xfrm>
            <a:off x="695998" y="360000"/>
            <a:ext cx="6375921" cy="429413"/>
          </a:xfrm>
        </p:spPr>
        <p:txBody>
          <a:bodyPr/>
          <a:lstStyle/>
          <a:p>
            <a:r>
              <a:rPr lang="en-US" altLang="zh-CN"/>
              <a:t>3.2 </a:t>
            </a:r>
            <a:r>
              <a:rPr lang="zh-CN" altLang="en-US"/>
              <a:t>需求池</a:t>
            </a:r>
          </a:p>
        </p:txBody>
      </p:sp>
      <p:sp>
        <p:nvSpPr>
          <p:cNvPr id="7" name="内容占位符 6">
            <a:extLst>
              <a:ext uri="{FF2B5EF4-FFF2-40B4-BE49-F238E27FC236}">
                <a16:creationId xmlns:a16="http://schemas.microsoft.com/office/drawing/2014/main" id="{82FFF7B8-5AA5-4C1E-6D5A-668EEF7C2D0C}"/>
              </a:ext>
            </a:extLst>
          </p:cNvPr>
          <p:cNvSpPr>
            <a:spLocks noGrp="1"/>
          </p:cNvSpPr>
          <p:nvPr>
            <p:ph idx="1"/>
          </p:nvPr>
        </p:nvSpPr>
        <p:spPr>
          <a:xfrm>
            <a:off x="696000" y="864000"/>
            <a:ext cx="10800000" cy="5400000"/>
          </a:xfrm>
        </p:spPr>
        <p:txBody>
          <a:bodyPr/>
          <a:lstStyle/>
          <a:p>
            <a:r>
              <a:rPr lang="zh-CN" altLang="en-US"/>
              <a:t>需求池 </a:t>
            </a:r>
            <a:r>
              <a:rPr lang="en-US" altLang="zh-CN"/>
              <a:t>Product Backlog</a:t>
            </a:r>
          </a:p>
          <a:p>
            <a:r>
              <a:rPr lang="zh-CN" altLang="en-US"/>
              <a:t>产品代办事项</a:t>
            </a:r>
            <a:endParaRPr lang="en-US" altLang="zh-CN"/>
          </a:p>
          <a:p>
            <a:endParaRPr lang="zh-CN" altLang="en-US"/>
          </a:p>
        </p:txBody>
      </p:sp>
      <p:sp>
        <p:nvSpPr>
          <p:cNvPr id="4" name="文本占位符 3">
            <a:extLst>
              <a:ext uri="{FF2B5EF4-FFF2-40B4-BE49-F238E27FC236}">
                <a16:creationId xmlns:a16="http://schemas.microsoft.com/office/drawing/2014/main" id="{8803137D-AD6A-E919-8710-380F2DF77997}"/>
              </a:ext>
            </a:extLst>
          </p:cNvPr>
          <p:cNvSpPr>
            <a:spLocks noGrp="1"/>
          </p:cNvSpPr>
          <p:nvPr>
            <p:ph type="body" sz="quarter" idx="10"/>
          </p:nvPr>
        </p:nvSpPr>
        <p:spPr>
          <a:xfrm>
            <a:off x="7071919" y="448519"/>
            <a:ext cx="4424080" cy="338554"/>
          </a:xfrm>
        </p:spPr>
        <p:txBody>
          <a:bodyPr/>
          <a:lstStyle/>
          <a:p>
            <a:r>
              <a:rPr lang="en-US" altLang="zh-CN"/>
              <a:t>Product Backlog/Agile</a:t>
            </a:r>
            <a:endParaRPr lang="zh-CN" altLang="en-US"/>
          </a:p>
        </p:txBody>
      </p:sp>
    </p:spTree>
    <p:extLst>
      <p:ext uri="{BB962C8B-B14F-4D97-AF65-F5344CB8AC3E}">
        <p14:creationId xmlns:p14="http://schemas.microsoft.com/office/powerpoint/2010/main" val="285993620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59F90-2488-C3DB-0D25-073D28FF11EF}"/>
              </a:ext>
            </a:extLst>
          </p:cNvPr>
          <p:cNvSpPr>
            <a:spLocks noGrp="1"/>
          </p:cNvSpPr>
          <p:nvPr>
            <p:ph type="title"/>
          </p:nvPr>
        </p:nvSpPr>
        <p:spPr>
          <a:xfrm>
            <a:off x="695998" y="360000"/>
            <a:ext cx="6375921" cy="429413"/>
          </a:xfrm>
        </p:spPr>
        <p:txBody>
          <a:bodyPr/>
          <a:lstStyle/>
          <a:p>
            <a:r>
              <a:rPr lang="en-US" altLang="zh-CN"/>
              <a:t>[</a:t>
            </a:r>
            <a:r>
              <a:rPr lang="zh-CN" altLang="en-US"/>
              <a:t>用户故事</a:t>
            </a:r>
            <a:r>
              <a:rPr lang="en-US" altLang="zh-CN"/>
              <a:t>]</a:t>
            </a:r>
            <a:endParaRPr lang="zh-CN" altLang="en-US"/>
          </a:p>
        </p:txBody>
      </p:sp>
      <p:sp>
        <p:nvSpPr>
          <p:cNvPr id="3" name="内容占位符 2">
            <a:extLst>
              <a:ext uri="{FF2B5EF4-FFF2-40B4-BE49-F238E27FC236}">
                <a16:creationId xmlns:a16="http://schemas.microsoft.com/office/drawing/2014/main" id="{A6DD2407-12EC-2FC0-7773-24E09871456E}"/>
              </a:ext>
            </a:extLst>
          </p:cNvPr>
          <p:cNvSpPr>
            <a:spLocks noGrp="1"/>
          </p:cNvSpPr>
          <p:nvPr>
            <p:ph idx="1"/>
          </p:nvPr>
        </p:nvSpPr>
        <p:spPr>
          <a:xfrm>
            <a:off x="696000" y="864000"/>
            <a:ext cx="10800000" cy="5400000"/>
          </a:xfrm>
        </p:spPr>
        <p:txBody>
          <a:bodyPr/>
          <a:lstStyle/>
          <a:p>
            <a:r>
              <a:rPr lang="zh-CN" altLang="en-US"/>
              <a:t>敏捷项目中，使用</a:t>
            </a:r>
            <a:r>
              <a:rPr lang="zh-CN" altLang="en-US">
                <a:hlinkClick r:id="rId2"/>
              </a:rPr>
              <a:t>用户故事 </a:t>
            </a:r>
            <a:r>
              <a:rPr lang="en-US" altLang="zh-CN">
                <a:hlinkClick r:id="rId2"/>
              </a:rPr>
              <a:t>User Story </a:t>
            </a:r>
            <a:r>
              <a:rPr lang="zh-CN" altLang="en-US"/>
              <a:t>描述需求</a:t>
            </a:r>
            <a:endParaRPr lang="en-US" altLang="zh-CN"/>
          </a:p>
          <a:p>
            <a:pPr lvl="1"/>
            <a:r>
              <a:rPr lang="en-US" altLang="zh-CN"/>
              <a:t>In Agile process, user requirements are expressed as user stories.</a:t>
            </a:r>
          </a:p>
          <a:p>
            <a:r>
              <a:rPr lang="zh-CN" altLang="en-US"/>
              <a:t>用户故事是对一个或多个软件系统功能的非正式、自然语言描述</a:t>
            </a:r>
            <a:endParaRPr lang="en-US" altLang="zh-CN"/>
          </a:p>
          <a:p>
            <a:r>
              <a:rPr lang="zh-CN" altLang="en-US"/>
              <a:t>用户故事是敏捷软件开发中用来从最终用户角度捕捉软件功能描述的工具</a:t>
            </a:r>
            <a:endParaRPr lang="en-US" altLang="zh-CN"/>
          </a:p>
          <a:p>
            <a:r>
              <a:rPr lang="zh-CN" altLang="en-US"/>
              <a:t>用户故事描述了用户类型、他们想要什么以及为什么</a:t>
            </a:r>
            <a:endParaRPr lang="en-US" altLang="zh-CN"/>
          </a:p>
          <a:p>
            <a:r>
              <a:rPr lang="zh-CN" altLang="en-US"/>
              <a:t>用户故事有助于创建一个简化的需求描述</a:t>
            </a:r>
            <a:endParaRPr lang="en-US" altLang="zh-CN"/>
          </a:p>
          <a:p>
            <a:r>
              <a:rPr lang="zh-CN" altLang="en-US"/>
              <a:t>用户故事通过强调以客户为中心的对话，减少了撰写详尽文档的时间</a:t>
            </a:r>
            <a:endParaRPr lang="en-US" altLang="zh-CN"/>
          </a:p>
          <a:p>
            <a:r>
              <a:rPr lang="zh-CN" altLang="en-US"/>
              <a:t>用户故事是一种轻量级的方法，用于快速捕捉产品需求的“谁”、“什么”和“为什么”。简单来说，用户故事就是需求的简单表述，表达用户需要什么。用户故事简洁明了，每个要素通常包含少于</a:t>
            </a:r>
            <a:r>
              <a:rPr lang="en-US" altLang="zh-CN"/>
              <a:t>10</a:t>
            </a:r>
            <a:r>
              <a:rPr lang="zh-CN" altLang="en-US"/>
              <a:t>或</a:t>
            </a:r>
            <a:r>
              <a:rPr lang="en-US" altLang="zh-CN"/>
              <a:t>15</a:t>
            </a:r>
            <a:r>
              <a:rPr lang="zh-CN" altLang="en-US"/>
              <a:t>个单词。</a:t>
            </a:r>
            <a:endParaRPr lang="en-US" altLang="zh-CN"/>
          </a:p>
          <a:p>
            <a:endParaRPr lang="en-US" altLang="zh-CN"/>
          </a:p>
          <a:p>
            <a:endParaRPr lang="zh-CN" altLang="en-US"/>
          </a:p>
        </p:txBody>
      </p:sp>
      <p:sp>
        <p:nvSpPr>
          <p:cNvPr id="13" name="文本占位符 12">
            <a:extLst>
              <a:ext uri="{FF2B5EF4-FFF2-40B4-BE49-F238E27FC236}">
                <a16:creationId xmlns:a16="http://schemas.microsoft.com/office/drawing/2014/main" id="{404B5124-E1B3-27AB-D7C2-A3C607A4483A}"/>
              </a:ext>
            </a:extLst>
          </p:cNvPr>
          <p:cNvSpPr>
            <a:spLocks noGrp="1"/>
          </p:cNvSpPr>
          <p:nvPr>
            <p:ph type="body" sz="quarter" idx="10"/>
          </p:nvPr>
        </p:nvSpPr>
        <p:spPr>
          <a:xfrm>
            <a:off x="7071919" y="448519"/>
            <a:ext cx="4424080" cy="338554"/>
          </a:xfrm>
        </p:spPr>
        <p:txBody>
          <a:bodyPr/>
          <a:lstStyle/>
          <a:p>
            <a:r>
              <a:rPr lang="en-US" altLang="zh-CN"/>
              <a:t>user stories</a:t>
            </a:r>
            <a:endParaRPr lang="zh-CN" altLang="en-US"/>
          </a:p>
        </p:txBody>
      </p:sp>
    </p:spTree>
    <p:extLst>
      <p:ext uri="{BB962C8B-B14F-4D97-AF65-F5344CB8AC3E}">
        <p14:creationId xmlns:p14="http://schemas.microsoft.com/office/powerpoint/2010/main" val="371010500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238DCD-FC4E-16BC-FC66-362E67C0F39C}"/>
              </a:ext>
            </a:extLst>
          </p:cNvPr>
          <p:cNvSpPr>
            <a:spLocks noGrp="1"/>
          </p:cNvSpPr>
          <p:nvPr>
            <p:ph type="title"/>
          </p:nvPr>
        </p:nvSpPr>
        <p:spPr>
          <a:xfrm>
            <a:off x="695998" y="360000"/>
            <a:ext cx="6375921" cy="429413"/>
          </a:xfrm>
        </p:spPr>
        <p:txBody>
          <a:bodyPr/>
          <a:lstStyle/>
          <a:p>
            <a:r>
              <a:rPr lang="en-US" altLang="zh-CN"/>
              <a:t>3.4 </a:t>
            </a:r>
            <a:r>
              <a:rPr lang="zh-CN" altLang="en-US"/>
              <a:t>用户故事编写 </a:t>
            </a:r>
          </a:p>
        </p:txBody>
      </p:sp>
      <p:sp>
        <p:nvSpPr>
          <p:cNvPr id="7" name="内容占位符 6">
            <a:extLst>
              <a:ext uri="{FF2B5EF4-FFF2-40B4-BE49-F238E27FC236}">
                <a16:creationId xmlns:a16="http://schemas.microsoft.com/office/drawing/2014/main" id="{0308B619-3DDA-06C5-7868-F19682FDA462}"/>
              </a:ext>
            </a:extLst>
          </p:cNvPr>
          <p:cNvSpPr>
            <a:spLocks noGrp="1"/>
          </p:cNvSpPr>
          <p:nvPr>
            <p:ph idx="1"/>
          </p:nvPr>
        </p:nvSpPr>
        <p:spPr>
          <a:xfrm>
            <a:off x="696000" y="864000"/>
            <a:ext cx="10800000" cy="5400000"/>
          </a:xfrm>
        </p:spPr>
        <p:txBody>
          <a:bodyPr/>
          <a:lstStyle/>
          <a:p>
            <a:r>
              <a:rPr lang="zh-CN" altLang="en-US"/>
              <a:t>用户故事编写 </a:t>
            </a:r>
            <a:r>
              <a:rPr lang="en-US" altLang="zh-CN"/>
              <a:t>User Story Writing</a:t>
            </a:r>
          </a:p>
          <a:p>
            <a:r>
              <a:rPr lang="en-US" altLang="zh-CN"/>
              <a:t>Rachel Davies </a:t>
            </a:r>
            <a:r>
              <a:rPr lang="zh-CN" altLang="en-US"/>
              <a:t>在 </a:t>
            </a:r>
            <a:r>
              <a:rPr lang="en-US" altLang="zh-CN"/>
              <a:t>2002 </a:t>
            </a:r>
            <a:r>
              <a:rPr lang="zh-CN" altLang="en-US"/>
              <a:t>年提出</a:t>
            </a:r>
            <a:endParaRPr lang="en-US" altLang="zh-CN"/>
          </a:p>
          <a:p>
            <a:r>
              <a:rPr lang="zh-CN" altLang="en-US"/>
              <a:t>完整模板 </a:t>
            </a:r>
            <a:r>
              <a:rPr lang="en-US" altLang="zh-CN"/>
              <a:t>A Complete User story Template</a:t>
            </a:r>
          </a:p>
          <a:p>
            <a:endParaRPr lang="en-US" altLang="zh-CN"/>
          </a:p>
        </p:txBody>
      </p:sp>
      <p:sp>
        <p:nvSpPr>
          <p:cNvPr id="4" name="文本占位符 3">
            <a:extLst>
              <a:ext uri="{FF2B5EF4-FFF2-40B4-BE49-F238E27FC236}">
                <a16:creationId xmlns:a16="http://schemas.microsoft.com/office/drawing/2014/main" id="{8E499245-351F-D865-F198-644B4E2D3CF9}"/>
              </a:ext>
            </a:extLst>
          </p:cNvPr>
          <p:cNvSpPr>
            <a:spLocks noGrp="1"/>
          </p:cNvSpPr>
          <p:nvPr>
            <p:ph type="body" sz="quarter" idx="10"/>
          </p:nvPr>
        </p:nvSpPr>
        <p:spPr>
          <a:xfrm>
            <a:off x="7071919" y="448519"/>
            <a:ext cx="4424080" cy="338554"/>
          </a:xfrm>
        </p:spPr>
        <p:txBody>
          <a:bodyPr/>
          <a:lstStyle/>
          <a:p>
            <a:r>
              <a:rPr lang="en-US" altLang="zh-CN"/>
              <a:t>User Story Writing/Agile</a:t>
            </a:r>
            <a:endParaRPr lang="zh-CN" altLang="en-US"/>
          </a:p>
        </p:txBody>
      </p:sp>
      <p:sp>
        <p:nvSpPr>
          <p:cNvPr id="8" name="文本框 7">
            <a:extLst>
              <a:ext uri="{FF2B5EF4-FFF2-40B4-BE49-F238E27FC236}">
                <a16:creationId xmlns:a16="http://schemas.microsoft.com/office/drawing/2014/main" id="{64760C62-E276-F7A9-502B-ABEFB0F9AFE9}"/>
              </a:ext>
            </a:extLst>
          </p:cNvPr>
          <p:cNvSpPr txBox="1"/>
          <p:nvPr/>
        </p:nvSpPr>
        <p:spPr>
          <a:xfrm>
            <a:off x="695325" y="2880852"/>
            <a:ext cx="10801350" cy="2538515"/>
          </a:xfrm>
          <a:prstGeom prst="rect">
            <a:avLst/>
          </a:prstGeom>
          <a:noFill/>
        </p:spPr>
        <p:txBody>
          <a:bodyPr wrap="square" rtlCol="0">
            <a:spAutoFit/>
          </a:bodyPr>
          <a:lstStyle/>
          <a:p>
            <a:pPr marL="0" lvl="1">
              <a:lnSpc>
                <a:spcPct val="150000"/>
              </a:lnSpc>
            </a:pPr>
            <a:r>
              <a:rPr lang="en-US" altLang="zh-CN">
                <a:solidFill>
                  <a:srgbClr val="FFFF00"/>
                </a:solidFill>
              </a:rPr>
              <a:t>AS A</a:t>
            </a:r>
            <a:r>
              <a:rPr lang="en-US" altLang="zh-CN">
                <a:solidFill>
                  <a:schemeClr val="bg1"/>
                </a:solidFill>
              </a:rPr>
              <a:t> {user | persona | system},</a:t>
            </a:r>
          </a:p>
          <a:p>
            <a:pPr marL="0" lvl="1">
              <a:lnSpc>
                <a:spcPct val="150000"/>
              </a:lnSpc>
            </a:pPr>
            <a:r>
              <a:rPr lang="en-US" altLang="zh-CN">
                <a:solidFill>
                  <a:schemeClr val="bg1"/>
                </a:solidFill>
              </a:rPr>
              <a:t>[INSTEAD OF {current condition}]</a:t>
            </a:r>
          </a:p>
          <a:p>
            <a:pPr marL="0" lvl="1">
              <a:lnSpc>
                <a:spcPct val="150000"/>
              </a:lnSpc>
            </a:pPr>
            <a:r>
              <a:rPr lang="en-US" altLang="zh-CN">
                <a:solidFill>
                  <a:srgbClr val="FFFF00"/>
                </a:solidFill>
              </a:rPr>
              <a:t>I WANT TO </a:t>
            </a:r>
            <a:r>
              <a:rPr lang="en-US" altLang="zh-CN">
                <a:solidFill>
                  <a:schemeClr val="bg1"/>
                </a:solidFill>
              </a:rPr>
              <a:t>{action} [IN {mode} TIME | IN {differentiating performance units} TO {utility performance units}</a:t>
            </a:r>
          </a:p>
          <a:p>
            <a:pPr marL="0" lvl="1">
              <a:lnSpc>
                <a:spcPct val="150000"/>
              </a:lnSpc>
            </a:pPr>
            <a:r>
              <a:rPr lang="en-US" altLang="zh-CN">
                <a:solidFill>
                  <a:schemeClr val="bg1"/>
                </a:solidFill>
              </a:rPr>
              <a:t>[</a:t>
            </a:r>
            <a:r>
              <a:rPr lang="en-US" altLang="zh-CN">
                <a:solidFill>
                  <a:srgbClr val="FFFF00"/>
                </a:solidFill>
              </a:rPr>
              <a:t>SO THAT </a:t>
            </a:r>
            <a:r>
              <a:rPr lang="en-US" altLang="zh-CN">
                <a:solidFill>
                  <a:schemeClr val="bg1"/>
                </a:solidFill>
              </a:rPr>
              <a:t>{value or justification}]</a:t>
            </a:r>
          </a:p>
          <a:p>
            <a:pPr marL="0" lvl="1">
              <a:lnSpc>
                <a:spcPct val="150000"/>
              </a:lnSpc>
            </a:pPr>
            <a:r>
              <a:rPr lang="en-US" altLang="zh-CN">
                <a:solidFill>
                  <a:schemeClr val="bg1"/>
                </a:solidFill>
              </a:rPr>
              <a:t>[</a:t>
            </a:r>
            <a:r>
              <a:rPr lang="en-US" altLang="zh-CN">
                <a:solidFill>
                  <a:srgbClr val="FFFF00"/>
                </a:solidFill>
              </a:rPr>
              <a:t>NO LATER </a:t>
            </a:r>
            <a:r>
              <a:rPr lang="en-US" altLang="zh-CN">
                <a:solidFill>
                  <a:schemeClr val="bg1"/>
                </a:solidFill>
              </a:rPr>
              <a:t>THAN {best by date}]</a:t>
            </a:r>
            <a:endParaRPr lang="zh-CN" altLang="en-US" sz="1600">
              <a:solidFill>
                <a:schemeClr val="bg1"/>
              </a:solidFill>
            </a:endParaRPr>
          </a:p>
        </p:txBody>
      </p:sp>
      <p:pic>
        <p:nvPicPr>
          <p:cNvPr id="1026" name="Picture 2">
            <a:extLst>
              <a:ext uri="{FF2B5EF4-FFF2-40B4-BE49-F238E27FC236}">
                <a16:creationId xmlns:a16="http://schemas.microsoft.com/office/drawing/2014/main" id="{B2F4B1A9-67FF-A1A3-85A4-67F3879C37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91162" y="864000"/>
            <a:ext cx="3305175" cy="2619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698362"/>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09968DBB-00E9-15A7-FC85-A8BDA4D9BA84}"/>
              </a:ext>
            </a:extLst>
          </p:cNvPr>
          <p:cNvGraphicFramePr>
            <a:graphicFrameLocks noGrp="1"/>
          </p:cNvGraphicFramePr>
          <p:nvPr>
            <p:extLst>
              <p:ext uri="{D42A27DB-BD31-4B8C-83A1-F6EECF244321}">
                <p14:modId xmlns:p14="http://schemas.microsoft.com/office/powerpoint/2010/main" val="1846514941"/>
              </p:ext>
            </p:extLst>
          </p:nvPr>
        </p:nvGraphicFramePr>
        <p:xfrm>
          <a:off x="2032000" y="1063795"/>
          <a:ext cx="8128000" cy="22250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782703772"/>
                    </a:ext>
                  </a:extLst>
                </a:gridCol>
                <a:gridCol w="2032000">
                  <a:extLst>
                    <a:ext uri="{9D8B030D-6E8A-4147-A177-3AD203B41FA5}">
                      <a16:colId xmlns:a16="http://schemas.microsoft.com/office/drawing/2014/main" val="3281967711"/>
                    </a:ext>
                  </a:extLst>
                </a:gridCol>
                <a:gridCol w="2032000">
                  <a:extLst>
                    <a:ext uri="{9D8B030D-6E8A-4147-A177-3AD203B41FA5}">
                      <a16:colId xmlns:a16="http://schemas.microsoft.com/office/drawing/2014/main" val="3115624069"/>
                    </a:ext>
                  </a:extLst>
                </a:gridCol>
                <a:gridCol w="2032000">
                  <a:extLst>
                    <a:ext uri="{9D8B030D-6E8A-4147-A177-3AD203B41FA5}">
                      <a16:colId xmlns:a16="http://schemas.microsoft.com/office/drawing/2014/main" val="3942756832"/>
                    </a:ext>
                  </a:extLst>
                </a:gridCol>
              </a:tblGrid>
              <a:tr h="370840">
                <a:tc>
                  <a:txBody>
                    <a:bodyPr/>
                    <a:lstStyle/>
                    <a:p>
                      <a:pPr>
                        <a:lnSpc>
                          <a:spcPct val="100000"/>
                        </a:lnSpc>
                      </a:pPr>
                      <a:r>
                        <a:rPr lang="en-US" altLang="zh-CN" sz="1600">
                          <a:solidFill>
                            <a:schemeClr val="bg1"/>
                          </a:solidFill>
                        </a:rPr>
                        <a:t>Story name</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Story ID</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112520">
                <a:tc gridSpan="4">
                  <a:txBody>
                    <a:bodyPr/>
                    <a:lstStyle/>
                    <a:p>
                      <a:pPr>
                        <a:lnSpc>
                          <a:spcPct val="100000"/>
                        </a:lnSpc>
                      </a:pPr>
                      <a:r>
                        <a:rPr lang="en-US" altLang="zh-CN" sz="1600">
                          <a:solidFill>
                            <a:schemeClr val="bg1"/>
                          </a:solidFill>
                        </a:rPr>
                        <a:t>As a …</a:t>
                      </a:r>
                    </a:p>
                    <a:p>
                      <a:pPr>
                        <a:lnSpc>
                          <a:spcPct val="100000"/>
                        </a:lnSpc>
                      </a:pPr>
                      <a:r>
                        <a:rPr lang="en-US" altLang="zh-CN" sz="1600">
                          <a:solidFill>
                            <a:schemeClr val="bg1"/>
                          </a:solidFill>
                        </a:rPr>
                        <a:t>I want to…</a:t>
                      </a:r>
                    </a:p>
                    <a:p>
                      <a:pPr>
                        <a:lnSpc>
                          <a:spcPct val="100000"/>
                        </a:lnSpc>
                      </a:pPr>
                      <a:r>
                        <a:rPr lang="en-US" altLang="zh-CN" sz="1600">
                          <a:solidFill>
                            <a:schemeClr val="bg1"/>
                          </a:solidFill>
                        </a:rPr>
                        <a:t>So that …</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bg1"/>
                          </a:solidFill>
                        </a:rPr>
                        <a:t>Priorities </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High 1 2 3 4 5 low</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Iteration number</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31112191"/>
                  </a:ext>
                </a:extLst>
              </a:tr>
              <a:tr h="370840">
                <a:tc>
                  <a:txBody>
                    <a:bodyPr/>
                    <a:lstStyle/>
                    <a:p>
                      <a:pPr>
                        <a:lnSpc>
                          <a:spcPct val="100000"/>
                        </a:lnSpc>
                      </a:pPr>
                      <a:r>
                        <a:rPr lang="en-US" altLang="zh-CN" sz="1600">
                          <a:solidFill>
                            <a:schemeClr val="bg1"/>
                          </a:solidFill>
                        </a:rPr>
                        <a:t>Date started</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Date</a:t>
                      </a:r>
                      <a:r>
                        <a:rPr lang="zh-CN" altLang="en-US" sz="1600">
                          <a:solidFill>
                            <a:schemeClr val="bg1"/>
                          </a:solidFill>
                        </a:rPr>
                        <a:t> </a:t>
                      </a:r>
                      <a:r>
                        <a:rPr lang="en-US" altLang="zh-CN" sz="1600">
                          <a:solidFill>
                            <a:schemeClr val="bg1"/>
                          </a:solidFill>
                        </a:rPr>
                        <a:t>finished</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graphicFrame>
        <p:nvGraphicFramePr>
          <p:cNvPr id="13" name="表格 12">
            <a:extLst>
              <a:ext uri="{FF2B5EF4-FFF2-40B4-BE49-F238E27FC236}">
                <a16:creationId xmlns:a16="http://schemas.microsoft.com/office/drawing/2014/main" id="{3C47C491-3578-61CB-FEA9-90300236BD22}"/>
              </a:ext>
            </a:extLst>
          </p:cNvPr>
          <p:cNvGraphicFramePr>
            <a:graphicFrameLocks noGrp="1"/>
          </p:cNvGraphicFramePr>
          <p:nvPr>
            <p:extLst>
              <p:ext uri="{D42A27DB-BD31-4B8C-83A1-F6EECF244321}">
                <p14:modId xmlns:p14="http://schemas.microsoft.com/office/powerpoint/2010/main" val="383213083"/>
              </p:ext>
            </p:extLst>
          </p:nvPr>
        </p:nvGraphicFramePr>
        <p:xfrm>
          <a:off x="2032000" y="3773129"/>
          <a:ext cx="8128000" cy="222504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782703772"/>
                    </a:ext>
                  </a:extLst>
                </a:gridCol>
              </a:tblGrid>
              <a:tr h="370840">
                <a:tc>
                  <a:txBody>
                    <a:bodyPr/>
                    <a:lstStyle/>
                    <a:p>
                      <a:pPr>
                        <a:lnSpc>
                          <a:spcPct val="100000"/>
                        </a:lnSpc>
                      </a:pPr>
                      <a:r>
                        <a:rPr lang="en-US" altLang="zh-CN" sz="1600">
                          <a:solidFill>
                            <a:schemeClr val="bg1"/>
                          </a:solidFill>
                        </a:rPr>
                        <a:t>Acceptance Criteria</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483360">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bg1"/>
                          </a:solidFill>
                        </a:rPr>
                        <a:t>Notes:</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spTree>
    <p:extLst>
      <p:ext uri="{BB962C8B-B14F-4D97-AF65-F5344CB8AC3E}">
        <p14:creationId xmlns:p14="http://schemas.microsoft.com/office/powerpoint/2010/main" val="3351543908"/>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3853070983"/>
              </p:ext>
            </p:extLst>
          </p:nvPr>
        </p:nvGraphicFramePr>
        <p:xfrm>
          <a:off x="696000" y="1653875"/>
          <a:ext cx="10800000" cy="355025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223466">
                <a:tc>
                  <a:txBody>
                    <a:bodyPr/>
                    <a:lstStyle/>
                    <a:p>
                      <a:pPr algn="l">
                        <a:buNone/>
                      </a:pPr>
                      <a:r>
                        <a:rPr lang="zh-CN" altLang="en-US" sz="1600">
                          <a:solidFill>
                            <a:schemeClr val="bg1"/>
                          </a:solidFill>
                        </a:rPr>
                        <a:t>优先级</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角色</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用户故事 </a:t>
                      </a:r>
                      <a:r>
                        <a:rPr lang="en-US" sz="1600">
                          <a:solidFill>
                            <a:schemeClr val="bg1"/>
                          </a:solidFill>
                        </a:rPr>
                        <a:t>User Story</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验收标准示例 </a:t>
                      </a:r>
                      <a:r>
                        <a:rPr lang="en-US" sz="1600">
                          <a:solidFill>
                            <a:schemeClr val="bg1"/>
                          </a:solidFill>
                        </a:rPr>
                        <a:t>Acceptance Criteria</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36251823"/>
                  </a:ext>
                </a:extLst>
              </a:tr>
              <a:tr h="564127">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通过关键词搜索商品</a:t>
                      </a:r>
                      <a:br>
                        <a:rPr lang="zh-CN" altLang="en-US" sz="1600">
                          <a:solidFill>
                            <a:schemeClr val="bg1"/>
                          </a:solidFill>
                        </a:rPr>
                      </a:br>
                      <a:r>
                        <a:rPr lang="zh-CN" altLang="en-US" sz="1600">
                          <a:solidFill>
                            <a:srgbClr val="FFFF00"/>
                          </a:solidFill>
                        </a:rPr>
                        <a:t>以便</a:t>
                      </a:r>
                      <a:r>
                        <a:rPr lang="zh-CN" altLang="en-US" sz="1600">
                          <a:solidFill>
                            <a:schemeClr val="bg1"/>
                          </a:solidFill>
                        </a:rPr>
                        <a:t> 快速找到我感兴趣的具体产品</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支持模糊匹配</a:t>
                      </a:r>
                      <a:br>
                        <a:rPr lang="zh-CN" altLang="en-US" sz="1600">
                          <a:solidFill>
                            <a:schemeClr val="bg1"/>
                          </a:solidFill>
                        </a:rPr>
                      </a:br>
                      <a:r>
                        <a:rPr lang="en-US" altLang="zh-CN" sz="1600">
                          <a:solidFill>
                            <a:schemeClr val="bg1"/>
                          </a:solidFill>
                        </a:rPr>
                        <a:t>2. </a:t>
                      </a:r>
                      <a:r>
                        <a:rPr lang="zh-CN" altLang="en-US" sz="1600">
                          <a:solidFill>
                            <a:schemeClr val="bg1"/>
                          </a:solidFill>
                        </a:rPr>
                        <a:t>无结果时显示推荐商品</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4263634368"/>
                  </a:ext>
                </a:extLst>
              </a:tr>
              <a:tr h="564127">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查看商品的详细图片和描述</a:t>
                      </a:r>
                      <a:br>
                        <a:rPr lang="zh-CN" altLang="en-US" sz="1600">
                          <a:solidFill>
                            <a:schemeClr val="bg1"/>
                          </a:solidFill>
                        </a:rPr>
                      </a:br>
                      <a:r>
                        <a:rPr lang="zh-CN" altLang="en-US" sz="1600">
                          <a:solidFill>
                            <a:srgbClr val="FFFF00"/>
                          </a:solidFill>
                        </a:rPr>
                        <a:t>以便</a:t>
                      </a:r>
                      <a:r>
                        <a:rPr lang="zh-CN" altLang="en-US" sz="1600">
                          <a:solidFill>
                            <a:schemeClr val="bg1"/>
                          </a:solidFill>
                        </a:rPr>
                        <a:t> 了解产品的具体规格和外观</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图片支持放大查看</a:t>
                      </a:r>
                      <a:br>
                        <a:rPr lang="zh-CN" altLang="en-US" sz="1600">
                          <a:solidFill>
                            <a:schemeClr val="bg1"/>
                          </a:solidFill>
                        </a:rPr>
                      </a:br>
                      <a:r>
                        <a:rPr lang="en-US" altLang="zh-CN" sz="1600">
                          <a:solidFill>
                            <a:schemeClr val="bg1"/>
                          </a:solidFill>
                        </a:rPr>
                        <a:t>2. </a:t>
                      </a:r>
                      <a:r>
                        <a:rPr lang="zh-CN" altLang="en-US" sz="1600">
                          <a:solidFill>
                            <a:schemeClr val="bg1"/>
                          </a:solidFill>
                        </a:rPr>
                        <a:t>显示库存状态</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145583758"/>
                  </a:ext>
                </a:extLst>
              </a:tr>
              <a:tr h="564127">
                <a:tc>
                  <a:txBody>
                    <a:bodyPr/>
                    <a:lstStyle/>
                    <a:p>
                      <a:pPr algn="l">
                        <a:buNone/>
                      </a:pPr>
                      <a:r>
                        <a:rPr lang="en-US" sz="1600">
                          <a:solidFill>
                            <a:schemeClr val="bg1"/>
                          </a:solidFill>
                        </a:rPr>
                        <a:t>P1 (</a:t>
                      </a:r>
                      <a:r>
                        <a:rPr lang="zh-CN" altLang="en-US" sz="1600">
                          <a:solidFill>
                            <a:schemeClr val="bg1"/>
                          </a:solidFill>
                        </a:rPr>
                        <a:t>中</a:t>
                      </a:r>
                      <a:r>
                        <a:rPr lang="en-US" altLang="zh-CN" sz="1600">
                          <a:solidFill>
                            <a:schemeClr val="bg1"/>
                          </a:solidFill>
                        </a:rPr>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按价格或销量对搜索结果排序</a:t>
                      </a:r>
                      <a:br>
                        <a:rPr lang="zh-CN" altLang="en-US" sz="1600">
                          <a:solidFill>
                            <a:schemeClr val="bg1"/>
                          </a:solidFill>
                        </a:rPr>
                      </a:br>
                      <a:r>
                        <a:rPr lang="zh-CN" altLang="en-US" sz="1600">
                          <a:solidFill>
                            <a:srgbClr val="FFFF00"/>
                          </a:solidFill>
                        </a:rPr>
                        <a:t>以便</a:t>
                      </a:r>
                      <a:r>
                        <a:rPr lang="zh-CN" altLang="en-US" sz="1600">
                          <a:solidFill>
                            <a:schemeClr val="bg1"/>
                          </a:solidFill>
                        </a:rPr>
                        <a:t> 筛选出性价比最高或最热门的商品</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支持升序</a:t>
                      </a:r>
                      <a:r>
                        <a:rPr lang="en-US" altLang="zh-CN" sz="1600">
                          <a:solidFill>
                            <a:schemeClr val="bg1"/>
                          </a:solidFill>
                        </a:rPr>
                        <a:t>/</a:t>
                      </a:r>
                      <a:r>
                        <a:rPr lang="zh-CN" altLang="en-US" sz="1600">
                          <a:solidFill>
                            <a:schemeClr val="bg1"/>
                          </a:solidFill>
                        </a:rPr>
                        <a:t>降序切换</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14657242"/>
                  </a:ext>
                </a:extLst>
              </a:tr>
              <a:tr h="564127">
                <a:tc>
                  <a:txBody>
                    <a:bodyPr/>
                    <a:lstStyle/>
                    <a:p>
                      <a:pPr algn="l">
                        <a:buNone/>
                      </a:pPr>
                      <a:r>
                        <a:rPr lang="en-US" sz="1600">
                          <a:solidFill>
                            <a:schemeClr val="bg1"/>
                          </a:solidFill>
                        </a:rPr>
                        <a:t>P2 (</a:t>
                      </a:r>
                      <a:r>
                        <a:rPr lang="zh-CN" altLang="en-US" sz="1600">
                          <a:solidFill>
                            <a:schemeClr val="bg1"/>
                          </a:solidFill>
                        </a:rPr>
                        <a:t>低</a:t>
                      </a:r>
                      <a:r>
                        <a:rPr lang="en-US" altLang="zh-CN" sz="1600">
                          <a:solidFill>
                            <a:schemeClr val="bg1"/>
                          </a:solidFill>
                        </a:rPr>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查看其他用户的商品评价</a:t>
                      </a:r>
                      <a:br>
                        <a:rPr lang="zh-CN" altLang="en-US" sz="1600">
                          <a:solidFill>
                            <a:schemeClr val="bg1"/>
                          </a:solidFill>
                        </a:rPr>
                      </a:br>
                      <a:r>
                        <a:rPr lang="zh-CN" altLang="en-US" sz="1600">
                          <a:solidFill>
                            <a:srgbClr val="FFFF00"/>
                          </a:solidFill>
                        </a:rPr>
                        <a:t>以便</a:t>
                      </a:r>
                      <a:r>
                        <a:rPr lang="zh-CN" altLang="en-US" sz="1600">
                          <a:solidFill>
                            <a:schemeClr val="bg1"/>
                          </a:solidFill>
                        </a:rPr>
                        <a:t> 辅助我做出购买决策</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显示评分星级</a:t>
                      </a:r>
                      <a:br>
                        <a:rPr lang="zh-CN" altLang="en-US" sz="1600">
                          <a:solidFill>
                            <a:schemeClr val="bg1"/>
                          </a:solidFill>
                        </a:rPr>
                      </a:br>
                      <a:r>
                        <a:rPr lang="en-US" altLang="zh-CN" sz="1600">
                          <a:solidFill>
                            <a:schemeClr val="bg1"/>
                          </a:solidFill>
                        </a:rPr>
                        <a:t>2. </a:t>
                      </a:r>
                      <a:r>
                        <a:rPr lang="zh-CN" altLang="en-US" sz="1600">
                          <a:solidFill>
                            <a:schemeClr val="bg1"/>
                          </a:solidFill>
                        </a:rPr>
                        <a:t>支持查看带图评价</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876246346"/>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Tree>
    <p:extLst>
      <p:ext uri="{BB962C8B-B14F-4D97-AF65-F5344CB8AC3E}">
        <p14:creationId xmlns:p14="http://schemas.microsoft.com/office/powerpoint/2010/main" val="360863176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866428371"/>
              </p:ext>
            </p:extLst>
          </p:nvPr>
        </p:nvGraphicFramePr>
        <p:xfrm>
          <a:off x="696000" y="1653875"/>
          <a:ext cx="10800000" cy="280416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143820">
                <a:tc>
                  <a:txBody>
                    <a:bodyPr/>
                    <a:lstStyle/>
                    <a:p>
                      <a:pPr algn="l">
                        <a:buNone/>
                      </a:pPr>
                      <a:r>
                        <a:rPr lang="zh-CN" altLang="en-US" sz="1600">
                          <a:solidFill>
                            <a:schemeClr val="bg1"/>
                          </a:solidFill>
                        </a:rPr>
                        <a:t>优先级</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角色</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用户故事 </a:t>
                      </a:r>
                      <a:r>
                        <a:rPr lang="en-US" sz="1600">
                          <a:solidFill>
                            <a:schemeClr val="bg1"/>
                          </a:solidFill>
                        </a:rPr>
                        <a:t>User Story</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验收标准示例 </a:t>
                      </a:r>
                      <a:r>
                        <a:rPr lang="en-US" sz="1600">
                          <a:solidFill>
                            <a:schemeClr val="bg1"/>
                          </a:solidFill>
                        </a:rPr>
                        <a:t>Acceptance Criteria</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36251823"/>
                  </a:ext>
                </a:extLst>
              </a:tr>
              <a:tr h="353013">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chemeClr val="bg1"/>
                          </a:solidFill>
                        </a:rPr>
                        <a:t>购物者</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选择商品的颜色、尺寸等规格</a:t>
                      </a:r>
                      <a:br>
                        <a:rPr lang="zh-CN" altLang="en-US" sz="1600">
                          <a:solidFill>
                            <a:schemeClr val="bg1"/>
                          </a:solidFill>
                        </a:rPr>
                      </a:br>
                      <a:r>
                        <a:rPr lang="zh-CN" altLang="en-US" sz="1600">
                          <a:solidFill>
                            <a:srgbClr val="FFFF00"/>
                          </a:solidFill>
                        </a:rPr>
                        <a:t>以便</a:t>
                      </a:r>
                      <a:r>
                        <a:rPr lang="zh-CN" altLang="en-US" sz="1600">
                          <a:solidFill>
                            <a:schemeClr val="bg1"/>
                          </a:solidFill>
                        </a:rPr>
                        <a:t> 确保买到符合我需求的款式</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a:solidFill>
                            <a:schemeClr val="bg1"/>
                          </a:solidFill>
                        </a:rPr>
                        <a:t>1. </a:t>
                      </a:r>
                      <a:r>
                        <a:rPr lang="zh-CN" altLang="en-US" sz="1600">
                          <a:solidFill>
                            <a:schemeClr val="bg1"/>
                          </a:solidFill>
                        </a:rPr>
                        <a:t>缺货规格置灰不可选</a:t>
                      </a:r>
                      <a:br>
                        <a:rPr lang="zh-CN" altLang="en-US" sz="1600">
                          <a:solidFill>
                            <a:schemeClr val="bg1"/>
                          </a:solidFill>
                        </a:rPr>
                      </a:br>
                      <a:r>
                        <a:rPr lang="en-US" altLang="zh-CN" sz="1600">
                          <a:solidFill>
                            <a:schemeClr val="bg1"/>
                          </a:solidFill>
                        </a:rPr>
                        <a:t>2. </a:t>
                      </a:r>
                      <a:r>
                        <a:rPr lang="zh-CN" altLang="en-US" sz="1600">
                          <a:solidFill>
                            <a:schemeClr val="bg1"/>
                          </a:solidFill>
                        </a:rPr>
                        <a:t>选择不同规格价格自动更新</a:t>
                      </a:r>
                    </a:p>
                  </a:txBody>
                  <a:tcPr anchor="ctr">
                    <a:lnL>
                      <a:noFill/>
                    </a:lnL>
                    <a:lnR>
                      <a:noFill/>
                    </a:lnR>
                    <a:lnT w="1270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4263634368"/>
                  </a:ext>
                </a:extLst>
              </a:tr>
              <a:tr h="353013">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anchor="ctr">
                    <a:lnL>
                      <a:noFill/>
                    </a:lnL>
                    <a:lnR>
                      <a:noFill/>
                    </a:lnR>
                    <a:lnT>
                      <a:noFill/>
                    </a:lnT>
                    <a:lnB>
                      <a:noFill/>
                    </a:lnB>
                    <a:noFill/>
                  </a:tcPr>
                </a:tc>
                <a:tc>
                  <a:txBody>
                    <a:bodyPr/>
                    <a:lstStyle/>
                    <a:p>
                      <a:pPr algn="l">
                        <a:buNone/>
                      </a:pPr>
                      <a:r>
                        <a:rPr lang="zh-CN" altLang="en-US" sz="1600">
                          <a:solidFill>
                            <a:schemeClr val="bg1"/>
                          </a:solidFill>
                        </a:rPr>
                        <a:t>购物者</a:t>
                      </a:r>
                    </a:p>
                  </a:txBody>
                  <a:tcPr anchor="ctr">
                    <a:lnL>
                      <a:noFill/>
                    </a:lnL>
                    <a:lnR>
                      <a:noFill/>
                    </a:lnR>
                    <a:lnT>
                      <a:noFill/>
                    </a:lnT>
                    <a:lnB>
                      <a:noFill/>
                    </a:lnB>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设定购买数量并添加到购物车</a:t>
                      </a:r>
                      <a:br>
                        <a:rPr lang="zh-CN" altLang="en-US" sz="1600">
                          <a:solidFill>
                            <a:schemeClr val="bg1"/>
                          </a:solidFill>
                        </a:rPr>
                      </a:br>
                      <a:r>
                        <a:rPr lang="zh-CN" altLang="en-US" sz="1600">
                          <a:solidFill>
                            <a:srgbClr val="FFFF00"/>
                          </a:solidFill>
                        </a:rPr>
                        <a:t>以便</a:t>
                      </a:r>
                      <a:r>
                        <a:rPr lang="zh-CN" altLang="en-US" sz="1600">
                          <a:solidFill>
                            <a:schemeClr val="bg1"/>
                          </a:solidFill>
                        </a:rPr>
                        <a:t> 暂存商品，稍后统一结算</a:t>
                      </a:r>
                    </a:p>
                  </a:txBody>
                  <a:tcPr anchor="ctr">
                    <a:lnL>
                      <a:noFill/>
                    </a:lnL>
                    <a:lnR>
                      <a:noFill/>
                    </a:lnR>
                    <a:lnT>
                      <a:noFill/>
                    </a:lnT>
                    <a:lnB>
                      <a:noFill/>
                    </a:lnB>
                    <a:noFill/>
                  </a:tcPr>
                </a:tc>
                <a:tc>
                  <a:txBody>
                    <a:bodyPr/>
                    <a:lstStyle/>
                    <a:p>
                      <a:pPr algn="l">
                        <a:buNone/>
                      </a:pPr>
                      <a:r>
                        <a:rPr lang="en-US" altLang="zh-CN" sz="1600">
                          <a:solidFill>
                            <a:schemeClr val="bg1"/>
                          </a:solidFill>
                        </a:rPr>
                        <a:t>1. </a:t>
                      </a:r>
                      <a:r>
                        <a:rPr lang="zh-CN" altLang="en-US" sz="1600">
                          <a:solidFill>
                            <a:schemeClr val="bg1"/>
                          </a:solidFill>
                        </a:rPr>
                        <a:t>数量不能超过库存上限</a:t>
                      </a:r>
                      <a:br>
                        <a:rPr lang="zh-CN" altLang="en-US" sz="1600">
                          <a:solidFill>
                            <a:schemeClr val="bg1"/>
                          </a:solidFill>
                        </a:rPr>
                      </a:br>
                      <a:r>
                        <a:rPr lang="en-US" altLang="zh-CN" sz="1600">
                          <a:solidFill>
                            <a:schemeClr val="bg1"/>
                          </a:solidFill>
                        </a:rPr>
                        <a:t>2. </a:t>
                      </a:r>
                      <a:r>
                        <a:rPr lang="zh-CN" altLang="en-US" sz="1600">
                          <a:solidFill>
                            <a:schemeClr val="bg1"/>
                          </a:solidFill>
                        </a:rPr>
                        <a:t>添加成功后有明确提示</a:t>
                      </a:r>
                    </a:p>
                  </a:txBody>
                  <a:tcPr anchor="ctr">
                    <a:lnL>
                      <a:noFill/>
                    </a:lnL>
                    <a:lnR>
                      <a:noFill/>
                    </a:lnR>
                    <a:lnT>
                      <a:noFill/>
                    </a:lnT>
                    <a:lnB>
                      <a:noFill/>
                    </a:lnB>
                    <a:noFill/>
                  </a:tcPr>
                </a:tc>
                <a:extLst>
                  <a:ext uri="{0D108BD9-81ED-4DB2-BD59-A6C34878D82A}">
                    <a16:rowId xmlns:a16="http://schemas.microsoft.com/office/drawing/2014/main" val="2145583758"/>
                  </a:ext>
                </a:extLst>
              </a:tr>
              <a:tr h="457609">
                <a:tc>
                  <a:txBody>
                    <a:bodyPr/>
                    <a:lstStyle/>
                    <a:p>
                      <a:pPr algn="l">
                        <a:buNone/>
                      </a:pPr>
                      <a:r>
                        <a:rPr lang="en-US" sz="1600">
                          <a:solidFill>
                            <a:schemeClr val="bg1"/>
                          </a:solidFill>
                        </a:rPr>
                        <a:t>P1 (</a:t>
                      </a:r>
                      <a:r>
                        <a:rPr lang="zh-CN" altLang="en-US" sz="1600">
                          <a:solidFill>
                            <a:schemeClr val="bg1"/>
                          </a:solidFill>
                        </a:rPr>
                        <a:t>中</a:t>
                      </a:r>
                      <a:r>
                        <a:rPr lang="en-US" altLang="zh-CN" sz="1600">
                          <a:solidFill>
                            <a:schemeClr val="bg1"/>
                          </a:solidFill>
                        </a:rPr>
                        <a:t>)</a:t>
                      </a:r>
                    </a:p>
                  </a:txBody>
                  <a:tcPr anchor="ctr">
                    <a:lnL>
                      <a:noFill/>
                    </a:lnL>
                    <a:lnR>
                      <a:noFill/>
                    </a:lnR>
                    <a:lnT>
                      <a:noFill/>
                    </a:lnT>
                    <a:lnB>
                      <a:noFill/>
                    </a:lnB>
                    <a:noFill/>
                  </a:tcPr>
                </a:tc>
                <a:tc>
                  <a:txBody>
                    <a:bodyPr/>
                    <a:lstStyle/>
                    <a:p>
                      <a:pPr algn="l">
                        <a:buNone/>
                      </a:pPr>
                      <a:r>
                        <a:rPr lang="zh-CN" altLang="en-US" sz="1600">
                          <a:solidFill>
                            <a:schemeClr val="bg1"/>
                          </a:solidFill>
                        </a:rPr>
                        <a:t>购物者</a:t>
                      </a:r>
                    </a:p>
                  </a:txBody>
                  <a:tcPr anchor="ctr">
                    <a:lnL>
                      <a:noFill/>
                    </a:lnL>
                    <a:lnR>
                      <a:noFill/>
                    </a:lnR>
                    <a:lnT>
                      <a:noFill/>
                    </a:lnT>
                    <a:lnB>
                      <a:noFill/>
                    </a:lnB>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在购物车修改已选商品数量或删除商品</a:t>
                      </a:r>
                      <a:br>
                        <a:rPr lang="zh-CN" altLang="en-US" sz="1600">
                          <a:solidFill>
                            <a:schemeClr val="bg1"/>
                          </a:solidFill>
                        </a:rPr>
                      </a:br>
                      <a:r>
                        <a:rPr lang="zh-CN" altLang="en-US" sz="1600">
                          <a:solidFill>
                            <a:srgbClr val="FFFF00"/>
                          </a:solidFill>
                        </a:rPr>
                        <a:t>以便</a:t>
                      </a:r>
                      <a:r>
                        <a:rPr lang="zh-CN" altLang="en-US" sz="1600">
                          <a:solidFill>
                            <a:schemeClr val="bg1"/>
                          </a:solidFill>
                        </a:rPr>
                        <a:t> 调整我的购买计划</a:t>
                      </a:r>
                    </a:p>
                  </a:txBody>
                  <a:tcPr anchor="ctr">
                    <a:lnL>
                      <a:noFill/>
                    </a:lnL>
                    <a:lnR>
                      <a:noFill/>
                    </a:lnR>
                    <a:lnT>
                      <a:noFill/>
                    </a:lnT>
                    <a:lnB>
                      <a:noFill/>
                    </a:lnB>
                    <a:noFill/>
                  </a:tcPr>
                </a:tc>
                <a:tc>
                  <a:txBody>
                    <a:bodyPr/>
                    <a:lstStyle/>
                    <a:p>
                      <a:pPr algn="l">
                        <a:buNone/>
                      </a:pPr>
                      <a:r>
                        <a:rPr lang="en-US" altLang="zh-CN" sz="1600">
                          <a:solidFill>
                            <a:schemeClr val="bg1"/>
                          </a:solidFill>
                        </a:rPr>
                        <a:t>1. </a:t>
                      </a:r>
                      <a:r>
                        <a:rPr lang="zh-CN" altLang="en-US" sz="1600">
                          <a:solidFill>
                            <a:schemeClr val="bg1"/>
                          </a:solidFill>
                        </a:rPr>
                        <a:t>删除需二次确认</a:t>
                      </a:r>
                      <a:br>
                        <a:rPr lang="zh-CN" altLang="en-US" sz="1600">
                          <a:solidFill>
                            <a:schemeClr val="bg1"/>
                          </a:solidFill>
                        </a:rPr>
                      </a:br>
                      <a:r>
                        <a:rPr lang="en-US" altLang="zh-CN" sz="1600">
                          <a:solidFill>
                            <a:schemeClr val="bg1"/>
                          </a:solidFill>
                        </a:rPr>
                        <a:t>2. </a:t>
                      </a:r>
                      <a:r>
                        <a:rPr lang="zh-CN" altLang="en-US" sz="1600">
                          <a:solidFill>
                            <a:schemeClr val="bg1"/>
                          </a:solidFill>
                        </a:rPr>
                        <a:t>总价随数量实时计算</a:t>
                      </a:r>
                    </a:p>
                  </a:txBody>
                  <a:tcPr anchor="ctr">
                    <a:lnL>
                      <a:noFill/>
                    </a:lnL>
                    <a:lnR>
                      <a:noFill/>
                    </a:lnR>
                    <a:lnT>
                      <a:noFill/>
                    </a:lnT>
                    <a:lnB>
                      <a:noFill/>
                    </a:lnB>
                    <a:noFill/>
                  </a:tcPr>
                </a:tc>
                <a:extLst>
                  <a:ext uri="{0D108BD9-81ED-4DB2-BD59-A6C34878D82A}">
                    <a16:rowId xmlns:a16="http://schemas.microsoft.com/office/drawing/2014/main" val="2514657242"/>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Tree>
    <p:extLst>
      <p:ext uri="{BB962C8B-B14F-4D97-AF65-F5344CB8AC3E}">
        <p14:creationId xmlns:p14="http://schemas.microsoft.com/office/powerpoint/2010/main" val="3460112704"/>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79D73C5-515C-F85C-85EE-2F6DE92CE83B}"/>
              </a:ext>
            </a:extLst>
          </p:cNvPr>
          <p:cNvSpPr>
            <a:spLocks noGrp="1"/>
          </p:cNvSpPr>
          <p:nvPr>
            <p:ph type="title"/>
          </p:nvPr>
        </p:nvSpPr>
        <p:spPr>
          <a:xfrm>
            <a:off x="695998" y="360000"/>
            <a:ext cx="6375921" cy="429413"/>
          </a:xfrm>
        </p:spPr>
        <p:txBody>
          <a:bodyPr/>
          <a:lstStyle/>
          <a:p>
            <a:r>
              <a:rPr lang="en-US" altLang="zh-CN"/>
              <a:t>3.3 </a:t>
            </a:r>
            <a:r>
              <a:rPr lang="zh-CN" altLang="en-US"/>
              <a:t>用户故事地图 </a:t>
            </a:r>
          </a:p>
        </p:txBody>
      </p:sp>
      <p:sp>
        <p:nvSpPr>
          <p:cNvPr id="7" name="内容占位符 6">
            <a:extLst>
              <a:ext uri="{FF2B5EF4-FFF2-40B4-BE49-F238E27FC236}">
                <a16:creationId xmlns:a16="http://schemas.microsoft.com/office/drawing/2014/main" id="{EE8712AF-FFE7-4E0A-3DEF-DEDABBE3F66F}"/>
              </a:ext>
            </a:extLst>
          </p:cNvPr>
          <p:cNvSpPr>
            <a:spLocks noGrp="1"/>
          </p:cNvSpPr>
          <p:nvPr>
            <p:ph idx="1"/>
          </p:nvPr>
        </p:nvSpPr>
        <p:spPr>
          <a:xfrm>
            <a:off x="696000" y="864000"/>
            <a:ext cx="10800000" cy="5400000"/>
          </a:xfrm>
        </p:spPr>
        <p:txBody>
          <a:bodyPr/>
          <a:lstStyle/>
          <a:p>
            <a:r>
              <a:rPr lang="zh-CN" altLang="en-US"/>
              <a:t>用户故事地图 </a:t>
            </a:r>
            <a:r>
              <a:rPr lang="en-US" altLang="zh-CN"/>
              <a:t>User Story Mapping</a:t>
            </a:r>
          </a:p>
          <a:p>
            <a:pPr lvl="1"/>
            <a:r>
              <a:rPr lang="zh-CN" altLang="en-US"/>
              <a:t>将 </a:t>
            </a:r>
            <a:r>
              <a:rPr lang="en-US" altLang="zh-CN"/>
              <a:t>backlog </a:t>
            </a:r>
            <a:r>
              <a:rPr lang="zh-CN" altLang="en-US"/>
              <a:t>变成一个二维图</a:t>
            </a:r>
            <a:endParaRPr lang="en-US" altLang="zh-CN"/>
          </a:p>
          <a:p>
            <a:pPr lvl="1"/>
            <a:r>
              <a:rPr lang="zh-CN" altLang="en-US"/>
              <a:t>第</a:t>
            </a:r>
            <a:r>
              <a:rPr lang="en-US" altLang="zh-CN"/>
              <a:t>1</a:t>
            </a:r>
            <a:r>
              <a:rPr lang="zh-CN" altLang="en-US"/>
              <a:t>维度：一系列用户故事</a:t>
            </a:r>
            <a:endParaRPr lang="en-US" altLang="zh-CN"/>
          </a:p>
          <a:p>
            <a:pPr lvl="1"/>
            <a:r>
              <a:rPr lang="zh-CN" altLang="en-US"/>
              <a:t>第</a:t>
            </a:r>
            <a:r>
              <a:rPr lang="en-US" altLang="zh-CN"/>
              <a:t>2</a:t>
            </a:r>
            <a:r>
              <a:rPr lang="zh-CN" altLang="en-US"/>
              <a:t>维度：用户故事的不同功能需求</a:t>
            </a:r>
            <a:endParaRPr lang="en-US" altLang="zh-CN"/>
          </a:p>
          <a:p>
            <a:r>
              <a:rPr lang="zh-CN" altLang="en-US"/>
              <a:t>实现</a:t>
            </a:r>
            <a:endParaRPr lang="en-US" altLang="zh-CN"/>
          </a:p>
          <a:p>
            <a:pPr lvl="1"/>
            <a:r>
              <a:rPr lang="zh-CN" altLang="en-US"/>
              <a:t>用户活动 </a:t>
            </a:r>
            <a:r>
              <a:rPr lang="en-US" altLang="zh-CN"/>
              <a:t>User activities</a:t>
            </a:r>
            <a:r>
              <a:rPr lang="zh-CN" altLang="en-US"/>
              <a:t>：高层级的用户目标或阶段，如注册、浏览商品、下单</a:t>
            </a:r>
          </a:p>
          <a:p>
            <a:pPr lvl="1"/>
            <a:r>
              <a:rPr lang="zh-CN" altLang="en-US"/>
              <a:t>用户任务 </a:t>
            </a:r>
            <a:r>
              <a:rPr lang="en-US" altLang="zh-CN"/>
              <a:t>User task</a:t>
            </a:r>
            <a:r>
              <a:rPr lang="zh-CN" altLang="en-US"/>
              <a:t>：完成该活动所需的具体操作步骤</a:t>
            </a:r>
          </a:p>
          <a:p>
            <a:pPr lvl="1"/>
            <a:r>
              <a:rPr lang="zh-CN" altLang="en-US"/>
              <a:t>功能</a:t>
            </a:r>
            <a:r>
              <a:rPr lang="en-US" altLang="zh-CN"/>
              <a:t>/</a:t>
            </a:r>
            <a:r>
              <a:rPr lang="zh-CN" altLang="en-US"/>
              <a:t>用户故事 </a:t>
            </a:r>
            <a:r>
              <a:rPr lang="en-US" altLang="zh-CN"/>
              <a:t>Features</a:t>
            </a:r>
            <a:r>
              <a:rPr lang="zh-CN" altLang="en-US"/>
              <a:t>：支撑每个任务的具体功能点，通常按优先级纵向排列（上高下低）</a:t>
            </a:r>
            <a:endParaRPr lang="en-US" altLang="zh-CN"/>
          </a:p>
          <a:p>
            <a:pPr lvl="1"/>
            <a:r>
              <a:rPr lang="zh-CN" altLang="en-US">
                <a:solidFill>
                  <a:srgbClr val="FFFF00"/>
                </a:solidFill>
              </a:rPr>
              <a:t>强烈建议指定具体的用户</a:t>
            </a:r>
            <a:r>
              <a:rPr lang="en-US" altLang="zh-CN">
                <a:solidFill>
                  <a:srgbClr val="FFFF00"/>
                </a:solidFill>
              </a:rPr>
              <a:t>*</a:t>
            </a:r>
            <a:endParaRPr lang="zh-CN" altLang="en-US">
              <a:solidFill>
                <a:srgbClr val="FFFF00"/>
              </a:solidFill>
            </a:endParaRPr>
          </a:p>
          <a:p>
            <a:pPr lvl="1"/>
            <a:endParaRPr lang="en-US" altLang="zh-CN"/>
          </a:p>
          <a:p>
            <a:endParaRPr lang="zh-CN" altLang="en-US"/>
          </a:p>
        </p:txBody>
      </p:sp>
      <p:sp>
        <p:nvSpPr>
          <p:cNvPr id="4" name="文本占位符 3">
            <a:extLst>
              <a:ext uri="{FF2B5EF4-FFF2-40B4-BE49-F238E27FC236}">
                <a16:creationId xmlns:a16="http://schemas.microsoft.com/office/drawing/2014/main" id="{B29CA61B-0865-0FD2-F485-3368B2050AE4}"/>
              </a:ext>
            </a:extLst>
          </p:cNvPr>
          <p:cNvSpPr>
            <a:spLocks noGrp="1"/>
          </p:cNvSpPr>
          <p:nvPr>
            <p:ph type="body" sz="quarter" idx="10"/>
          </p:nvPr>
        </p:nvSpPr>
        <p:spPr>
          <a:xfrm>
            <a:off x="7071919" y="448519"/>
            <a:ext cx="4424080" cy="338554"/>
          </a:xfrm>
        </p:spPr>
        <p:txBody>
          <a:bodyPr/>
          <a:lstStyle/>
          <a:p>
            <a:r>
              <a:rPr lang="en-US" altLang="zh-CN"/>
              <a:t>User Story Mapping/Agile</a:t>
            </a:r>
            <a:endParaRPr lang="zh-CN" altLang="en-US"/>
          </a:p>
        </p:txBody>
      </p:sp>
    </p:spTree>
    <p:extLst>
      <p:ext uri="{BB962C8B-B14F-4D97-AF65-F5344CB8AC3E}">
        <p14:creationId xmlns:p14="http://schemas.microsoft.com/office/powerpoint/2010/main" val="1239224317"/>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cxnSp>
        <p:nvCxnSpPr>
          <p:cNvPr id="18" name="直接箭头连接符 17">
            <a:extLst>
              <a:ext uri="{FF2B5EF4-FFF2-40B4-BE49-F238E27FC236}">
                <a16:creationId xmlns:a16="http://schemas.microsoft.com/office/drawing/2014/main" id="{2F3D2222-4302-0D1C-808B-772E5010311D}"/>
              </a:ext>
            </a:extLst>
          </p:cNvPr>
          <p:cNvCxnSpPr>
            <a:cxnSpLocks/>
          </p:cNvCxnSpPr>
          <p:nvPr/>
        </p:nvCxnSpPr>
        <p:spPr>
          <a:xfrm>
            <a:off x="1481138" y="3166546"/>
            <a:ext cx="97536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7802DBB9-ABBF-FC0A-1563-B982A4E94E75}"/>
              </a:ext>
            </a:extLst>
          </p:cNvPr>
          <p:cNvSpPr/>
          <p:nvPr/>
        </p:nvSpPr>
        <p:spPr>
          <a:xfrm>
            <a:off x="242322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
        <p:nvSpPr>
          <p:cNvPr id="20" name="矩形 19">
            <a:extLst>
              <a:ext uri="{FF2B5EF4-FFF2-40B4-BE49-F238E27FC236}">
                <a16:creationId xmlns:a16="http://schemas.microsoft.com/office/drawing/2014/main" id="{06EF9BF2-2C23-1823-3875-619D4AFE09DE}"/>
              </a:ext>
            </a:extLst>
          </p:cNvPr>
          <p:cNvSpPr/>
          <p:nvPr/>
        </p:nvSpPr>
        <p:spPr>
          <a:xfrm>
            <a:off x="2423221"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搜索商品</a:t>
            </a:r>
          </a:p>
        </p:txBody>
      </p:sp>
      <p:sp>
        <p:nvSpPr>
          <p:cNvPr id="21" name="矩形 20">
            <a:extLst>
              <a:ext uri="{FF2B5EF4-FFF2-40B4-BE49-F238E27FC236}">
                <a16:creationId xmlns:a16="http://schemas.microsoft.com/office/drawing/2014/main" id="{CD76FC93-F747-E1A3-36D0-192D2EAD14B0}"/>
              </a:ext>
            </a:extLst>
          </p:cNvPr>
          <p:cNvSpPr/>
          <p:nvPr/>
        </p:nvSpPr>
        <p:spPr>
          <a:xfrm>
            <a:off x="2423221" y="3255921"/>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2" name="矩形 21">
            <a:extLst>
              <a:ext uri="{FF2B5EF4-FFF2-40B4-BE49-F238E27FC236}">
                <a16:creationId xmlns:a16="http://schemas.microsoft.com/office/drawing/2014/main" id="{D7D2D648-F4A0-74A1-79CB-AFBA6654FE88}"/>
              </a:ext>
            </a:extLst>
          </p:cNvPr>
          <p:cNvSpPr/>
          <p:nvPr/>
        </p:nvSpPr>
        <p:spPr>
          <a:xfrm>
            <a:off x="2423221" y="371267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3" name="矩形 22">
            <a:extLst>
              <a:ext uri="{FF2B5EF4-FFF2-40B4-BE49-F238E27FC236}">
                <a16:creationId xmlns:a16="http://schemas.microsoft.com/office/drawing/2014/main" id="{3C848D48-8602-993B-7E54-A0FC40FAAAD7}"/>
              </a:ext>
            </a:extLst>
          </p:cNvPr>
          <p:cNvSpPr/>
          <p:nvPr/>
        </p:nvSpPr>
        <p:spPr>
          <a:xfrm>
            <a:off x="2423221" y="4169435"/>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4" name="矩形 23">
            <a:extLst>
              <a:ext uri="{FF2B5EF4-FFF2-40B4-BE49-F238E27FC236}">
                <a16:creationId xmlns:a16="http://schemas.microsoft.com/office/drawing/2014/main" id="{240607D8-7861-E5E4-73CD-419B7C9DC726}"/>
              </a:ext>
            </a:extLst>
          </p:cNvPr>
          <p:cNvSpPr/>
          <p:nvPr/>
        </p:nvSpPr>
        <p:spPr>
          <a:xfrm>
            <a:off x="2423221" y="4626192"/>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5" name="矩形 24">
            <a:extLst>
              <a:ext uri="{FF2B5EF4-FFF2-40B4-BE49-F238E27FC236}">
                <a16:creationId xmlns:a16="http://schemas.microsoft.com/office/drawing/2014/main" id="{2CA980AE-2D2C-3920-363B-837C38ABF414}"/>
              </a:ext>
            </a:extLst>
          </p:cNvPr>
          <p:cNvSpPr/>
          <p:nvPr/>
        </p:nvSpPr>
        <p:spPr>
          <a:xfrm>
            <a:off x="4566366"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选择规格数量</a:t>
            </a:r>
          </a:p>
        </p:txBody>
      </p:sp>
      <p:sp>
        <p:nvSpPr>
          <p:cNvPr id="26" name="矩形 25">
            <a:extLst>
              <a:ext uri="{FF2B5EF4-FFF2-40B4-BE49-F238E27FC236}">
                <a16:creationId xmlns:a16="http://schemas.microsoft.com/office/drawing/2014/main" id="{7B86DD8B-B343-45A8-E9C9-EEBD538F6E25}"/>
              </a:ext>
            </a:extLst>
          </p:cNvPr>
          <p:cNvSpPr/>
          <p:nvPr/>
        </p:nvSpPr>
        <p:spPr>
          <a:xfrm>
            <a:off x="4566366" y="3255921"/>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7" name="矩形 26">
            <a:extLst>
              <a:ext uri="{FF2B5EF4-FFF2-40B4-BE49-F238E27FC236}">
                <a16:creationId xmlns:a16="http://schemas.microsoft.com/office/drawing/2014/main" id="{0E2C0B29-2800-35AB-552D-69A226775747}"/>
              </a:ext>
            </a:extLst>
          </p:cNvPr>
          <p:cNvSpPr/>
          <p:nvPr/>
        </p:nvSpPr>
        <p:spPr>
          <a:xfrm>
            <a:off x="4566366" y="371267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0" name="矩形 29">
            <a:extLst>
              <a:ext uri="{FF2B5EF4-FFF2-40B4-BE49-F238E27FC236}">
                <a16:creationId xmlns:a16="http://schemas.microsoft.com/office/drawing/2014/main" id="{87EB58ED-2C84-C985-F464-4F257091FA18}"/>
              </a:ext>
            </a:extLst>
          </p:cNvPr>
          <p:cNvSpPr/>
          <p:nvPr/>
        </p:nvSpPr>
        <p:spPr>
          <a:xfrm>
            <a:off x="6709511" y="227739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选择配送方式</a:t>
            </a:r>
          </a:p>
        </p:txBody>
      </p:sp>
      <p:sp>
        <p:nvSpPr>
          <p:cNvPr id="31" name="矩形 30">
            <a:extLst>
              <a:ext uri="{FF2B5EF4-FFF2-40B4-BE49-F238E27FC236}">
                <a16:creationId xmlns:a16="http://schemas.microsoft.com/office/drawing/2014/main" id="{4A7F941B-3B05-A7BD-D622-DA4ECDF601FA}"/>
              </a:ext>
            </a:extLst>
          </p:cNvPr>
          <p:cNvSpPr/>
          <p:nvPr/>
        </p:nvSpPr>
        <p:spPr>
          <a:xfrm>
            <a:off x="6709511" y="3223976"/>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2" name="矩形 31">
            <a:extLst>
              <a:ext uri="{FF2B5EF4-FFF2-40B4-BE49-F238E27FC236}">
                <a16:creationId xmlns:a16="http://schemas.microsoft.com/office/drawing/2014/main" id="{96D3A98D-9C21-D19B-7EBD-D963D58D335B}"/>
              </a:ext>
            </a:extLst>
          </p:cNvPr>
          <p:cNvSpPr/>
          <p:nvPr/>
        </p:nvSpPr>
        <p:spPr>
          <a:xfrm>
            <a:off x="6709511" y="3680733"/>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3" name="矩形 32">
            <a:extLst>
              <a:ext uri="{FF2B5EF4-FFF2-40B4-BE49-F238E27FC236}">
                <a16:creationId xmlns:a16="http://schemas.microsoft.com/office/drawing/2014/main" id="{F0955BCE-A227-D95A-0419-4A9CC59B8D36}"/>
              </a:ext>
            </a:extLst>
          </p:cNvPr>
          <p:cNvSpPr/>
          <p:nvPr/>
        </p:nvSpPr>
        <p:spPr>
          <a:xfrm>
            <a:off x="6709511" y="4137490"/>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5" name="矩形 34">
            <a:extLst>
              <a:ext uri="{FF2B5EF4-FFF2-40B4-BE49-F238E27FC236}">
                <a16:creationId xmlns:a16="http://schemas.microsoft.com/office/drawing/2014/main" id="{B1B49939-65FA-3633-1A72-D669D114F1E1}"/>
              </a:ext>
            </a:extLst>
          </p:cNvPr>
          <p:cNvSpPr/>
          <p:nvPr/>
        </p:nvSpPr>
        <p:spPr>
          <a:xfrm>
            <a:off x="8852655" y="227607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选择支付方式</a:t>
            </a:r>
          </a:p>
        </p:txBody>
      </p:sp>
      <p:sp>
        <p:nvSpPr>
          <p:cNvPr id="36" name="矩形 35">
            <a:extLst>
              <a:ext uri="{FF2B5EF4-FFF2-40B4-BE49-F238E27FC236}">
                <a16:creationId xmlns:a16="http://schemas.microsoft.com/office/drawing/2014/main" id="{00E969F1-495F-B57C-84AF-75C953A3F5E7}"/>
              </a:ext>
            </a:extLst>
          </p:cNvPr>
          <p:cNvSpPr/>
          <p:nvPr/>
        </p:nvSpPr>
        <p:spPr>
          <a:xfrm>
            <a:off x="8852655" y="3222651"/>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7" name="矩形 36">
            <a:extLst>
              <a:ext uri="{FF2B5EF4-FFF2-40B4-BE49-F238E27FC236}">
                <a16:creationId xmlns:a16="http://schemas.microsoft.com/office/drawing/2014/main" id="{E7A1FF42-1847-2DCB-08B7-1AFAA0105169}"/>
              </a:ext>
            </a:extLst>
          </p:cNvPr>
          <p:cNvSpPr/>
          <p:nvPr/>
        </p:nvSpPr>
        <p:spPr>
          <a:xfrm>
            <a:off x="8852655" y="367940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41" name="文本框 40">
            <a:extLst>
              <a:ext uri="{FF2B5EF4-FFF2-40B4-BE49-F238E27FC236}">
                <a16:creationId xmlns:a16="http://schemas.microsoft.com/office/drawing/2014/main" id="{995627AD-191C-41E1-237F-7D0A8F46E67D}"/>
              </a:ext>
            </a:extLst>
          </p:cNvPr>
          <p:cNvSpPr txBox="1"/>
          <p:nvPr/>
        </p:nvSpPr>
        <p:spPr>
          <a:xfrm>
            <a:off x="957263" y="1897920"/>
            <a:ext cx="1433406" cy="307777"/>
          </a:xfrm>
          <a:prstGeom prst="rect">
            <a:avLst/>
          </a:prstGeom>
          <a:noFill/>
        </p:spPr>
        <p:txBody>
          <a:bodyPr wrap="none" rtlCol="0">
            <a:spAutoFit/>
          </a:bodyPr>
          <a:lstStyle/>
          <a:p>
            <a:pPr algn="r"/>
            <a:r>
              <a:rPr lang="en-US" altLang="zh-CN" sz="1400">
                <a:solidFill>
                  <a:schemeClr val="bg1"/>
                </a:solidFill>
              </a:rPr>
              <a:t>User activities</a:t>
            </a:r>
            <a:endParaRPr lang="zh-CN" altLang="en-US" sz="1400">
              <a:solidFill>
                <a:schemeClr val="bg1"/>
              </a:solidFill>
            </a:endParaRPr>
          </a:p>
        </p:txBody>
      </p:sp>
      <p:sp>
        <p:nvSpPr>
          <p:cNvPr id="42" name="文本框 41">
            <a:extLst>
              <a:ext uri="{FF2B5EF4-FFF2-40B4-BE49-F238E27FC236}">
                <a16:creationId xmlns:a16="http://schemas.microsoft.com/office/drawing/2014/main" id="{36AC6C27-182E-672F-05E5-4A4BDA1F316F}"/>
              </a:ext>
            </a:extLst>
          </p:cNvPr>
          <p:cNvSpPr txBox="1"/>
          <p:nvPr/>
        </p:nvSpPr>
        <p:spPr>
          <a:xfrm>
            <a:off x="1374044" y="2335455"/>
            <a:ext cx="1016625" cy="307777"/>
          </a:xfrm>
          <a:prstGeom prst="rect">
            <a:avLst/>
          </a:prstGeom>
          <a:noFill/>
        </p:spPr>
        <p:txBody>
          <a:bodyPr wrap="none" rtlCol="0">
            <a:spAutoFit/>
          </a:bodyPr>
          <a:lstStyle/>
          <a:p>
            <a:pPr algn="r"/>
            <a:r>
              <a:rPr lang="en-US" altLang="zh-CN" sz="1400">
                <a:solidFill>
                  <a:schemeClr val="bg1"/>
                </a:solidFill>
              </a:rPr>
              <a:t>User task</a:t>
            </a:r>
            <a:endParaRPr lang="zh-CN" altLang="en-US" sz="1400">
              <a:solidFill>
                <a:schemeClr val="bg1"/>
              </a:solidFill>
            </a:endParaRPr>
          </a:p>
        </p:txBody>
      </p:sp>
      <p:sp>
        <p:nvSpPr>
          <p:cNvPr id="43" name="文本框 42">
            <a:extLst>
              <a:ext uri="{FF2B5EF4-FFF2-40B4-BE49-F238E27FC236}">
                <a16:creationId xmlns:a16="http://schemas.microsoft.com/office/drawing/2014/main" id="{356FA6B4-9114-8085-310F-E73485C05FEC}"/>
              </a:ext>
            </a:extLst>
          </p:cNvPr>
          <p:cNvSpPr txBox="1"/>
          <p:nvPr/>
        </p:nvSpPr>
        <p:spPr>
          <a:xfrm>
            <a:off x="1415722" y="3282033"/>
            <a:ext cx="974947" cy="307777"/>
          </a:xfrm>
          <a:prstGeom prst="rect">
            <a:avLst/>
          </a:prstGeom>
          <a:noFill/>
        </p:spPr>
        <p:txBody>
          <a:bodyPr wrap="none" rtlCol="0">
            <a:spAutoFit/>
          </a:bodyPr>
          <a:lstStyle/>
          <a:p>
            <a:pPr algn="r"/>
            <a:r>
              <a:rPr lang="en-US" altLang="zh-CN" sz="1400">
                <a:solidFill>
                  <a:schemeClr val="bg1"/>
                </a:solidFill>
              </a:rPr>
              <a:t>Features</a:t>
            </a:r>
            <a:endParaRPr lang="zh-CN" altLang="en-US" sz="1400">
              <a:solidFill>
                <a:schemeClr val="bg1"/>
              </a:solidFill>
            </a:endParaRPr>
          </a:p>
        </p:txBody>
      </p:sp>
      <p:sp>
        <p:nvSpPr>
          <p:cNvPr id="44" name="矩形 43">
            <a:extLst>
              <a:ext uri="{FF2B5EF4-FFF2-40B4-BE49-F238E27FC236}">
                <a16:creationId xmlns:a16="http://schemas.microsoft.com/office/drawing/2014/main" id="{FA187873-75E4-24A2-09C4-E7AC2B7A23B3}"/>
              </a:ext>
            </a:extLst>
          </p:cNvPr>
          <p:cNvSpPr/>
          <p:nvPr/>
        </p:nvSpPr>
        <p:spPr>
          <a:xfrm>
            <a:off x="670951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提交订单</a:t>
            </a:r>
          </a:p>
        </p:txBody>
      </p:sp>
      <p:sp>
        <p:nvSpPr>
          <p:cNvPr id="3" name="矩形 2">
            <a:extLst>
              <a:ext uri="{FF2B5EF4-FFF2-40B4-BE49-F238E27FC236}">
                <a16:creationId xmlns:a16="http://schemas.microsoft.com/office/drawing/2014/main" id="{64F674B2-1B4F-58A9-2AC7-914A82249472}"/>
              </a:ext>
            </a:extLst>
          </p:cNvPr>
          <p:cNvSpPr/>
          <p:nvPr/>
        </p:nvSpPr>
        <p:spPr>
          <a:xfrm>
            <a:off x="4566366"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
        <p:nvSpPr>
          <p:cNvPr id="5" name="矩形 4">
            <a:extLst>
              <a:ext uri="{FF2B5EF4-FFF2-40B4-BE49-F238E27FC236}">
                <a16:creationId xmlns:a16="http://schemas.microsoft.com/office/drawing/2014/main" id="{D636B4BC-C652-FF1B-0A6C-D8A5D2C2AD22}"/>
              </a:ext>
            </a:extLst>
          </p:cNvPr>
          <p:cNvSpPr/>
          <p:nvPr/>
        </p:nvSpPr>
        <p:spPr>
          <a:xfrm>
            <a:off x="8852655"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支付确认</a:t>
            </a:r>
          </a:p>
        </p:txBody>
      </p:sp>
      <p:sp>
        <p:nvSpPr>
          <p:cNvPr id="6" name="矩形 5">
            <a:extLst>
              <a:ext uri="{FF2B5EF4-FFF2-40B4-BE49-F238E27FC236}">
                <a16:creationId xmlns:a16="http://schemas.microsoft.com/office/drawing/2014/main" id="{F8E386CA-8F68-B68C-AC01-EF2BE8940A36}"/>
              </a:ext>
            </a:extLst>
          </p:cNvPr>
          <p:cNvSpPr/>
          <p:nvPr/>
        </p:nvSpPr>
        <p:spPr>
          <a:xfrm>
            <a:off x="2423221"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查看商品详情</a:t>
            </a:r>
          </a:p>
        </p:txBody>
      </p:sp>
      <p:sp>
        <p:nvSpPr>
          <p:cNvPr id="8" name="矩形 7">
            <a:extLst>
              <a:ext uri="{FF2B5EF4-FFF2-40B4-BE49-F238E27FC236}">
                <a16:creationId xmlns:a16="http://schemas.microsoft.com/office/drawing/2014/main" id="{8C4CCF3C-D306-4B49-F100-B5D7B39F86AA}"/>
              </a:ext>
            </a:extLst>
          </p:cNvPr>
          <p:cNvSpPr/>
          <p:nvPr/>
        </p:nvSpPr>
        <p:spPr>
          <a:xfrm>
            <a:off x="4566366"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添加到购物车</a:t>
            </a:r>
          </a:p>
        </p:txBody>
      </p:sp>
      <p:sp>
        <p:nvSpPr>
          <p:cNvPr id="9" name="矩形 8">
            <a:extLst>
              <a:ext uri="{FF2B5EF4-FFF2-40B4-BE49-F238E27FC236}">
                <a16:creationId xmlns:a16="http://schemas.microsoft.com/office/drawing/2014/main" id="{C6A1D9D5-A494-F4CE-A094-DF8448ADE2D8}"/>
              </a:ext>
            </a:extLst>
          </p:cNvPr>
          <p:cNvSpPr/>
          <p:nvPr/>
        </p:nvSpPr>
        <p:spPr>
          <a:xfrm>
            <a:off x="6709511" y="2685226"/>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选择收货地址</a:t>
            </a:r>
          </a:p>
        </p:txBody>
      </p:sp>
      <p:sp>
        <p:nvSpPr>
          <p:cNvPr id="10" name="矩形 9">
            <a:extLst>
              <a:ext uri="{FF2B5EF4-FFF2-40B4-BE49-F238E27FC236}">
                <a16:creationId xmlns:a16="http://schemas.microsoft.com/office/drawing/2014/main" id="{87C0BFE5-4CCA-BA66-FFCB-226A00970F80}"/>
              </a:ext>
            </a:extLst>
          </p:cNvPr>
          <p:cNvSpPr/>
          <p:nvPr/>
        </p:nvSpPr>
        <p:spPr>
          <a:xfrm>
            <a:off x="8852655" y="268390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确认订单信息</a:t>
            </a:r>
          </a:p>
        </p:txBody>
      </p:sp>
    </p:spTree>
    <p:extLst>
      <p:ext uri="{BB962C8B-B14F-4D97-AF65-F5344CB8AC3E}">
        <p14:creationId xmlns:p14="http://schemas.microsoft.com/office/powerpoint/2010/main" val="113485205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 17">
            <a:extLst>
              <a:ext uri="{FF2B5EF4-FFF2-40B4-BE49-F238E27FC236}">
                <a16:creationId xmlns:a16="http://schemas.microsoft.com/office/drawing/2014/main" id="{290091BA-2099-0BDA-B417-98F6F5043762}"/>
              </a:ext>
            </a:extLst>
          </p:cNvPr>
          <p:cNvPicPr>
            <a:picLocks noChangeAspect="1"/>
          </p:cNvPicPr>
          <p:nvPr/>
        </p:nvPicPr>
        <p:blipFill>
          <a:blip r:embed="rId3"/>
          <a:stretch>
            <a:fillRect/>
          </a:stretch>
        </p:blipFill>
        <p:spPr>
          <a:xfrm>
            <a:off x="1752600" y="538162"/>
            <a:ext cx="8686800" cy="5781675"/>
          </a:xfrm>
          <a:prstGeom prst="rect">
            <a:avLst/>
          </a:prstGeom>
        </p:spPr>
      </p:pic>
    </p:spTree>
    <p:extLst>
      <p:ext uri="{BB962C8B-B14F-4D97-AF65-F5344CB8AC3E}">
        <p14:creationId xmlns:p14="http://schemas.microsoft.com/office/powerpoint/2010/main" val="16211436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9F9D1-E209-65CE-BCE8-5AE18779A33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9E5172-CA9F-061D-F63B-5A4C67FDC69D}"/>
              </a:ext>
            </a:extLst>
          </p:cNvPr>
          <p:cNvSpPr>
            <a:spLocks noGrp="1"/>
          </p:cNvSpPr>
          <p:nvPr>
            <p:ph type="title"/>
          </p:nvPr>
        </p:nvSpPr>
        <p:spPr>
          <a:xfrm>
            <a:off x="695998" y="360000"/>
            <a:ext cx="6375921" cy="429413"/>
          </a:xfrm>
        </p:spPr>
        <p:txBody>
          <a:bodyPr/>
          <a:lstStyle/>
          <a:p>
            <a:r>
              <a:rPr lang="en-US" altLang="zh-CN"/>
              <a:t>3.5 INVEST </a:t>
            </a:r>
            <a:r>
              <a:rPr lang="zh-CN" altLang="en-US"/>
              <a:t>原则</a:t>
            </a:r>
          </a:p>
        </p:txBody>
      </p:sp>
      <p:sp>
        <p:nvSpPr>
          <p:cNvPr id="7" name="内容占位符 6">
            <a:extLst>
              <a:ext uri="{FF2B5EF4-FFF2-40B4-BE49-F238E27FC236}">
                <a16:creationId xmlns:a16="http://schemas.microsoft.com/office/drawing/2014/main" id="{723A14AB-6338-158C-9C19-9FC7BE1B40F7}"/>
              </a:ext>
            </a:extLst>
          </p:cNvPr>
          <p:cNvSpPr>
            <a:spLocks noGrp="1"/>
          </p:cNvSpPr>
          <p:nvPr>
            <p:ph idx="1"/>
          </p:nvPr>
        </p:nvSpPr>
        <p:spPr>
          <a:xfrm>
            <a:off x="696000" y="864000"/>
            <a:ext cx="10800000" cy="5400000"/>
          </a:xfrm>
        </p:spPr>
        <p:txBody>
          <a:bodyPr/>
          <a:lstStyle/>
          <a:p>
            <a:r>
              <a:rPr lang="zh-CN" altLang="en-US" dirty="0"/>
              <a:t>由 </a:t>
            </a:r>
            <a:r>
              <a:rPr lang="zh-CN" altLang="en-US" dirty="0">
                <a:hlinkClick r:id="rId3"/>
              </a:rPr>
              <a:t>比尔</a:t>
            </a:r>
            <a:r>
              <a:rPr lang="en-US" altLang="zh-CN" dirty="0">
                <a:hlinkClick r:id="rId3"/>
              </a:rPr>
              <a:t>·</a:t>
            </a:r>
            <a:r>
              <a:rPr lang="zh-CN" altLang="en-US" dirty="0">
                <a:hlinkClick r:id="rId3"/>
              </a:rPr>
              <a:t>韦克 </a:t>
            </a:r>
            <a:r>
              <a:rPr lang="en-US" altLang="zh-CN" dirty="0">
                <a:hlinkClick r:id="rId3"/>
              </a:rPr>
              <a:t>Bill Wake</a:t>
            </a:r>
            <a:r>
              <a:rPr lang="en-US" altLang="zh-CN" dirty="0"/>
              <a:t> 2003 </a:t>
            </a:r>
            <a:r>
              <a:rPr lang="zh-CN" altLang="en-US" dirty="0"/>
              <a:t>年提出 </a:t>
            </a:r>
            <a:endParaRPr lang="en-US" altLang="zh-CN" dirty="0"/>
          </a:p>
          <a:p>
            <a:r>
              <a:rPr lang="zh-CN" altLang="en-US" dirty="0"/>
              <a:t>是敏捷软件开发领域的先驱，极限编程 </a:t>
            </a:r>
            <a:r>
              <a:rPr lang="en-US" altLang="zh-CN" dirty="0"/>
              <a:t>XP </a:t>
            </a:r>
            <a:r>
              <a:rPr lang="zh-CN" altLang="en-US" dirty="0"/>
              <a:t>的倡导者之一</a:t>
            </a:r>
            <a:endParaRPr lang="en-US" altLang="zh-CN" dirty="0"/>
          </a:p>
          <a:p>
            <a:r>
              <a:rPr lang="zh-CN" altLang="en-US" dirty="0"/>
              <a:t>用于评估和撰写高质量“用户故事 </a:t>
            </a:r>
            <a:r>
              <a:rPr lang="en-US" altLang="zh-CN" dirty="0"/>
              <a:t>User Story</a:t>
            </a:r>
            <a:r>
              <a:rPr lang="zh-CN" altLang="en-US" dirty="0"/>
              <a:t> 的</a:t>
            </a:r>
            <a:r>
              <a:rPr lang="zh-CN" altLang="en-US" dirty="0">
                <a:solidFill>
                  <a:srgbClr val="FFFF00"/>
                </a:solidFill>
              </a:rPr>
              <a:t>黄金标准</a:t>
            </a:r>
            <a:endParaRPr lang="en-US" altLang="zh-CN" dirty="0">
              <a:solidFill>
                <a:srgbClr val="FFFF00"/>
              </a:solidFill>
            </a:endParaRPr>
          </a:p>
        </p:txBody>
      </p:sp>
      <p:sp>
        <p:nvSpPr>
          <p:cNvPr id="4" name="文本占位符 3">
            <a:extLst>
              <a:ext uri="{FF2B5EF4-FFF2-40B4-BE49-F238E27FC236}">
                <a16:creationId xmlns:a16="http://schemas.microsoft.com/office/drawing/2014/main" id="{42CC86EF-FFBC-632E-740F-7CAC1FE6B64D}"/>
              </a:ext>
            </a:extLst>
          </p:cNvPr>
          <p:cNvSpPr>
            <a:spLocks noGrp="1"/>
          </p:cNvSpPr>
          <p:nvPr>
            <p:ph type="body" sz="quarter" idx="10"/>
          </p:nvPr>
        </p:nvSpPr>
        <p:spPr>
          <a:xfrm>
            <a:off x="7071919" y="448519"/>
            <a:ext cx="4424080" cy="338554"/>
          </a:xfrm>
        </p:spPr>
        <p:txBody>
          <a:bodyPr/>
          <a:lstStyle/>
          <a:p>
            <a:r>
              <a:rPr lang="en-US" altLang="zh-CN"/>
              <a:t>INVEST/Agile</a:t>
            </a:r>
            <a:endParaRPr lang="zh-CN" altLang="en-US"/>
          </a:p>
        </p:txBody>
      </p:sp>
      <p:graphicFrame>
        <p:nvGraphicFramePr>
          <p:cNvPr id="17" name="表格 16">
            <a:extLst>
              <a:ext uri="{FF2B5EF4-FFF2-40B4-BE49-F238E27FC236}">
                <a16:creationId xmlns:a16="http://schemas.microsoft.com/office/drawing/2014/main" id="{0485B869-8F00-A529-B3AE-8DA1DF7605C5}"/>
              </a:ext>
            </a:extLst>
          </p:cNvPr>
          <p:cNvGraphicFramePr>
            <a:graphicFrameLocks noGrp="1"/>
          </p:cNvGraphicFramePr>
          <p:nvPr>
            <p:extLst>
              <p:ext uri="{D42A27DB-BD31-4B8C-83A1-F6EECF244321}">
                <p14:modId xmlns:p14="http://schemas.microsoft.com/office/powerpoint/2010/main" val="2609511113"/>
              </p:ext>
            </p:extLst>
          </p:nvPr>
        </p:nvGraphicFramePr>
        <p:xfrm>
          <a:off x="0" y="2538000"/>
          <a:ext cx="12192000" cy="360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912543427"/>
                    </a:ext>
                  </a:extLst>
                </a:gridCol>
                <a:gridCol w="2032000">
                  <a:extLst>
                    <a:ext uri="{9D8B030D-6E8A-4147-A177-3AD203B41FA5}">
                      <a16:colId xmlns:a16="http://schemas.microsoft.com/office/drawing/2014/main" val="3686085174"/>
                    </a:ext>
                  </a:extLst>
                </a:gridCol>
                <a:gridCol w="2032000">
                  <a:extLst>
                    <a:ext uri="{9D8B030D-6E8A-4147-A177-3AD203B41FA5}">
                      <a16:colId xmlns:a16="http://schemas.microsoft.com/office/drawing/2014/main" val="2732517800"/>
                    </a:ext>
                  </a:extLst>
                </a:gridCol>
                <a:gridCol w="2032000">
                  <a:extLst>
                    <a:ext uri="{9D8B030D-6E8A-4147-A177-3AD203B41FA5}">
                      <a16:colId xmlns:a16="http://schemas.microsoft.com/office/drawing/2014/main" val="3076511177"/>
                    </a:ext>
                  </a:extLst>
                </a:gridCol>
                <a:gridCol w="2032000">
                  <a:extLst>
                    <a:ext uri="{9D8B030D-6E8A-4147-A177-3AD203B41FA5}">
                      <a16:colId xmlns:a16="http://schemas.microsoft.com/office/drawing/2014/main" val="1296903940"/>
                    </a:ext>
                  </a:extLst>
                </a:gridCol>
                <a:gridCol w="2032000">
                  <a:extLst>
                    <a:ext uri="{9D8B030D-6E8A-4147-A177-3AD203B41FA5}">
                      <a16:colId xmlns:a16="http://schemas.microsoft.com/office/drawing/2014/main" val="20101341"/>
                    </a:ext>
                  </a:extLst>
                </a:gridCol>
              </a:tblGrid>
              <a:tr h="720000">
                <a:tc>
                  <a:txBody>
                    <a:bodyPr/>
                    <a:lstStyle/>
                    <a:p>
                      <a:pPr algn="ctr"/>
                      <a:r>
                        <a:rPr lang="en-US" altLang="zh-CN" sz="3200" b="0">
                          <a:solidFill>
                            <a:schemeClr val="bg1"/>
                          </a:solidFill>
                        </a:rPr>
                        <a:t>I</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05F73"/>
                    </a:solidFill>
                  </a:tcPr>
                </a:tc>
                <a:tc>
                  <a:txBody>
                    <a:bodyPr/>
                    <a:lstStyle/>
                    <a:p>
                      <a:pPr algn="ctr"/>
                      <a:r>
                        <a:rPr lang="en-US" altLang="zh-CN" sz="3200" b="0">
                          <a:solidFill>
                            <a:schemeClr val="bg1"/>
                          </a:solidFill>
                        </a:rPr>
                        <a:t>N</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886E"/>
                    </a:solidFill>
                  </a:tcPr>
                </a:tc>
                <a:tc>
                  <a:txBody>
                    <a:bodyPr/>
                    <a:lstStyle/>
                    <a:p>
                      <a:pPr algn="ctr"/>
                      <a:r>
                        <a:rPr lang="en-US" altLang="zh-CN" sz="3200" b="0">
                          <a:solidFill>
                            <a:schemeClr val="bg1"/>
                          </a:solidFill>
                        </a:rPr>
                        <a:t>V</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6BA4F"/>
                    </a:solidFill>
                  </a:tcPr>
                </a:tc>
                <a:tc>
                  <a:txBody>
                    <a:bodyPr/>
                    <a:lstStyle/>
                    <a:p>
                      <a:pPr algn="ctr"/>
                      <a:r>
                        <a:rPr lang="en-US" altLang="zh-CN" sz="3200" b="0">
                          <a:solidFill>
                            <a:schemeClr val="bg1"/>
                          </a:solidFill>
                        </a:rPr>
                        <a:t>E</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CCA94"/>
                    </a:solidFill>
                  </a:tcPr>
                </a:tc>
                <a:tc>
                  <a:txBody>
                    <a:bodyPr/>
                    <a:lstStyle/>
                    <a:p>
                      <a:pPr algn="ctr"/>
                      <a:r>
                        <a:rPr lang="en-US" altLang="zh-CN" sz="3200" b="0">
                          <a:solidFill>
                            <a:schemeClr val="bg1"/>
                          </a:solidFill>
                        </a:rPr>
                        <a:t>S</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B6E6"/>
                    </a:solidFill>
                  </a:tcPr>
                </a:tc>
                <a:tc>
                  <a:txBody>
                    <a:bodyPr/>
                    <a:lstStyle/>
                    <a:p>
                      <a:pPr algn="ctr"/>
                      <a:r>
                        <a:rPr lang="en-US" altLang="zh-CN" sz="3200" b="0">
                          <a:solidFill>
                            <a:schemeClr val="bg1"/>
                          </a:solidFill>
                        </a:rPr>
                        <a:t>T</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96E8"/>
                    </a:solidFill>
                  </a:tcPr>
                </a:tc>
                <a:extLst>
                  <a:ext uri="{0D108BD9-81ED-4DB2-BD59-A6C34878D82A}">
                    <a16:rowId xmlns:a16="http://schemas.microsoft.com/office/drawing/2014/main" val="1790104904"/>
                  </a:ext>
                </a:extLst>
              </a:tr>
              <a:tr h="2880000">
                <a:tc>
                  <a:txBody>
                    <a:bodyPr/>
                    <a:lstStyle/>
                    <a:p>
                      <a:pPr algn="l"/>
                      <a:r>
                        <a:rPr lang="en-US" altLang="zh-CN" sz="1800" b="0">
                          <a:solidFill>
                            <a:schemeClr val="bg1"/>
                          </a:solidFill>
                        </a:rPr>
                        <a:t>Independent</a:t>
                      </a:r>
                    </a:p>
                    <a:p>
                      <a:pPr algn="l"/>
                      <a:r>
                        <a:rPr lang="zh-CN" altLang="en-US" sz="1600" b="0">
                          <a:solidFill>
                            <a:schemeClr val="bg1"/>
                          </a:solidFill>
                        </a:rPr>
                        <a:t>独立的</a:t>
                      </a:r>
                      <a:endParaRPr lang="en-US" altLang="zh-CN" sz="1600" b="0">
                        <a:solidFill>
                          <a:schemeClr val="bg1"/>
                        </a:solidFill>
                      </a:endParaRPr>
                    </a:p>
                    <a:p>
                      <a:pPr algn="l"/>
                      <a:endParaRPr lang="en-US" altLang="zh-CN" sz="1600" b="0">
                        <a:solidFill>
                          <a:schemeClr val="bg1"/>
                        </a:solidFill>
                      </a:endParaRPr>
                    </a:p>
                    <a:p>
                      <a:pPr algn="l"/>
                      <a:r>
                        <a:rPr lang="zh-CN" altLang="en-US" sz="1600" b="0">
                          <a:solidFill>
                            <a:schemeClr val="bg1"/>
                          </a:solidFill>
                        </a:rPr>
                        <a:t>不依赖其他故事以便随时安排实施</a:t>
                      </a:r>
                    </a:p>
                  </a:txBody>
                  <a:tcPr marL="180000" marR="18000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05F73"/>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800" b="0">
                          <a:solidFill>
                            <a:schemeClr val="bg1"/>
                          </a:solidFill>
                        </a:rPr>
                        <a:t>Negotiable</a:t>
                      </a:r>
                    </a:p>
                    <a:p>
                      <a:pPr algn="l"/>
                      <a:r>
                        <a:rPr lang="zh-CN" altLang="en-US" sz="1600" b="0">
                          <a:solidFill>
                            <a:schemeClr val="bg1"/>
                          </a:solidFill>
                        </a:rPr>
                        <a:t>可协商的</a:t>
                      </a:r>
                      <a:endParaRPr lang="en-US" altLang="zh-CN" sz="1600" b="0">
                        <a:solidFill>
                          <a:schemeClr val="bg1"/>
                        </a:solidFill>
                      </a:endParaRPr>
                    </a:p>
                    <a:p>
                      <a:pPr algn="l"/>
                      <a:endParaRPr lang="en-US" altLang="zh-CN" sz="1600" b="0">
                        <a:solidFill>
                          <a:schemeClr val="bg1"/>
                        </a:solidFill>
                      </a:endParaRPr>
                    </a:p>
                    <a:p>
                      <a:pPr algn="l"/>
                      <a:r>
                        <a:rPr lang="zh-CN" altLang="en-US" sz="1600" b="0">
                          <a:solidFill>
                            <a:schemeClr val="bg1"/>
                          </a:solidFill>
                        </a:rPr>
                        <a:t>捕捉用户需求核心而非详尽合同条款</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7886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Valuable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有价值的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终极目标为用户提供价值</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F6BA4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Estimable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可估算的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足够清晰以便能够估算工作量、排序</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CCA94"/>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Small</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小的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小到能在一个迭代内完成</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B6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Testable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可测试的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可测试且应尽早制定测试方案</a:t>
                      </a:r>
                    </a:p>
                  </a:txBody>
                  <a:tcPr marL="180000" marR="180000"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96E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15347024"/>
                  </a:ext>
                </a:extLst>
              </a:tr>
            </a:tbl>
          </a:graphicData>
        </a:graphic>
      </p:graphicFrame>
    </p:spTree>
    <p:extLst>
      <p:ext uri="{BB962C8B-B14F-4D97-AF65-F5344CB8AC3E}">
        <p14:creationId xmlns:p14="http://schemas.microsoft.com/office/powerpoint/2010/main" val="3502904618"/>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11FD0-4C03-BF1F-9A20-F1E030AB56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24DCB9-424F-EC6B-DAB4-F333109FDA4F}"/>
              </a:ext>
            </a:extLst>
          </p:cNvPr>
          <p:cNvSpPr>
            <a:spLocks noGrp="1"/>
          </p:cNvSpPr>
          <p:nvPr>
            <p:ph type="title"/>
          </p:nvPr>
        </p:nvSpPr>
        <p:spPr>
          <a:xfrm>
            <a:off x="695998"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33E4CEF8-054F-6569-9292-1259952EA01C}"/>
              </a:ext>
            </a:extLst>
          </p:cNvPr>
          <p:cNvSpPr>
            <a:spLocks noGrp="1"/>
          </p:cNvSpPr>
          <p:nvPr>
            <p:ph idx="1"/>
          </p:nvPr>
        </p:nvSpPr>
        <p:spPr>
          <a:xfrm>
            <a:off x="696000" y="864000"/>
            <a:ext cx="10800000" cy="5400000"/>
          </a:xfrm>
        </p:spPr>
        <p:txBody>
          <a:bodyPr/>
          <a:lstStyle/>
          <a:p>
            <a:r>
              <a:rPr lang="zh-CN" altLang="en-US"/>
              <a:t>行为驱动开发 </a:t>
            </a:r>
            <a:r>
              <a:rPr lang="en-US" altLang="zh-CN"/>
              <a:t>BDD</a:t>
            </a:r>
            <a:r>
              <a:rPr lang="zh-CN" altLang="en-US"/>
              <a:t>，</a:t>
            </a:r>
            <a:r>
              <a:rPr lang="en-US" altLang="zh-CN">
                <a:hlinkClick r:id="rId3"/>
              </a:rPr>
              <a:t>Behavior-Driven Development</a:t>
            </a:r>
            <a:endParaRPr lang="en-US" altLang="zh-CN"/>
          </a:p>
          <a:p>
            <a:r>
              <a:rPr lang="zh-CN" altLang="en-US"/>
              <a:t>一个非常重要的实践方法论</a:t>
            </a:r>
            <a:endParaRPr lang="en-US" altLang="zh-CN"/>
          </a:p>
          <a:p>
            <a:r>
              <a:rPr lang="zh-CN" altLang="en-US"/>
              <a:t>起源于测试驱动开发 </a:t>
            </a:r>
            <a:r>
              <a:rPr lang="en-US" altLang="zh-CN"/>
              <a:t>TDD</a:t>
            </a:r>
            <a:r>
              <a:rPr lang="zh-CN" altLang="en-US"/>
              <a:t>，</a:t>
            </a:r>
            <a:r>
              <a:rPr lang="en-US" altLang="zh-CN"/>
              <a:t>Test-Driven Development</a:t>
            </a:r>
          </a:p>
          <a:p>
            <a:r>
              <a:rPr lang="zh-CN" altLang="en-US"/>
              <a:t>以用户行为</a:t>
            </a:r>
            <a:r>
              <a:rPr lang="en-US" altLang="zh-CN"/>
              <a:t>/</a:t>
            </a:r>
            <a:r>
              <a:rPr lang="zh-CN" altLang="en-US"/>
              <a:t>业务期望为中心的软件设计、开发和测试协作方法</a:t>
            </a:r>
            <a:endParaRPr lang="en-US" altLang="zh-CN"/>
          </a:p>
          <a:p>
            <a:r>
              <a:rPr lang="zh-CN" altLang="en-US"/>
              <a:t>不应该只关心代码怎么写，而应该先明确系统应该怎么表现</a:t>
            </a:r>
            <a:r>
              <a:rPr lang="en-US" altLang="zh-CN"/>
              <a:t>/</a:t>
            </a:r>
            <a:r>
              <a:rPr lang="zh-CN" altLang="en-US"/>
              <a:t>行为 </a:t>
            </a:r>
            <a:r>
              <a:rPr lang="en-US" altLang="zh-CN"/>
              <a:t>behave</a:t>
            </a:r>
          </a:p>
          <a:p>
            <a:pPr lvl="1"/>
            <a:r>
              <a:rPr lang="zh-CN" altLang="en-US"/>
              <a:t>强调开发人员、测试人员和利益相关者之间的协作，以确保开发的软件满足预期的行为或功能</a:t>
            </a:r>
          </a:p>
        </p:txBody>
      </p:sp>
      <p:sp>
        <p:nvSpPr>
          <p:cNvPr id="4" name="文本占位符 3">
            <a:extLst>
              <a:ext uri="{FF2B5EF4-FFF2-40B4-BE49-F238E27FC236}">
                <a16:creationId xmlns:a16="http://schemas.microsoft.com/office/drawing/2014/main" id="{80BEF432-754E-612D-15C5-A955EF37781D}"/>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aphicFrame>
        <p:nvGraphicFramePr>
          <p:cNvPr id="8" name="表格 7">
            <a:extLst>
              <a:ext uri="{FF2B5EF4-FFF2-40B4-BE49-F238E27FC236}">
                <a16:creationId xmlns:a16="http://schemas.microsoft.com/office/drawing/2014/main" id="{C9DC126D-6428-DAC7-8093-5C541F032B4B}"/>
              </a:ext>
            </a:extLst>
          </p:cNvPr>
          <p:cNvGraphicFramePr>
            <a:graphicFrameLocks noGrp="1"/>
          </p:cNvGraphicFramePr>
          <p:nvPr>
            <p:extLst>
              <p:ext uri="{D42A27DB-BD31-4B8C-83A1-F6EECF244321}">
                <p14:modId xmlns:p14="http://schemas.microsoft.com/office/powerpoint/2010/main" val="2185828886"/>
              </p:ext>
            </p:extLst>
          </p:nvPr>
        </p:nvGraphicFramePr>
        <p:xfrm>
          <a:off x="695325" y="3461683"/>
          <a:ext cx="10801350" cy="2286000"/>
        </p:xfrm>
        <a:graphic>
          <a:graphicData uri="http://schemas.openxmlformats.org/drawingml/2006/table">
            <a:tbl>
              <a:tblPr/>
              <a:tblGrid>
                <a:gridCol w="4112649">
                  <a:extLst>
                    <a:ext uri="{9D8B030D-6E8A-4147-A177-3AD203B41FA5}">
                      <a16:colId xmlns:a16="http://schemas.microsoft.com/office/drawing/2014/main" val="3679276519"/>
                    </a:ext>
                  </a:extLst>
                </a:gridCol>
                <a:gridCol w="6688701">
                  <a:extLst>
                    <a:ext uri="{9D8B030D-6E8A-4147-A177-3AD203B41FA5}">
                      <a16:colId xmlns:a16="http://schemas.microsoft.com/office/drawing/2014/main" val="2421228598"/>
                    </a:ext>
                  </a:extLst>
                </a:gridCol>
              </a:tblGrid>
              <a:tr h="0">
                <a:tc>
                  <a:txBody>
                    <a:bodyPr/>
                    <a:lstStyle/>
                    <a:p>
                      <a:pPr>
                        <a:buNone/>
                      </a:pPr>
                      <a:r>
                        <a:rPr lang="en-US" altLang="zh-CN">
                          <a:solidFill>
                            <a:schemeClr val="bg1"/>
                          </a:solidFill>
                        </a:rPr>
                        <a:t>Role</a:t>
                      </a:r>
                      <a:endParaRPr lang="zh-CN" altLang="en-US">
                        <a:solidFill>
                          <a:schemeClr val="bg1"/>
                        </a:solidFill>
                      </a:endParaRPr>
                    </a:p>
                  </a:txBody>
                  <a:tcPr anchor="ctr">
                    <a:lnL>
                      <a:noFill/>
                    </a:lnL>
                    <a:lnR>
                      <a:noFill/>
                    </a:lnR>
                    <a:lnT>
                      <a:noFill/>
                    </a:lnT>
                    <a:lnB>
                      <a:noFill/>
                    </a:lnB>
                    <a:solidFill>
                      <a:schemeClr val="accent2"/>
                    </a:solidFill>
                  </a:tcPr>
                </a:tc>
                <a:tc>
                  <a:txBody>
                    <a:bodyPr/>
                    <a:lstStyle/>
                    <a:p>
                      <a:pPr>
                        <a:buNone/>
                      </a:pPr>
                      <a:r>
                        <a:rPr lang="en-US" altLang="zh-CN">
                          <a:solidFill>
                            <a:schemeClr val="bg1"/>
                          </a:solidFill>
                        </a:rPr>
                        <a:t>Description</a:t>
                      </a:r>
                      <a:endParaRPr lang="zh-CN" altLang="en-US">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370110509"/>
                  </a:ext>
                </a:extLst>
              </a:tr>
              <a:tr h="0">
                <a:tc>
                  <a:txBody>
                    <a:bodyPr/>
                    <a:lstStyle/>
                    <a:p>
                      <a:pPr>
                        <a:buNone/>
                      </a:pPr>
                      <a:r>
                        <a:rPr lang="en-US">
                          <a:solidFill>
                            <a:schemeClr val="bg1"/>
                          </a:solidFill>
                        </a:rPr>
                        <a:t>Customer / Business</a:t>
                      </a:r>
                    </a:p>
                    <a:p>
                      <a:pPr>
                        <a:buNone/>
                      </a:pPr>
                      <a:r>
                        <a:rPr lang="zh-CN" altLang="en-US">
                          <a:solidFill>
                            <a:schemeClr val="bg1"/>
                          </a:solidFill>
                        </a:rPr>
                        <a:t>客户 </a:t>
                      </a:r>
                      <a:r>
                        <a:rPr lang="en-US" altLang="zh-CN">
                          <a:solidFill>
                            <a:schemeClr val="bg1"/>
                          </a:solidFill>
                        </a:rPr>
                        <a:t>/ </a:t>
                      </a:r>
                      <a:r>
                        <a:rPr lang="zh-CN" altLang="en-US">
                          <a:solidFill>
                            <a:schemeClr val="bg1"/>
                          </a:solidFill>
                        </a:rPr>
                        <a:t>业务方</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提出“我希望系统能做什么？”</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96113885"/>
                  </a:ext>
                </a:extLst>
              </a:tr>
              <a:tr h="0">
                <a:tc>
                  <a:txBody>
                    <a:bodyPr/>
                    <a:lstStyle/>
                    <a:p>
                      <a:pPr>
                        <a:buNone/>
                      </a:pPr>
                      <a:r>
                        <a:rPr lang="en-US">
                          <a:solidFill>
                            <a:schemeClr val="bg1"/>
                          </a:solidFill>
                        </a:rPr>
                        <a:t>Developer</a:t>
                      </a:r>
                    </a:p>
                    <a:p>
                      <a:pPr>
                        <a:buNone/>
                      </a:pPr>
                      <a:r>
                        <a:rPr lang="zh-CN" altLang="en-US">
                          <a:solidFill>
                            <a:schemeClr val="bg1"/>
                          </a:solidFill>
                        </a:rPr>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实现“让系统按你说的那样做”</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88760850"/>
                  </a:ext>
                </a:extLst>
              </a:tr>
              <a:tr h="0">
                <a:tc>
                  <a:txBody>
                    <a:bodyPr/>
                    <a:lstStyle/>
                    <a:p>
                      <a:pPr>
                        <a:buNone/>
                      </a:pPr>
                      <a:r>
                        <a:rPr lang="en-US">
                          <a:solidFill>
                            <a:schemeClr val="bg1"/>
                          </a:solidFill>
                        </a:rPr>
                        <a:t>Tester / QA</a:t>
                      </a:r>
                    </a:p>
                    <a:p>
                      <a:pPr>
                        <a:buNone/>
                      </a:pPr>
                      <a:r>
                        <a:rPr lang="zh-CN" altLang="en-US">
                          <a:solidFill>
                            <a:schemeClr val="bg1"/>
                          </a:solidFill>
                        </a:rPr>
                        <a:t>测试者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验证“系统真的那样做了吗？”</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51915185"/>
                  </a:ext>
                </a:extLst>
              </a:tr>
            </a:tbl>
          </a:graphicData>
        </a:graphic>
      </p:graphicFrame>
    </p:spTree>
    <p:extLst>
      <p:ext uri="{BB962C8B-B14F-4D97-AF65-F5344CB8AC3E}">
        <p14:creationId xmlns:p14="http://schemas.microsoft.com/office/powerpoint/2010/main" val="357537917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144FA-0C48-3B0D-15C6-51F305215A6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EB4945A-2724-9FF7-D942-C40C0444EB67}"/>
              </a:ext>
            </a:extLst>
          </p:cNvPr>
          <p:cNvSpPr>
            <a:spLocks noGrp="1"/>
          </p:cNvSpPr>
          <p:nvPr>
            <p:ph type="title"/>
          </p:nvPr>
        </p:nvSpPr>
        <p:spPr>
          <a:xfrm>
            <a:off x="695998"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5E6AC7F4-1059-F669-4C1F-F1ADED8A3F7F}"/>
              </a:ext>
            </a:extLst>
          </p:cNvPr>
          <p:cNvSpPr>
            <a:spLocks noGrp="1"/>
          </p:cNvSpPr>
          <p:nvPr>
            <p:ph idx="1"/>
          </p:nvPr>
        </p:nvSpPr>
        <p:spPr>
          <a:xfrm>
            <a:off x="695325" y="863600"/>
            <a:ext cx="10801350" cy="5400675"/>
          </a:xfrm>
        </p:spPr>
        <p:txBody>
          <a:bodyPr/>
          <a:lstStyle/>
          <a:p>
            <a:r>
              <a:rPr lang="zh-CN" altLang="en-US"/>
              <a:t>表达方式：</a:t>
            </a:r>
            <a:r>
              <a:rPr lang="en-US" altLang="zh-CN"/>
              <a:t>Gherkin </a:t>
            </a:r>
            <a:r>
              <a:rPr lang="zh-CN" altLang="en-US"/>
              <a:t>语法（</a:t>
            </a:r>
            <a:r>
              <a:rPr lang="en-US" altLang="zh-CN"/>
              <a:t>Given-When-Then</a:t>
            </a:r>
            <a:r>
              <a:rPr lang="zh-CN" altLang="en-US"/>
              <a:t>）</a:t>
            </a:r>
          </a:p>
        </p:txBody>
      </p:sp>
      <p:sp>
        <p:nvSpPr>
          <p:cNvPr id="4" name="文本占位符 3">
            <a:extLst>
              <a:ext uri="{FF2B5EF4-FFF2-40B4-BE49-F238E27FC236}">
                <a16:creationId xmlns:a16="http://schemas.microsoft.com/office/drawing/2014/main" id="{56E340E7-A992-20E5-3439-CB32E653FC4B}"/>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pSp>
        <p:nvGrpSpPr>
          <p:cNvPr id="3" name="组合 2">
            <a:extLst>
              <a:ext uri="{FF2B5EF4-FFF2-40B4-BE49-F238E27FC236}">
                <a16:creationId xmlns:a16="http://schemas.microsoft.com/office/drawing/2014/main" id="{D7193CD3-59F2-5F5F-973E-40ADCCB76B0B}"/>
              </a:ext>
            </a:extLst>
          </p:cNvPr>
          <p:cNvGrpSpPr/>
          <p:nvPr/>
        </p:nvGrpSpPr>
        <p:grpSpPr>
          <a:xfrm>
            <a:off x="4476967" y="2349000"/>
            <a:ext cx="3238066" cy="2160000"/>
            <a:chOff x="2383606" y="1597622"/>
            <a:chExt cx="3238066" cy="2160000"/>
          </a:xfrm>
        </p:grpSpPr>
        <p:sp>
          <p:nvSpPr>
            <p:cNvPr id="9" name="文本框 8">
              <a:extLst>
                <a:ext uri="{FF2B5EF4-FFF2-40B4-BE49-F238E27FC236}">
                  <a16:creationId xmlns:a16="http://schemas.microsoft.com/office/drawing/2014/main" id="{C6086190-0CF9-EE59-FC22-F5C74510AEA8}"/>
                </a:ext>
              </a:extLst>
            </p:cNvPr>
            <p:cNvSpPr txBox="1"/>
            <p:nvPr/>
          </p:nvSpPr>
          <p:spPr>
            <a:xfrm>
              <a:off x="2383606" y="1608099"/>
              <a:ext cx="3238066" cy="2139047"/>
            </a:xfrm>
            <a:prstGeom prst="rect">
              <a:avLst/>
            </a:prstGeom>
            <a:noFill/>
          </p:spPr>
          <p:txBody>
            <a:bodyPr wrap="none" rtlCol="0">
              <a:spAutoFit/>
            </a:bodyPr>
            <a:lstStyle/>
            <a:p>
              <a:pPr marL="360000" algn="l">
                <a:spcAft>
                  <a:spcPts val="600"/>
                </a:spcAft>
              </a:pPr>
              <a:r>
                <a:rPr lang="en-US" altLang="zh-CN">
                  <a:solidFill>
                    <a:schemeClr val="bg1"/>
                  </a:solidFill>
                </a:rPr>
                <a:t>Scenario: [ description ]</a:t>
              </a:r>
              <a:endParaRPr lang="zh-CN" altLang="en-US">
                <a:solidFill>
                  <a:schemeClr val="bg1"/>
                </a:solidFill>
              </a:endParaRPr>
            </a:p>
            <a:p>
              <a:pPr marL="720000">
                <a:spcAft>
                  <a:spcPts val="600"/>
                </a:spcAft>
              </a:pPr>
              <a:r>
                <a:rPr lang="en-US" altLang="zh-CN">
                  <a:solidFill>
                    <a:schemeClr val="bg1"/>
                  </a:solidFill>
                </a:rPr>
                <a:t>Given [ context ] </a:t>
              </a:r>
            </a:p>
            <a:p>
              <a:pPr marL="1080000">
                <a:spcAft>
                  <a:spcPts val="600"/>
                </a:spcAft>
              </a:pPr>
              <a:r>
                <a:rPr lang="en-US" altLang="zh-CN">
                  <a:solidFill>
                    <a:schemeClr val="bg1"/>
                  </a:solidFill>
                </a:rPr>
                <a:t>and [context ]</a:t>
              </a:r>
            </a:p>
            <a:p>
              <a:pPr marL="720000" algn="l">
                <a:spcAft>
                  <a:spcPts val="600"/>
                </a:spcAft>
              </a:pPr>
              <a:r>
                <a:rPr lang="en-US" altLang="zh-CN">
                  <a:solidFill>
                    <a:schemeClr val="bg1"/>
                  </a:solidFill>
                </a:rPr>
                <a:t>When [ event ]</a:t>
              </a:r>
              <a:endParaRPr lang="zh-CN" altLang="en-US">
                <a:solidFill>
                  <a:schemeClr val="bg1"/>
                </a:solidFill>
              </a:endParaRPr>
            </a:p>
            <a:p>
              <a:pPr marL="720000" algn="l">
                <a:spcAft>
                  <a:spcPts val="600"/>
                </a:spcAft>
              </a:pPr>
              <a:r>
                <a:rPr lang="en-US" altLang="zh-CN">
                  <a:solidFill>
                    <a:schemeClr val="bg1"/>
                  </a:solidFill>
                </a:rPr>
                <a:t>Then [ result ]</a:t>
              </a:r>
            </a:p>
            <a:p>
              <a:pPr marL="1080000">
                <a:spcAft>
                  <a:spcPts val="600"/>
                </a:spcAft>
              </a:pPr>
              <a:r>
                <a:rPr lang="en-US" altLang="zh-CN">
                  <a:solidFill>
                    <a:schemeClr val="bg1"/>
                  </a:solidFill>
                </a:rPr>
                <a:t>And [ result ]</a:t>
              </a:r>
              <a:endParaRPr lang="zh-CN" altLang="en-US">
                <a:solidFill>
                  <a:schemeClr val="bg1"/>
                </a:solidFill>
              </a:endParaRPr>
            </a:p>
          </p:txBody>
        </p:sp>
        <p:cxnSp>
          <p:nvCxnSpPr>
            <p:cNvPr id="11" name="直接连接符 10">
              <a:extLst>
                <a:ext uri="{FF2B5EF4-FFF2-40B4-BE49-F238E27FC236}">
                  <a16:creationId xmlns:a16="http://schemas.microsoft.com/office/drawing/2014/main" id="{18C05345-0F10-46D4-F836-728554A685DB}"/>
                </a:ext>
              </a:extLst>
            </p:cNvPr>
            <p:cNvCxnSpPr>
              <a:cxnSpLocks/>
            </p:cNvCxnSpPr>
            <p:nvPr/>
          </p:nvCxnSpPr>
          <p:spPr>
            <a:xfrm>
              <a:off x="2383606" y="1597622"/>
              <a:ext cx="0" cy="216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52940949"/>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1159148"/>
            <a:ext cx="7424789" cy="4539704"/>
          </a:xfrm>
          <a:prstGeom prst="rect">
            <a:avLst/>
          </a:prstGeom>
          <a:noFill/>
        </p:spPr>
        <p:txBody>
          <a:bodyPr wrap="none" rtlCol="0">
            <a:spAutoFit/>
          </a:bodyPr>
          <a:lstStyle/>
          <a:p>
            <a:pPr algn="l">
              <a:spcAft>
                <a:spcPts val="600"/>
              </a:spcAft>
            </a:pPr>
            <a:r>
              <a:rPr lang="en-US" altLang="zh-CN" sz="1600">
                <a:solidFill>
                  <a:schemeClr val="bg1"/>
                </a:solidFill>
              </a:rPr>
              <a:t>Feature: </a:t>
            </a:r>
            <a:r>
              <a:rPr lang="zh-CN" altLang="en-US" sz="1600">
                <a:solidFill>
                  <a:schemeClr val="bg1"/>
                </a:solidFill>
              </a:rPr>
              <a:t>用户登录功能</a:t>
            </a:r>
          </a:p>
          <a:p>
            <a:pPr marL="360000" algn="l">
              <a:spcAft>
                <a:spcPts val="600"/>
              </a:spcAft>
            </a:pPr>
            <a:r>
              <a:rPr lang="zh-CN" altLang="en-US" sz="1600">
                <a:solidFill>
                  <a:schemeClr val="bg1"/>
                </a:solidFill>
              </a:rPr>
              <a:t>作为注册用户</a:t>
            </a:r>
          </a:p>
          <a:p>
            <a:pPr marL="360000" algn="l">
              <a:spcAft>
                <a:spcPts val="600"/>
              </a:spcAft>
            </a:pPr>
            <a:r>
              <a:rPr lang="zh-CN" altLang="en-US" sz="1600">
                <a:solidFill>
                  <a:schemeClr val="bg1"/>
                </a:solidFill>
              </a:rPr>
              <a:t>我希望能够使用邮箱和密码登录系统</a:t>
            </a:r>
          </a:p>
          <a:p>
            <a:pPr marL="360000" algn="l">
              <a:spcAft>
                <a:spcPts val="600"/>
              </a:spcAft>
            </a:pPr>
            <a:r>
              <a:rPr lang="zh-CN" altLang="en-US" sz="1600">
                <a:solidFill>
                  <a:schemeClr val="bg1"/>
                </a:solidFill>
              </a:rPr>
              <a:t>以便访问我的个人账户</a:t>
            </a:r>
          </a:p>
          <a:p>
            <a:pPr marL="360000" algn="l">
              <a:spcAft>
                <a:spcPts val="600"/>
              </a:spcAft>
            </a:pPr>
            <a:endParaRPr lang="zh-CN" altLang="en-US" sz="1600">
              <a:solidFill>
                <a:schemeClr val="bg1"/>
              </a:solidFill>
            </a:endParaRPr>
          </a:p>
          <a:p>
            <a:pPr marL="360000" algn="l">
              <a:spcAft>
                <a:spcPts val="600"/>
              </a:spcAft>
            </a:pPr>
            <a:r>
              <a:rPr lang="en-US" altLang="zh-CN" sz="1600">
                <a:solidFill>
                  <a:schemeClr val="bg1"/>
                </a:solidFill>
              </a:rPr>
              <a:t>Scenario: </a:t>
            </a:r>
            <a:r>
              <a:rPr lang="zh-CN" altLang="en-US" sz="1600">
                <a:solidFill>
                  <a:schemeClr val="bg1"/>
                </a:solidFill>
              </a:rPr>
              <a:t>成功登录</a:t>
            </a:r>
          </a:p>
          <a:p>
            <a:pPr marL="720000" algn="l">
              <a:spcAft>
                <a:spcPts val="600"/>
              </a:spcAft>
            </a:pPr>
            <a:r>
              <a:rPr lang="en-US" altLang="zh-CN" sz="1600">
                <a:solidFill>
                  <a:schemeClr val="bg1"/>
                </a:solidFill>
              </a:rPr>
              <a:t>Given </a:t>
            </a:r>
            <a:r>
              <a:rPr lang="zh-CN" altLang="en-US" sz="1600">
                <a:solidFill>
                  <a:schemeClr val="bg1"/>
                </a:solidFill>
              </a:rPr>
              <a:t>我已经注册了一个账号 </a:t>
            </a:r>
            <a:r>
              <a:rPr lang="en-US" altLang="zh-CN" sz="1600">
                <a:solidFill>
                  <a:schemeClr val="bg1"/>
                </a:solidFill>
              </a:rPr>
              <a:t>"user@example.com" </a:t>
            </a:r>
            <a:r>
              <a:rPr lang="zh-CN" altLang="en-US" sz="1600">
                <a:solidFill>
                  <a:schemeClr val="bg1"/>
                </a:solidFill>
              </a:rPr>
              <a:t>和密码 </a:t>
            </a:r>
            <a:r>
              <a:rPr lang="en-US" altLang="zh-CN" sz="1600">
                <a:solidFill>
                  <a:schemeClr val="bg1"/>
                </a:solidFill>
              </a:rPr>
              <a:t>"123456"</a:t>
            </a:r>
          </a:p>
          <a:p>
            <a:pPr marL="720000" algn="l">
              <a:spcAft>
                <a:spcPts val="600"/>
              </a:spcAft>
            </a:pPr>
            <a:r>
              <a:rPr lang="en-US" altLang="zh-CN" sz="1600">
                <a:solidFill>
                  <a:schemeClr val="bg1"/>
                </a:solidFill>
              </a:rPr>
              <a:t>When </a:t>
            </a:r>
            <a:r>
              <a:rPr lang="zh-CN" altLang="en-US" sz="1600">
                <a:solidFill>
                  <a:schemeClr val="bg1"/>
                </a:solidFill>
              </a:rPr>
              <a:t>我在登录页面输入正确的邮箱和密码</a:t>
            </a:r>
          </a:p>
          <a:p>
            <a:pPr marL="720000" algn="l">
              <a:spcAft>
                <a:spcPts val="600"/>
              </a:spcAft>
            </a:pPr>
            <a:r>
              <a:rPr lang="en-US" altLang="zh-CN" sz="1600">
                <a:solidFill>
                  <a:schemeClr val="bg1"/>
                </a:solidFill>
              </a:rPr>
              <a:t>Then </a:t>
            </a:r>
            <a:r>
              <a:rPr lang="zh-CN" altLang="en-US" sz="1600">
                <a:solidFill>
                  <a:schemeClr val="bg1"/>
                </a:solidFill>
              </a:rPr>
              <a:t>我应该看到欢迎页面，并显示“欢迎回来，</a:t>
            </a:r>
            <a:r>
              <a:rPr lang="en-US" altLang="zh-CN" sz="1600">
                <a:solidFill>
                  <a:schemeClr val="bg1"/>
                </a:solidFill>
              </a:rPr>
              <a:t>user</a:t>
            </a:r>
            <a:r>
              <a:rPr lang="zh-CN" altLang="en-US" sz="1600">
                <a:solidFill>
                  <a:schemeClr val="bg1"/>
                </a:solidFill>
              </a:rPr>
              <a:t>！”</a:t>
            </a:r>
          </a:p>
          <a:p>
            <a:pPr marL="360000" algn="l">
              <a:spcAft>
                <a:spcPts val="600"/>
              </a:spcAft>
            </a:pPr>
            <a:endParaRPr lang="zh-CN" altLang="en-US" sz="1600">
              <a:solidFill>
                <a:schemeClr val="bg1"/>
              </a:solidFill>
            </a:endParaRPr>
          </a:p>
          <a:p>
            <a:pPr marL="360000" algn="l">
              <a:spcAft>
                <a:spcPts val="600"/>
              </a:spcAft>
            </a:pPr>
            <a:r>
              <a:rPr lang="zh-CN" altLang="en-US" sz="1600">
                <a:solidFill>
                  <a:schemeClr val="bg1"/>
                </a:solidFill>
              </a:rPr>
              <a:t> </a:t>
            </a:r>
            <a:r>
              <a:rPr lang="en-US" altLang="zh-CN" sz="1600">
                <a:solidFill>
                  <a:schemeClr val="bg1"/>
                </a:solidFill>
              </a:rPr>
              <a:t>Scenario: </a:t>
            </a:r>
            <a:r>
              <a:rPr lang="zh-CN" altLang="en-US" sz="1600">
                <a:solidFill>
                  <a:schemeClr val="bg1"/>
                </a:solidFill>
              </a:rPr>
              <a:t>密码错误时登录失败</a:t>
            </a:r>
          </a:p>
          <a:p>
            <a:pPr marL="720000" algn="l">
              <a:spcAft>
                <a:spcPts val="600"/>
              </a:spcAft>
            </a:pPr>
            <a:r>
              <a:rPr lang="en-US" altLang="zh-CN" sz="1600">
                <a:solidFill>
                  <a:schemeClr val="bg1"/>
                </a:solidFill>
              </a:rPr>
              <a:t>Given </a:t>
            </a:r>
            <a:r>
              <a:rPr lang="zh-CN" altLang="en-US" sz="1600">
                <a:solidFill>
                  <a:schemeClr val="bg1"/>
                </a:solidFill>
              </a:rPr>
              <a:t>我已经注册了一个账号 </a:t>
            </a:r>
            <a:r>
              <a:rPr lang="en-US" altLang="zh-CN" sz="1600">
                <a:solidFill>
                  <a:schemeClr val="bg1"/>
                </a:solidFill>
              </a:rPr>
              <a:t>"user@example.com" </a:t>
            </a:r>
            <a:r>
              <a:rPr lang="zh-CN" altLang="en-US" sz="1600">
                <a:solidFill>
                  <a:schemeClr val="bg1"/>
                </a:solidFill>
              </a:rPr>
              <a:t>和密码 </a:t>
            </a:r>
            <a:r>
              <a:rPr lang="en-US" altLang="zh-CN" sz="1600">
                <a:solidFill>
                  <a:schemeClr val="bg1"/>
                </a:solidFill>
              </a:rPr>
              <a:t>"123456"</a:t>
            </a:r>
          </a:p>
          <a:p>
            <a:pPr marL="720000" algn="l">
              <a:spcAft>
                <a:spcPts val="600"/>
              </a:spcAft>
            </a:pPr>
            <a:r>
              <a:rPr lang="en-US" altLang="zh-CN" sz="1600">
                <a:solidFill>
                  <a:schemeClr val="bg1"/>
                </a:solidFill>
              </a:rPr>
              <a:t>When </a:t>
            </a:r>
            <a:r>
              <a:rPr lang="zh-CN" altLang="en-US" sz="1600">
                <a:solidFill>
                  <a:schemeClr val="bg1"/>
                </a:solidFill>
              </a:rPr>
              <a:t>我在登录页面输入错误的密码 </a:t>
            </a:r>
            <a:r>
              <a:rPr lang="en-US" altLang="zh-CN" sz="1600">
                <a:solidFill>
                  <a:schemeClr val="bg1"/>
                </a:solidFill>
              </a:rPr>
              <a:t>"wrong"</a:t>
            </a:r>
          </a:p>
          <a:p>
            <a:pPr marL="720000" algn="l">
              <a:spcAft>
                <a:spcPts val="600"/>
              </a:spcAft>
            </a:pPr>
            <a:r>
              <a:rPr lang="en-US" altLang="zh-CN" sz="1600">
                <a:solidFill>
                  <a:schemeClr val="bg1"/>
                </a:solidFill>
              </a:rPr>
              <a:t>Then </a:t>
            </a:r>
            <a:r>
              <a:rPr lang="zh-CN" altLang="en-US" sz="1600">
                <a:solidFill>
                  <a:schemeClr val="bg1"/>
                </a:solidFill>
              </a:rPr>
              <a:t>我应该看到错误提示：“用户名或密码错误”</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77420420"/>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2551837"/>
            <a:ext cx="8845691" cy="1477328"/>
          </a:xfrm>
          <a:prstGeom prst="rect">
            <a:avLst/>
          </a:prstGeom>
          <a:noFill/>
        </p:spPr>
        <p:txBody>
          <a:bodyPr wrap="none" rtlCol="0">
            <a:spAutoFit/>
          </a:bodyPr>
          <a:lstStyle/>
          <a:p>
            <a:pPr>
              <a:buNone/>
            </a:pPr>
            <a:r>
              <a:rPr lang="en-US" altLang="zh-CN" dirty="0">
                <a:solidFill>
                  <a:schemeClr val="bg1"/>
                </a:solidFill>
              </a:rPr>
              <a:t>Sc</a:t>
            </a:r>
            <a:r>
              <a:rPr lang="az-Cyrl-AZ" altLang="zh-CN" dirty="0">
                <a:solidFill>
                  <a:schemeClr val="bg1"/>
                </a:solidFill>
              </a:rPr>
              <a:t>е</a:t>
            </a:r>
            <a:r>
              <a:rPr lang="en-US" altLang="zh-CN" dirty="0">
                <a:solidFill>
                  <a:schemeClr val="bg1"/>
                </a:solidFill>
              </a:rPr>
              <a:t>nario 1: </a:t>
            </a:r>
            <a:r>
              <a:rPr lang="en-US" altLang="zh-CN" dirty="0" err="1">
                <a:solidFill>
                  <a:schemeClr val="bg1"/>
                </a:solidFill>
              </a:rPr>
              <a:t>Succ</a:t>
            </a:r>
            <a:r>
              <a:rPr lang="az-Cyrl-AZ" altLang="zh-CN" dirty="0">
                <a:solidFill>
                  <a:schemeClr val="bg1"/>
                </a:solidFill>
              </a:rPr>
              <a:t>е</a:t>
            </a:r>
            <a:r>
              <a:rPr lang="en-US" altLang="zh-CN" dirty="0" err="1">
                <a:solidFill>
                  <a:schemeClr val="bg1"/>
                </a:solidFill>
              </a:rPr>
              <a:t>ssful</a:t>
            </a:r>
            <a:r>
              <a:rPr lang="en-US" altLang="zh-CN" dirty="0">
                <a:solidFill>
                  <a:schemeClr val="bg1"/>
                </a:solidFill>
              </a:rPr>
              <a:t> Login</a:t>
            </a:r>
          </a:p>
          <a:p>
            <a:pPr>
              <a:buNone/>
            </a:pPr>
            <a:r>
              <a:rPr lang="en-US" altLang="zh-CN" dirty="0">
                <a:solidFill>
                  <a:schemeClr val="bg1"/>
                </a:solidFill>
              </a:rPr>
              <a:t>Giv</a:t>
            </a:r>
            <a:r>
              <a:rPr lang="az-Cyrl-AZ" altLang="zh-CN" dirty="0">
                <a:solidFill>
                  <a:schemeClr val="bg1"/>
                </a:solidFill>
              </a:rPr>
              <a:t>е</a:t>
            </a:r>
            <a:r>
              <a:rPr lang="en-US" altLang="zh-CN" dirty="0">
                <a:solidFill>
                  <a:schemeClr val="bg1"/>
                </a:solidFill>
              </a:rPr>
              <a:t>n that the us</a:t>
            </a:r>
            <a:r>
              <a:rPr lang="az-Cyrl-AZ" altLang="zh-CN" dirty="0">
                <a:solidFill>
                  <a:schemeClr val="bg1"/>
                </a:solidFill>
              </a:rPr>
              <a:t>е</a:t>
            </a:r>
            <a:r>
              <a:rPr lang="en-US" altLang="zh-CN" dirty="0">
                <a:solidFill>
                  <a:schemeClr val="bg1"/>
                </a:solidFill>
              </a:rPr>
              <a:t>r is on the login form </a:t>
            </a:r>
            <a:r>
              <a:rPr lang="en-US" altLang="zh-CN" dirty="0" err="1">
                <a:solidFill>
                  <a:schemeClr val="bg1"/>
                </a:solidFill>
              </a:rPr>
              <a:t>pag</a:t>
            </a:r>
            <a:r>
              <a:rPr lang="az-Cyrl-AZ" altLang="zh-CN" dirty="0">
                <a:solidFill>
                  <a:schemeClr val="bg1"/>
                </a:solidFill>
              </a:rPr>
              <a:t>е,</a:t>
            </a:r>
          </a:p>
          <a:p>
            <a:pPr>
              <a:buNone/>
            </a:pPr>
            <a:r>
              <a:rPr lang="en-US" altLang="zh-CN" dirty="0">
                <a:solidFill>
                  <a:schemeClr val="bg1"/>
                </a:solidFill>
              </a:rPr>
              <a:t>And the us</a:t>
            </a:r>
            <a:r>
              <a:rPr lang="az-Cyrl-AZ" altLang="zh-CN" dirty="0">
                <a:solidFill>
                  <a:schemeClr val="bg1"/>
                </a:solidFill>
              </a:rPr>
              <a:t>е</a:t>
            </a:r>
            <a:r>
              <a:rPr lang="en-US" altLang="zh-CN" dirty="0">
                <a:solidFill>
                  <a:schemeClr val="bg1"/>
                </a:solidFill>
              </a:rPr>
              <a:t>r has </a:t>
            </a:r>
            <a:r>
              <a:rPr lang="az-Cyrl-AZ" altLang="zh-CN" dirty="0">
                <a:solidFill>
                  <a:schemeClr val="bg1"/>
                </a:solidFill>
              </a:rPr>
              <a:t>е</a:t>
            </a:r>
            <a:r>
              <a:rPr lang="en-US" altLang="zh-CN" dirty="0" err="1">
                <a:solidFill>
                  <a:schemeClr val="bg1"/>
                </a:solidFill>
              </a:rPr>
              <a:t>nt</a:t>
            </a:r>
            <a:r>
              <a:rPr lang="az-Cyrl-AZ" altLang="zh-CN" dirty="0">
                <a:solidFill>
                  <a:schemeClr val="bg1"/>
                </a:solidFill>
              </a:rPr>
              <a:t>е</a:t>
            </a:r>
            <a:r>
              <a:rPr lang="en-US" altLang="zh-CN" dirty="0">
                <a:solidFill>
                  <a:schemeClr val="bg1"/>
                </a:solidFill>
              </a:rPr>
              <a:t>r</a:t>
            </a:r>
            <a:r>
              <a:rPr lang="az-Cyrl-AZ" altLang="zh-CN" dirty="0">
                <a:solidFill>
                  <a:schemeClr val="bg1"/>
                </a:solidFill>
              </a:rPr>
              <a:t>е</a:t>
            </a:r>
            <a:r>
              <a:rPr lang="en-US" altLang="zh-CN" dirty="0">
                <a:solidFill>
                  <a:schemeClr val="bg1"/>
                </a:solidFill>
              </a:rPr>
              <a:t>d a valid 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t</a:t>
            </a:r>
            <a:r>
              <a:rPr lang="az-Cyrl-AZ" altLang="zh-CN" dirty="0">
                <a:solidFill>
                  <a:schemeClr val="bg1"/>
                </a:solidFill>
              </a:rPr>
              <a:t>е</a:t>
            </a:r>
            <a:r>
              <a:rPr lang="en-US" altLang="zh-CN" dirty="0">
                <a:solidFill>
                  <a:schemeClr val="bg1"/>
                </a:solidFill>
              </a:rPr>
              <a:t>st1" and password "H</a:t>
            </a:r>
            <a:r>
              <a:rPr lang="az-Cyrl-AZ" altLang="zh-CN" dirty="0">
                <a:solidFill>
                  <a:schemeClr val="bg1"/>
                </a:solidFill>
              </a:rPr>
              <a:t>е</a:t>
            </a:r>
            <a:r>
              <a:rPr lang="en-US" altLang="zh-CN" dirty="0">
                <a:solidFill>
                  <a:schemeClr val="bg1"/>
                </a:solidFill>
              </a:rPr>
              <a:t>llo123",</a:t>
            </a:r>
          </a:p>
          <a:p>
            <a:pPr>
              <a:buNone/>
            </a:pPr>
            <a:r>
              <a:rPr lang="en-US" altLang="zh-CN" dirty="0" err="1">
                <a:solidFill>
                  <a:schemeClr val="bg1"/>
                </a:solidFill>
              </a:rPr>
              <a:t>Wh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clicks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button,</a:t>
            </a:r>
          </a:p>
          <a:p>
            <a:pPr>
              <a:buNone/>
            </a:pPr>
            <a:r>
              <a:rPr lang="en-US" altLang="zh-CN" dirty="0">
                <a:solidFill>
                  <a:schemeClr val="bg1"/>
                </a:solidFill>
              </a:rPr>
              <a:t>Th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a:t>
            </a:r>
            <a:r>
              <a:rPr lang="en-US" altLang="zh-CN" dirty="0" err="1">
                <a:solidFill>
                  <a:schemeClr val="bg1"/>
                </a:solidFill>
              </a:rPr>
              <a:t>succ</a:t>
            </a:r>
            <a:r>
              <a:rPr lang="az-Cyrl-AZ" altLang="zh-CN" dirty="0">
                <a:solidFill>
                  <a:schemeClr val="bg1"/>
                </a:solidFill>
              </a:rPr>
              <a:t>е</a:t>
            </a:r>
            <a:r>
              <a:rPr lang="en-US" altLang="zh-CN" dirty="0" err="1">
                <a:solidFill>
                  <a:schemeClr val="bg1"/>
                </a:solidFill>
              </a:rPr>
              <a:t>ssfully</a:t>
            </a:r>
            <a:r>
              <a:rPr lang="en-US" altLang="zh-CN" dirty="0">
                <a:solidFill>
                  <a:schemeClr val="bg1"/>
                </a:solidFill>
              </a:rPr>
              <a:t> </a:t>
            </a:r>
            <a:r>
              <a:rPr lang="en-US" altLang="zh-CN" dirty="0" err="1">
                <a:solidFill>
                  <a:schemeClr val="bg1"/>
                </a:solidFill>
              </a:rPr>
              <a:t>dir</a:t>
            </a:r>
            <a:r>
              <a:rPr lang="az-Cyrl-AZ" altLang="zh-CN" dirty="0">
                <a:solidFill>
                  <a:schemeClr val="bg1"/>
                </a:solidFill>
              </a:rPr>
              <a:t>е</a:t>
            </a:r>
            <a:r>
              <a:rPr lang="en-US" altLang="zh-CN" dirty="0" err="1">
                <a:solidFill>
                  <a:schemeClr val="bg1"/>
                </a:solidFill>
              </a:rPr>
              <a:t>ct</a:t>
            </a:r>
            <a:r>
              <a:rPr lang="az-Cyrl-AZ" altLang="zh-CN" dirty="0">
                <a:solidFill>
                  <a:schemeClr val="bg1"/>
                </a:solidFill>
              </a:rPr>
              <a:t>е</a:t>
            </a:r>
            <a:r>
              <a:rPr lang="en-US" altLang="zh-CN" dirty="0">
                <a:solidFill>
                  <a:schemeClr val="bg1"/>
                </a:solidFill>
              </a:rPr>
              <a:t>d to </a:t>
            </a:r>
            <a:r>
              <a:rPr lang="en-US" altLang="zh-CN" dirty="0" err="1">
                <a:solidFill>
                  <a:schemeClr val="bg1"/>
                </a:solidFill>
              </a:rPr>
              <a:t>th</a:t>
            </a:r>
            <a:r>
              <a:rPr lang="az-Cyrl-AZ" altLang="zh-CN" dirty="0">
                <a:solidFill>
                  <a:schemeClr val="bg1"/>
                </a:solidFill>
              </a:rPr>
              <a:t>е </a:t>
            </a:r>
            <a:r>
              <a:rPr lang="en-US" altLang="zh-CN" dirty="0" err="1">
                <a:solidFill>
                  <a:schemeClr val="bg1"/>
                </a:solidFill>
              </a:rPr>
              <a:t>hom</a:t>
            </a:r>
            <a:r>
              <a:rPr lang="az-Cyrl-AZ" altLang="zh-CN" dirty="0">
                <a:solidFill>
                  <a:schemeClr val="bg1"/>
                </a:solidFill>
              </a:rPr>
              <a:t>е</a:t>
            </a:r>
            <a:r>
              <a:rPr lang="en-US" altLang="zh-CN" dirty="0" err="1">
                <a:solidFill>
                  <a:schemeClr val="bg1"/>
                </a:solidFill>
              </a:rPr>
              <a:t>pag</a:t>
            </a:r>
            <a:r>
              <a:rPr lang="az-Cyrl-AZ" altLang="zh-CN" dirty="0">
                <a:solidFill>
                  <a:schemeClr val="bg1"/>
                </a:solidFill>
              </a:rPr>
              <a:t>е.</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662335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E19C9-93B5-F3E7-F9E1-0A0A442C2BA4}"/>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6A027298-0DB7-4F89-831D-1599B5DF0F63}"/>
              </a:ext>
            </a:extLst>
          </p:cNvPr>
          <p:cNvSpPr txBox="1"/>
          <p:nvPr/>
        </p:nvSpPr>
        <p:spPr>
          <a:xfrm>
            <a:off x="2383606" y="2551837"/>
            <a:ext cx="6388287" cy="1754326"/>
          </a:xfrm>
          <a:prstGeom prst="rect">
            <a:avLst/>
          </a:prstGeom>
          <a:noFill/>
        </p:spPr>
        <p:txBody>
          <a:bodyPr wrap="none" rtlCol="0">
            <a:spAutoFit/>
          </a:bodyPr>
          <a:lstStyle/>
          <a:p>
            <a:r>
              <a:rPr lang="en-US" altLang="zh-CN" dirty="0">
                <a:solidFill>
                  <a:schemeClr val="bg1"/>
                </a:solidFill>
              </a:rPr>
              <a:t>Sc</a:t>
            </a:r>
            <a:r>
              <a:rPr lang="az-Cyrl-AZ" altLang="zh-CN" dirty="0">
                <a:solidFill>
                  <a:schemeClr val="bg1"/>
                </a:solidFill>
              </a:rPr>
              <a:t>е</a:t>
            </a:r>
            <a:r>
              <a:rPr lang="en-US" altLang="zh-CN" dirty="0">
                <a:solidFill>
                  <a:schemeClr val="bg1"/>
                </a:solidFill>
              </a:rPr>
              <a:t>nario 2: Forgot Password</a:t>
            </a:r>
          </a:p>
          <a:p>
            <a:endParaRPr lang="en-US" altLang="zh-CN" dirty="0">
              <a:solidFill>
                <a:schemeClr val="bg1"/>
              </a:solidFill>
            </a:endParaRPr>
          </a:p>
          <a:p>
            <a:r>
              <a:rPr lang="en-US" altLang="zh-CN" dirty="0">
                <a:solidFill>
                  <a:schemeClr val="bg1"/>
                </a:solidFill>
              </a:rPr>
              <a:t>Giv</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on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a:t>
            </a:r>
            <a:r>
              <a:rPr lang="en-US" altLang="zh-CN" dirty="0" err="1">
                <a:solidFill>
                  <a:schemeClr val="bg1"/>
                </a:solidFill>
              </a:rPr>
              <a:t>pag</a:t>
            </a:r>
            <a:r>
              <a:rPr lang="az-Cyrl-AZ" altLang="zh-CN" dirty="0">
                <a:solidFill>
                  <a:schemeClr val="bg1"/>
                </a:solidFill>
              </a:rPr>
              <a:t>е,</a:t>
            </a:r>
          </a:p>
          <a:p>
            <a:r>
              <a:rPr lang="en-US" altLang="zh-CN" dirty="0">
                <a:solidFill>
                  <a:schemeClr val="bg1"/>
                </a:solidFill>
              </a:rPr>
              <a:t>And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a:t>
            </a:r>
            <a:r>
              <a:rPr lang="az-Cyrl-AZ" altLang="zh-CN" dirty="0">
                <a:solidFill>
                  <a:schemeClr val="bg1"/>
                </a:solidFill>
              </a:rPr>
              <a:t>е</a:t>
            </a:r>
            <a:r>
              <a:rPr lang="en-US" altLang="zh-CN" dirty="0" err="1">
                <a:solidFill>
                  <a:schemeClr val="bg1"/>
                </a:solidFill>
              </a:rPr>
              <a:t>nt</a:t>
            </a:r>
            <a:r>
              <a:rPr lang="az-Cyrl-AZ" altLang="zh-CN" dirty="0">
                <a:solidFill>
                  <a:schemeClr val="bg1"/>
                </a:solidFill>
              </a:rPr>
              <a:t>е</a:t>
            </a:r>
            <a:r>
              <a:rPr lang="en-US" altLang="zh-CN" dirty="0" err="1">
                <a:solidFill>
                  <a:schemeClr val="bg1"/>
                </a:solidFill>
              </a:rPr>
              <a:t>rs</a:t>
            </a:r>
            <a:r>
              <a:rPr lang="en-US" altLang="zh-CN" dirty="0">
                <a:solidFill>
                  <a:schemeClr val="bg1"/>
                </a:solidFill>
              </a:rPr>
              <a:t> </a:t>
            </a:r>
            <a:r>
              <a:rPr lang="en-US" altLang="zh-CN" dirty="0" err="1">
                <a:solidFill>
                  <a:schemeClr val="bg1"/>
                </a:solidFill>
              </a:rPr>
              <a:t>th</a:t>
            </a:r>
            <a:r>
              <a:rPr lang="az-Cyrl-AZ" altLang="zh-CN" dirty="0">
                <a:solidFill>
                  <a:schemeClr val="bg1"/>
                </a:solidFill>
              </a:rPr>
              <a:t>е</a:t>
            </a:r>
            <a:r>
              <a:rPr lang="en-US" altLang="zh-CN" dirty="0" err="1">
                <a:solidFill>
                  <a:schemeClr val="bg1"/>
                </a:solidFill>
              </a:rPr>
              <a:t>ir</a:t>
            </a:r>
            <a:r>
              <a:rPr lang="en-US" altLang="zh-CN" dirty="0">
                <a:solidFill>
                  <a:schemeClr val="bg1"/>
                </a:solidFill>
              </a:rPr>
              <a:t> 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t</a:t>
            </a:r>
            <a:r>
              <a:rPr lang="az-Cyrl-AZ" altLang="zh-CN" dirty="0">
                <a:solidFill>
                  <a:schemeClr val="bg1"/>
                </a:solidFill>
              </a:rPr>
              <a:t>е</a:t>
            </a:r>
            <a:r>
              <a:rPr lang="en-US" altLang="zh-CN" dirty="0">
                <a:solidFill>
                  <a:schemeClr val="bg1"/>
                </a:solidFill>
              </a:rPr>
              <a:t>st1",</a:t>
            </a:r>
          </a:p>
          <a:p>
            <a:r>
              <a:rPr lang="en-US" altLang="zh-CN" dirty="0" err="1">
                <a:solidFill>
                  <a:schemeClr val="bg1"/>
                </a:solidFill>
              </a:rPr>
              <a:t>Wh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clicks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Forgot Password" link,</a:t>
            </a:r>
          </a:p>
          <a:p>
            <a:r>
              <a:rPr lang="en-US" altLang="zh-CN" dirty="0">
                <a:solidFill>
                  <a:schemeClr val="bg1"/>
                </a:solidFill>
              </a:rPr>
              <a:t>Th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a:t>
            </a:r>
            <a:r>
              <a:rPr lang="en-US" altLang="zh-CN" dirty="0" err="1">
                <a:solidFill>
                  <a:schemeClr val="bg1"/>
                </a:solidFill>
              </a:rPr>
              <a:t>dir</a:t>
            </a:r>
            <a:r>
              <a:rPr lang="az-Cyrl-AZ" altLang="zh-CN" dirty="0">
                <a:solidFill>
                  <a:schemeClr val="bg1"/>
                </a:solidFill>
              </a:rPr>
              <a:t>е</a:t>
            </a:r>
            <a:r>
              <a:rPr lang="en-US" altLang="zh-CN" dirty="0" err="1">
                <a:solidFill>
                  <a:schemeClr val="bg1"/>
                </a:solidFill>
              </a:rPr>
              <a:t>ct</a:t>
            </a:r>
            <a:r>
              <a:rPr lang="az-Cyrl-AZ" altLang="zh-CN" dirty="0">
                <a:solidFill>
                  <a:schemeClr val="bg1"/>
                </a:solidFill>
              </a:rPr>
              <a:t>е</a:t>
            </a:r>
            <a:r>
              <a:rPr lang="en-US" altLang="zh-CN" dirty="0">
                <a:solidFill>
                  <a:schemeClr val="bg1"/>
                </a:solidFill>
              </a:rPr>
              <a:t>d to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r</a:t>
            </a:r>
            <a:r>
              <a:rPr lang="az-Cyrl-AZ" altLang="zh-CN" dirty="0">
                <a:solidFill>
                  <a:schemeClr val="bg1"/>
                </a:solidFill>
              </a:rPr>
              <a:t>е</a:t>
            </a:r>
            <a:r>
              <a:rPr lang="en-US" altLang="zh-CN" dirty="0">
                <a:solidFill>
                  <a:schemeClr val="bg1"/>
                </a:solidFill>
              </a:rPr>
              <a:t>s</a:t>
            </a:r>
            <a:r>
              <a:rPr lang="az-Cyrl-AZ" altLang="zh-CN" dirty="0">
                <a:solidFill>
                  <a:schemeClr val="bg1"/>
                </a:solidFill>
              </a:rPr>
              <a:t>е</a:t>
            </a:r>
            <a:r>
              <a:rPr lang="en-US" altLang="zh-CN" dirty="0">
                <a:solidFill>
                  <a:schemeClr val="bg1"/>
                </a:solidFill>
              </a:rPr>
              <a:t>t password </a:t>
            </a:r>
            <a:r>
              <a:rPr lang="en-US" altLang="zh-CN" dirty="0" err="1">
                <a:solidFill>
                  <a:schemeClr val="bg1"/>
                </a:solidFill>
              </a:rPr>
              <a:t>pag</a:t>
            </a:r>
            <a:r>
              <a:rPr lang="az-Cyrl-AZ" altLang="zh-CN" dirty="0">
                <a:solidFill>
                  <a:schemeClr val="bg1"/>
                </a:solidFill>
              </a:rPr>
              <a:t>е.</a:t>
            </a:r>
          </a:p>
        </p:txBody>
      </p:sp>
      <p:cxnSp>
        <p:nvCxnSpPr>
          <p:cNvPr id="11" name="直接连接符 10">
            <a:extLst>
              <a:ext uri="{FF2B5EF4-FFF2-40B4-BE49-F238E27FC236}">
                <a16:creationId xmlns:a16="http://schemas.microsoft.com/office/drawing/2014/main" id="{C37A20CA-2C42-A04C-F7BD-AF4441E540CB}"/>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113750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24662-D6E6-DFA6-4DD1-D6242C63EE35}"/>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46F5D06A-7583-0577-8153-392C2A875A37}"/>
              </a:ext>
            </a:extLst>
          </p:cNvPr>
          <p:cNvSpPr txBox="1"/>
          <p:nvPr/>
        </p:nvSpPr>
        <p:spPr>
          <a:xfrm>
            <a:off x="2383606" y="2551837"/>
            <a:ext cx="9603911" cy="2031325"/>
          </a:xfrm>
          <a:prstGeom prst="rect">
            <a:avLst/>
          </a:prstGeom>
          <a:noFill/>
        </p:spPr>
        <p:txBody>
          <a:bodyPr wrap="none" rtlCol="0">
            <a:spAutoFit/>
          </a:bodyPr>
          <a:lstStyle/>
          <a:p>
            <a:r>
              <a:rPr lang="en-US" altLang="zh-CN" dirty="0">
                <a:solidFill>
                  <a:schemeClr val="bg1"/>
                </a:solidFill>
              </a:rPr>
              <a:t>Sc</a:t>
            </a:r>
            <a:r>
              <a:rPr lang="az-Cyrl-AZ" altLang="zh-CN" dirty="0">
                <a:solidFill>
                  <a:schemeClr val="bg1"/>
                </a:solidFill>
              </a:rPr>
              <a:t>е</a:t>
            </a:r>
            <a:r>
              <a:rPr lang="en-US" altLang="zh-CN" dirty="0">
                <a:solidFill>
                  <a:schemeClr val="bg1"/>
                </a:solidFill>
              </a:rPr>
              <a:t>nario 3: </a:t>
            </a:r>
            <a:r>
              <a:rPr lang="en-US" altLang="zh-CN" dirty="0" err="1">
                <a:solidFill>
                  <a:schemeClr val="bg1"/>
                </a:solidFill>
              </a:rPr>
              <a:t>Incorr</a:t>
            </a:r>
            <a:r>
              <a:rPr lang="az-Cyrl-AZ" altLang="zh-CN" dirty="0">
                <a:solidFill>
                  <a:schemeClr val="bg1"/>
                </a:solidFill>
              </a:rPr>
              <a:t>е</a:t>
            </a:r>
            <a:r>
              <a:rPr lang="en-US" altLang="zh-CN" dirty="0" err="1">
                <a:solidFill>
                  <a:schemeClr val="bg1"/>
                </a:solidFill>
              </a:rPr>
              <a:t>ct</a:t>
            </a:r>
            <a:r>
              <a:rPr lang="en-US" altLang="zh-CN" dirty="0">
                <a:solidFill>
                  <a:schemeClr val="bg1"/>
                </a:solidFill>
              </a:rPr>
              <a:t> Login Cr</a:t>
            </a:r>
            <a:r>
              <a:rPr lang="az-Cyrl-AZ" altLang="zh-CN" dirty="0">
                <a:solidFill>
                  <a:schemeClr val="bg1"/>
                </a:solidFill>
              </a:rPr>
              <a:t>е</a:t>
            </a:r>
            <a:r>
              <a:rPr lang="en-US" altLang="zh-CN" dirty="0">
                <a:solidFill>
                  <a:schemeClr val="bg1"/>
                </a:solidFill>
              </a:rPr>
              <a:t>d</a:t>
            </a:r>
            <a:r>
              <a:rPr lang="az-Cyrl-AZ" altLang="zh-CN" dirty="0">
                <a:solidFill>
                  <a:schemeClr val="bg1"/>
                </a:solidFill>
              </a:rPr>
              <a:t>е</a:t>
            </a:r>
            <a:r>
              <a:rPr lang="en-US" altLang="zh-CN" dirty="0" err="1">
                <a:solidFill>
                  <a:schemeClr val="bg1"/>
                </a:solidFill>
              </a:rPr>
              <a:t>ntials</a:t>
            </a:r>
            <a:endParaRPr lang="en-US" altLang="zh-CN" dirty="0">
              <a:solidFill>
                <a:schemeClr val="bg1"/>
              </a:solidFill>
            </a:endParaRPr>
          </a:p>
          <a:p>
            <a:endParaRPr lang="en-US" altLang="zh-CN" dirty="0">
              <a:solidFill>
                <a:schemeClr val="bg1"/>
              </a:solidFill>
            </a:endParaRPr>
          </a:p>
          <a:p>
            <a:r>
              <a:rPr lang="en-US" altLang="zh-CN" dirty="0">
                <a:solidFill>
                  <a:schemeClr val="bg1"/>
                </a:solidFill>
              </a:rPr>
              <a:t>Giv</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on a </a:t>
            </a:r>
            <a:r>
              <a:rPr lang="en-US" altLang="zh-CN" dirty="0" err="1">
                <a:solidFill>
                  <a:schemeClr val="bg1"/>
                </a:solidFill>
              </a:rPr>
              <a:t>pag</a:t>
            </a:r>
            <a:r>
              <a:rPr lang="az-Cyrl-AZ" altLang="zh-CN" dirty="0">
                <a:solidFill>
                  <a:schemeClr val="bg1"/>
                </a:solidFill>
              </a:rPr>
              <a:t>е </a:t>
            </a:r>
            <a:r>
              <a:rPr lang="en-US" altLang="zh-CN" dirty="0">
                <a:solidFill>
                  <a:schemeClr val="bg1"/>
                </a:solidFill>
              </a:rPr>
              <a:t>with login fi</a:t>
            </a:r>
            <a:r>
              <a:rPr lang="az-Cyrl-AZ" altLang="zh-CN" dirty="0">
                <a:solidFill>
                  <a:schemeClr val="bg1"/>
                </a:solidFill>
              </a:rPr>
              <a:t>е</a:t>
            </a:r>
            <a:r>
              <a:rPr lang="en-US" altLang="zh-CN" dirty="0" err="1">
                <a:solidFill>
                  <a:schemeClr val="bg1"/>
                </a:solidFill>
              </a:rPr>
              <a:t>lds</a:t>
            </a:r>
            <a:r>
              <a:rPr lang="en-US" altLang="zh-CN" dirty="0">
                <a:solidFill>
                  <a:schemeClr val="bg1"/>
                </a:solidFill>
              </a:rPr>
              <a:t>,</a:t>
            </a:r>
          </a:p>
          <a:p>
            <a:r>
              <a:rPr lang="en-US" altLang="zh-CN" dirty="0">
                <a:solidFill>
                  <a:schemeClr val="bg1"/>
                </a:solidFill>
              </a:rPr>
              <a:t>And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has </a:t>
            </a:r>
            <a:r>
              <a:rPr lang="az-Cyrl-AZ" altLang="zh-CN" dirty="0">
                <a:solidFill>
                  <a:schemeClr val="bg1"/>
                </a:solidFill>
              </a:rPr>
              <a:t>е</a:t>
            </a:r>
            <a:r>
              <a:rPr lang="en-US" altLang="zh-CN" dirty="0" err="1">
                <a:solidFill>
                  <a:schemeClr val="bg1"/>
                </a:solidFill>
              </a:rPr>
              <a:t>nt</a:t>
            </a:r>
            <a:r>
              <a:rPr lang="az-Cyrl-AZ" altLang="zh-CN" dirty="0">
                <a:solidFill>
                  <a:schemeClr val="bg1"/>
                </a:solidFill>
              </a:rPr>
              <a:t>е</a:t>
            </a:r>
            <a:r>
              <a:rPr lang="en-US" altLang="zh-CN" dirty="0">
                <a:solidFill>
                  <a:schemeClr val="bg1"/>
                </a:solidFill>
              </a:rPr>
              <a:t>r</a:t>
            </a:r>
            <a:r>
              <a:rPr lang="az-Cyrl-AZ" altLang="zh-CN" dirty="0">
                <a:solidFill>
                  <a:schemeClr val="bg1"/>
                </a:solidFill>
              </a:rPr>
              <a:t>е</a:t>
            </a:r>
            <a:r>
              <a:rPr lang="en-US" altLang="zh-CN" dirty="0">
                <a:solidFill>
                  <a:schemeClr val="bg1"/>
                </a:solidFill>
              </a:rPr>
              <a:t>d </a:t>
            </a:r>
            <a:r>
              <a:rPr lang="en-US" altLang="zh-CN" dirty="0" err="1">
                <a:solidFill>
                  <a:schemeClr val="bg1"/>
                </a:solidFill>
              </a:rPr>
              <a:t>th</a:t>
            </a:r>
            <a:r>
              <a:rPr lang="az-Cyrl-AZ" altLang="zh-CN" dirty="0">
                <a:solidFill>
                  <a:schemeClr val="bg1"/>
                </a:solidFill>
              </a:rPr>
              <a:t>е </a:t>
            </a:r>
            <a:r>
              <a:rPr lang="en-US" altLang="zh-CN" dirty="0" err="1">
                <a:solidFill>
                  <a:schemeClr val="bg1"/>
                </a:solidFill>
              </a:rPr>
              <a:t>incorr</a:t>
            </a:r>
            <a:r>
              <a:rPr lang="az-Cyrl-AZ" altLang="zh-CN" dirty="0">
                <a:solidFill>
                  <a:schemeClr val="bg1"/>
                </a:solidFill>
              </a:rPr>
              <a:t>е</a:t>
            </a:r>
            <a:r>
              <a:rPr lang="en-US" altLang="zh-CN" dirty="0" err="1">
                <a:solidFill>
                  <a:schemeClr val="bg1"/>
                </a:solidFill>
              </a:rPr>
              <a:t>ct</a:t>
            </a:r>
            <a:r>
              <a:rPr lang="en-US" altLang="zh-CN" dirty="0">
                <a:solidFill>
                  <a:schemeClr val="bg1"/>
                </a:solidFill>
              </a:rPr>
              <a:t> 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t</a:t>
            </a:r>
            <a:r>
              <a:rPr lang="az-Cyrl-AZ" altLang="zh-CN" dirty="0">
                <a:solidFill>
                  <a:schemeClr val="bg1"/>
                </a:solidFill>
              </a:rPr>
              <a:t>е</a:t>
            </a:r>
            <a:r>
              <a:rPr lang="en-US" altLang="zh-CN" dirty="0">
                <a:solidFill>
                  <a:schemeClr val="bg1"/>
                </a:solidFill>
              </a:rPr>
              <a:t>st1" and password "H</a:t>
            </a:r>
            <a:r>
              <a:rPr lang="az-Cyrl-AZ" altLang="zh-CN" dirty="0">
                <a:solidFill>
                  <a:schemeClr val="bg1"/>
                </a:solidFill>
              </a:rPr>
              <a:t>е</a:t>
            </a:r>
            <a:r>
              <a:rPr lang="en-US" altLang="zh-CN" dirty="0">
                <a:solidFill>
                  <a:schemeClr val="bg1"/>
                </a:solidFill>
              </a:rPr>
              <a:t>llo321",</a:t>
            </a:r>
          </a:p>
          <a:p>
            <a:r>
              <a:rPr lang="en-US" altLang="zh-CN" dirty="0" err="1">
                <a:solidFill>
                  <a:schemeClr val="bg1"/>
                </a:solidFill>
              </a:rPr>
              <a:t>Wh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clicks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button,</a:t>
            </a:r>
          </a:p>
          <a:p>
            <a:r>
              <a:rPr lang="en-US" altLang="zh-CN" dirty="0">
                <a:solidFill>
                  <a:schemeClr val="bg1"/>
                </a:solidFill>
              </a:rPr>
              <a:t>Th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form r</a:t>
            </a:r>
            <a:r>
              <a:rPr lang="az-Cyrl-AZ" altLang="zh-CN" dirty="0">
                <a:solidFill>
                  <a:schemeClr val="bg1"/>
                </a:solidFill>
              </a:rPr>
              <a:t>е</a:t>
            </a:r>
            <a:r>
              <a:rPr lang="en-US" altLang="zh-CN" dirty="0">
                <a:solidFill>
                  <a:schemeClr val="bg1"/>
                </a:solidFill>
              </a:rPr>
              <a:t>app</a:t>
            </a:r>
            <a:r>
              <a:rPr lang="az-Cyrl-AZ" altLang="zh-CN" dirty="0">
                <a:solidFill>
                  <a:schemeClr val="bg1"/>
                </a:solidFill>
              </a:rPr>
              <a:t>е</a:t>
            </a:r>
            <a:r>
              <a:rPr lang="en-US" altLang="zh-CN" dirty="0" err="1">
                <a:solidFill>
                  <a:schemeClr val="bg1"/>
                </a:solidFill>
              </a:rPr>
              <a:t>ars</a:t>
            </a:r>
            <a:r>
              <a:rPr lang="en-US" altLang="zh-CN" dirty="0">
                <a:solidFill>
                  <a:schemeClr val="bg1"/>
                </a:solidFill>
              </a:rPr>
              <a:t> with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still fill</a:t>
            </a:r>
            <a:r>
              <a:rPr lang="az-Cyrl-AZ" altLang="zh-CN" dirty="0">
                <a:solidFill>
                  <a:schemeClr val="bg1"/>
                </a:solidFill>
              </a:rPr>
              <a:t>е</a:t>
            </a:r>
            <a:r>
              <a:rPr lang="en-US" altLang="zh-CN" dirty="0">
                <a:solidFill>
                  <a:schemeClr val="bg1"/>
                </a:solidFill>
              </a:rPr>
              <a:t>d in and displays an </a:t>
            </a:r>
          </a:p>
          <a:p>
            <a:r>
              <a:rPr lang="az-Cyrl-AZ" altLang="zh-CN" dirty="0">
                <a:solidFill>
                  <a:schemeClr val="bg1"/>
                </a:solidFill>
              </a:rPr>
              <a:t>е</a:t>
            </a:r>
            <a:r>
              <a:rPr lang="en-US" altLang="zh-CN" dirty="0" err="1">
                <a:solidFill>
                  <a:schemeClr val="bg1"/>
                </a:solidFill>
              </a:rPr>
              <a:t>rror</a:t>
            </a:r>
            <a:r>
              <a:rPr lang="en-US" altLang="zh-CN" dirty="0">
                <a:solidFill>
                  <a:schemeClr val="bg1"/>
                </a:solidFill>
              </a:rPr>
              <a:t> m</a:t>
            </a:r>
            <a:r>
              <a:rPr lang="az-Cyrl-AZ" altLang="zh-CN" dirty="0">
                <a:solidFill>
                  <a:schemeClr val="bg1"/>
                </a:solidFill>
              </a:rPr>
              <a:t>е</a:t>
            </a:r>
            <a:r>
              <a:rPr lang="en-US" altLang="zh-CN" dirty="0" err="1">
                <a:solidFill>
                  <a:schemeClr val="bg1"/>
                </a:solidFill>
              </a:rPr>
              <a:t>ssag</a:t>
            </a:r>
            <a:r>
              <a:rPr lang="az-Cyrl-AZ" altLang="zh-CN" dirty="0">
                <a:solidFill>
                  <a:schemeClr val="bg1"/>
                </a:solidFill>
              </a:rPr>
              <a:t>е.</a:t>
            </a:r>
          </a:p>
        </p:txBody>
      </p:sp>
      <p:cxnSp>
        <p:nvCxnSpPr>
          <p:cNvPr id="11" name="直接连接符 10">
            <a:extLst>
              <a:ext uri="{FF2B5EF4-FFF2-40B4-BE49-F238E27FC236}">
                <a16:creationId xmlns:a16="http://schemas.microsoft.com/office/drawing/2014/main" id="{A749B186-654A-BB4C-CDE8-F6E81C788199}"/>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244424"/>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A5EDF45A-1074-B3EA-6195-9B145C51F91E}"/>
              </a:ext>
            </a:extLst>
          </p:cNvPr>
          <p:cNvGraphicFramePr>
            <a:graphicFrameLocks noGrp="1"/>
          </p:cNvGraphicFramePr>
          <p:nvPr>
            <p:extLst>
              <p:ext uri="{D42A27DB-BD31-4B8C-83A1-F6EECF244321}">
                <p14:modId xmlns:p14="http://schemas.microsoft.com/office/powerpoint/2010/main" val="45572680"/>
              </p:ext>
            </p:extLst>
          </p:nvPr>
        </p:nvGraphicFramePr>
        <p:xfrm>
          <a:off x="695325" y="1872297"/>
          <a:ext cx="10801350" cy="2346960"/>
        </p:xfrm>
        <a:graphic>
          <a:graphicData uri="http://schemas.openxmlformats.org/drawingml/2006/table">
            <a:tbl>
              <a:tblPr/>
              <a:tblGrid>
                <a:gridCol w="1359617">
                  <a:extLst>
                    <a:ext uri="{9D8B030D-6E8A-4147-A177-3AD203B41FA5}">
                      <a16:colId xmlns:a16="http://schemas.microsoft.com/office/drawing/2014/main" val="2990873470"/>
                    </a:ext>
                  </a:extLst>
                </a:gridCol>
                <a:gridCol w="4345858">
                  <a:extLst>
                    <a:ext uri="{9D8B030D-6E8A-4147-A177-3AD203B41FA5}">
                      <a16:colId xmlns:a16="http://schemas.microsoft.com/office/drawing/2014/main" val="1361388487"/>
                    </a:ext>
                  </a:extLst>
                </a:gridCol>
                <a:gridCol w="5095875">
                  <a:extLst>
                    <a:ext uri="{9D8B030D-6E8A-4147-A177-3AD203B41FA5}">
                      <a16:colId xmlns:a16="http://schemas.microsoft.com/office/drawing/2014/main" val="4238044401"/>
                    </a:ext>
                  </a:extLst>
                </a:gridCol>
              </a:tblGrid>
              <a:tr h="162339">
                <a:tc>
                  <a:txBody>
                    <a:bodyPr/>
                    <a:lstStyle/>
                    <a:p>
                      <a:pPr>
                        <a:buNone/>
                      </a:pPr>
                      <a:r>
                        <a:rPr lang="zh-CN" altLang="en-US" sz="1600">
                          <a:solidFill>
                            <a:schemeClr val="bg1"/>
                          </a:solidFill>
                        </a:rPr>
                        <a:t>维度</a:t>
                      </a:r>
                    </a:p>
                  </a:txBody>
                  <a:tcPr anchor="ctr">
                    <a:lnL>
                      <a:noFill/>
                    </a:lnL>
                    <a:lnR>
                      <a:noFill/>
                    </a:lnR>
                    <a:lnT>
                      <a:noFill/>
                    </a:lnT>
                    <a:lnB>
                      <a:noFill/>
                    </a:lnB>
                    <a:solidFill>
                      <a:schemeClr val="accent2"/>
                    </a:solidFill>
                  </a:tcPr>
                </a:tc>
                <a:tc>
                  <a:txBody>
                    <a:bodyPr/>
                    <a:lstStyle/>
                    <a:p>
                      <a:pPr>
                        <a:buNone/>
                      </a:pPr>
                      <a:r>
                        <a:rPr lang="en-US" sz="1600">
                          <a:solidFill>
                            <a:schemeClr val="bg1"/>
                          </a:solidFill>
                        </a:rPr>
                        <a:t>TDD (Test-Driven Development)</a:t>
                      </a:r>
                    </a:p>
                  </a:txBody>
                  <a:tcPr anchor="ctr">
                    <a:lnL>
                      <a:noFill/>
                    </a:lnL>
                    <a:lnR>
                      <a:noFill/>
                    </a:lnR>
                    <a:lnT>
                      <a:noFill/>
                    </a:lnT>
                    <a:lnB>
                      <a:noFill/>
                    </a:lnB>
                    <a:solidFill>
                      <a:schemeClr val="accent2"/>
                    </a:solidFill>
                  </a:tcPr>
                </a:tc>
                <a:tc>
                  <a:txBody>
                    <a:bodyPr/>
                    <a:lstStyle/>
                    <a:p>
                      <a:pPr>
                        <a:buNone/>
                      </a:pPr>
                      <a:r>
                        <a:rPr lang="en-US" sz="1600">
                          <a:solidFill>
                            <a:schemeClr val="bg1"/>
                          </a:solidFill>
                        </a:rPr>
                        <a:t>BDD (Behavior-Driven Development)</a:t>
                      </a:r>
                    </a:p>
                  </a:txBody>
                  <a:tcPr anchor="ctr">
                    <a:lnL>
                      <a:noFill/>
                    </a:lnL>
                    <a:lnR>
                      <a:noFill/>
                    </a:lnR>
                    <a:lnT>
                      <a:noFill/>
                    </a:lnT>
                    <a:lnB>
                      <a:noFill/>
                    </a:lnB>
                    <a:solidFill>
                      <a:schemeClr val="accent2"/>
                    </a:solidFill>
                  </a:tcPr>
                </a:tc>
                <a:extLst>
                  <a:ext uri="{0D108BD9-81ED-4DB2-BD59-A6C34878D82A}">
                    <a16:rowId xmlns:a16="http://schemas.microsoft.com/office/drawing/2014/main" val="3878949231"/>
                  </a:ext>
                </a:extLst>
              </a:tr>
              <a:tr h="162339">
                <a:tc>
                  <a:txBody>
                    <a:bodyPr/>
                    <a:lstStyle/>
                    <a:p>
                      <a:pPr>
                        <a:buNone/>
                      </a:pPr>
                      <a:r>
                        <a:rPr lang="zh-CN" altLang="en-US" sz="1600">
                          <a:solidFill>
                            <a:schemeClr val="bg1"/>
                          </a:solidFill>
                        </a:rPr>
                        <a:t>驱动源</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技术实现细节（函数、类、接口）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用户行为 </a:t>
                      </a:r>
                      <a:r>
                        <a:rPr lang="en-US" altLang="zh-CN" sz="1600">
                          <a:solidFill>
                            <a:schemeClr val="bg1"/>
                          </a:solidFill>
                        </a:rPr>
                        <a:t>/ </a:t>
                      </a:r>
                      <a:r>
                        <a:rPr lang="zh-CN" altLang="en-US" sz="1600">
                          <a:solidFill>
                            <a:schemeClr val="bg1"/>
                          </a:solidFill>
                        </a:rPr>
                        <a:t>业务价值</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02059828"/>
                  </a:ext>
                </a:extLst>
              </a:tr>
              <a:tr h="162339">
                <a:tc>
                  <a:txBody>
                    <a:bodyPr/>
                    <a:lstStyle/>
                    <a:p>
                      <a:pPr>
                        <a:buNone/>
                      </a:pPr>
                      <a:r>
                        <a:rPr lang="zh-CN" altLang="en-US" sz="1600" dirty="0">
                          <a:solidFill>
                            <a:schemeClr val="bg1"/>
                          </a:solidFill>
                        </a:rPr>
                        <a:t>测试粒度</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单个单元测试（</a:t>
                      </a:r>
                      <a:r>
                        <a:rPr lang="en-US" sz="1600" dirty="0">
                          <a:solidFill>
                            <a:schemeClr val="bg1"/>
                          </a:solidFill>
                        </a:rPr>
                        <a:t>Unit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验收测试 </a:t>
                      </a:r>
                      <a:r>
                        <a:rPr lang="en-US" altLang="zh-CN" sz="1600">
                          <a:solidFill>
                            <a:schemeClr val="bg1"/>
                          </a:solidFill>
                        </a:rPr>
                        <a:t>/ </a:t>
                      </a:r>
                      <a:r>
                        <a:rPr lang="zh-CN" altLang="en-US" sz="1600">
                          <a:solidFill>
                            <a:schemeClr val="bg1"/>
                          </a:solidFill>
                        </a:rPr>
                        <a:t>集成测试（</a:t>
                      </a:r>
                      <a:r>
                        <a:rPr lang="en-US" sz="1600">
                          <a:solidFill>
                            <a:schemeClr val="bg1"/>
                          </a:solidFill>
                        </a:rPr>
                        <a:t>Acceptance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84954705"/>
                  </a:ext>
                </a:extLst>
              </a:tr>
              <a:tr h="162339">
                <a:tc>
                  <a:txBody>
                    <a:bodyPr/>
                    <a:lstStyle/>
                    <a:p>
                      <a:pPr>
                        <a:buNone/>
                      </a:pPr>
                      <a:r>
                        <a:rPr lang="zh-CN" altLang="en-US" sz="1600" dirty="0">
                          <a:solidFill>
                            <a:schemeClr val="bg1"/>
                          </a:solidFill>
                        </a:rPr>
                        <a:t>语言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编程语言（</a:t>
                      </a:r>
                      <a:r>
                        <a:rPr lang="en-US" sz="1600">
                          <a:solidFill>
                            <a:schemeClr val="bg1"/>
                          </a:solidFill>
                        </a:rPr>
                        <a:t>Java, Python...）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自然语言（</a:t>
                      </a:r>
                      <a:r>
                        <a:rPr lang="en-US" sz="1600">
                          <a:solidFill>
                            <a:schemeClr val="bg1"/>
                          </a:solidFill>
                        </a:rPr>
                        <a:t>Gherkin）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64131198"/>
                  </a:ext>
                </a:extLst>
              </a:tr>
              <a:tr h="162339">
                <a:tc>
                  <a:txBody>
                    <a:bodyPr/>
                    <a:lstStyle/>
                    <a:p>
                      <a:pPr>
                        <a:buNone/>
                      </a:pPr>
                      <a:r>
                        <a:rPr lang="zh-CN" altLang="en-US" sz="1600">
                          <a:solidFill>
                            <a:schemeClr val="bg1"/>
                          </a:solidFill>
                        </a:rPr>
                        <a:t>参与者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主要是</a:t>
                      </a:r>
                      <a:r>
                        <a:rPr lang="zh-CN" altLang="en-US" sz="1600" dirty="0">
                          <a:solidFill>
                            <a:srgbClr val="FFFF00"/>
                          </a:solidFill>
                        </a:rPr>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开发者 </a:t>
                      </a:r>
                      <a:r>
                        <a:rPr lang="en-US" altLang="zh-CN" sz="1600">
                          <a:solidFill>
                            <a:schemeClr val="bg1"/>
                          </a:solidFill>
                        </a:rPr>
                        <a:t>+ </a:t>
                      </a:r>
                      <a:r>
                        <a:rPr lang="zh-CN" altLang="en-US" sz="1600">
                          <a:solidFill>
                            <a:schemeClr val="bg1"/>
                          </a:solidFill>
                        </a:rPr>
                        <a:t>测试 </a:t>
                      </a:r>
                      <a:r>
                        <a:rPr lang="en-US" altLang="zh-CN" sz="1600">
                          <a:solidFill>
                            <a:schemeClr val="bg1"/>
                          </a:solidFill>
                        </a:rPr>
                        <a:t>+ </a:t>
                      </a:r>
                      <a:r>
                        <a:rPr lang="zh-CN" altLang="en-US" sz="1600">
                          <a:solidFill>
                            <a:schemeClr val="bg1"/>
                          </a:solidFill>
                        </a:rPr>
                        <a:t>业务方</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92565513"/>
                  </a:ext>
                </a:extLst>
              </a:tr>
              <a:tr h="162339">
                <a:tc>
                  <a:txBody>
                    <a:bodyPr/>
                    <a:lstStyle/>
                    <a:p>
                      <a:pPr>
                        <a:buNone/>
                      </a:pPr>
                      <a:r>
                        <a:rPr lang="zh-CN" altLang="en-US" sz="1600">
                          <a:solidFill>
                            <a:schemeClr val="bg1"/>
                          </a:solidFill>
                        </a:rPr>
                        <a:t>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保证代码质量、可维护性</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保证系统行为符合业务需求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8345300"/>
                  </a:ext>
                </a:extLst>
              </a:tr>
              <a:tr h="162339">
                <a:tc>
                  <a:txBody>
                    <a:bodyPr/>
                    <a:lstStyle/>
                    <a:p>
                      <a:pPr>
                        <a:buNone/>
                      </a:pPr>
                      <a:r>
                        <a:rPr lang="zh-CN" altLang="en-US" sz="1600">
                          <a:solidFill>
                            <a:schemeClr val="bg1"/>
                          </a:solidFill>
                        </a:rPr>
                        <a:t>示例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solidFill>
                            <a:schemeClr val="bg1"/>
                          </a:solidFill>
                          <a:latin typeface="Courier New" panose="02070309020205020404" pitchFamily="49" charset="0"/>
                        </a:rPr>
                        <a:t>test_add_two_numbers()</a:t>
                      </a:r>
                      <a:endParaRPr 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solidFill>
                            <a:schemeClr val="bg1"/>
                          </a:solidFill>
                          <a:latin typeface="Courier New" panose="02070309020205020404" pitchFamily="49" charset="0"/>
                        </a:rPr>
                        <a:t>Scenario: User logs in successfully</a:t>
                      </a:r>
                      <a:endParaRPr 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6417238"/>
                  </a:ext>
                </a:extLst>
              </a:tr>
            </a:tbl>
          </a:graphicData>
        </a:graphic>
      </p:graphicFrame>
    </p:spTree>
    <p:extLst>
      <p:ext uri="{BB962C8B-B14F-4D97-AF65-F5344CB8AC3E}">
        <p14:creationId xmlns:p14="http://schemas.microsoft.com/office/powerpoint/2010/main" val="379833527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4093762368"/>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a:t>Manufacturing Project Scope Creep Example</a:t>
            </a:r>
          </a:p>
          <a:p>
            <a:endParaRPr lang="en-US" altLang="zh-CN"/>
          </a:p>
          <a:p>
            <a:r>
              <a:rPr lang="en-US" altLang="zh-CN"/>
              <a:t>A</a:t>
            </a:r>
            <a:r>
              <a:rPr lang="zh-CN" altLang="en-US"/>
              <a:t>到</a:t>
            </a:r>
            <a:r>
              <a:rPr lang="en-US" altLang="zh-CN"/>
              <a:t>B</a:t>
            </a:r>
            <a:r>
              <a:rPr lang="zh-CN" altLang="en-US"/>
              <a:t>制造商正准备为新产品投入生产，他们已经设计并采购了手机壳的材料</a:t>
            </a:r>
            <a:endParaRPr lang="en-US" altLang="zh-CN"/>
          </a:p>
          <a:p>
            <a:r>
              <a:rPr lang="zh-CN" altLang="en-US"/>
              <a:t>执行团队未经监督地更改了设计，想添加一个夹子，让手机壳能够挂在用户的腰带上</a:t>
            </a:r>
            <a:endParaRPr lang="en-US" altLang="zh-CN"/>
          </a:p>
        </p:txBody>
      </p:sp>
    </p:spTree>
    <p:extLst>
      <p:ext uri="{BB962C8B-B14F-4D97-AF65-F5344CB8AC3E}">
        <p14:creationId xmlns:p14="http://schemas.microsoft.com/office/powerpoint/2010/main" val="398118092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a:t>IT Project Scope Creep Example</a:t>
            </a:r>
          </a:p>
          <a:p>
            <a:endParaRPr lang="en-US" altLang="zh-CN"/>
          </a:p>
          <a:p>
            <a:r>
              <a:rPr lang="zh-CN" altLang="en-US"/>
              <a:t>三个月内，一位项目经理负责交付一款新的软件</a:t>
            </a:r>
            <a:endParaRPr lang="en-US" altLang="zh-CN"/>
          </a:p>
          <a:p>
            <a:r>
              <a:rPr lang="zh-CN" altLang="en-US"/>
              <a:t>在规划阶段几周后，项目的赞助商增加了新的功能。</a:t>
            </a:r>
            <a:endParaRPr lang="en-US" altLang="zh-CN"/>
          </a:p>
          <a:p>
            <a:r>
              <a:rPr lang="zh-CN" altLang="en-US"/>
              <a:t>在项目经理将新要求纳入项目范围后，赞助商根据项目客户的请求进行了更多更改</a:t>
            </a:r>
          </a:p>
        </p:txBody>
      </p:sp>
    </p:spTree>
    <p:extLst>
      <p:ext uri="{BB962C8B-B14F-4D97-AF65-F5344CB8AC3E}">
        <p14:creationId xmlns:p14="http://schemas.microsoft.com/office/powerpoint/2010/main" val="1948296285"/>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695998" y="360000"/>
            <a:ext cx="6375921" cy="429413"/>
          </a:xfrm>
        </p:spPr>
        <p:txBody>
          <a:bodyPr>
            <a:normAutofit/>
          </a:bodyPr>
          <a:lstStyle/>
          <a:p>
            <a:r>
              <a:rPr lang="en-US" altLang="zh-CN"/>
              <a:t>4. </a:t>
            </a:r>
            <a:r>
              <a:rPr lang="zh-CN" altLang="en-US"/>
              <a:t>工作范围</a:t>
            </a:r>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864000"/>
            <a:ext cx="10800000" cy="5400000"/>
          </a:xfrm>
        </p:spPr>
        <p:txBody>
          <a:bodyPr>
            <a:normAutofit/>
          </a:bodyPr>
          <a:lstStyle/>
          <a:p>
            <a:r>
              <a:rPr lang="en-US" altLang="zh-CN" dirty="0">
                <a:hlinkClick r:id="rId3"/>
              </a:rPr>
              <a:t>Scope of Work</a:t>
            </a:r>
            <a:endParaRPr lang="en-US" altLang="zh-CN" dirty="0"/>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a:t>
            </a:r>
            <a:endParaRPr lang="en-US" altLang="zh-CN" dirty="0"/>
          </a:p>
          <a:p>
            <a:pPr lvl="1"/>
            <a:r>
              <a:rPr lang="zh-CN" altLang="en-US" dirty="0"/>
              <a:t>防止范围蔓延 </a:t>
            </a:r>
            <a:r>
              <a:rPr lang="en-US" altLang="zh-CN" b="1" dirty="0">
                <a:solidFill>
                  <a:srgbClr val="FFFF00"/>
                </a:solidFill>
              </a:rPr>
              <a:t>Scope</a:t>
            </a:r>
            <a:r>
              <a:rPr lang="en-US" altLang="zh-CN" dirty="0"/>
              <a:t> </a:t>
            </a:r>
            <a:r>
              <a:rPr lang="en-US" altLang="zh-CN" b="1" dirty="0">
                <a:solidFill>
                  <a:srgbClr val="FFFF00"/>
                </a:solidFill>
              </a:rPr>
              <a:t>Creep</a:t>
            </a:r>
          </a:p>
          <a:p>
            <a:r>
              <a:rPr lang="zh-CN" altLang="en-US" dirty="0"/>
              <a:t>工作范围旨在</a:t>
            </a:r>
            <a:endParaRPr lang="en-US" altLang="zh-CN" dirty="0"/>
          </a:p>
          <a:p>
            <a:pPr lvl="1"/>
            <a:r>
              <a:rPr lang="zh-CN" altLang="en-US" dirty="0"/>
              <a:t>定义项目可交付成果和边界 </a:t>
            </a:r>
            <a:r>
              <a:rPr lang="en-US" altLang="zh-CN" dirty="0"/>
              <a:t>- Define project </a:t>
            </a:r>
            <a:r>
              <a:rPr lang="en-US" altLang="zh-CN" b="1" dirty="0">
                <a:solidFill>
                  <a:srgbClr val="FFFF00"/>
                </a:solidFill>
              </a:rPr>
              <a:t>deliverables</a:t>
            </a:r>
            <a:r>
              <a:rPr lang="en-US" altLang="zh-CN" dirty="0"/>
              <a:t> and </a:t>
            </a:r>
            <a:r>
              <a:rPr lang="en-US" altLang="zh-CN" b="1" dirty="0">
                <a:solidFill>
                  <a:srgbClr val="FFFF00"/>
                </a:solidFill>
              </a:rPr>
              <a:t>boundaries</a:t>
            </a:r>
            <a:endParaRPr lang="zh-CN" altLang="en-US" b="1" dirty="0">
              <a:solidFill>
                <a:srgbClr val="FFFF00"/>
              </a:solidFill>
            </a:endParaRPr>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
        <p:nvSpPr>
          <p:cNvPr id="6" name="文本占位符 5">
            <a:extLst>
              <a:ext uri="{FF2B5EF4-FFF2-40B4-BE49-F238E27FC236}">
                <a16:creationId xmlns:a16="http://schemas.microsoft.com/office/drawing/2014/main" id="{CA66C553-3E2C-628E-B840-4CADD1D7CA4A}"/>
              </a:ext>
            </a:extLst>
          </p:cNvPr>
          <p:cNvSpPr>
            <a:spLocks noGrp="1"/>
          </p:cNvSpPr>
          <p:nvPr>
            <p:ph type="body" sz="quarter" idx="10"/>
          </p:nvPr>
        </p:nvSpPr>
        <p:spPr>
          <a:xfrm>
            <a:off x="7071919" y="448519"/>
            <a:ext cx="4424080" cy="338554"/>
          </a:xfrm>
        </p:spPr>
        <p:txBody>
          <a:bodyPr/>
          <a:lstStyle/>
          <a:p>
            <a:r>
              <a:rPr lang="en-US" altLang="zh-CN"/>
              <a:t>SOW</a:t>
            </a:r>
            <a:endParaRPr lang="zh-CN" altLang="en-US"/>
          </a:p>
        </p:txBody>
      </p:sp>
    </p:spTree>
    <p:extLst>
      <p:ext uri="{BB962C8B-B14F-4D97-AF65-F5344CB8AC3E}">
        <p14:creationId xmlns:p14="http://schemas.microsoft.com/office/powerpoint/2010/main" val="503782804"/>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EC6091F0-4FB7-F2A1-25E5-D698071D2D9D}"/>
              </a:ext>
            </a:extLst>
          </p:cNvPr>
          <p:cNvSpPr>
            <a:spLocks noGrp="1"/>
          </p:cNvSpPr>
          <p:nvPr>
            <p:ph type="title"/>
          </p:nvPr>
        </p:nvSpPr>
        <p:spPr>
          <a:xfrm>
            <a:off x="695998" y="360000"/>
            <a:ext cx="6375921" cy="429413"/>
          </a:xfrm>
        </p:spPr>
        <p:txBody>
          <a:bodyPr/>
          <a:lstStyle/>
          <a:p>
            <a:r>
              <a:rPr lang="en-US" altLang="zh-CN"/>
              <a:t>5. </a:t>
            </a:r>
            <a:r>
              <a:rPr lang="zh-CN" altLang="en-US"/>
              <a:t>任务分解</a:t>
            </a:r>
          </a:p>
        </p:txBody>
      </p:sp>
      <p:sp>
        <p:nvSpPr>
          <p:cNvPr id="4" name="内容占位符 3">
            <a:extLst>
              <a:ext uri="{FF2B5EF4-FFF2-40B4-BE49-F238E27FC236}">
                <a16:creationId xmlns:a16="http://schemas.microsoft.com/office/drawing/2014/main" id="{D75A869F-0684-18E0-95A7-87243CAF703E}"/>
              </a:ext>
            </a:extLst>
          </p:cNvPr>
          <p:cNvSpPr>
            <a:spLocks noGrp="1"/>
          </p:cNvSpPr>
          <p:nvPr>
            <p:ph idx="1"/>
          </p:nvPr>
        </p:nvSpPr>
        <p:spPr>
          <a:xfrm>
            <a:off x="696000" y="864000"/>
            <a:ext cx="10800000" cy="5400000"/>
          </a:xfrm>
        </p:spPr>
        <p:txBody>
          <a:bodyPr>
            <a:normAutofit/>
          </a:bodyPr>
          <a:lstStyle/>
          <a:p>
            <a:r>
              <a:rPr lang="zh-CN" altLang="en-US" dirty="0"/>
              <a:t>将一个项目分解为更多的工作细目或者子项目，使项目变得更</a:t>
            </a:r>
            <a:r>
              <a:rPr lang="zh-CN" altLang="en-US" dirty="0">
                <a:solidFill>
                  <a:srgbClr val="FFFF00"/>
                </a:solidFill>
              </a:rPr>
              <a:t>小</a:t>
            </a:r>
            <a:r>
              <a:rPr lang="zh-CN" altLang="en-US" dirty="0"/>
              <a:t>、更易</a:t>
            </a:r>
            <a:r>
              <a:rPr lang="zh-CN" altLang="en-US" dirty="0">
                <a:solidFill>
                  <a:srgbClr val="FFFF00"/>
                </a:solidFill>
              </a:rPr>
              <a:t>管理</a:t>
            </a:r>
            <a:r>
              <a:rPr lang="zh-CN" altLang="en-US" dirty="0"/>
              <a:t>、更易</a:t>
            </a:r>
            <a:r>
              <a:rPr lang="zh-CN" altLang="en-US" dirty="0">
                <a:solidFill>
                  <a:srgbClr val="FFFF00"/>
                </a:solidFill>
              </a:rPr>
              <a:t>操作</a:t>
            </a:r>
            <a:endParaRPr lang="en-US" altLang="zh-CN" dirty="0">
              <a:solidFill>
                <a:srgbClr val="FFFF00"/>
              </a:solidFill>
            </a:endParaRPr>
          </a:p>
          <a:p>
            <a:r>
              <a:rPr lang="zh-CN" altLang="en-US" dirty="0"/>
              <a:t>产出：任务分解结构 </a:t>
            </a:r>
            <a:r>
              <a:rPr lang="en-US" altLang="zh-CN" dirty="0"/>
              <a:t>- Work Breakdown Structure</a:t>
            </a:r>
          </a:p>
          <a:p>
            <a:r>
              <a:rPr lang="en-US" altLang="zh-CN" dirty="0"/>
              <a:t>WBS </a:t>
            </a:r>
            <a:r>
              <a:rPr lang="zh-CN" altLang="en-US" dirty="0"/>
              <a:t>组织并定义整个</a:t>
            </a:r>
            <a:r>
              <a:rPr lang="zh-CN" altLang="en-US" dirty="0">
                <a:solidFill>
                  <a:srgbClr val="FFFF00"/>
                </a:solidFill>
              </a:rPr>
              <a:t>项目范围</a:t>
            </a:r>
            <a:r>
              <a:rPr lang="zh-CN" altLang="en-US" dirty="0"/>
              <a:t>；不在其中的，不是项目的工作</a:t>
            </a:r>
            <a:endParaRPr lang="en-US" altLang="zh-CN" dirty="0"/>
          </a:p>
          <a:p>
            <a:r>
              <a:rPr lang="en-US" altLang="zh-CN" dirty="0"/>
              <a:t>WBS </a:t>
            </a:r>
            <a:r>
              <a:rPr lang="zh-CN" altLang="en-US" dirty="0"/>
              <a:t>是对项目由粗到细的分解过程；分级的树形结构</a:t>
            </a:r>
          </a:p>
          <a:p>
            <a:r>
              <a:rPr lang="zh-CN" altLang="en-US" dirty="0"/>
              <a:t>面向交付成果的</a:t>
            </a:r>
            <a:endParaRPr lang="en-US" altLang="zh-CN" dirty="0"/>
          </a:p>
          <a:p>
            <a:r>
              <a:rPr lang="zh-CN" altLang="zh-CN" dirty="0"/>
              <a:t>实现目标的充分必要条件</a:t>
            </a:r>
            <a:endParaRPr lang="en-US" altLang="zh-CN" dirty="0"/>
          </a:p>
          <a:p>
            <a:r>
              <a:rPr lang="zh-CN" altLang="en-US" dirty="0"/>
              <a:t>要求</a:t>
            </a:r>
            <a:endParaRPr lang="en-US" altLang="zh-CN" dirty="0"/>
          </a:p>
          <a:p>
            <a:pPr lvl="1"/>
            <a:r>
              <a:rPr lang="zh-CN" altLang="en-US" dirty="0"/>
              <a:t>一个清晰的任务完成</a:t>
            </a:r>
            <a:endParaRPr lang="en-US" altLang="zh-CN" dirty="0"/>
          </a:p>
          <a:p>
            <a:pPr lvl="1"/>
            <a:r>
              <a:rPr lang="zh-CN" altLang="en-US" dirty="0"/>
              <a:t>一个清晰的责任人；唯一主体负责</a:t>
            </a:r>
            <a:endParaRPr lang="en-US" altLang="zh-CN" dirty="0"/>
          </a:p>
          <a:p>
            <a:pPr lvl="1"/>
            <a:r>
              <a:rPr lang="zh-CN" altLang="en-US" dirty="0"/>
              <a:t>能够估算工期和工作量</a:t>
            </a:r>
            <a:endParaRPr lang="en-US" altLang="zh-CN" dirty="0"/>
          </a:p>
          <a:p>
            <a:pPr lvl="1"/>
            <a:r>
              <a:rPr lang="zh-CN" altLang="en-US" dirty="0"/>
              <a:t>可控制风险</a:t>
            </a:r>
            <a:endParaRPr lang="en-US" altLang="zh-CN" dirty="0"/>
          </a:p>
          <a:p>
            <a:pPr lvl="1"/>
            <a:r>
              <a:rPr lang="zh-CN" altLang="en-US" dirty="0"/>
              <a:t>可追踪</a:t>
            </a:r>
          </a:p>
          <a:p>
            <a:endParaRPr lang="zh-CN" altLang="en-US" dirty="0"/>
          </a:p>
        </p:txBody>
      </p:sp>
      <p:sp>
        <p:nvSpPr>
          <p:cNvPr id="5" name="文本占位符 4">
            <a:extLst>
              <a:ext uri="{FF2B5EF4-FFF2-40B4-BE49-F238E27FC236}">
                <a16:creationId xmlns:a16="http://schemas.microsoft.com/office/drawing/2014/main" id="{94980562-B85C-0543-137D-B269936AFC23}"/>
              </a:ext>
            </a:extLst>
          </p:cNvPr>
          <p:cNvSpPr>
            <a:spLocks noGrp="1"/>
          </p:cNvSpPr>
          <p:nvPr>
            <p:ph type="body" sz="quarter" idx="10"/>
          </p:nvPr>
        </p:nvSpPr>
        <p:spPr>
          <a:xfrm>
            <a:off x="7071919" y="448519"/>
            <a:ext cx="4424080" cy="338554"/>
          </a:xfrm>
        </p:spPr>
        <p:txBody>
          <a:bodyPr/>
          <a:lstStyle/>
          <a:p>
            <a:r>
              <a:rPr lang="en-US" altLang="zh-CN"/>
              <a:t>WBS</a:t>
            </a:r>
            <a:endParaRPr lang="zh-CN" altLang="en-US"/>
          </a:p>
        </p:txBody>
      </p:sp>
    </p:spTree>
    <p:extLst>
      <p:ext uri="{BB962C8B-B14F-4D97-AF65-F5344CB8AC3E}">
        <p14:creationId xmlns:p14="http://schemas.microsoft.com/office/powerpoint/2010/main" val="110019990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6AAD4-0394-F886-559F-9845A6D7FC2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07EACB3-829D-A67A-3E40-ABF7E579A8B9}"/>
              </a:ext>
            </a:extLst>
          </p:cNvPr>
          <p:cNvSpPr>
            <a:spLocks noGrp="1"/>
          </p:cNvSpPr>
          <p:nvPr>
            <p:ph type="title"/>
          </p:nvPr>
        </p:nvSpPr>
        <p:spPr>
          <a:xfrm>
            <a:off x="695998" y="360000"/>
            <a:ext cx="6375921" cy="429413"/>
          </a:xfrm>
        </p:spPr>
        <p:txBody>
          <a:bodyPr/>
          <a:lstStyle/>
          <a:p>
            <a:r>
              <a:rPr lang="en-US" altLang="zh-CN" dirty="0"/>
              <a:t>5.1 </a:t>
            </a:r>
            <a:r>
              <a:rPr lang="zh-CN" altLang="en-US" dirty="0"/>
              <a:t>工作包</a:t>
            </a:r>
          </a:p>
        </p:txBody>
      </p:sp>
      <p:sp>
        <p:nvSpPr>
          <p:cNvPr id="4" name="内容占位符 3">
            <a:extLst>
              <a:ext uri="{FF2B5EF4-FFF2-40B4-BE49-F238E27FC236}">
                <a16:creationId xmlns:a16="http://schemas.microsoft.com/office/drawing/2014/main" id="{180A6710-EF77-2D05-D79D-7E163EA01FFB}"/>
              </a:ext>
            </a:extLst>
          </p:cNvPr>
          <p:cNvSpPr>
            <a:spLocks noGrp="1"/>
          </p:cNvSpPr>
          <p:nvPr>
            <p:ph idx="1"/>
          </p:nvPr>
        </p:nvSpPr>
        <p:spPr>
          <a:xfrm>
            <a:off x="696000" y="864000"/>
            <a:ext cx="10800000" cy="5400000"/>
          </a:xfrm>
        </p:spPr>
        <p:txBody>
          <a:bodyPr>
            <a:normAutofit/>
          </a:bodyPr>
          <a:lstStyle/>
          <a:p>
            <a:r>
              <a:rPr lang="en-US" altLang="zh-CN" dirty="0"/>
              <a:t>WBS</a:t>
            </a:r>
            <a:r>
              <a:rPr lang="zh-CN" altLang="en-US" dirty="0"/>
              <a:t>的最小元素</a:t>
            </a:r>
            <a:endParaRPr lang="en-US" altLang="zh-CN" dirty="0"/>
          </a:p>
          <a:p>
            <a:r>
              <a:rPr lang="zh-CN" altLang="en-US" dirty="0"/>
              <a:t>分配编码 </a:t>
            </a:r>
            <a:r>
              <a:rPr lang="en-US" altLang="zh-CN" dirty="0"/>
              <a:t>Code of Accounts</a:t>
            </a:r>
          </a:p>
          <a:p>
            <a:r>
              <a:rPr lang="zh-CN" altLang="en-US" dirty="0"/>
              <a:t>可再分解为活动 </a:t>
            </a:r>
            <a:r>
              <a:rPr lang="en-US" altLang="zh-CN" dirty="0"/>
              <a:t>Activities</a:t>
            </a:r>
          </a:p>
          <a:p>
            <a:endParaRPr lang="zh-CN" altLang="en-US" dirty="0"/>
          </a:p>
        </p:txBody>
      </p:sp>
      <p:sp>
        <p:nvSpPr>
          <p:cNvPr id="5" name="文本占位符 4">
            <a:extLst>
              <a:ext uri="{FF2B5EF4-FFF2-40B4-BE49-F238E27FC236}">
                <a16:creationId xmlns:a16="http://schemas.microsoft.com/office/drawing/2014/main" id="{56B500BC-6D3E-0CB0-548A-89DD4B1B91C3}"/>
              </a:ext>
            </a:extLst>
          </p:cNvPr>
          <p:cNvSpPr>
            <a:spLocks noGrp="1"/>
          </p:cNvSpPr>
          <p:nvPr>
            <p:ph type="body" sz="quarter" idx="10"/>
          </p:nvPr>
        </p:nvSpPr>
        <p:spPr>
          <a:xfrm>
            <a:off x="7071919" y="448519"/>
            <a:ext cx="4424080" cy="338554"/>
          </a:xfrm>
        </p:spPr>
        <p:txBody>
          <a:bodyPr/>
          <a:lstStyle/>
          <a:p>
            <a:r>
              <a:rPr lang="en-US" altLang="zh-CN" dirty="0"/>
              <a:t>Package/WBS</a:t>
            </a:r>
            <a:endParaRPr lang="zh-CN" altLang="en-US" dirty="0"/>
          </a:p>
        </p:txBody>
      </p:sp>
      <p:sp>
        <p:nvSpPr>
          <p:cNvPr id="2" name="矩形 1">
            <a:extLst>
              <a:ext uri="{FF2B5EF4-FFF2-40B4-BE49-F238E27FC236}">
                <a16:creationId xmlns:a16="http://schemas.microsoft.com/office/drawing/2014/main" id="{E0B3CEA0-D4E6-1521-A065-7DBA3BA30296}"/>
              </a:ext>
            </a:extLst>
          </p:cNvPr>
          <p:cNvSpPr/>
          <p:nvPr/>
        </p:nvSpPr>
        <p:spPr>
          <a:xfrm>
            <a:off x="5376001" y="3456884"/>
            <a:ext cx="144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System </a:t>
            </a:r>
            <a:r>
              <a:rPr lang="en-US" altLang="zh-CN" sz="1400" dirty="0">
                <a:solidFill>
                  <a:srgbClr val="FFFF00"/>
                </a:solidFill>
              </a:rPr>
              <a:t>1</a:t>
            </a:r>
            <a:endParaRPr lang="zh-CN" altLang="en-US" sz="1400" dirty="0">
              <a:solidFill>
                <a:srgbClr val="FFFF00"/>
              </a:solidFill>
            </a:endParaRPr>
          </a:p>
        </p:txBody>
      </p:sp>
      <p:sp>
        <p:nvSpPr>
          <p:cNvPr id="6" name="矩形 5">
            <a:extLst>
              <a:ext uri="{FF2B5EF4-FFF2-40B4-BE49-F238E27FC236}">
                <a16:creationId xmlns:a16="http://schemas.microsoft.com/office/drawing/2014/main" id="{0248793D-ADF8-C09E-1C29-CC06B765F425}"/>
              </a:ext>
            </a:extLst>
          </p:cNvPr>
          <p:cNvSpPr/>
          <p:nvPr/>
        </p:nvSpPr>
        <p:spPr>
          <a:xfrm>
            <a:off x="1831471" y="4489271"/>
            <a:ext cx="1584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Sub-system </a:t>
            </a:r>
            <a:r>
              <a:rPr lang="en-US" altLang="zh-CN" sz="1400" dirty="0">
                <a:solidFill>
                  <a:srgbClr val="FFFF00"/>
                </a:solidFill>
              </a:rPr>
              <a:t>1.1</a:t>
            </a:r>
            <a:endParaRPr lang="zh-CN" altLang="en-US" sz="1400" dirty="0">
              <a:solidFill>
                <a:srgbClr val="FFFF00"/>
              </a:solidFill>
            </a:endParaRPr>
          </a:p>
        </p:txBody>
      </p:sp>
      <p:sp>
        <p:nvSpPr>
          <p:cNvPr id="7" name="矩形 6">
            <a:extLst>
              <a:ext uri="{FF2B5EF4-FFF2-40B4-BE49-F238E27FC236}">
                <a16:creationId xmlns:a16="http://schemas.microsoft.com/office/drawing/2014/main" id="{9925C802-A79E-1F9A-33AF-D1A36B1B5B84}"/>
              </a:ext>
            </a:extLst>
          </p:cNvPr>
          <p:cNvSpPr/>
          <p:nvPr/>
        </p:nvSpPr>
        <p:spPr>
          <a:xfrm>
            <a:off x="5304001" y="4494722"/>
            <a:ext cx="1584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Sub-system </a:t>
            </a:r>
            <a:r>
              <a:rPr lang="en-US" altLang="zh-CN" sz="1400" dirty="0">
                <a:solidFill>
                  <a:srgbClr val="FFFF00"/>
                </a:solidFill>
              </a:rPr>
              <a:t>1.2</a:t>
            </a:r>
            <a:endParaRPr lang="zh-CN" altLang="en-US" sz="1400" dirty="0">
              <a:solidFill>
                <a:srgbClr val="FFFF00"/>
              </a:solidFill>
            </a:endParaRPr>
          </a:p>
        </p:txBody>
      </p:sp>
      <p:sp>
        <p:nvSpPr>
          <p:cNvPr id="8" name="矩形 7">
            <a:extLst>
              <a:ext uri="{FF2B5EF4-FFF2-40B4-BE49-F238E27FC236}">
                <a16:creationId xmlns:a16="http://schemas.microsoft.com/office/drawing/2014/main" id="{F3B94F11-046A-44CF-1C66-52B33B34E1CA}"/>
              </a:ext>
            </a:extLst>
          </p:cNvPr>
          <p:cNvSpPr/>
          <p:nvPr/>
        </p:nvSpPr>
        <p:spPr>
          <a:xfrm>
            <a:off x="8776530" y="4489271"/>
            <a:ext cx="1584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Sub-system </a:t>
            </a:r>
            <a:r>
              <a:rPr lang="en-US" altLang="zh-CN" sz="1400" dirty="0">
                <a:solidFill>
                  <a:srgbClr val="FFFF00"/>
                </a:solidFill>
              </a:rPr>
              <a:t>1.3</a:t>
            </a:r>
            <a:endParaRPr lang="zh-CN" altLang="en-US" sz="1400" dirty="0">
              <a:solidFill>
                <a:srgbClr val="FFFF00"/>
              </a:solidFill>
            </a:endParaRPr>
          </a:p>
        </p:txBody>
      </p:sp>
      <p:sp>
        <p:nvSpPr>
          <p:cNvPr id="25" name="矩形 24">
            <a:extLst>
              <a:ext uri="{FF2B5EF4-FFF2-40B4-BE49-F238E27FC236}">
                <a16:creationId xmlns:a16="http://schemas.microsoft.com/office/drawing/2014/main" id="{3FA91D77-A18E-5E36-AD6F-CE3398977DD9}"/>
              </a:ext>
            </a:extLst>
          </p:cNvPr>
          <p:cNvSpPr/>
          <p:nvPr/>
        </p:nvSpPr>
        <p:spPr>
          <a:xfrm>
            <a:off x="604459"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1.1.1</a:t>
            </a:r>
            <a:endParaRPr lang="zh-CN" altLang="en-US" sz="1400" dirty="0">
              <a:solidFill>
                <a:srgbClr val="FFFF00"/>
              </a:solidFill>
            </a:endParaRPr>
          </a:p>
        </p:txBody>
      </p:sp>
      <p:sp>
        <p:nvSpPr>
          <p:cNvPr id="26" name="矩形 25">
            <a:extLst>
              <a:ext uri="{FF2B5EF4-FFF2-40B4-BE49-F238E27FC236}">
                <a16:creationId xmlns:a16="http://schemas.microsoft.com/office/drawing/2014/main" id="{51A6AB56-4198-3952-562F-A672C9169F61}"/>
              </a:ext>
            </a:extLst>
          </p:cNvPr>
          <p:cNvSpPr/>
          <p:nvPr/>
        </p:nvSpPr>
        <p:spPr>
          <a:xfrm>
            <a:off x="1993471"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1.1.2</a:t>
            </a:r>
            <a:endParaRPr lang="zh-CN" altLang="en-US" sz="1400" dirty="0">
              <a:solidFill>
                <a:srgbClr val="FFFF00"/>
              </a:solidFill>
            </a:endParaRPr>
          </a:p>
        </p:txBody>
      </p:sp>
      <p:sp>
        <p:nvSpPr>
          <p:cNvPr id="29" name="矩形 28">
            <a:extLst>
              <a:ext uri="{FF2B5EF4-FFF2-40B4-BE49-F238E27FC236}">
                <a16:creationId xmlns:a16="http://schemas.microsoft.com/office/drawing/2014/main" id="{746D7446-A9F1-484E-24EC-F381C90C36D0}"/>
              </a:ext>
            </a:extLst>
          </p:cNvPr>
          <p:cNvSpPr/>
          <p:nvPr/>
        </p:nvSpPr>
        <p:spPr>
          <a:xfrm>
            <a:off x="3382483"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1.1.3</a:t>
            </a:r>
            <a:endParaRPr lang="zh-CN" altLang="en-US" sz="1400" dirty="0">
              <a:solidFill>
                <a:srgbClr val="FFFF00"/>
              </a:solidFill>
            </a:endParaRPr>
          </a:p>
        </p:txBody>
      </p:sp>
      <p:sp>
        <p:nvSpPr>
          <p:cNvPr id="31" name="矩形 30">
            <a:extLst>
              <a:ext uri="{FF2B5EF4-FFF2-40B4-BE49-F238E27FC236}">
                <a16:creationId xmlns:a16="http://schemas.microsoft.com/office/drawing/2014/main" id="{BD32B9D6-B5DF-902A-B4C4-F42CEF2BD905}"/>
              </a:ext>
            </a:extLst>
          </p:cNvPr>
          <p:cNvSpPr/>
          <p:nvPr/>
        </p:nvSpPr>
        <p:spPr>
          <a:xfrm>
            <a:off x="4771495"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1.2.1</a:t>
            </a:r>
            <a:endParaRPr lang="zh-CN" altLang="en-US" sz="1400" dirty="0">
              <a:solidFill>
                <a:srgbClr val="FFFF00"/>
              </a:solidFill>
            </a:endParaRPr>
          </a:p>
        </p:txBody>
      </p:sp>
      <p:sp>
        <p:nvSpPr>
          <p:cNvPr id="35" name="矩形 34">
            <a:extLst>
              <a:ext uri="{FF2B5EF4-FFF2-40B4-BE49-F238E27FC236}">
                <a16:creationId xmlns:a16="http://schemas.microsoft.com/office/drawing/2014/main" id="{3B77AFBD-A295-986F-E851-A26C72D58020}"/>
              </a:ext>
            </a:extLst>
          </p:cNvPr>
          <p:cNvSpPr/>
          <p:nvPr/>
        </p:nvSpPr>
        <p:spPr>
          <a:xfrm>
            <a:off x="6160507"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1.2.2</a:t>
            </a:r>
            <a:endParaRPr lang="zh-CN" altLang="en-US" sz="1400" dirty="0">
              <a:solidFill>
                <a:srgbClr val="FFFF00"/>
              </a:solidFill>
            </a:endParaRPr>
          </a:p>
        </p:txBody>
      </p:sp>
      <p:sp>
        <p:nvSpPr>
          <p:cNvPr id="38" name="矩形 37">
            <a:extLst>
              <a:ext uri="{FF2B5EF4-FFF2-40B4-BE49-F238E27FC236}">
                <a16:creationId xmlns:a16="http://schemas.microsoft.com/office/drawing/2014/main" id="{78D0918E-C553-9B85-3EFB-F29B95FD9758}"/>
              </a:ext>
            </a:extLst>
          </p:cNvPr>
          <p:cNvSpPr/>
          <p:nvPr/>
        </p:nvSpPr>
        <p:spPr>
          <a:xfrm>
            <a:off x="7549519"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1.3.1</a:t>
            </a:r>
            <a:endParaRPr lang="zh-CN" altLang="en-US" sz="1400" dirty="0">
              <a:solidFill>
                <a:srgbClr val="FFFF00"/>
              </a:solidFill>
            </a:endParaRPr>
          </a:p>
        </p:txBody>
      </p:sp>
      <p:sp>
        <p:nvSpPr>
          <p:cNvPr id="39" name="矩形 38">
            <a:extLst>
              <a:ext uri="{FF2B5EF4-FFF2-40B4-BE49-F238E27FC236}">
                <a16:creationId xmlns:a16="http://schemas.microsoft.com/office/drawing/2014/main" id="{6CE60A99-3801-586A-8690-069BFD9CAC63}"/>
              </a:ext>
            </a:extLst>
          </p:cNvPr>
          <p:cNvSpPr/>
          <p:nvPr/>
        </p:nvSpPr>
        <p:spPr>
          <a:xfrm>
            <a:off x="8938531"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1.3.2</a:t>
            </a:r>
            <a:endParaRPr lang="zh-CN" altLang="en-US" sz="1400" dirty="0">
              <a:solidFill>
                <a:srgbClr val="FFFF00"/>
              </a:solidFill>
            </a:endParaRPr>
          </a:p>
        </p:txBody>
      </p:sp>
      <p:sp>
        <p:nvSpPr>
          <p:cNvPr id="40" name="矩形 39">
            <a:extLst>
              <a:ext uri="{FF2B5EF4-FFF2-40B4-BE49-F238E27FC236}">
                <a16:creationId xmlns:a16="http://schemas.microsoft.com/office/drawing/2014/main" id="{5B9B3F34-E7EC-0475-B573-6C3EEAADC33F}"/>
              </a:ext>
            </a:extLst>
          </p:cNvPr>
          <p:cNvSpPr/>
          <p:nvPr/>
        </p:nvSpPr>
        <p:spPr>
          <a:xfrm>
            <a:off x="10327541"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1.3.3</a:t>
            </a:r>
            <a:endParaRPr lang="zh-CN" altLang="en-US" sz="1400" dirty="0">
              <a:solidFill>
                <a:srgbClr val="FFFF00"/>
              </a:solidFill>
            </a:endParaRPr>
          </a:p>
        </p:txBody>
      </p:sp>
      <p:cxnSp>
        <p:nvCxnSpPr>
          <p:cNvPr id="42" name="连接符: 肘形 41">
            <a:extLst>
              <a:ext uri="{FF2B5EF4-FFF2-40B4-BE49-F238E27FC236}">
                <a16:creationId xmlns:a16="http://schemas.microsoft.com/office/drawing/2014/main" id="{86E53818-E905-DB23-13BB-E105E35C95DF}"/>
              </a:ext>
            </a:extLst>
          </p:cNvPr>
          <p:cNvCxnSpPr>
            <a:stCxn id="25" idx="0"/>
            <a:endCxn id="6" idx="2"/>
          </p:cNvCxnSpPr>
          <p:nvPr/>
        </p:nvCxnSpPr>
        <p:spPr>
          <a:xfrm rot="5400000" flipH="1" flipV="1">
            <a:off x="1581233" y="4574498"/>
            <a:ext cx="695465" cy="138901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4370C3FD-4D1C-608C-8718-21E7EEE87372}"/>
              </a:ext>
            </a:extLst>
          </p:cNvPr>
          <p:cNvCxnSpPr>
            <a:stCxn id="29" idx="0"/>
            <a:endCxn id="6" idx="2"/>
          </p:cNvCxnSpPr>
          <p:nvPr/>
        </p:nvCxnSpPr>
        <p:spPr>
          <a:xfrm rot="16200000" flipV="1">
            <a:off x="2970245" y="4574498"/>
            <a:ext cx="695465" cy="138901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F5FD153F-0D26-2B24-A430-8033C949BBDB}"/>
              </a:ext>
            </a:extLst>
          </p:cNvPr>
          <p:cNvCxnSpPr>
            <a:stCxn id="26" idx="0"/>
            <a:endCxn id="6" idx="2"/>
          </p:cNvCxnSpPr>
          <p:nvPr/>
        </p:nvCxnSpPr>
        <p:spPr>
          <a:xfrm flipV="1">
            <a:off x="2623471" y="4921271"/>
            <a:ext cx="0" cy="695465"/>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D558E296-38F1-5AA3-50AA-571A74E5D652}"/>
              </a:ext>
            </a:extLst>
          </p:cNvPr>
          <p:cNvCxnSpPr>
            <a:stCxn id="7" idx="2"/>
            <a:endCxn id="31" idx="0"/>
          </p:cNvCxnSpPr>
          <p:nvPr/>
        </p:nvCxnSpPr>
        <p:spPr>
          <a:xfrm rot="5400000">
            <a:off x="5403741" y="4924476"/>
            <a:ext cx="690014" cy="694506"/>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BFB94CF6-5BB5-DAB1-1430-3DB7A70B6B70}"/>
              </a:ext>
            </a:extLst>
          </p:cNvPr>
          <p:cNvCxnSpPr>
            <a:stCxn id="35" idx="0"/>
            <a:endCxn id="7" idx="2"/>
          </p:cNvCxnSpPr>
          <p:nvPr/>
        </p:nvCxnSpPr>
        <p:spPr>
          <a:xfrm rot="16200000" flipV="1">
            <a:off x="6098247" y="4924476"/>
            <a:ext cx="690014" cy="694506"/>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4" name="连接符: 肘形 53">
            <a:extLst>
              <a:ext uri="{FF2B5EF4-FFF2-40B4-BE49-F238E27FC236}">
                <a16:creationId xmlns:a16="http://schemas.microsoft.com/office/drawing/2014/main" id="{9BE8A740-16EA-05A6-9BD5-465026078A41}"/>
              </a:ext>
            </a:extLst>
          </p:cNvPr>
          <p:cNvCxnSpPr>
            <a:stCxn id="8" idx="2"/>
            <a:endCxn id="38" idx="0"/>
          </p:cNvCxnSpPr>
          <p:nvPr/>
        </p:nvCxnSpPr>
        <p:spPr>
          <a:xfrm rot="5400000">
            <a:off x="8526293" y="4574498"/>
            <a:ext cx="695465" cy="1389011"/>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6" name="连接符: 肘形 55">
            <a:extLst>
              <a:ext uri="{FF2B5EF4-FFF2-40B4-BE49-F238E27FC236}">
                <a16:creationId xmlns:a16="http://schemas.microsoft.com/office/drawing/2014/main" id="{284B358E-E75C-8C00-FA95-125C00898843}"/>
              </a:ext>
            </a:extLst>
          </p:cNvPr>
          <p:cNvCxnSpPr>
            <a:stCxn id="40" idx="0"/>
            <a:endCxn id="8" idx="2"/>
          </p:cNvCxnSpPr>
          <p:nvPr/>
        </p:nvCxnSpPr>
        <p:spPr>
          <a:xfrm rot="16200000" flipV="1">
            <a:off x="9915304" y="4574498"/>
            <a:ext cx="695465" cy="1389011"/>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A4C4E599-F8D8-F698-5560-265228F94BD3}"/>
              </a:ext>
            </a:extLst>
          </p:cNvPr>
          <p:cNvCxnSpPr>
            <a:stCxn id="39" idx="0"/>
            <a:endCxn id="8" idx="2"/>
          </p:cNvCxnSpPr>
          <p:nvPr/>
        </p:nvCxnSpPr>
        <p:spPr>
          <a:xfrm flipH="1" flipV="1">
            <a:off x="9568530" y="4921271"/>
            <a:ext cx="1" cy="695465"/>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7779C5-B4C2-1AC4-ECC7-8133B3A97F4B}"/>
              </a:ext>
            </a:extLst>
          </p:cNvPr>
          <p:cNvCxnSpPr>
            <a:stCxn id="2" idx="2"/>
            <a:endCxn id="7" idx="0"/>
          </p:cNvCxnSpPr>
          <p:nvPr/>
        </p:nvCxnSpPr>
        <p:spPr>
          <a:xfrm>
            <a:off x="6096001" y="3888884"/>
            <a:ext cx="0" cy="605838"/>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2" name="连接符: 肘形 61">
            <a:extLst>
              <a:ext uri="{FF2B5EF4-FFF2-40B4-BE49-F238E27FC236}">
                <a16:creationId xmlns:a16="http://schemas.microsoft.com/office/drawing/2014/main" id="{D8AD8577-E79D-B375-7629-AE91BF396781}"/>
              </a:ext>
            </a:extLst>
          </p:cNvPr>
          <p:cNvCxnSpPr>
            <a:stCxn id="6" idx="0"/>
            <a:endCxn id="2" idx="2"/>
          </p:cNvCxnSpPr>
          <p:nvPr/>
        </p:nvCxnSpPr>
        <p:spPr>
          <a:xfrm rot="5400000" flipH="1" flipV="1">
            <a:off x="4059543" y="2452813"/>
            <a:ext cx="600387" cy="3472530"/>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4" name="连接符: 肘形 63">
            <a:extLst>
              <a:ext uri="{FF2B5EF4-FFF2-40B4-BE49-F238E27FC236}">
                <a16:creationId xmlns:a16="http://schemas.microsoft.com/office/drawing/2014/main" id="{9963E1AA-5213-ADC0-8746-F13FF95DA092}"/>
              </a:ext>
            </a:extLst>
          </p:cNvPr>
          <p:cNvCxnSpPr>
            <a:stCxn id="8" idx="0"/>
            <a:endCxn id="2" idx="2"/>
          </p:cNvCxnSpPr>
          <p:nvPr/>
        </p:nvCxnSpPr>
        <p:spPr>
          <a:xfrm rot="16200000" flipV="1">
            <a:off x="7532073" y="2452813"/>
            <a:ext cx="600387" cy="3472529"/>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2362052"/>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2E65E-20A2-FFF4-9F1B-82FBDB76AD9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AC5DF0D-D19B-AB08-BF17-1B3314E897B0}"/>
              </a:ext>
            </a:extLst>
          </p:cNvPr>
          <p:cNvSpPr>
            <a:spLocks noGrp="1"/>
          </p:cNvSpPr>
          <p:nvPr>
            <p:ph type="title"/>
          </p:nvPr>
        </p:nvSpPr>
        <p:spPr>
          <a:xfrm>
            <a:off x="695998" y="360000"/>
            <a:ext cx="6375921" cy="429413"/>
          </a:xfrm>
        </p:spPr>
        <p:txBody>
          <a:bodyPr/>
          <a:lstStyle/>
          <a:p>
            <a:r>
              <a:rPr lang="en-US" altLang="zh-CN" dirty="0"/>
              <a:t>5.2 </a:t>
            </a:r>
            <a:r>
              <a:rPr lang="zh-CN" altLang="en-US" dirty="0"/>
              <a:t>任务分解形式</a:t>
            </a:r>
          </a:p>
        </p:txBody>
      </p:sp>
      <p:sp>
        <p:nvSpPr>
          <p:cNvPr id="4" name="内容占位符 3">
            <a:extLst>
              <a:ext uri="{FF2B5EF4-FFF2-40B4-BE49-F238E27FC236}">
                <a16:creationId xmlns:a16="http://schemas.microsoft.com/office/drawing/2014/main" id="{8C649B73-5F64-AD3E-4091-D7FB0DD6C3B3}"/>
              </a:ext>
            </a:extLst>
          </p:cNvPr>
          <p:cNvSpPr>
            <a:spLocks noGrp="1"/>
          </p:cNvSpPr>
          <p:nvPr>
            <p:ph idx="1"/>
          </p:nvPr>
        </p:nvSpPr>
        <p:spPr>
          <a:xfrm>
            <a:off x="696000" y="864000"/>
            <a:ext cx="10800000" cy="5400000"/>
          </a:xfrm>
        </p:spPr>
        <p:txBody>
          <a:bodyPr>
            <a:normAutofit/>
          </a:bodyPr>
          <a:lstStyle/>
          <a:p>
            <a:r>
              <a:rPr lang="zh-CN" altLang="en-US" dirty="0"/>
              <a:t>提纲式</a:t>
            </a:r>
            <a:endParaRPr lang="en-US" altLang="zh-CN" dirty="0"/>
          </a:p>
          <a:p>
            <a:pPr lvl="1"/>
            <a:r>
              <a:rPr lang="zh-CN" altLang="en-US" dirty="0"/>
              <a:t>清单式</a:t>
            </a:r>
            <a:endParaRPr lang="en-US" altLang="zh-CN" dirty="0"/>
          </a:p>
          <a:p>
            <a:pPr lvl="1"/>
            <a:r>
              <a:rPr lang="zh-CN" altLang="en-US" dirty="0"/>
              <a:t>目录式</a:t>
            </a:r>
            <a:endParaRPr lang="en-US" altLang="zh-CN" dirty="0"/>
          </a:p>
          <a:p>
            <a:pPr lvl="1"/>
            <a:r>
              <a:rPr lang="zh-CN" altLang="en-US" dirty="0"/>
              <a:t>以功能为单位</a:t>
            </a:r>
            <a:endParaRPr lang="en-US" altLang="zh-CN" dirty="0"/>
          </a:p>
          <a:p>
            <a:r>
              <a:rPr lang="zh-CN" altLang="en-US" dirty="0"/>
              <a:t>组织结构式</a:t>
            </a:r>
            <a:endParaRPr lang="en-US" altLang="zh-CN" dirty="0"/>
          </a:p>
          <a:p>
            <a:pPr lvl="1"/>
            <a:r>
              <a:rPr lang="zh-CN" altLang="en-US" dirty="0"/>
              <a:t>图表式</a:t>
            </a:r>
            <a:endParaRPr lang="en-US" altLang="zh-CN" dirty="0"/>
          </a:p>
          <a:p>
            <a:pPr lvl="1"/>
            <a:r>
              <a:rPr lang="zh-CN" altLang="en-US" dirty="0"/>
              <a:t>以组织为单位</a:t>
            </a:r>
            <a:endParaRPr lang="en-US" altLang="zh-CN" dirty="0"/>
          </a:p>
        </p:txBody>
      </p:sp>
      <p:sp>
        <p:nvSpPr>
          <p:cNvPr id="5" name="文本占位符 4">
            <a:extLst>
              <a:ext uri="{FF2B5EF4-FFF2-40B4-BE49-F238E27FC236}">
                <a16:creationId xmlns:a16="http://schemas.microsoft.com/office/drawing/2014/main" id="{649706B2-608E-1F7F-17F0-8152F171872B}"/>
              </a:ext>
            </a:extLst>
          </p:cNvPr>
          <p:cNvSpPr>
            <a:spLocks noGrp="1"/>
          </p:cNvSpPr>
          <p:nvPr>
            <p:ph type="body" sz="quarter" idx="10"/>
          </p:nvPr>
        </p:nvSpPr>
        <p:spPr>
          <a:xfrm>
            <a:off x="7071919" y="448519"/>
            <a:ext cx="4424080" cy="338554"/>
          </a:xfrm>
        </p:spPr>
        <p:txBody>
          <a:bodyPr/>
          <a:lstStyle/>
          <a:p>
            <a:r>
              <a:rPr lang="en-US" altLang="zh-CN"/>
              <a:t>Form/WBS</a:t>
            </a:r>
            <a:endParaRPr lang="zh-CN" altLang="en-US"/>
          </a:p>
        </p:txBody>
      </p:sp>
      <p:graphicFrame>
        <p:nvGraphicFramePr>
          <p:cNvPr id="6" name="表格 5">
            <a:extLst>
              <a:ext uri="{FF2B5EF4-FFF2-40B4-BE49-F238E27FC236}">
                <a16:creationId xmlns:a16="http://schemas.microsoft.com/office/drawing/2014/main" id="{B80B79C5-9B69-DBBE-868D-C347A96984D6}"/>
              </a:ext>
            </a:extLst>
          </p:cNvPr>
          <p:cNvGraphicFramePr>
            <a:graphicFrameLocks noGrp="1"/>
          </p:cNvGraphicFramePr>
          <p:nvPr>
            <p:extLst>
              <p:ext uri="{D42A27DB-BD31-4B8C-83A1-F6EECF244321}">
                <p14:modId xmlns:p14="http://schemas.microsoft.com/office/powerpoint/2010/main" val="3177544459"/>
              </p:ext>
            </p:extLst>
          </p:nvPr>
        </p:nvGraphicFramePr>
        <p:xfrm>
          <a:off x="6774426" y="3058160"/>
          <a:ext cx="3240000" cy="74168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792251297"/>
                    </a:ext>
                  </a:extLst>
                </a:gridCol>
                <a:gridCol w="2160000">
                  <a:extLst>
                    <a:ext uri="{9D8B030D-6E8A-4147-A177-3AD203B41FA5}">
                      <a16:colId xmlns:a16="http://schemas.microsoft.com/office/drawing/2014/main" val="3139008361"/>
                    </a:ext>
                  </a:extLst>
                </a:gridCol>
              </a:tblGrid>
              <a:tr h="370840">
                <a:tc>
                  <a:txBody>
                    <a:bodyPr/>
                    <a:lstStyle/>
                    <a:p>
                      <a:pPr algn="l"/>
                      <a:r>
                        <a:rPr lang="en-US" altLang="zh-CN" sz="1800" dirty="0">
                          <a:solidFill>
                            <a:schemeClr val="bg1"/>
                          </a:solidFill>
                        </a:rPr>
                        <a:t>[Word]</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dirty="0">
                          <a:solidFill>
                            <a:schemeClr val="bg1"/>
                          </a:solidFill>
                        </a:rPr>
                        <a:t>目录</a:t>
                      </a:r>
                      <a:endParaRPr lang="zh-CN" altLang="en-US"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65132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dirty="0">
                          <a:solidFill>
                            <a:schemeClr val="bg1"/>
                          </a:solidFill>
                        </a:rPr>
                        <a:t>[PPT]</a:t>
                      </a:r>
                      <a:endParaRPr lang="zh-CN" altLang="en-US"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dirty="0">
                          <a:solidFill>
                            <a:schemeClr val="bg1"/>
                          </a:solidFill>
                        </a:rPr>
                        <a:t>组织结构图</a:t>
                      </a:r>
                      <a:endParaRPr lang="zh-CN" altLang="en-US"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7798265"/>
                  </a:ext>
                </a:extLst>
              </a:tr>
            </a:tbl>
          </a:graphicData>
        </a:graphic>
      </p:graphicFrame>
    </p:spTree>
    <p:extLst>
      <p:ext uri="{BB962C8B-B14F-4D97-AF65-F5344CB8AC3E}">
        <p14:creationId xmlns:p14="http://schemas.microsoft.com/office/powerpoint/2010/main" val="210572173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44019-4749-CEBE-A752-EF02E103C00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AF315B5-8E6C-49FE-121E-CE694DC05DB8}"/>
              </a:ext>
            </a:extLst>
          </p:cNvPr>
          <p:cNvSpPr>
            <a:spLocks noGrp="1"/>
          </p:cNvSpPr>
          <p:nvPr>
            <p:ph type="title"/>
          </p:nvPr>
        </p:nvSpPr>
        <p:spPr>
          <a:xfrm>
            <a:off x="695998" y="360000"/>
            <a:ext cx="6375921" cy="429413"/>
          </a:xfrm>
        </p:spPr>
        <p:txBody>
          <a:bodyPr/>
          <a:lstStyle/>
          <a:p>
            <a:r>
              <a:rPr lang="en-US" altLang="zh-CN" dirty="0"/>
              <a:t>5.3 </a:t>
            </a:r>
            <a:r>
              <a:rPr lang="zh-CN" altLang="en-US" dirty="0"/>
              <a:t>字典</a:t>
            </a:r>
          </a:p>
        </p:txBody>
      </p:sp>
      <p:sp>
        <p:nvSpPr>
          <p:cNvPr id="4" name="内容占位符 3">
            <a:extLst>
              <a:ext uri="{FF2B5EF4-FFF2-40B4-BE49-F238E27FC236}">
                <a16:creationId xmlns:a16="http://schemas.microsoft.com/office/drawing/2014/main" id="{1370D71E-53FC-4010-7709-93DD0CCDFC9A}"/>
              </a:ext>
            </a:extLst>
          </p:cNvPr>
          <p:cNvSpPr>
            <a:spLocks noGrp="1"/>
          </p:cNvSpPr>
          <p:nvPr>
            <p:ph idx="1"/>
          </p:nvPr>
        </p:nvSpPr>
        <p:spPr>
          <a:xfrm>
            <a:off x="696000" y="864000"/>
            <a:ext cx="10800000" cy="5400000"/>
          </a:xfrm>
        </p:spPr>
        <p:txBody>
          <a:bodyPr>
            <a:normAutofit/>
          </a:bodyPr>
          <a:lstStyle/>
          <a:p>
            <a:r>
              <a:rPr lang="zh-CN" altLang="en-US" dirty="0"/>
              <a:t>字典 </a:t>
            </a:r>
            <a:r>
              <a:rPr lang="en-US" altLang="zh-CN" dirty="0"/>
              <a:t>WBS Dictionary</a:t>
            </a:r>
          </a:p>
          <a:p>
            <a:r>
              <a:rPr lang="zh-CN" altLang="en-US" dirty="0"/>
              <a:t>对 </a:t>
            </a:r>
            <a:r>
              <a:rPr lang="en-US" altLang="zh-CN" dirty="0"/>
              <a:t>WBS </a:t>
            </a:r>
            <a:r>
              <a:rPr lang="zh-CN" altLang="en-US" dirty="0"/>
              <a:t>中的每一个工作包进行详细的文字描述和定义，确保所有项目成员对“这项工作具体包含什么”有统一、清晰的理解</a:t>
            </a:r>
            <a:endParaRPr lang="en-US" altLang="zh-CN" dirty="0"/>
          </a:p>
          <a:p>
            <a:r>
              <a:rPr lang="zh-CN" altLang="en-US" dirty="0"/>
              <a:t>基本要素</a:t>
            </a:r>
            <a:endParaRPr lang="en-US" altLang="zh-CN" dirty="0"/>
          </a:p>
          <a:p>
            <a:pPr lvl="1"/>
            <a:r>
              <a:rPr lang="zh-CN" altLang="en-US" dirty="0"/>
              <a:t>编码： 对应 </a:t>
            </a:r>
            <a:r>
              <a:rPr lang="en-US" altLang="zh-CN" dirty="0"/>
              <a:t>WBS </a:t>
            </a:r>
            <a:r>
              <a:rPr lang="zh-CN" altLang="en-US" dirty="0"/>
              <a:t>图中的编号（如 </a:t>
            </a:r>
            <a:r>
              <a:rPr lang="en-US" altLang="zh-CN" dirty="0"/>
              <a:t>1.1, 1.2.3</a:t>
            </a:r>
            <a:r>
              <a:rPr lang="zh-CN" altLang="en-US" dirty="0"/>
              <a:t>），用于唯一标识该任务</a:t>
            </a:r>
          </a:p>
          <a:p>
            <a:pPr lvl="1"/>
            <a:r>
              <a:rPr lang="zh-CN" altLang="en-US" dirty="0"/>
              <a:t>工作包名称： 任务的简短标题</a:t>
            </a:r>
          </a:p>
          <a:p>
            <a:pPr lvl="1"/>
            <a:r>
              <a:rPr lang="zh-CN" altLang="en-US" dirty="0"/>
              <a:t>工作描述： 详细描述该工作包的具体内容、目标、需要执行的操作以及不包含的内容（界定范围边界）</a:t>
            </a:r>
          </a:p>
          <a:p>
            <a:pPr lvl="1"/>
            <a:r>
              <a:rPr lang="zh-CN" altLang="en-US" dirty="0"/>
              <a:t>负责人</a:t>
            </a:r>
            <a:r>
              <a:rPr lang="en-US" altLang="zh-CN" dirty="0"/>
              <a:t>/</a:t>
            </a:r>
            <a:r>
              <a:rPr lang="zh-CN" altLang="en-US" dirty="0"/>
              <a:t>责任部门： 指定谁负责执行这项工作（通常关联 </a:t>
            </a:r>
            <a:r>
              <a:rPr lang="en-US" altLang="zh-CN" dirty="0"/>
              <a:t>OBS </a:t>
            </a:r>
            <a:r>
              <a:rPr lang="zh-CN" altLang="en-US" dirty="0"/>
              <a:t>组织分解结构）</a:t>
            </a:r>
          </a:p>
          <a:p>
            <a:pPr lvl="1"/>
            <a:r>
              <a:rPr lang="zh-CN" altLang="en-US" dirty="0"/>
              <a:t>可交付成果： 这项工作完成后，需要提交的具体成果（如文档、产品、服务）</a:t>
            </a:r>
          </a:p>
          <a:p>
            <a:pPr lvl="1"/>
            <a:r>
              <a:rPr lang="zh-CN" altLang="en-US" dirty="0"/>
              <a:t>里程碑</a:t>
            </a:r>
            <a:r>
              <a:rPr lang="en-US" altLang="zh-CN" dirty="0"/>
              <a:t>/</a:t>
            </a:r>
            <a:r>
              <a:rPr lang="zh-CN" altLang="en-US" dirty="0"/>
              <a:t>进度要求： 开始和结束时间，或关键的检查节点</a:t>
            </a:r>
          </a:p>
          <a:p>
            <a:pPr lvl="1"/>
            <a:r>
              <a:rPr lang="zh-CN" altLang="en-US" dirty="0"/>
              <a:t>资源与成本预算： 完成该工作所需的人力、设备、材料以及预估的费用</a:t>
            </a:r>
          </a:p>
          <a:p>
            <a:pPr lvl="1"/>
            <a:r>
              <a:rPr lang="zh-CN" altLang="en-US" dirty="0"/>
              <a:t>质量标准： 验收该工作成果的具体标准或规范</a:t>
            </a:r>
          </a:p>
          <a:p>
            <a:pPr lvl="1"/>
            <a:r>
              <a:rPr lang="zh-CN" altLang="en-US" dirty="0"/>
              <a:t>依赖关系： 该任务开始前必须完成的前置任务</a:t>
            </a:r>
          </a:p>
          <a:p>
            <a:endParaRPr lang="en-US" altLang="zh-CN" dirty="0"/>
          </a:p>
        </p:txBody>
      </p:sp>
      <p:sp>
        <p:nvSpPr>
          <p:cNvPr id="5" name="文本占位符 4">
            <a:extLst>
              <a:ext uri="{FF2B5EF4-FFF2-40B4-BE49-F238E27FC236}">
                <a16:creationId xmlns:a16="http://schemas.microsoft.com/office/drawing/2014/main" id="{CD82E482-69EB-A1E9-EA16-28EEDE8AD70B}"/>
              </a:ext>
            </a:extLst>
          </p:cNvPr>
          <p:cNvSpPr>
            <a:spLocks noGrp="1"/>
          </p:cNvSpPr>
          <p:nvPr>
            <p:ph type="body" sz="quarter" idx="10"/>
          </p:nvPr>
        </p:nvSpPr>
        <p:spPr>
          <a:xfrm>
            <a:off x="7071919" y="448519"/>
            <a:ext cx="4424080" cy="338554"/>
          </a:xfrm>
        </p:spPr>
        <p:txBody>
          <a:bodyPr/>
          <a:lstStyle/>
          <a:p>
            <a:r>
              <a:rPr lang="en-US" altLang="zh-CN" dirty="0"/>
              <a:t>Dictionary /WBS</a:t>
            </a:r>
            <a:endParaRPr lang="zh-CN" altLang="en-US" dirty="0"/>
          </a:p>
        </p:txBody>
      </p:sp>
    </p:spTree>
    <p:extLst>
      <p:ext uri="{BB962C8B-B14F-4D97-AF65-F5344CB8AC3E}">
        <p14:creationId xmlns:p14="http://schemas.microsoft.com/office/powerpoint/2010/main" val="3051557196"/>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95F3AB8F-93E1-9F65-9B33-5A44DA533C12}"/>
              </a:ext>
            </a:extLst>
          </p:cNvPr>
          <p:cNvGraphicFramePr>
            <a:graphicFrameLocks noGrp="1"/>
          </p:cNvGraphicFramePr>
          <p:nvPr>
            <p:extLst>
              <p:ext uri="{D42A27DB-BD31-4B8C-83A1-F6EECF244321}">
                <p14:modId xmlns:p14="http://schemas.microsoft.com/office/powerpoint/2010/main" val="1032752110"/>
              </p:ext>
            </p:extLst>
          </p:nvPr>
        </p:nvGraphicFramePr>
        <p:xfrm>
          <a:off x="695325" y="1630680"/>
          <a:ext cx="10801350" cy="3596640"/>
        </p:xfrm>
        <a:graphic>
          <a:graphicData uri="http://schemas.openxmlformats.org/drawingml/2006/table">
            <a:tbl>
              <a:tblPr/>
              <a:tblGrid>
                <a:gridCol w="1241630">
                  <a:extLst>
                    <a:ext uri="{9D8B030D-6E8A-4147-A177-3AD203B41FA5}">
                      <a16:colId xmlns:a16="http://schemas.microsoft.com/office/drawing/2014/main" val="1475204953"/>
                    </a:ext>
                  </a:extLst>
                </a:gridCol>
                <a:gridCol w="9559720">
                  <a:extLst>
                    <a:ext uri="{9D8B030D-6E8A-4147-A177-3AD203B41FA5}">
                      <a16:colId xmlns:a16="http://schemas.microsoft.com/office/drawing/2014/main" val="2353530227"/>
                    </a:ext>
                  </a:extLst>
                </a:gridCol>
              </a:tblGrid>
              <a:tr h="0">
                <a:tc>
                  <a:txBody>
                    <a:bodyPr/>
                    <a:lstStyle/>
                    <a:p>
                      <a:pPr algn="l">
                        <a:buNone/>
                      </a:pPr>
                      <a:r>
                        <a:rPr lang="zh-CN" altLang="en-US" sz="1600" dirty="0">
                          <a:solidFill>
                            <a:schemeClr val="bg1"/>
                          </a:solidFill>
                        </a:rPr>
                        <a:t>属性</a:t>
                      </a:r>
                    </a:p>
                  </a:txBody>
                  <a:tcPr anchor="ctr">
                    <a:lnL>
                      <a:noFill/>
                    </a:lnL>
                    <a:lnR>
                      <a:noFill/>
                    </a:lnR>
                    <a:lnT>
                      <a:noFill/>
                    </a:lnT>
                    <a:lnB>
                      <a:noFill/>
                    </a:lnB>
                    <a:solidFill>
                      <a:schemeClr val="accent2"/>
                    </a:solidFill>
                  </a:tcPr>
                </a:tc>
                <a:tc>
                  <a:txBody>
                    <a:bodyPr/>
                    <a:lstStyle/>
                    <a:p>
                      <a:pPr algn="l">
                        <a:buNone/>
                      </a:pPr>
                      <a:r>
                        <a:rPr lang="zh-CN" altLang="en-US" sz="1600" dirty="0">
                          <a:solidFill>
                            <a:schemeClr val="bg1"/>
                          </a:solidFill>
                        </a:rPr>
                        <a:t>内容详情</a:t>
                      </a:r>
                    </a:p>
                  </a:txBody>
                  <a:tcPr anchor="ctr">
                    <a:lnL>
                      <a:noFill/>
                    </a:lnL>
                    <a:lnR>
                      <a:noFill/>
                    </a:lnR>
                    <a:lnT>
                      <a:noFill/>
                    </a:lnT>
                    <a:lnB>
                      <a:noFill/>
                    </a:lnB>
                    <a:solidFill>
                      <a:schemeClr val="accent2"/>
                    </a:solidFill>
                  </a:tcPr>
                </a:tc>
                <a:extLst>
                  <a:ext uri="{0D108BD9-81ED-4DB2-BD59-A6C34878D82A}">
                    <a16:rowId xmlns:a16="http://schemas.microsoft.com/office/drawing/2014/main" val="2925805395"/>
                  </a:ext>
                </a:extLst>
              </a:tr>
              <a:tr h="0">
                <a:tc>
                  <a:txBody>
                    <a:bodyPr/>
                    <a:lstStyle/>
                    <a:p>
                      <a:pPr algn="dist">
                        <a:buNone/>
                      </a:pPr>
                      <a:r>
                        <a:rPr lang="en-US" sz="1600" dirty="0">
                          <a:solidFill>
                            <a:schemeClr val="bg1"/>
                          </a:solidFill>
                        </a:rPr>
                        <a:t>WBS </a:t>
                      </a:r>
                      <a:r>
                        <a:rPr lang="zh-CN" altLang="en-US" sz="1600" dirty="0">
                          <a:solidFill>
                            <a:schemeClr val="bg1"/>
                          </a:solidFill>
                        </a:rPr>
                        <a:t>编码</a:t>
                      </a:r>
                    </a:p>
                  </a:txBody>
                  <a:tcPr anchor="ctr">
                    <a:lnL>
                      <a:noFill/>
                    </a:lnL>
                    <a:lnR>
                      <a:noFill/>
                    </a:lnR>
                    <a:lnT>
                      <a:noFill/>
                    </a:lnT>
                    <a:lnB>
                      <a:noFill/>
                    </a:lnB>
                    <a:noFill/>
                  </a:tcPr>
                </a:tc>
                <a:tc>
                  <a:txBody>
                    <a:bodyPr/>
                    <a:lstStyle/>
                    <a:p>
                      <a:pPr algn="l">
                        <a:buNone/>
                      </a:pPr>
                      <a:r>
                        <a:rPr lang="en-US" altLang="zh-CN" sz="1600">
                          <a:solidFill>
                            <a:schemeClr val="bg1"/>
                          </a:solidFill>
                        </a:rPr>
                        <a:t>1.2.3</a:t>
                      </a:r>
                    </a:p>
                  </a:txBody>
                  <a:tcPr anchor="ctr">
                    <a:lnL>
                      <a:noFill/>
                    </a:lnL>
                    <a:lnR>
                      <a:noFill/>
                    </a:lnR>
                    <a:lnT>
                      <a:noFill/>
                    </a:lnT>
                    <a:lnB>
                      <a:noFill/>
                    </a:lnB>
                    <a:noFill/>
                  </a:tcPr>
                </a:tc>
                <a:extLst>
                  <a:ext uri="{0D108BD9-81ED-4DB2-BD59-A6C34878D82A}">
                    <a16:rowId xmlns:a16="http://schemas.microsoft.com/office/drawing/2014/main" val="1982419140"/>
                  </a:ext>
                </a:extLst>
              </a:tr>
              <a:tr h="0">
                <a:tc>
                  <a:txBody>
                    <a:bodyPr/>
                    <a:lstStyle/>
                    <a:p>
                      <a:pPr algn="dist">
                        <a:buNone/>
                      </a:pPr>
                      <a:r>
                        <a:rPr lang="zh-CN" altLang="en-US" sz="1600" dirty="0">
                          <a:solidFill>
                            <a:schemeClr val="bg1"/>
                          </a:solidFill>
                        </a:rPr>
                        <a:t>工作包名称</a:t>
                      </a:r>
                    </a:p>
                  </a:txBody>
                  <a:tcPr anchor="ctr">
                    <a:lnL>
                      <a:noFill/>
                    </a:lnL>
                    <a:lnR>
                      <a:noFill/>
                    </a:lnR>
                    <a:lnT>
                      <a:noFill/>
                    </a:lnT>
                    <a:lnB>
                      <a:noFill/>
                    </a:lnB>
                    <a:noFill/>
                  </a:tcPr>
                </a:tc>
                <a:tc>
                  <a:txBody>
                    <a:bodyPr/>
                    <a:lstStyle/>
                    <a:p>
                      <a:pPr algn="l">
                        <a:buNone/>
                      </a:pPr>
                      <a:r>
                        <a:rPr lang="zh-CN" altLang="en-US" sz="1600">
                          <a:solidFill>
                            <a:schemeClr val="bg1"/>
                          </a:solidFill>
                        </a:rPr>
                        <a:t>酒水采购</a:t>
                      </a:r>
                    </a:p>
                  </a:txBody>
                  <a:tcPr anchor="ctr">
                    <a:lnL>
                      <a:noFill/>
                    </a:lnL>
                    <a:lnR>
                      <a:noFill/>
                    </a:lnR>
                    <a:lnT>
                      <a:noFill/>
                    </a:lnT>
                    <a:lnB>
                      <a:noFill/>
                    </a:lnB>
                    <a:noFill/>
                  </a:tcPr>
                </a:tc>
                <a:extLst>
                  <a:ext uri="{0D108BD9-81ED-4DB2-BD59-A6C34878D82A}">
                    <a16:rowId xmlns:a16="http://schemas.microsoft.com/office/drawing/2014/main" val="1570889918"/>
                  </a:ext>
                </a:extLst>
              </a:tr>
              <a:tr h="0">
                <a:tc>
                  <a:txBody>
                    <a:bodyPr/>
                    <a:lstStyle/>
                    <a:p>
                      <a:pPr algn="dist">
                        <a:buNone/>
                      </a:pPr>
                      <a:r>
                        <a:rPr lang="zh-CN" altLang="en-US" sz="1600" dirty="0">
                          <a:solidFill>
                            <a:schemeClr val="bg1"/>
                          </a:solidFill>
                        </a:rPr>
                        <a:t>负责人</a:t>
                      </a:r>
                    </a:p>
                  </a:txBody>
                  <a:tcPr anchor="ctr">
                    <a:lnL>
                      <a:noFill/>
                    </a:lnL>
                    <a:lnR>
                      <a:noFill/>
                    </a:lnR>
                    <a:lnT>
                      <a:noFill/>
                    </a:lnT>
                    <a:lnB>
                      <a:noFill/>
                    </a:lnB>
                    <a:noFill/>
                  </a:tcPr>
                </a:tc>
                <a:tc>
                  <a:txBody>
                    <a:bodyPr/>
                    <a:lstStyle/>
                    <a:p>
                      <a:pPr algn="l">
                        <a:buNone/>
                      </a:pPr>
                      <a:r>
                        <a:rPr lang="zh-CN" altLang="en-US" sz="1600" dirty="0">
                          <a:solidFill>
                            <a:schemeClr val="bg1"/>
                          </a:solidFill>
                        </a:rPr>
                        <a:t>李大力</a:t>
                      </a:r>
                    </a:p>
                  </a:txBody>
                  <a:tcPr anchor="ctr">
                    <a:lnL>
                      <a:noFill/>
                    </a:lnL>
                    <a:lnR>
                      <a:noFill/>
                    </a:lnR>
                    <a:lnT>
                      <a:noFill/>
                    </a:lnT>
                    <a:lnB>
                      <a:noFill/>
                    </a:lnB>
                    <a:noFill/>
                  </a:tcPr>
                </a:tc>
                <a:extLst>
                  <a:ext uri="{0D108BD9-81ED-4DB2-BD59-A6C34878D82A}">
                    <a16:rowId xmlns:a16="http://schemas.microsoft.com/office/drawing/2014/main" val="2691453756"/>
                  </a:ext>
                </a:extLst>
              </a:tr>
              <a:tr h="0">
                <a:tc>
                  <a:txBody>
                    <a:bodyPr/>
                    <a:lstStyle/>
                    <a:p>
                      <a:pPr algn="dist">
                        <a:buNone/>
                      </a:pPr>
                      <a:r>
                        <a:rPr lang="zh-CN" altLang="en-US" sz="1600" dirty="0">
                          <a:solidFill>
                            <a:schemeClr val="bg1"/>
                          </a:solidFill>
                        </a:rPr>
                        <a:t>工作描述</a:t>
                      </a:r>
                    </a:p>
                  </a:txBody>
                  <a:tcPr anchor="ctr">
                    <a:lnL>
                      <a:noFill/>
                    </a:lnL>
                    <a:lnR>
                      <a:noFill/>
                    </a:lnR>
                    <a:lnT>
                      <a:noFill/>
                    </a:lnT>
                    <a:lnB>
                      <a:noFill/>
                    </a:lnB>
                    <a:noFill/>
                  </a:tcPr>
                </a:tc>
                <a:tc>
                  <a:txBody>
                    <a:bodyPr/>
                    <a:lstStyle/>
                    <a:p>
                      <a:pPr algn="l">
                        <a:buNone/>
                      </a:pPr>
                      <a:r>
                        <a:rPr lang="zh-CN" altLang="en-US" sz="1600" dirty="0">
                          <a:solidFill>
                            <a:schemeClr val="bg1"/>
                          </a:solidFill>
                        </a:rPr>
                        <a:t>负责年会晚宴所需的所有酒水饮料的选择、购买、运输及现场摆放。包括红酒、白酒、果汁和矿泉水</a:t>
                      </a:r>
                    </a:p>
                  </a:txBody>
                  <a:tcPr anchor="ctr">
                    <a:lnL>
                      <a:noFill/>
                    </a:lnL>
                    <a:lnR>
                      <a:noFill/>
                    </a:lnR>
                    <a:lnT>
                      <a:noFill/>
                    </a:lnT>
                    <a:lnB>
                      <a:noFill/>
                    </a:lnB>
                    <a:noFill/>
                  </a:tcPr>
                </a:tc>
                <a:extLst>
                  <a:ext uri="{0D108BD9-81ED-4DB2-BD59-A6C34878D82A}">
                    <a16:rowId xmlns:a16="http://schemas.microsoft.com/office/drawing/2014/main" val="1184769081"/>
                  </a:ext>
                </a:extLst>
              </a:tr>
              <a:tr h="0">
                <a:tc>
                  <a:txBody>
                    <a:bodyPr/>
                    <a:lstStyle/>
                    <a:p>
                      <a:pPr algn="dist">
                        <a:buNone/>
                      </a:pPr>
                      <a:r>
                        <a:rPr lang="zh-CN" altLang="en-US" sz="1600" dirty="0">
                          <a:solidFill>
                            <a:schemeClr val="bg1"/>
                          </a:solidFill>
                        </a:rPr>
                        <a:t>可交付成果</a:t>
                      </a:r>
                    </a:p>
                  </a:txBody>
                  <a:tcPr anchor="ctr">
                    <a:lnL>
                      <a:noFill/>
                    </a:lnL>
                    <a:lnR>
                      <a:noFill/>
                    </a:lnR>
                    <a:lnT>
                      <a:noFill/>
                    </a:lnT>
                    <a:lnB>
                      <a:noFill/>
                    </a:lnB>
                    <a:noFill/>
                  </a:tcPr>
                </a:tc>
                <a:tc>
                  <a:txBody>
                    <a:bodyPr/>
                    <a:lstStyle/>
                    <a:p>
                      <a:pPr algn="l">
                        <a:buNone/>
                      </a:pPr>
                      <a:r>
                        <a:rPr lang="en-US" altLang="zh-CN" sz="1600">
                          <a:solidFill>
                            <a:schemeClr val="bg1"/>
                          </a:solidFill>
                        </a:rPr>
                        <a:t>1. </a:t>
                      </a:r>
                      <a:r>
                        <a:rPr lang="zh-CN" altLang="en-US" sz="1600">
                          <a:solidFill>
                            <a:schemeClr val="bg1"/>
                          </a:solidFill>
                        </a:rPr>
                        <a:t>采购清单确认表</a:t>
                      </a:r>
                      <a:br>
                        <a:rPr lang="zh-CN" altLang="en-US" sz="1600">
                          <a:solidFill>
                            <a:schemeClr val="bg1"/>
                          </a:solidFill>
                        </a:rPr>
                      </a:br>
                      <a:r>
                        <a:rPr lang="en-US" altLang="zh-CN" sz="1600">
                          <a:solidFill>
                            <a:schemeClr val="bg1"/>
                          </a:solidFill>
                        </a:rPr>
                        <a:t>2. </a:t>
                      </a:r>
                      <a:r>
                        <a:rPr lang="zh-CN" altLang="en-US" sz="1600">
                          <a:solidFill>
                            <a:schemeClr val="bg1"/>
                          </a:solidFill>
                        </a:rPr>
                        <a:t>实物酒水到位并摆放至餐桌</a:t>
                      </a:r>
                    </a:p>
                  </a:txBody>
                  <a:tcPr anchor="ctr">
                    <a:lnL>
                      <a:noFill/>
                    </a:lnL>
                    <a:lnR>
                      <a:noFill/>
                    </a:lnR>
                    <a:lnT>
                      <a:noFill/>
                    </a:lnT>
                    <a:lnB>
                      <a:noFill/>
                    </a:lnB>
                    <a:noFill/>
                  </a:tcPr>
                </a:tc>
                <a:extLst>
                  <a:ext uri="{0D108BD9-81ED-4DB2-BD59-A6C34878D82A}">
                    <a16:rowId xmlns:a16="http://schemas.microsoft.com/office/drawing/2014/main" val="710327469"/>
                  </a:ext>
                </a:extLst>
              </a:tr>
              <a:tr h="0">
                <a:tc>
                  <a:txBody>
                    <a:bodyPr/>
                    <a:lstStyle/>
                    <a:p>
                      <a:pPr algn="dist">
                        <a:buNone/>
                      </a:pPr>
                      <a:r>
                        <a:rPr lang="zh-CN" altLang="en-US" sz="1600" dirty="0">
                          <a:solidFill>
                            <a:schemeClr val="bg1"/>
                          </a:solidFill>
                        </a:rPr>
                        <a:t>前置任务</a:t>
                      </a:r>
                    </a:p>
                  </a:txBody>
                  <a:tcPr anchor="ctr">
                    <a:lnL>
                      <a:noFill/>
                    </a:lnL>
                    <a:lnR>
                      <a:noFill/>
                    </a:lnR>
                    <a:lnT>
                      <a:noFill/>
                    </a:lnT>
                    <a:lnB>
                      <a:noFill/>
                    </a:lnB>
                    <a:noFill/>
                  </a:tcPr>
                </a:tc>
                <a:tc>
                  <a:txBody>
                    <a:bodyPr/>
                    <a:lstStyle/>
                    <a:p>
                      <a:pPr algn="l">
                        <a:buNone/>
                      </a:pPr>
                      <a:r>
                        <a:rPr lang="en-US" altLang="zh-CN" sz="1600">
                          <a:solidFill>
                            <a:schemeClr val="bg1"/>
                          </a:solidFill>
                        </a:rPr>
                        <a:t>1.2.1 </a:t>
                      </a:r>
                      <a:r>
                        <a:rPr lang="zh-CN" altLang="en-US" sz="1600">
                          <a:solidFill>
                            <a:schemeClr val="bg1"/>
                          </a:solidFill>
                        </a:rPr>
                        <a:t>确定参会人数</a:t>
                      </a:r>
                    </a:p>
                  </a:txBody>
                  <a:tcPr anchor="ctr">
                    <a:lnL>
                      <a:noFill/>
                    </a:lnL>
                    <a:lnR>
                      <a:noFill/>
                    </a:lnR>
                    <a:lnT>
                      <a:noFill/>
                    </a:lnT>
                    <a:lnB>
                      <a:noFill/>
                    </a:lnB>
                    <a:noFill/>
                  </a:tcPr>
                </a:tc>
                <a:extLst>
                  <a:ext uri="{0D108BD9-81ED-4DB2-BD59-A6C34878D82A}">
                    <a16:rowId xmlns:a16="http://schemas.microsoft.com/office/drawing/2014/main" val="357349806"/>
                  </a:ext>
                </a:extLst>
              </a:tr>
              <a:tr h="0">
                <a:tc>
                  <a:txBody>
                    <a:bodyPr/>
                    <a:lstStyle/>
                    <a:p>
                      <a:pPr algn="dist">
                        <a:buNone/>
                      </a:pPr>
                      <a:r>
                        <a:rPr lang="zh-CN" altLang="en-US" sz="1600" dirty="0">
                          <a:solidFill>
                            <a:schemeClr val="bg1"/>
                          </a:solidFill>
                        </a:rPr>
                        <a:t>时间要求</a:t>
                      </a:r>
                    </a:p>
                  </a:txBody>
                  <a:tcPr anchor="ctr">
                    <a:lnL>
                      <a:noFill/>
                    </a:lnL>
                    <a:lnR>
                      <a:noFill/>
                    </a:lnR>
                    <a:lnT>
                      <a:noFill/>
                    </a:lnT>
                    <a:lnB>
                      <a:noFill/>
                    </a:lnB>
                    <a:noFill/>
                  </a:tcPr>
                </a:tc>
                <a:tc>
                  <a:txBody>
                    <a:bodyPr/>
                    <a:lstStyle/>
                    <a:p>
                      <a:pPr algn="l">
                        <a:buNone/>
                      </a:pPr>
                      <a:r>
                        <a:rPr lang="zh-CN" altLang="en-US" sz="1600">
                          <a:solidFill>
                            <a:schemeClr val="bg1"/>
                          </a:solidFill>
                        </a:rPr>
                        <a:t>必须在 </a:t>
                      </a:r>
                      <a:r>
                        <a:rPr lang="en-US" altLang="zh-CN" sz="1600">
                          <a:solidFill>
                            <a:schemeClr val="bg1"/>
                          </a:solidFill>
                        </a:rPr>
                        <a:t>12</a:t>
                      </a:r>
                      <a:r>
                        <a:rPr lang="zh-CN" altLang="en-US" sz="1600">
                          <a:solidFill>
                            <a:schemeClr val="bg1"/>
                          </a:solidFill>
                        </a:rPr>
                        <a:t>月</a:t>
                      </a:r>
                      <a:r>
                        <a:rPr lang="en-US" altLang="zh-CN" sz="1600">
                          <a:solidFill>
                            <a:schemeClr val="bg1"/>
                          </a:solidFill>
                        </a:rPr>
                        <a:t>25</a:t>
                      </a:r>
                      <a:r>
                        <a:rPr lang="zh-CN" altLang="en-US" sz="1600">
                          <a:solidFill>
                            <a:schemeClr val="bg1"/>
                          </a:solidFill>
                        </a:rPr>
                        <a:t>日 </a:t>
                      </a:r>
                      <a:r>
                        <a:rPr lang="en-US" altLang="zh-CN" sz="1600">
                          <a:solidFill>
                            <a:schemeClr val="bg1"/>
                          </a:solidFill>
                        </a:rPr>
                        <a:t>14:00 </a:t>
                      </a:r>
                      <a:r>
                        <a:rPr lang="zh-CN" altLang="en-US" sz="1600">
                          <a:solidFill>
                            <a:schemeClr val="bg1"/>
                          </a:solidFill>
                        </a:rPr>
                        <a:t>前 完成摆放</a:t>
                      </a:r>
                    </a:p>
                  </a:txBody>
                  <a:tcPr anchor="ctr">
                    <a:lnL>
                      <a:noFill/>
                    </a:lnL>
                    <a:lnR>
                      <a:noFill/>
                    </a:lnR>
                    <a:lnT>
                      <a:noFill/>
                    </a:lnT>
                    <a:lnB>
                      <a:noFill/>
                    </a:lnB>
                    <a:noFill/>
                  </a:tcPr>
                </a:tc>
                <a:extLst>
                  <a:ext uri="{0D108BD9-81ED-4DB2-BD59-A6C34878D82A}">
                    <a16:rowId xmlns:a16="http://schemas.microsoft.com/office/drawing/2014/main" val="1277118220"/>
                  </a:ext>
                </a:extLst>
              </a:tr>
              <a:tr h="0">
                <a:tc>
                  <a:txBody>
                    <a:bodyPr/>
                    <a:lstStyle/>
                    <a:p>
                      <a:pPr algn="dist">
                        <a:buNone/>
                      </a:pPr>
                      <a:r>
                        <a:rPr lang="zh-CN" altLang="en-US" sz="1600" dirty="0">
                          <a:solidFill>
                            <a:schemeClr val="bg1"/>
                          </a:solidFill>
                        </a:rPr>
                        <a:t>成本预算</a:t>
                      </a:r>
                    </a:p>
                  </a:txBody>
                  <a:tcPr anchor="ctr">
                    <a:lnL>
                      <a:noFill/>
                    </a:lnL>
                    <a:lnR>
                      <a:noFill/>
                    </a:lnR>
                    <a:lnT>
                      <a:noFill/>
                    </a:lnT>
                    <a:lnB>
                      <a:noFill/>
                    </a:lnB>
                    <a:noFill/>
                  </a:tcPr>
                </a:tc>
                <a:tc>
                  <a:txBody>
                    <a:bodyPr/>
                    <a:lstStyle/>
                    <a:p>
                      <a:pPr algn="l">
                        <a:buNone/>
                      </a:pPr>
                      <a:r>
                        <a:rPr lang="en-US" altLang="zh-CN" sz="1600">
                          <a:solidFill>
                            <a:schemeClr val="bg1"/>
                          </a:solidFill>
                        </a:rPr>
                        <a:t>2,000 - 2,500 </a:t>
                      </a:r>
                      <a:r>
                        <a:rPr lang="zh-CN" altLang="en-US" sz="1600">
                          <a:solidFill>
                            <a:schemeClr val="bg1"/>
                          </a:solidFill>
                        </a:rPr>
                        <a:t>元人民币</a:t>
                      </a:r>
                    </a:p>
                  </a:txBody>
                  <a:tcPr anchor="ctr">
                    <a:lnL>
                      <a:noFill/>
                    </a:lnL>
                    <a:lnR>
                      <a:noFill/>
                    </a:lnR>
                    <a:lnT>
                      <a:noFill/>
                    </a:lnT>
                    <a:lnB>
                      <a:noFill/>
                    </a:lnB>
                    <a:noFill/>
                  </a:tcPr>
                </a:tc>
                <a:extLst>
                  <a:ext uri="{0D108BD9-81ED-4DB2-BD59-A6C34878D82A}">
                    <a16:rowId xmlns:a16="http://schemas.microsoft.com/office/drawing/2014/main" val="277747770"/>
                  </a:ext>
                </a:extLst>
              </a:tr>
              <a:tr h="0">
                <a:tc>
                  <a:txBody>
                    <a:bodyPr/>
                    <a:lstStyle/>
                    <a:p>
                      <a:pPr algn="dist">
                        <a:buNone/>
                      </a:pPr>
                      <a:r>
                        <a:rPr lang="zh-CN" altLang="en-US" sz="1600" dirty="0">
                          <a:solidFill>
                            <a:schemeClr val="bg1"/>
                          </a:solidFill>
                        </a:rPr>
                        <a:t>质量</a:t>
                      </a:r>
                      <a:r>
                        <a:rPr lang="en-US" altLang="zh-CN" sz="1600" dirty="0">
                          <a:solidFill>
                            <a:schemeClr val="bg1"/>
                          </a:solidFill>
                        </a:rPr>
                        <a:t>/</a:t>
                      </a:r>
                      <a:r>
                        <a:rPr lang="zh-CN" altLang="en-US" sz="1600" dirty="0">
                          <a:solidFill>
                            <a:schemeClr val="bg1"/>
                          </a:solidFill>
                        </a:rPr>
                        <a:t>要求</a:t>
                      </a:r>
                    </a:p>
                  </a:txBody>
                  <a:tcPr anchor="ctr">
                    <a:lnL>
                      <a:noFill/>
                    </a:lnL>
                    <a:lnR>
                      <a:noFill/>
                    </a:lnR>
                    <a:lnT>
                      <a:noFill/>
                    </a:lnT>
                    <a:lnB>
                      <a:noFill/>
                    </a:lnB>
                    <a:noFill/>
                  </a:tcPr>
                </a:tc>
                <a:tc>
                  <a:txBody>
                    <a:bodyPr/>
                    <a:lstStyle/>
                    <a:p>
                      <a:pPr algn="l">
                        <a:buNone/>
                      </a:pPr>
                      <a:r>
                        <a:rPr lang="zh-CN" altLang="en-US" sz="1600" dirty="0">
                          <a:solidFill>
                            <a:schemeClr val="bg1"/>
                          </a:solidFill>
                        </a:rPr>
                        <a:t>必须从正规商超采购，保留发票，酒水品牌需符合公司档次</a:t>
                      </a:r>
                    </a:p>
                  </a:txBody>
                  <a:tcPr anchor="ctr">
                    <a:lnL>
                      <a:noFill/>
                    </a:lnL>
                    <a:lnR>
                      <a:noFill/>
                    </a:lnR>
                    <a:lnT>
                      <a:noFill/>
                    </a:lnT>
                    <a:lnB>
                      <a:noFill/>
                    </a:lnB>
                    <a:noFill/>
                  </a:tcPr>
                </a:tc>
                <a:extLst>
                  <a:ext uri="{0D108BD9-81ED-4DB2-BD59-A6C34878D82A}">
                    <a16:rowId xmlns:a16="http://schemas.microsoft.com/office/drawing/2014/main" val="475888182"/>
                  </a:ext>
                </a:extLst>
              </a:tr>
            </a:tbl>
          </a:graphicData>
        </a:graphic>
      </p:graphicFrame>
    </p:spTree>
    <p:extLst>
      <p:ext uri="{BB962C8B-B14F-4D97-AF65-F5344CB8AC3E}">
        <p14:creationId xmlns:p14="http://schemas.microsoft.com/office/powerpoint/2010/main" val="187711942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5.4.1 </a:t>
            </a:r>
            <a:r>
              <a:rPr lang="zh-CN" altLang="en-US" dirty="0"/>
              <a:t>模板参照</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太多模板可以借鉴了。。。</a:t>
            </a:r>
            <a:endParaRPr lang="en-US" altLang="zh-CN" dirty="0"/>
          </a:p>
          <a:p>
            <a:r>
              <a:rPr lang="zh-CN" altLang="en-US" dirty="0"/>
              <a:t>拿来主义</a:t>
            </a:r>
            <a:endParaRPr lang="en-US" altLang="zh-CN" dirty="0"/>
          </a:p>
          <a:p>
            <a:r>
              <a:rPr lang="zh-CN" altLang="en-US" dirty="0"/>
              <a:t>标准件</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Template Reference/Method/WBS</a:t>
            </a:r>
            <a:endParaRPr lang="zh-CN" altLang="en-US" dirty="0"/>
          </a:p>
        </p:txBody>
      </p:sp>
    </p:spTree>
    <p:extLst>
      <p:ext uri="{BB962C8B-B14F-4D97-AF65-F5344CB8AC3E}">
        <p14:creationId xmlns:p14="http://schemas.microsoft.com/office/powerpoint/2010/main" val="1213906035"/>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5.4.2 </a:t>
            </a:r>
            <a:r>
              <a:rPr lang="zh-CN" altLang="en-US" dirty="0"/>
              <a:t>类比</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举一反三</a:t>
            </a:r>
            <a:endParaRPr lang="en-US" altLang="zh-CN" dirty="0"/>
          </a:p>
          <a:p>
            <a:r>
              <a:rPr lang="zh-CN" altLang="en-US" dirty="0"/>
              <a:t>复用</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Analogous Estimating/Method/WBS</a:t>
            </a:r>
            <a:endParaRPr lang="zh-CN" altLang="en-US" dirty="0"/>
          </a:p>
        </p:txBody>
      </p:sp>
    </p:spTree>
    <p:extLst>
      <p:ext uri="{BB962C8B-B14F-4D97-AF65-F5344CB8AC3E}">
        <p14:creationId xmlns:p14="http://schemas.microsoft.com/office/powerpoint/2010/main" val="587185458"/>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5.4.3 </a:t>
            </a:r>
            <a:r>
              <a:rPr lang="zh-CN" altLang="en-US" dirty="0"/>
              <a:t>自上而下</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最传统、最常用的方法；逐层细化，直到任务变得具体、可执行</a:t>
            </a:r>
            <a:endParaRPr lang="en-US" altLang="zh-CN" dirty="0"/>
          </a:p>
          <a:p>
            <a:r>
              <a:rPr lang="zh-CN" altLang="en-US" dirty="0"/>
              <a:t>先宏观，后微观</a:t>
            </a:r>
          </a:p>
          <a:p>
            <a:r>
              <a:rPr lang="zh-CN" altLang="en-US" dirty="0"/>
              <a:t>操作流程</a:t>
            </a:r>
          </a:p>
          <a:p>
            <a:pPr lvl="1"/>
            <a:r>
              <a:rPr lang="zh-CN" altLang="en-US" dirty="0"/>
              <a:t>确定项目</a:t>
            </a:r>
            <a:r>
              <a:rPr lang="zh-CN" altLang="en-US" dirty="0">
                <a:solidFill>
                  <a:srgbClr val="FFFF00"/>
                </a:solidFill>
              </a:rPr>
              <a:t>总</a:t>
            </a:r>
            <a:r>
              <a:rPr lang="zh-CN" altLang="en-US" dirty="0"/>
              <a:t>目标</a:t>
            </a:r>
          </a:p>
          <a:p>
            <a:pPr lvl="1"/>
            <a:r>
              <a:rPr lang="zh-CN" altLang="en-US" dirty="0"/>
              <a:t>将总目标分解为几个主要的“可交付成果”或“主要阶段”</a:t>
            </a:r>
          </a:p>
          <a:p>
            <a:pPr lvl="1"/>
            <a:r>
              <a:rPr lang="zh-CN" altLang="en-US" dirty="0"/>
              <a:t>继续将主要阶段分解为子任务</a:t>
            </a:r>
          </a:p>
          <a:p>
            <a:pPr lvl="1"/>
            <a:r>
              <a:rPr lang="zh-CN" altLang="en-US" dirty="0"/>
              <a:t>直到分解到工作包（</a:t>
            </a:r>
            <a:r>
              <a:rPr lang="en-US" altLang="zh-CN" dirty="0"/>
              <a:t>Work Package</a:t>
            </a:r>
            <a:r>
              <a:rPr lang="zh-CN" altLang="en-US" dirty="0"/>
              <a:t>）级别，即一线员工可以执行的具体任务</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top to bottom/Method/WBS</a:t>
            </a:r>
            <a:endParaRPr lang="zh-CN" altLang="en-US" dirty="0"/>
          </a:p>
        </p:txBody>
      </p:sp>
    </p:spTree>
    <p:extLst>
      <p:ext uri="{BB962C8B-B14F-4D97-AF65-F5344CB8AC3E}">
        <p14:creationId xmlns:p14="http://schemas.microsoft.com/office/powerpoint/2010/main" val="1015130215"/>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5.4.4 </a:t>
            </a:r>
            <a:r>
              <a:rPr lang="zh-CN" altLang="en-US" dirty="0"/>
              <a:t>自下而上</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用于特定的复杂场景</a:t>
            </a:r>
          </a:p>
          <a:p>
            <a:r>
              <a:rPr lang="zh-CN" altLang="en-US" dirty="0"/>
              <a:t>不先考虑大局，而是先让团队成员列出所有能想到的具体任务，然后将这些任务归类、汇总，形成上层结构</a:t>
            </a:r>
          </a:p>
          <a:p>
            <a:r>
              <a:rPr lang="zh-CN" altLang="en-US" dirty="0"/>
              <a:t>核心逻辑</a:t>
            </a:r>
          </a:p>
          <a:p>
            <a:pPr lvl="1"/>
            <a:r>
              <a:rPr lang="zh-CN" altLang="en-US" dirty="0"/>
              <a:t>先细节，后整合</a:t>
            </a:r>
            <a:endParaRPr lang="en-US" altLang="zh-CN" dirty="0"/>
          </a:p>
          <a:p>
            <a:r>
              <a:rPr lang="zh-CN" altLang="en-US" dirty="0"/>
              <a:t>操作流程</a:t>
            </a:r>
          </a:p>
          <a:p>
            <a:pPr lvl="1"/>
            <a:r>
              <a:rPr lang="zh-CN" altLang="en-US" dirty="0"/>
              <a:t>召集团队成员（专家或一线人员）进行头脑风暴</a:t>
            </a:r>
          </a:p>
          <a:p>
            <a:pPr lvl="1"/>
            <a:r>
              <a:rPr lang="zh-CN" altLang="en-US" dirty="0"/>
              <a:t>每个人列出自己负责领域内需要做的所有具体工作（写在便利贴上）</a:t>
            </a:r>
          </a:p>
          <a:p>
            <a:pPr lvl="1"/>
            <a:r>
              <a:rPr lang="zh-CN" altLang="en-US" dirty="0"/>
              <a:t>将这些零散的任务进行归类、合并</a:t>
            </a:r>
          </a:p>
          <a:p>
            <a:pPr lvl="1"/>
            <a:r>
              <a:rPr lang="zh-CN" altLang="en-US" dirty="0"/>
              <a:t>逐层向上汇总，形成最终的 </a:t>
            </a:r>
            <a:r>
              <a:rPr lang="en-US" altLang="zh-CN" dirty="0"/>
              <a:t>WBS </a:t>
            </a:r>
            <a:r>
              <a:rPr lang="zh-CN" altLang="en-US" dirty="0"/>
              <a:t>层级</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bottom to top/Method/WBS</a:t>
            </a:r>
            <a:endParaRPr lang="zh-CN" altLang="en-US" dirty="0"/>
          </a:p>
        </p:txBody>
      </p:sp>
    </p:spTree>
    <p:extLst>
      <p:ext uri="{BB962C8B-B14F-4D97-AF65-F5344CB8AC3E}">
        <p14:creationId xmlns:p14="http://schemas.microsoft.com/office/powerpoint/2010/main" val="389942283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99035B-EA41-4F57-3E8C-7D552040632C}"/>
              </a:ext>
            </a:extLst>
          </p:cNvPr>
          <p:cNvSpPr>
            <a:spLocks noGrp="1"/>
          </p:cNvSpPr>
          <p:nvPr>
            <p:ph type="title"/>
          </p:nvPr>
        </p:nvSpPr>
        <p:spPr>
          <a:xfrm>
            <a:off x="695998" y="360000"/>
            <a:ext cx="6375921" cy="429413"/>
          </a:xfrm>
        </p:spPr>
        <p:txBody>
          <a:bodyPr/>
          <a:lstStyle/>
          <a:p>
            <a:r>
              <a:rPr lang="en-US" altLang="zh-CN" dirty="0"/>
              <a:t>5.5 </a:t>
            </a:r>
            <a:r>
              <a:rPr lang="zh-CN" altLang="en-US" dirty="0"/>
              <a:t>任务分解建议</a:t>
            </a:r>
          </a:p>
        </p:txBody>
      </p:sp>
      <p:sp>
        <p:nvSpPr>
          <p:cNvPr id="3" name="内容占位符 2">
            <a:extLst>
              <a:ext uri="{FF2B5EF4-FFF2-40B4-BE49-F238E27FC236}">
                <a16:creationId xmlns:a16="http://schemas.microsoft.com/office/drawing/2014/main" id="{64A585A7-FA92-DE6C-6F93-C290CE3A99FC}"/>
              </a:ext>
            </a:extLst>
          </p:cNvPr>
          <p:cNvSpPr>
            <a:spLocks noGrp="1"/>
          </p:cNvSpPr>
          <p:nvPr>
            <p:ph idx="1"/>
          </p:nvPr>
        </p:nvSpPr>
        <p:spPr>
          <a:xfrm>
            <a:off x="696000" y="864000"/>
            <a:ext cx="10800000" cy="5400000"/>
          </a:xfrm>
        </p:spPr>
        <p:txBody>
          <a:bodyPr/>
          <a:lstStyle/>
          <a:p>
            <a:r>
              <a:rPr lang="zh-CN" altLang="en-US" dirty="0"/>
              <a:t>最低层是可控的和可管理的，但是不必要</a:t>
            </a:r>
            <a:r>
              <a:rPr lang="zh-CN" altLang="en-US" dirty="0">
                <a:solidFill>
                  <a:srgbClr val="FFFF00"/>
                </a:solidFill>
              </a:rPr>
              <a:t>过细</a:t>
            </a:r>
            <a:endParaRPr lang="en-US" altLang="zh-CN" dirty="0">
              <a:solidFill>
                <a:srgbClr val="FFFF00"/>
              </a:solidFill>
            </a:endParaRPr>
          </a:p>
          <a:p>
            <a:r>
              <a:rPr lang="zh-CN" altLang="en-US" dirty="0"/>
              <a:t>每个 </a:t>
            </a:r>
            <a:r>
              <a:rPr lang="en-US" altLang="zh-CN" dirty="0"/>
              <a:t>Work package </a:t>
            </a:r>
            <a:r>
              <a:rPr lang="zh-CN" altLang="en-US" dirty="0"/>
              <a:t>必须有一个提交物</a:t>
            </a:r>
          </a:p>
          <a:p>
            <a:r>
              <a:rPr lang="zh-CN" altLang="en-US" dirty="0"/>
              <a:t>定义任务完成的标准</a:t>
            </a:r>
          </a:p>
          <a:p>
            <a:r>
              <a:rPr lang="zh-CN" altLang="en-US" dirty="0"/>
              <a:t>有利于责任分配</a:t>
            </a:r>
          </a:p>
          <a:p>
            <a:r>
              <a:rPr lang="zh-CN" altLang="en-US" dirty="0"/>
              <a:t>推荐任务分解到 </a:t>
            </a:r>
            <a:r>
              <a:rPr lang="en-US" altLang="zh-CN" dirty="0"/>
              <a:t>40 </a:t>
            </a:r>
            <a:r>
              <a:rPr lang="zh-CN" altLang="en-US" dirty="0"/>
              <a:t>小时以内，敏捷项目分解到</a:t>
            </a:r>
            <a:r>
              <a:rPr lang="zh-CN" altLang="en-US" dirty="0">
                <a:solidFill>
                  <a:srgbClr val="FFFF00"/>
                </a:solidFill>
              </a:rPr>
              <a:t>小时</a:t>
            </a:r>
            <a:endParaRPr lang="en-US" altLang="zh-CN" dirty="0">
              <a:solidFill>
                <a:srgbClr val="FFFF00"/>
              </a:solidFill>
            </a:endParaRPr>
          </a:p>
          <a:p>
            <a:endParaRPr lang="en-US" altLang="zh-CN" dirty="0"/>
          </a:p>
          <a:p>
            <a:endParaRPr lang="zh-CN" altLang="en-US" dirty="0"/>
          </a:p>
        </p:txBody>
      </p:sp>
      <p:sp>
        <p:nvSpPr>
          <p:cNvPr id="7" name="文本占位符 6">
            <a:extLst>
              <a:ext uri="{FF2B5EF4-FFF2-40B4-BE49-F238E27FC236}">
                <a16:creationId xmlns:a16="http://schemas.microsoft.com/office/drawing/2014/main" id="{DC37DB0D-33B4-244E-3758-FA7939B3C51A}"/>
              </a:ext>
            </a:extLst>
          </p:cNvPr>
          <p:cNvSpPr>
            <a:spLocks noGrp="1"/>
          </p:cNvSpPr>
          <p:nvPr>
            <p:ph type="body" sz="quarter" idx="10"/>
          </p:nvPr>
        </p:nvSpPr>
        <p:spPr>
          <a:xfrm>
            <a:off x="7071919" y="448519"/>
            <a:ext cx="4424080" cy="338554"/>
          </a:xfrm>
        </p:spPr>
        <p:txBody>
          <a:bodyPr/>
          <a:lstStyle/>
          <a:p>
            <a:r>
              <a:rPr lang="en-US" altLang="zh-CN"/>
              <a:t>Advice/WBS</a:t>
            </a:r>
            <a:endParaRPr lang="zh-CN" altLang="en-US"/>
          </a:p>
        </p:txBody>
      </p:sp>
    </p:spTree>
    <p:extLst>
      <p:ext uri="{BB962C8B-B14F-4D97-AF65-F5344CB8AC3E}">
        <p14:creationId xmlns:p14="http://schemas.microsoft.com/office/powerpoint/2010/main" val="3094243234"/>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CF4606-84B2-A62F-D87C-25A459CB72DD}"/>
              </a:ext>
            </a:extLst>
          </p:cNvPr>
          <p:cNvSpPr>
            <a:spLocks noGrp="1"/>
          </p:cNvSpPr>
          <p:nvPr>
            <p:ph type="title"/>
          </p:nvPr>
        </p:nvSpPr>
        <p:spPr>
          <a:xfrm>
            <a:off x="695998" y="360000"/>
            <a:ext cx="6375921" cy="429413"/>
          </a:xfrm>
        </p:spPr>
        <p:txBody>
          <a:bodyPr/>
          <a:lstStyle/>
          <a:p>
            <a:r>
              <a:rPr lang="en-US" altLang="zh-CN"/>
              <a:t>6. </a:t>
            </a:r>
            <a:r>
              <a:rPr lang="zh-CN" altLang="en-US"/>
              <a:t>敏捷任务分解</a:t>
            </a:r>
          </a:p>
        </p:txBody>
      </p:sp>
      <p:sp>
        <p:nvSpPr>
          <p:cNvPr id="6" name="内容占位符 5">
            <a:extLst>
              <a:ext uri="{FF2B5EF4-FFF2-40B4-BE49-F238E27FC236}">
                <a16:creationId xmlns:a16="http://schemas.microsoft.com/office/drawing/2014/main" id="{EC39176A-0456-D305-F467-063292FDEE15}"/>
              </a:ext>
            </a:extLst>
          </p:cNvPr>
          <p:cNvSpPr>
            <a:spLocks noGrp="1"/>
          </p:cNvSpPr>
          <p:nvPr>
            <p:ph idx="1"/>
          </p:nvPr>
        </p:nvSpPr>
        <p:spPr>
          <a:xfrm>
            <a:off x="695325" y="863600"/>
            <a:ext cx="10801350" cy="5400675"/>
          </a:xfrm>
        </p:spPr>
        <p:txBody>
          <a:bodyPr/>
          <a:lstStyle/>
          <a:p>
            <a:r>
              <a:rPr lang="zh-CN" altLang="en-US"/>
              <a:t>基于用户故事 </a:t>
            </a:r>
            <a:r>
              <a:rPr lang="en-US" altLang="zh-CN"/>
              <a:t>User Story</a:t>
            </a:r>
            <a:r>
              <a:rPr lang="zh-CN" altLang="en-US"/>
              <a:t> 分解为具体的任务 </a:t>
            </a:r>
            <a:r>
              <a:rPr lang="en-US" altLang="zh-CN"/>
              <a:t>Task</a:t>
            </a:r>
          </a:p>
          <a:p>
            <a:r>
              <a:rPr lang="zh-CN" altLang="en-US"/>
              <a:t>是冲刺计划会议 </a:t>
            </a:r>
            <a:r>
              <a:rPr lang="en-US" altLang="zh-CN"/>
              <a:t>Sprint Planning</a:t>
            </a:r>
            <a:r>
              <a:rPr lang="zh-CN" altLang="en-US"/>
              <a:t> 中的关键环节</a:t>
            </a:r>
            <a:endParaRPr lang="en-US" altLang="zh-CN"/>
          </a:p>
          <a:p>
            <a:r>
              <a:rPr lang="zh-CN" altLang="en-US"/>
              <a:t>有助于团队估算工作量、分配责任并跟踪进度</a:t>
            </a:r>
            <a:endParaRPr lang="en-US" altLang="zh-CN"/>
          </a:p>
          <a:p>
            <a:pPr lvl="1"/>
            <a:r>
              <a:rPr lang="zh-CN" altLang="en-US"/>
              <a:t>好的拆分 </a:t>
            </a:r>
            <a:r>
              <a:rPr lang="en-US" altLang="zh-CN"/>
              <a:t>= </a:t>
            </a:r>
            <a:r>
              <a:rPr lang="zh-CN" altLang="en-US"/>
              <a:t>按用户行为</a:t>
            </a:r>
            <a:r>
              <a:rPr lang="en-US" altLang="zh-CN"/>
              <a:t>/</a:t>
            </a:r>
            <a:r>
              <a:rPr lang="zh-CN" altLang="en-US"/>
              <a:t>功能模块划分</a:t>
            </a:r>
          </a:p>
          <a:p>
            <a:pPr lvl="1"/>
            <a:r>
              <a:rPr lang="zh-CN" altLang="en-US"/>
              <a:t>每个故事应聚焦单一价值点</a:t>
            </a:r>
          </a:p>
          <a:p>
            <a:pPr lvl="1"/>
            <a:r>
              <a:rPr lang="zh-CN" altLang="en-US"/>
              <a:t>优先交付核心功能，再逐步增强体验</a:t>
            </a:r>
          </a:p>
          <a:p>
            <a:pPr lvl="1"/>
            <a:r>
              <a:rPr lang="zh-CN" altLang="en-US"/>
              <a:t>确保每个故事都满足 </a:t>
            </a:r>
            <a:r>
              <a:rPr lang="en-US" altLang="zh-CN">
                <a:solidFill>
                  <a:srgbClr val="FFFF00"/>
                </a:solidFill>
              </a:rPr>
              <a:t>INVEST</a:t>
            </a:r>
            <a:r>
              <a:rPr lang="en-US" altLang="zh-CN"/>
              <a:t> </a:t>
            </a:r>
            <a:r>
              <a:rPr lang="zh-CN" altLang="en-US"/>
              <a:t>原则</a:t>
            </a:r>
          </a:p>
          <a:p>
            <a:endParaRPr lang="zh-CN" altLang="en-US"/>
          </a:p>
        </p:txBody>
      </p:sp>
      <p:sp>
        <p:nvSpPr>
          <p:cNvPr id="64" name="文本占位符 63">
            <a:extLst>
              <a:ext uri="{FF2B5EF4-FFF2-40B4-BE49-F238E27FC236}">
                <a16:creationId xmlns:a16="http://schemas.microsoft.com/office/drawing/2014/main" id="{E174A86F-24B5-CA11-6ABB-DCCD47E14814}"/>
              </a:ext>
            </a:extLst>
          </p:cNvPr>
          <p:cNvSpPr>
            <a:spLocks noGrp="1"/>
          </p:cNvSpPr>
          <p:nvPr>
            <p:ph type="body" sz="quarter" idx="10"/>
          </p:nvPr>
        </p:nvSpPr>
        <p:spPr/>
        <p:txBody>
          <a:bodyPr/>
          <a:lstStyle/>
          <a:p>
            <a:r>
              <a:rPr lang="en-US" altLang="zh-CN"/>
              <a:t>Scrum/WBS</a:t>
            </a:r>
            <a:endParaRPr lang="zh-CN" altLang="en-US"/>
          </a:p>
        </p:txBody>
      </p:sp>
      <p:grpSp>
        <p:nvGrpSpPr>
          <p:cNvPr id="65" name="组合 64">
            <a:extLst>
              <a:ext uri="{FF2B5EF4-FFF2-40B4-BE49-F238E27FC236}">
                <a16:creationId xmlns:a16="http://schemas.microsoft.com/office/drawing/2014/main" id="{FCBE929B-6BEE-A0E4-5DD6-82A8DA1F8688}"/>
              </a:ext>
            </a:extLst>
          </p:cNvPr>
          <p:cNvGrpSpPr/>
          <p:nvPr/>
        </p:nvGrpSpPr>
        <p:grpSpPr>
          <a:xfrm>
            <a:off x="3052378" y="3685583"/>
            <a:ext cx="6087244" cy="2578692"/>
            <a:chOff x="2804621" y="3322278"/>
            <a:chExt cx="6087244" cy="2578692"/>
          </a:xfrm>
        </p:grpSpPr>
        <p:sp>
          <p:nvSpPr>
            <p:cNvPr id="40" name="矩形: 圆角 4">
              <a:extLst>
                <a:ext uri="{FF2B5EF4-FFF2-40B4-BE49-F238E27FC236}">
                  <a16:creationId xmlns:a16="http://schemas.microsoft.com/office/drawing/2014/main" id="{7E85806B-31B2-6579-0B88-5775303669F8}"/>
                </a:ext>
              </a:extLst>
            </p:cNvPr>
            <p:cNvSpPr txBox="1"/>
            <p:nvPr/>
          </p:nvSpPr>
          <p:spPr>
            <a:xfrm>
              <a:off x="5791017" y="4768004"/>
              <a:ext cx="1607651" cy="410104"/>
            </a:xfrm>
            <a:prstGeom prst="roundRect">
              <a:avLst/>
            </a:prstGeom>
            <a:solidFill>
              <a:schemeClr val="accent4"/>
            </a:solidFill>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User story</a:t>
              </a:r>
              <a:endParaRPr lang="zh-CN" altLang="en-US" sz="1600" kern="1200"/>
            </a:p>
          </p:txBody>
        </p:sp>
        <p:sp>
          <p:nvSpPr>
            <p:cNvPr id="22" name="矩形: 圆角 4">
              <a:extLst>
                <a:ext uri="{FF2B5EF4-FFF2-40B4-BE49-F238E27FC236}">
                  <a16:creationId xmlns:a16="http://schemas.microsoft.com/office/drawing/2014/main" id="{BAB167AB-C758-6BD6-9600-7FDD14B40557}"/>
                </a:ext>
              </a:extLst>
            </p:cNvPr>
            <p:cNvSpPr txBox="1"/>
            <p:nvPr/>
          </p:nvSpPr>
          <p:spPr>
            <a:xfrm>
              <a:off x="2804621" y="3322278"/>
              <a:ext cx="1607651" cy="410104"/>
            </a:xfrm>
            <a:prstGeom prst="roundRect">
              <a:avLst/>
            </a:prstGeom>
            <a:solidFill>
              <a:schemeClr val="accent2"/>
            </a:solidFill>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Epic</a:t>
              </a:r>
              <a:endParaRPr lang="zh-CN" altLang="en-US" sz="1600" kern="1200"/>
            </a:p>
          </p:txBody>
        </p:sp>
        <p:sp>
          <p:nvSpPr>
            <p:cNvPr id="25" name="矩形: 圆角 4">
              <a:extLst>
                <a:ext uri="{FF2B5EF4-FFF2-40B4-BE49-F238E27FC236}">
                  <a16:creationId xmlns:a16="http://schemas.microsoft.com/office/drawing/2014/main" id="{314379CE-358D-C64E-52CC-C561DADC8B2B}"/>
                </a:ext>
              </a:extLst>
            </p:cNvPr>
            <p:cNvSpPr txBox="1"/>
            <p:nvPr/>
          </p:nvSpPr>
          <p:spPr>
            <a:xfrm>
              <a:off x="4297819" y="4045141"/>
              <a:ext cx="1607651" cy="410104"/>
            </a:xfrm>
            <a:prstGeom prst="roundRect">
              <a:avLst/>
            </a:prstGeom>
            <a:solidFill>
              <a:schemeClr val="accent5"/>
            </a:solidFill>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Feature</a:t>
              </a:r>
              <a:endParaRPr lang="zh-CN" altLang="en-US" sz="1600" kern="1200"/>
            </a:p>
          </p:txBody>
        </p:sp>
        <p:sp>
          <p:nvSpPr>
            <p:cNvPr id="41" name="矩形: 圆角 4">
              <a:extLst>
                <a:ext uri="{FF2B5EF4-FFF2-40B4-BE49-F238E27FC236}">
                  <a16:creationId xmlns:a16="http://schemas.microsoft.com/office/drawing/2014/main" id="{2EDBC58B-AEA9-EB0B-B022-ABCA275DB65B}"/>
                </a:ext>
              </a:extLst>
            </p:cNvPr>
            <p:cNvSpPr txBox="1"/>
            <p:nvPr/>
          </p:nvSpPr>
          <p:spPr>
            <a:xfrm>
              <a:off x="7284214" y="5490866"/>
              <a:ext cx="1607651" cy="410104"/>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Task</a:t>
              </a:r>
              <a:endParaRPr lang="zh-CN" altLang="en-US" sz="1600" kern="1200"/>
            </a:p>
          </p:txBody>
        </p:sp>
        <p:cxnSp>
          <p:nvCxnSpPr>
            <p:cNvPr id="42" name="连接符: 肘形 41">
              <a:extLst>
                <a:ext uri="{FF2B5EF4-FFF2-40B4-BE49-F238E27FC236}">
                  <a16:creationId xmlns:a16="http://schemas.microsoft.com/office/drawing/2014/main" id="{49E28BC4-4B9F-0075-D637-784AF9E68682}"/>
                </a:ext>
              </a:extLst>
            </p:cNvPr>
            <p:cNvCxnSpPr>
              <a:cxnSpLocks/>
            </p:cNvCxnSpPr>
            <p:nvPr/>
          </p:nvCxnSpPr>
          <p:spPr>
            <a:xfrm rot="16200000" flipH="1">
              <a:off x="3694228" y="3646601"/>
              <a:ext cx="517811" cy="689372"/>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2D922A08-7D85-4507-AC8C-3ECA68D14465}"/>
                </a:ext>
              </a:extLst>
            </p:cNvPr>
            <p:cNvCxnSpPr>
              <a:cxnSpLocks/>
            </p:cNvCxnSpPr>
            <p:nvPr/>
          </p:nvCxnSpPr>
          <p:spPr>
            <a:xfrm rot="16200000" flipH="1">
              <a:off x="6680623" y="5092327"/>
              <a:ext cx="517810" cy="689371"/>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7F711B3C-3E69-B579-1B8D-BADA43105AD1}"/>
                </a:ext>
              </a:extLst>
            </p:cNvPr>
            <p:cNvCxnSpPr>
              <a:cxnSpLocks/>
            </p:cNvCxnSpPr>
            <p:nvPr/>
          </p:nvCxnSpPr>
          <p:spPr>
            <a:xfrm rot="16200000" flipH="1">
              <a:off x="5187426" y="4369464"/>
              <a:ext cx="517811" cy="689372"/>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55244958"/>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605DD-E8BC-0F42-4A3A-8EA035C189C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98645D-956F-140A-9DAE-C2A728820EDA}"/>
              </a:ext>
            </a:extLst>
          </p:cNvPr>
          <p:cNvSpPr>
            <a:spLocks noGrp="1"/>
          </p:cNvSpPr>
          <p:nvPr>
            <p:ph type="title"/>
          </p:nvPr>
        </p:nvSpPr>
        <p:spPr>
          <a:xfrm>
            <a:off x="695998" y="360000"/>
            <a:ext cx="6375921" cy="429413"/>
          </a:xfrm>
        </p:spPr>
        <p:txBody>
          <a:bodyPr/>
          <a:lstStyle/>
          <a:p>
            <a:r>
              <a:rPr lang="zh-CN" altLang="en-US" dirty="0"/>
              <a:t>史诗</a:t>
            </a:r>
          </a:p>
        </p:txBody>
      </p:sp>
      <p:sp>
        <p:nvSpPr>
          <p:cNvPr id="6" name="内容占位符 5">
            <a:extLst>
              <a:ext uri="{FF2B5EF4-FFF2-40B4-BE49-F238E27FC236}">
                <a16:creationId xmlns:a16="http://schemas.microsoft.com/office/drawing/2014/main" id="{1876C3D2-C21B-E10B-0D3A-16351660AEE1}"/>
              </a:ext>
            </a:extLst>
          </p:cNvPr>
          <p:cNvSpPr>
            <a:spLocks noGrp="1"/>
          </p:cNvSpPr>
          <p:nvPr>
            <p:ph idx="1"/>
          </p:nvPr>
        </p:nvSpPr>
        <p:spPr>
          <a:xfrm>
            <a:off x="696000" y="864000"/>
            <a:ext cx="10800000" cy="5400000"/>
          </a:xfrm>
        </p:spPr>
        <p:txBody>
          <a:bodyPr/>
          <a:lstStyle/>
          <a:p>
            <a:r>
              <a:rPr lang="zh-CN" altLang="en-US" dirty="0"/>
              <a:t>通常是战略级目标，可能跨越数月、多个团队、多个发布版本</a:t>
            </a:r>
            <a:endParaRPr lang="en-US" altLang="zh-CN" dirty="0"/>
          </a:p>
          <a:p>
            <a:pPr lvl="1"/>
            <a:r>
              <a:rPr lang="en-US" altLang="zh-CN" dirty="0"/>
              <a:t>User stories is that they can be written at varying levels of detail.</a:t>
            </a:r>
          </a:p>
          <a:p>
            <a:pPr lvl="1"/>
            <a:r>
              <a:rPr lang="en-US" altLang="zh-CN" dirty="0"/>
              <a:t>Large user stories are generally known as epics.</a:t>
            </a:r>
          </a:p>
          <a:p>
            <a:pPr lvl="1"/>
            <a:r>
              <a:rPr lang="en-US" altLang="zh-CN" dirty="0"/>
              <a:t>Because an epic is generally too large for an agile team to complete in one iteration, it is split into multiple smaller user stories before it is worked on.</a:t>
            </a:r>
          </a:p>
        </p:txBody>
      </p:sp>
      <p:sp>
        <p:nvSpPr>
          <p:cNvPr id="7" name="文本占位符 6">
            <a:extLst>
              <a:ext uri="{FF2B5EF4-FFF2-40B4-BE49-F238E27FC236}">
                <a16:creationId xmlns:a16="http://schemas.microsoft.com/office/drawing/2014/main" id="{6D8768F3-92AD-47C7-DACD-DE3ADC339F4D}"/>
              </a:ext>
            </a:extLst>
          </p:cNvPr>
          <p:cNvSpPr>
            <a:spLocks noGrp="1"/>
          </p:cNvSpPr>
          <p:nvPr>
            <p:ph type="body" sz="quarter" idx="10"/>
          </p:nvPr>
        </p:nvSpPr>
        <p:spPr>
          <a:xfrm>
            <a:off x="7071919" y="448519"/>
            <a:ext cx="4424080" cy="338554"/>
          </a:xfrm>
        </p:spPr>
        <p:txBody>
          <a:bodyPr/>
          <a:lstStyle/>
          <a:p>
            <a:r>
              <a:rPr lang="en-US" altLang="zh-CN" dirty="0"/>
              <a:t>Epics</a:t>
            </a:r>
            <a:endParaRPr lang="zh-CN" altLang="en-US" dirty="0"/>
          </a:p>
        </p:txBody>
      </p:sp>
    </p:spTree>
    <p:extLst>
      <p:ext uri="{BB962C8B-B14F-4D97-AF65-F5344CB8AC3E}">
        <p14:creationId xmlns:p14="http://schemas.microsoft.com/office/powerpoint/2010/main" val="615178240"/>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a:extLst>
              <a:ext uri="{FF2B5EF4-FFF2-40B4-BE49-F238E27FC236}">
                <a16:creationId xmlns:a16="http://schemas.microsoft.com/office/drawing/2014/main" id="{8DF49E8C-5505-3F46-F6CC-92E46AF057EC}"/>
              </a:ext>
            </a:extLst>
          </p:cNvPr>
          <p:cNvSpPr txBox="1"/>
          <p:nvPr/>
        </p:nvSpPr>
        <p:spPr>
          <a:xfrm>
            <a:off x="695998" y="2690336"/>
            <a:ext cx="10800001" cy="1477328"/>
          </a:xfrm>
          <a:prstGeom prst="rect">
            <a:avLst/>
          </a:prstGeom>
          <a:noFill/>
        </p:spPr>
        <p:txBody>
          <a:bodyPr wrap="square" rtlCol="0">
            <a:spAutoFit/>
          </a:bodyPr>
          <a:lstStyle/>
          <a:p>
            <a:r>
              <a:rPr lang="en-US" altLang="zh-CN" dirty="0">
                <a:solidFill>
                  <a:srgbClr val="FFFF00"/>
                </a:solidFill>
              </a:rPr>
              <a:t>Epic</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to be able to save favorites on my mobile weather application</a:t>
            </a:r>
            <a:br>
              <a:rPr lang="en-US" altLang="zh-CN" dirty="0">
                <a:solidFill>
                  <a:schemeClr val="bg1"/>
                </a:solidFill>
              </a:rPr>
            </a:br>
            <a:r>
              <a:rPr lang="en-US" altLang="zh-CN" dirty="0">
                <a:solidFill>
                  <a:schemeClr val="bg1"/>
                </a:solidFill>
              </a:rPr>
              <a:t>so that I can choose from a finite drop-down list to easily locate the weather in the destination I am travelling to.</a:t>
            </a:r>
          </a:p>
        </p:txBody>
      </p:sp>
    </p:spTree>
    <p:extLst>
      <p:ext uri="{BB962C8B-B14F-4D97-AF65-F5344CB8AC3E}">
        <p14:creationId xmlns:p14="http://schemas.microsoft.com/office/powerpoint/2010/main" val="3952024898"/>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B07BC-8F3A-B8FE-9660-C2DEF4ACD488}"/>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8F4012F9-F9B7-93D3-DD3C-E483DFBC0612}"/>
              </a:ext>
            </a:extLst>
          </p:cNvPr>
          <p:cNvSpPr txBox="1"/>
          <p:nvPr/>
        </p:nvSpPr>
        <p:spPr>
          <a:xfrm>
            <a:off x="695998" y="602222"/>
            <a:ext cx="10800001" cy="1200329"/>
          </a:xfrm>
          <a:prstGeom prst="rect">
            <a:avLst/>
          </a:prstGeom>
          <a:noFill/>
        </p:spPr>
        <p:txBody>
          <a:bodyPr wrap="square" rtlCol="0">
            <a:spAutoFit/>
          </a:bodyPr>
          <a:lstStyle/>
          <a:p>
            <a:r>
              <a:rPr lang="en-US" altLang="zh-CN">
                <a:solidFill>
                  <a:srgbClr val="FFFF00"/>
                </a:solidFill>
              </a:rPr>
              <a:t>Break down story 1</a:t>
            </a:r>
          </a:p>
          <a:p>
            <a:r>
              <a:rPr lang="en-US" altLang="zh-CN">
                <a:solidFill>
                  <a:schemeClr val="bg1"/>
                </a:solidFill>
              </a:rPr>
              <a:t>As a busy executive,</a:t>
            </a:r>
            <a:br>
              <a:rPr lang="en-US" altLang="zh-CN">
                <a:solidFill>
                  <a:schemeClr val="bg1"/>
                </a:solidFill>
              </a:rPr>
            </a:br>
            <a:r>
              <a:rPr lang="en-US" altLang="zh-CN">
                <a:solidFill>
                  <a:schemeClr val="bg1"/>
                </a:solidFill>
              </a:rPr>
              <a:t>I want to be able to save a search location to my list of favorites from my mobile device</a:t>
            </a:r>
            <a:br>
              <a:rPr lang="en-US" altLang="zh-CN">
                <a:solidFill>
                  <a:schemeClr val="bg1"/>
                </a:solidFill>
              </a:rPr>
            </a:br>
            <a:r>
              <a:rPr lang="en-US" altLang="zh-CN">
                <a:solidFill>
                  <a:schemeClr val="bg1"/>
                </a:solidFill>
              </a:rPr>
              <a:t>So that I can reuse that search on future visits.</a:t>
            </a:r>
            <a:endParaRPr lang="zh-CN" altLang="en-US">
              <a:solidFill>
                <a:schemeClr val="bg1"/>
              </a:solidFill>
            </a:endParaRPr>
          </a:p>
        </p:txBody>
      </p:sp>
      <p:sp>
        <p:nvSpPr>
          <p:cNvPr id="11" name="文本框 10">
            <a:extLst>
              <a:ext uri="{FF2B5EF4-FFF2-40B4-BE49-F238E27FC236}">
                <a16:creationId xmlns:a16="http://schemas.microsoft.com/office/drawing/2014/main" id="{9471EE39-BAE1-215F-F672-6B22E92CA18D}"/>
              </a:ext>
            </a:extLst>
          </p:cNvPr>
          <p:cNvSpPr txBox="1"/>
          <p:nvPr/>
        </p:nvSpPr>
        <p:spPr>
          <a:xfrm>
            <a:off x="695998" y="1831510"/>
            <a:ext cx="10800001" cy="1200329"/>
          </a:xfrm>
          <a:prstGeom prst="rect">
            <a:avLst/>
          </a:prstGeom>
          <a:noFill/>
        </p:spPr>
        <p:txBody>
          <a:bodyPr wrap="square" rtlCol="0">
            <a:spAutoFit/>
          </a:bodyPr>
          <a:lstStyle/>
          <a:p>
            <a:r>
              <a:rPr lang="en-US" altLang="zh-CN" dirty="0">
                <a:solidFill>
                  <a:srgbClr val="FFFF00"/>
                </a:solidFill>
              </a:rPr>
              <a:t>Break down story 2</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to be able to name my saved searches from my mobile device</a:t>
            </a:r>
            <a:br>
              <a:rPr lang="en-US" altLang="zh-CN" dirty="0">
                <a:solidFill>
                  <a:schemeClr val="bg1"/>
                </a:solidFill>
              </a:rPr>
            </a:br>
            <a:r>
              <a:rPr lang="en-US" altLang="zh-CN" dirty="0">
                <a:solidFill>
                  <a:schemeClr val="bg1"/>
                </a:solidFill>
              </a:rPr>
              <a:t>so that I know how to access each saved search in the future.</a:t>
            </a:r>
            <a:endParaRPr lang="zh-CN" altLang="en-US" dirty="0">
              <a:solidFill>
                <a:schemeClr val="bg1"/>
              </a:solidFill>
            </a:endParaRPr>
          </a:p>
        </p:txBody>
      </p:sp>
      <p:sp>
        <p:nvSpPr>
          <p:cNvPr id="2" name="文本框 1">
            <a:extLst>
              <a:ext uri="{FF2B5EF4-FFF2-40B4-BE49-F238E27FC236}">
                <a16:creationId xmlns:a16="http://schemas.microsoft.com/office/drawing/2014/main" id="{089A9971-BA19-2791-3889-0A6B8358F3A7}"/>
              </a:ext>
            </a:extLst>
          </p:cNvPr>
          <p:cNvSpPr txBox="1"/>
          <p:nvPr/>
        </p:nvSpPr>
        <p:spPr>
          <a:xfrm>
            <a:off x="695998" y="3060798"/>
            <a:ext cx="10800001" cy="1477328"/>
          </a:xfrm>
          <a:prstGeom prst="rect">
            <a:avLst/>
          </a:prstGeom>
          <a:noFill/>
        </p:spPr>
        <p:txBody>
          <a:bodyPr wrap="square" rtlCol="0">
            <a:spAutoFit/>
          </a:bodyPr>
          <a:lstStyle/>
          <a:p>
            <a:r>
              <a:rPr lang="en-US" altLang="zh-CN" dirty="0">
                <a:solidFill>
                  <a:srgbClr val="FFFF00"/>
                </a:solidFill>
              </a:rPr>
              <a:t>Break down story 3</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the name of my saved searches to default to the city name, unless I choose to manually override it</a:t>
            </a:r>
            <a:br>
              <a:rPr lang="en-US" altLang="zh-CN" dirty="0">
                <a:solidFill>
                  <a:schemeClr val="bg1"/>
                </a:solidFill>
              </a:rPr>
            </a:br>
            <a:r>
              <a:rPr lang="en-US" altLang="zh-CN" dirty="0">
                <a:solidFill>
                  <a:schemeClr val="bg1"/>
                </a:solidFill>
              </a:rPr>
              <a:t>So that I can streamline saving my searches.</a:t>
            </a:r>
          </a:p>
        </p:txBody>
      </p:sp>
      <p:sp>
        <p:nvSpPr>
          <p:cNvPr id="3" name="文本框 2">
            <a:extLst>
              <a:ext uri="{FF2B5EF4-FFF2-40B4-BE49-F238E27FC236}">
                <a16:creationId xmlns:a16="http://schemas.microsoft.com/office/drawing/2014/main" id="{F205F743-763C-90B3-0605-ACE8180D09EC}"/>
              </a:ext>
            </a:extLst>
          </p:cNvPr>
          <p:cNvSpPr txBox="1"/>
          <p:nvPr/>
        </p:nvSpPr>
        <p:spPr>
          <a:xfrm>
            <a:off x="695998" y="4567086"/>
            <a:ext cx="10800001" cy="1754326"/>
          </a:xfrm>
          <a:prstGeom prst="rect">
            <a:avLst/>
          </a:prstGeom>
          <a:noFill/>
        </p:spPr>
        <p:txBody>
          <a:bodyPr wrap="square" rtlCol="0">
            <a:spAutoFit/>
          </a:bodyPr>
          <a:lstStyle/>
          <a:p>
            <a:r>
              <a:rPr lang="en-US" altLang="zh-CN">
                <a:solidFill>
                  <a:srgbClr val="FFFF00"/>
                </a:solidFill>
              </a:rPr>
              <a:t>Break down story 4</a:t>
            </a:r>
          </a:p>
          <a:p>
            <a:r>
              <a:rPr lang="en-US" altLang="zh-CN">
                <a:solidFill>
                  <a:schemeClr val="bg1"/>
                </a:solidFill>
              </a:rPr>
              <a:t>As a busy executive,</a:t>
            </a:r>
            <a:br>
              <a:rPr lang="en-US" altLang="zh-CN">
                <a:solidFill>
                  <a:schemeClr val="bg1"/>
                </a:solidFill>
              </a:rPr>
            </a:br>
            <a:r>
              <a:rPr lang="en-US" altLang="zh-CN">
                <a:solidFill>
                  <a:schemeClr val="bg1"/>
                </a:solidFill>
              </a:rPr>
              <a:t>I want my “saved favorites” option on the user interface to be presented on a mobile device near the “search location”</a:t>
            </a:r>
            <a:br>
              <a:rPr lang="en-US" altLang="zh-CN">
                <a:solidFill>
                  <a:schemeClr val="bg1"/>
                </a:solidFill>
              </a:rPr>
            </a:br>
            <a:r>
              <a:rPr lang="en-US" altLang="zh-CN">
                <a:solidFill>
                  <a:schemeClr val="bg1"/>
                </a:solidFill>
              </a:rPr>
              <a:t>So that I have the option of starting a new search or using a saved one, and can minimize my keystrokes within the weather application.</a:t>
            </a:r>
          </a:p>
        </p:txBody>
      </p:sp>
    </p:spTree>
    <p:extLst>
      <p:ext uri="{BB962C8B-B14F-4D97-AF65-F5344CB8AC3E}">
        <p14:creationId xmlns:p14="http://schemas.microsoft.com/office/powerpoint/2010/main" val="1895508462"/>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7247F-AD6F-C9A4-AD2F-C41E813C8115}"/>
            </a:ext>
          </a:extLst>
        </p:cNvPr>
        <p:cNvGrpSpPr/>
        <p:nvPr/>
      </p:nvGrpSpPr>
      <p:grpSpPr>
        <a:xfrm>
          <a:off x="0" y="0"/>
          <a:ext cx="0" cy="0"/>
          <a:chOff x="0" y="0"/>
          <a:chExt cx="0" cy="0"/>
        </a:xfrm>
      </p:grpSpPr>
      <p:sp>
        <p:nvSpPr>
          <p:cNvPr id="10" name="文本框 9">
            <a:extLst>
              <a:ext uri="{FF2B5EF4-FFF2-40B4-BE49-F238E27FC236}">
                <a16:creationId xmlns:a16="http://schemas.microsoft.com/office/drawing/2014/main" id="{51A6ED42-CFE9-802B-0554-BD80A0CF813C}"/>
              </a:ext>
            </a:extLst>
          </p:cNvPr>
          <p:cNvSpPr txBox="1"/>
          <p:nvPr/>
        </p:nvSpPr>
        <p:spPr>
          <a:xfrm>
            <a:off x="695998" y="2321005"/>
            <a:ext cx="10800001" cy="2215991"/>
          </a:xfrm>
          <a:prstGeom prst="rect">
            <a:avLst/>
          </a:prstGeom>
          <a:noFill/>
        </p:spPr>
        <p:txBody>
          <a:bodyPr wrap="square" rtlCol="0">
            <a:spAutoFit/>
          </a:bodyPr>
          <a:lstStyle/>
          <a:p>
            <a:pPr>
              <a:spcAft>
                <a:spcPts val="1200"/>
              </a:spcAft>
            </a:pPr>
            <a:r>
              <a:rPr lang="en-US" altLang="zh-CN" dirty="0">
                <a:solidFill>
                  <a:srgbClr val="FFFF00"/>
                </a:solidFill>
              </a:rPr>
              <a:t>Acceptance Criteria</a:t>
            </a:r>
          </a:p>
          <a:p>
            <a:pPr marL="342900" indent="-342900">
              <a:spcAft>
                <a:spcPts val="1200"/>
              </a:spcAft>
              <a:buFont typeface="+mj-lt"/>
              <a:buAutoNum type="arabicPeriod"/>
            </a:pPr>
            <a:r>
              <a:rPr lang="en-US" altLang="zh-CN" dirty="0">
                <a:solidFill>
                  <a:schemeClr val="bg1"/>
                </a:solidFill>
              </a:rPr>
              <a:t>Acceptance Criteria is simply a high-level acceptance test that will be true after the agile user story is complete.</a:t>
            </a:r>
          </a:p>
          <a:p>
            <a:pPr marL="342900" indent="-342900">
              <a:spcAft>
                <a:spcPts val="1200"/>
              </a:spcAft>
              <a:buFont typeface="+mj-lt"/>
              <a:buAutoNum type="arabicPeriod"/>
            </a:pPr>
            <a:r>
              <a:rPr lang="en-US" altLang="zh-CN" dirty="0">
                <a:solidFill>
                  <a:schemeClr val="bg1"/>
                </a:solidFill>
              </a:rPr>
              <a:t>Normally written on the back of the story card.</a:t>
            </a:r>
          </a:p>
          <a:p>
            <a:pPr marL="342900" indent="-342900">
              <a:spcAft>
                <a:spcPts val="1200"/>
              </a:spcAft>
              <a:buFont typeface="+mj-lt"/>
              <a:buAutoNum type="arabicPeriod"/>
            </a:pPr>
            <a:r>
              <a:rPr lang="en-US" altLang="zh-CN" dirty="0">
                <a:solidFill>
                  <a:schemeClr val="bg1"/>
                </a:solidFill>
              </a:rPr>
              <a:t>It is a great way to ensure that a story is understood and to invite negotiation with the team about the business value that we are trying to create.</a:t>
            </a:r>
          </a:p>
        </p:txBody>
      </p:sp>
    </p:spTree>
    <p:extLst>
      <p:ext uri="{BB962C8B-B14F-4D97-AF65-F5344CB8AC3E}">
        <p14:creationId xmlns:p14="http://schemas.microsoft.com/office/powerpoint/2010/main" val="3708229490"/>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09499DDA-E48D-2091-70B4-34AEE19428A4}"/>
              </a:ext>
            </a:extLst>
          </p:cNvPr>
          <p:cNvSpPr txBox="1"/>
          <p:nvPr/>
        </p:nvSpPr>
        <p:spPr>
          <a:xfrm>
            <a:off x="1056000" y="1603407"/>
            <a:ext cx="2717411" cy="400110"/>
          </a:xfrm>
          <a:prstGeom prst="rect">
            <a:avLst/>
          </a:prstGeom>
          <a:noFill/>
        </p:spPr>
        <p:txBody>
          <a:bodyPr wrap="none" rtlCol="0">
            <a:spAutoFit/>
          </a:bodyPr>
          <a:lstStyle/>
          <a:p>
            <a:r>
              <a:rPr lang="zh-CN" altLang="en-US" sz="2000" dirty="0">
                <a:solidFill>
                  <a:schemeClr val="bg1"/>
                </a:solidFill>
              </a:rPr>
              <a:t>课后思考 </a:t>
            </a:r>
            <a:r>
              <a:rPr lang="en-US" altLang="zh-CN" sz="2000" dirty="0">
                <a:solidFill>
                  <a:schemeClr val="bg1"/>
                </a:solidFill>
              </a:rPr>
              <a:t>Homework</a:t>
            </a:r>
            <a:endParaRPr lang="zh-CN" altLang="en-US" sz="2000" dirty="0">
              <a:solidFill>
                <a:schemeClr val="bg1"/>
              </a:solidFill>
            </a:endParaRPr>
          </a:p>
        </p:txBody>
      </p:sp>
      <p:cxnSp>
        <p:nvCxnSpPr>
          <p:cNvPr id="6" name="Straight Connector 3">
            <a:extLst>
              <a:ext uri="{FF2B5EF4-FFF2-40B4-BE49-F238E27FC236}">
                <a16:creationId xmlns:a16="http://schemas.microsoft.com/office/drawing/2014/main" id="{7DD5BABF-9C63-D0A3-D71F-5229F4EB92F6}"/>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A054F132-017B-F799-AE20-3EDB9C67A36E}"/>
              </a:ext>
            </a:extLst>
          </p:cNvPr>
          <p:cNvSpPr txBox="1"/>
          <p:nvPr/>
        </p:nvSpPr>
        <p:spPr>
          <a:xfrm>
            <a:off x="1056000" y="2003517"/>
            <a:ext cx="7124066" cy="369332"/>
          </a:xfrm>
          <a:prstGeom prst="rect">
            <a:avLst/>
          </a:prstGeom>
          <a:noFill/>
        </p:spPr>
        <p:txBody>
          <a:bodyPr wrap="none" rtlCol="0">
            <a:spAutoFit/>
          </a:bodyPr>
          <a:lstStyle/>
          <a:p>
            <a:r>
              <a:rPr lang="zh-CN" altLang="en-US" dirty="0">
                <a:solidFill>
                  <a:schemeClr val="bg1"/>
                </a:solidFill>
              </a:rPr>
              <a:t>举例并分析：</a:t>
            </a:r>
            <a:r>
              <a:rPr lang="en-US" altLang="zh-CN" dirty="0">
                <a:solidFill>
                  <a:schemeClr val="bg1"/>
                </a:solidFill>
              </a:rPr>
              <a:t>SOW</a:t>
            </a:r>
            <a:r>
              <a:rPr lang="zh-CN" altLang="en-US" dirty="0">
                <a:solidFill>
                  <a:schemeClr val="bg1"/>
                </a:solidFill>
              </a:rPr>
              <a:t>、</a:t>
            </a:r>
            <a:r>
              <a:rPr lang="en-US" altLang="zh-CN" dirty="0">
                <a:solidFill>
                  <a:schemeClr val="bg1"/>
                </a:solidFill>
              </a:rPr>
              <a:t>SRS</a:t>
            </a:r>
            <a:r>
              <a:rPr lang="zh-CN" altLang="en-US" dirty="0">
                <a:solidFill>
                  <a:schemeClr val="bg1"/>
                </a:solidFill>
              </a:rPr>
              <a:t>、</a:t>
            </a:r>
            <a:r>
              <a:rPr lang="en-US" altLang="zh-CN" dirty="0">
                <a:solidFill>
                  <a:schemeClr val="bg1"/>
                </a:solidFill>
              </a:rPr>
              <a:t>WBS</a:t>
            </a:r>
            <a:r>
              <a:rPr lang="zh-CN" altLang="en-US" dirty="0">
                <a:solidFill>
                  <a:schemeClr val="bg1"/>
                </a:solidFill>
              </a:rPr>
              <a:t>、</a:t>
            </a:r>
            <a:r>
              <a:rPr lang="en-US" altLang="zh-CN" dirty="0">
                <a:solidFill>
                  <a:schemeClr val="bg1"/>
                </a:solidFill>
              </a:rPr>
              <a:t>Package </a:t>
            </a:r>
            <a:r>
              <a:rPr lang="zh-CN" altLang="en-US" dirty="0">
                <a:solidFill>
                  <a:schemeClr val="bg1"/>
                </a:solidFill>
              </a:rPr>
              <a:t>和 </a:t>
            </a:r>
            <a:r>
              <a:rPr lang="en-US" altLang="zh-CN" dirty="0">
                <a:solidFill>
                  <a:schemeClr val="bg1"/>
                </a:solidFill>
              </a:rPr>
              <a:t>Dictionary </a:t>
            </a:r>
            <a:r>
              <a:rPr lang="zh-CN" altLang="en-US" dirty="0">
                <a:solidFill>
                  <a:schemeClr val="bg1"/>
                </a:solidFill>
              </a:rPr>
              <a:t>的关系</a:t>
            </a:r>
          </a:p>
        </p:txBody>
      </p:sp>
    </p:spTree>
    <p:extLst>
      <p:ext uri="{BB962C8B-B14F-4D97-AF65-F5344CB8AC3E}">
        <p14:creationId xmlns:p14="http://schemas.microsoft.com/office/powerpoint/2010/main" val="1048125161"/>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2464886" y="4681056"/>
            <a:ext cx="7262228" cy="798491"/>
          </a:xfrm>
        </p:spPr>
        <p:txBody>
          <a:bodyPr/>
          <a:lstStyle/>
          <a:p>
            <a:r>
              <a:rPr lang="zh-CN" altLang="en-US"/>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2464886" y="5479548"/>
            <a:ext cx="7262228" cy="458180"/>
          </a:xfrm>
        </p:spPr>
        <p:txBody>
          <a:bodyPr/>
          <a:lstStyle/>
          <a:p>
            <a:r>
              <a:rPr lang="en-US" altLang="zh-CN"/>
              <a:t>Section 4 Project Cost</a:t>
            </a:r>
            <a:endParaRPr lang="zh-CN" altLang="en-US"/>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3883891" y="2278857"/>
            <a:ext cx="4424219" cy="2300287"/>
          </a:xfrm>
        </p:spPr>
        <p:txBody>
          <a:bodyPr/>
          <a:lstStyle/>
          <a:p>
            <a:r>
              <a:rPr lang="zh-CN" altLang="en-US" dirty="0"/>
              <a:t>成本估算</a:t>
            </a:r>
            <a:endParaRPr lang="en-US" altLang="zh-CN" dirty="0"/>
          </a:p>
          <a:p>
            <a:r>
              <a:rPr lang="zh-CN" altLang="en-US" dirty="0"/>
              <a:t>传统项目成本估算</a:t>
            </a:r>
            <a:endParaRPr lang="en-US" altLang="zh-CN" dirty="0"/>
          </a:p>
          <a:p>
            <a:r>
              <a:rPr lang="zh-CN" altLang="en-US" dirty="0"/>
              <a:t>敏捷项目成本估算</a:t>
            </a:r>
            <a:endParaRPr lang="en-US" altLang="zh-CN" dirty="0"/>
          </a:p>
          <a:p>
            <a:r>
              <a:rPr lang="zh-CN" altLang="en-US" dirty="0"/>
              <a:t>成本预算</a:t>
            </a:r>
          </a:p>
        </p:txBody>
      </p:sp>
    </p:spTree>
    <p:extLst>
      <p:ext uri="{BB962C8B-B14F-4D97-AF65-F5344CB8AC3E}">
        <p14:creationId xmlns:p14="http://schemas.microsoft.com/office/powerpoint/2010/main" val="1822699390"/>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EDE52-CA3F-F734-1CA0-12327D70023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7262045-1B8C-903E-4933-AE44FCB65D54}"/>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5C1F8DFE-3F01-656B-3947-45B80B65717B}"/>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FC921B59-760C-7285-2FAC-FCBACB70FB38}"/>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2980D9F0-2A96-32C1-D644-012C40EAF225}"/>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513E2CEE-0A0F-5400-18B2-0485026FBC36}"/>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506A6B8F-594B-3E4F-92DC-4978A103224D}"/>
              </a:ext>
            </a:extLst>
          </p:cNvPr>
          <p:cNvSpPr/>
          <p:nvPr/>
        </p:nvSpPr>
        <p:spPr>
          <a:xfrm>
            <a:off x="4147174"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3A33E050-3E50-EE8D-EC9F-AE865FA2BFF9}"/>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B0CBFCFC-17E7-9AD3-2FCB-EF8B3E4AD7EC}"/>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61CC46FF-28FC-0B9A-4FA6-80F228959D95}"/>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AFFE46D4-B39A-652D-0806-0B8156A51034}"/>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70086D4D-B973-7740-94B2-EA7F767225E6}"/>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D1606C1A-77A3-F6B6-A796-6F93D2F6DE4A}"/>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F89B2269-E950-99CE-FD7F-6007080E4274}"/>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276012689"/>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2D34A03-E45E-E481-E528-8BC6EFA21BDA}"/>
              </a:ext>
            </a:extLst>
          </p:cNvPr>
          <p:cNvSpPr txBox="1"/>
          <p:nvPr/>
        </p:nvSpPr>
        <p:spPr>
          <a:xfrm>
            <a:off x="3333172" y="2884208"/>
            <a:ext cx="1415772" cy="584775"/>
          </a:xfrm>
          <a:prstGeom prst="rect">
            <a:avLst/>
          </a:prstGeom>
          <a:noFill/>
        </p:spPr>
        <p:txBody>
          <a:bodyPr wrap="none" rtlCol="0">
            <a:spAutoFit/>
          </a:bodyPr>
          <a:lstStyle/>
          <a:p>
            <a:r>
              <a:rPr lang="zh-CN" altLang="en-US" sz="3200" dirty="0">
                <a:solidFill>
                  <a:schemeClr val="bg1"/>
                </a:solidFill>
              </a:rPr>
              <a:t>乱</a:t>
            </a:r>
            <a:r>
              <a:rPr lang="zh-CN" altLang="en-US" sz="1600" dirty="0">
                <a:solidFill>
                  <a:schemeClr val="bg1"/>
                </a:solidFill>
              </a:rPr>
              <a:t>软件市场</a:t>
            </a:r>
          </a:p>
        </p:txBody>
      </p:sp>
      <p:sp>
        <p:nvSpPr>
          <p:cNvPr id="3" name="文本框 2">
            <a:extLst>
              <a:ext uri="{FF2B5EF4-FFF2-40B4-BE49-F238E27FC236}">
                <a16:creationId xmlns:a16="http://schemas.microsoft.com/office/drawing/2014/main" id="{9A9567BD-EFCC-0FBF-BC58-3B4736DB807C}"/>
              </a:ext>
            </a:extLst>
          </p:cNvPr>
          <p:cNvSpPr txBox="1"/>
          <p:nvPr/>
        </p:nvSpPr>
        <p:spPr>
          <a:xfrm>
            <a:off x="7096322" y="2884208"/>
            <a:ext cx="1415772" cy="584775"/>
          </a:xfrm>
          <a:prstGeom prst="rect">
            <a:avLst/>
          </a:prstGeom>
          <a:noFill/>
        </p:spPr>
        <p:txBody>
          <a:bodyPr wrap="none" rtlCol="0">
            <a:spAutoFit/>
          </a:bodyPr>
          <a:lstStyle/>
          <a:p>
            <a:r>
              <a:rPr lang="zh-CN" altLang="en-US" sz="3200" dirty="0">
                <a:solidFill>
                  <a:schemeClr val="bg1"/>
                </a:solidFill>
              </a:rPr>
              <a:t>愁</a:t>
            </a:r>
            <a:r>
              <a:rPr lang="zh-CN" altLang="en-US" sz="1600" dirty="0">
                <a:solidFill>
                  <a:schemeClr val="bg1"/>
                </a:solidFill>
              </a:rPr>
              <a:t>预算审批</a:t>
            </a:r>
          </a:p>
        </p:txBody>
      </p:sp>
      <p:sp>
        <p:nvSpPr>
          <p:cNvPr id="4" name="文本框 3">
            <a:extLst>
              <a:ext uri="{FF2B5EF4-FFF2-40B4-BE49-F238E27FC236}">
                <a16:creationId xmlns:a16="http://schemas.microsoft.com/office/drawing/2014/main" id="{8B8478B1-98AB-D511-860B-F23F30AB3109}"/>
              </a:ext>
            </a:extLst>
          </p:cNvPr>
          <p:cNvSpPr txBox="1"/>
          <p:nvPr/>
        </p:nvSpPr>
        <p:spPr>
          <a:xfrm>
            <a:off x="5214746" y="1406048"/>
            <a:ext cx="1415772" cy="584775"/>
          </a:xfrm>
          <a:prstGeom prst="rect">
            <a:avLst/>
          </a:prstGeom>
          <a:noFill/>
        </p:spPr>
        <p:txBody>
          <a:bodyPr wrap="none" rtlCol="0">
            <a:spAutoFit/>
          </a:bodyPr>
          <a:lstStyle/>
          <a:p>
            <a:r>
              <a:rPr lang="zh-CN" altLang="en-US" sz="3200" dirty="0">
                <a:solidFill>
                  <a:schemeClr val="bg1"/>
                </a:solidFill>
              </a:rPr>
              <a:t>难</a:t>
            </a:r>
            <a:r>
              <a:rPr lang="zh-CN" altLang="en-US" sz="1600" dirty="0">
                <a:solidFill>
                  <a:schemeClr val="bg1"/>
                </a:solidFill>
              </a:rPr>
              <a:t>商务谈判</a:t>
            </a:r>
          </a:p>
        </p:txBody>
      </p:sp>
      <p:sp>
        <p:nvSpPr>
          <p:cNvPr id="5" name="文本框 4">
            <a:extLst>
              <a:ext uri="{FF2B5EF4-FFF2-40B4-BE49-F238E27FC236}">
                <a16:creationId xmlns:a16="http://schemas.microsoft.com/office/drawing/2014/main" id="{0E71B2F4-3E57-B920-61BE-AB8DB0686F2F}"/>
              </a:ext>
            </a:extLst>
          </p:cNvPr>
          <p:cNvSpPr txBox="1"/>
          <p:nvPr/>
        </p:nvSpPr>
        <p:spPr>
          <a:xfrm>
            <a:off x="5214746" y="4362366"/>
            <a:ext cx="1415772" cy="584775"/>
          </a:xfrm>
          <a:prstGeom prst="rect">
            <a:avLst/>
          </a:prstGeom>
          <a:noFill/>
        </p:spPr>
        <p:txBody>
          <a:bodyPr wrap="none" rtlCol="0">
            <a:spAutoFit/>
          </a:bodyPr>
          <a:lstStyle/>
          <a:p>
            <a:r>
              <a:rPr lang="zh-CN" altLang="en-US" sz="3200" dirty="0">
                <a:solidFill>
                  <a:schemeClr val="bg1"/>
                </a:solidFill>
              </a:rPr>
              <a:t>扯</a:t>
            </a:r>
            <a:r>
              <a:rPr lang="zh-CN" altLang="en-US" sz="1600" dirty="0">
                <a:solidFill>
                  <a:schemeClr val="bg1"/>
                </a:solidFill>
              </a:rPr>
              <a:t>项目结算</a:t>
            </a:r>
          </a:p>
        </p:txBody>
      </p:sp>
      <p:sp>
        <p:nvSpPr>
          <p:cNvPr id="6" name="椭圆 5">
            <a:extLst>
              <a:ext uri="{FF2B5EF4-FFF2-40B4-BE49-F238E27FC236}">
                <a16:creationId xmlns:a16="http://schemas.microsoft.com/office/drawing/2014/main" id="{CD3D08D6-46DF-1F48-E314-33381C3B27D2}"/>
              </a:ext>
            </a:extLst>
          </p:cNvPr>
          <p:cNvSpPr/>
          <p:nvPr/>
        </p:nvSpPr>
        <p:spPr>
          <a:xfrm>
            <a:off x="5456830" y="2710792"/>
            <a:ext cx="931606" cy="931606"/>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行业问题</a:t>
            </a:r>
          </a:p>
        </p:txBody>
      </p:sp>
      <p:sp>
        <p:nvSpPr>
          <p:cNvPr id="7" name="梯形 6">
            <a:extLst>
              <a:ext uri="{FF2B5EF4-FFF2-40B4-BE49-F238E27FC236}">
                <a16:creationId xmlns:a16="http://schemas.microsoft.com/office/drawing/2014/main" id="{150BC3FE-3E60-8460-7744-D8A57F996DCC}"/>
              </a:ext>
            </a:extLst>
          </p:cNvPr>
          <p:cNvSpPr/>
          <p:nvPr/>
        </p:nvSpPr>
        <p:spPr>
          <a:xfrm rot="5400000">
            <a:off x="4556846" y="2816611"/>
            <a:ext cx="1080000" cy="719968"/>
          </a:xfrm>
          <a:prstGeom prst="trapezoid">
            <a:avLst>
              <a:gd name="adj" fmla="val 53679"/>
            </a:avLst>
          </a:prstGeom>
          <a:gradFill flip="none" rotWithShape="1">
            <a:gsLst>
              <a:gs pos="0">
                <a:schemeClr val="bg1"/>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8" name="梯形 7">
            <a:extLst>
              <a:ext uri="{FF2B5EF4-FFF2-40B4-BE49-F238E27FC236}">
                <a16:creationId xmlns:a16="http://schemas.microsoft.com/office/drawing/2014/main" id="{87E27E3E-D427-7C63-4E37-43D62069F409}"/>
              </a:ext>
            </a:extLst>
          </p:cNvPr>
          <p:cNvSpPr/>
          <p:nvPr/>
        </p:nvSpPr>
        <p:spPr>
          <a:xfrm rot="16200000" flipH="1">
            <a:off x="6208420" y="2816611"/>
            <a:ext cx="1080000" cy="719968"/>
          </a:xfrm>
          <a:prstGeom prst="trapezoid">
            <a:avLst>
              <a:gd name="adj" fmla="val 53679"/>
            </a:avLst>
          </a:prstGeom>
          <a:gradFill flip="none" rotWithShape="1">
            <a:gsLst>
              <a:gs pos="0">
                <a:schemeClr val="bg1"/>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9" name="梯形 8">
            <a:extLst>
              <a:ext uri="{FF2B5EF4-FFF2-40B4-BE49-F238E27FC236}">
                <a16:creationId xmlns:a16="http://schemas.microsoft.com/office/drawing/2014/main" id="{13293E04-B50E-9B89-274F-CF2AF2297E79}"/>
              </a:ext>
            </a:extLst>
          </p:cNvPr>
          <p:cNvSpPr/>
          <p:nvPr/>
        </p:nvSpPr>
        <p:spPr>
          <a:xfrm rot="10800000" flipH="1">
            <a:off x="5382633" y="1990824"/>
            <a:ext cx="1080000" cy="719968"/>
          </a:xfrm>
          <a:prstGeom prst="trapezoid">
            <a:avLst>
              <a:gd name="adj" fmla="val 53679"/>
            </a:avLst>
          </a:prstGeom>
          <a:gradFill flip="none" rotWithShape="1">
            <a:gsLst>
              <a:gs pos="0">
                <a:schemeClr val="bg1"/>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0" name="梯形 9">
            <a:extLst>
              <a:ext uri="{FF2B5EF4-FFF2-40B4-BE49-F238E27FC236}">
                <a16:creationId xmlns:a16="http://schemas.microsoft.com/office/drawing/2014/main" id="{0466FCC1-D611-C136-004B-9B24FD9AC333}"/>
              </a:ext>
            </a:extLst>
          </p:cNvPr>
          <p:cNvSpPr/>
          <p:nvPr/>
        </p:nvSpPr>
        <p:spPr>
          <a:xfrm rot="10800000" flipH="1" flipV="1">
            <a:off x="5382633" y="3642398"/>
            <a:ext cx="1080000" cy="719968"/>
          </a:xfrm>
          <a:prstGeom prst="trapezoid">
            <a:avLst>
              <a:gd name="adj" fmla="val 53679"/>
            </a:avLst>
          </a:prstGeom>
          <a:gradFill flip="none" rotWithShape="1">
            <a:gsLst>
              <a:gs pos="0">
                <a:schemeClr val="bg1"/>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23387780"/>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56CBE3A6-1468-AA91-2804-650F07801D00}"/>
              </a:ext>
            </a:extLst>
          </p:cNvPr>
          <p:cNvGraphicFramePr>
            <a:graphicFrameLocks noChangeAspect="1"/>
          </p:cNvGraphicFramePr>
          <p:nvPr>
            <p:extLst>
              <p:ext uri="{D42A27DB-BD31-4B8C-83A1-F6EECF244321}">
                <p14:modId xmlns:p14="http://schemas.microsoft.com/office/powerpoint/2010/main" val="2902569944"/>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8634798"/>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695998" y="360000"/>
            <a:ext cx="6375921" cy="429413"/>
          </a:xfrm>
        </p:spPr>
        <p:txBody>
          <a:bodyPr>
            <a:normAutofit/>
          </a:bodyPr>
          <a:lstStyle/>
          <a:p>
            <a:r>
              <a:rPr lang="en-US" altLang="zh-CN" dirty="0"/>
              <a:t>6.1.1 </a:t>
            </a:r>
            <a:r>
              <a:rPr lang="zh-CN" altLang="en-US" dirty="0"/>
              <a:t>成本估算</a:t>
            </a:r>
          </a:p>
        </p:txBody>
      </p:sp>
      <p:sp>
        <p:nvSpPr>
          <p:cNvPr id="9" name="内容占位符 8">
            <a:extLst>
              <a:ext uri="{FF2B5EF4-FFF2-40B4-BE49-F238E27FC236}">
                <a16:creationId xmlns:a16="http://schemas.microsoft.com/office/drawing/2014/main" id="{777E3B11-94E3-181A-6E62-437796DDE7EA}"/>
              </a:ext>
            </a:extLst>
          </p:cNvPr>
          <p:cNvSpPr>
            <a:spLocks noGrp="1"/>
          </p:cNvSpPr>
          <p:nvPr>
            <p:ph idx="1"/>
          </p:nvPr>
        </p:nvSpPr>
        <p:spPr>
          <a:xfrm>
            <a:off x="696000" y="864000"/>
            <a:ext cx="10800000" cy="5400000"/>
          </a:xfrm>
        </p:spPr>
        <p:txBody>
          <a:bodyPr/>
          <a:lstStyle/>
          <a:p>
            <a:r>
              <a:rPr lang="zh-CN" altLang="en-US" dirty="0"/>
              <a:t>完成项目所需的估计和计划</a:t>
            </a:r>
            <a:endParaRPr lang="en-US" altLang="zh-CN" dirty="0"/>
          </a:p>
          <a:p>
            <a:r>
              <a:rPr lang="zh-CN" altLang="en-US" dirty="0"/>
              <a:t>是项目计划中一个重要组成部分</a:t>
            </a:r>
            <a:endParaRPr lang="en-US" altLang="zh-CN" dirty="0"/>
          </a:p>
          <a:p>
            <a:r>
              <a:rPr lang="zh-CN" altLang="en-US" dirty="0"/>
              <a:t>不精确、可以有误差、需要调节</a:t>
            </a:r>
            <a:endParaRPr lang="en-US" altLang="zh-CN" dirty="0"/>
          </a:p>
          <a:p>
            <a:r>
              <a:rPr lang="zh-CN" altLang="en-US" dirty="0"/>
              <a:t>超支</a:t>
            </a:r>
            <a:endParaRPr lang="en-US" altLang="zh-CN" dirty="0"/>
          </a:p>
          <a:p>
            <a:r>
              <a:rPr lang="zh-CN" altLang="en-US" dirty="0"/>
              <a:t>软件成本估算</a:t>
            </a:r>
            <a:endParaRPr lang="en-US" altLang="zh-CN" dirty="0"/>
          </a:p>
          <a:p>
            <a:pPr lvl="1"/>
            <a:r>
              <a:rPr lang="zh-CN" altLang="en-US" dirty="0"/>
              <a:t>主要是人的劳动消耗</a:t>
            </a:r>
          </a:p>
          <a:p>
            <a:pPr lvl="1"/>
            <a:r>
              <a:rPr lang="zh-CN" altLang="en-US" dirty="0"/>
              <a:t>不包括原材料和能源的消耗</a:t>
            </a:r>
            <a:endParaRPr lang="en-US" altLang="zh-CN" dirty="0"/>
          </a:p>
          <a:p>
            <a:pPr lvl="1"/>
            <a:r>
              <a:rPr lang="zh-CN" altLang="en-US" dirty="0"/>
              <a:t>贯穿软件的整个生存期</a:t>
            </a:r>
            <a:endParaRPr lang="en-US" altLang="zh-CN"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7071919" y="448519"/>
            <a:ext cx="4424080" cy="338554"/>
          </a:xfrm>
        </p:spPr>
        <p:txBody>
          <a:bodyPr/>
          <a:lstStyle/>
          <a:p>
            <a:r>
              <a:rPr lang="en-US" altLang="zh-CN"/>
              <a:t>Project Cost</a:t>
            </a:r>
            <a:endParaRPr lang="zh-CN" altLang="en-US"/>
          </a:p>
        </p:txBody>
      </p:sp>
    </p:spTree>
    <p:extLst>
      <p:ext uri="{BB962C8B-B14F-4D97-AF65-F5344CB8AC3E}">
        <p14:creationId xmlns:p14="http://schemas.microsoft.com/office/powerpoint/2010/main" val="983836152"/>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E7C729-3E3F-3DF3-D923-89B9933D9D62}"/>
              </a:ext>
            </a:extLst>
          </p:cNvPr>
          <p:cNvSpPr>
            <a:spLocks noGrp="1"/>
          </p:cNvSpPr>
          <p:nvPr>
            <p:ph type="title"/>
          </p:nvPr>
        </p:nvSpPr>
        <p:spPr>
          <a:xfrm>
            <a:off x="695998" y="360000"/>
            <a:ext cx="6375921" cy="429413"/>
          </a:xfrm>
        </p:spPr>
        <p:txBody>
          <a:bodyPr/>
          <a:lstStyle/>
          <a:p>
            <a:r>
              <a:rPr lang="en-US" altLang="zh-CN" dirty="0"/>
              <a:t>6.1.2 </a:t>
            </a:r>
            <a:r>
              <a:rPr lang="zh-CN" altLang="en-US" dirty="0"/>
              <a:t>规模、工作量、成本</a:t>
            </a:r>
          </a:p>
        </p:txBody>
      </p:sp>
      <p:sp>
        <p:nvSpPr>
          <p:cNvPr id="14" name="内容占位符 13">
            <a:extLst>
              <a:ext uri="{FF2B5EF4-FFF2-40B4-BE49-F238E27FC236}">
                <a16:creationId xmlns:a16="http://schemas.microsoft.com/office/drawing/2014/main" id="{CFEB257E-3A50-33A7-BD8B-931DD39AB702}"/>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820E53DA-37B5-A5B1-2FCF-B2FB9870F2DA}"/>
              </a:ext>
            </a:extLst>
          </p:cNvPr>
          <p:cNvSpPr>
            <a:spLocks noGrp="1"/>
          </p:cNvSpPr>
          <p:nvPr>
            <p:ph type="body" sz="quarter" idx="10"/>
          </p:nvPr>
        </p:nvSpPr>
        <p:spPr>
          <a:xfrm>
            <a:off x="7071919" y="448519"/>
            <a:ext cx="4424080" cy="338554"/>
          </a:xfrm>
        </p:spPr>
        <p:txBody>
          <a:bodyPr/>
          <a:lstStyle/>
          <a:p>
            <a:r>
              <a:rPr lang="en-US" altLang="zh-CN"/>
              <a:t>Unit</a:t>
            </a:r>
            <a:endParaRPr lang="zh-CN" altLang="en-US" dirty="0"/>
          </a:p>
        </p:txBody>
      </p:sp>
      <p:graphicFrame>
        <p:nvGraphicFramePr>
          <p:cNvPr id="11" name="内容占位符 4">
            <a:extLst>
              <a:ext uri="{FF2B5EF4-FFF2-40B4-BE49-F238E27FC236}">
                <a16:creationId xmlns:a16="http://schemas.microsoft.com/office/drawing/2014/main" id="{BB2EF960-1A79-75F5-AC9C-5358A8B156CF}"/>
              </a:ext>
            </a:extLst>
          </p:cNvPr>
          <p:cNvGraphicFramePr>
            <a:graphicFrameLocks/>
          </p:cNvGraphicFramePr>
          <p:nvPr>
            <p:extLst>
              <p:ext uri="{D42A27DB-BD31-4B8C-83A1-F6EECF244321}">
                <p14:modId xmlns:p14="http://schemas.microsoft.com/office/powerpoint/2010/main" val="2239839373"/>
              </p:ext>
            </p:extLst>
          </p:nvPr>
        </p:nvGraphicFramePr>
        <p:xfrm>
          <a:off x="3396000" y="2758440"/>
          <a:ext cx="5400000" cy="1341120"/>
        </p:xfrm>
        <a:graphic>
          <a:graphicData uri="http://schemas.openxmlformats.org/drawingml/2006/table">
            <a:tbl>
              <a:tblPr firstRow="1" bandRow="1">
                <a:tableStyleId>{5C22544A-7EE6-4342-B048-85BDC9FD1C3A}</a:tableStyleId>
              </a:tblPr>
              <a:tblGrid>
                <a:gridCol w="1260000">
                  <a:extLst>
                    <a:ext uri="{9D8B030D-6E8A-4147-A177-3AD203B41FA5}">
                      <a16:colId xmlns:a16="http://schemas.microsoft.com/office/drawing/2014/main" val="2041386398"/>
                    </a:ext>
                  </a:extLst>
                </a:gridCol>
                <a:gridCol w="2880000">
                  <a:extLst>
                    <a:ext uri="{9D8B030D-6E8A-4147-A177-3AD203B41FA5}">
                      <a16:colId xmlns:a16="http://schemas.microsoft.com/office/drawing/2014/main" val="1771805873"/>
                    </a:ext>
                  </a:extLst>
                </a:gridCol>
                <a:gridCol w="1260000">
                  <a:extLst>
                    <a:ext uri="{9D8B030D-6E8A-4147-A177-3AD203B41FA5}">
                      <a16:colId xmlns:a16="http://schemas.microsoft.com/office/drawing/2014/main" val="3158247597"/>
                    </a:ext>
                  </a:extLst>
                </a:gridCol>
              </a:tblGrid>
              <a:tr h="0">
                <a:tc>
                  <a:txBody>
                    <a:bodyPr/>
                    <a:lstStyle/>
                    <a:p>
                      <a:pPr algn="ctr"/>
                      <a:r>
                        <a:rPr lang="zh-CN" altLang="en-US" sz="1600" b="0" dirty="0">
                          <a:solidFill>
                            <a:schemeClr val="bg1"/>
                          </a:solidFill>
                        </a:rPr>
                        <a:t>工作量</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规模</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成本</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9448171"/>
                  </a:ext>
                </a:extLst>
              </a:tr>
              <a:tr h="0">
                <a:tc>
                  <a:txBody>
                    <a:bodyPr/>
                    <a:lstStyle/>
                    <a:p>
                      <a:pPr algn="ctr"/>
                      <a:r>
                        <a:rPr lang="zh-CN" altLang="en-US" sz="1600" b="0" dirty="0">
                          <a:solidFill>
                            <a:schemeClr val="bg1"/>
                          </a:solidFill>
                        </a:rPr>
                        <a:t>人天</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代码行 </a:t>
                      </a:r>
                      <a:r>
                        <a:rPr lang="en-US" altLang="zh-CN" sz="1600" b="0" dirty="0">
                          <a:solidFill>
                            <a:schemeClr val="bg1"/>
                          </a:solidFill>
                        </a:rPr>
                        <a:t>Line of Code – LOC</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元</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94436365"/>
                  </a:ext>
                </a:extLst>
              </a:tr>
              <a:tr h="0">
                <a:tc>
                  <a:txBody>
                    <a:bodyPr/>
                    <a:lstStyle/>
                    <a:p>
                      <a:pPr algn="ctr"/>
                      <a:r>
                        <a:rPr lang="zh-CN" altLang="en-US" sz="1600" b="0" dirty="0">
                          <a:solidFill>
                            <a:schemeClr val="bg1"/>
                          </a:solidFill>
                        </a:rPr>
                        <a:t>人月</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功能点 </a:t>
                      </a:r>
                      <a:r>
                        <a:rPr lang="en-US" altLang="zh-CN" sz="1600" b="0" dirty="0">
                          <a:solidFill>
                            <a:schemeClr val="bg1"/>
                          </a:solidFill>
                        </a:rPr>
                        <a:t>Function Point - FP</a:t>
                      </a:r>
                      <a:endParaRPr lang="zh-CN" altLang="en-US" sz="16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88584034"/>
                  </a:ext>
                </a:extLst>
              </a:tr>
              <a:tr h="0">
                <a:tc>
                  <a:txBody>
                    <a:bodyPr/>
                    <a:lstStyle/>
                    <a:p>
                      <a:pPr algn="ctr"/>
                      <a:r>
                        <a:rPr lang="zh-CN" altLang="en-US" sz="1600" b="0" dirty="0">
                          <a:solidFill>
                            <a:schemeClr val="bg1"/>
                          </a:solidFill>
                        </a:rPr>
                        <a:t>人年</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8613362"/>
                  </a:ext>
                </a:extLst>
              </a:tr>
            </a:tbl>
          </a:graphicData>
        </a:graphic>
      </p:graphicFrame>
    </p:spTree>
    <p:extLst>
      <p:ext uri="{BB962C8B-B14F-4D97-AF65-F5344CB8AC3E}">
        <p14:creationId xmlns:p14="http://schemas.microsoft.com/office/powerpoint/2010/main" val="388413536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标题 52">
            <a:extLst>
              <a:ext uri="{FF2B5EF4-FFF2-40B4-BE49-F238E27FC236}">
                <a16:creationId xmlns:a16="http://schemas.microsoft.com/office/drawing/2014/main" id="{FF7DC5C3-BD91-9AD7-7050-0A340326C4C8}"/>
              </a:ext>
            </a:extLst>
          </p:cNvPr>
          <p:cNvSpPr>
            <a:spLocks noGrp="1"/>
          </p:cNvSpPr>
          <p:nvPr>
            <p:ph type="title"/>
          </p:nvPr>
        </p:nvSpPr>
        <p:spPr>
          <a:xfrm>
            <a:off x="695998" y="360000"/>
            <a:ext cx="6375921" cy="429413"/>
          </a:xfrm>
        </p:spPr>
        <p:txBody>
          <a:bodyPr/>
          <a:lstStyle/>
          <a:p>
            <a:r>
              <a:rPr lang="en-US" altLang="zh-CN" dirty="0"/>
              <a:t>6.1.2 </a:t>
            </a:r>
            <a:r>
              <a:rPr lang="zh-CN" altLang="en-US" dirty="0"/>
              <a:t>规模、工作量、成本</a:t>
            </a:r>
          </a:p>
        </p:txBody>
      </p:sp>
      <p:sp>
        <p:nvSpPr>
          <p:cNvPr id="4" name="内容占位符 3">
            <a:extLst>
              <a:ext uri="{FF2B5EF4-FFF2-40B4-BE49-F238E27FC236}">
                <a16:creationId xmlns:a16="http://schemas.microsoft.com/office/drawing/2014/main" id="{93389D6C-B0AF-6DCD-9431-158A954734AC}"/>
              </a:ext>
            </a:extLst>
          </p:cNvPr>
          <p:cNvSpPr>
            <a:spLocks noGrp="1"/>
          </p:cNvSpPr>
          <p:nvPr>
            <p:ph idx="1"/>
          </p:nvPr>
        </p:nvSpPr>
        <p:spPr/>
        <p:txBody>
          <a:bodyPr/>
          <a:lstStyle/>
          <a:p>
            <a:endParaRPr lang="zh-CN" altLang="en-US"/>
          </a:p>
        </p:txBody>
      </p:sp>
      <p:sp>
        <p:nvSpPr>
          <p:cNvPr id="58" name="文本占位符 57">
            <a:extLst>
              <a:ext uri="{FF2B5EF4-FFF2-40B4-BE49-F238E27FC236}">
                <a16:creationId xmlns:a16="http://schemas.microsoft.com/office/drawing/2014/main" id="{2779E7E5-A305-2739-FE6E-D3521924CFF3}"/>
              </a:ext>
            </a:extLst>
          </p:cNvPr>
          <p:cNvSpPr>
            <a:spLocks noGrp="1"/>
          </p:cNvSpPr>
          <p:nvPr>
            <p:ph type="body" sz="quarter" idx="10"/>
          </p:nvPr>
        </p:nvSpPr>
        <p:spPr>
          <a:xfrm>
            <a:off x="7071919" y="448519"/>
            <a:ext cx="4424080" cy="338554"/>
          </a:xfrm>
        </p:spPr>
        <p:txBody>
          <a:bodyPr/>
          <a:lstStyle/>
          <a:p>
            <a:r>
              <a:rPr lang="en-US" altLang="zh-CN" dirty="0"/>
              <a:t>Unit</a:t>
            </a:r>
            <a:endParaRPr lang="zh-CN" altLang="en-US" dirty="0"/>
          </a:p>
        </p:txBody>
      </p:sp>
      <p:sp>
        <p:nvSpPr>
          <p:cNvPr id="11" name="矩形: 圆角 10">
            <a:extLst>
              <a:ext uri="{FF2B5EF4-FFF2-40B4-BE49-F238E27FC236}">
                <a16:creationId xmlns:a16="http://schemas.microsoft.com/office/drawing/2014/main" id="{0DD6A434-91FF-74F3-9876-3BAE5215020C}"/>
              </a:ext>
            </a:extLst>
          </p:cNvPr>
          <p:cNvSpPr/>
          <p:nvPr/>
        </p:nvSpPr>
        <p:spPr>
          <a:xfrm>
            <a:off x="678419" y="3009899"/>
            <a:ext cx="144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软件开发成本</a:t>
            </a:r>
          </a:p>
        </p:txBody>
      </p:sp>
      <p:sp>
        <p:nvSpPr>
          <p:cNvPr id="12" name="矩形: 圆角 11">
            <a:extLst>
              <a:ext uri="{FF2B5EF4-FFF2-40B4-BE49-F238E27FC236}">
                <a16:creationId xmlns:a16="http://schemas.microsoft.com/office/drawing/2014/main" id="{C85B4BB5-32C4-A702-9D55-8F737077A5E5}"/>
              </a:ext>
            </a:extLst>
          </p:cNvPr>
          <p:cNvSpPr/>
          <p:nvPr/>
        </p:nvSpPr>
        <p:spPr>
          <a:xfrm>
            <a:off x="2487807" y="2047567"/>
            <a:ext cx="144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人力成本</a:t>
            </a:r>
          </a:p>
        </p:txBody>
      </p:sp>
      <p:sp>
        <p:nvSpPr>
          <p:cNvPr id="13" name="矩形: 圆角 12">
            <a:extLst>
              <a:ext uri="{FF2B5EF4-FFF2-40B4-BE49-F238E27FC236}">
                <a16:creationId xmlns:a16="http://schemas.microsoft.com/office/drawing/2014/main" id="{2EF64420-6F3B-861F-A803-351664B90032}"/>
              </a:ext>
            </a:extLst>
          </p:cNvPr>
          <p:cNvSpPr/>
          <p:nvPr/>
        </p:nvSpPr>
        <p:spPr>
          <a:xfrm>
            <a:off x="2487807" y="3972231"/>
            <a:ext cx="144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非人力成本</a:t>
            </a:r>
          </a:p>
        </p:txBody>
      </p:sp>
      <p:cxnSp>
        <p:nvCxnSpPr>
          <p:cNvPr id="15" name="连接符: 肘形 14">
            <a:extLst>
              <a:ext uri="{FF2B5EF4-FFF2-40B4-BE49-F238E27FC236}">
                <a16:creationId xmlns:a16="http://schemas.microsoft.com/office/drawing/2014/main" id="{8C67630F-BF67-20D4-2085-7AE0340FE5F2}"/>
              </a:ext>
            </a:extLst>
          </p:cNvPr>
          <p:cNvCxnSpPr>
            <a:stCxn id="11" idx="3"/>
            <a:endCxn id="12" idx="1"/>
          </p:cNvCxnSpPr>
          <p:nvPr/>
        </p:nvCxnSpPr>
        <p:spPr>
          <a:xfrm flipV="1">
            <a:off x="2118419" y="2263877"/>
            <a:ext cx="369388" cy="96233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44BD4E32-C547-F4C5-E02F-F36E4847AC49}"/>
              </a:ext>
            </a:extLst>
          </p:cNvPr>
          <p:cNvCxnSpPr>
            <a:stCxn id="13" idx="1"/>
            <a:endCxn id="11" idx="3"/>
          </p:cNvCxnSpPr>
          <p:nvPr/>
        </p:nvCxnSpPr>
        <p:spPr>
          <a:xfrm rot="10800000">
            <a:off x="2118419" y="3226209"/>
            <a:ext cx="369388" cy="96233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0922A1E3-0C07-22AD-4BEF-F7584A1941DA}"/>
              </a:ext>
            </a:extLst>
          </p:cNvPr>
          <p:cNvSpPr/>
          <p:nvPr/>
        </p:nvSpPr>
        <p:spPr>
          <a:xfrm>
            <a:off x="4297195" y="1494503"/>
            <a:ext cx="1512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直接人力成本</a:t>
            </a:r>
          </a:p>
        </p:txBody>
      </p:sp>
      <p:sp>
        <p:nvSpPr>
          <p:cNvPr id="19" name="矩形: 圆角 18">
            <a:extLst>
              <a:ext uri="{FF2B5EF4-FFF2-40B4-BE49-F238E27FC236}">
                <a16:creationId xmlns:a16="http://schemas.microsoft.com/office/drawing/2014/main" id="{1420863A-79AA-4BCB-FB87-C0F1DCAC3D3B}"/>
              </a:ext>
            </a:extLst>
          </p:cNvPr>
          <p:cNvSpPr/>
          <p:nvPr/>
        </p:nvSpPr>
        <p:spPr>
          <a:xfrm>
            <a:off x="4297195" y="2600632"/>
            <a:ext cx="1512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间接人力成本</a:t>
            </a:r>
          </a:p>
        </p:txBody>
      </p:sp>
      <p:cxnSp>
        <p:nvCxnSpPr>
          <p:cNvPr id="21" name="连接符: 肘形 20">
            <a:extLst>
              <a:ext uri="{FF2B5EF4-FFF2-40B4-BE49-F238E27FC236}">
                <a16:creationId xmlns:a16="http://schemas.microsoft.com/office/drawing/2014/main" id="{6911D190-367B-349D-4620-8D30F3B1AAF8}"/>
              </a:ext>
            </a:extLst>
          </p:cNvPr>
          <p:cNvCxnSpPr>
            <a:stCxn id="12" idx="3"/>
            <a:endCxn id="18" idx="1"/>
          </p:cNvCxnSpPr>
          <p:nvPr/>
        </p:nvCxnSpPr>
        <p:spPr>
          <a:xfrm flipV="1">
            <a:off x="3927807" y="1710813"/>
            <a:ext cx="369388" cy="553064"/>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DBB129A5-0E49-55D1-07BE-C49ADD86897C}"/>
              </a:ext>
            </a:extLst>
          </p:cNvPr>
          <p:cNvCxnSpPr>
            <a:stCxn id="19" idx="1"/>
            <a:endCxn id="12" idx="3"/>
          </p:cNvCxnSpPr>
          <p:nvPr/>
        </p:nvCxnSpPr>
        <p:spPr>
          <a:xfrm rot="10800000">
            <a:off x="3927807" y="2263878"/>
            <a:ext cx="369388" cy="55306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C70F4D59-5AF6-E849-7A97-60870E89B33E}"/>
              </a:ext>
            </a:extLst>
          </p:cNvPr>
          <p:cNvSpPr/>
          <p:nvPr/>
        </p:nvSpPr>
        <p:spPr>
          <a:xfrm>
            <a:off x="4297195" y="3419166"/>
            <a:ext cx="1512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直接非人力成本</a:t>
            </a:r>
          </a:p>
        </p:txBody>
      </p:sp>
      <p:sp>
        <p:nvSpPr>
          <p:cNvPr id="25" name="矩形: 圆角 24">
            <a:extLst>
              <a:ext uri="{FF2B5EF4-FFF2-40B4-BE49-F238E27FC236}">
                <a16:creationId xmlns:a16="http://schemas.microsoft.com/office/drawing/2014/main" id="{C92D0D4C-A692-1F73-8EC5-D56D55F97B93}"/>
              </a:ext>
            </a:extLst>
          </p:cNvPr>
          <p:cNvSpPr/>
          <p:nvPr/>
        </p:nvSpPr>
        <p:spPr>
          <a:xfrm>
            <a:off x="4297195" y="4525295"/>
            <a:ext cx="1512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间接非人力成本</a:t>
            </a:r>
          </a:p>
        </p:txBody>
      </p:sp>
      <p:cxnSp>
        <p:nvCxnSpPr>
          <p:cNvPr id="27" name="连接符: 肘形 26">
            <a:extLst>
              <a:ext uri="{FF2B5EF4-FFF2-40B4-BE49-F238E27FC236}">
                <a16:creationId xmlns:a16="http://schemas.microsoft.com/office/drawing/2014/main" id="{0B9DB98E-E363-592E-5AA4-1BBAAE30BD6E}"/>
              </a:ext>
            </a:extLst>
          </p:cNvPr>
          <p:cNvCxnSpPr>
            <a:stCxn id="24" idx="1"/>
            <a:endCxn id="13" idx="3"/>
          </p:cNvCxnSpPr>
          <p:nvPr/>
        </p:nvCxnSpPr>
        <p:spPr>
          <a:xfrm rot="10800000" flipV="1">
            <a:off x="3927807" y="3635475"/>
            <a:ext cx="369388" cy="55306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DE9D71A6-2A64-3BD6-62E2-1AC8E97F14FB}"/>
              </a:ext>
            </a:extLst>
          </p:cNvPr>
          <p:cNvCxnSpPr>
            <a:stCxn id="25" idx="1"/>
            <a:endCxn id="13" idx="3"/>
          </p:cNvCxnSpPr>
          <p:nvPr/>
        </p:nvCxnSpPr>
        <p:spPr>
          <a:xfrm rot="10800000">
            <a:off x="3927807" y="4188541"/>
            <a:ext cx="369388" cy="553064"/>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09C23B81-E35E-CC84-1696-895966F36285}"/>
              </a:ext>
            </a:extLst>
          </p:cNvPr>
          <p:cNvSpPr txBox="1"/>
          <p:nvPr/>
        </p:nvSpPr>
        <p:spPr>
          <a:xfrm>
            <a:off x="6031098" y="1415843"/>
            <a:ext cx="5314275" cy="584775"/>
          </a:xfrm>
          <a:prstGeom prst="rect">
            <a:avLst/>
          </a:prstGeom>
          <a:noFill/>
        </p:spPr>
        <p:txBody>
          <a:bodyPr wrap="none" rtlCol="0">
            <a:spAutoFit/>
          </a:bodyPr>
          <a:lstStyle/>
          <a:p>
            <a:pPr algn="l"/>
            <a:r>
              <a:rPr lang="zh-CN" altLang="en-US" sz="1600" dirty="0">
                <a:solidFill>
                  <a:schemeClr val="bg1"/>
                </a:solidFill>
              </a:rPr>
              <a:t>为完成特定项目而直接投入的人力成本</a:t>
            </a:r>
            <a:endParaRPr lang="en-US" altLang="zh-CN" sz="1600" dirty="0">
              <a:solidFill>
                <a:schemeClr val="bg1"/>
              </a:solidFill>
            </a:endParaRPr>
          </a:p>
          <a:p>
            <a:pPr algn="l"/>
            <a:r>
              <a:rPr lang="zh-CN" altLang="en-US" sz="1600" dirty="0">
                <a:solidFill>
                  <a:schemeClr val="bg1"/>
                </a:solidFill>
              </a:rPr>
              <a:t>通常由项目组成员产生，其工作内容与项目目标直接相关</a:t>
            </a:r>
          </a:p>
        </p:txBody>
      </p:sp>
      <p:cxnSp>
        <p:nvCxnSpPr>
          <p:cNvPr id="34" name="直接连接符 33">
            <a:extLst>
              <a:ext uri="{FF2B5EF4-FFF2-40B4-BE49-F238E27FC236}">
                <a16:creationId xmlns:a16="http://schemas.microsoft.com/office/drawing/2014/main" id="{0EA48845-8293-9AB6-1CDA-535DC123EDED}"/>
              </a:ext>
            </a:extLst>
          </p:cNvPr>
          <p:cNvCxnSpPr>
            <a:cxnSpLocks/>
            <a:stCxn id="18" idx="3"/>
            <a:endCxn id="30" idx="1"/>
          </p:cNvCxnSpPr>
          <p:nvPr/>
        </p:nvCxnSpPr>
        <p:spPr>
          <a:xfrm flipV="1">
            <a:off x="5809195" y="1708231"/>
            <a:ext cx="221903" cy="2582"/>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35" name="文本框 34">
            <a:extLst>
              <a:ext uri="{FF2B5EF4-FFF2-40B4-BE49-F238E27FC236}">
                <a16:creationId xmlns:a16="http://schemas.microsoft.com/office/drawing/2014/main" id="{33463EDB-8563-69FB-47E9-A526F6566B3F}"/>
              </a:ext>
            </a:extLst>
          </p:cNvPr>
          <p:cNvSpPr txBox="1"/>
          <p:nvPr/>
        </p:nvSpPr>
        <p:spPr>
          <a:xfrm>
            <a:off x="6031098" y="4449216"/>
            <a:ext cx="5089855" cy="584775"/>
          </a:xfrm>
          <a:prstGeom prst="rect">
            <a:avLst/>
          </a:prstGeom>
          <a:noFill/>
        </p:spPr>
        <p:txBody>
          <a:bodyPr wrap="none" rtlCol="0">
            <a:spAutoFit/>
          </a:bodyPr>
          <a:lstStyle/>
          <a:p>
            <a:pPr algn="l"/>
            <a:r>
              <a:rPr lang="zh-CN" altLang="en-US" sz="1600" dirty="0">
                <a:solidFill>
                  <a:schemeClr val="bg1"/>
                </a:solidFill>
              </a:rPr>
              <a:t>非特定项目，服务于</a:t>
            </a:r>
            <a:r>
              <a:rPr lang="zh-CN" altLang="en-US" sz="1600" dirty="0">
                <a:solidFill>
                  <a:srgbClr val="FFFF00"/>
                </a:solidFill>
              </a:rPr>
              <a:t>整体</a:t>
            </a:r>
            <a:endParaRPr lang="en-US" altLang="zh-CN" sz="1600" dirty="0">
              <a:solidFill>
                <a:srgbClr val="FFFF00"/>
              </a:solidFill>
            </a:endParaRPr>
          </a:p>
          <a:p>
            <a:pPr algn="l"/>
            <a:r>
              <a:rPr lang="zh-CN" altLang="en-US" sz="1600" dirty="0">
                <a:solidFill>
                  <a:schemeClr val="bg1"/>
                </a:solidFill>
              </a:rPr>
              <a:t>房租、水电费、物业费、设备租赁和维修、品牌营销</a:t>
            </a:r>
          </a:p>
        </p:txBody>
      </p:sp>
      <p:cxnSp>
        <p:nvCxnSpPr>
          <p:cNvPr id="37" name="直接连接符 36">
            <a:extLst>
              <a:ext uri="{FF2B5EF4-FFF2-40B4-BE49-F238E27FC236}">
                <a16:creationId xmlns:a16="http://schemas.microsoft.com/office/drawing/2014/main" id="{3BC48252-033D-F1F7-48B6-64C40EA68827}"/>
              </a:ext>
            </a:extLst>
          </p:cNvPr>
          <p:cNvCxnSpPr>
            <a:stCxn id="25" idx="3"/>
            <a:endCxn id="35" idx="1"/>
          </p:cNvCxnSpPr>
          <p:nvPr/>
        </p:nvCxnSpPr>
        <p:spPr>
          <a:xfrm flipV="1">
            <a:off x="5809195" y="4741604"/>
            <a:ext cx="221903" cy="1"/>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E4BF1807-6766-8056-8292-131E251CDCA9}"/>
              </a:ext>
            </a:extLst>
          </p:cNvPr>
          <p:cNvSpPr txBox="1"/>
          <p:nvPr/>
        </p:nvSpPr>
        <p:spPr>
          <a:xfrm>
            <a:off x="6031098" y="3343087"/>
            <a:ext cx="3262432" cy="584775"/>
          </a:xfrm>
          <a:prstGeom prst="rect">
            <a:avLst/>
          </a:prstGeom>
          <a:noFill/>
        </p:spPr>
        <p:txBody>
          <a:bodyPr wrap="none" rtlCol="0">
            <a:spAutoFit/>
          </a:bodyPr>
          <a:lstStyle/>
          <a:p>
            <a:pPr algn="l"/>
            <a:r>
              <a:rPr lang="zh-CN" altLang="en-US" sz="1600" dirty="0">
                <a:solidFill>
                  <a:schemeClr val="bg1"/>
                </a:solidFill>
              </a:rPr>
              <a:t>服务于特定项目</a:t>
            </a:r>
            <a:endParaRPr lang="en-US" altLang="zh-CN" sz="1600" dirty="0">
              <a:solidFill>
                <a:schemeClr val="bg1"/>
              </a:solidFill>
            </a:endParaRPr>
          </a:p>
          <a:p>
            <a:pPr algn="l"/>
            <a:r>
              <a:rPr lang="zh-CN" altLang="en-US" sz="1600" dirty="0">
                <a:solidFill>
                  <a:schemeClr val="bg1"/>
                </a:solidFill>
              </a:rPr>
              <a:t>差旅费、办公费、培训费、采购费</a:t>
            </a:r>
          </a:p>
        </p:txBody>
      </p:sp>
      <p:cxnSp>
        <p:nvCxnSpPr>
          <p:cNvPr id="40" name="连接符: 肘形 39">
            <a:extLst>
              <a:ext uri="{FF2B5EF4-FFF2-40B4-BE49-F238E27FC236}">
                <a16:creationId xmlns:a16="http://schemas.microsoft.com/office/drawing/2014/main" id="{9C363BDD-F54B-04EA-30CB-E1F9CB0E39ED}"/>
              </a:ext>
            </a:extLst>
          </p:cNvPr>
          <p:cNvCxnSpPr>
            <a:stCxn id="24" idx="3"/>
            <a:endCxn id="38" idx="1"/>
          </p:cNvCxnSpPr>
          <p:nvPr/>
        </p:nvCxnSpPr>
        <p:spPr>
          <a:xfrm flipV="1">
            <a:off x="5809195" y="3635475"/>
            <a:ext cx="221903" cy="1"/>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3E26E9C-7E9B-7C87-145B-E07625A0B3EA}"/>
              </a:ext>
            </a:extLst>
          </p:cNvPr>
          <p:cNvSpPr txBox="1"/>
          <p:nvPr/>
        </p:nvSpPr>
        <p:spPr>
          <a:xfrm>
            <a:off x="6031098" y="2526763"/>
            <a:ext cx="5194051" cy="584775"/>
          </a:xfrm>
          <a:prstGeom prst="rect">
            <a:avLst/>
          </a:prstGeom>
          <a:noFill/>
        </p:spPr>
        <p:txBody>
          <a:bodyPr wrap="none" rtlCol="0">
            <a:spAutoFit/>
          </a:bodyPr>
          <a:lstStyle/>
          <a:p>
            <a:pPr algn="l"/>
            <a:r>
              <a:rPr lang="zh-CN" altLang="en-US" sz="1600" dirty="0">
                <a:solidFill>
                  <a:schemeClr val="bg1"/>
                </a:solidFill>
              </a:rPr>
              <a:t>为支持多个项目或整个组织运营而产生的共同人力成本</a:t>
            </a:r>
            <a:endParaRPr lang="en-US" altLang="zh-CN" sz="1600" dirty="0">
              <a:solidFill>
                <a:schemeClr val="bg1"/>
              </a:solidFill>
            </a:endParaRPr>
          </a:p>
          <a:p>
            <a:pPr algn="l"/>
            <a:r>
              <a:rPr lang="zh-CN" altLang="en-US" sz="1600" dirty="0">
                <a:solidFill>
                  <a:schemeClr val="bg1"/>
                </a:solidFill>
              </a:rPr>
              <a:t>通常由非项目组成员</a:t>
            </a:r>
          </a:p>
        </p:txBody>
      </p:sp>
      <p:cxnSp>
        <p:nvCxnSpPr>
          <p:cNvPr id="50" name="直接连接符 49">
            <a:extLst>
              <a:ext uri="{FF2B5EF4-FFF2-40B4-BE49-F238E27FC236}">
                <a16:creationId xmlns:a16="http://schemas.microsoft.com/office/drawing/2014/main" id="{1DA3DF91-0445-3A29-3726-FB96D69E648B}"/>
              </a:ext>
            </a:extLst>
          </p:cNvPr>
          <p:cNvCxnSpPr>
            <a:stCxn id="19" idx="3"/>
            <a:endCxn id="48" idx="1"/>
          </p:cNvCxnSpPr>
          <p:nvPr/>
        </p:nvCxnSpPr>
        <p:spPr>
          <a:xfrm>
            <a:off x="5809195" y="2816942"/>
            <a:ext cx="221903" cy="2209"/>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826520"/>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5B95419-7651-570F-04A0-04ECBA10E3AE}"/>
              </a:ext>
            </a:extLst>
          </p:cNvPr>
          <p:cNvGraphicFramePr>
            <a:graphicFrameLocks noGrp="1"/>
          </p:cNvGraphicFramePr>
          <p:nvPr>
            <p:extLst>
              <p:ext uri="{D42A27DB-BD31-4B8C-83A1-F6EECF244321}">
                <p14:modId xmlns:p14="http://schemas.microsoft.com/office/powerpoint/2010/main" val="1512362222"/>
              </p:ext>
            </p:extLst>
          </p:nvPr>
        </p:nvGraphicFramePr>
        <p:xfrm>
          <a:off x="3396000" y="2423160"/>
          <a:ext cx="5400000" cy="2346960"/>
        </p:xfrm>
        <a:graphic>
          <a:graphicData uri="http://schemas.openxmlformats.org/drawingml/2006/table">
            <a:tbl>
              <a:tblPr firstRow="1" bandRow="1">
                <a:tableStyleId>{5C22544A-7EE6-4342-B048-85BDC9FD1C3A}</a:tableStyleId>
              </a:tblPr>
              <a:tblGrid>
                <a:gridCol w="2051071">
                  <a:extLst>
                    <a:ext uri="{9D8B030D-6E8A-4147-A177-3AD203B41FA5}">
                      <a16:colId xmlns:a16="http://schemas.microsoft.com/office/drawing/2014/main" val="3641768852"/>
                    </a:ext>
                  </a:extLst>
                </a:gridCol>
                <a:gridCol w="3348929">
                  <a:extLst>
                    <a:ext uri="{9D8B030D-6E8A-4147-A177-3AD203B41FA5}">
                      <a16:colId xmlns:a16="http://schemas.microsoft.com/office/drawing/2014/main" val="1125877973"/>
                    </a:ext>
                  </a:extLst>
                </a:gridCol>
              </a:tblGrid>
              <a:tr h="145599">
                <a:tc>
                  <a:txBody>
                    <a:bodyPr/>
                    <a:lstStyle/>
                    <a:p>
                      <a:r>
                        <a:rPr lang="en-US" altLang="zh-CN" sz="1600" b="0" dirty="0">
                          <a:solidFill>
                            <a:schemeClr val="bg1"/>
                          </a:solidFill>
                        </a:rPr>
                        <a:t>Type</a:t>
                      </a:r>
                    </a:p>
                  </a:txBody>
                  <a:tcP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Desc</a:t>
                      </a:r>
                      <a:endParaRPr lang="zh-CN" altLang="en-US" sz="1600" b="0"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89251913"/>
                  </a:ext>
                </a:extLst>
              </a:tr>
              <a:tr h="145599">
                <a:tc>
                  <a:txBody>
                    <a:bodyPr/>
                    <a:lstStyle/>
                    <a:p>
                      <a:r>
                        <a:rPr lang="zh-CN" altLang="en-US" sz="1600" b="0" dirty="0">
                          <a:solidFill>
                            <a:schemeClr val="bg1"/>
                          </a:solidFill>
                        </a:rPr>
                        <a:t>固定成本</a:t>
                      </a:r>
                      <a:endParaRPr lang="en-US" altLang="zh-CN" sz="1600" b="0" dirty="0">
                        <a:solidFill>
                          <a:schemeClr val="bg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Fixed Costs</a:t>
                      </a:r>
                      <a:endParaRPr lang="zh-CN" altLang="en-US" sz="1600" b="0" dirty="0">
                        <a:solidFill>
                          <a:schemeClr val="bg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8626079"/>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可变成本</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Variable Costs</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7967592"/>
                  </a:ext>
                </a:extLst>
              </a:tr>
              <a:tr h="145599">
                <a:tc>
                  <a:txBody>
                    <a:bodyPr/>
                    <a:lstStyle/>
                    <a:p>
                      <a:r>
                        <a:rPr lang="zh-CN" altLang="en-US" sz="1600" b="0" dirty="0">
                          <a:solidFill>
                            <a:schemeClr val="bg1"/>
                          </a:solidFill>
                        </a:rPr>
                        <a:t>直接成本 </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Direct Costs</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3752906"/>
                  </a:ext>
                </a:extLst>
              </a:tr>
              <a:tr h="145599">
                <a:tc>
                  <a:txBody>
                    <a:bodyPr/>
                    <a:lstStyle/>
                    <a:p>
                      <a:r>
                        <a:rPr lang="zh-CN" altLang="en-US" sz="1600" b="0" dirty="0">
                          <a:solidFill>
                            <a:schemeClr val="bg1"/>
                          </a:solidFill>
                        </a:rPr>
                        <a:t>间接成本 </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Indirect Costs</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8572355"/>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机会成本 </a:t>
                      </a:r>
                      <a:endParaRPr lang="en-US" altLang="zh-CN" sz="1600" b="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Opportunity Cost</a:t>
                      </a:r>
                      <a:endParaRPr lang="zh-CN" altLang="en-US" sz="1600" b="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2734663"/>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沉默成本</a:t>
                      </a:r>
                    </a:p>
                  </a:txBody>
                  <a:tcP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Sunk Cost</a:t>
                      </a:r>
                      <a:endParaRPr lang="zh-CN" altLang="en-US" sz="1600" b="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508010"/>
                  </a:ext>
                </a:extLst>
              </a:tr>
            </a:tbl>
          </a:graphicData>
        </a:graphic>
      </p:graphicFrame>
    </p:spTree>
    <p:extLst>
      <p:ext uri="{BB962C8B-B14F-4D97-AF65-F5344CB8AC3E}">
        <p14:creationId xmlns:p14="http://schemas.microsoft.com/office/powerpoint/2010/main" val="1729006732"/>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2403222" cy="400110"/>
          </a:xfrm>
          <a:prstGeom prst="rect">
            <a:avLst/>
          </a:prstGeom>
          <a:noFill/>
        </p:spPr>
        <p:txBody>
          <a:bodyPr wrap="none" rtlCol="0">
            <a:spAutoFit/>
          </a:bodyPr>
          <a:lstStyle/>
          <a:p>
            <a:r>
              <a:rPr lang="zh-CN" altLang="en-US" sz="2000" dirty="0">
                <a:solidFill>
                  <a:schemeClr val="bg1"/>
                </a:solidFill>
              </a:rPr>
              <a:t>判断 </a:t>
            </a:r>
            <a:r>
              <a:rPr lang="en-US" altLang="zh-CN" sz="2000" dirty="0">
                <a:solidFill>
                  <a:schemeClr val="bg1"/>
                </a:solidFill>
              </a:rPr>
              <a:t>True or False</a:t>
            </a:r>
            <a:endParaRPr lang="zh-CN" altLang="en-US" sz="2000" dirty="0">
              <a:solidFill>
                <a:schemeClr val="bg1"/>
              </a:solidFill>
            </a:endParaRPr>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4108817" cy="369332"/>
          </a:xfrm>
          <a:prstGeom prst="rect">
            <a:avLst/>
          </a:prstGeom>
          <a:noFill/>
        </p:spPr>
        <p:txBody>
          <a:bodyPr wrap="none" rtlCol="0">
            <a:spAutoFit/>
          </a:bodyPr>
          <a:lstStyle/>
          <a:p>
            <a:r>
              <a:rPr lang="zh-CN" altLang="en-US" dirty="0">
                <a:solidFill>
                  <a:schemeClr val="bg1"/>
                </a:solidFill>
              </a:rPr>
              <a:t>间接成本是一个与具体项目相关的成本</a:t>
            </a:r>
          </a:p>
        </p:txBody>
      </p:sp>
    </p:spTree>
    <p:extLst>
      <p:ext uri="{BB962C8B-B14F-4D97-AF65-F5344CB8AC3E}">
        <p14:creationId xmlns:p14="http://schemas.microsoft.com/office/powerpoint/2010/main" val="408738459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7D3BAB-CF5F-E83D-4E7D-206A6B634295}"/>
              </a:ext>
            </a:extLst>
          </p:cNvPr>
          <p:cNvSpPr>
            <a:spLocks noGrp="1"/>
          </p:cNvSpPr>
          <p:nvPr>
            <p:ph type="title"/>
          </p:nvPr>
        </p:nvSpPr>
        <p:spPr>
          <a:xfrm>
            <a:off x="695998" y="360000"/>
            <a:ext cx="6375921" cy="429413"/>
          </a:xfrm>
        </p:spPr>
        <p:txBody>
          <a:bodyPr/>
          <a:lstStyle/>
          <a:p>
            <a:r>
              <a:rPr lang="en-US" altLang="zh-CN" dirty="0"/>
              <a:t>6.1.3 </a:t>
            </a:r>
            <a:r>
              <a:rPr lang="zh-CN" altLang="en-US" dirty="0"/>
              <a:t>成本估算过程</a:t>
            </a:r>
          </a:p>
        </p:txBody>
      </p:sp>
      <p:sp>
        <p:nvSpPr>
          <p:cNvPr id="4" name="文本占位符 3">
            <a:extLst>
              <a:ext uri="{FF2B5EF4-FFF2-40B4-BE49-F238E27FC236}">
                <a16:creationId xmlns:a16="http://schemas.microsoft.com/office/drawing/2014/main" id="{54DE4BF8-859E-109E-D2B2-DA2E30D19F15}"/>
              </a:ext>
            </a:extLst>
          </p:cNvPr>
          <p:cNvSpPr>
            <a:spLocks noGrp="1"/>
          </p:cNvSpPr>
          <p:nvPr>
            <p:ph type="body" sz="quarter" idx="10"/>
          </p:nvPr>
        </p:nvSpPr>
        <p:spPr>
          <a:xfrm>
            <a:off x="7071919" y="448519"/>
            <a:ext cx="4424080" cy="338554"/>
          </a:xfrm>
        </p:spPr>
        <p:txBody>
          <a:bodyPr/>
          <a:lstStyle/>
          <a:p>
            <a:r>
              <a:rPr lang="en-US" altLang="zh-CN" dirty="0"/>
              <a:t>Procedure</a:t>
            </a:r>
            <a:endParaRPr lang="zh-CN" altLang="en-US" dirty="0"/>
          </a:p>
        </p:txBody>
      </p:sp>
      <p:sp>
        <p:nvSpPr>
          <p:cNvPr id="10" name="内容占位符 9">
            <a:extLst>
              <a:ext uri="{FF2B5EF4-FFF2-40B4-BE49-F238E27FC236}">
                <a16:creationId xmlns:a16="http://schemas.microsoft.com/office/drawing/2014/main" id="{148280F3-95A2-B913-4ABB-F8BC0DEE21C0}"/>
              </a:ext>
            </a:extLst>
          </p:cNvPr>
          <p:cNvSpPr>
            <a:spLocks noGrp="1"/>
          </p:cNvSpPr>
          <p:nvPr>
            <p:ph idx="1"/>
          </p:nvPr>
        </p:nvSpPr>
        <p:spPr>
          <a:xfrm>
            <a:off x="696000" y="864000"/>
            <a:ext cx="10800000" cy="5400000"/>
          </a:xfrm>
        </p:spPr>
        <p:txBody>
          <a:bodyPr/>
          <a:lstStyle/>
          <a:p>
            <a:endParaRPr lang="zh-CN" altLang="en-US" dirty="0"/>
          </a:p>
        </p:txBody>
      </p:sp>
      <p:graphicFrame>
        <p:nvGraphicFramePr>
          <p:cNvPr id="11" name="内容占位符 4">
            <a:extLst>
              <a:ext uri="{FF2B5EF4-FFF2-40B4-BE49-F238E27FC236}">
                <a16:creationId xmlns:a16="http://schemas.microsoft.com/office/drawing/2014/main" id="{91FFA317-31D2-3845-AA7B-8EF74E07051D}"/>
              </a:ext>
            </a:extLst>
          </p:cNvPr>
          <p:cNvGraphicFramePr>
            <a:graphicFrameLocks/>
          </p:cNvGraphicFramePr>
          <p:nvPr>
            <p:extLst>
              <p:ext uri="{D42A27DB-BD31-4B8C-83A1-F6EECF244321}">
                <p14:modId xmlns:p14="http://schemas.microsoft.com/office/powerpoint/2010/main" val="776255877"/>
              </p:ext>
            </p:extLst>
          </p:nvPr>
        </p:nvGraphicFramePr>
        <p:xfrm>
          <a:off x="3725734" y="2378867"/>
          <a:ext cx="4740532" cy="2370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20565888"/>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示 5">
            <a:extLst>
              <a:ext uri="{FF2B5EF4-FFF2-40B4-BE49-F238E27FC236}">
                <a16:creationId xmlns:a16="http://schemas.microsoft.com/office/drawing/2014/main" id="{1F6FCF31-CD1F-620B-1F32-28ADB95D82FA}"/>
              </a:ext>
            </a:extLst>
          </p:cNvPr>
          <p:cNvGraphicFramePr/>
          <p:nvPr>
            <p:extLst>
              <p:ext uri="{D42A27DB-BD31-4B8C-83A1-F6EECF244321}">
                <p14:modId xmlns:p14="http://schemas.microsoft.com/office/powerpoint/2010/main" val="126892184"/>
              </p:ext>
            </p:extLst>
          </p:nvPr>
        </p:nvGraphicFramePr>
        <p:xfrm>
          <a:off x="1874414" y="1299590"/>
          <a:ext cx="8443173" cy="48554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17246539"/>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1DCEF03-1137-4BA8-586E-02E55CF5C4A6}"/>
              </a:ext>
            </a:extLst>
          </p:cNvPr>
          <p:cNvSpPr>
            <a:spLocks noGrp="1"/>
          </p:cNvSpPr>
          <p:nvPr>
            <p:ph type="title"/>
          </p:nvPr>
        </p:nvSpPr>
        <p:spPr>
          <a:xfrm>
            <a:off x="695998" y="360000"/>
            <a:ext cx="6375921" cy="429413"/>
          </a:xfrm>
        </p:spPr>
        <p:txBody>
          <a:bodyPr/>
          <a:lstStyle/>
          <a:p>
            <a:r>
              <a:rPr lang="en-US" altLang="zh-CN" dirty="0"/>
              <a:t>6.2 </a:t>
            </a:r>
            <a:r>
              <a:rPr lang="zh-CN" altLang="en-US" dirty="0"/>
              <a:t>传统项目成本估算方法</a:t>
            </a:r>
          </a:p>
        </p:txBody>
      </p:sp>
      <p:sp>
        <p:nvSpPr>
          <p:cNvPr id="13" name="内容占位符 12">
            <a:extLst>
              <a:ext uri="{FF2B5EF4-FFF2-40B4-BE49-F238E27FC236}">
                <a16:creationId xmlns:a16="http://schemas.microsoft.com/office/drawing/2014/main" id="{82B174BF-9B6F-67BF-FDED-CD0E9CEB007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7B33AA-25E8-4869-CC44-A74778FD3402}"/>
              </a:ext>
            </a:extLst>
          </p:cNvPr>
          <p:cNvSpPr>
            <a:spLocks noGrp="1"/>
          </p:cNvSpPr>
          <p:nvPr>
            <p:ph type="body" sz="quarter" idx="10"/>
          </p:nvPr>
        </p:nvSpPr>
        <p:spPr>
          <a:xfrm>
            <a:off x="7071919" y="448519"/>
            <a:ext cx="4424080" cy="338554"/>
          </a:xfrm>
        </p:spPr>
        <p:txBody>
          <a:bodyPr/>
          <a:lstStyle/>
          <a:p>
            <a:r>
              <a:rPr lang="en-US" altLang="zh-CN" dirty="0"/>
              <a:t>Traditional</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3503127672"/>
              </p:ext>
            </p:extLst>
          </p:nvPr>
        </p:nvGraphicFramePr>
        <p:xfrm>
          <a:off x="695325" y="2503920"/>
          <a:ext cx="10800000" cy="3688080"/>
        </p:xfrm>
        <a:graphic>
          <a:graphicData uri="http://schemas.openxmlformats.org/drawingml/2006/table">
            <a:tbl>
              <a:tblPr/>
              <a:tblGrid>
                <a:gridCol w="2333010">
                  <a:extLst>
                    <a:ext uri="{9D8B030D-6E8A-4147-A177-3AD203B41FA5}">
                      <a16:colId xmlns:a16="http://schemas.microsoft.com/office/drawing/2014/main" val="3085145783"/>
                    </a:ext>
                  </a:extLst>
                </a:gridCol>
                <a:gridCol w="8466990">
                  <a:extLst>
                    <a:ext uri="{9D8B030D-6E8A-4147-A177-3AD203B41FA5}">
                      <a16:colId xmlns:a16="http://schemas.microsoft.com/office/drawing/2014/main" val="1127026529"/>
                    </a:ext>
                  </a:extLst>
                </a:gridCol>
              </a:tblGrid>
              <a:tr h="220656">
                <a:tc>
                  <a:txBody>
                    <a:bodyPr/>
                    <a:lstStyle/>
                    <a:p>
                      <a:pPr>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zh-CN" altLang="en-US" sz="1600" dirty="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9677568"/>
                  </a:ext>
                </a:extLst>
              </a:tr>
              <a:tr h="220656">
                <a:tc>
                  <a:txBody>
                    <a:bodyPr/>
                    <a:lstStyle/>
                    <a:p>
                      <a:pPr>
                        <a:buNone/>
                      </a:pPr>
                      <a:r>
                        <a:rPr lang="zh-CN" altLang="en-US" sz="1600" dirty="0">
                          <a:solidFill>
                            <a:schemeClr val="bg1"/>
                          </a:solidFill>
                        </a:rPr>
                        <a:t>代码行估算法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LOC</a:t>
                      </a:r>
                      <a:r>
                        <a:rPr lang="zh-CN" altLang="en-US" sz="1600" dirty="0">
                          <a:solidFill>
                            <a:schemeClr val="bg1"/>
                          </a:solidFill>
                        </a:rPr>
                        <a:t>；</a:t>
                      </a:r>
                      <a:r>
                        <a:rPr lang="en-US" altLang="zh-CN" sz="1600" dirty="0">
                          <a:solidFill>
                            <a:schemeClr val="bg1"/>
                          </a:solidFill>
                        </a:rPr>
                        <a:t>Line of Code</a:t>
                      </a:r>
                      <a:r>
                        <a:rPr lang="zh-CN" altLang="en-US" sz="1600" dirty="0">
                          <a:solidFill>
                            <a:schemeClr val="bg1"/>
                          </a:solidFill>
                        </a:rPr>
                        <a:t>；根据代码行数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11801"/>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功能点估算法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FP</a:t>
                      </a:r>
                      <a:r>
                        <a:rPr lang="zh-CN" altLang="en-US" sz="1600" dirty="0">
                          <a:solidFill>
                            <a:schemeClr val="bg1"/>
                          </a:solidFill>
                        </a:rPr>
                        <a:t>；</a:t>
                      </a:r>
                      <a:r>
                        <a:rPr lang="en-US" altLang="zh-CN" sz="1600" dirty="0">
                          <a:solidFill>
                            <a:schemeClr val="bg1"/>
                          </a:solidFill>
                        </a:rPr>
                        <a:t>Function Point</a:t>
                      </a:r>
                      <a:r>
                        <a:rPr lang="zh-CN" altLang="en-US" sz="1600" dirty="0">
                          <a:solidFill>
                            <a:schemeClr val="bg1"/>
                          </a:solidFill>
                        </a:rPr>
                        <a:t>；用系统的功能数量来测量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2883926"/>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用例点估算法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UCP</a:t>
                      </a:r>
                      <a:r>
                        <a:rPr lang="zh-CN" altLang="en-US" sz="1600" dirty="0">
                          <a:solidFill>
                            <a:schemeClr val="bg1"/>
                          </a:solidFill>
                        </a:rPr>
                        <a:t>；</a:t>
                      </a:r>
                      <a:r>
                        <a:rPr lang="en-US" altLang="zh-CN" sz="1600" dirty="0">
                          <a:solidFill>
                            <a:schemeClr val="bg1"/>
                          </a:solidFill>
                        </a:rPr>
                        <a:t>User Case Point</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82312070"/>
                  </a:ext>
                </a:extLst>
              </a:tr>
              <a:tr h="220656">
                <a:tc>
                  <a:txBody>
                    <a:bodyPr/>
                    <a:lstStyle/>
                    <a:p>
                      <a:pPr>
                        <a:buNone/>
                      </a:pPr>
                      <a:r>
                        <a:rPr lang="zh-CN" altLang="en-US" sz="1600" dirty="0">
                          <a:solidFill>
                            <a:schemeClr val="bg1"/>
                          </a:solidFill>
                        </a:rPr>
                        <a:t>类比估算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Analogy Estimation</a:t>
                      </a:r>
                      <a:r>
                        <a:rPr lang="zh-CN" altLang="en-US" sz="1600" dirty="0">
                          <a:solidFill>
                            <a:schemeClr val="bg1"/>
                          </a:solidFill>
                        </a:rPr>
                        <a:t>；使用类似项目的实际数据进行估算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3466589"/>
                  </a:ext>
                </a:extLst>
              </a:tr>
              <a:tr h="220656">
                <a:tc>
                  <a:txBody>
                    <a:bodyPr/>
                    <a:lstStyle/>
                    <a:p>
                      <a:pPr>
                        <a:buNone/>
                      </a:pPr>
                      <a:r>
                        <a:rPr lang="zh-CN" altLang="en-US" sz="1600">
                          <a:solidFill>
                            <a:schemeClr val="bg1"/>
                          </a:solidFill>
                        </a:rPr>
                        <a:t>自上而下估算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从整体项目开始，分解并分配资源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6852194"/>
                  </a:ext>
                </a:extLst>
              </a:tr>
              <a:tr h="220656">
                <a:tc>
                  <a:txBody>
                    <a:bodyPr/>
                    <a:lstStyle/>
                    <a:p>
                      <a:pPr>
                        <a:buNone/>
                      </a:pPr>
                      <a:r>
                        <a:rPr lang="zh-CN" altLang="en-US" sz="1600" dirty="0">
                          <a:solidFill>
                            <a:schemeClr val="bg1"/>
                          </a:solidFill>
                        </a:rPr>
                        <a:t>自下而上估算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先估算每个工作包或活动的成本</a:t>
                      </a:r>
                      <a:r>
                        <a:rPr lang="en-US" altLang="zh-CN" sz="1600" dirty="0">
                          <a:solidFill>
                            <a:schemeClr val="bg1"/>
                          </a:solidFill>
                        </a:rPr>
                        <a:t>/</a:t>
                      </a:r>
                      <a:r>
                        <a:rPr lang="zh-CN" altLang="en-US" sz="1600" dirty="0">
                          <a:solidFill>
                            <a:schemeClr val="bg1"/>
                          </a:solidFill>
                        </a:rPr>
                        <a:t>工期，再</a:t>
                      </a:r>
                      <a:r>
                        <a:rPr lang="zh-CN" altLang="en-US" sz="1600" dirty="0">
                          <a:solidFill>
                            <a:srgbClr val="FFFF00"/>
                          </a:solidFill>
                        </a:rPr>
                        <a:t>汇总</a:t>
                      </a:r>
                      <a:r>
                        <a:rPr lang="zh-CN" altLang="en-US" sz="1600" dirty="0">
                          <a:solidFill>
                            <a:schemeClr val="bg1"/>
                          </a:solidFill>
                        </a:rPr>
                        <a:t>到更高层级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0663309"/>
                  </a:ext>
                </a:extLst>
              </a:tr>
              <a:tr h="220656">
                <a:tc>
                  <a:txBody>
                    <a:bodyPr/>
                    <a:lstStyle/>
                    <a:p>
                      <a:pPr>
                        <a:buNone/>
                      </a:pPr>
                      <a:r>
                        <a:rPr lang="zh-CN" altLang="en-US" sz="1600">
                          <a:solidFill>
                            <a:schemeClr val="bg1"/>
                          </a:solidFill>
                        </a:rPr>
                        <a:t>多方案分析估算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比较多种技术或方案的成本</a:t>
                      </a:r>
                      <a:r>
                        <a:rPr lang="en-US" altLang="zh-CN" sz="1600" dirty="0">
                          <a:solidFill>
                            <a:schemeClr val="bg1"/>
                          </a:solidFill>
                        </a:rPr>
                        <a:t>/</a:t>
                      </a:r>
                      <a:r>
                        <a:rPr lang="zh-CN" altLang="en-US" sz="1600" dirty="0">
                          <a:solidFill>
                            <a:schemeClr val="bg1"/>
                          </a:solidFill>
                        </a:rPr>
                        <a:t>收益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496958"/>
                  </a:ext>
                </a:extLst>
              </a:tr>
              <a:tr h="220656">
                <a:tc>
                  <a:txBody>
                    <a:bodyPr/>
                    <a:lstStyle/>
                    <a:p>
                      <a:pPr>
                        <a:buNone/>
                      </a:pPr>
                      <a:r>
                        <a:rPr lang="zh-CN" altLang="en-US" sz="1600">
                          <a:solidFill>
                            <a:schemeClr val="bg1"/>
                          </a:solidFill>
                        </a:rPr>
                        <a:t>参数估算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基于数学模型和历史数据（如每米成本）进行估算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1272037"/>
                  </a:ext>
                </a:extLst>
              </a:tr>
              <a:tr h="220656">
                <a:tc>
                  <a:txBody>
                    <a:bodyPr/>
                    <a:lstStyle/>
                    <a:p>
                      <a:pPr>
                        <a:buNone/>
                      </a:pPr>
                      <a:r>
                        <a:rPr lang="zh-CN" altLang="en-US" sz="1600">
                          <a:solidFill>
                            <a:schemeClr val="bg1"/>
                          </a:solidFill>
                        </a:rPr>
                        <a:t>专家判断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依靠专家经验进行判断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2723542"/>
                  </a:ext>
                </a:extLst>
              </a:tr>
              <a:tr h="220656">
                <a:tc>
                  <a:txBody>
                    <a:bodyPr/>
                    <a:lstStyle/>
                    <a:p>
                      <a:pPr>
                        <a:buNone/>
                      </a:pPr>
                      <a:r>
                        <a:rPr lang="zh-CN" altLang="en-US" sz="1600">
                          <a:solidFill>
                            <a:schemeClr val="bg1"/>
                          </a:solidFill>
                        </a:rPr>
                        <a:t>三点估算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使用乐观</a:t>
                      </a:r>
                      <a:r>
                        <a:rPr lang="en-US" altLang="zh-CN" sz="1600" dirty="0">
                          <a:solidFill>
                            <a:schemeClr val="bg1"/>
                          </a:solidFill>
                        </a:rPr>
                        <a:t>O</a:t>
                      </a:r>
                      <a:r>
                        <a:rPr lang="zh-CN" altLang="en-US" sz="1600" dirty="0">
                          <a:solidFill>
                            <a:schemeClr val="bg1"/>
                          </a:solidFill>
                        </a:rPr>
                        <a:t>、最可能</a:t>
                      </a:r>
                      <a:r>
                        <a:rPr lang="en-US" altLang="zh-CN" sz="1600" dirty="0">
                          <a:solidFill>
                            <a:schemeClr val="bg1"/>
                          </a:solidFill>
                        </a:rPr>
                        <a:t>M</a:t>
                      </a:r>
                      <a:r>
                        <a:rPr lang="zh-CN" altLang="en-US" sz="1600" dirty="0">
                          <a:solidFill>
                            <a:schemeClr val="bg1"/>
                          </a:solidFill>
                        </a:rPr>
                        <a:t>、悲观</a:t>
                      </a:r>
                      <a:r>
                        <a:rPr lang="en-US" altLang="zh-CN" sz="1600" dirty="0">
                          <a:solidFill>
                            <a:schemeClr val="bg1"/>
                          </a:solidFill>
                        </a:rPr>
                        <a:t>P</a:t>
                      </a:r>
                      <a:r>
                        <a:rPr lang="zh-CN" altLang="en-US" sz="1600" dirty="0">
                          <a:solidFill>
                            <a:schemeClr val="bg1"/>
                          </a:solidFill>
                        </a:rPr>
                        <a:t>三个值计算期望工期或成本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55579103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15F311-F04E-F148-5D6E-8F944D3FEF57}"/>
              </a:ext>
            </a:extLst>
          </p:cNvPr>
          <p:cNvSpPr>
            <a:spLocks noGrp="1"/>
          </p:cNvSpPr>
          <p:nvPr>
            <p:ph type="title"/>
          </p:nvPr>
        </p:nvSpPr>
        <p:spPr>
          <a:xfrm>
            <a:off x="695998" y="360000"/>
            <a:ext cx="6375921" cy="429413"/>
          </a:xfrm>
        </p:spPr>
        <p:txBody>
          <a:bodyPr/>
          <a:lstStyle/>
          <a:p>
            <a:r>
              <a:rPr lang="en-US" altLang="zh-CN" dirty="0"/>
              <a:t>6.2.1 </a:t>
            </a:r>
            <a:r>
              <a:rPr lang="zh-CN" altLang="en-US" dirty="0"/>
              <a:t>代码行估算法</a:t>
            </a:r>
            <a:r>
              <a:rPr lang="en-US" altLang="zh-CN" dirty="0"/>
              <a:t> </a:t>
            </a:r>
            <a:endParaRPr lang="zh-CN" altLang="en-US" dirty="0"/>
          </a:p>
        </p:txBody>
      </p:sp>
      <p:sp>
        <p:nvSpPr>
          <p:cNvPr id="10" name="内容占位符 9">
            <a:extLst>
              <a:ext uri="{FF2B5EF4-FFF2-40B4-BE49-F238E27FC236}">
                <a16:creationId xmlns:a16="http://schemas.microsoft.com/office/drawing/2014/main" id="{1D96ED4E-C5BC-C1DA-4B0F-26F9ECC0EB29}"/>
              </a:ext>
            </a:extLst>
          </p:cNvPr>
          <p:cNvSpPr>
            <a:spLocks noGrp="1"/>
          </p:cNvSpPr>
          <p:nvPr>
            <p:ph idx="1"/>
          </p:nvPr>
        </p:nvSpPr>
        <p:spPr>
          <a:xfrm>
            <a:off x="696000" y="864000"/>
            <a:ext cx="10800000" cy="5400000"/>
          </a:xfrm>
        </p:spPr>
        <p:txBody>
          <a:bodyPr/>
          <a:lstStyle/>
          <a:p>
            <a:r>
              <a:rPr lang="en-US" altLang="zh-CN" dirty="0"/>
              <a:t>Line Of Code</a:t>
            </a:r>
          </a:p>
          <a:p>
            <a:r>
              <a:rPr lang="zh-CN" altLang="en-US" dirty="0"/>
              <a:t>没有固定标准</a:t>
            </a:r>
            <a:endParaRPr lang="en-US" altLang="zh-CN" dirty="0"/>
          </a:p>
          <a:p>
            <a:r>
              <a:rPr lang="zh-CN" altLang="en-US" dirty="0"/>
              <a:t>无法在项目</a:t>
            </a:r>
            <a:r>
              <a:rPr lang="zh-CN" altLang="en-US" dirty="0">
                <a:solidFill>
                  <a:srgbClr val="FFFF00"/>
                </a:solidFill>
              </a:rPr>
              <a:t>早期</a:t>
            </a:r>
            <a:r>
              <a:rPr lang="zh-CN" altLang="en-US" dirty="0"/>
              <a:t>（需求阶段）进行有效估算，也不便于跨项目对比</a:t>
            </a:r>
            <a:endParaRPr lang="en-US" altLang="zh-CN" dirty="0"/>
          </a:p>
          <a:p>
            <a:r>
              <a:rPr lang="zh-CN" altLang="en-US" dirty="0"/>
              <a:t>主观</a:t>
            </a:r>
            <a:endParaRPr lang="en-US" altLang="zh-CN" dirty="0"/>
          </a:p>
          <a:p>
            <a:r>
              <a:rPr lang="zh-CN" altLang="en-US" dirty="0"/>
              <a:t>依赖编程风格</a:t>
            </a:r>
          </a:p>
          <a:p>
            <a:endParaRPr lang="en-US" altLang="zh-CN" dirty="0"/>
          </a:p>
          <a:p>
            <a:endParaRPr lang="zh-CN" altLang="en-US" dirty="0"/>
          </a:p>
        </p:txBody>
      </p:sp>
      <p:sp>
        <p:nvSpPr>
          <p:cNvPr id="7" name="文本占位符 6">
            <a:extLst>
              <a:ext uri="{FF2B5EF4-FFF2-40B4-BE49-F238E27FC236}">
                <a16:creationId xmlns:a16="http://schemas.microsoft.com/office/drawing/2014/main" id="{0A430156-89D6-2ECA-71F6-3A5D14E2AC00}"/>
              </a:ext>
            </a:extLst>
          </p:cNvPr>
          <p:cNvSpPr>
            <a:spLocks noGrp="1"/>
          </p:cNvSpPr>
          <p:nvPr>
            <p:ph type="body" sz="quarter" idx="10"/>
          </p:nvPr>
        </p:nvSpPr>
        <p:spPr>
          <a:xfrm>
            <a:off x="7071919" y="448519"/>
            <a:ext cx="4424080" cy="338554"/>
          </a:xfrm>
        </p:spPr>
        <p:txBody>
          <a:bodyPr/>
          <a:lstStyle/>
          <a:p>
            <a:r>
              <a:rPr lang="en-US" altLang="zh-CN" dirty="0"/>
              <a:t>LOC/Traditional</a:t>
            </a:r>
            <a:endParaRPr lang="zh-CN" altLang="en-US" dirty="0"/>
          </a:p>
        </p:txBody>
      </p:sp>
    </p:spTree>
    <p:extLst>
      <p:ext uri="{BB962C8B-B14F-4D97-AF65-F5344CB8AC3E}">
        <p14:creationId xmlns:p14="http://schemas.microsoft.com/office/powerpoint/2010/main" val="361935767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8E0E0-FB3F-51A1-E8B4-BB975D7A023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46243C7-A724-6007-F0F5-9170F2E056C8}"/>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功能点估算法</a:t>
            </a:r>
            <a:r>
              <a:rPr lang="en-US" altLang="zh-CN" dirty="0"/>
              <a:t> </a:t>
            </a:r>
            <a:endParaRPr lang="zh-CN" altLang="en-US" dirty="0"/>
          </a:p>
        </p:txBody>
      </p:sp>
      <p:sp>
        <p:nvSpPr>
          <p:cNvPr id="10" name="内容占位符 9">
            <a:extLst>
              <a:ext uri="{FF2B5EF4-FFF2-40B4-BE49-F238E27FC236}">
                <a16:creationId xmlns:a16="http://schemas.microsoft.com/office/drawing/2014/main" id="{D46E523E-7186-1295-BACA-821DDF6762C5}"/>
              </a:ext>
            </a:extLst>
          </p:cNvPr>
          <p:cNvSpPr>
            <a:spLocks noGrp="1"/>
          </p:cNvSpPr>
          <p:nvPr>
            <p:ph idx="1"/>
          </p:nvPr>
        </p:nvSpPr>
        <p:spPr>
          <a:xfrm>
            <a:off x="696000" y="864000"/>
            <a:ext cx="10800000" cy="5400000"/>
          </a:xfrm>
        </p:spPr>
        <p:txBody>
          <a:bodyPr/>
          <a:lstStyle/>
          <a:p>
            <a:r>
              <a:rPr lang="en-US" altLang="zh-CN" dirty="0"/>
              <a:t>Function Point</a:t>
            </a:r>
          </a:p>
          <a:p>
            <a:r>
              <a:rPr lang="zh-CN" altLang="en-US" dirty="0"/>
              <a:t>系统的功能数量</a:t>
            </a:r>
            <a:endParaRPr lang="en-US" altLang="zh-CN" dirty="0"/>
          </a:p>
          <a:p>
            <a:r>
              <a:rPr lang="zh-CN" altLang="en-US" dirty="0"/>
              <a:t>与实现的语言和技术没有关系</a:t>
            </a:r>
            <a:endParaRPr lang="en-US" altLang="zh-CN" dirty="0"/>
          </a:p>
          <a:p>
            <a:r>
              <a:rPr lang="en-US" altLang="zh-CN" dirty="0"/>
              <a:t>IBM</a:t>
            </a:r>
            <a:r>
              <a:rPr lang="zh-CN" altLang="en-US" dirty="0"/>
              <a:t>工程师</a:t>
            </a:r>
            <a:r>
              <a:rPr lang="en-US" altLang="zh-CN" dirty="0"/>
              <a:t> Alan Albrecht </a:t>
            </a:r>
            <a:r>
              <a:rPr lang="zh-CN" altLang="en-US" dirty="0"/>
              <a:t>于</a:t>
            </a:r>
            <a:r>
              <a:rPr lang="en-US" altLang="zh-CN" dirty="0"/>
              <a:t>1979</a:t>
            </a:r>
            <a:r>
              <a:rPr lang="zh-CN" altLang="en-US" dirty="0"/>
              <a:t>年提出</a:t>
            </a:r>
            <a:endParaRPr lang="en-US" altLang="zh-CN" dirty="0"/>
          </a:p>
          <a:p>
            <a:r>
              <a:rPr lang="zh-CN" altLang="en-US" dirty="0"/>
              <a:t>用户视角：从用户对系统功能的需求出发，而非开发者的实现细节</a:t>
            </a:r>
          </a:p>
          <a:p>
            <a:r>
              <a:rPr lang="zh-CN" altLang="en-US" dirty="0"/>
              <a:t>客观量化：通过标准化的规则，将系统功能分解为可计数的组件，从而提供一种与实现语言和技术无关的估算方式</a:t>
            </a:r>
            <a:endParaRPr lang="en-US" altLang="zh-CN" dirty="0"/>
          </a:p>
          <a:p>
            <a:endParaRPr lang="zh-CN" altLang="en-US" dirty="0"/>
          </a:p>
        </p:txBody>
      </p:sp>
      <p:sp>
        <p:nvSpPr>
          <p:cNvPr id="7" name="文本占位符 6">
            <a:extLst>
              <a:ext uri="{FF2B5EF4-FFF2-40B4-BE49-F238E27FC236}">
                <a16:creationId xmlns:a16="http://schemas.microsoft.com/office/drawing/2014/main" id="{76889871-60EE-442D-13C3-F88BC744CFD2}"/>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06949208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0" name="组合 49">
            <a:extLst>
              <a:ext uri="{FF2B5EF4-FFF2-40B4-BE49-F238E27FC236}">
                <a16:creationId xmlns:a16="http://schemas.microsoft.com/office/drawing/2014/main" id="{F508AF58-D7D3-E18E-B478-977D7F3EE5A4}"/>
              </a:ext>
            </a:extLst>
          </p:cNvPr>
          <p:cNvGrpSpPr/>
          <p:nvPr/>
        </p:nvGrpSpPr>
        <p:grpSpPr>
          <a:xfrm>
            <a:off x="2070850" y="1492661"/>
            <a:ext cx="8050300" cy="1914191"/>
            <a:chOff x="2143779" y="1337186"/>
            <a:chExt cx="8050300" cy="1914191"/>
          </a:xfrm>
        </p:grpSpPr>
        <p:sp>
          <p:nvSpPr>
            <p:cNvPr id="5" name="矩形 4">
              <a:extLst>
                <a:ext uri="{FF2B5EF4-FFF2-40B4-BE49-F238E27FC236}">
                  <a16:creationId xmlns:a16="http://schemas.microsoft.com/office/drawing/2014/main" id="{B1834B05-A36B-61EB-5B1E-904F87122C29}"/>
                </a:ext>
              </a:extLst>
            </p:cNvPr>
            <p:cNvSpPr/>
            <p:nvPr/>
          </p:nvSpPr>
          <p:spPr>
            <a:xfrm>
              <a:off x="4168877" y="2251584"/>
              <a:ext cx="2880000" cy="999793"/>
            </a:xfrm>
            <a:prstGeom prst="rect">
              <a:avLst/>
            </a:prstGeom>
            <a:noFill/>
            <a:ln>
              <a:solidFill>
                <a:schemeClr val="bg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altLang="zh-CN" sz="1400" dirty="0">
                  <a:solidFill>
                    <a:schemeClr val="bg1"/>
                  </a:solidFill>
                </a:rPr>
                <a:t>System</a:t>
              </a:r>
              <a:endParaRPr lang="zh-CN" altLang="en-US" sz="1400" dirty="0">
                <a:solidFill>
                  <a:schemeClr val="bg1"/>
                </a:solidFill>
              </a:endParaRPr>
            </a:p>
          </p:txBody>
        </p:sp>
        <p:sp>
          <p:nvSpPr>
            <p:cNvPr id="6" name="矩形: 圆角 5">
              <a:extLst>
                <a:ext uri="{FF2B5EF4-FFF2-40B4-BE49-F238E27FC236}">
                  <a16:creationId xmlns:a16="http://schemas.microsoft.com/office/drawing/2014/main" id="{E5355481-1CEC-1302-6B20-C3AECBB17AF3}"/>
                </a:ext>
              </a:extLst>
            </p:cNvPr>
            <p:cNvSpPr/>
            <p:nvPr/>
          </p:nvSpPr>
          <p:spPr>
            <a:xfrm>
              <a:off x="5068877" y="1337186"/>
              <a:ext cx="108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User</a:t>
              </a:r>
              <a:endParaRPr lang="zh-CN" altLang="en-US" sz="1400" dirty="0">
                <a:solidFill>
                  <a:schemeClr val="bg1"/>
                </a:solidFill>
              </a:endParaRPr>
            </a:p>
          </p:txBody>
        </p:sp>
        <p:sp>
          <p:nvSpPr>
            <p:cNvPr id="7" name="矩形: 圆角 6">
              <a:extLst>
                <a:ext uri="{FF2B5EF4-FFF2-40B4-BE49-F238E27FC236}">
                  <a16:creationId xmlns:a16="http://schemas.microsoft.com/office/drawing/2014/main" id="{882ABDEA-53C6-BF12-E3EA-F822CEC9DE4E}"/>
                </a:ext>
              </a:extLst>
            </p:cNvPr>
            <p:cNvSpPr/>
            <p:nvPr/>
          </p:nvSpPr>
          <p:spPr>
            <a:xfrm>
              <a:off x="2143779" y="2535171"/>
              <a:ext cx="108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User</a:t>
              </a:r>
              <a:endParaRPr lang="zh-CN" altLang="en-US" sz="1400" dirty="0">
                <a:solidFill>
                  <a:schemeClr val="bg1"/>
                </a:solidFill>
              </a:endParaRPr>
            </a:p>
          </p:txBody>
        </p:sp>
        <p:sp>
          <p:nvSpPr>
            <p:cNvPr id="12" name="文本框 11">
              <a:extLst>
                <a:ext uri="{FF2B5EF4-FFF2-40B4-BE49-F238E27FC236}">
                  <a16:creationId xmlns:a16="http://schemas.microsoft.com/office/drawing/2014/main" id="{C90AB482-9089-B5AA-5270-CBE848CAD3FD}"/>
                </a:ext>
              </a:extLst>
            </p:cNvPr>
            <p:cNvSpPr txBox="1"/>
            <p:nvPr/>
          </p:nvSpPr>
          <p:spPr>
            <a:xfrm>
              <a:off x="3480564" y="2240864"/>
              <a:ext cx="431529"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EI</a:t>
              </a:r>
              <a:endParaRPr lang="zh-CN" altLang="en-US" sz="1600" dirty="0">
                <a:solidFill>
                  <a:schemeClr val="bg1"/>
                </a:solidFill>
                <a:latin typeface="Roboto Mono Light" pitchFamily="2" charset="0"/>
              </a:endParaRPr>
            </a:p>
          </p:txBody>
        </p:sp>
        <p:sp>
          <p:nvSpPr>
            <p:cNvPr id="13" name="文本框 12">
              <a:extLst>
                <a:ext uri="{FF2B5EF4-FFF2-40B4-BE49-F238E27FC236}">
                  <a16:creationId xmlns:a16="http://schemas.microsoft.com/office/drawing/2014/main" id="{AB8D91CB-1808-DEC3-4AF6-29D760081DA5}"/>
                </a:ext>
              </a:extLst>
            </p:cNvPr>
            <p:cNvSpPr txBox="1"/>
            <p:nvPr/>
          </p:nvSpPr>
          <p:spPr>
            <a:xfrm>
              <a:off x="3480564" y="2912040"/>
              <a:ext cx="431528"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EO</a:t>
              </a:r>
              <a:endParaRPr lang="zh-CN" altLang="en-US" sz="1600" dirty="0">
                <a:solidFill>
                  <a:schemeClr val="bg1"/>
                </a:solidFill>
                <a:latin typeface="Roboto Mono Light" pitchFamily="2" charset="0"/>
              </a:endParaRPr>
            </a:p>
          </p:txBody>
        </p:sp>
        <p:sp>
          <p:nvSpPr>
            <p:cNvPr id="14" name="文本框 13">
              <a:extLst>
                <a:ext uri="{FF2B5EF4-FFF2-40B4-BE49-F238E27FC236}">
                  <a16:creationId xmlns:a16="http://schemas.microsoft.com/office/drawing/2014/main" id="{AF6F6C8F-2A79-DAA4-FDDF-0509DABFBEC5}"/>
                </a:ext>
              </a:extLst>
            </p:cNvPr>
            <p:cNvSpPr txBox="1"/>
            <p:nvPr/>
          </p:nvSpPr>
          <p:spPr>
            <a:xfrm>
              <a:off x="5018571" y="1841417"/>
              <a:ext cx="431528"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EQ</a:t>
              </a:r>
              <a:endParaRPr lang="zh-CN" altLang="en-US" sz="1600" dirty="0">
                <a:solidFill>
                  <a:schemeClr val="bg1"/>
                </a:solidFill>
                <a:latin typeface="Roboto Mono Light" pitchFamily="2" charset="0"/>
              </a:endParaRPr>
            </a:p>
          </p:txBody>
        </p:sp>
        <p:cxnSp>
          <p:nvCxnSpPr>
            <p:cNvPr id="16" name="直接箭头连接符 15">
              <a:extLst>
                <a:ext uri="{FF2B5EF4-FFF2-40B4-BE49-F238E27FC236}">
                  <a16:creationId xmlns:a16="http://schemas.microsoft.com/office/drawing/2014/main" id="{1E6099BF-9396-49BE-2C7E-787DBD6A6FDB}"/>
                </a:ext>
              </a:extLst>
            </p:cNvPr>
            <p:cNvCxnSpPr>
              <a:cxnSpLocks/>
              <a:stCxn id="6" idx="2"/>
              <a:endCxn id="5" idx="0"/>
            </p:cNvCxnSpPr>
            <p:nvPr/>
          </p:nvCxnSpPr>
          <p:spPr>
            <a:xfrm>
              <a:off x="5608877" y="1769805"/>
              <a:ext cx="0" cy="481779"/>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5C8331DE-5D7E-A822-9B8F-F8BA92AA53EB}"/>
                </a:ext>
              </a:extLst>
            </p:cNvPr>
            <p:cNvSpPr/>
            <p:nvPr/>
          </p:nvSpPr>
          <p:spPr>
            <a:xfrm>
              <a:off x="4528877" y="2643632"/>
              <a:ext cx="21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Interior logical file</a:t>
              </a:r>
              <a:endParaRPr lang="zh-CN" altLang="en-US" sz="1400" dirty="0">
                <a:solidFill>
                  <a:schemeClr val="bg1"/>
                </a:solidFill>
              </a:endParaRPr>
            </a:p>
          </p:txBody>
        </p:sp>
        <p:sp>
          <p:nvSpPr>
            <p:cNvPr id="18" name="矩形 17">
              <a:extLst>
                <a:ext uri="{FF2B5EF4-FFF2-40B4-BE49-F238E27FC236}">
                  <a16:creationId xmlns:a16="http://schemas.microsoft.com/office/drawing/2014/main" id="{435A7463-3064-E103-FF74-1B52979D2A27}"/>
                </a:ext>
              </a:extLst>
            </p:cNvPr>
            <p:cNvSpPr/>
            <p:nvPr/>
          </p:nvSpPr>
          <p:spPr>
            <a:xfrm>
              <a:off x="8034079" y="2535480"/>
              <a:ext cx="21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External interface file</a:t>
              </a:r>
              <a:endParaRPr lang="zh-CN" altLang="en-US" sz="1400" dirty="0">
                <a:solidFill>
                  <a:schemeClr val="bg1"/>
                </a:solidFill>
              </a:endParaRPr>
            </a:p>
          </p:txBody>
        </p:sp>
        <p:sp>
          <p:nvSpPr>
            <p:cNvPr id="22" name="文本框 21">
              <a:extLst>
                <a:ext uri="{FF2B5EF4-FFF2-40B4-BE49-F238E27FC236}">
                  <a16:creationId xmlns:a16="http://schemas.microsoft.com/office/drawing/2014/main" id="{F0DF4AFF-1C0E-87EE-AE90-E61501EC67E6}"/>
                </a:ext>
              </a:extLst>
            </p:cNvPr>
            <p:cNvSpPr txBox="1"/>
            <p:nvPr/>
          </p:nvSpPr>
          <p:spPr>
            <a:xfrm>
              <a:off x="7340872" y="2240863"/>
              <a:ext cx="431528"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EQ</a:t>
              </a:r>
              <a:endParaRPr lang="zh-CN" altLang="en-US" sz="1600" dirty="0">
                <a:solidFill>
                  <a:schemeClr val="bg1"/>
                </a:solidFill>
                <a:latin typeface="Roboto Mono Light" pitchFamily="2" charset="0"/>
              </a:endParaRPr>
            </a:p>
          </p:txBody>
        </p:sp>
        <p:sp>
          <p:nvSpPr>
            <p:cNvPr id="23" name="文本框 22">
              <a:extLst>
                <a:ext uri="{FF2B5EF4-FFF2-40B4-BE49-F238E27FC236}">
                  <a16:creationId xmlns:a16="http://schemas.microsoft.com/office/drawing/2014/main" id="{8EF5A49F-D3BC-4A7E-E721-0E191FE4F593}"/>
                </a:ext>
              </a:extLst>
            </p:cNvPr>
            <p:cNvSpPr txBox="1"/>
            <p:nvPr/>
          </p:nvSpPr>
          <p:spPr>
            <a:xfrm>
              <a:off x="7155724" y="2912039"/>
              <a:ext cx="801823"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EI/EO</a:t>
              </a:r>
              <a:endParaRPr lang="zh-CN" altLang="en-US" sz="1600" dirty="0">
                <a:solidFill>
                  <a:schemeClr val="bg1"/>
                </a:solidFill>
                <a:latin typeface="Roboto Mono Light" pitchFamily="2" charset="0"/>
              </a:endParaRPr>
            </a:p>
          </p:txBody>
        </p:sp>
        <p:cxnSp>
          <p:nvCxnSpPr>
            <p:cNvPr id="24" name="直接箭头连接符 23">
              <a:extLst>
                <a:ext uri="{FF2B5EF4-FFF2-40B4-BE49-F238E27FC236}">
                  <a16:creationId xmlns:a16="http://schemas.microsoft.com/office/drawing/2014/main" id="{9F69EEA3-DDF9-6EF0-861C-E8A1C0D516C8}"/>
                </a:ext>
              </a:extLst>
            </p:cNvPr>
            <p:cNvCxnSpPr>
              <a:cxnSpLocks/>
              <a:stCxn id="7" idx="3"/>
              <a:endCxn id="5" idx="1"/>
            </p:cNvCxnSpPr>
            <p:nvPr/>
          </p:nvCxnSpPr>
          <p:spPr>
            <a:xfrm>
              <a:off x="3223779" y="2751481"/>
              <a:ext cx="945098"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D5A3E72F-1B49-B56B-3B4B-2D6984D5096D}"/>
                </a:ext>
              </a:extLst>
            </p:cNvPr>
            <p:cNvCxnSpPr>
              <a:cxnSpLocks/>
              <a:stCxn id="5" idx="3"/>
              <a:endCxn id="18" idx="1"/>
            </p:cNvCxnSpPr>
            <p:nvPr/>
          </p:nvCxnSpPr>
          <p:spPr>
            <a:xfrm flipV="1">
              <a:off x="7048877" y="2751480"/>
              <a:ext cx="985202" cy="1"/>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38" name="标题 37">
            <a:extLst>
              <a:ext uri="{FF2B5EF4-FFF2-40B4-BE49-F238E27FC236}">
                <a16:creationId xmlns:a16="http://schemas.microsoft.com/office/drawing/2014/main" id="{D8E34E8B-985A-6D93-F210-C2BB693645E5}"/>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功能点估算法</a:t>
            </a:r>
          </a:p>
        </p:txBody>
      </p:sp>
      <p:sp>
        <p:nvSpPr>
          <p:cNvPr id="46" name="内容占位符 45">
            <a:extLst>
              <a:ext uri="{FF2B5EF4-FFF2-40B4-BE49-F238E27FC236}">
                <a16:creationId xmlns:a16="http://schemas.microsoft.com/office/drawing/2014/main" id="{F2CC35FF-A304-0E7A-4932-6DA557688C62}"/>
              </a:ext>
            </a:extLst>
          </p:cNvPr>
          <p:cNvSpPr>
            <a:spLocks noGrp="1"/>
          </p:cNvSpPr>
          <p:nvPr>
            <p:ph idx="1"/>
          </p:nvPr>
        </p:nvSpPr>
        <p:spPr>
          <a:xfrm>
            <a:off x="696000" y="864000"/>
            <a:ext cx="10800000" cy="5400000"/>
          </a:xfrm>
        </p:spPr>
        <p:txBody>
          <a:bodyPr/>
          <a:lstStyle/>
          <a:p>
            <a:r>
              <a:rPr lang="zh-CN" altLang="en-US" dirty="0"/>
              <a:t>功能点：数据功能和事务功能，共</a:t>
            </a:r>
            <a:r>
              <a:rPr lang="en-US" altLang="zh-CN" dirty="0"/>
              <a:t>5</a:t>
            </a:r>
            <a:r>
              <a:rPr lang="zh-CN" altLang="en-US" dirty="0"/>
              <a:t>类组件</a:t>
            </a:r>
          </a:p>
        </p:txBody>
      </p:sp>
      <p:sp>
        <p:nvSpPr>
          <p:cNvPr id="43" name="文本占位符 42">
            <a:extLst>
              <a:ext uri="{FF2B5EF4-FFF2-40B4-BE49-F238E27FC236}">
                <a16:creationId xmlns:a16="http://schemas.microsoft.com/office/drawing/2014/main" id="{B5853758-7617-0F80-8BD2-54672B64782A}"/>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graphicFrame>
        <p:nvGraphicFramePr>
          <p:cNvPr id="2" name="表格 1">
            <a:extLst>
              <a:ext uri="{FF2B5EF4-FFF2-40B4-BE49-F238E27FC236}">
                <a16:creationId xmlns:a16="http://schemas.microsoft.com/office/drawing/2014/main" id="{757BF32E-982C-8E5F-031B-3226C290191E}"/>
              </a:ext>
            </a:extLst>
          </p:cNvPr>
          <p:cNvGraphicFramePr>
            <a:graphicFrameLocks noGrp="1"/>
          </p:cNvGraphicFramePr>
          <p:nvPr>
            <p:extLst>
              <p:ext uri="{D42A27DB-BD31-4B8C-83A1-F6EECF244321}">
                <p14:modId xmlns:p14="http://schemas.microsoft.com/office/powerpoint/2010/main" val="2725794968"/>
              </p:ext>
            </p:extLst>
          </p:nvPr>
        </p:nvGraphicFramePr>
        <p:xfrm>
          <a:off x="3396000" y="4367903"/>
          <a:ext cx="5400000" cy="1676400"/>
        </p:xfrm>
        <a:graphic>
          <a:graphicData uri="http://schemas.openxmlformats.org/drawingml/2006/table">
            <a:tbl>
              <a:tblPr firstRow="1" bandRow="1">
                <a:tableStyleId>{5C22544A-7EE6-4342-B048-85BDC9FD1C3A}</a:tableStyleId>
              </a:tblPr>
              <a:tblGrid>
                <a:gridCol w="900000">
                  <a:extLst>
                    <a:ext uri="{9D8B030D-6E8A-4147-A177-3AD203B41FA5}">
                      <a16:colId xmlns:a16="http://schemas.microsoft.com/office/drawing/2014/main" val="394660770"/>
                    </a:ext>
                  </a:extLst>
                </a:gridCol>
                <a:gridCol w="1620000">
                  <a:extLst>
                    <a:ext uri="{9D8B030D-6E8A-4147-A177-3AD203B41FA5}">
                      <a16:colId xmlns:a16="http://schemas.microsoft.com/office/drawing/2014/main" val="2443653902"/>
                    </a:ext>
                  </a:extLst>
                </a:gridCol>
                <a:gridCol w="2880000">
                  <a:extLst>
                    <a:ext uri="{9D8B030D-6E8A-4147-A177-3AD203B41FA5}">
                      <a16:colId xmlns:a16="http://schemas.microsoft.com/office/drawing/2014/main" val="3403126617"/>
                    </a:ext>
                  </a:extLst>
                </a:gridCol>
              </a:tblGrid>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EI</a:t>
                      </a:r>
                      <a:endParaRPr lang="zh-CN" altLang="en-US" sz="1600" b="0"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dirty="0">
                          <a:solidFill>
                            <a:schemeClr val="bg1"/>
                          </a:solidFill>
                        </a:rPr>
                        <a:t>外部输入</a:t>
                      </a:r>
                    </a:p>
                  </a:txBody>
                  <a:tcP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External Inputs</a:t>
                      </a:r>
                    </a:p>
                  </a:txBody>
                  <a:tcP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81589854"/>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EO</a:t>
                      </a:r>
                    </a:p>
                  </a:txBody>
                  <a:tcPr>
                    <a:lnL w="12700" cmpd="sng">
                      <a:noFill/>
                    </a:lnL>
                    <a:lnR w="12700" cmpd="sng">
                      <a:noFill/>
                    </a:lnR>
                    <a:lnT w="63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r>
                        <a:rPr lang="zh-CN" altLang="en-US" sz="1600" b="0" dirty="0">
                          <a:solidFill>
                            <a:schemeClr val="bg1"/>
                          </a:solidFill>
                        </a:rPr>
                        <a:t>外部输出 </a:t>
                      </a:r>
                    </a:p>
                  </a:txBody>
                  <a:tcPr>
                    <a:lnL w="12700" cmpd="sng">
                      <a:noFill/>
                    </a:lnL>
                    <a:lnR w="12700" cmpd="sng">
                      <a:noFill/>
                    </a:lnR>
                    <a:lnT w="63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r>
                        <a:rPr lang="en-US" altLang="zh-CN" sz="1600" b="0" dirty="0">
                          <a:solidFill>
                            <a:schemeClr val="bg1"/>
                          </a:solidFill>
                        </a:rPr>
                        <a:t>External Outputs</a:t>
                      </a:r>
                      <a:endParaRPr lang="zh-CN" altLang="en-US" sz="1600" b="0" dirty="0">
                        <a:solidFill>
                          <a:schemeClr val="bg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21394496"/>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EQ</a:t>
                      </a:r>
                      <a:endParaRPr lang="zh-CN" altLang="en-US" sz="1600" b="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zh-CN" altLang="en-US" sz="1600" b="0" dirty="0">
                          <a:solidFill>
                            <a:schemeClr val="bg1"/>
                          </a:solidFill>
                        </a:rPr>
                        <a:t>外部查询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altLang="zh-CN" sz="1600" b="0" dirty="0">
                          <a:solidFill>
                            <a:schemeClr val="bg1"/>
                          </a:solidFill>
                        </a:rPr>
                        <a:t>External Inquiry</a:t>
                      </a:r>
                      <a:endParaRPr lang="zh-CN" altLang="en-US" sz="1600" b="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54179012"/>
                  </a:ext>
                </a:extLst>
              </a:tr>
              <a:tr h="161067">
                <a:tc>
                  <a:txBody>
                    <a:bodyPr/>
                    <a:lstStyle/>
                    <a:p>
                      <a:pPr marL="0" lvl="1"/>
                      <a:r>
                        <a:rPr lang="en-US" altLang="zh-CN" sz="1600" b="0" dirty="0">
                          <a:solidFill>
                            <a:schemeClr val="bg1"/>
                          </a:solidFill>
                        </a:rPr>
                        <a:t>ILF</a:t>
                      </a:r>
                      <a:endParaRPr lang="zh-CN" altLang="en-US" sz="1600" b="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zh-CN" altLang="en-US" sz="1600" b="0" dirty="0">
                          <a:solidFill>
                            <a:schemeClr val="bg1"/>
                          </a:solidFill>
                        </a:rPr>
                        <a:t>内部逻辑文件</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altLang="zh-CN" sz="1600" b="0" dirty="0">
                          <a:solidFill>
                            <a:schemeClr val="bg1"/>
                          </a:solidFill>
                        </a:rPr>
                        <a:t>Internal Logical Files</a:t>
                      </a:r>
                      <a:endParaRPr lang="zh-CN" altLang="en-US" sz="1600" b="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06481747"/>
                  </a:ext>
                </a:extLst>
              </a:tr>
              <a:tr h="161067">
                <a:tc>
                  <a:txBody>
                    <a:bodyPr/>
                    <a:lstStyle/>
                    <a:p>
                      <a:r>
                        <a:rPr lang="en-US" altLang="zh-CN" sz="1600" b="0" dirty="0">
                          <a:solidFill>
                            <a:schemeClr val="bg1"/>
                          </a:solidFill>
                        </a:rPr>
                        <a:t>EIF</a:t>
                      </a:r>
                      <a:endParaRPr lang="zh-CN" altLang="en-US" sz="1600" b="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外部接口文件</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External Interface Files</a:t>
                      </a:r>
                      <a:endParaRPr lang="zh-CN" altLang="en-US" sz="1600" b="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1606028"/>
                  </a:ext>
                </a:extLst>
              </a:tr>
            </a:tbl>
          </a:graphicData>
        </a:graphic>
      </p:graphicFrame>
    </p:spTree>
    <p:extLst>
      <p:ext uri="{BB962C8B-B14F-4D97-AF65-F5344CB8AC3E}">
        <p14:creationId xmlns:p14="http://schemas.microsoft.com/office/powerpoint/2010/main" val="74959032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9B651B-717D-6802-D261-EC01E629B08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03D2FD-3C1D-4A80-B0AE-67E014B620BE}"/>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功能点估算法</a:t>
            </a:r>
            <a:r>
              <a:rPr lang="en-US" altLang="zh-CN" dirty="0"/>
              <a:t> </a:t>
            </a:r>
            <a:endParaRPr lang="zh-CN" altLang="en-US" dirty="0"/>
          </a:p>
        </p:txBody>
      </p:sp>
      <p:sp>
        <p:nvSpPr>
          <p:cNvPr id="10" name="内容占位符 9">
            <a:extLst>
              <a:ext uri="{FF2B5EF4-FFF2-40B4-BE49-F238E27FC236}">
                <a16:creationId xmlns:a16="http://schemas.microsoft.com/office/drawing/2014/main" id="{DE99D0BE-1CBD-0CD7-7561-F1ABA9FE401A}"/>
              </a:ext>
            </a:extLst>
          </p:cNvPr>
          <p:cNvSpPr>
            <a:spLocks noGrp="1"/>
          </p:cNvSpPr>
          <p:nvPr>
            <p:ph idx="1"/>
          </p:nvPr>
        </p:nvSpPr>
        <p:spPr>
          <a:xfrm>
            <a:off x="696000" y="864000"/>
            <a:ext cx="10800000" cy="5400000"/>
          </a:xfrm>
        </p:spPr>
        <p:txBody>
          <a:bodyPr/>
          <a:lstStyle/>
          <a:p>
            <a:r>
              <a:rPr lang="zh-CN" altLang="en-US" dirty="0"/>
              <a:t>常见估算法标准</a:t>
            </a:r>
            <a:endParaRPr lang="en-US" altLang="zh-CN" dirty="0"/>
          </a:p>
          <a:p>
            <a:pPr lvl="1"/>
            <a:r>
              <a:rPr lang="en-US" altLang="zh-CN" dirty="0"/>
              <a:t>IFPUG (</a:t>
            </a:r>
            <a:r>
              <a:rPr lang="zh-CN" altLang="en-US" dirty="0"/>
              <a:t>国际功能点用户组</a:t>
            </a:r>
            <a:r>
              <a:rPr lang="en-US" altLang="zh-CN" dirty="0"/>
              <a:t>)</a:t>
            </a:r>
          </a:p>
          <a:p>
            <a:pPr lvl="1"/>
            <a:r>
              <a:rPr lang="en-US" altLang="zh-CN" dirty="0"/>
              <a:t>NESMA (</a:t>
            </a:r>
            <a:r>
              <a:rPr lang="zh-CN" altLang="en-US" dirty="0"/>
              <a:t>荷兰软件度量协会</a:t>
            </a:r>
            <a:r>
              <a:rPr lang="en-US" altLang="zh-CN" dirty="0"/>
              <a:t>)</a:t>
            </a:r>
          </a:p>
          <a:p>
            <a:pPr lvl="1"/>
            <a:r>
              <a:rPr lang="en-US" altLang="zh-CN" dirty="0"/>
              <a:t>COSMIC (</a:t>
            </a:r>
            <a:r>
              <a:rPr lang="zh-CN" altLang="en-US" dirty="0"/>
              <a:t>通用软件度量国际联盟</a:t>
            </a:r>
            <a:r>
              <a:rPr lang="en-US" altLang="zh-CN" dirty="0"/>
              <a:t>)</a:t>
            </a:r>
            <a:endParaRPr lang="zh-CN" altLang="en-US" dirty="0"/>
          </a:p>
        </p:txBody>
      </p:sp>
      <p:sp>
        <p:nvSpPr>
          <p:cNvPr id="7" name="文本占位符 6">
            <a:extLst>
              <a:ext uri="{FF2B5EF4-FFF2-40B4-BE49-F238E27FC236}">
                <a16:creationId xmlns:a16="http://schemas.microsoft.com/office/drawing/2014/main" id="{07C33A6F-4CAC-60F4-3635-882878D3F608}"/>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983901351"/>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D61DE7-80DB-25F9-C5D0-715768175C7B}"/>
              </a:ext>
            </a:extLst>
          </p:cNvPr>
          <p:cNvSpPr>
            <a:spLocks noGrp="1"/>
          </p:cNvSpPr>
          <p:nvPr>
            <p:ph type="title"/>
          </p:nvPr>
        </p:nvSpPr>
        <p:spPr>
          <a:xfrm>
            <a:off x="695998" y="360000"/>
            <a:ext cx="6375921" cy="429413"/>
          </a:xfrm>
        </p:spPr>
        <p:txBody>
          <a:bodyPr/>
          <a:lstStyle/>
          <a:p>
            <a:r>
              <a:rPr lang="en-US" altLang="zh-CN" dirty="0"/>
              <a:t>6.2.2.1 IFPUG</a:t>
            </a:r>
            <a:endParaRPr lang="zh-CN" altLang="en-US" dirty="0"/>
          </a:p>
        </p:txBody>
      </p:sp>
      <p:sp>
        <p:nvSpPr>
          <p:cNvPr id="3" name="内容占位符 2">
            <a:extLst>
              <a:ext uri="{FF2B5EF4-FFF2-40B4-BE49-F238E27FC236}">
                <a16:creationId xmlns:a16="http://schemas.microsoft.com/office/drawing/2014/main" id="{CB399035-0464-3C6A-5302-6C21D045E7F8}"/>
              </a:ext>
            </a:extLst>
          </p:cNvPr>
          <p:cNvSpPr>
            <a:spLocks noGrp="1"/>
          </p:cNvSpPr>
          <p:nvPr>
            <p:ph idx="1"/>
          </p:nvPr>
        </p:nvSpPr>
        <p:spPr>
          <a:xfrm>
            <a:off x="696000" y="864000"/>
            <a:ext cx="10800000" cy="5400000"/>
          </a:xfrm>
        </p:spPr>
        <p:txBody>
          <a:bodyPr/>
          <a:lstStyle/>
          <a:p>
            <a:r>
              <a:rPr lang="zh-CN" altLang="en-US" dirty="0"/>
              <a:t>经典功能点分析方法</a:t>
            </a:r>
          </a:p>
          <a:p>
            <a:r>
              <a:rPr lang="zh-CN" altLang="en-US" dirty="0"/>
              <a:t>国际上最早推广、应用最广泛的功能点分析方法，也是中国国家标准</a:t>
            </a:r>
            <a:r>
              <a:rPr lang="en-US" altLang="zh-CN" dirty="0"/>
              <a:t>《</a:t>
            </a:r>
            <a:r>
              <a:rPr lang="zh-CN" altLang="en-US" dirty="0"/>
              <a:t>系统与软件工程功能规模测量</a:t>
            </a:r>
            <a:r>
              <a:rPr lang="en-US" altLang="zh-CN" dirty="0"/>
              <a:t>IFPUG</a:t>
            </a:r>
            <a:r>
              <a:rPr lang="zh-CN" altLang="en-US" dirty="0"/>
              <a:t>方法</a:t>
            </a:r>
            <a:r>
              <a:rPr lang="en-US" altLang="zh-CN" dirty="0"/>
              <a:t>》</a:t>
            </a:r>
            <a:r>
              <a:rPr lang="zh-CN" altLang="en-US" dirty="0"/>
              <a:t>（</a:t>
            </a:r>
            <a:r>
              <a:rPr lang="en-US" altLang="zh-CN" dirty="0"/>
              <a:t>GB/T42449-2023</a:t>
            </a:r>
            <a:r>
              <a:rPr lang="zh-CN" altLang="en-US" dirty="0"/>
              <a:t>）的基础</a:t>
            </a:r>
          </a:p>
          <a:p>
            <a:r>
              <a:rPr lang="zh-CN" altLang="en-US" dirty="0"/>
              <a:t>使用技术复杂度因子 </a:t>
            </a:r>
            <a:r>
              <a:rPr lang="en-US" altLang="zh-CN" dirty="0"/>
              <a:t>TCF</a:t>
            </a:r>
            <a:r>
              <a:rPr lang="zh-CN" altLang="en-US" dirty="0"/>
              <a:t> 和未调整功能点 </a:t>
            </a:r>
            <a:r>
              <a:rPr lang="en-US" altLang="zh-CN" dirty="0"/>
              <a:t>UFC</a:t>
            </a:r>
            <a:r>
              <a:rPr lang="zh-CN" altLang="en-US" dirty="0"/>
              <a:t>，评估其内部基本功能和外部基本功能</a:t>
            </a:r>
            <a:endParaRPr lang="en-US" altLang="zh-CN" dirty="0"/>
          </a:p>
          <a:p>
            <a:pPr lvl="1"/>
            <a:r>
              <a:rPr lang="en-US" altLang="zh-CN" dirty="0"/>
              <a:t>TCF</a:t>
            </a:r>
            <a:r>
              <a:rPr lang="zh-CN" altLang="en-US" dirty="0"/>
              <a:t>：</a:t>
            </a:r>
            <a:r>
              <a:rPr lang="en-US" altLang="zh-CN" dirty="0"/>
              <a:t>Technical Complexity Fator</a:t>
            </a:r>
          </a:p>
          <a:p>
            <a:pPr lvl="1"/>
            <a:r>
              <a:rPr lang="en-US" altLang="zh-CN" dirty="0"/>
              <a:t>UFC</a:t>
            </a:r>
            <a:r>
              <a:rPr lang="zh-CN" altLang="en-US" dirty="0"/>
              <a:t>：</a:t>
            </a:r>
            <a:r>
              <a:rPr lang="en-US" altLang="zh-CN" dirty="0"/>
              <a:t>Unadjusted Function Component</a:t>
            </a:r>
          </a:p>
          <a:p>
            <a:r>
              <a:rPr lang="zh-CN" altLang="en-US" dirty="0"/>
              <a:t>适用场景：适用于需求明确、文档完整的项目，是行业标准的基准方法</a:t>
            </a:r>
          </a:p>
          <a:p>
            <a:endParaRPr lang="zh-CN" altLang="en-US" dirty="0"/>
          </a:p>
        </p:txBody>
      </p:sp>
      <p:sp>
        <p:nvSpPr>
          <p:cNvPr id="11" name="文本占位符 10">
            <a:extLst>
              <a:ext uri="{FF2B5EF4-FFF2-40B4-BE49-F238E27FC236}">
                <a16:creationId xmlns:a16="http://schemas.microsoft.com/office/drawing/2014/main" id="{A8A98A97-8872-07AA-67A4-67305E9D7305}"/>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78068560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E2D77967-6E37-4D02-38BA-7B45EEA60685}"/>
              </a:ext>
            </a:extLst>
          </p:cNvPr>
          <p:cNvSpPr txBox="1"/>
          <p:nvPr/>
        </p:nvSpPr>
        <p:spPr>
          <a:xfrm>
            <a:off x="672466" y="530942"/>
            <a:ext cx="1909497" cy="369332"/>
          </a:xfrm>
          <a:prstGeom prst="rect">
            <a:avLst/>
          </a:prstGeom>
          <a:noFill/>
        </p:spPr>
        <p:txBody>
          <a:bodyPr wrap="none" rtlCol="0">
            <a:spAutoFit/>
          </a:bodyPr>
          <a:lstStyle/>
          <a:p>
            <a:pPr algn="l">
              <a:spcAft>
                <a:spcPts val="600"/>
              </a:spcAft>
            </a:pPr>
            <a:r>
              <a:rPr lang="en-US" altLang="zh-CN" u="heavy" dirty="0">
                <a:solidFill>
                  <a:schemeClr val="bg1"/>
                </a:solidFill>
                <a:uFill>
                  <a:solidFill>
                    <a:srgbClr val="FFFF00"/>
                  </a:solidFill>
                </a:uFill>
              </a:rPr>
              <a:t>IFPUG </a:t>
            </a:r>
            <a:r>
              <a:rPr lang="zh-CN" altLang="en-US" u="heavy" dirty="0">
                <a:solidFill>
                  <a:schemeClr val="bg1"/>
                </a:solidFill>
                <a:uFill>
                  <a:solidFill>
                    <a:srgbClr val="FFFF00"/>
                  </a:solidFill>
                </a:uFill>
              </a:rPr>
              <a:t>计算过程</a:t>
            </a:r>
            <a:endParaRPr lang="zh-CN" altLang="en-US" dirty="0">
              <a:solidFill>
                <a:schemeClr val="bg1"/>
              </a:solidFill>
            </a:endParaRPr>
          </a:p>
        </p:txBody>
      </p:sp>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2E5681E5-B020-F99E-40D6-783F305EA374}"/>
                  </a:ext>
                </a:extLst>
              </p:cNvPr>
              <p:cNvSpPr txBox="1"/>
              <p:nvPr/>
            </p:nvSpPr>
            <p:spPr>
              <a:xfrm>
                <a:off x="3322340" y="4242623"/>
                <a:ext cx="3115020"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𝑇𝐶𝐹</m:t>
                      </m:r>
                      <m:r>
                        <a:rPr lang="en-US" altLang="zh-CN" sz="2000" b="0" i="1" smtClean="0">
                          <a:solidFill>
                            <a:schemeClr val="bg1"/>
                          </a:solidFill>
                          <a:latin typeface="Cambria Math" panose="02040503050406030204" pitchFamily="18" charset="0"/>
                        </a:rPr>
                        <m:t>=0.65×0.01×</m:t>
                      </m:r>
                      <m:nary>
                        <m:naryPr>
                          <m:chr m:val="∑"/>
                          <m:ctrlPr>
                            <a:rPr lang="en-US" altLang="zh-CN" sz="2000" b="0" i="1" smtClean="0">
                              <a:solidFill>
                                <a:schemeClr val="bg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bg1"/>
                              </a:solidFill>
                              <a:latin typeface="Cambria Math" panose="02040503050406030204" pitchFamily="18" charset="0"/>
                              <a:ea typeface="Cambria Math" panose="02040503050406030204" pitchFamily="18" charset="0"/>
                            </a:rPr>
                            <m:t>i</m:t>
                          </m:r>
                          <m:r>
                            <a:rPr lang="en-US" altLang="zh-CN" sz="2000" b="0" i="1" smtClean="0">
                              <a:solidFill>
                                <a:schemeClr val="bg1"/>
                              </a:solidFill>
                              <a:latin typeface="Cambria Math" panose="02040503050406030204" pitchFamily="18" charset="0"/>
                              <a:ea typeface="Cambria Math" panose="02040503050406030204" pitchFamily="18" charset="0"/>
                            </a:rPr>
                            <m:t>=1</m:t>
                          </m:r>
                        </m:sub>
                        <m:sup>
                          <m:r>
                            <a:rPr lang="en-US" altLang="zh-CN" sz="2000" b="0" i="1" smtClean="0">
                              <a:solidFill>
                                <a:schemeClr val="bg1"/>
                              </a:solidFill>
                              <a:latin typeface="Cambria Math" panose="02040503050406030204" pitchFamily="18" charset="0"/>
                              <a:ea typeface="Cambria Math" panose="02040503050406030204" pitchFamily="18" charset="0"/>
                            </a:rPr>
                            <m:t>14</m:t>
                          </m:r>
                        </m:sup>
                        <m:e>
                          <m:r>
                            <a:rPr lang="en-US" altLang="zh-CN" sz="2000" b="0" i="1" smtClean="0">
                              <a:solidFill>
                                <a:schemeClr val="bg1"/>
                              </a:solidFill>
                              <a:latin typeface="Cambria Math" panose="02040503050406030204" pitchFamily="18" charset="0"/>
                              <a:ea typeface="Cambria Math" panose="02040503050406030204" pitchFamily="18" charset="0"/>
                            </a:rPr>
                            <m:t>𝐹𝑖</m:t>
                          </m:r>
                        </m:e>
                      </m:nary>
                      <m:r>
                        <a:rPr lang="en-US" altLang="zh-CN" sz="2000" b="0" i="1" smtClean="0">
                          <a:solidFill>
                            <a:schemeClr val="bg1"/>
                          </a:solidFill>
                          <a:latin typeface="Cambria Math" panose="02040503050406030204" pitchFamily="18" charset="0"/>
                        </a:rPr>
                        <m:t> </m:t>
                      </m:r>
                    </m:oMath>
                  </m:oMathPara>
                </a14:m>
                <a:endParaRPr lang="zh-CN" altLang="en-US" sz="2000" dirty="0">
                  <a:solidFill>
                    <a:schemeClr val="bg1"/>
                  </a:solidFill>
                </a:endParaRPr>
              </a:p>
            </p:txBody>
          </p:sp>
        </mc:Choice>
        <mc:Fallback xmlns="">
          <p:sp>
            <p:nvSpPr>
              <p:cNvPr id="9" name="文本框 8">
                <a:extLst>
                  <a:ext uri="{FF2B5EF4-FFF2-40B4-BE49-F238E27FC236}">
                    <a16:creationId xmlns:a16="http://schemas.microsoft.com/office/drawing/2014/main" id="{2E5681E5-B020-F99E-40D6-783F305EA374}"/>
                  </a:ext>
                </a:extLst>
              </p:cNvPr>
              <p:cNvSpPr txBox="1">
                <a:spLocks noRot="1" noChangeAspect="1" noMove="1" noResize="1" noEditPoints="1" noAdjustHandles="1" noChangeArrowheads="1" noChangeShapeType="1" noTextEdit="1"/>
              </p:cNvSpPr>
              <p:nvPr/>
            </p:nvSpPr>
            <p:spPr>
              <a:xfrm>
                <a:off x="3322340" y="4242623"/>
                <a:ext cx="3115020" cy="862993"/>
              </a:xfrm>
              <a:prstGeom prst="rect">
                <a:avLst/>
              </a:prstGeom>
              <a:blipFill>
                <a:blip r:embed="rId2"/>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3DC8BA1A-C435-B014-0564-B732731EDC6A}"/>
                  </a:ext>
                </a:extLst>
              </p:cNvPr>
              <p:cNvSpPr txBox="1"/>
              <p:nvPr/>
            </p:nvSpPr>
            <p:spPr>
              <a:xfrm>
                <a:off x="3322340" y="5474623"/>
                <a:ext cx="1989647"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𝐹𝑃</m:t>
                      </m:r>
                      <m:r>
                        <a:rPr lang="en-US" altLang="zh-CN" sz="2000" b="0" i="1" smtClean="0">
                          <a:solidFill>
                            <a:schemeClr val="bg1"/>
                          </a:solidFill>
                          <a:latin typeface="Cambria Math" panose="02040503050406030204" pitchFamily="18" charset="0"/>
                        </a:rPr>
                        <m:t>=</m:t>
                      </m:r>
                      <m:r>
                        <a:rPr lang="en-US" altLang="zh-CN" sz="2000" b="0" i="1" smtClean="0">
                          <a:solidFill>
                            <a:schemeClr val="bg1"/>
                          </a:solidFill>
                          <a:latin typeface="Cambria Math" panose="02040503050406030204" pitchFamily="18" charset="0"/>
                        </a:rPr>
                        <m:t>𝑈𝐹𝐶</m:t>
                      </m:r>
                      <m:r>
                        <a:rPr lang="en-US" altLang="zh-CN" sz="2000" b="0" i="1" smtClean="0">
                          <a:solidFill>
                            <a:schemeClr val="bg1"/>
                          </a:solidFill>
                          <a:latin typeface="Cambria Math" panose="02040503050406030204" pitchFamily="18" charset="0"/>
                          <a:ea typeface="Cambria Math" panose="02040503050406030204" pitchFamily="18" charset="0"/>
                        </a:rPr>
                        <m:t>×</m:t>
                      </m:r>
                      <m:r>
                        <a:rPr lang="en-US" altLang="zh-CN" sz="2000" b="0" i="1" smtClean="0">
                          <a:solidFill>
                            <a:schemeClr val="bg1"/>
                          </a:solidFill>
                          <a:latin typeface="Cambria Math" panose="02040503050406030204" pitchFamily="18" charset="0"/>
                          <a:ea typeface="Cambria Math" panose="02040503050406030204" pitchFamily="18" charset="0"/>
                        </a:rPr>
                        <m:t>𝑇𝐶𝐹</m:t>
                      </m:r>
                    </m:oMath>
                  </m:oMathPara>
                </a14:m>
                <a:endParaRPr lang="zh-CN" altLang="en-US" sz="2000" dirty="0">
                  <a:solidFill>
                    <a:schemeClr val="bg1"/>
                  </a:solidFill>
                </a:endParaRPr>
              </a:p>
            </p:txBody>
          </p:sp>
        </mc:Choice>
        <mc:Fallback xmlns="">
          <p:sp>
            <p:nvSpPr>
              <p:cNvPr id="10" name="文本框 9">
                <a:extLst>
                  <a:ext uri="{FF2B5EF4-FFF2-40B4-BE49-F238E27FC236}">
                    <a16:creationId xmlns:a16="http://schemas.microsoft.com/office/drawing/2014/main" id="{3DC8BA1A-C435-B014-0564-B732731EDC6A}"/>
                  </a:ext>
                </a:extLst>
              </p:cNvPr>
              <p:cNvSpPr txBox="1">
                <a:spLocks noRot="1" noChangeAspect="1" noMove="1" noResize="1" noEditPoints="1" noAdjustHandles="1" noChangeArrowheads="1" noChangeShapeType="1" noTextEdit="1"/>
              </p:cNvSpPr>
              <p:nvPr/>
            </p:nvSpPr>
            <p:spPr>
              <a:xfrm>
                <a:off x="3322340" y="5474623"/>
                <a:ext cx="1989647" cy="307777"/>
              </a:xfrm>
              <a:prstGeom prst="rect">
                <a:avLst/>
              </a:prstGeom>
              <a:blipFill>
                <a:blip r:embed="rId3"/>
                <a:stretch>
                  <a:fillRect l="-2147" r="-2454" b="-7843"/>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AA3D5E1A-2270-C4A3-AB4D-B0F3AA204D48}"/>
              </a:ext>
            </a:extLst>
          </p:cNvPr>
          <p:cNvSpPr txBox="1"/>
          <p:nvPr/>
        </p:nvSpPr>
        <p:spPr>
          <a:xfrm>
            <a:off x="672466" y="1017111"/>
            <a:ext cx="1260281" cy="338554"/>
          </a:xfrm>
          <a:prstGeom prst="rect">
            <a:avLst/>
          </a:prstGeom>
          <a:noFill/>
        </p:spPr>
        <p:txBody>
          <a:bodyPr wrap="none" rtlCol="0">
            <a:spAutoFit/>
          </a:bodyPr>
          <a:lstStyle/>
          <a:p>
            <a:r>
              <a:rPr lang="en-US" altLang="zh-CN" sz="1600" dirty="0">
                <a:solidFill>
                  <a:schemeClr val="bg1"/>
                </a:solidFill>
              </a:rPr>
              <a:t>1. UFC </a:t>
            </a:r>
            <a:r>
              <a:rPr lang="zh-CN" altLang="en-US" sz="1600" dirty="0">
                <a:solidFill>
                  <a:schemeClr val="bg1"/>
                </a:solidFill>
              </a:rPr>
              <a:t>计数</a:t>
            </a:r>
            <a:endParaRPr lang="en-US" altLang="zh-CN" sz="1600" dirty="0">
              <a:solidFill>
                <a:schemeClr val="bg1"/>
              </a:solidFill>
            </a:endParaRPr>
          </a:p>
        </p:txBody>
      </p:sp>
      <p:sp>
        <p:nvSpPr>
          <p:cNvPr id="12" name="文本框 11">
            <a:extLst>
              <a:ext uri="{FF2B5EF4-FFF2-40B4-BE49-F238E27FC236}">
                <a16:creationId xmlns:a16="http://schemas.microsoft.com/office/drawing/2014/main" id="{660D4EC1-10F4-822F-02F3-190E52912AC7}"/>
              </a:ext>
            </a:extLst>
          </p:cNvPr>
          <p:cNvSpPr txBox="1"/>
          <p:nvPr/>
        </p:nvSpPr>
        <p:spPr>
          <a:xfrm>
            <a:off x="672466" y="3434168"/>
            <a:ext cx="2124299" cy="338554"/>
          </a:xfrm>
          <a:prstGeom prst="rect">
            <a:avLst/>
          </a:prstGeom>
          <a:noFill/>
        </p:spPr>
        <p:txBody>
          <a:bodyPr wrap="none" rtlCol="0">
            <a:spAutoFit/>
          </a:bodyPr>
          <a:lstStyle/>
          <a:p>
            <a:r>
              <a:rPr lang="en-US" altLang="zh-CN" sz="1600" dirty="0">
                <a:solidFill>
                  <a:schemeClr val="bg1"/>
                </a:solidFill>
              </a:rPr>
              <a:t>2. UFC </a:t>
            </a:r>
            <a:r>
              <a:rPr lang="zh-CN" altLang="en-US" sz="1600" dirty="0">
                <a:solidFill>
                  <a:schemeClr val="bg1"/>
                </a:solidFill>
              </a:rPr>
              <a:t>定级：高中低</a:t>
            </a:r>
            <a:endParaRPr lang="en-US" altLang="zh-CN" sz="1600" dirty="0">
              <a:solidFill>
                <a:schemeClr val="bg1"/>
              </a:solidFill>
            </a:endParaRPr>
          </a:p>
        </p:txBody>
      </p:sp>
      <p:sp>
        <p:nvSpPr>
          <p:cNvPr id="13" name="文本框 12">
            <a:extLst>
              <a:ext uri="{FF2B5EF4-FFF2-40B4-BE49-F238E27FC236}">
                <a16:creationId xmlns:a16="http://schemas.microsoft.com/office/drawing/2014/main" id="{F0706DC7-EDBB-66B2-458A-CB3D71032D57}"/>
              </a:ext>
            </a:extLst>
          </p:cNvPr>
          <p:cNvSpPr txBox="1"/>
          <p:nvPr/>
        </p:nvSpPr>
        <p:spPr>
          <a:xfrm>
            <a:off x="672466" y="3943763"/>
            <a:ext cx="1257075" cy="338554"/>
          </a:xfrm>
          <a:prstGeom prst="rect">
            <a:avLst/>
          </a:prstGeom>
          <a:noFill/>
        </p:spPr>
        <p:txBody>
          <a:bodyPr wrap="none" rtlCol="0">
            <a:spAutoFit/>
          </a:bodyPr>
          <a:lstStyle/>
          <a:p>
            <a:r>
              <a:rPr lang="en-US" altLang="zh-CN" sz="1600" dirty="0">
                <a:solidFill>
                  <a:schemeClr val="bg1"/>
                </a:solidFill>
              </a:rPr>
              <a:t>3. TCF </a:t>
            </a:r>
            <a:r>
              <a:rPr lang="zh-CN" altLang="en-US" sz="1600" dirty="0">
                <a:solidFill>
                  <a:schemeClr val="bg1"/>
                </a:solidFill>
              </a:rPr>
              <a:t>调整</a:t>
            </a:r>
            <a:endParaRPr lang="en-US" altLang="zh-CN" sz="1600" dirty="0">
              <a:solidFill>
                <a:schemeClr val="bg1"/>
              </a:solidFill>
            </a:endParaRPr>
          </a:p>
        </p:txBody>
      </p:sp>
      <p:sp>
        <p:nvSpPr>
          <p:cNvPr id="14" name="文本框 13">
            <a:extLst>
              <a:ext uri="{FF2B5EF4-FFF2-40B4-BE49-F238E27FC236}">
                <a16:creationId xmlns:a16="http://schemas.microsoft.com/office/drawing/2014/main" id="{98C59140-4E1D-39F0-D5E6-ADB65A3AC12D}"/>
              </a:ext>
            </a:extLst>
          </p:cNvPr>
          <p:cNvSpPr txBox="1"/>
          <p:nvPr/>
        </p:nvSpPr>
        <p:spPr>
          <a:xfrm>
            <a:off x="672466" y="5102280"/>
            <a:ext cx="829073" cy="338554"/>
          </a:xfrm>
          <a:prstGeom prst="rect">
            <a:avLst/>
          </a:prstGeom>
          <a:noFill/>
        </p:spPr>
        <p:txBody>
          <a:bodyPr wrap="none" rtlCol="0">
            <a:spAutoFit/>
          </a:bodyPr>
          <a:lstStyle/>
          <a:p>
            <a:r>
              <a:rPr lang="en-US" altLang="zh-CN" sz="1600" dirty="0">
                <a:solidFill>
                  <a:schemeClr val="bg1"/>
                </a:solidFill>
              </a:rPr>
              <a:t>4. </a:t>
            </a:r>
            <a:r>
              <a:rPr lang="zh-CN" altLang="en-US" sz="1600" dirty="0">
                <a:solidFill>
                  <a:schemeClr val="bg1"/>
                </a:solidFill>
              </a:rPr>
              <a:t>计算</a:t>
            </a:r>
          </a:p>
        </p:txBody>
      </p:sp>
      <p:cxnSp>
        <p:nvCxnSpPr>
          <p:cNvPr id="16" name="直接连接符 15">
            <a:extLst>
              <a:ext uri="{FF2B5EF4-FFF2-40B4-BE49-F238E27FC236}">
                <a16:creationId xmlns:a16="http://schemas.microsoft.com/office/drawing/2014/main" id="{FE80B922-1B86-99D2-4268-2533BF62240D}"/>
              </a:ext>
            </a:extLst>
          </p:cNvPr>
          <p:cNvCxnSpPr>
            <a:cxnSpLocks/>
          </p:cNvCxnSpPr>
          <p:nvPr/>
        </p:nvCxnSpPr>
        <p:spPr>
          <a:xfrm>
            <a:off x="1501539" y="5271557"/>
            <a:ext cx="9589248" cy="0"/>
          </a:xfrm>
          <a:prstGeom prst="line">
            <a:avLst/>
          </a:prstGeom>
          <a:ln>
            <a:solidFill>
              <a:schemeClr val="bg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D5FF4920-4D30-1ADF-1B4B-A6D982F8C91A}"/>
              </a:ext>
            </a:extLst>
          </p:cNvPr>
          <p:cNvCxnSpPr>
            <a:cxnSpLocks/>
          </p:cNvCxnSpPr>
          <p:nvPr/>
        </p:nvCxnSpPr>
        <p:spPr>
          <a:xfrm>
            <a:off x="1929541" y="4113040"/>
            <a:ext cx="9161246" cy="0"/>
          </a:xfrm>
          <a:prstGeom prst="line">
            <a:avLst/>
          </a:prstGeom>
          <a:ln>
            <a:solidFill>
              <a:schemeClr val="bg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999FFA37-F679-2587-8533-1B6958B40A43}"/>
              </a:ext>
            </a:extLst>
          </p:cNvPr>
          <p:cNvCxnSpPr>
            <a:cxnSpLocks/>
            <a:stCxn id="12" idx="3"/>
          </p:cNvCxnSpPr>
          <p:nvPr/>
        </p:nvCxnSpPr>
        <p:spPr>
          <a:xfrm>
            <a:off x="2796765" y="3603445"/>
            <a:ext cx="8294022" cy="0"/>
          </a:xfrm>
          <a:prstGeom prst="line">
            <a:avLst/>
          </a:prstGeom>
          <a:ln>
            <a:solidFill>
              <a:schemeClr val="bg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71D8F20-2F30-41D6-CA02-8D9ABA8F9D68}"/>
              </a:ext>
            </a:extLst>
          </p:cNvPr>
          <p:cNvCxnSpPr>
            <a:cxnSpLocks/>
          </p:cNvCxnSpPr>
          <p:nvPr/>
        </p:nvCxnSpPr>
        <p:spPr>
          <a:xfrm>
            <a:off x="1932747" y="1186388"/>
            <a:ext cx="9158040" cy="0"/>
          </a:xfrm>
          <a:prstGeom prst="line">
            <a:avLst/>
          </a:prstGeom>
          <a:ln>
            <a:solidFill>
              <a:schemeClr val="bg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7F067458-92F1-CE2C-CED8-C11C0D61CB9B}"/>
              </a:ext>
            </a:extLst>
          </p:cNvPr>
          <p:cNvSpPr txBox="1"/>
          <p:nvPr/>
        </p:nvSpPr>
        <p:spPr>
          <a:xfrm>
            <a:off x="8160177" y="4606505"/>
            <a:ext cx="2930610" cy="307777"/>
          </a:xfrm>
          <a:prstGeom prst="rect">
            <a:avLst/>
          </a:prstGeom>
          <a:noFill/>
        </p:spPr>
        <p:txBody>
          <a:bodyPr wrap="none" rtlCol="0">
            <a:spAutoFit/>
          </a:bodyPr>
          <a:lstStyle/>
          <a:p>
            <a:pPr algn="l"/>
            <a:r>
              <a:rPr lang="en-US" altLang="zh-CN" sz="1400" i="1" dirty="0">
                <a:solidFill>
                  <a:schemeClr val="bg1"/>
                </a:solidFill>
              </a:rPr>
              <a:t>(F</a:t>
            </a:r>
            <a:r>
              <a:rPr lang="zh-CN" altLang="en-US" sz="1400" i="1" dirty="0">
                <a:solidFill>
                  <a:schemeClr val="bg1"/>
                </a:solidFill>
              </a:rPr>
              <a:t>是每个通用系统特性的影响程度</a:t>
            </a:r>
            <a:r>
              <a:rPr lang="en-US" altLang="zh-CN" sz="1400" i="1" dirty="0">
                <a:solidFill>
                  <a:schemeClr val="bg1"/>
                </a:solidFill>
              </a:rPr>
              <a:t>)</a:t>
            </a:r>
            <a:endParaRPr lang="zh-CN" altLang="en-US" sz="1400" i="1" dirty="0">
              <a:solidFill>
                <a:schemeClr val="bg1"/>
              </a:solidFill>
            </a:endParaRPr>
          </a:p>
        </p:txBody>
      </p:sp>
      <p:graphicFrame>
        <p:nvGraphicFramePr>
          <p:cNvPr id="27" name="表格 26">
            <a:extLst>
              <a:ext uri="{FF2B5EF4-FFF2-40B4-BE49-F238E27FC236}">
                <a16:creationId xmlns:a16="http://schemas.microsoft.com/office/drawing/2014/main" id="{20F83ECB-1E11-D8C9-C4E7-8359164FF491}"/>
              </a:ext>
            </a:extLst>
          </p:cNvPr>
          <p:cNvGraphicFramePr>
            <a:graphicFrameLocks noGrp="1"/>
          </p:cNvGraphicFramePr>
          <p:nvPr>
            <p:extLst>
              <p:ext uri="{D42A27DB-BD31-4B8C-83A1-F6EECF244321}">
                <p14:modId xmlns:p14="http://schemas.microsoft.com/office/powerpoint/2010/main" val="2406100251"/>
              </p:ext>
            </p:extLst>
          </p:nvPr>
        </p:nvGraphicFramePr>
        <p:xfrm>
          <a:off x="3216000" y="1304372"/>
          <a:ext cx="5760000" cy="21336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rowSpan="2">
                  <a:txBody>
                    <a:bodyPr/>
                    <a:lstStyle/>
                    <a:p>
                      <a:pPr algn="ctr"/>
                      <a:r>
                        <a:rPr lang="zh-CN" altLang="en-US" sz="1400" b="0" dirty="0">
                          <a:solidFill>
                            <a:schemeClr val="bg1"/>
                          </a:solidFill>
                        </a:rPr>
                        <a:t>组件类型</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b="0" dirty="0">
                          <a:solidFill>
                            <a:schemeClr val="bg1"/>
                          </a:solidFill>
                        </a:rPr>
                        <a:t>组件复杂度</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全部</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b="0" dirty="0">
                          <a:solidFill>
                            <a:schemeClr val="bg1"/>
                          </a:solidFill>
                        </a:rPr>
                        <a:t>外部输入</a:t>
                      </a: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__×3=</a:t>
                      </a:r>
                      <a:r>
                        <a:rPr lang="en-US" altLang="zh-CN" sz="1400" b="0" u="none" dirty="0">
                          <a:solidFill>
                            <a:schemeClr val="bg1"/>
                          </a:solidFill>
                        </a:rPr>
                        <a:t> __</a:t>
                      </a:r>
                      <a:endParaRPr lang="zh-CN" altLang="en-US" sz="1400" b="0" u="sng" baseline="0" dirty="0">
                        <a:solidFill>
                          <a:schemeClr val="bg1"/>
                        </a:solidFill>
                        <a:uFill>
                          <a:solidFill>
                            <a:schemeClr val="bg1"/>
                          </a:solidFill>
                        </a:u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__×4= __</a:t>
                      </a: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__×6= __</a:t>
                      </a: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__×4=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__×5=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__×7=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__×3=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__×4=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__×6=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__×5= __</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__×7= __</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__×10= __</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__×7= __</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__×10= __</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__×15= __</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82509396"/>
                  </a:ext>
                </a:extLst>
              </a:tr>
            </a:tbl>
          </a:graphicData>
        </a:graphic>
      </p:graphicFrame>
    </p:spTree>
    <p:extLst>
      <p:ext uri="{BB962C8B-B14F-4D97-AF65-F5344CB8AC3E}">
        <p14:creationId xmlns:p14="http://schemas.microsoft.com/office/powerpoint/2010/main" val="2636607203"/>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2479383638"/>
              </p:ext>
            </p:extLst>
          </p:nvPr>
        </p:nvGraphicFramePr>
        <p:xfrm>
          <a:off x="3396000" y="1641987"/>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0">
                <a:tc>
                  <a:txBody>
                    <a:bodyPr/>
                    <a:lstStyle/>
                    <a:p>
                      <a:r>
                        <a:rPr lang="zh-CN" altLang="en-US" sz="1400" b="0" dirty="0">
                          <a:solidFill>
                            <a:schemeClr val="bg1"/>
                          </a:solidFill>
                        </a:rPr>
                        <a:t>各类计数项</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0">
                <a:tc>
                  <a:txBody>
                    <a:bodyPr/>
                    <a:lstStyle/>
                    <a:p>
                      <a:r>
                        <a:rPr lang="zh-CN" altLang="en-US" sz="1400" b="0" dirty="0">
                          <a:solidFill>
                            <a:schemeClr val="bg1"/>
                          </a:solidFill>
                        </a:rPr>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6</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3</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7</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7</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4</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5</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3</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0">
                <a:tc>
                  <a:txBody>
                    <a:bodyPr/>
                    <a:lstStyle/>
                    <a:p>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9</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sp>
        <p:nvSpPr>
          <p:cNvPr id="3" name="文本框 2">
            <a:extLst>
              <a:ext uri="{FF2B5EF4-FFF2-40B4-BE49-F238E27FC236}">
                <a16:creationId xmlns:a16="http://schemas.microsoft.com/office/drawing/2014/main" id="{7DA089D8-CF14-71A9-7173-53F23FE5D9C6}"/>
              </a:ext>
            </a:extLst>
          </p:cNvPr>
          <p:cNvSpPr txBox="1"/>
          <p:nvPr/>
        </p:nvSpPr>
        <p:spPr>
          <a:xfrm>
            <a:off x="2800965" y="1641987"/>
            <a:ext cx="595035" cy="338554"/>
          </a:xfrm>
          <a:prstGeom prst="rect">
            <a:avLst/>
          </a:prstGeom>
          <a:noFill/>
        </p:spPr>
        <p:txBody>
          <a:bodyPr wrap="none" rtlCol="0">
            <a:spAutoFit/>
          </a:bodyPr>
          <a:lstStyle/>
          <a:p>
            <a:pPr algn="l">
              <a:spcAft>
                <a:spcPts val="600"/>
              </a:spcAft>
            </a:pPr>
            <a:r>
              <a:rPr lang="zh-CN" altLang="en-US" sz="1600" dirty="0">
                <a:solidFill>
                  <a:schemeClr val="bg1"/>
                </a:solidFill>
              </a:rPr>
              <a:t>已知</a:t>
            </a:r>
          </a:p>
        </p:txBody>
      </p:sp>
      <p:sp>
        <p:nvSpPr>
          <p:cNvPr id="5" name="文本框 4">
            <a:extLst>
              <a:ext uri="{FF2B5EF4-FFF2-40B4-BE49-F238E27FC236}">
                <a16:creationId xmlns:a16="http://schemas.microsoft.com/office/drawing/2014/main" id="{0FED9C07-7A3E-8AED-2F82-51186D64AEE2}"/>
              </a:ext>
            </a:extLst>
          </p:cNvPr>
          <p:cNvSpPr txBox="1"/>
          <p:nvPr/>
        </p:nvSpPr>
        <p:spPr>
          <a:xfrm>
            <a:off x="2800965" y="3604347"/>
            <a:ext cx="3986989" cy="338554"/>
          </a:xfrm>
          <a:prstGeom prst="rect">
            <a:avLst/>
          </a:prstGeom>
          <a:noFill/>
        </p:spPr>
        <p:txBody>
          <a:bodyPr wrap="none" rtlCol="0">
            <a:spAutoFit/>
          </a:bodyPr>
          <a:lstStyle/>
          <a:p>
            <a:pPr algn="l">
              <a:spcAft>
                <a:spcPts val="600"/>
              </a:spcAft>
            </a:pPr>
            <a:r>
              <a:rPr lang="zh-CN" altLang="en-US" sz="1600" dirty="0">
                <a:solidFill>
                  <a:schemeClr val="bg1"/>
                </a:solidFill>
              </a:rPr>
              <a:t>假设所有的技术复杂度因子均为</a:t>
            </a:r>
            <a:r>
              <a:rPr lang="en-US" altLang="zh-CN" sz="1600" dirty="0">
                <a:solidFill>
                  <a:schemeClr val="bg1"/>
                </a:solidFill>
              </a:rPr>
              <a:t>3</a:t>
            </a:r>
            <a:r>
              <a:rPr lang="zh-CN" altLang="en-US" sz="1600" dirty="0">
                <a:solidFill>
                  <a:schemeClr val="bg1"/>
                </a:solidFill>
              </a:rPr>
              <a:t>，求 </a:t>
            </a:r>
            <a:r>
              <a:rPr lang="en-US" altLang="zh-CN" sz="1600" dirty="0">
                <a:solidFill>
                  <a:schemeClr val="bg1"/>
                </a:solidFill>
              </a:rPr>
              <a:t>FP</a:t>
            </a:r>
            <a:endParaRPr lang="zh-CN" altLang="en-US" sz="1600" dirty="0">
              <a:solidFill>
                <a:schemeClr val="bg1"/>
              </a:solidFill>
            </a:endParaRPr>
          </a:p>
        </p:txBody>
      </p:sp>
    </p:spTree>
    <p:extLst>
      <p:ext uri="{BB962C8B-B14F-4D97-AF65-F5344CB8AC3E}">
        <p14:creationId xmlns:p14="http://schemas.microsoft.com/office/powerpoint/2010/main" val="4196526438"/>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106709792"/>
              </p:ext>
            </p:extLst>
          </p:nvPr>
        </p:nvGraphicFramePr>
        <p:xfrm>
          <a:off x="3396000" y="393289"/>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178352">
                <a:tc>
                  <a:txBody>
                    <a:bodyPr/>
                    <a:lstStyle/>
                    <a:p>
                      <a:r>
                        <a:rPr lang="zh-CN" altLang="en-US" sz="1400" b="0" dirty="0">
                          <a:solidFill>
                            <a:schemeClr val="bg1"/>
                          </a:solidFill>
                        </a:rPr>
                        <a:t>各类计数项</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zh-CN" altLang="en-US" sz="1400" b="0" dirty="0">
                          <a:solidFill>
                            <a:schemeClr val="bg1"/>
                          </a:solidFill>
                        </a:rPr>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6</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3</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7</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7</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4</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5</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3</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78352">
                <a:tc>
                  <a:txBody>
                    <a:bodyPr/>
                    <a:lstStyle/>
                    <a:p>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9</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graphicFrame>
        <p:nvGraphicFramePr>
          <p:cNvPr id="2" name="表格 1">
            <a:extLst>
              <a:ext uri="{FF2B5EF4-FFF2-40B4-BE49-F238E27FC236}">
                <a16:creationId xmlns:a16="http://schemas.microsoft.com/office/drawing/2014/main" id="{CE5D1AEC-4A88-963A-3672-4A4247DB361B}"/>
              </a:ext>
            </a:extLst>
          </p:cNvPr>
          <p:cNvGraphicFramePr>
            <a:graphicFrameLocks noGrp="1"/>
          </p:cNvGraphicFramePr>
          <p:nvPr>
            <p:extLst>
              <p:ext uri="{D42A27DB-BD31-4B8C-83A1-F6EECF244321}">
                <p14:modId xmlns:p14="http://schemas.microsoft.com/office/powerpoint/2010/main" val="3929726782"/>
              </p:ext>
            </p:extLst>
          </p:nvPr>
        </p:nvGraphicFramePr>
        <p:xfrm>
          <a:off x="3216000" y="3133177"/>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rgbClr val="FFFF00"/>
                          </a:solidFill>
                        </a:rPr>
                        <a:t>1. UFC</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b="0" dirty="0">
                          <a:solidFill>
                            <a:schemeClr val="bg1"/>
                          </a:solidFill>
                        </a:rPr>
                        <a:t>组件类型</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b="0" dirty="0">
                          <a:solidFill>
                            <a:schemeClr val="bg1"/>
                          </a:solidFill>
                        </a:rPr>
                        <a:t>组件复杂度</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全部</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b="0" dirty="0">
                          <a:solidFill>
                            <a:schemeClr val="bg1"/>
                          </a:solidFill>
                        </a:rPr>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a:t>
                      </a:r>
                      <a:r>
                        <a:rPr lang="en-US" altLang="zh-CN" sz="1400" b="0" dirty="0">
                          <a:solidFill>
                            <a:schemeClr val="bg1"/>
                          </a:solidFill>
                        </a:rPr>
                        <a:t>×3=</a:t>
                      </a:r>
                      <a:r>
                        <a:rPr lang="en-US" altLang="zh-CN" sz="1400" b="0" u="none" dirty="0">
                          <a:solidFill>
                            <a:schemeClr val="bg1"/>
                          </a:solidFill>
                        </a:rPr>
                        <a:t> </a:t>
                      </a:r>
                      <a:r>
                        <a:rPr lang="en-US" altLang="zh-CN" sz="1400" b="0" u="none" dirty="0">
                          <a:solidFill>
                            <a:srgbClr val="FFFF00"/>
                          </a:solidFill>
                        </a:rPr>
                        <a:t>18</a:t>
                      </a:r>
                      <a:endParaRPr lang="zh-CN" altLang="en-US" sz="1400" b="0" u="sng" baseline="0" dirty="0">
                        <a:solidFill>
                          <a:srgbClr val="FFFF00"/>
                        </a:solidFill>
                        <a:uFill>
                          <a:solidFill>
                            <a:schemeClr val="bg1"/>
                          </a:solidFill>
                        </a:u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44</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35</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63</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×3=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4</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24</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32</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5</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25</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14</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69</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9</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63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93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400" b="0" dirty="0">
                          <a:solidFill>
                            <a:srgbClr val="FFFF00"/>
                          </a:solidFill>
                        </a:rPr>
                        <a:t>合计</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301</a:t>
                      </a: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327730797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65C8E-3EF7-CA3B-31C1-5F48BF2C473D}"/>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1C23BAB1-95B3-B313-B815-69780DD16205}"/>
              </a:ext>
            </a:extLst>
          </p:cNvPr>
          <p:cNvSpPr txBox="1"/>
          <p:nvPr/>
        </p:nvSpPr>
        <p:spPr>
          <a:xfrm>
            <a:off x="3215999" y="3730816"/>
            <a:ext cx="793807" cy="338554"/>
          </a:xfrm>
          <a:prstGeom prst="rect">
            <a:avLst/>
          </a:prstGeom>
          <a:noFill/>
        </p:spPr>
        <p:txBody>
          <a:bodyPr wrap="none" rtlCol="0">
            <a:spAutoFit/>
          </a:bodyPr>
          <a:lstStyle/>
          <a:p>
            <a:r>
              <a:rPr lang="en-US" altLang="zh-CN" sz="1600" dirty="0">
                <a:solidFill>
                  <a:srgbClr val="FFFF00"/>
                </a:solidFill>
              </a:rPr>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64828201-7D1C-5271-90D9-F47451605834}"/>
                  </a:ext>
                </a:extLst>
              </p:cNvPr>
              <p:cNvSpPr txBox="1"/>
              <p:nvPr/>
            </p:nvSpPr>
            <p:spPr>
              <a:xfrm>
                <a:off x="3215999" y="4242623"/>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𝑇𝐶𝐹</m:t>
                      </m:r>
                      <m:r>
                        <a:rPr lang="en-US" altLang="zh-CN" sz="2000" b="0" i="1" smtClean="0">
                          <a:solidFill>
                            <a:schemeClr val="bg1"/>
                          </a:solidFill>
                          <a:latin typeface="Cambria Math" panose="02040503050406030204" pitchFamily="18" charset="0"/>
                        </a:rPr>
                        <m:t>=0.65×0.01×</m:t>
                      </m:r>
                      <m:nary>
                        <m:naryPr>
                          <m:chr m:val="∑"/>
                          <m:ctrlPr>
                            <a:rPr lang="en-US" altLang="zh-CN" sz="2000" b="0" i="1" smtClean="0">
                              <a:solidFill>
                                <a:schemeClr val="bg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bg1"/>
                              </a:solidFill>
                              <a:latin typeface="Cambria Math" panose="02040503050406030204" pitchFamily="18" charset="0"/>
                              <a:ea typeface="Cambria Math" panose="02040503050406030204" pitchFamily="18" charset="0"/>
                            </a:rPr>
                            <m:t>i</m:t>
                          </m:r>
                          <m:r>
                            <a:rPr lang="en-US" altLang="zh-CN" sz="2000" b="0" i="1" smtClean="0">
                              <a:solidFill>
                                <a:schemeClr val="bg1"/>
                              </a:solidFill>
                              <a:latin typeface="Cambria Math" panose="02040503050406030204" pitchFamily="18" charset="0"/>
                              <a:ea typeface="Cambria Math" panose="02040503050406030204" pitchFamily="18" charset="0"/>
                            </a:rPr>
                            <m:t>=1</m:t>
                          </m:r>
                        </m:sub>
                        <m:sup>
                          <m:r>
                            <a:rPr lang="en-US" altLang="zh-CN" sz="2000" b="0" i="1" smtClean="0">
                              <a:solidFill>
                                <a:schemeClr val="bg1"/>
                              </a:solidFill>
                              <a:latin typeface="Cambria Math" panose="02040503050406030204" pitchFamily="18" charset="0"/>
                              <a:ea typeface="Cambria Math" panose="02040503050406030204" pitchFamily="18" charset="0"/>
                            </a:rPr>
                            <m:t>14</m:t>
                          </m:r>
                        </m:sup>
                        <m:e>
                          <m:r>
                            <a:rPr lang="en-US" altLang="zh-CN" sz="2000" b="0" i="1" smtClean="0">
                              <a:solidFill>
                                <a:schemeClr val="bg1"/>
                              </a:solidFill>
                              <a:latin typeface="Cambria Math" panose="02040503050406030204" pitchFamily="18" charset="0"/>
                              <a:ea typeface="Cambria Math" panose="02040503050406030204" pitchFamily="18" charset="0"/>
                            </a:rPr>
                            <m:t>𝐹𝑖</m:t>
                          </m:r>
                        </m:e>
                      </m:nary>
                      <m:r>
                        <a:rPr lang="en-US" altLang="zh-CN" sz="2000" b="0" i="1" smtClean="0">
                          <a:solidFill>
                            <a:schemeClr val="bg1"/>
                          </a:solidFill>
                          <a:latin typeface="Cambria Math" panose="02040503050406030204" pitchFamily="18" charset="0"/>
                        </a:rPr>
                        <m:t>=0.65</m:t>
                      </m:r>
                      <m:r>
                        <a:rPr lang="en-US" altLang="zh-CN" sz="2000" b="0" i="1" smtClean="0">
                          <a:solidFill>
                            <a:schemeClr val="bg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bg1"/>
                  </a:solidFill>
                </a:endParaRPr>
              </a:p>
            </p:txBody>
          </p:sp>
        </mc:Choice>
        <mc:Fallback xmlns="">
          <p:sp>
            <p:nvSpPr>
              <p:cNvPr id="7" name="文本框 6">
                <a:extLst>
                  <a:ext uri="{FF2B5EF4-FFF2-40B4-BE49-F238E27FC236}">
                    <a16:creationId xmlns:a16="http://schemas.microsoft.com/office/drawing/2014/main" id="{64828201-7D1C-5271-90D9-F47451605834}"/>
                  </a:ext>
                </a:extLst>
              </p:cNvPr>
              <p:cNvSpPr txBox="1">
                <a:spLocks noRot="1" noChangeAspect="1" noMove="1" noResize="1" noEditPoints="1" noAdjustHandles="1" noChangeArrowheads="1" noChangeShapeType="1" noTextEdit="1"/>
              </p:cNvSpPr>
              <p:nvPr/>
            </p:nvSpPr>
            <p:spPr>
              <a:xfrm>
                <a:off x="3215999" y="4242623"/>
                <a:ext cx="6489533" cy="862993"/>
              </a:xfrm>
              <a:prstGeom prst="rect">
                <a:avLst/>
              </a:prstGeom>
              <a:blipFill>
                <a:blip r:embed="rId3"/>
                <a:stretch>
                  <a:fillRect/>
                </a:stretch>
              </a:blipFill>
            </p:spPr>
            <p:txBody>
              <a:bodyPr/>
              <a:lstStyle/>
              <a:p>
                <a:r>
                  <a:rPr lang="zh-CN" altLang="en-US">
                    <a:noFill/>
                  </a:rPr>
                  <a:t> </a:t>
                </a:r>
              </a:p>
            </p:txBody>
          </p:sp>
        </mc:Fallback>
      </mc:AlternateContent>
      <p:graphicFrame>
        <p:nvGraphicFramePr>
          <p:cNvPr id="8" name="表格 7">
            <a:extLst>
              <a:ext uri="{FF2B5EF4-FFF2-40B4-BE49-F238E27FC236}">
                <a16:creationId xmlns:a16="http://schemas.microsoft.com/office/drawing/2014/main" id="{08E91880-C44D-40BD-1C24-B8460AD2FF22}"/>
              </a:ext>
            </a:extLst>
          </p:cNvPr>
          <p:cNvGraphicFramePr>
            <a:graphicFrameLocks noGrp="1"/>
          </p:cNvGraphicFramePr>
          <p:nvPr>
            <p:extLst>
              <p:ext uri="{D42A27DB-BD31-4B8C-83A1-F6EECF244321}">
                <p14:modId xmlns:p14="http://schemas.microsoft.com/office/powerpoint/2010/main" val="198453975"/>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rgbClr val="FFFF00"/>
                          </a:solidFill>
                        </a:rPr>
                        <a:t>1. UFC</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b="0" dirty="0">
                          <a:solidFill>
                            <a:schemeClr val="bg1"/>
                          </a:solidFill>
                        </a:rPr>
                        <a:t>组件类型</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b="0" dirty="0">
                          <a:solidFill>
                            <a:schemeClr val="bg1"/>
                          </a:solidFill>
                        </a:rPr>
                        <a:t>组件复杂度</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全部</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b="0" dirty="0">
                          <a:solidFill>
                            <a:schemeClr val="bg1"/>
                          </a:solidFill>
                        </a:rPr>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a:t>
                      </a:r>
                      <a:r>
                        <a:rPr lang="en-US" altLang="zh-CN" sz="1400" b="0" dirty="0">
                          <a:solidFill>
                            <a:schemeClr val="bg1"/>
                          </a:solidFill>
                        </a:rPr>
                        <a:t>×3=</a:t>
                      </a:r>
                      <a:r>
                        <a:rPr lang="en-US" altLang="zh-CN" sz="1400" b="0" u="none" dirty="0">
                          <a:solidFill>
                            <a:schemeClr val="bg1"/>
                          </a:solidFill>
                        </a:rPr>
                        <a:t> </a:t>
                      </a:r>
                      <a:r>
                        <a:rPr lang="en-US" altLang="zh-CN" sz="1400" b="0" u="none" dirty="0">
                          <a:solidFill>
                            <a:srgbClr val="FFFF00"/>
                          </a:solidFill>
                        </a:rPr>
                        <a:t>18</a:t>
                      </a:r>
                      <a:endParaRPr lang="zh-CN" altLang="en-US" sz="1400" b="0" u="sng" baseline="0" dirty="0">
                        <a:solidFill>
                          <a:srgbClr val="FFFF00"/>
                        </a:solidFill>
                        <a:uFill>
                          <a:solidFill>
                            <a:schemeClr val="bg1"/>
                          </a:solidFill>
                        </a:u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44</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35</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63</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×3=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4</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24</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32</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5</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25</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14</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69</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9</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63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93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400" b="0" dirty="0">
                          <a:solidFill>
                            <a:srgbClr val="FFFF00"/>
                          </a:solidFill>
                        </a:rPr>
                        <a:t>合计</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301</a:t>
                      </a: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96868166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60C74-7CD8-A620-9737-091A34B2FF4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0BF5876-3421-D7D7-273A-48C36EFC69B7}"/>
              </a:ext>
            </a:extLst>
          </p:cNvPr>
          <p:cNvSpPr txBox="1"/>
          <p:nvPr/>
        </p:nvSpPr>
        <p:spPr>
          <a:xfrm>
            <a:off x="3215999" y="3386688"/>
            <a:ext cx="793807" cy="338554"/>
          </a:xfrm>
          <a:prstGeom prst="rect">
            <a:avLst/>
          </a:prstGeom>
          <a:noFill/>
        </p:spPr>
        <p:txBody>
          <a:bodyPr wrap="none" rtlCol="0">
            <a:spAutoFit/>
          </a:bodyPr>
          <a:lstStyle/>
          <a:p>
            <a:r>
              <a:rPr lang="en-US" altLang="zh-CN" sz="1600" dirty="0">
                <a:solidFill>
                  <a:srgbClr val="FFFF00"/>
                </a:solidFill>
              </a:rPr>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1078B0C4-8CCE-462E-BCB4-563CB404A5EC}"/>
                  </a:ext>
                </a:extLst>
              </p:cNvPr>
              <p:cNvSpPr txBox="1"/>
              <p:nvPr/>
            </p:nvSpPr>
            <p:spPr>
              <a:xfrm>
                <a:off x="3215999" y="3623191"/>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𝑇𝐶𝐹</m:t>
                      </m:r>
                      <m:r>
                        <a:rPr lang="en-US" altLang="zh-CN" sz="2000" b="0" i="1" smtClean="0">
                          <a:solidFill>
                            <a:schemeClr val="bg1"/>
                          </a:solidFill>
                          <a:latin typeface="Cambria Math" panose="02040503050406030204" pitchFamily="18" charset="0"/>
                        </a:rPr>
                        <m:t>=0.65×0.01×</m:t>
                      </m:r>
                      <m:nary>
                        <m:naryPr>
                          <m:chr m:val="∑"/>
                          <m:ctrlPr>
                            <a:rPr lang="en-US" altLang="zh-CN" sz="2000" b="0" i="1" smtClean="0">
                              <a:solidFill>
                                <a:schemeClr val="bg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bg1"/>
                              </a:solidFill>
                              <a:latin typeface="Cambria Math" panose="02040503050406030204" pitchFamily="18" charset="0"/>
                              <a:ea typeface="Cambria Math" panose="02040503050406030204" pitchFamily="18" charset="0"/>
                            </a:rPr>
                            <m:t>i</m:t>
                          </m:r>
                          <m:r>
                            <a:rPr lang="en-US" altLang="zh-CN" sz="2000" b="0" i="1" smtClean="0">
                              <a:solidFill>
                                <a:schemeClr val="bg1"/>
                              </a:solidFill>
                              <a:latin typeface="Cambria Math" panose="02040503050406030204" pitchFamily="18" charset="0"/>
                              <a:ea typeface="Cambria Math" panose="02040503050406030204" pitchFamily="18" charset="0"/>
                            </a:rPr>
                            <m:t>=1</m:t>
                          </m:r>
                        </m:sub>
                        <m:sup>
                          <m:r>
                            <a:rPr lang="en-US" altLang="zh-CN" sz="2000" b="0" i="1" smtClean="0">
                              <a:solidFill>
                                <a:schemeClr val="bg1"/>
                              </a:solidFill>
                              <a:latin typeface="Cambria Math" panose="02040503050406030204" pitchFamily="18" charset="0"/>
                              <a:ea typeface="Cambria Math" panose="02040503050406030204" pitchFamily="18" charset="0"/>
                            </a:rPr>
                            <m:t>14</m:t>
                          </m:r>
                        </m:sup>
                        <m:e>
                          <m:r>
                            <a:rPr lang="en-US" altLang="zh-CN" sz="2000" b="0" i="1" smtClean="0">
                              <a:solidFill>
                                <a:schemeClr val="bg1"/>
                              </a:solidFill>
                              <a:latin typeface="Cambria Math" panose="02040503050406030204" pitchFamily="18" charset="0"/>
                              <a:ea typeface="Cambria Math" panose="02040503050406030204" pitchFamily="18" charset="0"/>
                            </a:rPr>
                            <m:t>𝐹𝑖</m:t>
                          </m:r>
                        </m:e>
                      </m:nary>
                      <m:r>
                        <a:rPr lang="en-US" altLang="zh-CN" sz="2000" b="0" i="1" smtClean="0">
                          <a:solidFill>
                            <a:schemeClr val="bg1"/>
                          </a:solidFill>
                          <a:latin typeface="Cambria Math" panose="02040503050406030204" pitchFamily="18" charset="0"/>
                        </a:rPr>
                        <m:t>=0.65</m:t>
                      </m:r>
                      <m:r>
                        <a:rPr lang="en-US" altLang="zh-CN" sz="2000" b="0" i="1" smtClean="0">
                          <a:solidFill>
                            <a:schemeClr val="bg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bg1"/>
                  </a:solidFill>
                </a:endParaRPr>
              </a:p>
            </p:txBody>
          </p:sp>
        </mc:Choice>
        <mc:Fallback xmlns="">
          <p:sp>
            <p:nvSpPr>
              <p:cNvPr id="7" name="文本框 6">
                <a:extLst>
                  <a:ext uri="{FF2B5EF4-FFF2-40B4-BE49-F238E27FC236}">
                    <a16:creationId xmlns:a16="http://schemas.microsoft.com/office/drawing/2014/main" id="{1078B0C4-8CCE-462E-BCB4-563CB404A5EC}"/>
                  </a:ext>
                </a:extLst>
              </p:cNvPr>
              <p:cNvSpPr txBox="1">
                <a:spLocks noRot="1" noChangeAspect="1" noMove="1" noResize="1" noEditPoints="1" noAdjustHandles="1" noChangeArrowheads="1" noChangeShapeType="1" noTextEdit="1"/>
              </p:cNvSpPr>
              <p:nvPr/>
            </p:nvSpPr>
            <p:spPr>
              <a:xfrm>
                <a:off x="3215999" y="3623191"/>
                <a:ext cx="6489533" cy="862993"/>
              </a:xfrm>
              <a:prstGeom prst="rect">
                <a:avLst/>
              </a:prstGeom>
              <a:blipFill>
                <a:blip r:embed="rId3"/>
                <a:stretch>
                  <a:fillRect/>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E2C3A84F-B57D-C78E-6B33-102433EC9F8B}"/>
              </a:ext>
            </a:extLst>
          </p:cNvPr>
          <p:cNvSpPr txBox="1"/>
          <p:nvPr/>
        </p:nvSpPr>
        <p:spPr>
          <a:xfrm>
            <a:off x="3215999" y="4515680"/>
            <a:ext cx="675185" cy="338554"/>
          </a:xfrm>
          <a:prstGeom prst="rect">
            <a:avLst/>
          </a:prstGeom>
          <a:noFill/>
        </p:spPr>
        <p:txBody>
          <a:bodyPr wrap="none" rtlCol="0">
            <a:spAutoFit/>
          </a:bodyPr>
          <a:lstStyle/>
          <a:p>
            <a:r>
              <a:rPr lang="en-US" altLang="zh-CN" sz="1600" dirty="0">
                <a:solidFill>
                  <a:srgbClr val="FFFF00"/>
                </a:solidFill>
              </a:rPr>
              <a:t>3. FP</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CB94C825-16AD-9ED6-59A1-5B7B0ED637E9}"/>
                  </a:ext>
                </a:extLst>
              </p:cNvPr>
              <p:cNvSpPr txBox="1"/>
              <p:nvPr/>
            </p:nvSpPr>
            <p:spPr>
              <a:xfrm>
                <a:off x="3215999" y="4894518"/>
                <a:ext cx="42929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𝐹𝑃</m:t>
                      </m:r>
                      <m:r>
                        <a:rPr lang="en-US" altLang="zh-CN" sz="2000" b="0" i="1" smtClean="0">
                          <a:solidFill>
                            <a:schemeClr val="bg1"/>
                          </a:solidFill>
                          <a:latin typeface="Cambria Math" panose="02040503050406030204" pitchFamily="18" charset="0"/>
                        </a:rPr>
                        <m:t>=</m:t>
                      </m:r>
                      <m:r>
                        <a:rPr lang="en-US" altLang="zh-CN" sz="2000" b="0" i="1" smtClean="0">
                          <a:solidFill>
                            <a:schemeClr val="bg1"/>
                          </a:solidFill>
                          <a:latin typeface="Cambria Math" panose="02040503050406030204" pitchFamily="18" charset="0"/>
                        </a:rPr>
                        <m:t>𝑈𝐹𝐶</m:t>
                      </m:r>
                      <m:r>
                        <a:rPr lang="en-US" altLang="zh-CN" sz="2000" b="0" i="1" smtClean="0">
                          <a:solidFill>
                            <a:schemeClr val="bg1"/>
                          </a:solidFill>
                          <a:latin typeface="Cambria Math" panose="02040503050406030204" pitchFamily="18" charset="0"/>
                          <a:ea typeface="Cambria Math" panose="02040503050406030204" pitchFamily="18" charset="0"/>
                        </a:rPr>
                        <m:t>×</m:t>
                      </m:r>
                      <m:r>
                        <a:rPr lang="en-US" altLang="zh-CN" sz="2000" b="0" i="1" smtClean="0">
                          <a:solidFill>
                            <a:schemeClr val="bg1"/>
                          </a:solidFill>
                          <a:latin typeface="Cambria Math" panose="02040503050406030204" pitchFamily="18" charset="0"/>
                          <a:ea typeface="Cambria Math" panose="02040503050406030204" pitchFamily="18" charset="0"/>
                        </a:rPr>
                        <m:t>𝑇𝐶𝐹</m:t>
                      </m:r>
                      <m:r>
                        <a:rPr lang="en-US" altLang="zh-CN" sz="2000" b="0" i="1" smtClean="0">
                          <a:solidFill>
                            <a:schemeClr val="bg1"/>
                          </a:solidFill>
                          <a:latin typeface="Cambria Math" panose="02040503050406030204" pitchFamily="18" charset="0"/>
                          <a:ea typeface="Cambria Math" panose="02040503050406030204" pitchFamily="18" charset="0"/>
                        </a:rPr>
                        <m:t>=301×1.07=322</m:t>
                      </m:r>
                    </m:oMath>
                  </m:oMathPara>
                </a14:m>
                <a:endParaRPr lang="zh-CN" altLang="en-US" sz="2000" dirty="0">
                  <a:solidFill>
                    <a:schemeClr val="bg1"/>
                  </a:solidFill>
                </a:endParaRPr>
              </a:p>
            </p:txBody>
          </p:sp>
        </mc:Choice>
        <mc:Fallback xmlns="">
          <p:sp>
            <p:nvSpPr>
              <p:cNvPr id="6" name="文本框 5">
                <a:extLst>
                  <a:ext uri="{FF2B5EF4-FFF2-40B4-BE49-F238E27FC236}">
                    <a16:creationId xmlns:a16="http://schemas.microsoft.com/office/drawing/2014/main" id="{CB94C825-16AD-9ED6-59A1-5B7B0ED637E9}"/>
                  </a:ext>
                </a:extLst>
              </p:cNvPr>
              <p:cNvSpPr txBox="1">
                <a:spLocks noRot="1" noChangeAspect="1" noMove="1" noResize="1" noEditPoints="1" noAdjustHandles="1" noChangeArrowheads="1" noChangeShapeType="1" noTextEdit="1"/>
              </p:cNvSpPr>
              <p:nvPr/>
            </p:nvSpPr>
            <p:spPr>
              <a:xfrm>
                <a:off x="3215999" y="4894518"/>
                <a:ext cx="4292970" cy="307777"/>
              </a:xfrm>
              <a:prstGeom prst="rect">
                <a:avLst/>
              </a:prstGeom>
              <a:blipFill>
                <a:blip r:embed="rId4"/>
                <a:stretch>
                  <a:fillRect l="-852" r="-710" b="-8000"/>
                </a:stretch>
              </a:blipFill>
            </p:spPr>
            <p:txBody>
              <a:bodyPr/>
              <a:lstStyle/>
              <a:p>
                <a:r>
                  <a:rPr lang="zh-CN" altLang="en-US">
                    <a:noFill/>
                  </a:rPr>
                  <a:t> </a:t>
                </a:r>
              </a:p>
            </p:txBody>
          </p:sp>
        </mc:Fallback>
      </mc:AlternateContent>
      <p:graphicFrame>
        <p:nvGraphicFramePr>
          <p:cNvPr id="9" name="表格 8">
            <a:extLst>
              <a:ext uri="{FF2B5EF4-FFF2-40B4-BE49-F238E27FC236}">
                <a16:creationId xmlns:a16="http://schemas.microsoft.com/office/drawing/2014/main" id="{66051794-DB22-1C43-A591-D0A358296163}"/>
              </a:ext>
            </a:extLst>
          </p:cNvPr>
          <p:cNvGraphicFramePr>
            <a:graphicFrameLocks noGrp="1"/>
          </p:cNvGraphicFramePr>
          <p:nvPr>
            <p:extLst>
              <p:ext uri="{D42A27DB-BD31-4B8C-83A1-F6EECF244321}">
                <p14:modId xmlns:p14="http://schemas.microsoft.com/office/powerpoint/2010/main" val="2514947993"/>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rgbClr val="FFFF00"/>
                          </a:solidFill>
                        </a:rPr>
                        <a:t>1. UFC</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b="0" dirty="0">
                          <a:solidFill>
                            <a:schemeClr val="bg1"/>
                          </a:solidFill>
                        </a:rPr>
                        <a:t>组件类型</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b="0" dirty="0">
                          <a:solidFill>
                            <a:schemeClr val="bg1"/>
                          </a:solidFill>
                        </a:rPr>
                        <a:t>组件复杂度</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全部</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b="0" dirty="0">
                          <a:solidFill>
                            <a:schemeClr val="bg1"/>
                          </a:solidFill>
                        </a:rPr>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a:t>
                      </a:r>
                      <a:r>
                        <a:rPr lang="en-US" altLang="zh-CN" sz="1400" b="0" dirty="0">
                          <a:solidFill>
                            <a:schemeClr val="bg1"/>
                          </a:solidFill>
                        </a:rPr>
                        <a:t>×3=</a:t>
                      </a:r>
                      <a:r>
                        <a:rPr lang="en-US" altLang="zh-CN" sz="1400" b="0" u="none" dirty="0">
                          <a:solidFill>
                            <a:schemeClr val="bg1"/>
                          </a:solidFill>
                        </a:rPr>
                        <a:t> </a:t>
                      </a:r>
                      <a:r>
                        <a:rPr lang="en-US" altLang="zh-CN" sz="1400" b="0" u="none" dirty="0">
                          <a:solidFill>
                            <a:srgbClr val="FFFF00"/>
                          </a:solidFill>
                        </a:rPr>
                        <a:t>18</a:t>
                      </a:r>
                      <a:endParaRPr lang="zh-CN" altLang="en-US" sz="1400" b="0" u="sng" baseline="0" dirty="0">
                        <a:solidFill>
                          <a:srgbClr val="FFFF00"/>
                        </a:solidFill>
                        <a:uFill>
                          <a:solidFill>
                            <a:schemeClr val="bg1"/>
                          </a:solidFill>
                        </a:u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44</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35</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63</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×3=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4</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24</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32</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5</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25</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14</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69</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9</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63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93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400" b="0" dirty="0">
                          <a:solidFill>
                            <a:srgbClr val="FFFF00"/>
                          </a:solidFill>
                        </a:rPr>
                        <a:t>合计</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301</a:t>
                      </a: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25996920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8D34500-A72B-0D4A-5349-65B8E12CC1D7}"/>
              </a:ext>
            </a:extLst>
          </p:cNvPr>
          <p:cNvSpPr>
            <a:spLocks noGrp="1"/>
          </p:cNvSpPr>
          <p:nvPr>
            <p:ph type="title"/>
          </p:nvPr>
        </p:nvSpPr>
        <p:spPr>
          <a:xfrm>
            <a:off x="695998" y="360000"/>
            <a:ext cx="6375921" cy="429413"/>
          </a:xfrm>
        </p:spPr>
        <p:txBody>
          <a:bodyPr/>
          <a:lstStyle/>
          <a:p>
            <a:r>
              <a:rPr lang="en-US" altLang="zh-CN" dirty="0"/>
              <a:t>6.2.2.2 NESMA</a:t>
            </a:r>
            <a:endParaRPr lang="zh-CN" altLang="en-US" dirty="0"/>
          </a:p>
        </p:txBody>
      </p:sp>
      <p:sp>
        <p:nvSpPr>
          <p:cNvPr id="3" name="内容占位符 2">
            <a:extLst>
              <a:ext uri="{FF2B5EF4-FFF2-40B4-BE49-F238E27FC236}">
                <a16:creationId xmlns:a16="http://schemas.microsoft.com/office/drawing/2014/main" id="{C5147545-24FE-3C23-F565-F26E51E4BB82}"/>
              </a:ext>
            </a:extLst>
          </p:cNvPr>
          <p:cNvSpPr>
            <a:spLocks noGrp="1"/>
          </p:cNvSpPr>
          <p:nvPr>
            <p:ph idx="1"/>
          </p:nvPr>
        </p:nvSpPr>
        <p:spPr>
          <a:xfrm>
            <a:off x="696000" y="864000"/>
            <a:ext cx="10800000" cy="5400000"/>
          </a:xfrm>
        </p:spPr>
        <p:txBody>
          <a:bodyPr/>
          <a:lstStyle/>
          <a:p>
            <a:r>
              <a:rPr lang="en-US" altLang="zh-CN" dirty="0"/>
              <a:t>IFPUG</a:t>
            </a:r>
            <a:r>
              <a:rPr lang="zh-CN" altLang="en-US" dirty="0"/>
              <a:t>的扩展与简化</a:t>
            </a:r>
          </a:p>
          <a:p>
            <a:r>
              <a:rPr lang="zh-CN" altLang="en-US" dirty="0"/>
              <a:t>提供三种估算方式</a:t>
            </a:r>
            <a:endParaRPr lang="en-US" altLang="zh-CN" dirty="0"/>
          </a:p>
          <a:p>
            <a:pPr lvl="1"/>
            <a:r>
              <a:rPr lang="zh-CN" altLang="en-US" dirty="0"/>
              <a:t>指示功能点计数：</a:t>
            </a:r>
            <a:r>
              <a:rPr lang="en-US" altLang="zh-CN" dirty="0"/>
              <a:t> UFP = 35 × ILF + 15 × EIF</a:t>
            </a:r>
          </a:p>
          <a:p>
            <a:pPr lvl="1"/>
            <a:r>
              <a:rPr lang="zh-CN" altLang="en-US" dirty="0"/>
              <a:t>估算功能点计数：</a:t>
            </a:r>
            <a:r>
              <a:rPr lang="en-US" altLang="zh-CN" dirty="0"/>
              <a:t>UFP = 7 × ILF + 5 × EIF + 4 × EI + 5 × EO + 4 × EQ</a:t>
            </a:r>
          </a:p>
          <a:p>
            <a:pPr lvl="1"/>
            <a:r>
              <a:rPr lang="zh-CN" altLang="en-US" dirty="0"/>
              <a:t>详细功能点计数；同 </a:t>
            </a:r>
            <a:r>
              <a:rPr lang="en-US" altLang="zh-CN" dirty="0"/>
              <a:t>IFPUG</a:t>
            </a:r>
            <a:endParaRPr lang="zh-CN" altLang="en-US" dirty="0"/>
          </a:p>
          <a:p>
            <a:r>
              <a:rPr lang="zh-CN" altLang="en-US" dirty="0"/>
              <a:t>优势：效率高且足够准确</a:t>
            </a:r>
          </a:p>
          <a:p>
            <a:endParaRPr lang="zh-CN" altLang="en-US" dirty="0"/>
          </a:p>
        </p:txBody>
      </p:sp>
      <p:sp>
        <p:nvSpPr>
          <p:cNvPr id="6" name="文本占位符 5">
            <a:extLst>
              <a:ext uri="{FF2B5EF4-FFF2-40B4-BE49-F238E27FC236}">
                <a16:creationId xmlns:a16="http://schemas.microsoft.com/office/drawing/2014/main" id="{F637CE65-4685-CDFA-1E9C-F034AE8FA4ED}"/>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2179341914"/>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F27FCA-52C8-2347-C35F-F6539E583DEB}"/>
              </a:ext>
            </a:extLst>
          </p:cNvPr>
          <p:cNvSpPr>
            <a:spLocks noGrp="1"/>
          </p:cNvSpPr>
          <p:nvPr>
            <p:ph type="title"/>
          </p:nvPr>
        </p:nvSpPr>
        <p:spPr>
          <a:xfrm>
            <a:off x="695998" y="360000"/>
            <a:ext cx="6375921" cy="429413"/>
          </a:xfrm>
        </p:spPr>
        <p:txBody>
          <a:bodyPr/>
          <a:lstStyle/>
          <a:p>
            <a:r>
              <a:rPr lang="en-US" altLang="zh-CN" dirty="0"/>
              <a:t>6.2.2.3 COSMIC</a:t>
            </a:r>
            <a:endParaRPr lang="zh-CN" altLang="en-US" dirty="0"/>
          </a:p>
        </p:txBody>
      </p:sp>
      <p:sp>
        <p:nvSpPr>
          <p:cNvPr id="3" name="内容占位符 2">
            <a:extLst>
              <a:ext uri="{FF2B5EF4-FFF2-40B4-BE49-F238E27FC236}">
                <a16:creationId xmlns:a16="http://schemas.microsoft.com/office/drawing/2014/main" id="{CED785A8-7DD7-13F1-1C19-2F765E0A742D}"/>
              </a:ext>
            </a:extLst>
          </p:cNvPr>
          <p:cNvSpPr>
            <a:spLocks noGrp="1"/>
          </p:cNvSpPr>
          <p:nvPr>
            <p:ph idx="1"/>
          </p:nvPr>
        </p:nvSpPr>
        <p:spPr>
          <a:xfrm>
            <a:off x="696000" y="864000"/>
            <a:ext cx="10800000" cy="5400000"/>
          </a:xfrm>
        </p:spPr>
        <p:txBody>
          <a:bodyPr/>
          <a:lstStyle/>
          <a:p>
            <a:r>
              <a:rPr lang="zh-CN" altLang="en-US" dirty="0"/>
              <a:t>以数据移动为核心的现代方法</a:t>
            </a:r>
          </a:p>
          <a:p>
            <a:r>
              <a:rPr lang="zh-CN" altLang="en-US" dirty="0"/>
              <a:t>核心理念：</a:t>
            </a:r>
            <a:endParaRPr lang="en-US" altLang="zh-CN" dirty="0"/>
          </a:p>
          <a:p>
            <a:pPr lvl="1"/>
            <a:r>
              <a:rPr lang="zh-CN" altLang="en-US" dirty="0"/>
              <a:t>不依赖功能类型分类，而是通过“数据移动”来度量软件规模</a:t>
            </a:r>
            <a:endParaRPr lang="en-US" altLang="zh-CN" dirty="0"/>
          </a:p>
          <a:p>
            <a:pPr lvl="1"/>
            <a:r>
              <a:rPr lang="zh-CN" altLang="en-US" dirty="0"/>
              <a:t>每个数据移动（</a:t>
            </a:r>
            <a:r>
              <a:rPr lang="en-US" altLang="zh-CN" dirty="0"/>
              <a:t>Entry</a:t>
            </a:r>
            <a:r>
              <a:rPr lang="zh-CN" altLang="en-US" dirty="0"/>
              <a:t>、</a:t>
            </a:r>
            <a:r>
              <a:rPr lang="en-US" altLang="zh-CN" dirty="0"/>
              <a:t>Exit</a:t>
            </a:r>
            <a:r>
              <a:rPr lang="zh-CN" altLang="en-US" dirty="0"/>
              <a:t>、</a:t>
            </a:r>
            <a:r>
              <a:rPr lang="en-US" altLang="zh-CN" dirty="0"/>
              <a:t>Read</a:t>
            </a:r>
            <a:r>
              <a:rPr lang="zh-CN" altLang="en-US" dirty="0"/>
              <a:t>、</a:t>
            </a:r>
            <a:r>
              <a:rPr lang="en-US" altLang="zh-CN" dirty="0"/>
              <a:t>Write</a:t>
            </a:r>
            <a:r>
              <a:rPr lang="zh-CN" altLang="en-US" dirty="0"/>
              <a:t>）计为一个 </a:t>
            </a:r>
            <a:r>
              <a:rPr lang="en-US" altLang="zh-CN" dirty="0"/>
              <a:t>COSMIC </a:t>
            </a:r>
            <a:r>
              <a:rPr lang="zh-CN" altLang="en-US" dirty="0"/>
              <a:t>功能点（</a:t>
            </a:r>
            <a:r>
              <a:rPr lang="en-US" altLang="zh-CN" dirty="0"/>
              <a:t>CFP</a:t>
            </a:r>
            <a:r>
              <a:rPr lang="zh-CN" altLang="en-US" dirty="0"/>
              <a:t>）</a:t>
            </a:r>
          </a:p>
          <a:p>
            <a:r>
              <a:rPr lang="zh-CN" altLang="en-US" dirty="0"/>
              <a:t>适用性：</a:t>
            </a:r>
            <a:endParaRPr lang="en-US" altLang="zh-CN" dirty="0"/>
          </a:p>
          <a:p>
            <a:pPr lvl="1"/>
            <a:r>
              <a:rPr lang="zh-CN" altLang="en-US" dirty="0"/>
              <a:t>适用于任何类型软件（包括嵌入式、实时系统、业务应用等），不受技术平台限制。</a:t>
            </a:r>
          </a:p>
          <a:p>
            <a:r>
              <a:rPr lang="zh-CN" altLang="en-US" dirty="0"/>
              <a:t>优势：</a:t>
            </a:r>
            <a:endParaRPr lang="en-US" altLang="zh-CN" dirty="0"/>
          </a:p>
          <a:p>
            <a:pPr lvl="1"/>
            <a:r>
              <a:rPr lang="zh-CN" altLang="en-US" dirty="0"/>
              <a:t>更客观、可重复性强，尤其适合复杂系统或跨平台项目，是</a:t>
            </a:r>
            <a:r>
              <a:rPr lang="en-US" altLang="zh-CN" dirty="0"/>
              <a:t>ISO</a:t>
            </a:r>
            <a:r>
              <a:rPr lang="zh-CN" altLang="en-US" dirty="0"/>
              <a:t>国际标准（</a:t>
            </a:r>
            <a:r>
              <a:rPr lang="en-US" altLang="zh-CN" dirty="0"/>
              <a:t>ISO/IEC 19761</a:t>
            </a:r>
            <a:r>
              <a:rPr lang="zh-CN" altLang="en-US" dirty="0"/>
              <a:t>）</a:t>
            </a:r>
          </a:p>
          <a:p>
            <a:endParaRPr lang="zh-CN" altLang="en-US" dirty="0"/>
          </a:p>
        </p:txBody>
      </p:sp>
      <p:sp>
        <p:nvSpPr>
          <p:cNvPr id="7" name="文本占位符 6">
            <a:extLst>
              <a:ext uri="{FF2B5EF4-FFF2-40B4-BE49-F238E27FC236}">
                <a16:creationId xmlns:a16="http://schemas.microsoft.com/office/drawing/2014/main" id="{BD927B9A-9C0D-3818-4614-404ACB2E52B0}"/>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3866669989"/>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5EEC778E-D898-8CDC-B175-BDA92866A678}"/>
              </a:ext>
            </a:extLst>
          </p:cNvPr>
          <p:cNvGraphicFramePr>
            <a:graphicFrameLocks noGrp="1"/>
          </p:cNvGraphicFramePr>
          <p:nvPr>
            <p:extLst>
              <p:ext uri="{D42A27DB-BD31-4B8C-83A1-F6EECF244321}">
                <p14:modId xmlns:p14="http://schemas.microsoft.com/office/powerpoint/2010/main" val="19827723"/>
              </p:ext>
            </p:extLst>
          </p:nvPr>
        </p:nvGraphicFramePr>
        <p:xfrm>
          <a:off x="3216000" y="2872740"/>
          <a:ext cx="5760000" cy="111252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552502807"/>
                    </a:ext>
                  </a:extLst>
                </a:gridCol>
                <a:gridCol w="4320000">
                  <a:extLst>
                    <a:ext uri="{9D8B030D-6E8A-4147-A177-3AD203B41FA5}">
                      <a16:colId xmlns:a16="http://schemas.microsoft.com/office/drawing/2014/main" val="510031695"/>
                    </a:ext>
                  </a:extLst>
                </a:gridCol>
              </a:tblGrid>
              <a:tr h="37084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IFPUG</a:t>
                      </a:r>
                      <a:endParaRPr lang="zh-CN" altLang="en-US" sz="1600" b="0" dirty="0">
                        <a:solidFill>
                          <a:srgbClr val="FFFF00"/>
                        </a:solidFill>
                      </a:endParaRP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dirty="0">
                          <a:solidFill>
                            <a:schemeClr val="bg1"/>
                          </a:solidFill>
                        </a:rPr>
                        <a:t>传统权威，适合成熟项目</a:t>
                      </a:r>
                      <a:endParaRPr lang="zh-CN" altLang="en-US" sz="1600" b="0" dirty="0"/>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56462216"/>
                  </a:ext>
                </a:extLst>
              </a:tr>
              <a:tr h="370840">
                <a:tc>
                  <a:txBody>
                    <a:bodyPr/>
                    <a:lstStyle/>
                    <a:p>
                      <a:pPr algn="r"/>
                      <a:r>
                        <a:rPr lang="en-US" altLang="zh-CN" sz="1600" b="0" dirty="0">
                          <a:solidFill>
                            <a:srgbClr val="FFFF00"/>
                          </a:solidFill>
                        </a:rPr>
                        <a:t>NESMA</a:t>
                      </a:r>
                      <a:endParaRPr lang="zh-CN" altLang="en-US" sz="1600" b="0" dirty="0">
                        <a:solidFill>
                          <a:srgbClr val="FFFF00"/>
                        </a:solidFill>
                      </a:endParaRPr>
                    </a:p>
                  </a:txBody>
                  <a:tcP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IFPUG </a:t>
                      </a:r>
                      <a:r>
                        <a:rPr lang="zh-CN" altLang="en-US" sz="1600" b="0" dirty="0">
                          <a:solidFill>
                            <a:schemeClr val="bg1"/>
                          </a:solidFill>
                        </a:rPr>
                        <a:t>的轻量版，适合快速估算</a:t>
                      </a:r>
                      <a:endParaRPr lang="zh-CN" altLang="en-US" sz="1600" b="0" dirty="0"/>
                    </a:p>
                  </a:txBody>
                  <a:tcP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42506439"/>
                  </a:ext>
                </a:extLst>
              </a:tr>
              <a:tr h="370840">
                <a:tc>
                  <a:txBody>
                    <a:bodyPr/>
                    <a:lstStyle/>
                    <a:p>
                      <a:pPr algn="r"/>
                      <a:r>
                        <a:rPr lang="en-US" altLang="zh-CN" sz="1600" b="0" dirty="0">
                          <a:solidFill>
                            <a:srgbClr val="FFFF00"/>
                          </a:solidFill>
                        </a:rPr>
                        <a:t>COSMIC</a:t>
                      </a:r>
                      <a:endParaRPr lang="zh-CN" altLang="en-US" sz="1600" b="0" dirty="0">
                        <a:solidFill>
                          <a:srgbClr val="FFFF00"/>
                        </a:solidFill>
                      </a:endParaRPr>
                    </a:p>
                  </a:txBody>
                  <a:tcP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dirty="0">
                          <a:solidFill>
                            <a:schemeClr val="bg1"/>
                          </a:solidFill>
                        </a:rPr>
                        <a:t>现代通用型，适合复杂或非传统软件</a:t>
                      </a:r>
                      <a:endParaRPr lang="zh-CN" altLang="en-US" sz="1600" b="0" dirty="0"/>
                    </a:p>
                  </a:txBody>
                  <a:tcP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61882925"/>
                  </a:ext>
                </a:extLst>
              </a:tr>
            </a:tbl>
          </a:graphicData>
        </a:graphic>
      </p:graphicFrame>
    </p:spTree>
    <p:extLst>
      <p:ext uri="{BB962C8B-B14F-4D97-AF65-F5344CB8AC3E}">
        <p14:creationId xmlns:p14="http://schemas.microsoft.com/office/powerpoint/2010/main" val="1432981418"/>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467B1-01BA-8A5F-E9FF-B454555250F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9FD5CD7-B8A7-3484-DFE3-294C71859AB1}"/>
              </a:ext>
            </a:extLst>
          </p:cNvPr>
          <p:cNvSpPr>
            <a:spLocks noGrp="1"/>
          </p:cNvSpPr>
          <p:nvPr>
            <p:ph type="title"/>
          </p:nvPr>
        </p:nvSpPr>
        <p:spPr>
          <a:xfrm>
            <a:off x="695998" y="360000"/>
            <a:ext cx="6375921" cy="429413"/>
          </a:xfrm>
        </p:spPr>
        <p:txBody>
          <a:bodyPr/>
          <a:lstStyle/>
          <a:p>
            <a:r>
              <a:rPr lang="en-US" altLang="zh-CN" dirty="0"/>
              <a:t>6.2.3 </a:t>
            </a:r>
            <a:r>
              <a:rPr lang="zh-CN" altLang="en-US" dirty="0"/>
              <a:t>用例点估算法</a:t>
            </a:r>
            <a:r>
              <a:rPr lang="en-US" altLang="zh-CN" dirty="0"/>
              <a:t> </a:t>
            </a:r>
            <a:endParaRPr lang="zh-CN" altLang="en-US" dirty="0"/>
          </a:p>
        </p:txBody>
      </p:sp>
      <p:sp>
        <p:nvSpPr>
          <p:cNvPr id="10" name="内容占位符 9">
            <a:extLst>
              <a:ext uri="{FF2B5EF4-FFF2-40B4-BE49-F238E27FC236}">
                <a16:creationId xmlns:a16="http://schemas.microsoft.com/office/drawing/2014/main" id="{564A403D-B672-48FD-DBC7-09CE3B705EFD}"/>
              </a:ext>
            </a:extLst>
          </p:cNvPr>
          <p:cNvSpPr>
            <a:spLocks noGrp="1"/>
          </p:cNvSpPr>
          <p:nvPr>
            <p:ph idx="1"/>
          </p:nvPr>
        </p:nvSpPr>
        <p:spPr>
          <a:xfrm>
            <a:off x="696000" y="864000"/>
            <a:ext cx="10800000" cy="5400000"/>
          </a:xfrm>
        </p:spPr>
        <p:txBody>
          <a:bodyPr/>
          <a:lstStyle/>
          <a:p>
            <a:r>
              <a:rPr lang="en-US" altLang="zh-CN" dirty="0"/>
              <a:t>User Case Point</a:t>
            </a:r>
          </a:p>
          <a:p>
            <a:r>
              <a:rPr lang="zh-CN" altLang="en-US" dirty="0"/>
              <a:t>通过分析用例角色、场景和技术与环境因子等进行估算</a:t>
            </a:r>
            <a:endParaRPr lang="en-US" altLang="zh-CN" dirty="0"/>
          </a:p>
          <a:p>
            <a:r>
              <a:rPr lang="en-US" altLang="zh-CN" dirty="0"/>
              <a:t>1993</a:t>
            </a:r>
            <a:r>
              <a:rPr lang="zh-CN" altLang="en-US" dirty="0"/>
              <a:t>年提出</a:t>
            </a:r>
          </a:p>
        </p:txBody>
      </p:sp>
      <p:sp>
        <p:nvSpPr>
          <p:cNvPr id="7" name="文本占位符 6">
            <a:extLst>
              <a:ext uri="{FF2B5EF4-FFF2-40B4-BE49-F238E27FC236}">
                <a16:creationId xmlns:a16="http://schemas.microsoft.com/office/drawing/2014/main" id="{1E43F02E-8E9C-846D-D7CC-D3CDE8C5F7D9}"/>
              </a:ext>
            </a:extLst>
          </p:cNvPr>
          <p:cNvSpPr>
            <a:spLocks noGrp="1"/>
          </p:cNvSpPr>
          <p:nvPr>
            <p:ph type="body" sz="quarter" idx="10"/>
          </p:nvPr>
        </p:nvSpPr>
        <p:spPr>
          <a:xfrm>
            <a:off x="7071919" y="448519"/>
            <a:ext cx="4424080" cy="338554"/>
          </a:xfrm>
        </p:spPr>
        <p:txBody>
          <a:bodyPr/>
          <a:lstStyle/>
          <a:p>
            <a:r>
              <a:rPr lang="en-US" altLang="zh-CN" dirty="0"/>
              <a:t>UCP/Traditional</a:t>
            </a:r>
            <a:endParaRPr lang="zh-CN" altLang="en-US" dirty="0"/>
          </a:p>
        </p:txBody>
      </p:sp>
      <p:graphicFrame>
        <p:nvGraphicFramePr>
          <p:cNvPr id="14" name="表格 13">
            <a:extLst>
              <a:ext uri="{FF2B5EF4-FFF2-40B4-BE49-F238E27FC236}">
                <a16:creationId xmlns:a16="http://schemas.microsoft.com/office/drawing/2014/main" id="{5192596E-79B9-B17D-C2EF-7C916D77144D}"/>
              </a:ext>
            </a:extLst>
          </p:cNvPr>
          <p:cNvGraphicFramePr>
            <a:graphicFrameLocks noGrp="1"/>
          </p:cNvGraphicFramePr>
          <p:nvPr>
            <p:extLst>
              <p:ext uri="{D42A27DB-BD31-4B8C-83A1-F6EECF244321}">
                <p14:modId xmlns:p14="http://schemas.microsoft.com/office/powerpoint/2010/main" val="2798368831"/>
              </p:ext>
            </p:extLst>
          </p:nvPr>
        </p:nvGraphicFramePr>
        <p:xfrm>
          <a:off x="1956000" y="2390457"/>
          <a:ext cx="8280000" cy="23469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823369943"/>
                    </a:ext>
                  </a:extLst>
                </a:gridCol>
                <a:gridCol w="1440000">
                  <a:extLst>
                    <a:ext uri="{9D8B030D-6E8A-4147-A177-3AD203B41FA5}">
                      <a16:colId xmlns:a16="http://schemas.microsoft.com/office/drawing/2014/main" val="2090664318"/>
                    </a:ext>
                  </a:extLst>
                </a:gridCol>
                <a:gridCol w="5760000">
                  <a:extLst>
                    <a:ext uri="{9D8B030D-6E8A-4147-A177-3AD203B41FA5}">
                      <a16:colId xmlns:a16="http://schemas.microsoft.com/office/drawing/2014/main" val="3002863091"/>
                    </a:ext>
                  </a:extLst>
                </a:gridCol>
              </a:tblGrid>
              <a:tr h="0">
                <a:tc>
                  <a:txBody>
                    <a:bodyPr/>
                    <a:lstStyle/>
                    <a:p>
                      <a:pPr algn="ctr"/>
                      <a:r>
                        <a:rPr lang="zh-CN" altLang="en-US" sz="1600" b="0" dirty="0">
                          <a:solidFill>
                            <a:schemeClr val="bg1"/>
                          </a:solidFill>
                        </a:rPr>
                        <a:t>步骤</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估算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说明</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82248223"/>
                  </a:ext>
                </a:extLst>
              </a:tr>
              <a:tr h="0">
                <a:tc>
                  <a:txBody>
                    <a:bodyPr/>
                    <a:lstStyle/>
                    <a:p>
                      <a:pPr algn="ctr"/>
                      <a:r>
                        <a:rPr lang="en-US" altLang="zh-CN" sz="1600" b="0" dirty="0">
                          <a:solidFill>
                            <a:schemeClr val="bg1"/>
                          </a:solidFill>
                        </a:rPr>
                        <a:t>1</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UAW</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未调整的</a:t>
                      </a:r>
                      <a:r>
                        <a:rPr lang="zh-CN" altLang="en-US" sz="1600" b="0" dirty="0">
                          <a:solidFill>
                            <a:srgbClr val="FFFF00"/>
                          </a:solidFill>
                        </a:rPr>
                        <a:t>角色</a:t>
                      </a:r>
                      <a:r>
                        <a:rPr lang="zh-CN" altLang="en-US" sz="1600" b="0" dirty="0">
                          <a:solidFill>
                            <a:schemeClr val="bg1"/>
                          </a:solidFill>
                        </a:rPr>
                        <a:t>加权，</a:t>
                      </a:r>
                      <a:r>
                        <a:rPr lang="en-US" altLang="zh-CN" sz="1600" b="0" dirty="0">
                          <a:solidFill>
                            <a:schemeClr val="bg1"/>
                          </a:solidFill>
                        </a:rPr>
                        <a:t>Unadjusted Actor Weight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10458751"/>
                  </a:ext>
                </a:extLst>
              </a:tr>
              <a:tr h="0">
                <a:tc>
                  <a:txBody>
                    <a:bodyPr/>
                    <a:lstStyle/>
                    <a:p>
                      <a:pPr algn="ctr"/>
                      <a:r>
                        <a:rPr lang="en-US" altLang="zh-CN" sz="1600" b="0" dirty="0">
                          <a:solidFill>
                            <a:schemeClr val="bg1"/>
                          </a:solidFill>
                        </a:rPr>
                        <a:t>2</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dirty="0">
                          <a:solidFill>
                            <a:schemeClr val="bg1"/>
                          </a:solidFill>
                        </a:rPr>
                        <a:t>UUCW</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600" dirty="0">
                          <a:solidFill>
                            <a:schemeClr val="bg1"/>
                          </a:solidFill>
                        </a:rPr>
                        <a:t>未调整的</a:t>
                      </a:r>
                      <a:r>
                        <a:rPr lang="zh-CN" altLang="en-US" sz="1600" dirty="0">
                          <a:solidFill>
                            <a:srgbClr val="FFFF00"/>
                          </a:solidFill>
                        </a:rPr>
                        <a:t>用例</a:t>
                      </a:r>
                      <a:r>
                        <a:rPr lang="zh-CN" altLang="en-US" sz="1600" dirty="0">
                          <a:solidFill>
                            <a:schemeClr val="bg1"/>
                          </a:solidFill>
                        </a:rPr>
                        <a:t>加权，</a:t>
                      </a:r>
                      <a:r>
                        <a:rPr lang="en-US" altLang="zh-CN" sz="1600" dirty="0">
                          <a:solidFill>
                            <a:schemeClr val="bg1"/>
                          </a:solidFill>
                        </a:rPr>
                        <a:t>Unadjusted Use Case Weight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35766035"/>
                  </a:ext>
                </a:extLst>
              </a:tr>
              <a:tr h="0">
                <a:tc>
                  <a:txBody>
                    <a:bodyPr/>
                    <a:lstStyle/>
                    <a:p>
                      <a:pPr algn="ctr"/>
                      <a:r>
                        <a:rPr lang="en-US" altLang="zh-CN" sz="1600" b="0" dirty="0">
                          <a:solidFill>
                            <a:schemeClr val="bg1"/>
                          </a:solidFill>
                        </a:rPr>
                        <a:t>3</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dirty="0">
                          <a:solidFill>
                            <a:schemeClr val="bg1"/>
                          </a:solidFill>
                        </a:rPr>
                        <a:t>UUCP</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600" dirty="0">
                          <a:solidFill>
                            <a:schemeClr val="bg1"/>
                          </a:solidFill>
                        </a:rPr>
                        <a:t>未调整的</a:t>
                      </a:r>
                      <a:r>
                        <a:rPr lang="zh-CN" altLang="en-US" sz="1600" dirty="0">
                          <a:solidFill>
                            <a:srgbClr val="FFFF00"/>
                          </a:solidFill>
                        </a:rPr>
                        <a:t>用例点</a:t>
                      </a:r>
                      <a:r>
                        <a:rPr lang="zh-CN" altLang="en-US" sz="1600" dirty="0">
                          <a:solidFill>
                            <a:schemeClr val="bg1"/>
                          </a:solidFill>
                        </a:rPr>
                        <a:t>，</a:t>
                      </a:r>
                      <a:r>
                        <a:rPr lang="en-US" altLang="zh-CN" sz="1600" dirty="0">
                          <a:solidFill>
                            <a:schemeClr val="bg1"/>
                          </a:solidFill>
                        </a:rPr>
                        <a:t>Unadjusted Use Case Point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72039418"/>
                  </a:ext>
                </a:extLst>
              </a:tr>
              <a:tr h="0">
                <a:tc>
                  <a:txBody>
                    <a:bodyPr/>
                    <a:lstStyle/>
                    <a:p>
                      <a:pPr algn="ctr"/>
                      <a:r>
                        <a:rPr lang="en-US" altLang="zh-CN" sz="1600" b="0" dirty="0">
                          <a:solidFill>
                            <a:schemeClr val="bg1"/>
                          </a:solidFill>
                        </a:rPr>
                        <a:t>4</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dirty="0">
                          <a:solidFill>
                            <a:schemeClr val="bg1"/>
                          </a:solidFill>
                        </a:rPr>
                        <a:t>TEF</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600" dirty="0">
                          <a:solidFill>
                            <a:schemeClr val="bg1"/>
                          </a:solidFill>
                        </a:rPr>
                        <a:t>技术因子和环境因子，</a:t>
                      </a:r>
                      <a:r>
                        <a:rPr lang="en-US" altLang="zh-CN" sz="1600" dirty="0">
                          <a:solidFill>
                            <a:schemeClr val="bg1"/>
                          </a:solidFill>
                        </a:rPr>
                        <a:t>Technical and Environment Fator</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42839745"/>
                  </a:ext>
                </a:extLst>
              </a:tr>
              <a:tr h="0">
                <a:tc>
                  <a:txBody>
                    <a:bodyPr/>
                    <a:lstStyle/>
                    <a:p>
                      <a:pPr algn="ctr"/>
                      <a:r>
                        <a:rPr lang="en-US" altLang="zh-CN" sz="1600" b="0" dirty="0">
                          <a:solidFill>
                            <a:schemeClr val="bg1"/>
                          </a:solidFill>
                        </a:rPr>
                        <a:t>5</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dirty="0">
                          <a:solidFill>
                            <a:schemeClr val="bg1"/>
                          </a:solidFill>
                        </a:rPr>
                        <a:t>UCP</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600" dirty="0">
                          <a:solidFill>
                            <a:schemeClr val="bg1"/>
                          </a:solidFill>
                        </a:rPr>
                        <a:t>调整后的用例点</a:t>
                      </a:r>
                      <a:r>
                        <a:rPr lang="en-US" altLang="zh-CN" sz="1600" dirty="0">
                          <a:solidFill>
                            <a:schemeClr val="bg1"/>
                          </a:solidFill>
                        </a:rPr>
                        <a:t> Use Case Point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76573070"/>
                  </a:ext>
                </a:extLst>
              </a:tr>
              <a:tr h="0">
                <a:tc>
                  <a:txBody>
                    <a:bodyPr/>
                    <a:lstStyle/>
                    <a:p>
                      <a:pPr algn="ctr"/>
                      <a:r>
                        <a:rPr lang="en-US" altLang="zh-CN" sz="1600" b="0" dirty="0">
                          <a:solidFill>
                            <a:schemeClr val="bg1"/>
                          </a:solidFill>
                        </a:rPr>
                        <a:t>6</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b="0" dirty="0">
                          <a:solidFill>
                            <a:schemeClr val="bg1"/>
                          </a:solidFill>
                        </a:rPr>
                        <a:t>Effort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工作量，配合生成因子 </a:t>
                      </a:r>
                      <a:r>
                        <a:rPr lang="en-US" altLang="zh-CN" sz="1600" b="0" dirty="0">
                          <a:solidFill>
                            <a:schemeClr val="bg1"/>
                          </a:solidFill>
                        </a:rPr>
                        <a:t>Productivity Factor </a:t>
                      </a:r>
                      <a:r>
                        <a:rPr lang="zh-CN" altLang="en-US" sz="1600" b="0" dirty="0">
                          <a:solidFill>
                            <a:schemeClr val="bg1"/>
                          </a:solidFill>
                        </a:rPr>
                        <a:t>计算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213302"/>
                  </a:ext>
                </a:extLst>
              </a:tr>
            </a:tbl>
          </a:graphicData>
        </a:graphic>
      </p:graphicFrame>
    </p:spTree>
    <p:extLst>
      <p:ext uri="{BB962C8B-B14F-4D97-AF65-F5344CB8AC3E}">
        <p14:creationId xmlns:p14="http://schemas.microsoft.com/office/powerpoint/2010/main" val="2112822482"/>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D69D6979-6C4E-4E29-054A-7970CA7A573A}"/>
              </a:ext>
            </a:extLst>
          </p:cNvPr>
          <p:cNvGraphicFramePr>
            <a:graphicFrameLocks noGrp="1"/>
          </p:cNvGraphicFramePr>
          <p:nvPr>
            <p:extLst>
              <p:ext uri="{D42A27DB-BD31-4B8C-83A1-F6EECF244321}">
                <p14:modId xmlns:p14="http://schemas.microsoft.com/office/powerpoint/2010/main" val="18875809"/>
              </p:ext>
            </p:extLst>
          </p:nvPr>
        </p:nvGraphicFramePr>
        <p:xfrm>
          <a:off x="3216000" y="1406013"/>
          <a:ext cx="5760000" cy="201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2138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1. UAW </a:t>
                      </a:r>
                      <a:r>
                        <a:rPr lang="zh-CN" altLang="en-US" sz="1600" b="0" dirty="0">
                          <a:solidFill>
                            <a:schemeClr val="bg1"/>
                          </a:solidFill>
                        </a:rPr>
                        <a:t>未调整的角色加权</a:t>
                      </a:r>
                      <a:endParaRPr lang="en-US" altLang="zh-CN"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2784361"/>
                  </a:ext>
                </a:extLst>
              </a:tr>
              <a:tr h="213852">
                <a:tc>
                  <a:txBody>
                    <a:bodyPr/>
                    <a:lstStyle/>
                    <a:p>
                      <a:r>
                        <a:rPr lang="zh-CN" altLang="en-US" sz="1600" b="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参与角色数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UAW</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213852">
                <a:tc>
                  <a:txBody>
                    <a:bodyPr/>
                    <a:lstStyle/>
                    <a:p>
                      <a:r>
                        <a:rPr lang="en-US" altLang="zh-CN" sz="1600" b="0" dirty="0">
                          <a:solidFill>
                            <a:schemeClr val="bg1"/>
                          </a:solidFill>
                        </a:rPr>
                        <a:t>1</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Simple</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1</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1×2</a:t>
                      </a:r>
                      <a:endParaRPr lang="zh-CN" altLang="en-US" sz="16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213852">
                <a:tc>
                  <a:txBody>
                    <a:bodyPr/>
                    <a:lstStyle/>
                    <a:p>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Average</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4</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2×4</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213852">
                <a:tc>
                  <a:txBody>
                    <a:bodyPr/>
                    <a:lstStyle/>
                    <a:p>
                      <a:r>
                        <a:rPr lang="en-US" altLang="zh-CN" sz="1600" b="0" dirty="0">
                          <a:solidFill>
                            <a:schemeClr val="bg1"/>
                          </a:solidFill>
                        </a:rPr>
                        <a:t>3</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Complex</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3</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5</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3×5</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213852">
                <a:tc gridSpan="4">
                  <a:txBody>
                    <a:bodyPr/>
                    <a:lstStyle/>
                    <a:p>
                      <a:pPr algn="r"/>
                      <a:r>
                        <a:rPr lang="zh-CN" altLang="en-US" sz="1600" b="0" dirty="0">
                          <a:solidFill>
                            <a:schemeClr val="bg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25</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graphicFrame>
        <p:nvGraphicFramePr>
          <p:cNvPr id="7" name="表格 6">
            <a:extLst>
              <a:ext uri="{FF2B5EF4-FFF2-40B4-BE49-F238E27FC236}">
                <a16:creationId xmlns:a16="http://schemas.microsoft.com/office/drawing/2014/main" id="{D6174227-C014-ED0D-2815-4580A9FE3605}"/>
              </a:ext>
            </a:extLst>
          </p:cNvPr>
          <p:cNvGraphicFramePr>
            <a:graphicFrameLocks noGrp="1"/>
          </p:cNvGraphicFramePr>
          <p:nvPr>
            <p:extLst>
              <p:ext uri="{D42A27DB-BD31-4B8C-83A1-F6EECF244321}">
                <p14:modId xmlns:p14="http://schemas.microsoft.com/office/powerpoint/2010/main" val="4104900559"/>
              </p:ext>
            </p:extLst>
          </p:nvPr>
        </p:nvGraphicFramePr>
        <p:xfrm>
          <a:off x="3216000" y="3741175"/>
          <a:ext cx="5760000" cy="201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2. UUCW </a:t>
                      </a:r>
                      <a:r>
                        <a:rPr lang="zh-CN" altLang="en-US" sz="1600" b="0" dirty="0">
                          <a:solidFill>
                            <a:schemeClr val="bg1"/>
                          </a:solidFill>
                        </a:rPr>
                        <a:t>未调整的用例加权</a:t>
                      </a:r>
                      <a:endParaRPr lang="en-US" altLang="zh-CN" sz="1600" b="0" dirty="0">
                        <a:solidFill>
                          <a:srgbClr val="FFFF00"/>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9914403"/>
                  </a:ext>
                </a:extLst>
              </a:tr>
              <a:tr h="178352">
                <a:tc>
                  <a:txBody>
                    <a:bodyPr/>
                    <a:lstStyle/>
                    <a:p>
                      <a:r>
                        <a:rPr lang="zh-CN" altLang="en-US" sz="1600" b="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用例数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UUCW</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en-US" altLang="zh-CN" sz="1600" b="0" dirty="0">
                          <a:solidFill>
                            <a:schemeClr val="bg1"/>
                          </a:solidFill>
                        </a:rPr>
                        <a:t>1</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Simple</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5</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5</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5×5</a:t>
                      </a:r>
                      <a:endParaRPr lang="zh-CN" altLang="en-US" sz="16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Average</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10</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10×2</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en-US" altLang="zh-CN" sz="1600" b="0" dirty="0">
                          <a:solidFill>
                            <a:schemeClr val="bg1"/>
                          </a:solidFill>
                        </a:rPr>
                        <a:t>3</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Complex</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15</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3</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15×3</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gridSpan="4">
                  <a:txBody>
                    <a:bodyPr/>
                    <a:lstStyle/>
                    <a:p>
                      <a:pPr algn="r"/>
                      <a:r>
                        <a:rPr lang="zh-CN" altLang="en-US" sz="1600" b="0" dirty="0">
                          <a:solidFill>
                            <a:schemeClr val="bg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90</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spTree>
    <p:extLst>
      <p:ext uri="{BB962C8B-B14F-4D97-AF65-F5344CB8AC3E}">
        <p14:creationId xmlns:p14="http://schemas.microsoft.com/office/powerpoint/2010/main" val="3189899391"/>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BAEFD-33DF-B6C1-0A7C-18D9FEB2713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279960-EABB-4346-CB87-3D34BD5D83A6}"/>
              </a:ext>
            </a:extLst>
          </p:cNvPr>
          <p:cNvGraphicFramePr>
            <a:graphicFrameLocks noGrp="1"/>
          </p:cNvGraphicFramePr>
          <p:nvPr>
            <p:extLst>
              <p:ext uri="{D42A27DB-BD31-4B8C-83A1-F6EECF244321}">
                <p14:modId xmlns:p14="http://schemas.microsoft.com/office/powerpoint/2010/main" val="2988445327"/>
              </p:ext>
            </p:extLst>
          </p:nvPr>
        </p:nvGraphicFramePr>
        <p:xfrm>
          <a:off x="3216000" y="727586"/>
          <a:ext cx="3960000" cy="134112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3. UUCP </a:t>
                      </a:r>
                      <a:r>
                        <a:rPr lang="zh-CN" altLang="en-US" sz="1600" b="0" dirty="0">
                          <a:solidFill>
                            <a:schemeClr val="bg1"/>
                          </a:solidFill>
                        </a:rPr>
                        <a:t>未调整的用例点</a:t>
                      </a: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3485729"/>
                  </a:ext>
                </a:extLst>
              </a:tr>
              <a:tr h="178352">
                <a:tc>
                  <a:txBody>
                    <a:bodyPr/>
                    <a:lstStyle/>
                    <a:p>
                      <a:r>
                        <a:rPr lang="en-US" altLang="zh-CN" sz="1600" b="0" dirty="0">
                          <a:solidFill>
                            <a:schemeClr val="bg1"/>
                          </a:solidFill>
                        </a:rPr>
                        <a:t>UUCP </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UAW</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UUCW</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25</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90</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115</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9" name="表格 8">
            <a:extLst>
              <a:ext uri="{FF2B5EF4-FFF2-40B4-BE49-F238E27FC236}">
                <a16:creationId xmlns:a16="http://schemas.microsoft.com/office/drawing/2014/main" id="{13313E26-72F9-B659-BA3C-AA64559133E8}"/>
              </a:ext>
            </a:extLst>
          </p:cNvPr>
          <p:cNvGraphicFramePr>
            <a:graphicFrameLocks noGrp="1"/>
          </p:cNvGraphicFramePr>
          <p:nvPr>
            <p:extLst>
              <p:ext uri="{D42A27DB-BD31-4B8C-83A1-F6EECF244321}">
                <p14:modId xmlns:p14="http://schemas.microsoft.com/office/powerpoint/2010/main" val="3468082853"/>
              </p:ext>
            </p:extLst>
          </p:nvPr>
        </p:nvGraphicFramePr>
        <p:xfrm>
          <a:off x="3216000" y="3598524"/>
          <a:ext cx="5112000" cy="100584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792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5. UCP </a:t>
                      </a:r>
                      <a:r>
                        <a:rPr lang="zh-CN" altLang="en-US" sz="1600" b="0" dirty="0">
                          <a:solidFill>
                            <a:schemeClr val="bg1"/>
                          </a:solidFill>
                        </a:rPr>
                        <a:t>用例点</a:t>
                      </a:r>
                      <a:endParaRPr lang="en-US" altLang="zh-CN" sz="1600" b="0" dirty="0">
                        <a:solidFill>
                          <a:srgbClr val="FFFF00"/>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15848084"/>
                  </a:ext>
                </a:extLst>
              </a:tr>
              <a:tr h="178352">
                <a:tc>
                  <a:txBody>
                    <a:bodyPr/>
                    <a:lstStyle/>
                    <a:p>
                      <a:r>
                        <a:rPr lang="en-US" altLang="zh-CN" sz="1600" b="0" dirty="0">
                          <a:solidFill>
                            <a:schemeClr val="bg1"/>
                          </a:solidFill>
                        </a:rPr>
                        <a:t>UCP </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UUCP</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TCF</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ECF</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10" name="表格 9">
            <a:extLst>
              <a:ext uri="{FF2B5EF4-FFF2-40B4-BE49-F238E27FC236}">
                <a16:creationId xmlns:a16="http://schemas.microsoft.com/office/drawing/2014/main" id="{0100EC42-2747-5FA0-1AEA-6508BDDF9BC6}"/>
              </a:ext>
            </a:extLst>
          </p:cNvPr>
          <p:cNvGraphicFramePr>
            <a:graphicFrameLocks noGrp="1"/>
          </p:cNvGraphicFramePr>
          <p:nvPr>
            <p:extLst>
              <p:ext uri="{D42A27DB-BD31-4B8C-83A1-F6EECF244321}">
                <p14:modId xmlns:p14="http://schemas.microsoft.com/office/powerpoint/2010/main" val="3626422057"/>
              </p:ext>
            </p:extLst>
          </p:nvPr>
        </p:nvGraphicFramePr>
        <p:xfrm>
          <a:off x="3216000" y="4866354"/>
          <a:ext cx="3960000" cy="6705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rgbClr val="FFFF00"/>
                          </a:solidFill>
                        </a:rPr>
                        <a:t>6.  Effort </a:t>
                      </a:r>
                      <a:r>
                        <a:rPr lang="zh-CN" altLang="en-US" sz="1600" dirty="0">
                          <a:solidFill>
                            <a:schemeClr val="bg1"/>
                          </a:solidFill>
                        </a:rPr>
                        <a:t>工作量</a:t>
                      </a:r>
                      <a:endParaRPr lang="en-US" altLang="zh-CN" sz="160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60308836"/>
                  </a:ext>
                </a:extLst>
              </a:tr>
              <a:tr h="178352">
                <a:tc>
                  <a:txBody>
                    <a:bodyPr/>
                    <a:lstStyle/>
                    <a:p>
                      <a:r>
                        <a:rPr lang="zh-CN" altLang="en-US" sz="1600" b="0" dirty="0">
                          <a:solidFill>
                            <a:schemeClr val="bg1"/>
                          </a:solidFill>
                        </a:rPr>
                        <a:t>工作量</a:t>
                      </a:r>
                      <a:r>
                        <a:rPr lang="en-US" altLang="zh-CN" sz="1600" b="0" dirty="0">
                          <a:solidFill>
                            <a:schemeClr val="bg1"/>
                          </a:solidFill>
                        </a:rPr>
                        <a:t> </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UCP</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PF</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bl>
          </a:graphicData>
        </a:graphic>
      </p:graphicFrame>
      <p:graphicFrame>
        <p:nvGraphicFramePr>
          <p:cNvPr id="12" name="表格 11">
            <a:extLst>
              <a:ext uri="{FF2B5EF4-FFF2-40B4-BE49-F238E27FC236}">
                <a16:creationId xmlns:a16="http://schemas.microsoft.com/office/drawing/2014/main" id="{895FCDC7-158B-4A50-9CBC-BFC3B057D32D}"/>
              </a:ext>
            </a:extLst>
          </p:cNvPr>
          <p:cNvGraphicFramePr>
            <a:graphicFrameLocks noGrp="1"/>
          </p:cNvGraphicFramePr>
          <p:nvPr>
            <p:extLst>
              <p:ext uri="{D42A27DB-BD31-4B8C-83A1-F6EECF244321}">
                <p14:modId xmlns:p14="http://schemas.microsoft.com/office/powerpoint/2010/main" val="491995971"/>
              </p:ext>
            </p:extLst>
          </p:nvPr>
        </p:nvGraphicFramePr>
        <p:xfrm>
          <a:off x="3216000" y="2330695"/>
          <a:ext cx="5400000" cy="100584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4. TEF </a:t>
                      </a:r>
                      <a:r>
                        <a:rPr lang="zh-CN" altLang="en-US" sz="1600" b="0" dirty="0">
                          <a:solidFill>
                            <a:schemeClr val="bg1"/>
                          </a:solidFill>
                        </a:rPr>
                        <a:t>技术因子和环境因子</a:t>
                      </a:r>
                      <a:endParaRPr lang="en-US" altLang="zh-CN" sz="1600" b="0" dirty="0">
                        <a:solidFill>
                          <a:srgbClr val="FFFF00"/>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7519571"/>
                  </a:ext>
                </a:extLst>
              </a:tr>
              <a:tr h="178352">
                <a:tc>
                  <a:txBody>
                    <a:bodyPr/>
                    <a:lstStyle/>
                    <a:p>
                      <a:r>
                        <a:rPr lang="en-US" altLang="zh-CN" sz="1600" b="0" dirty="0">
                          <a:solidFill>
                            <a:schemeClr val="bg1"/>
                          </a:solidFill>
                        </a:rPr>
                        <a:t>TCF </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en-US" altLang="zh-CN" sz="1600" b="0" dirty="0">
                          <a:solidFill>
                            <a:schemeClr val="bg1"/>
                          </a:solidFill>
                        </a:rPr>
                        <a:t>ECF</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spTree>
    <p:extLst>
      <p:ext uri="{BB962C8B-B14F-4D97-AF65-F5344CB8AC3E}">
        <p14:creationId xmlns:p14="http://schemas.microsoft.com/office/powerpoint/2010/main" val="760121017"/>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6163B2-B1E9-D276-F972-B2563017564B}"/>
              </a:ext>
            </a:extLst>
          </p:cNvPr>
          <p:cNvSpPr>
            <a:spLocks noGrp="1"/>
          </p:cNvSpPr>
          <p:nvPr>
            <p:ph type="title"/>
          </p:nvPr>
        </p:nvSpPr>
        <p:spPr>
          <a:xfrm>
            <a:off x="695998" y="360000"/>
            <a:ext cx="6375921" cy="429413"/>
          </a:xfrm>
        </p:spPr>
        <p:txBody>
          <a:bodyPr/>
          <a:lstStyle/>
          <a:p>
            <a:r>
              <a:rPr lang="en-US" altLang="zh-CN" dirty="0"/>
              <a:t>6.2.4 </a:t>
            </a:r>
            <a:r>
              <a:rPr lang="zh-CN" altLang="en-US" dirty="0"/>
              <a:t>类比估算法</a:t>
            </a:r>
          </a:p>
        </p:txBody>
      </p:sp>
      <p:sp>
        <p:nvSpPr>
          <p:cNvPr id="6" name="内容占位符 5">
            <a:extLst>
              <a:ext uri="{FF2B5EF4-FFF2-40B4-BE49-F238E27FC236}">
                <a16:creationId xmlns:a16="http://schemas.microsoft.com/office/drawing/2014/main" id="{06A87724-568A-0D6D-CAFD-472B6873B795}"/>
              </a:ext>
            </a:extLst>
          </p:cNvPr>
          <p:cNvSpPr>
            <a:spLocks noGrp="1"/>
          </p:cNvSpPr>
          <p:nvPr>
            <p:ph idx="1"/>
          </p:nvPr>
        </p:nvSpPr>
        <p:spPr>
          <a:xfrm>
            <a:off x="696000" y="864000"/>
            <a:ext cx="10800000" cy="5400000"/>
          </a:xfrm>
        </p:spPr>
        <p:txBody>
          <a:bodyPr/>
          <a:lstStyle/>
          <a:p>
            <a:r>
              <a:rPr lang="zh-CN" altLang="en-US" dirty="0"/>
              <a:t>从整体出发进行类推</a:t>
            </a:r>
            <a:endParaRPr lang="en-US" altLang="zh-CN" dirty="0"/>
          </a:p>
          <a:p>
            <a:r>
              <a:rPr lang="zh-CN" altLang="en-US" dirty="0"/>
              <a:t>根据以往完成的类似项目所消耗的总成本或工作量来推算，并按比例分配到各任务单元</a:t>
            </a:r>
            <a:endParaRPr lang="en-US" altLang="zh-CN" dirty="0"/>
          </a:p>
          <a:p>
            <a:r>
              <a:rPr lang="zh-CN" altLang="en-US" dirty="0"/>
              <a:t>自上向下</a:t>
            </a:r>
          </a:p>
          <a:p>
            <a:r>
              <a:rPr lang="zh-CN" altLang="en-US" dirty="0"/>
              <a:t>特点</a:t>
            </a:r>
            <a:endParaRPr lang="en-US" altLang="zh-CN" dirty="0"/>
          </a:p>
          <a:p>
            <a:pPr lvl="1"/>
            <a:r>
              <a:rPr lang="zh-CN" altLang="en-US" dirty="0"/>
              <a:t>简单、易行</a:t>
            </a:r>
            <a:endParaRPr lang="en-US" altLang="zh-CN" dirty="0"/>
          </a:p>
          <a:p>
            <a:pPr lvl="1"/>
            <a:r>
              <a:rPr lang="zh-CN" altLang="en-US" dirty="0"/>
              <a:t>准确性差</a:t>
            </a:r>
            <a:endParaRPr lang="en-US" altLang="zh-CN" dirty="0"/>
          </a:p>
          <a:p>
            <a:r>
              <a:rPr lang="zh-CN" altLang="en-US" dirty="0"/>
              <a:t>适用</a:t>
            </a:r>
            <a:endParaRPr lang="en-US" altLang="zh-CN" dirty="0"/>
          </a:p>
          <a:p>
            <a:pPr lvl="1"/>
            <a:r>
              <a:rPr lang="zh-CN" altLang="en-US" dirty="0"/>
              <a:t>有例可循：有类似的历史项目数据</a:t>
            </a:r>
          </a:p>
          <a:p>
            <a:pPr lvl="1"/>
            <a:r>
              <a:rPr lang="zh-CN" altLang="en-US" dirty="0"/>
              <a:t>要求不高：估算精度要求不要</a:t>
            </a:r>
            <a:endParaRPr lang="en-US" altLang="zh-CN" dirty="0"/>
          </a:p>
          <a:p>
            <a:pPr lvl="1"/>
            <a:r>
              <a:rPr lang="zh-CN" altLang="en-US" dirty="0"/>
              <a:t>需求相对固定</a:t>
            </a:r>
            <a:endParaRPr lang="en-US" altLang="zh-CN" dirty="0"/>
          </a:p>
          <a:p>
            <a:r>
              <a:rPr lang="zh-CN" altLang="en-US" dirty="0"/>
              <a:t>实际运用</a:t>
            </a:r>
            <a:endParaRPr lang="en-US" altLang="zh-CN" dirty="0"/>
          </a:p>
          <a:p>
            <a:pPr lvl="1"/>
            <a:r>
              <a:rPr lang="zh-CN" altLang="en-US" dirty="0"/>
              <a:t>主观判断</a:t>
            </a:r>
            <a:endParaRPr lang="en-US" altLang="zh-CN" dirty="0"/>
          </a:p>
          <a:p>
            <a:pPr lvl="1"/>
            <a:r>
              <a:rPr lang="zh-CN" altLang="en-US" dirty="0"/>
              <a:t>算法复杂，很少采用</a:t>
            </a:r>
            <a:endParaRPr lang="en-US" altLang="zh-CN" dirty="0"/>
          </a:p>
          <a:p>
            <a:pPr lvl="1"/>
            <a:endParaRPr lang="en-US" altLang="zh-CN" dirty="0"/>
          </a:p>
          <a:p>
            <a:endParaRPr lang="zh-CN" altLang="en-US" dirty="0"/>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0822CB31-C8EF-142B-E573-50F10BD832B1}"/>
              </a:ext>
            </a:extLst>
          </p:cNvPr>
          <p:cNvSpPr>
            <a:spLocks noGrp="1"/>
          </p:cNvSpPr>
          <p:nvPr>
            <p:ph type="body" sz="quarter" idx="10"/>
          </p:nvPr>
        </p:nvSpPr>
        <p:spPr>
          <a:xfrm>
            <a:off x="7071919" y="448519"/>
            <a:ext cx="4424080" cy="338554"/>
          </a:xfrm>
        </p:spPr>
        <p:txBody>
          <a:bodyPr/>
          <a:lstStyle/>
          <a:p>
            <a:r>
              <a:rPr lang="en-US" altLang="zh-CN" dirty="0"/>
              <a:t>Analogy/Traditional</a:t>
            </a:r>
            <a:endParaRPr lang="zh-CN" altLang="en-US" dirty="0"/>
          </a:p>
        </p:txBody>
      </p:sp>
    </p:spTree>
    <p:extLst>
      <p:ext uri="{BB962C8B-B14F-4D97-AF65-F5344CB8AC3E}">
        <p14:creationId xmlns:p14="http://schemas.microsoft.com/office/powerpoint/2010/main" val="3939508625"/>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0235F-7966-4648-FB7E-5E8838A47D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E49222-EE36-4AEB-FEBD-EA6CA3699204}"/>
              </a:ext>
            </a:extLst>
          </p:cNvPr>
          <p:cNvSpPr>
            <a:spLocks noGrp="1"/>
          </p:cNvSpPr>
          <p:nvPr>
            <p:ph type="title"/>
          </p:nvPr>
        </p:nvSpPr>
        <p:spPr>
          <a:xfrm>
            <a:off x="695998" y="360000"/>
            <a:ext cx="6375921" cy="429413"/>
          </a:xfrm>
        </p:spPr>
        <p:txBody>
          <a:bodyPr/>
          <a:lstStyle/>
          <a:p>
            <a:r>
              <a:rPr lang="en-US" altLang="zh-CN" dirty="0"/>
              <a:t>6.2.5 </a:t>
            </a:r>
            <a:r>
              <a:rPr lang="zh-CN" altLang="en-US" dirty="0"/>
              <a:t>自下而上估算法</a:t>
            </a:r>
          </a:p>
        </p:txBody>
      </p:sp>
      <p:sp>
        <p:nvSpPr>
          <p:cNvPr id="6" name="内容占位符 5">
            <a:extLst>
              <a:ext uri="{FF2B5EF4-FFF2-40B4-BE49-F238E27FC236}">
                <a16:creationId xmlns:a16="http://schemas.microsoft.com/office/drawing/2014/main" id="{52D38937-0E29-09F2-CA8E-4ED1D7BDD640}"/>
              </a:ext>
            </a:extLst>
          </p:cNvPr>
          <p:cNvSpPr>
            <a:spLocks noGrp="1"/>
          </p:cNvSpPr>
          <p:nvPr>
            <p:ph idx="1"/>
          </p:nvPr>
        </p:nvSpPr>
        <p:spPr>
          <a:xfrm>
            <a:off x="696000" y="864000"/>
            <a:ext cx="10800000" cy="5400000"/>
          </a:xfrm>
        </p:spPr>
        <p:txBody>
          <a:bodyPr/>
          <a:lstStyle/>
          <a:p>
            <a:r>
              <a:rPr lang="zh-CN" altLang="en-US" dirty="0"/>
              <a:t>利用任务分解图</a:t>
            </a:r>
            <a:r>
              <a:rPr lang="en-US" altLang="zh-CN" dirty="0"/>
              <a:t> WBS </a:t>
            </a:r>
            <a:r>
              <a:rPr lang="zh-CN" altLang="en-US" dirty="0"/>
              <a:t>对各个具体工作包进行详细的成本估算，然后将结果累加起来得出项目总成本</a:t>
            </a:r>
            <a:endParaRPr lang="en-US" altLang="zh-CN" dirty="0"/>
          </a:p>
          <a:p>
            <a:r>
              <a:rPr lang="en-US" altLang="zh-CN" dirty="0"/>
              <a:t>WBS </a:t>
            </a:r>
            <a:r>
              <a:rPr lang="zh-CN" altLang="en-US" dirty="0"/>
              <a:t>一旦确定，就可以开展估算</a:t>
            </a:r>
            <a:endParaRPr lang="en-US" altLang="zh-CN" dirty="0"/>
          </a:p>
          <a:p>
            <a:r>
              <a:rPr lang="zh-CN" altLang="en-US" dirty="0"/>
              <a:t>相对比较准确，它的准确度来源于每个任务的估算情况</a:t>
            </a:r>
          </a:p>
          <a:p>
            <a:r>
              <a:rPr lang="zh-CN" altLang="en-US" dirty="0"/>
              <a:t>花费时间</a:t>
            </a:r>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C627BE12-6A0F-52C3-2F9A-4424646CBD38}"/>
              </a:ext>
            </a:extLst>
          </p:cNvPr>
          <p:cNvSpPr>
            <a:spLocks noGrp="1"/>
          </p:cNvSpPr>
          <p:nvPr>
            <p:ph type="body" sz="quarter" idx="10"/>
          </p:nvPr>
        </p:nvSpPr>
        <p:spPr>
          <a:xfrm>
            <a:off x="7071919" y="448519"/>
            <a:ext cx="4424080" cy="338554"/>
          </a:xfrm>
        </p:spPr>
        <p:txBody>
          <a:bodyPr/>
          <a:lstStyle/>
          <a:p>
            <a:r>
              <a:rPr lang="en-US" altLang="zh-CN" dirty="0"/>
              <a:t>Top-Down/Traditional</a:t>
            </a:r>
            <a:endParaRPr lang="zh-CN" altLang="en-US" dirty="0"/>
          </a:p>
        </p:txBody>
      </p:sp>
    </p:spTree>
    <p:extLst>
      <p:ext uri="{BB962C8B-B14F-4D97-AF65-F5344CB8AC3E}">
        <p14:creationId xmlns:p14="http://schemas.microsoft.com/office/powerpoint/2010/main" val="327258958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B7686EE-2290-E746-2711-F294703CC544}"/>
              </a:ext>
            </a:extLst>
          </p:cNvPr>
          <p:cNvGraphicFramePr>
            <a:graphicFrameLocks noGrp="1"/>
          </p:cNvGraphicFramePr>
          <p:nvPr>
            <p:extLst>
              <p:ext uri="{D42A27DB-BD31-4B8C-83A1-F6EECF244321}">
                <p14:modId xmlns:p14="http://schemas.microsoft.com/office/powerpoint/2010/main" val="2426396762"/>
              </p:ext>
            </p:extLst>
          </p:nvPr>
        </p:nvGraphicFramePr>
        <p:xfrm>
          <a:off x="1956000" y="2135953"/>
          <a:ext cx="8280000" cy="2586095"/>
        </p:xfrm>
        <a:graphic>
          <a:graphicData uri="http://schemas.openxmlformats.org/drawingml/2006/table">
            <a:tbl>
              <a:tblPr/>
              <a:tblGrid>
                <a:gridCol w="2160000">
                  <a:extLst>
                    <a:ext uri="{9D8B030D-6E8A-4147-A177-3AD203B41FA5}">
                      <a16:colId xmlns:a16="http://schemas.microsoft.com/office/drawing/2014/main" val="1521933873"/>
                    </a:ext>
                  </a:extLst>
                </a:gridCol>
                <a:gridCol w="2160000">
                  <a:extLst>
                    <a:ext uri="{9D8B030D-6E8A-4147-A177-3AD203B41FA5}">
                      <a16:colId xmlns:a16="http://schemas.microsoft.com/office/drawing/2014/main" val="1896575246"/>
                    </a:ext>
                  </a:extLst>
                </a:gridCol>
                <a:gridCol w="1440000">
                  <a:extLst>
                    <a:ext uri="{9D8B030D-6E8A-4147-A177-3AD203B41FA5}">
                      <a16:colId xmlns:a16="http://schemas.microsoft.com/office/drawing/2014/main" val="1894376317"/>
                    </a:ext>
                  </a:extLst>
                </a:gridCol>
                <a:gridCol w="1440000">
                  <a:extLst>
                    <a:ext uri="{9D8B030D-6E8A-4147-A177-3AD203B41FA5}">
                      <a16:colId xmlns:a16="http://schemas.microsoft.com/office/drawing/2014/main" val="3576738003"/>
                    </a:ext>
                  </a:extLst>
                </a:gridCol>
                <a:gridCol w="1080000">
                  <a:extLst>
                    <a:ext uri="{9D8B030D-6E8A-4147-A177-3AD203B41FA5}">
                      <a16:colId xmlns:a16="http://schemas.microsoft.com/office/drawing/2014/main" val="1037387791"/>
                    </a:ext>
                  </a:extLst>
                </a:gridCol>
              </a:tblGrid>
              <a:tr h="370635">
                <a:tc>
                  <a:txBody>
                    <a:bodyPr/>
                    <a:lstStyle/>
                    <a:p>
                      <a:pPr algn="ctr">
                        <a:buNone/>
                      </a:pPr>
                      <a:r>
                        <a:rPr lang="zh-CN" altLang="en-US" sz="1600" dirty="0">
                          <a:solidFill>
                            <a:schemeClr val="bg1"/>
                          </a:solidFill>
                        </a:rPr>
                        <a:t>阶段</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zh-CN" altLang="en-US" sz="1600" dirty="0">
                          <a:solidFill>
                            <a:schemeClr val="bg1"/>
                          </a:solidFill>
                        </a:rPr>
                        <a:t>人力配置</a:t>
                      </a:r>
                      <a:r>
                        <a:rPr lang="en-US" altLang="zh-CN" sz="1600" dirty="0">
                          <a:solidFill>
                            <a:schemeClr val="bg1"/>
                          </a:solidFill>
                        </a:rPr>
                        <a:t>(</a:t>
                      </a:r>
                      <a:r>
                        <a:rPr lang="en-US" sz="1600" dirty="0">
                          <a:solidFill>
                            <a:schemeClr val="bg1"/>
                          </a:solidFill>
                        </a:rPr>
                        <a:t>M:D:Q:S)</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zh-CN" altLang="en-US" sz="1600" dirty="0">
                          <a:solidFill>
                            <a:schemeClr val="bg1"/>
                          </a:solidFill>
                        </a:rPr>
                        <a:t>时间 </a:t>
                      </a:r>
                      <a:r>
                        <a:rPr lang="en-US" altLang="zh-CN" sz="1600" dirty="0">
                          <a:solidFill>
                            <a:schemeClr val="bg1"/>
                          </a:solidFill>
                        </a:rPr>
                        <a:t>(</a:t>
                      </a:r>
                      <a:r>
                        <a:rPr lang="zh-CN" altLang="en-US" sz="1600" dirty="0">
                          <a:solidFill>
                            <a:schemeClr val="bg1"/>
                          </a:solidFill>
                        </a:rPr>
                        <a:t>月</a:t>
                      </a: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zh-CN" altLang="en-US" sz="1600" dirty="0">
                          <a:solidFill>
                            <a:schemeClr val="bg1"/>
                          </a:solidFill>
                        </a:rPr>
                        <a:t>成本 </a:t>
                      </a:r>
                      <a:r>
                        <a:rPr lang="en-US" altLang="zh-CN" sz="1600" dirty="0">
                          <a:solidFill>
                            <a:schemeClr val="bg1"/>
                          </a:solidFill>
                        </a:rPr>
                        <a:t>(</a:t>
                      </a:r>
                      <a:r>
                        <a:rPr lang="zh-CN" altLang="en-US" sz="1600" dirty="0">
                          <a:solidFill>
                            <a:schemeClr val="bg1"/>
                          </a:solidFill>
                        </a:rPr>
                        <a:t>万</a:t>
                      </a: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zh-CN" altLang="en-US" sz="1600" dirty="0">
                          <a:solidFill>
                            <a:schemeClr val="bg1"/>
                          </a:solidFill>
                        </a:rPr>
                        <a:t>合计</a:t>
                      </a:r>
                      <a:r>
                        <a:rPr lang="en-US" altLang="zh-CN" sz="1600" dirty="0">
                          <a:solidFill>
                            <a:schemeClr val="bg1"/>
                          </a:solidFill>
                        </a:rPr>
                        <a:t>/</a:t>
                      </a:r>
                      <a:r>
                        <a:rPr lang="zh-CN" altLang="en-US" sz="1600" dirty="0">
                          <a:solidFill>
                            <a:schemeClr val="bg1"/>
                          </a:solidFill>
                        </a:rPr>
                        <a:t>万</a:t>
                      </a: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8300537"/>
                  </a:ext>
                </a:extLst>
              </a:tr>
              <a:tr h="211791">
                <a:tc>
                  <a:txBody>
                    <a:bodyPr/>
                    <a:lstStyle/>
                    <a:p>
                      <a:pPr algn="l">
                        <a:buNone/>
                      </a:pPr>
                      <a:r>
                        <a:rPr lang="zh-CN" altLang="en-US" sz="1600" dirty="0">
                          <a:solidFill>
                            <a:schemeClr val="bg1"/>
                          </a:solidFill>
                        </a:rPr>
                        <a:t>项目准备阶段</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sz="1600" dirty="0">
                          <a:solidFill>
                            <a:schemeClr val="bg1"/>
                          </a:solidFill>
                        </a:rPr>
                        <a:t>M:2/D:8/Q:1</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0.5</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16.5</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rowSpan="3">
                  <a:txBody>
                    <a:bodyPr/>
                    <a:lstStyle/>
                    <a:p>
                      <a:pPr algn="ctr">
                        <a:buNone/>
                      </a:pPr>
                      <a:r>
                        <a:rPr lang="en-US" altLang="zh-CN" sz="1600" dirty="0">
                          <a:solidFill>
                            <a:schemeClr val="bg1"/>
                          </a:solidFill>
                        </a:rPr>
                        <a:t>145.5</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55162956"/>
                  </a:ext>
                </a:extLst>
              </a:tr>
              <a:tr h="211791">
                <a:tc>
                  <a:txBody>
                    <a:bodyPr/>
                    <a:lstStyle/>
                    <a:p>
                      <a:pPr algn="l">
                        <a:buNone/>
                      </a:pPr>
                      <a:r>
                        <a:rPr lang="zh-CN" altLang="en-US" sz="1600" dirty="0">
                          <a:solidFill>
                            <a:schemeClr val="bg1"/>
                          </a:solidFill>
                        </a:rPr>
                        <a:t>项目设计阶段</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M:2/D:8/Q:2/S:1</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1</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39</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77480541"/>
                  </a:ext>
                </a:extLst>
              </a:tr>
              <a:tr h="847164">
                <a:tc>
                  <a:txBody>
                    <a:bodyPr/>
                    <a:lstStyle/>
                    <a:p>
                      <a:pPr algn="l">
                        <a:buNone/>
                      </a:pPr>
                      <a:r>
                        <a:rPr lang="zh-CN" altLang="en-US" sz="1600" dirty="0">
                          <a:solidFill>
                            <a:schemeClr val="bg1"/>
                          </a:solidFill>
                        </a:rPr>
                        <a:t>基础模块开发</a:t>
                      </a:r>
                    </a:p>
                    <a:p>
                      <a:pPr marL="171450" indent="-171450" algn="l">
                        <a:buFont typeface="Arial" panose="020B0604020202020204" pitchFamily="34" charset="0"/>
                        <a:buChar char="•"/>
                      </a:pPr>
                      <a:r>
                        <a:rPr lang="zh-CN" altLang="en-US" sz="1600" dirty="0">
                          <a:solidFill>
                            <a:schemeClr val="bg1"/>
                          </a:solidFill>
                        </a:rPr>
                        <a:t>公共控制子系统</a:t>
                      </a:r>
                    </a:p>
                    <a:p>
                      <a:pPr marL="171450" indent="-171450" algn="l">
                        <a:buFont typeface="Arial" panose="020B0604020202020204" pitchFamily="34" charset="0"/>
                        <a:buChar char="•"/>
                      </a:pPr>
                      <a:r>
                        <a:rPr lang="zh-CN" altLang="en-US" sz="1600" dirty="0">
                          <a:solidFill>
                            <a:schemeClr val="bg1"/>
                          </a:solidFill>
                        </a:rPr>
                        <a:t>中央会计子系统</a:t>
                      </a:r>
                    </a:p>
                    <a:p>
                      <a:pPr marL="171450" indent="-171450" algn="l">
                        <a:buFont typeface="Arial" panose="020B0604020202020204" pitchFamily="34" charset="0"/>
                        <a:buChar char="•"/>
                      </a:pPr>
                      <a:r>
                        <a:rPr lang="zh-CN" altLang="en-US" sz="1600" dirty="0">
                          <a:solidFill>
                            <a:schemeClr val="bg1"/>
                          </a:solidFill>
                        </a:rPr>
                        <a:t>客户信息子系统</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sz="1600" dirty="0">
                          <a:solidFill>
                            <a:schemeClr val="bg1"/>
                          </a:solidFill>
                        </a:rPr>
                        <a:t>M:2/D:15/Q:2/S:1</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1.5</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90</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9796615"/>
                  </a:ext>
                </a:extLst>
              </a:tr>
              <a:tr h="211791">
                <a:tc>
                  <a:txBody>
                    <a:bodyPr/>
                    <a:lstStyle/>
                    <a:p>
                      <a:pPr algn="l">
                        <a:buNone/>
                      </a:pPr>
                      <a:r>
                        <a:rPr lang="en-US" altLang="zh-CN" sz="1600" dirty="0">
                          <a:solidFill>
                            <a:schemeClr val="bg1"/>
                          </a:solidFill>
                        </a:rPr>
                        <a:t>…</a:t>
                      </a:r>
                      <a:endParaRPr lang="zh-CN" altLang="en-US"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89932107"/>
                  </a:ext>
                </a:extLst>
              </a:tr>
              <a:tr h="211791">
                <a:tc>
                  <a:txBody>
                    <a:bodyPr/>
                    <a:lstStyle/>
                    <a:p>
                      <a:pPr algn="ctr">
                        <a:buNone/>
                      </a:pPr>
                      <a:r>
                        <a:rPr lang="zh-CN" altLang="en-US" sz="1600" dirty="0">
                          <a:solidFill>
                            <a:schemeClr val="bg1"/>
                          </a:solidFill>
                        </a:rPr>
                        <a:t>总计</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gridSpan="4">
                  <a:txBody>
                    <a:bodyPr/>
                    <a:lstStyle/>
                    <a:p>
                      <a:pPr algn="ctr">
                        <a:buNone/>
                      </a:pP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6202875"/>
                  </a:ext>
                </a:extLst>
              </a:tr>
            </a:tbl>
          </a:graphicData>
        </a:graphic>
      </p:graphicFrame>
      <p:sp>
        <p:nvSpPr>
          <p:cNvPr id="6" name="文本框 5">
            <a:extLst>
              <a:ext uri="{FF2B5EF4-FFF2-40B4-BE49-F238E27FC236}">
                <a16:creationId xmlns:a16="http://schemas.microsoft.com/office/drawing/2014/main" id="{D526B546-0AB4-0F3F-8CE1-979872ED32AF}"/>
              </a:ext>
            </a:extLst>
          </p:cNvPr>
          <p:cNvSpPr txBox="1"/>
          <p:nvPr/>
        </p:nvSpPr>
        <p:spPr>
          <a:xfrm>
            <a:off x="7348207" y="5211097"/>
            <a:ext cx="2707793" cy="954107"/>
          </a:xfrm>
          <a:prstGeom prst="rect">
            <a:avLst/>
          </a:prstGeom>
          <a:noFill/>
        </p:spPr>
        <p:txBody>
          <a:bodyPr wrap="none" rtlCol="0">
            <a:spAutoFit/>
          </a:bodyPr>
          <a:lstStyle/>
          <a:p>
            <a:pPr algn="r"/>
            <a:r>
              <a:rPr lang="en-US" altLang="zh-CN" sz="1400" dirty="0">
                <a:solidFill>
                  <a:schemeClr val="bg1"/>
                </a:solidFill>
              </a:rPr>
              <a:t>M: Manager</a:t>
            </a:r>
          </a:p>
          <a:p>
            <a:pPr algn="r"/>
            <a:r>
              <a:rPr lang="en-US" altLang="zh-CN" sz="1400" dirty="0">
                <a:solidFill>
                  <a:schemeClr val="bg1"/>
                </a:solidFill>
              </a:rPr>
              <a:t>D: Developer</a:t>
            </a:r>
          </a:p>
          <a:p>
            <a:pPr algn="r"/>
            <a:r>
              <a:rPr lang="en-US" altLang="zh-CN" sz="1400" dirty="0">
                <a:solidFill>
                  <a:schemeClr val="bg1"/>
                </a:solidFill>
              </a:rPr>
              <a:t>Q: Quality Assurance</a:t>
            </a:r>
          </a:p>
          <a:p>
            <a:pPr algn="r"/>
            <a:r>
              <a:rPr lang="en-US" altLang="zh-CN" sz="1400" dirty="0">
                <a:solidFill>
                  <a:schemeClr val="bg1"/>
                </a:solidFill>
              </a:rPr>
              <a:t>S: System Architect / Senior</a:t>
            </a:r>
            <a:endParaRPr lang="zh-CN" altLang="en-US" sz="1400" dirty="0">
              <a:solidFill>
                <a:schemeClr val="bg1"/>
              </a:solidFill>
            </a:endParaRPr>
          </a:p>
        </p:txBody>
      </p:sp>
    </p:spTree>
    <p:extLst>
      <p:ext uri="{BB962C8B-B14F-4D97-AF65-F5344CB8AC3E}">
        <p14:creationId xmlns:p14="http://schemas.microsoft.com/office/powerpoint/2010/main" val="4233488024"/>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042479-10BC-50C8-2F14-B14B0ED09349}"/>
              </a:ext>
            </a:extLst>
          </p:cNvPr>
          <p:cNvSpPr>
            <a:spLocks noGrp="1"/>
          </p:cNvSpPr>
          <p:nvPr>
            <p:ph type="title"/>
          </p:nvPr>
        </p:nvSpPr>
        <p:spPr>
          <a:xfrm>
            <a:off x="695998" y="360000"/>
            <a:ext cx="6375921" cy="429413"/>
          </a:xfrm>
        </p:spPr>
        <p:txBody>
          <a:bodyPr/>
          <a:lstStyle/>
          <a:p>
            <a:r>
              <a:rPr lang="en-US" altLang="zh-CN" dirty="0"/>
              <a:t>6.2.6 </a:t>
            </a:r>
            <a:r>
              <a:rPr lang="zh-CN" altLang="en-US" dirty="0"/>
              <a:t>三点估算</a:t>
            </a:r>
          </a:p>
        </p:txBody>
      </p:sp>
      <p:sp>
        <p:nvSpPr>
          <p:cNvPr id="3" name="内容占位符 2">
            <a:extLst>
              <a:ext uri="{FF2B5EF4-FFF2-40B4-BE49-F238E27FC236}">
                <a16:creationId xmlns:a16="http://schemas.microsoft.com/office/drawing/2014/main" id="{990F2CAD-9236-61F8-55A8-8BB63A3CF9C2}"/>
              </a:ext>
            </a:extLst>
          </p:cNvPr>
          <p:cNvSpPr>
            <a:spLocks noGrp="1"/>
          </p:cNvSpPr>
          <p:nvPr>
            <p:ph idx="1"/>
          </p:nvPr>
        </p:nvSpPr>
        <p:spPr>
          <a:xfrm>
            <a:off x="696000" y="864000"/>
            <a:ext cx="10800000" cy="5400000"/>
          </a:xfrm>
        </p:spPr>
        <p:txBody>
          <a:bodyPr/>
          <a:lstStyle/>
          <a:p>
            <a:r>
              <a:rPr lang="zh-CN" altLang="en-US" dirty="0"/>
              <a:t>聚焦项目的不确定性和风险</a:t>
            </a:r>
            <a:endParaRPr lang="en-US" altLang="zh-CN" dirty="0"/>
          </a:p>
          <a:p>
            <a:r>
              <a:rPr lang="zh-CN" altLang="en-US" dirty="0"/>
              <a:t>基于对同一任务在三种不同情景下的成本预测</a:t>
            </a:r>
            <a:endParaRPr lang="en-US" altLang="zh-CN" dirty="0"/>
          </a:p>
          <a:p>
            <a:pPr lvl="1"/>
            <a:r>
              <a:rPr lang="zh-CN" altLang="en-US" dirty="0"/>
              <a:t>最可能成本 </a:t>
            </a:r>
            <a:r>
              <a:rPr lang="en-US" altLang="zh-CN" dirty="0"/>
              <a:t>C</a:t>
            </a:r>
            <a:r>
              <a:rPr lang="en-US" altLang="zh-CN" baseline="-25000" dirty="0"/>
              <a:t>M</a:t>
            </a:r>
            <a:r>
              <a:rPr lang="zh-CN" altLang="en-US" dirty="0"/>
              <a:t>：</a:t>
            </a:r>
            <a:r>
              <a:rPr lang="en-US" altLang="zh-CN" dirty="0"/>
              <a:t>Most Likely</a:t>
            </a:r>
            <a:r>
              <a:rPr lang="zh-CN" altLang="en-US" dirty="0"/>
              <a:t>；比较现实的估算成本；正常、现实条件下的预期成本</a:t>
            </a:r>
          </a:p>
          <a:p>
            <a:pPr lvl="1"/>
            <a:r>
              <a:rPr lang="zh-CN" altLang="en-US" dirty="0"/>
              <a:t>最乐观成本 </a:t>
            </a:r>
            <a:r>
              <a:rPr lang="en-US" altLang="zh-CN" dirty="0"/>
              <a:t>C</a:t>
            </a:r>
            <a:r>
              <a:rPr lang="en-US" altLang="zh-CN" baseline="-25000" dirty="0"/>
              <a:t>O</a:t>
            </a:r>
            <a:r>
              <a:rPr lang="zh-CN" altLang="en-US" dirty="0"/>
              <a:t>：</a:t>
            </a:r>
            <a:r>
              <a:rPr lang="en-US" altLang="zh-CN" dirty="0"/>
              <a:t>Optimistic</a:t>
            </a:r>
            <a:r>
              <a:rPr lang="zh-CN" altLang="en-US" dirty="0"/>
              <a:t>；最好情况的估算成本；一切顺利、无风险情况下的最低成本</a:t>
            </a:r>
          </a:p>
          <a:p>
            <a:pPr lvl="1"/>
            <a:r>
              <a:rPr lang="zh-CN" altLang="en-US" dirty="0"/>
              <a:t>最悲观成本 </a:t>
            </a:r>
            <a:r>
              <a:rPr lang="en-US" altLang="zh-CN" dirty="0"/>
              <a:t>C</a:t>
            </a:r>
            <a:r>
              <a:rPr lang="en-US" altLang="zh-CN" baseline="-25000" dirty="0"/>
              <a:t>P</a:t>
            </a:r>
            <a:r>
              <a:rPr lang="zh-CN" altLang="en-US" dirty="0"/>
              <a:t>：</a:t>
            </a:r>
            <a:r>
              <a:rPr lang="en-US" altLang="zh-CN" dirty="0"/>
              <a:t>Pessimistic</a:t>
            </a:r>
            <a:r>
              <a:rPr lang="zh-CN" altLang="en-US" dirty="0"/>
              <a:t>；最差情况的估算成本；遇到最大困难、风险全发情况下的最高成本</a:t>
            </a:r>
            <a:endParaRPr lang="en-US" altLang="zh-CN" dirty="0"/>
          </a:p>
          <a:p>
            <a:r>
              <a:rPr lang="zh-CN" altLang="en-US" dirty="0"/>
              <a:t>常用模型</a:t>
            </a:r>
          </a:p>
          <a:p>
            <a:endParaRPr lang="zh-CN" altLang="en-US" dirty="0"/>
          </a:p>
        </p:txBody>
      </p:sp>
      <p:sp>
        <p:nvSpPr>
          <p:cNvPr id="13" name="文本占位符 12">
            <a:extLst>
              <a:ext uri="{FF2B5EF4-FFF2-40B4-BE49-F238E27FC236}">
                <a16:creationId xmlns:a16="http://schemas.microsoft.com/office/drawing/2014/main" id="{680BCB20-E510-F67D-0A1D-FAA12722B6E6}"/>
              </a:ext>
            </a:extLst>
          </p:cNvPr>
          <p:cNvSpPr>
            <a:spLocks noGrp="1"/>
          </p:cNvSpPr>
          <p:nvPr>
            <p:ph type="body" sz="quarter" idx="10"/>
          </p:nvPr>
        </p:nvSpPr>
        <p:spPr/>
        <p:txBody>
          <a:bodyPr/>
          <a:lstStyle/>
          <a:p>
            <a:r>
              <a:rPr lang="en-US" altLang="zh-CN"/>
              <a:t>Three-Point/Traditional</a:t>
            </a:r>
            <a:endParaRPr lang="zh-CN" altLang="en-US" dirty="0"/>
          </a:p>
        </p:txBody>
      </p:sp>
      <p:graphicFrame>
        <p:nvGraphicFramePr>
          <p:cNvPr id="16" name="表格 15">
            <a:extLst>
              <a:ext uri="{FF2B5EF4-FFF2-40B4-BE49-F238E27FC236}">
                <a16:creationId xmlns:a16="http://schemas.microsoft.com/office/drawing/2014/main" id="{4996854D-0EB1-8900-22AE-91C76E424E9C}"/>
              </a:ext>
            </a:extLst>
          </p:cNvPr>
          <p:cNvGraphicFramePr>
            <a:graphicFrameLocks noGrp="1"/>
          </p:cNvGraphicFramePr>
          <p:nvPr>
            <p:extLst>
              <p:ext uri="{D42A27DB-BD31-4B8C-83A1-F6EECF244321}">
                <p14:modId xmlns:p14="http://schemas.microsoft.com/office/powerpoint/2010/main" val="1547443997"/>
              </p:ext>
            </p:extLst>
          </p:nvPr>
        </p:nvGraphicFramePr>
        <p:xfrm>
          <a:off x="3080774" y="3165792"/>
          <a:ext cx="6030452" cy="914400"/>
        </p:xfrm>
        <a:graphic>
          <a:graphicData uri="http://schemas.openxmlformats.org/drawingml/2006/table">
            <a:tbl>
              <a:tblPr firstRow="1" bandRow="1">
                <a:tableStyleId>{5C22544A-7EE6-4342-B048-85BDC9FD1C3A}</a:tableStyleId>
              </a:tblPr>
              <a:tblGrid>
                <a:gridCol w="1112016">
                  <a:extLst>
                    <a:ext uri="{9D8B030D-6E8A-4147-A177-3AD203B41FA5}">
                      <a16:colId xmlns:a16="http://schemas.microsoft.com/office/drawing/2014/main" val="2913960159"/>
                    </a:ext>
                  </a:extLst>
                </a:gridCol>
                <a:gridCol w="4918436">
                  <a:extLst>
                    <a:ext uri="{9D8B030D-6E8A-4147-A177-3AD203B41FA5}">
                      <a16:colId xmlns:a16="http://schemas.microsoft.com/office/drawing/2014/main" val="2356469426"/>
                    </a:ext>
                  </a:extLst>
                </a:gridCol>
              </a:tblGrid>
              <a:tr h="370840">
                <a:tc>
                  <a:txBody>
                    <a:bodyPr/>
                    <a:lstStyle/>
                    <a:p>
                      <a:r>
                        <a:rPr lang="zh-CN" altLang="pl-PL" sz="1800" b="0" dirty="0">
                          <a:solidFill>
                            <a:schemeClr val="bg1"/>
                          </a:solidFill>
                        </a:rPr>
                        <a:t>三角分布</a:t>
                      </a:r>
                      <a:endParaRPr lang="zh-CN" altLang="en-US" b="0"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bg1"/>
                          </a:solidFill>
                        </a:rPr>
                        <a:t>C</a:t>
                      </a:r>
                      <a:r>
                        <a:rPr lang="pl-PL" altLang="zh-CN" sz="2400" b="0" baseline="-25000" dirty="0">
                          <a:solidFill>
                            <a:schemeClr val="bg1"/>
                          </a:solidFill>
                        </a:rPr>
                        <a:t>E</a:t>
                      </a:r>
                      <a:r>
                        <a:rPr lang="pl-PL" altLang="zh-CN" sz="2400" b="0" dirty="0">
                          <a:solidFill>
                            <a:schemeClr val="bg1"/>
                          </a:solidFill>
                        </a:rPr>
                        <a:t> = (</a:t>
                      </a:r>
                      <a:r>
                        <a:rPr lang="zh-CN" altLang="en-US"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O</a:t>
                      </a:r>
                      <a:r>
                        <a:rPr lang="pl-PL" altLang="zh-CN"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M</a:t>
                      </a:r>
                      <a:r>
                        <a:rPr lang="pl-PL" altLang="zh-CN" sz="2400" b="0" dirty="0">
                          <a:solidFill>
                            <a:schemeClr val="bg1"/>
                          </a:solidFill>
                        </a:rPr>
                        <a:t> </a:t>
                      </a:r>
                      <a:r>
                        <a:rPr lang="zh-CN" altLang="en-US" sz="2400" b="0" dirty="0">
                          <a:solidFill>
                            <a:schemeClr val="bg1"/>
                          </a:solidFill>
                        </a:rPr>
                        <a:t> </a:t>
                      </a:r>
                      <a:r>
                        <a:rPr lang="pl-PL" altLang="zh-CN"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P</a:t>
                      </a:r>
                      <a:r>
                        <a:rPr lang="pl-PL" altLang="zh-CN" sz="2400" b="0" dirty="0">
                          <a:solidFill>
                            <a:schemeClr val="bg1"/>
                          </a:solidFill>
                        </a:rPr>
                        <a:t>) / 3</a:t>
                      </a:r>
                      <a:endParaRPr lang="zh-CN" altLang="en-US" sz="2400" b="0"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16748409"/>
                  </a:ext>
                </a:extLst>
              </a:tr>
              <a:tr h="370840">
                <a:tc>
                  <a:txBody>
                    <a:bodyPr/>
                    <a:lstStyle/>
                    <a:p>
                      <a:r>
                        <a:rPr lang="zh-CN" altLang="en-US" sz="1800" b="0" dirty="0">
                          <a:solidFill>
                            <a:schemeClr val="bg1"/>
                          </a:solidFill>
                        </a:rPr>
                        <a:t>贝塔分布</a:t>
                      </a:r>
                      <a:endParaRPr lang="zh-CN" altLang="en-US" b="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bg1"/>
                          </a:solidFill>
                        </a:rPr>
                        <a:t>C</a:t>
                      </a:r>
                      <a:r>
                        <a:rPr lang="en-US" altLang="zh-CN" sz="2400" b="0" baseline="-25000" dirty="0">
                          <a:solidFill>
                            <a:schemeClr val="bg1"/>
                          </a:solidFill>
                        </a:rPr>
                        <a:t>E</a:t>
                      </a:r>
                      <a:r>
                        <a:rPr lang="en-US" altLang="zh-CN" sz="2400" b="0" dirty="0">
                          <a:solidFill>
                            <a:schemeClr val="bg1"/>
                          </a:solidFill>
                        </a:rPr>
                        <a:t> = (</a:t>
                      </a:r>
                      <a:r>
                        <a:rPr lang="zh-CN" altLang="en-US"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O</a:t>
                      </a:r>
                      <a:r>
                        <a:rPr lang="en-US" altLang="zh-CN" sz="2400" b="0" dirty="0">
                          <a:solidFill>
                            <a:schemeClr val="bg1"/>
                          </a:solidFill>
                        </a:rPr>
                        <a:t> + 4 C</a:t>
                      </a:r>
                      <a:r>
                        <a:rPr lang="en-US" altLang="zh-CN" sz="2400" b="0" baseline="-25000" dirty="0">
                          <a:solidFill>
                            <a:schemeClr val="bg1"/>
                          </a:solidFill>
                        </a:rPr>
                        <a:t>M</a:t>
                      </a:r>
                      <a:r>
                        <a:rPr lang="en-US" altLang="zh-CN" sz="2400" b="0" dirty="0">
                          <a:solidFill>
                            <a:schemeClr val="bg1"/>
                          </a:solidFill>
                        </a:rPr>
                        <a:t> + C</a:t>
                      </a:r>
                      <a:r>
                        <a:rPr lang="en-US" altLang="zh-CN" sz="2400" b="0" baseline="-25000" dirty="0">
                          <a:solidFill>
                            <a:schemeClr val="bg1"/>
                          </a:solidFill>
                        </a:rPr>
                        <a:t>P</a:t>
                      </a:r>
                      <a:r>
                        <a:rPr lang="en-US" altLang="zh-CN" sz="2400" b="0" dirty="0">
                          <a:solidFill>
                            <a:schemeClr val="bg1"/>
                          </a:solidFill>
                        </a:rPr>
                        <a:t>) / 6</a:t>
                      </a:r>
                      <a:endParaRPr lang="zh-CN" altLang="en-US" sz="2400" b="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8105106"/>
                  </a:ext>
                </a:extLst>
              </a:tr>
            </a:tbl>
          </a:graphicData>
        </a:graphic>
      </p:graphicFrame>
    </p:spTree>
    <p:extLst>
      <p:ext uri="{BB962C8B-B14F-4D97-AF65-F5344CB8AC3E}">
        <p14:creationId xmlns:p14="http://schemas.microsoft.com/office/powerpoint/2010/main" val="495805288"/>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2E857F-18D7-D08A-57D9-96DD4762BC55}"/>
              </a:ext>
            </a:extLst>
          </p:cNvPr>
          <p:cNvSpPr>
            <a:spLocks noGrp="1"/>
          </p:cNvSpPr>
          <p:nvPr>
            <p:ph type="title"/>
          </p:nvPr>
        </p:nvSpPr>
        <p:spPr>
          <a:xfrm>
            <a:off x="695998" y="360000"/>
            <a:ext cx="6375921" cy="429413"/>
          </a:xfrm>
        </p:spPr>
        <p:txBody>
          <a:bodyPr/>
          <a:lstStyle/>
          <a:p>
            <a:r>
              <a:rPr lang="en-US" altLang="zh-CN" dirty="0"/>
              <a:t>6.2.7 </a:t>
            </a:r>
            <a:r>
              <a:rPr lang="zh-CN" altLang="en-US" dirty="0"/>
              <a:t>参数估算法</a:t>
            </a:r>
          </a:p>
        </p:txBody>
      </p:sp>
      <p:sp>
        <p:nvSpPr>
          <p:cNvPr id="3" name="内容占位符 2">
            <a:extLst>
              <a:ext uri="{FF2B5EF4-FFF2-40B4-BE49-F238E27FC236}">
                <a16:creationId xmlns:a16="http://schemas.microsoft.com/office/drawing/2014/main" id="{7B6D2B23-A702-824D-CCA3-D20DFB99D61C}"/>
              </a:ext>
            </a:extLst>
          </p:cNvPr>
          <p:cNvSpPr>
            <a:spLocks noGrp="1"/>
          </p:cNvSpPr>
          <p:nvPr>
            <p:ph idx="1"/>
          </p:nvPr>
        </p:nvSpPr>
        <p:spPr>
          <a:xfrm>
            <a:off x="696000" y="864000"/>
            <a:ext cx="10800000" cy="5400000"/>
          </a:xfrm>
        </p:spPr>
        <p:txBody>
          <a:bodyPr/>
          <a:lstStyle/>
          <a:p>
            <a:r>
              <a:rPr lang="zh-CN" altLang="en-US" dirty="0"/>
              <a:t>通过项目数据，进行回归分析，得出回归模型</a:t>
            </a:r>
          </a:p>
          <a:p>
            <a:r>
              <a:rPr lang="zh-CN" altLang="en-US" dirty="0"/>
              <a:t>通过参数模型估算</a:t>
            </a:r>
            <a:endParaRPr lang="en-US" altLang="zh-CN" dirty="0"/>
          </a:p>
          <a:p>
            <a:r>
              <a:rPr lang="zh-CN" altLang="en-US" dirty="0"/>
              <a:t>优点</a:t>
            </a:r>
            <a:endParaRPr lang="en-US" altLang="zh-CN" dirty="0"/>
          </a:p>
          <a:p>
            <a:pPr lvl="1"/>
            <a:r>
              <a:rPr lang="zh-CN" altLang="en-US" dirty="0"/>
              <a:t>具有良好的项目数据为基础</a:t>
            </a:r>
          </a:p>
          <a:p>
            <a:pPr lvl="1"/>
            <a:r>
              <a:rPr lang="zh-CN" altLang="en-US" dirty="0"/>
              <a:t>存在成熟的项目估算模型</a:t>
            </a:r>
            <a:endParaRPr lang="en-US" altLang="zh-CN" dirty="0"/>
          </a:p>
          <a:p>
            <a:r>
              <a:rPr lang="zh-CN" altLang="en-US" dirty="0"/>
              <a:t>特点</a:t>
            </a:r>
            <a:endParaRPr lang="en-US" altLang="zh-CN" dirty="0"/>
          </a:p>
          <a:p>
            <a:pPr lvl="1"/>
            <a:r>
              <a:rPr lang="zh-CN" altLang="en-US" dirty="0"/>
              <a:t>比较简单，而且也比较准确</a:t>
            </a:r>
          </a:p>
          <a:p>
            <a:pPr lvl="1"/>
            <a:r>
              <a:rPr lang="zh-CN" altLang="en-US" dirty="0"/>
              <a:t>如果模型选择不当或者数据不准，也会导致偏差</a:t>
            </a:r>
          </a:p>
          <a:p>
            <a:pPr lvl="1"/>
            <a:endParaRPr lang="zh-CN" altLang="en-US" dirty="0"/>
          </a:p>
          <a:p>
            <a:endParaRPr lang="zh-CN" altLang="en-US" dirty="0"/>
          </a:p>
        </p:txBody>
      </p:sp>
      <p:sp>
        <p:nvSpPr>
          <p:cNvPr id="16" name="文本占位符 15">
            <a:extLst>
              <a:ext uri="{FF2B5EF4-FFF2-40B4-BE49-F238E27FC236}">
                <a16:creationId xmlns:a16="http://schemas.microsoft.com/office/drawing/2014/main" id="{B418CD81-4808-0E37-96F8-EF5A8CFC76C6}"/>
              </a:ext>
            </a:extLst>
          </p:cNvPr>
          <p:cNvSpPr>
            <a:spLocks noGrp="1"/>
          </p:cNvSpPr>
          <p:nvPr>
            <p:ph type="body" sz="quarter" idx="10"/>
          </p:nvPr>
        </p:nvSpPr>
        <p:spPr>
          <a:xfrm>
            <a:off x="7071919" y="448519"/>
            <a:ext cx="4424080" cy="338554"/>
          </a:xfrm>
        </p:spPr>
        <p:txBody>
          <a:bodyPr/>
          <a:lstStyle/>
          <a:p>
            <a:r>
              <a:rPr lang="en-US" altLang="zh-CN" dirty="0"/>
              <a:t>Parametric/Traditional</a:t>
            </a:r>
            <a:endParaRPr lang="zh-CN" altLang="en-US" dirty="0"/>
          </a:p>
        </p:txBody>
      </p:sp>
    </p:spTree>
    <p:extLst>
      <p:ext uri="{BB962C8B-B14F-4D97-AF65-F5344CB8AC3E}">
        <p14:creationId xmlns:p14="http://schemas.microsoft.com/office/powerpoint/2010/main" val="2716967560"/>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7B442-6FC8-8403-E8F1-4B5520A8C776}"/>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67E1F62F-FD65-7A25-541F-7B4F1DABF301}"/>
              </a:ext>
            </a:extLst>
          </p:cNvPr>
          <p:cNvSpPr>
            <a:spLocks noGrp="1"/>
          </p:cNvSpPr>
          <p:nvPr>
            <p:ph type="title"/>
          </p:nvPr>
        </p:nvSpPr>
        <p:spPr>
          <a:xfrm>
            <a:off x="695998" y="360000"/>
            <a:ext cx="6375921" cy="429413"/>
          </a:xfrm>
        </p:spPr>
        <p:txBody>
          <a:bodyPr/>
          <a:lstStyle/>
          <a:p>
            <a:r>
              <a:rPr lang="en-US" altLang="zh-CN" dirty="0"/>
              <a:t>6.2.8 </a:t>
            </a:r>
            <a:r>
              <a:rPr lang="zh-CN" altLang="en-US" dirty="0"/>
              <a:t>专家估算法</a:t>
            </a:r>
          </a:p>
        </p:txBody>
      </p:sp>
      <p:sp>
        <p:nvSpPr>
          <p:cNvPr id="3" name="内容占位符 2">
            <a:extLst>
              <a:ext uri="{FF2B5EF4-FFF2-40B4-BE49-F238E27FC236}">
                <a16:creationId xmlns:a16="http://schemas.microsoft.com/office/drawing/2014/main" id="{0E3FDC5A-117D-9C3B-98E7-2B8ECD0848BA}"/>
              </a:ext>
            </a:extLst>
          </p:cNvPr>
          <p:cNvSpPr>
            <a:spLocks noGrp="1"/>
          </p:cNvSpPr>
          <p:nvPr>
            <p:ph idx="1"/>
          </p:nvPr>
        </p:nvSpPr>
        <p:spPr>
          <a:xfrm>
            <a:off x="696000" y="864000"/>
            <a:ext cx="10800000" cy="5400000"/>
          </a:xfrm>
        </p:spPr>
        <p:txBody>
          <a:bodyPr>
            <a:normAutofit/>
          </a:bodyPr>
          <a:lstStyle/>
          <a:p>
            <a:r>
              <a:rPr lang="zh-CN" altLang="en-US" dirty="0"/>
              <a:t>德尔菲法 </a:t>
            </a:r>
            <a:r>
              <a:rPr lang="en-US" altLang="zh-CN" dirty="0"/>
              <a:t>Delphi Method</a:t>
            </a:r>
            <a:r>
              <a:rPr lang="zh-CN" altLang="en-US" dirty="0"/>
              <a:t> 的核心思想</a:t>
            </a:r>
            <a:endParaRPr lang="en-US" altLang="zh-CN" dirty="0"/>
          </a:p>
          <a:p>
            <a:r>
              <a:rPr lang="zh-CN" altLang="en-US" dirty="0"/>
              <a:t>由多位专家进行成本估算</a:t>
            </a:r>
            <a:endParaRPr lang="en-US" altLang="zh-CN" dirty="0"/>
          </a:p>
          <a:p>
            <a:r>
              <a:rPr lang="zh-CN" altLang="en-US" dirty="0"/>
              <a:t>一个专家可能会有偏见，最好由多位专家进行估算，取得多个估算值</a:t>
            </a:r>
            <a:r>
              <a:rPr lang="en-US" altLang="zh-CN" dirty="0"/>
              <a:t>,</a:t>
            </a:r>
            <a:r>
              <a:rPr lang="zh-CN" altLang="en-US" dirty="0"/>
              <a:t>最后得出综合的估算值</a:t>
            </a:r>
            <a:endParaRPr lang="en-US" altLang="zh-CN" dirty="0"/>
          </a:p>
          <a:p>
            <a:r>
              <a:rPr lang="zh-CN" altLang="en-US" dirty="0"/>
              <a:t>在实际操作中，德尔菲法可以与三点估算结合使用</a:t>
            </a:r>
            <a:endParaRPr lang="en-US" altLang="zh-CN" dirty="0"/>
          </a:p>
          <a:p>
            <a:r>
              <a:rPr lang="zh-CN" altLang="en-US" dirty="0"/>
              <a:t>核心流程</a:t>
            </a:r>
          </a:p>
          <a:p>
            <a:pPr lvl="1"/>
            <a:r>
              <a:rPr lang="zh-CN" altLang="en-US" dirty="0"/>
              <a:t>选择专家：挑选多位在相关领域（如软件开发、项目管理）具有丰富经验的专家</a:t>
            </a:r>
          </a:p>
          <a:p>
            <a:pPr lvl="1"/>
            <a:r>
              <a:rPr lang="zh-CN" altLang="en-US" dirty="0"/>
              <a:t>第一轮估算：向每位专家</a:t>
            </a:r>
            <a:r>
              <a:rPr lang="zh-CN" altLang="en-US" dirty="0">
                <a:solidFill>
                  <a:srgbClr val="FFFF00"/>
                </a:solidFill>
              </a:rPr>
              <a:t>独立</a:t>
            </a:r>
            <a:r>
              <a:rPr lang="zh-CN" altLang="en-US" dirty="0"/>
              <a:t>发送问题或项目描述，要求他们给出自己的估算值（以及可能的乐观、悲观、最可能成本）</a:t>
            </a:r>
          </a:p>
          <a:p>
            <a:pPr lvl="1"/>
            <a:r>
              <a:rPr lang="zh-CN" altLang="en-US" dirty="0"/>
              <a:t>汇总与反馈：组织者汇总所有专家的估算结果，计算出统计指标（如平均值、中位数、标准差），并将这些汇总信息（不透露具体是谁的估算值）</a:t>
            </a:r>
            <a:r>
              <a:rPr lang="zh-CN" altLang="en-US" dirty="0">
                <a:solidFill>
                  <a:srgbClr val="FFFF00"/>
                </a:solidFill>
              </a:rPr>
              <a:t>匿名</a:t>
            </a:r>
            <a:r>
              <a:rPr lang="zh-CN" altLang="en-US" dirty="0"/>
              <a:t>反馈给所有专家</a:t>
            </a:r>
          </a:p>
          <a:p>
            <a:pPr lvl="1"/>
            <a:r>
              <a:rPr lang="zh-CN" altLang="en-US" dirty="0"/>
              <a:t>多轮迭代：专家们根据汇总信息，重新审视自己的估算。如果自己的估算与群体差异较大，需要思考原因并调整。这个过程通常重复</a:t>
            </a:r>
            <a:r>
              <a:rPr lang="en-US" altLang="zh-CN" dirty="0"/>
              <a:t>2-4</a:t>
            </a:r>
            <a:r>
              <a:rPr lang="zh-CN" altLang="en-US" dirty="0"/>
              <a:t>轮，直到估算值趋于收敛</a:t>
            </a:r>
          </a:p>
          <a:p>
            <a:pPr lvl="1"/>
            <a:r>
              <a:rPr lang="zh-CN" altLang="en-US" dirty="0"/>
              <a:t>得出结论：当专家们的估算值不再发生显著变化，或达到预定的收敛标准时，取最终的平均值或中位数作为综合估算值</a:t>
            </a:r>
          </a:p>
        </p:txBody>
      </p:sp>
      <p:sp>
        <p:nvSpPr>
          <p:cNvPr id="5" name="文本占位符 4">
            <a:extLst>
              <a:ext uri="{FF2B5EF4-FFF2-40B4-BE49-F238E27FC236}">
                <a16:creationId xmlns:a16="http://schemas.microsoft.com/office/drawing/2014/main" id="{0ED1C577-BE4D-33FE-2DDF-3FE021B99DDD}"/>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33356015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9D510EB3-DAAE-C966-F6D6-492EDDEE4FD3}"/>
              </a:ext>
            </a:extLst>
          </p:cNvPr>
          <p:cNvSpPr>
            <a:spLocks noGrp="1"/>
          </p:cNvSpPr>
          <p:nvPr>
            <p:ph type="title"/>
          </p:nvPr>
        </p:nvSpPr>
        <p:spPr>
          <a:xfrm>
            <a:off x="695998" y="360000"/>
            <a:ext cx="6375921" cy="429413"/>
          </a:xfrm>
        </p:spPr>
        <p:txBody>
          <a:bodyPr/>
          <a:lstStyle/>
          <a:p>
            <a:r>
              <a:rPr lang="en-US" altLang="zh-CN" dirty="0"/>
              <a:t>6.2.8 </a:t>
            </a:r>
            <a:r>
              <a:rPr lang="zh-CN" altLang="en-US" dirty="0"/>
              <a:t>专家估算法</a:t>
            </a:r>
          </a:p>
        </p:txBody>
      </p:sp>
      <p:sp>
        <p:nvSpPr>
          <p:cNvPr id="3" name="内容占位符 2">
            <a:extLst>
              <a:ext uri="{FF2B5EF4-FFF2-40B4-BE49-F238E27FC236}">
                <a16:creationId xmlns:a16="http://schemas.microsoft.com/office/drawing/2014/main" id="{68A867FF-8F76-0A84-A8AF-19464102213B}"/>
              </a:ext>
            </a:extLst>
          </p:cNvPr>
          <p:cNvSpPr>
            <a:spLocks noGrp="1"/>
          </p:cNvSpPr>
          <p:nvPr>
            <p:ph idx="1"/>
          </p:nvPr>
        </p:nvSpPr>
        <p:spPr>
          <a:xfrm>
            <a:off x="696000" y="864000"/>
            <a:ext cx="10800000" cy="5400000"/>
          </a:xfrm>
        </p:spPr>
        <p:txBody>
          <a:bodyPr>
            <a:normAutofit/>
          </a:bodyPr>
          <a:lstStyle/>
          <a:p>
            <a:r>
              <a:rPr lang="zh-CN" altLang="en-US" dirty="0"/>
              <a:t>优势</a:t>
            </a:r>
          </a:p>
          <a:p>
            <a:pPr lvl="1"/>
            <a:r>
              <a:rPr lang="zh-CN" altLang="en-US" dirty="0"/>
              <a:t>消除群体压力：专家匿名进行，避免了权威专家或强势人物对其他人的影响，每个人都能独立思考</a:t>
            </a:r>
          </a:p>
          <a:p>
            <a:pPr lvl="1"/>
            <a:r>
              <a:rPr lang="zh-CN" altLang="en-US" dirty="0"/>
              <a:t>减少个人偏见：通过多轮反馈和修正，专家可以吸收他人的观点，修正自己的认知偏差</a:t>
            </a:r>
          </a:p>
          <a:p>
            <a:pPr lvl="1"/>
            <a:r>
              <a:rPr lang="zh-CN" altLang="en-US" dirty="0"/>
              <a:t>汇集群体智慧：利用了多位专家的经验和知识，比单个专家的判断更全面、更可靠</a:t>
            </a:r>
          </a:p>
        </p:txBody>
      </p:sp>
      <p:sp>
        <p:nvSpPr>
          <p:cNvPr id="16" name="文本占位符 15">
            <a:extLst>
              <a:ext uri="{FF2B5EF4-FFF2-40B4-BE49-F238E27FC236}">
                <a16:creationId xmlns:a16="http://schemas.microsoft.com/office/drawing/2014/main" id="{A1806F8F-CEF1-2326-953E-63F76A16B02C}"/>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2166867133"/>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6C4FB609-AEB6-B7AC-DBF4-AD568D543147}"/>
              </a:ext>
            </a:extLst>
          </p:cNvPr>
          <p:cNvGraphicFramePr>
            <a:graphicFrameLocks noGrp="1"/>
          </p:cNvGraphicFramePr>
          <p:nvPr>
            <p:extLst>
              <p:ext uri="{D42A27DB-BD31-4B8C-83A1-F6EECF244321}">
                <p14:modId xmlns:p14="http://schemas.microsoft.com/office/powerpoint/2010/main" val="104959536"/>
              </p:ext>
            </p:extLst>
          </p:nvPr>
        </p:nvGraphicFramePr>
        <p:xfrm>
          <a:off x="3936000" y="2514600"/>
          <a:ext cx="4320000" cy="1828800"/>
        </p:xfrm>
        <a:graphic>
          <a:graphicData uri="http://schemas.openxmlformats.org/drawingml/2006/table">
            <a:tbl>
              <a:tblPr/>
              <a:tblGrid>
                <a:gridCol w="1080000">
                  <a:extLst>
                    <a:ext uri="{9D8B030D-6E8A-4147-A177-3AD203B41FA5}">
                      <a16:colId xmlns:a16="http://schemas.microsoft.com/office/drawing/2014/main" val="991066387"/>
                    </a:ext>
                  </a:extLst>
                </a:gridCol>
                <a:gridCol w="1080000">
                  <a:extLst>
                    <a:ext uri="{9D8B030D-6E8A-4147-A177-3AD203B41FA5}">
                      <a16:colId xmlns:a16="http://schemas.microsoft.com/office/drawing/2014/main" val="78009642"/>
                    </a:ext>
                  </a:extLst>
                </a:gridCol>
                <a:gridCol w="1080000">
                  <a:extLst>
                    <a:ext uri="{9D8B030D-6E8A-4147-A177-3AD203B41FA5}">
                      <a16:colId xmlns:a16="http://schemas.microsoft.com/office/drawing/2014/main" val="3411480541"/>
                    </a:ext>
                  </a:extLst>
                </a:gridCol>
                <a:gridCol w="1080000">
                  <a:extLst>
                    <a:ext uri="{9D8B030D-6E8A-4147-A177-3AD203B41FA5}">
                      <a16:colId xmlns:a16="http://schemas.microsoft.com/office/drawing/2014/main" val="3171784639"/>
                    </a:ext>
                  </a:extLst>
                </a:gridCol>
              </a:tblGrid>
              <a:tr h="365760">
                <a:tc grid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Round 1</a:t>
                      </a:r>
                    </a:p>
                  </a:txBody>
                  <a:tcPr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15359499"/>
                  </a:ext>
                </a:extLst>
              </a:tr>
              <a:tr h="365760">
                <a:tc>
                  <a:txBody>
                    <a:bodyPr/>
                    <a:lstStyle/>
                    <a:p>
                      <a:pPr algn="l">
                        <a:buNone/>
                      </a:pPr>
                      <a:r>
                        <a:rPr lang="zh-CN" altLang="en-US" sz="1600" b="0" dirty="0">
                          <a:solidFill>
                            <a:schemeClr val="bg1"/>
                          </a:solidFill>
                        </a:rPr>
                        <a:t>专家</a:t>
                      </a:r>
                    </a:p>
                  </a:txBody>
                  <a:tcPr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b="0" dirty="0">
                          <a:solidFill>
                            <a:schemeClr val="bg1"/>
                          </a:solidFill>
                        </a:rPr>
                        <a:t>C</a:t>
                      </a:r>
                      <a:r>
                        <a:rPr lang="en-US" altLang="zh-CN" sz="1600" b="0" baseline="-25000" dirty="0">
                          <a:solidFill>
                            <a:schemeClr val="bg1"/>
                          </a:solidFill>
                        </a:rPr>
                        <a:t>O</a:t>
                      </a:r>
                      <a:endParaRPr lang="en-US" sz="1600" b="0" baseline="-25000" dirty="0">
                        <a:solidFill>
                          <a:schemeClr val="bg1"/>
                        </a:solidFill>
                      </a:endParaRPr>
                    </a:p>
                  </a:txBody>
                  <a:tcPr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b="0" dirty="0">
                          <a:solidFill>
                            <a:schemeClr val="bg1"/>
                          </a:solidFill>
                        </a:rPr>
                        <a:t>C</a:t>
                      </a:r>
                      <a:r>
                        <a:rPr lang="en-US" altLang="zh-CN" sz="1600" b="0" baseline="-25000" dirty="0">
                          <a:solidFill>
                            <a:schemeClr val="bg1"/>
                          </a:solidFill>
                        </a:rPr>
                        <a:t>M</a:t>
                      </a:r>
                      <a:endParaRPr lang="en-US" sz="1600" b="0" baseline="-25000" dirty="0">
                        <a:solidFill>
                          <a:schemeClr val="bg1"/>
                        </a:solidFill>
                      </a:endParaRPr>
                    </a:p>
                  </a:txBody>
                  <a:tcPr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b="0" dirty="0">
                          <a:solidFill>
                            <a:schemeClr val="bg1"/>
                          </a:solidFill>
                        </a:rPr>
                        <a:t>C</a:t>
                      </a:r>
                      <a:r>
                        <a:rPr lang="en-US" altLang="zh-CN" sz="1600" b="0" baseline="-25000" dirty="0">
                          <a:solidFill>
                            <a:schemeClr val="bg1"/>
                          </a:solidFill>
                        </a:rPr>
                        <a:t>P</a:t>
                      </a:r>
                      <a:endParaRPr lang="en-US" sz="1600" b="0" baseline="-25000" dirty="0">
                        <a:solidFill>
                          <a:schemeClr val="bg1"/>
                        </a:solidFill>
                      </a:endParaRPr>
                    </a:p>
                  </a:txBody>
                  <a:tcPr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999717604"/>
                  </a:ext>
                </a:extLst>
              </a:tr>
              <a:tr h="365760">
                <a:tc>
                  <a:txBody>
                    <a:bodyPr/>
                    <a:lstStyle/>
                    <a:p>
                      <a:pPr algn="l">
                        <a:buNone/>
                      </a:pPr>
                      <a:r>
                        <a:rPr lang="zh-CN" altLang="en-US" sz="1600" b="0" dirty="0">
                          <a:solidFill>
                            <a:schemeClr val="bg1"/>
                          </a:solidFill>
                        </a:rPr>
                        <a:t>专家</a:t>
                      </a:r>
                      <a:r>
                        <a:rPr lang="en-US" altLang="zh-CN" sz="1600" b="0" dirty="0">
                          <a:solidFill>
                            <a:schemeClr val="bg1"/>
                          </a:solidFill>
                        </a:rPr>
                        <a:t>1</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b="0" dirty="0">
                          <a:solidFill>
                            <a:schemeClr val="bg1"/>
                          </a:solidFill>
                        </a:rPr>
                        <a:t>600</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b="0">
                          <a:solidFill>
                            <a:schemeClr val="bg1"/>
                          </a:solidFill>
                        </a:rPr>
                        <a:t>800</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b="0">
                          <a:solidFill>
                            <a:schemeClr val="bg1"/>
                          </a:solidFill>
                        </a:rPr>
                        <a:t>1200</a:t>
                      </a:r>
                    </a:p>
                  </a:txBody>
                  <a:tcPr anchor="ctr">
                    <a:lnL>
                      <a:noFill/>
                    </a:lnL>
                    <a:lnR>
                      <a:noFill/>
                    </a:lnR>
                    <a:lnT w="1270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1973779920"/>
                  </a:ext>
                </a:extLst>
              </a:tr>
              <a:tr h="365760">
                <a:tc>
                  <a:txBody>
                    <a:bodyPr/>
                    <a:lstStyle/>
                    <a:p>
                      <a:pPr algn="l">
                        <a:buNone/>
                      </a:pPr>
                      <a:r>
                        <a:rPr lang="zh-CN" altLang="en-US" sz="1600" b="0">
                          <a:solidFill>
                            <a:schemeClr val="bg1"/>
                          </a:solidFill>
                        </a:rPr>
                        <a:t>专家</a:t>
                      </a:r>
                      <a:r>
                        <a:rPr lang="en-US" altLang="zh-CN" sz="1600" b="0">
                          <a:solidFill>
                            <a:schemeClr val="bg1"/>
                          </a:solidFill>
                        </a:rPr>
                        <a:t>2</a:t>
                      </a:r>
                    </a:p>
                  </a:txBody>
                  <a:tcPr anchor="ctr">
                    <a:lnL>
                      <a:noFill/>
                    </a:lnL>
                    <a:lnR>
                      <a:noFill/>
                    </a:lnR>
                    <a:lnT>
                      <a:noFill/>
                    </a:lnT>
                    <a:lnB>
                      <a:noFill/>
                    </a:lnB>
                    <a:noFill/>
                  </a:tcPr>
                </a:tc>
                <a:tc>
                  <a:txBody>
                    <a:bodyPr/>
                    <a:lstStyle/>
                    <a:p>
                      <a:pPr algn="l">
                        <a:buNone/>
                      </a:pPr>
                      <a:r>
                        <a:rPr lang="en-US" altLang="zh-CN" sz="1600" b="0">
                          <a:solidFill>
                            <a:schemeClr val="bg1"/>
                          </a:solidFill>
                        </a:rPr>
                        <a:t>700</a:t>
                      </a:r>
                    </a:p>
                  </a:txBody>
                  <a:tcPr anchor="ctr">
                    <a:lnL>
                      <a:noFill/>
                    </a:lnL>
                    <a:lnR>
                      <a:noFill/>
                    </a:lnR>
                    <a:lnT>
                      <a:noFill/>
                    </a:lnT>
                    <a:lnB>
                      <a:noFill/>
                    </a:lnB>
                    <a:noFill/>
                  </a:tcPr>
                </a:tc>
                <a:tc>
                  <a:txBody>
                    <a:bodyPr/>
                    <a:lstStyle/>
                    <a:p>
                      <a:pPr algn="l">
                        <a:buNone/>
                      </a:pPr>
                      <a:r>
                        <a:rPr lang="en-US" altLang="zh-CN" sz="1600" b="0">
                          <a:solidFill>
                            <a:schemeClr val="bg1"/>
                          </a:solidFill>
                        </a:rPr>
                        <a:t>900</a:t>
                      </a:r>
                    </a:p>
                  </a:txBody>
                  <a:tcPr anchor="ctr">
                    <a:lnL>
                      <a:noFill/>
                    </a:lnL>
                    <a:lnR>
                      <a:noFill/>
                    </a:lnR>
                    <a:lnT>
                      <a:noFill/>
                    </a:lnT>
                    <a:lnB>
                      <a:noFill/>
                    </a:lnB>
                    <a:noFill/>
                  </a:tcPr>
                </a:tc>
                <a:tc>
                  <a:txBody>
                    <a:bodyPr/>
                    <a:lstStyle/>
                    <a:p>
                      <a:pPr algn="l">
                        <a:buNone/>
                      </a:pPr>
                      <a:r>
                        <a:rPr lang="en-US" altLang="zh-CN" sz="1600" b="0">
                          <a:solidFill>
                            <a:schemeClr val="bg1"/>
                          </a:solidFill>
                        </a:rPr>
                        <a:t>1500</a:t>
                      </a:r>
                    </a:p>
                  </a:txBody>
                  <a:tcPr anchor="ctr">
                    <a:lnL>
                      <a:noFill/>
                    </a:lnL>
                    <a:lnR>
                      <a:noFill/>
                    </a:lnR>
                    <a:lnT>
                      <a:noFill/>
                    </a:lnT>
                    <a:lnB>
                      <a:noFill/>
                    </a:lnB>
                    <a:noFill/>
                  </a:tcPr>
                </a:tc>
                <a:extLst>
                  <a:ext uri="{0D108BD9-81ED-4DB2-BD59-A6C34878D82A}">
                    <a16:rowId xmlns:a16="http://schemas.microsoft.com/office/drawing/2014/main" val="2005151521"/>
                  </a:ext>
                </a:extLst>
              </a:tr>
              <a:tr h="365760">
                <a:tc>
                  <a:txBody>
                    <a:bodyPr/>
                    <a:lstStyle/>
                    <a:p>
                      <a:pPr algn="l">
                        <a:buNone/>
                      </a:pPr>
                      <a:r>
                        <a:rPr lang="zh-CN" altLang="en-US" sz="1600" b="0">
                          <a:solidFill>
                            <a:schemeClr val="bg1"/>
                          </a:solidFill>
                        </a:rPr>
                        <a:t>专家</a:t>
                      </a:r>
                      <a:r>
                        <a:rPr lang="en-US" altLang="zh-CN" sz="1600" b="0">
                          <a:solidFill>
                            <a:schemeClr val="bg1"/>
                          </a:solidFill>
                        </a:rPr>
                        <a:t>3</a:t>
                      </a:r>
                    </a:p>
                  </a:txBody>
                  <a:tcPr anchor="ctr">
                    <a:lnL>
                      <a:noFill/>
                    </a:lnL>
                    <a:lnR>
                      <a:noFill/>
                    </a:lnR>
                    <a:lnT>
                      <a:noFill/>
                    </a:lnT>
                    <a:lnB>
                      <a:noFill/>
                    </a:lnB>
                    <a:noFill/>
                  </a:tcPr>
                </a:tc>
                <a:tc>
                  <a:txBody>
                    <a:bodyPr/>
                    <a:lstStyle/>
                    <a:p>
                      <a:pPr algn="l">
                        <a:buNone/>
                      </a:pPr>
                      <a:r>
                        <a:rPr lang="en-US" altLang="zh-CN" sz="1600" b="0">
                          <a:solidFill>
                            <a:schemeClr val="bg1"/>
                          </a:solidFill>
                        </a:rPr>
                        <a:t>500</a:t>
                      </a:r>
                    </a:p>
                  </a:txBody>
                  <a:tcPr anchor="ctr">
                    <a:lnL>
                      <a:noFill/>
                    </a:lnL>
                    <a:lnR>
                      <a:noFill/>
                    </a:lnR>
                    <a:lnT>
                      <a:noFill/>
                    </a:lnT>
                    <a:lnB>
                      <a:noFill/>
                    </a:lnB>
                    <a:noFill/>
                  </a:tcPr>
                </a:tc>
                <a:tc>
                  <a:txBody>
                    <a:bodyPr/>
                    <a:lstStyle/>
                    <a:p>
                      <a:pPr algn="l">
                        <a:buNone/>
                      </a:pPr>
                      <a:r>
                        <a:rPr lang="en-US" altLang="zh-CN" sz="1600" b="0">
                          <a:solidFill>
                            <a:schemeClr val="bg1"/>
                          </a:solidFill>
                        </a:rPr>
                        <a:t>700</a:t>
                      </a:r>
                    </a:p>
                  </a:txBody>
                  <a:tcPr anchor="ctr">
                    <a:lnL>
                      <a:noFill/>
                    </a:lnL>
                    <a:lnR>
                      <a:noFill/>
                    </a:lnR>
                    <a:lnT>
                      <a:noFill/>
                    </a:lnT>
                    <a:lnB>
                      <a:noFill/>
                    </a:lnB>
                    <a:noFill/>
                  </a:tcPr>
                </a:tc>
                <a:tc>
                  <a:txBody>
                    <a:bodyPr/>
                    <a:lstStyle/>
                    <a:p>
                      <a:pPr algn="l">
                        <a:buNone/>
                      </a:pPr>
                      <a:r>
                        <a:rPr lang="en-US" altLang="zh-CN" sz="1600" b="0" dirty="0">
                          <a:solidFill>
                            <a:schemeClr val="bg1"/>
                          </a:solidFill>
                        </a:rPr>
                        <a:t>1000</a:t>
                      </a:r>
                    </a:p>
                  </a:txBody>
                  <a:tcPr anchor="ctr">
                    <a:lnL>
                      <a:noFill/>
                    </a:lnL>
                    <a:lnR>
                      <a:noFill/>
                    </a:lnR>
                    <a:lnT>
                      <a:noFill/>
                    </a:lnT>
                    <a:lnB>
                      <a:noFill/>
                    </a:lnB>
                    <a:noFill/>
                  </a:tcPr>
                </a:tc>
                <a:extLst>
                  <a:ext uri="{0D108BD9-81ED-4DB2-BD59-A6C34878D82A}">
                    <a16:rowId xmlns:a16="http://schemas.microsoft.com/office/drawing/2014/main" val="1360657222"/>
                  </a:ext>
                </a:extLst>
              </a:tr>
            </a:tbl>
          </a:graphicData>
        </a:graphic>
      </p:graphicFrame>
    </p:spTree>
    <p:extLst>
      <p:ext uri="{BB962C8B-B14F-4D97-AF65-F5344CB8AC3E}">
        <p14:creationId xmlns:p14="http://schemas.microsoft.com/office/powerpoint/2010/main" val="2199995432"/>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3C9AF2-60B1-1DC2-0BF5-0E77EA7748B9}"/>
              </a:ext>
            </a:extLst>
          </p:cNvPr>
          <p:cNvSpPr>
            <a:spLocks noGrp="1"/>
          </p:cNvSpPr>
          <p:nvPr>
            <p:ph type="title"/>
          </p:nvPr>
        </p:nvSpPr>
        <p:spPr>
          <a:xfrm>
            <a:off x="695998" y="360000"/>
            <a:ext cx="6375921" cy="429413"/>
          </a:xfrm>
        </p:spPr>
        <p:txBody>
          <a:bodyPr/>
          <a:lstStyle/>
          <a:p>
            <a:r>
              <a:rPr lang="en-US" altLang="zh-CN" dirty="0"/>
              <a:t>6.3 </a:t>
            </a:r>
            <a:r>
              <a:rPr lang="zh-CN" altLang="en-US" dirty="0"/>
              <a:t>敏捷项目成本估算</a:t>
            </a:r>
          </a:p>
        </p:txBody>
      </p:sp>
      <p:sp>
        <p:nvSpPr>
          <p:cNvPr id="3" name="内容占位符 2">
            <a:extLst>
              <a:ext uri="{FF2B5EF4-FFF2-40B4-BE49-F238E27FC236}">
                <a16:creationId xmlns:a16="http://schemas.microsoft.com/office/drawing/2014/main" id="{0B611026-6966-8AC3-800C-CD99B7ECE1B3}"/>
              </a:ext>
            </a:extLst>
          </p:cNvPr>
          <p:cNvSpPr>
            <a:spLocks noGrp="1"/>
          </p:cNvSpPr>
          <p:nvPr>
            <p:ph idx="1"/>
          </p:nvPr>
        </p:nvSpPr>
        <p:spPr>
          <a:xfrm>
            <a:off x="696000" y="864000"/>
            <a:ext cx="10800000" cy="5400000"/>
          </a:xfrm>
        </p:spPr>
        <p:txBody>
          <a:bodyPr/>
          <a:lstStyle/>
          <a:p>
            <a:r>
              <a:rPr lang="zh-CN" altLang="en-US" dirty="0"/>
              <a:t>敏捷项目估算强调的是一致性；而不是准确性</a:t>
            </a:r>
            <a:endParaRPr lang="en-US" altLang="zh-CN" dirty="0"/>
          </a:p>
          <a:p>
            <a:r>
              <a:rPr lang="zh-CN" altLang="en-US" dirty="0"/>
              <a:t>敏捷项目采用用户故事 </a:t>
            </a:r>
            <a:r>
              <a:rPr lang="en-US" altLang="zh-CN" dirty="0"/>
              <a:t>User Story </a:t>
            </a:r>
            <a:r>
              <a:rPr lang="zh-CN" altLang="en-US" dirty="0"/>
              <a:t>描述项目需求，因此采用用户故事点 </a:t>
            </a:r>
            <a:r>
              <a:rPr lang="en-US" altLang="zh-CN" dirty="0"/>
              <a:t>User </a:t>
            </a:r>
            <a:r>
              <a:rPr lang="en-US" altLang="zh-CN" dirty="0">
                <a:hlinkClick r:id="rId3"/>
              </a:rPr>
              <a:t>Story Point</a:t>
            </a:r>
            <a:r>
              <a:rPr lang="zh-CN" altLang="en-US" dirty="0"/>
              <a:t>来描述实现一个用户故事需要付出的工作量</a:t>
            </a:r>
            <a:r>
              <a:rPr lang="en-US" altLang="zh-CN" dirty="0"/>
              <a:t>/</a:t>
            </a:r>
            <a:r>
              <a:rPr lang="zh-CN" altLang="en-US" dirty="0"/>
              <a:t>规模</a:t>
            </a:r>
            <a:endParaRPr lang="en-US" altLang="zh-CN" dirty="0"/>
          </a:p>
          <a:p>
            <a:r>
              <a:rPr lang="zh-CN" altLang="en-US" dirty="0"/>
              <a:t>故事点估算是</a:t>
            </a:r>
            <a:r>
              <a:rPr lang="zh-CN" altLang="en-US" dirty="0">
                <a:solidFill>
                  <a:srgbClr val="FFFF00"/>
                </a:solidFill>
              </a:rPr>
              <a:t>相对</a:t>
            </a:r>
            <a:r>
              <a:rPr lang="zh-CN" altLang="en-US" dirty="0"/>
              <a:t>估算，需要确定估算标准</a:t>
            </a:r>
            <a:endParaRPr lang="en-US" altLang="zh-CN" dirty="0"/>
          </a:p>
          <a:p>
            <a:pPr lvl="1"/>
            <a:r>
              <a:rPr lang="zh-CN" altLang="en-US" dirty="0"/>
              <a:t>基于团队</a:t>
            </a:r>
            <a:endParaRPr lang="en-US" altLang="zh-CN" dirty="0"/>
          </a:p>
          <a:p>
            <a:pPr lvl="1"/>
            <a:r>
              <a:rPr lang="zh-CN" altLang="en-US" dirty="0"/>
              <a:t>基于个人</a:t>
            </a:r>
            <a:endParaRPr lang="en-US" altLang="zh-CN" dirty="0"/>
          </a:p>
          <a:p>
            <a:pPr lvl="1"/>
            <a:r>
              <a:rPr lang="zh-CN" altLang="en-US" dirty="0"/>
              <a:t>基于环境</a:t>
            </a:r>
            <a:endParaRPr lang="en-US" altLang="zh-CN" dirty="0"/>
          </a:p>
          <a:p>
            <a:r>
              <a:rPr lang="zh-CN" altLang="en-US" dirty="0"/>
              <a:t>示例</a:t>
            </a:r>
            <a:endParaRPr lang="en-US" altLang="zh-CN" dirty="0"/>
          </a:p>
          <a:p>
            <a:pPr lvl="1"/>
            <a:r>
              <a:rPr lang="en-US" altLang="zh-CN" dirty="0"/>
              <a:t>A </a:t>
            </a:r>
            <a:r>
              <a:rPr lang="zh-CN" altLang="en-US" dirty="0"/>
              <a:t>估算为 </a:t>
            </a:r>
            <a:r>
              <a:rPr lang="en-US" altLang="zh-CN" dirty="0"/>
              <a:t>1 </a:t>
            </a:r>
            <a:r>
              <a:rPr lang="zh-CN" altLang="en-US" dirty="0"/>
              <a:t>故事点</a:t>
            </a:r>
            <a:endParaRPr lang="en-US" altLang="zh-CN" dirty="0"/>
          </a:p>
          <a:p>
            <a:pPr lvl="1"/>
            <a:r>
              <a:rPr lang="en-US" altLang="zh-CN" dirty="0"/>
              <a:t>B </a:t>
            </a:r>
            <a:r>
              <a:rPr lang="zh-CN" altLang="en-US" dirty="0"/>
              <a:t>估算为 </a:t>
            </a:r>
            <a:r>
              <a:rPr lang="en-US" altLang="zh-CN" dirty="0"/>
              <a:t>2 </a:t>
            </a:r>
            <a:r>
              <a:rPr lang="zh-CN" altLang="en-US" dirty="0"/>
              <a:t>故事点</a:t>
            </a:r>
            <a:endParaRPr lang="en-US" altLang="zh-CN" dirty="0"/>
          </a:p>
          <a:p>
            <a:pPr lvl="1"/>
            <a:r>
              <a:rPr lang="zh-CN" altLang="en-US" dirty="0"/>
              <a:t>则 </a:t>
            </a:r>
            <a:r>
              <a:rPr lang="en-US" altLang="zh-CN" dirty="0"/>
              <a:t>B </a:t>
            </a:r>
            <a:r>
              <a:rPr lang="zh-CN" altLang="en-US" dirty="0"/>
              <a:t>的工作量是 </a:t>
            </a:r>
            <a:r>
              <a:rPr lang="en-US" altLang="zh-CN" dirty="0"/>
              <a:t>A </a:t>
            </a:r>
            <a:r>
              <a:rPr lang="zh-CN" altLang="en-US" dirty="0"/>
              <a:t>的 </a:t>
            </a:r>
            <a:r>
              <a:rPr lang="en-US" altLang="zh-CN" dirty="0"/>
              <a:t>2 </a:t>
            </a:r>
            <a:r>
              <a:rPr lang="zh-CN" altLang="en-US" dirty="0"/>
              <a:t>倍</a:t>
            </a:r>
            <a:endParaRPr lang="en-US" altLang="zh-CN" dirty="0"/>
          </a:p>
          <a:p>
            <a:endParaRPr lang="zh-CN" altLang="en-US" dirty="0"/>
          </a:p>
        </p:txBody>
      </p:sp>
      <p:sp>
        <p:nvSpPr>
          <p:cNvPr id="7" name="文本占位符 6">
            <a:extLst>
              <a:ext uri="{FF2B5EF4-FFF2-40B4-BE49-F238E27FC236}">
                <a16:creationId xmlns:a16="http://schemas.microsoft.com/office/drawing/2014/main" id="{64A1064B-9605-A92B-6C80-DA30F2007E8D}"/>
              </a:ext>
            </a:extLst>
          </p:cNvPr>
          <p:cNvSpPr>
            <a:spLocks noGrp="1"/>
          </p:cNvSpPr>
          <p:nvPr>
            <p:ph type="body" sz="quarter" idx="10"/>
          </p:nvPr>
        </p:nvSpPr>
        <p:spPr/>
        <p:txBody>
          <a:bodyPr/>
          <a:lstStyle/>
          <a:p>
            <a:r>
              <a:rPr lang="en-US" altLang="zh-CN" dirty="0"/>
              <a:t>Agile</a:t>
            </a:r>
            <a:endParaRPr lang="zh-CN" altLang="en-US" dirty="0"/>
          </a:p>
        </p:txBody>
      </p:sp>
    </p:spTree>
    <p:extLst>
      <p:ext uri="{BB962C8B-B14F-4D97-AF65-F5344CB8AC3E}">
        <p14:creationId xmlns:p14="http://schemas.microsoft.com/office/powerpoint/2010/main" val="1433298852"/>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67D57-7A82-9EDB-54FA-CB42FE6641E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186F4C-91DB-416E-B4B1-8CAF5981C049}"/>
              </a:ext>
            </a:extLst>
          </p:cNvPr>
          <p:cNvSpPr>
            <a:spLocks noGrp="1"/>
          </p:cNvSpPr>
          <p:nvPr>
            <p:ph type="title"/>
          </p:nvPr>
        </p:nvSpPr>
        <p:spPr>
          <a:xfrm>
            <a:off x="695998" y="360000"/>
            <a:ext cx="6375921" cy="429413"/>
          </a:xfrm>
        </p:spPr>
        <p:txBody>
          <a:bodyPr/>
          <a:lstStyle/>
          <a:p>
            <a:r>
              <a:rPr lang="en-US" altLang="zh-CN" dirty="0"/>
              <a:t>6.3.1 </a:t>
            </a:r>
            <a:r>
              <a:rPr lang="zh-CN" altLang="en-US" dirty="0"/>
              <a:t>故事点估算</a:t>
            </a:r>
          </a:p>
        </p:txBody>
      </p:sp>
      <p:sp>
        <p:nvSpPr>
          <p:cNvPr id="3" name="内容占位符 2">
            <a:extLst>
              <a:ext uri="{FF2B5EF4-FFF2-40B4-BE49-F238E27FC236}">
                <a16:creationId xmlns:a16="http://schemas.microsoft.com/office/drawing/2014/main" id="{65C12020-D783-5813-DD95-6BB1BF3E7D0D}"/>
              </a:ext>
            </a:extLst>
          </p:cNvPr>
          <p:cNvSpPr>
            <a:spLocks noGrp="1"/>
          </p:cNvSpPr>
          <p:nvPr>
            <p:ph idx="1"/>
          </p:nvPr>
        </p:nvSpPr>
        <p:spPr>
          <a:xfrm>
            <a:off x="696000" y="864000"/>
            <a:ext cx="10800000" cy="5400000"/>
          </a:xfrm>
        </p:spPr>
        <p:txBody>
          <a:bodyPr/>
          <a:lstStyle/>
          <a:p>
            <a:r>
              <a:rPr lang="zh-CN" altLang="en-US" dirty="0"/>
              <a:t>常用的标准</a:t>
            </a:r>
            <a:endParaRPr lang="en-US" altLang="zh-CN" dirty="0"/>
          </a:p>
          <a:p>
            <a:r>
              <a:rPr lang="zh-CN" altLang="en-US" dirty="0"/>
              <a:t>常见序列是由 </a:t>
            </a:r>
            <a:r>
              <a:rPr lang="en-US" altLang="zh-CN" dirty="0"/>
              <a:t>Mike Cohn </a:t>
            </a:r>
            <a:r>
              <a:rPr lang="zh-CN" altLang="en-US" dirty="0"/>
              <a:t>提出：</a:t>
            </a:r>
            <a:r>
              <a:rPr lang="en-US" altLang="zh-CN" dirty="0"/>
              <a:t>0</a:t>
            </a:r>
            <a:r>
              <a:rPr lang="zh-CN" altLang="en-US" dirty="0"/>
              <a:t>、</a:t>
            </a:r>
            <a:r>
              <a:rPr lang="en-US" altLang="zh-CN" dirty="0"/>
              <a:t>1</a:t>
            </a:r>
            <a:r>
              <a:rPr lang="zh-CN" altLang="en-US" dirty="0"/>
              <a:t>、</a:t>
            </a:r>
            <a:r>
              <a:rPr lang="en-US" altLang="zh-CN" dirty="0"/>
              <a:t>2</a:t>
            </a:r>
            <a:r>
              <a:rPr lang="zh-CN" altLang="en-US" dirty="0"/>
              <a:t>、</a:t>
            </a:r>
            <a:r>
              <a:rPr lang="en-US" altLang="zh-CN" dirty="0"/>
              <a:t>3</a:t>
            </a:r>
            <a:r>
              <a:rPr lang="zh-CN" altLang="en-US" dirty="0"/>
              <a:t>、</a:t>
            </a:r>
            <a:r>
              <a:rPr lang="en-US" altLang="zh-CN" dirty="0"/>
              <a:t>5</a:t>
            </a:r>
            <a:r>
              <a:rPr lang="zh-CN" altLang="en-US" dirty="0"/>
              <a:t>、</a:t>
            </a:r>
            <a:r>
              <a:rPr lang="en-US" altLang="zh-CN" dirty="0"/>
              <a:t>8</a:t>
            </a:r>
            <a:r>
              <a:rPr lang="zh-CN" altLang="en-US" dirty="0"/>
              <a:t>、</a:t>
            </a:r>
            <a:r>
              <a:rPr lang="en-US" altLang="zh-CN" dirty="0"/>
              <a:t>13</a:t>
            </a:r>
            <a:r>
              <a:rPr lang="zh-CN" altLang="en-US" dirty="0"/>
              <a:t>、</a:t>
            </a:r>
            <a:r>
              <a:rPr lang="en-US" altLang="zh-CN" dirty="0"/>
              <a:t>20</a:t>
            </a:r>
            <a:r>
              <a:rPr lang="zh-CN" altLang="en-US" dirty="0"/>
              <a:t>、</a:t>
            </a:r>
            <a:r>
              <a:rPr lang="en-US" altLang="zh-CN" dirty="0"/>
              <a:t>40 </a:t>
            </a:r>
            <a:r>
              <a:rPr lang="zh-CN" altLang="en-US" dirty="0"/>
              <a:t>和 </a:t>
            </a:r>
            <a:r>
              <a:rPr lang="en-US" altLang="zh-CN" dirty="0"/>
              <a:t>100</a:t>
            </a:r>
          </a:p>
          <a:p>
            <a:r>
              <a:rPr lang="zh-CN" altLang="en-US" dirty="0"/>
              <a:t>一般不超过 </a:t>
            </a:r>
            <a:r>
              <a:rPr lang="en-US" altLang="zh-CN" dirty="0">
                <a:solidFill>
                  <a:srgbClr val="FFFF00"/>
                </a:solidFill>
              </a:rPr>
              <a:t>13</a:t>
            </a:r>
            <a:r>
              <a:rPr lang="zh-CN" altLang="en-US" dirty="0"/>
              <a:t>；否则需要任务分解</a:t>
            </a:r>
          </a:p>
        </p:txBody>
      </p:sp>
      <p:sp>
        <p:nvSpPr>
          <p:cNvPr id="6" name="文本占位符 5">
            <a:extLst>
              <a:ext uri="{FF2B5EF4-FFF2-40B4-BE49-F238E27FC236}">
                <a16:creationId xmlns:a16="http://schemas.microsoft.com/office/drawing/2014/main" id="{AADD6F07-C561-230A-F27D-E8773211B92A}"/>
              </a:ext>
            </a:extLst>
          </p:cNvPr>
          <p:cNvSpPr>
            <a:spLocks noGrp="1"/>
          </p:cNvSpPr>
          <p:nvPr>
            <p:ph type="body" sz="quarter" idx="10"/>
          </p:nvPr>
        </p:nvSpPr>
        <p:spPr/>
        <p:txBody>
          <a:bodyPr/>
          <a:lstStyle/>
          <a:p>
            <a:r>
              <a:rPr lang="en-US" altLang="zh-CN" dirty="0"/>
              <a:t>Story Point/Agile</a:t>
            </a:r>
            <a:endParaRPr lang="zh-CN" altLang="en-US" dirty="0"/>
          </a:p>
        </p:txBody>
      </p:sp>
      <p:graphicFrame>
        <p:nvGraphicFramePr>
          <p:cNvPr id="8" name="表格 7">
            <a:extLst>
              <a:ext uri="{FF2B5EF4-FFF2-40B4-BE49-F238E27FC236}">
                <a16:creationId xmlns:a16="http://schemas.microsoft.com/office/drawing/2014/main" id="{53C57DD7-BC58-845E-FB2A-69AEAF12CB90}"/>
              </a:ext>
            </a:extLst>
          </p:cNvPr>
          <p:cNvGraphicFramePr>
            <a:graphicFrameLocks noGrp="1"/>
          </p:cNvGraphicFramePr>
          <p:nvPr>
            <p:extLst>
              <p:ext uri="{D42A27DB-BD31-4B8C-83A1-F6EECF244321}">
                <p14:modId xmlns:p14="http://schemas.microsoft.com/office/powerpoint/2010/main" val="3331539057"/>
              </p:ext>
            </p:extLst>
          </p:nvPr>
        </p:nvGraphicFramePr>
        <p:xfrm>
          <a:off x="3396000" y="2872740"/>
          <a:ext cx="5400000" cy="111252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55977036"/>
                    </a:ext>
                  </a:extLst>
                </a:gridCol>
                <a:gridCol w="3960000">
                  <a:extLst>
                    <a:ext uri="{9D8B030D-6E8A-4147-A177-3AD203B41FA5}">
                      <a16:colId xmlns:a16="http://schemas.microsoft.com/office/drawing/2014/main" val="4029157427"/>
                    </a:ext>
                  </a:extLst>
                </a:gridCol>
              </a:tblGrid>
              <a:tr h="370840">
                <a:tc>
                  <a:txBody>
                    <a:bodyPr/>
                    <a:lstStyle/>
                    <a:p>
                      <a:r>
                        <a:rPr lang="zh-CN" altLang="en-US" b="0" dirty="0">
                          <a:solidFill>
                            <a:schemeClr val="bg1"/>
                          </a:solidFill>
                        </a:rPr>
                        <a:t>标准</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b="0" dirty="0">
                          <a:solidFill>
                            <a:schemeClr val="bg1"/>
                          </a:solidFill>
                        </a:rPr>
                        <a:t>示例</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30495986"/>
                  </a:ext>
                </a:extLst>
              </a:tr>
              <a:tr h="370840">
                <a:tc>
                  <a:txBody>
                    <a:bodyPr/>
                    <a:lstStyle/>
                    <a:p>
                      <a:r>
                        <a:rPr lang="en-US" altLang="zh-CN" b="0" dirty="0">
                          <a:solidFill>
                            <a:schemeClr val="bg1"/>
                          </a:solidFill>
                        </a:rPr>
                        <a:t>Fibonacci</a:t>
                      </a:r>
                      <a:endParaRPr lang="zh-CN" altLang="en-US" b="0" dirty="0">
                        <a:solidFill>
                          <a:schemeClr val="bg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r>
                        <a:rPr lang="en-US" altLang="zh-CN" b="0" dirty="0">
                          <a:solidFill>
                            <a:schemeClr val="bg1"/>
                          </a:solidFill>
                        </a:rPr>
                        <a:t>0 1 2 3 5 8 </a:t>
                      </a:r>
                      <a:r>
                        <a:rPr lang="en-US" altLang="zh-CN" b="0" dirty="0">
                          <a:solidFill>
                            <a:srgbClr val="FFFF00"/>
                          </a:solidFill>
                        </a:rPr>
                        <a:t>13</a:t>
                      </a:r>
                      <a:endParaRPr lang="zh-CN" altLang="en-US" b="0" dirty="0">
                        <a:solidFill>
                          <a:srgbClr val="FFFF00"/>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3930461"/>
                  </a:ext>
                </a:extLst>
              </a:tr>
              <a:tr h="370840">
                <a:tc>
                  <a:txBody>
                    <a:bodyPr/>
                    <a:lstStyle/>
                    <a:p>
                      <a:r>
                        <a:rPr lang="en-US" altLang="zh-CN" b="0" dirty="0">
                          <a:solidFill>
                            <a:schemeClr val="bg1"/>
                          </a:solidFill>
                        </a:rPr>
                        <a:t>2</a:t>
                      </a:r>
                      <a:r>
                        <a:rPr lang="en-US" altLang="zh-CN" b="0" baseline="30000" dirty="0">
                          <a:solidFill>
                            <a:schemeClr val="bg1"/>
                          </a:solidFill>
                        </a:rPr>
                        <a:t>n</a:t>
                      </a:r>
                      <a:endParaRPr lang="zh-CN" altLang="en-US" b="0" baseline="3000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altLang="zh-CN" b="0" dirty="0">
                          <a:solidFill>
                            <a:schemeClr val="bg1"/>
                          </a:solidFill>
                        </a:rPr>
                        <a:t>0 1 2 4 8 16 32 64 128 256 512</a:t>
                      </a:r>
                      <a:endParaRPr lang="zh-CN" altLang="en-US"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90290386"/>
                  </a:ext>
                </a:extLst>
              </a:tr>
            </a:tbl>
          </a:graphicData>
        </a:graphic>
      </p:graphicFrame>
    </p:spTree>
    <p:extLst>
      <p:ext uri="{BB962C8B-B14F-4D97-AF65-F5344CB8AC3E}">
        <p14:creationId xmlns:p14="http://schemas.microsoft.com/office/powerpoint/2010/main" val="962507261"/>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可选过程 5">
            <a:extLst>
              <a:ext uri="{FF2B5EF4-FFF2-40B4-BE49-F238E27FC236}">
                <a16:creationId xmlns:a16="http://schemas.microsoft.com/office/drawing/2014/main" id="{6BD86478-6D28-8B91-693A-F2E75F91D397}"/>
              </a:ext>
            </a:extLst>
          </p:cNvPr>
          <p:cNvSpPr/>
          <p:nvPr/>
        </p:nvSpPr>
        <p:spPr>
          <a:xfrm>
            <a:off x="5551084" y="724556"/>
            <a:ext cx="1080000" cy="432000"/>
          </a:xfrm>
          <a:prstGeom prst="flowChartAlternate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Start </a:t>
            </a:r>
            <a:endParaRPr lang="zh-CN" altLang="en-US" sz="1400" dirty="0">
              <a:solidFill>
                <a:schemeClr val="bg1"/>
              </a:solidFill>
            </a:endParaRPr>
          </a:p>
        </p:txBody>
      </p:sp>
      <p:sp>
        <p:nvSpPr>
          <p:cNvPr id="7" name="流程图: 过程 6">
            <a:extLst>
              <a:ext uri="{FF2B5EF4-FFF2-40B4-BE49-F238E27FC236}">
                <a16:creationId xmlns:a16="http://schemas.microsoft.com/office/drawing/2014/main" id="{D23C05CD-8AA4-DE4B-3454-EF4204250FC8}"/>
              </a:ext>
            </a:extLst>
          </p:cNvPr>
          <p:cNvSpPr/>
          <p:nvPr/>
        </p:nvSpPr>
        <p:spPr>
          <a:xfrm>
            <a:off x="5479084" y="1480674"/>
            <a:ext cx="1224000" cy="648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选择预估为</a:t>
            </a:r>
            <a:r>
              <a:rPr lang="en-US" altLang="zh-CN" sz="1400" dirty="0">
                <a:solidFill>
                  <a:srgbClr val="FFFF00"/>
                </a:solidFill>
              </a:rPr>
              <a:t>3</a:t>
            </a:r>
            <a:r>
              <a:rPr lang="zh-CN" altLang="en-US" sz="1400" dirty="0">
                <a:solidFill>
                  <a:schemeClr val="bg1"/>
                </a:solidFill>
              </a:rPr>
              <a:t>的用户故事</a:t>
            </a:r>
          </a:p>
        </p:txBody>
      </p:sp>
      <p:sp>
        <p:nvSpPr>
          <p:cNvPr id="8" name="流程图: 决策 7">
            <a:extLst>
              <a:ext uri="{FF2B5EF4-FFF2-40B4-BE49-F238E27FC236}">
                <a16:creationId xmlns:a16="http://schemas.microsoft.com/office/drawing/2014/main" id="{527FA7E5-E988-DD18-F681-914923DC0515}"/>
              </a:ext>
            </a:extLst>
          </p:cNvPr>
          <p:cNvSpPr/>
          <p:nvPr/>
        </p:nvSpPr>
        <p:spPr>
          <a:xfrm>
            <a:off x="5011084" y="2452791"/>
            <a:ext cx="2160000" cy="72000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和待评估用户故事比较</a:t>
            </a:r>
          </a:p>
        </p:txBody>
      </p:sp>
      <p:sp>
        <p:nvSpPr>
          <p:cNvPr id="9" name="流程图: 过程 8">
            <a:extLst>
              <a:ext uri="{FF2B5EF4-FFF2-40B4-BE49-F238E27FC236}">
                <a16:creationId xmlns:a16="http://schemas.microsoft.com/office/drawing/2014/main" id="{DC09B04C-6B8C-4B56-5AF8-A009CCFBDE1F}"/>
              </a:ext>
            </a:extLst>
          </p:cNvPr>
          <p:cNvSpPr/>
          <p:nvPr/>
        </p:nvSpPr>
        <p:spPr>
          <a:xfrm>
            <a:off x="7840372"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5</a:t>
            </a:r>
            <a:endParaRPr lang="zh-CN" altLang="en-US" sz="1400" dirty="0">
              <a:solidFill>
                <a:srgbClr val="FFFF00"/>
              </a:solidFill>
            </a:endParaRPr>
          </a:p>
        </p:txBody>
      </p:sp>
      <p:sp>
        <p:nvSpPr>
          <p:cNvPr id="10" name="流程图: 过程 9">
            <a:extLst>
              <a:ext uri="{FF2B5EF4-FFF2-40B4-BE49-F238E27FC236}">
                <a16:creationId xmlns:a16="http://schemas.microsoft.com/office/drawing/2014/main" id="{B742A019-3483-1ACB-0378-7A584B3500EC}"/>
              </a:ext>
            </a:extLst>
          </p:cNvPr>
          <p:cNvSpPr/>
          <p:nvPr/>
        </p:nvSpPr>
        <p:spPr>
          <a:xfrm>
            <a:off x="3909798"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2</a:t>
            </a:r>
            <a:endParaRPr lang="zh-CN" altLang="en-US" sz="1400" dirty="0">
              <a:solidFill>
                <a:srgbClr val="FFFF00"/>
              </a:solidFill>
            </a:endParaRPr>
          </a:p>
        </p:txBody>
      </p:sp>
      <p:cxnSp>
        <p:nvCxnSpPr>
          <p:cNvPr id="11" name="直接箭头连接符 10">
            <a:extLst>
              <a:ext uri="{FF2B5EF4-FFF2-40B4-BE49-F238E27FC236}">
                <a16:creationId xmlns:a16="http://schemas.microsoft.com/office/drawing/2014/main" id="{94146D33-C93E-288C-EAC8-27D693CDE85E}"/>
              </a:ext>
            </a:extLst>
          </p:cNvPr>
          <p:cNvCxnSpPr>
            <a:cxnSpLocks/>
            <a:stCxn id="6" idx="2"/>
            <a:endCxn id="7" idx="0"/>
          </p:cNvCxnSpPr>
          <p:nvPr/>
        </p:nvCxnSpPr>
        <p:spPr>
          <a:xfrm>
            <a:off x="6091084" y="1156556"/>
            <a:ext cx="0" cy="32411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BDBD7E58-CDE8-0DCD-D799-5A551136C388}"/>
              </a:ext>
            </a:extLst>
          </p:cNvPr>
          <p:cNvCxnSpPr>
            <a:cxnSpLocks/>
            <a:stCxn id="7" idx="2"/>
            <a:endCxn id="8" idx="0"/>
          </p:cNvCxnSpPr>
          <p:nvPr/>
        </p:nvCxnSpPr>
        <p:spPr>
          <a:xfrm>
            <a:off x="6091084" y="2128674"/>
            <a:ext cx="0" cy="32411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7ABA349-BFF5-7CDC-34A0-167A4E2339C8}"/>
              </a:ext>
            </a:extLst>
          </p:cNvPr>
          <p:cNvCxnSpPr>
            <a:stCxn id="8" idx="3"/>
            <a:endCxn id="9" idx="1"/>
          </p:cNvCxnSpPr>
          <p:nvPr/>
        </p:nvCxnSpPr>
        <p:spPr>
          <a:xfrm>
            <a:off x="7171084" y="2812791"/>
            <a:ext cx="6692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D7AC11ED-3FB3-F44C-F47F-B7E1228A2CBF}"/>
              </a:ext>
            </a:extLst>
          </p:cNvPr>
          <p:cNvCxnSpPr>
            <a:stCxn id="8" idx="1"/>
            <a:endCxn id="10" idx="3"/>
          </p:cNvCxnSpPr>
          <p:nvPr/>
        </p:nvCxnSpPr>
        <p:spPr>
          <a:xfrm flipH="1">
            <a:off x="4341798" y="2812791"/>
            <a:ext cx="66928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C50EFD1-7BA6-8DCD-E5F1-905EAB891C15}"/>
              </a:ext>
            </a:extLst>
          </p:cNvPr>
          <p:cNvSpPr txBox="1"/>
          <p:nvPr/>
        </p:nvSpPr>
        <p:spPr>
          <a:xfrm>
            <a:off x="7310803" y="2475084"/>
            <a:ext cx="364202" cy="307777"/>
          </a:xfrm>
          <a:prstGeom prst="rect">
            <a:avLst/>
          </a:prstGeom>
          <a:noFill/>
        </p:spPr>
        <p:txBody>
          <a:bodyPr wrap="none" rtlCol="0">
            <a:spAutoFit/>
          </a:bodyPr>
          <a:lstStyle/>
          <a:p>
            <a:pPr algn="l"/>
            <a:r>
              <a:rPr lang="zh-CN" altLang="en-US" sz="1400" dirty="0">
                <a:solidFill>
                  <a:schemeClr val="bg1"/>
                </a:solidFill>
              </a:rPr>
              <a:t>大</a:t>
            </a:r>
          </a:p>
        </p:txBody>
      </p:sp>
      <p:sp>
        <p:nvSpPr>
          <p:cNvPr id="42" name="文本框 41">
            <a:extLst>
              <a:ext uri="{FF2B5EF4-FFF2-40B4-BE49-F238E27FC236}">
                <a16:creationId xmlns:a16="http://schemas.microsoft.com/office/drawing/2014/main" id="{6FE0D63B-CC05-7A3B-B113-167914DAE6F7}"/>
              </a:ext>
            </a:extLst>
          </p:cNvPr>
          <p:cNvSpPr txBox="1"/>
          <p:nvPr/>
        </p:nvSpPr>
        <p:spPr>
          <a:xfrm>
            <a:off x="4481516" y="2475084"/>
            <a:ext cx="364202" cy="307777"/>
          </a:xfrm>
          <a:prstGeom prst="rect">
            <a:avLst/>
          </a:prstGeom>
          <a:noFill/>
        </p:spPr>
        <p:txBody>
          <a:bodyPr wrap="none" rtlCol="0">
            <a:spAutoFit/>
          </a:bodyPr>
          <a:lstStyle/>
          <a:p>
            <a:pPr algn="l"/>
            <a:r>
              <a:rPr lang="zh-CN" altLang="en-US" sz="1400" dirty="0">
                <a:solidFill>
                  <a:schemeClr val="bg1"/>
                </a:solidFill>
              </a:rPr>
              <a:t>小</a:t>
            </a:r>
          </a:p>
        </p:txBody>
      </p:sp>
      <p:cxnSp>
        <p:nvCxnSpPr>
          <p:cNvPr id="44" name="直接箭头连接符 43">
            <a:extLst>
              <a:ext uri="{FF2B5EF4-FFF2-40B4-BE49-F238E27FC236}">
                <a16:creationId xmlns:a16="http://schemas.microsoft.com/office/drawing/2014/main" id="{0AB24D1A-FB8C-DC83-B3C5-86FD0B76D6A7}"/>
              </a:ext>
            </a:extLst>
          </p:cNvPr>
          <p:cNvCxnSpPr>
            <a:cxnSpLocks/>
            <a:stCxn id="9" idx="3"/>
            <a:endCxn id="72" idx="1"/>
          </p:cNvCxnSpPr>
          <p:nvPr/>
        </p:nvCxnSpPr>
        <p:spPr>
          <a:xfrm>
            <a:off x="8272372" y="2812791"/>
            <a:ext cx="6692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5" name="流程图: 过程 44">
            <a:extLst>
              <a:ext uri="{FF2B5EF4-FFF2-40B4-BE49-F238E27FC236}">
                <a16:creationId xmlns:a16="http://schemas.microsoft.com/office/drawing/2014/main" id="{4540738E-9EFE-A577-A0B0-CD24AA59DEF0}"/>
              </a:ext>
            </a:extLst>
          </p:cNvPr>
          <p:cNvSpPr/>
          <p:nvPr/>
        </p:nvSpPr>
        <p:spPr>
          <a:xfrm>
            <a:off x="10042945"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13</a:t>
            </a:r>
            <a:endParaRPr lang="zh-CN" altLang="en-US" sz="1400" dirty="0">
              <a:solidFill>
                <a:srgbClr val="FFFF00"/>
              </a:solidFill>
            </a:endParaRPr>
          </a:p>
        </p:txBody>
      </p:sp>
      <p:sp>
        <p:nvSpPr>
          <p:cNvPr id="47" name="文本框 46">
            <a:extLst>
              <a:ext uri="{FF2B5EF4-FFF2-40B4-BE49-F238E27FC236}">
                <a16:creationId xmlns:a16="http://schemas.microsoft.com/office/drawing/2014/main" id="{B6201564-99C4-35EA-568C-C88C8FD0D2FE}"/>
              </a:ext>
            </a:extLst>
          </p:cNvPr>
          <p:cNvSpPr txBox="1"/>
          <p:nvPr/>
        </p:nvSpPr>
        <p:spPr>
          <a:xfrm>
            <a:off x="9410785" y="2475084"/>
            <a:ext cx="543739" cy="307777"/>
          </a:xfrm>
          <a:prstGeom prst="rect">
            <a:avLst/>
          </a:prstGeom>
          <a:noFill/>
        </p:spPr>
        <p:txBody>
          <a:bodyPr wrap="none" rtlCol="0">
            <a:spAutoFit/>
          </a:bodyPr>
          <a:lstStyle/>
          <a:p>
            <a:pPr algn="l"/>
            <a:r>
              <a:rPr lang="zh-CN" altLang="en-US" sz="1400" dirty="0">
                <a:solidFill>
                  <a:schemeClr val="bg1"/>
                </a:solidFill>
              </a:rPr>
              <a:t>更大</a:t>
            </a:r>
          </a:p>
        </p:txBody>
      </p:sp>
      <p:sp>
        <p:nvSpPr>
          <p:cNvPr id="48" name="流程图: 过程 47">
            <a:extLst>
              <a:ext uri="{FF2B5EF4-FFF2-40B4-BE49-F238E27FC236}">
                <a16:creationId xmlns:a16="http://schemas.microsoft.com/office/drawing/2014/main" id="{CFEC66D6-CA4B-802F-EF2A-22BF2084ED05}"/>
              </a:ext>
            </a:extLst>
          </p:cNvPr>
          <p:cNvSpPr/>
          <p:nvPr/>
        </p:nvSpPr>
        <p:spPr>
          <a:xfrm>
            <a:off x="1707224"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0</a:t>
            </a:r>
            <a:endParaRPr lang="zh-CN" altLang="en-US" sz="1400" dirty="0">
              <a:solidFill>
                <a:srgbClr val="FFFF00"/>
              </a:solidFill>
            </a:endParaRPr>
          </a:p>
        </p:txBody>
      </p:sp>
      <p:sp>
        <p:nvSpPr>
          <p:cNvPr id="49" name="文本框 48">
            <a:extLst>
              <a:ext uri="{FF2B5EF4-FFF2-40B4-BE49-F238E27FC236}">
                <a16:creationId xmlns:a16="http://schemas.microsoft.com/office/drawing/2014/main" id="{117E07B5-8D2B-5485-FCF8-9414591FFCE5}"/>
              </a:ext>
            </a:extLst>
          </p:cNvPr>
          <p:cNvSpPr txBox="1"/>
          <p:nvPr/>
        </p:nvSpPr>
        <p:spPr>
          <a:xfrm>
            <a:off x="3277637" y="2475084"/>
            <a:ext cx="543739" cy="307777"/>
          </a:xfrm>
          <a:prstGeom prst="rect">
            <a:avLst/>
          </a:prstGeom>
          <a:noFill/>
        </p:spPr>
        <p:txBody>
          <a:bodyPr wrap="none" rtlCol="0">
            <a:spAutoFit/>
          </a:bodyPr>
          <a:lstStyle/>
          <a:p>
            <a:pPr algn="l"/>
            <a:r>
              <a:rPr lang="zh-CN" altLang="en-US" sz="1400" dirty="0">
                <a:solidFill>
                  <a:schemeClr val="bg1"/>
                </a:solidFill>
              </a:rPr>
              <a:t>更小</a:t>
            </a:r>
          </a:p>
        </p:txBody>
      </p:sp>
      <p:cxnSp>
        <p:nvCxnSpPr>
          <p:cNvPr id="51" name="直接箭头连接符 50">
            <a:extLst>
              <a:ext uri="{FF2B5EF4-FFF2-40B4-BE49-F238E27FC236}">
                <a16:creationId xmlns:a16="http://schemas.microsoft.com/office/drawing/2014/main" id="{1004D9A0-472C-E35A-F875-D2192AE2B5BF}"/>
              </a:ext>
            </a:extLst>
          </p:cNvPr>
          <p:cNvCxnSpPr>
            <a:cxnSpLocks/>
            <a:stCxn id="10" idx="1"/>
            <a:endCxn id="74" idx="3"/>
          </p:cNvCxnSpPr>
          <p:nvPr/>
        </p:nvCxnSpPr>
        <p:spPr>
          <a:xfrm flipH="1">
            <a:off x="3240511" y="2812791"/>
            <a:ext cx="6692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D3D9510C-D43C-DF27-2942-C0BF6CCB0F59}"/>
              </a:ext>
            </a:extLst>
          </p:cNvPr>
          <p:cNvSpPr txBox="1"/>
          <p:nvPr/>
        </p:nvSpPr>
        <p:spPr>
          <a:xfrm>
            <a:off x="9946861" y="3250953"/>
            <a:ext cx="400110" cy="630942"/>
          </a:xfrm>
          <a:prstGeom prst="rect">
            <a:avLst/>
          </a:prstGeom>
          <a:noFill/>
        </p:spPr>
        <p:txBody>
          <a:bodyPr vert="eaVert" wrap="none" rtlCol="0">
            <a:spAutoFit/>
          </a:bodyPr>
          <a:lstStyle/>
          <a:p>
            <a:pPr algn="l"/>
            <a:r>
              <a:rPr lang="zh-CN" altLang="en-US" sz="1400" dirty="0">
                <a:solidFill>
                  <a:schemeClr val="bg1"/>
                </a:solidFill>
              </a:rPr>
              <a:t>需分解</a:t>
            </a:r>
          </a:p>
        </p:txBody>
      </p:sp>
      <p:sp>
        <p:nvSpPr>
          <p:cNvPr id="58" name="流程图: 终止 57">
            <a:extLst>
              <a:ext uri="{FF2B5EF4-FFF2-40B4-BE49-F238E27FC236}">
                <a16:creationId xmlns:a16="http://schemas.microsoft.com/office/drawing/2014/main" id="{E837EC0A-C3C4-3C91-F449-3121925C6300}"/>
              </a:ext>
            </a:extLst>
          </p:cNvPr>
          <p:cNvSpPr/>
          <p:nvPr/>
        </p:nvSpPr>
        <p:spPr>
          <a:xfrm>
            <a:off x="5551084" y="4954190"/>
            <a:ext cx="1080000" cy="432000"/>
          </a:xfrm>
          <a:prstGeom prst="flowChartTerminator">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End</a:t>
            </a:r>
            <a:endParaRPr lang="zh-CN" altLang="en-US" sz="1400">
              <a:solidFill>
                <a:schemeClr val="bg1"/>
              </a:solidFill>
            </a:endParaRPr>
          </a:p>
        </p:txBody>
      </p:sp>
      <p:cxnSp>
        <p:nvCxnSpPr>
          <p:cNvPr id="64" name="连接符: 肘形 63">
            <a:extLst>
              <a:ext uri="{FF2B5EF4-FFF2-40B4-BE49-F238E27FC236}">
                <a16:creationId xmlns:a16="http://schemas.microsoft.com/office/drawing/2014/main" id="{6CE6947C-4526-0D9C-2857-D22A4A00AE33}"/>
              </a:ext>
            </a:extLst>
          </p:cNvPr>
          <p:cNvCxnSpPr>
            <a:cxnSpLocks/>
            <a:stCxn id="10" idx="2"/>
            <a:endCxn id="58" idx="0"/>
          </p:cNvCxnSpPr>
          <p:nvPr/>
        </p:nvCxnSpPr>
        <p:spPr>
          <a:xfrm rot="16200000" flipH="1">
            <a:off x="4145742" y="3008847"/>
            <a:ext cx="1925399" cy="1965286"/>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连接符: 肘形 65">
            <a:extLst>
              <a:ext uri="{FF2B5EF4-FFF2-40B4-BE49-F238E27FC236}">
                <a16:creationId xmlns:a16="http://schemas.microsoft.com/office/drawing/2014/main" id="{E1044BC5-3675-59BA-645E-9AB33776F71B}"/>
              </a:ext>
            </a:extLst>
          </p:cNvPr>
          <p:cNvCxnSpPr>
            <a:cxnSpLocks/>
            <a:stCxn id="9" idx="2"/>
            <a:endCxn id="58" idx="0"/>
          </p:cNvCxnSpPr>
          <p:nvPr/>
        </p:nvCxnSpPr>
        <p:spPr>
          <a:xfrm rot="5400000">
            <a:off x="6111029" y="3008846"/>
            <a:ext cx="1925399" cy="1965288"/>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连接符: 肘形 67">
            <a:extLst>
              <a:ext uri="{FF2B5EF4-FFF2-40B4-BE49-F238E27FC236}">
                <a16:creationId xmlns:a16="http://schemas.microsoft.com/office/drawing/2014/main" id="{C766A5C9-34A0-2DBB-C7D5-A74FBB58C5F4}"/>
              </a:ext>
            </a:extLst>
          </p:cNvPr>
          <p:cNvCxnSpPr>
            <a:cxnSpLocks/>
            <a:stCxn id="45" idx="2"/>
            <a:endCxn id="58" idx="0"/>
          </p:cNvCxnSpPr>
          <p:nvPr/>
        </p:nvCxnSpPr>
        <p:spPr>
          <a:xfrm rot="5400000">
            <a:off x="7212316" y="1907560"/>
            <a:ext cx="1925399" cy="416786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连接符: 肘形 69">
            <a:extLst>
              <a:ext uri="{FF2B5EF4-FFF2-40B4-BE49-F238E27FC236}">
                <a16:creationId xmlns:a16="http://schemas.microsoft.com/office/drawing/2014/main" id="{1059F27D-FEEE-1AD5-B286-302E2B76B32A}"/>
              </a:ext>
            </a:extLst>
          </p:cNvPr>
          <p:cNvCxnSpPr>
            <a:cxnSpLocks/>
            <a:stCxn id="48" idx="2"/>
            <a:endCxn id="58" idx="0"/>
          </p:cNvCxnSpPr>
          <p:nvPr/>
        </p:nvCxnSpPr>
        <p:spPr>
          <a:xfrm rot="16200000" flipH="1">
            <a:off x="3044455" y="1907560"/>
            <a:ext cx="1925399" cy="4167860"/>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71" name="文本框 70">
            <a:extLst>
              <a:ext uri="{FF2B5EF4-FFF2-40B4-BE49-F238E27FC236}">
                <a16:creationId xmlns:a16="http://schemas.microsoft.com/office/drawing/2014/main" id="{1DC66CDC-26C7-8C54-5A3B-2C8DC67039F8}"/>
              </a:ext>
            </a:extLst>
          </p:cNvPr>
          <p:cNvSpPr txBox="1"/>
          <p:nvPr/>
        </p:nvSpPr>
        <p:spPr>
          <a:xfrm>
            <a:off x="8309498" y="2475084"/>
            <a:ext cx="543739" cy="307777"/>
          </a:xfrm>
          <a:prstGeom prst="rect">
            <a:avLst/>
          </a:prstGeom>
          <a:noFill/>
        </p:spPr>
        <p:txBody>
          <a:bodyPr wrap="none" rtlCol="0">
            <a:spAutoFit/>
          </a:bodyPr>
          <a:lstStyle/>
          <a:p>
            <a:pPr algn="l"/>
            <a:r>
              <a:rPr lang="zh-CN" altLang="en-US" sz="1400" dirty="0">
                <a:solidFill>
                  <a:schemeClr val="bg1"/>
                </a:solidFill>
              </a:rPr>
              <a:t>更大</a:t>
            </a:r>
          </a:p>
        </p:txBody>
      </p:sp>
      <p:sp>
        <p:nvSpPr>
          <p:cNvPr id="72" name="流程图: 过程 71">
            <a:extLst>
              <a:ext uri="{FF2B5EF4-FFF2-40B4-BE49-F238E27FC236}">
                <a16:creationId xmlns:a16="http://schemas.microsoft.com/office/drawing/2014/main" id="{CFDA29D5-A823-DD3C-DC4C-16E5C2830544}"/>
              </a:ext>
            </a:extLst>
          </p:cNvPr>
          <p:cNvSpPr/>
          <p:nvPr/>
        </p:nvSpPr>
        <p:spPr>
          <a:xfrm>
            <a:off x="8941659"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8</a:t>
            </a:r>
            <a:endParaRPr lang="zh-CN" altLang="en-US" sz="1400" dirty="0">
              <a:solidFill>
                <a:srgbClr val="FFFF00"/>
              </a:solidFill>
            </a:endParaRPr>
          </a:p>
        </p:txBody>
      </p:sp>
      <p:sp>
        <p:nvSpPr>
          <p:cNvPr id="73" name="文本框 72">
            <a:extLst>
              <a:ext uri="{FF2B5EF4-FFF2-40B4-BE49-F238E27FC236}">
                <a16:creationId xmlns:a16="http://schemas.microsoft.com/office/drawing/2014/main" id="{B7CAC5A9-CDCB-1531-5057-C12129E8B551}"/>
              </a:ext>
            </a:extLst>
          </p:cNvPr>
          <p:cNvSpPr txBox="1"/>
          <p:nvPr/>
        </p:nvSpPr>
        <p:spPr>
          <a:xfrm>
            <a:off x="2176350" y="2475084"/>
            <a:ext cx="543739" cy="307777"/>
          </a:xfrm>
          <a:prstGeom prst="rect">
            <a:avLst/>
          </a:prstGeom>
          <a:noFill/>
        </p:spPr>
        <p:txBody>
          <a:bodyPr wrap="none" rtlCol="0">
            <a:spAutoFit/>
          </a:bodyPr>
          <a:lstStyle/>
          <a:p>
            <a:pPr algn="l"/>
            <a:r>
              <a:rPr lang="zh-CN" altLang="en-US" sz="1400" dirty="0">
                <a:solidFill>
                  <a:schemeClr val="bg1"/>
                </a:solidFill>
              </a:rPr>
              <a:t>更小</a:t>
            </a:r>
          </a:p>
        </p:txBody>
      </p:sp>
      <p:sp>
        <p:nvSpPr>
          <p:cNvPr id="74" name="流程图: 过程 73">
            <a:extLst>
              <a:ext uri="{FF2B5EF4-FFF2-40B4-BE49-F238E27FC236}">
                <a16:creationId xmlns:a16="http://schemas.microsoft.com/office/drawing/2014/main" id="{1EB66274-B46D-F53C-6C81-FB02F782781E}"/>
              </a:ext>
            </a:extLst>
          </p:cNvPr>
          <p:cNvSpPr/>
          <p:nvPr/>
        </p:nvSpPr>
        <p:spPr>
          <a:xfrm>
            <a:off x="2808511"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1</a:t>
            </a:r>
            <a:endParaRPr lang="zh-CN" altLang="en-US" sz="1400" dirty="0">
              <a:solidFill>
                <a:srgbClr val="FFFF00"/>
              </a:solidFill>
            </a:endParaRPr>
          </a:p>
        </p:txBody>
      </p:sp>
      <p:cxnSp>
        <p:nvCxnSpPr>
          <p:cNvPr id="77" name="直接箭头连接符 76">
            <a:extLst>
              <a:ext uri="{FF2B5EF4-FFF2-40B4-BE49-F238E27FC236}">
                <a16:creationId xmlns:a16="http://schemas.microsoft.com/office/drawing/2014/main" id="{E79D87B9-9981-2F7E-65C3-7ABFC5E6DB12}"/>
              </a:ext>
            </a:extLst>
          </p:cNvPr>
          <p:cNvCxnSpPr>
            <a:stCxn id="74" idx="1"/>
            <a:endCxn id="48" idx="3"/>
          </p:cNvCxnSpPr>
          <p:nvPr/>
        </p:nvCxnSpPr>
        <p:spPr>
          <a:xfrm flipH="1">
            <a:off x="2139224" y="2812791"/>
            <a:ext cx="6692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6107D43B-2916-4C89-5B7B-33D219944DA4}"/>
              </a:ext>
            </a:extLst>
          </p:cNvPr>
          <p:cNvCxnSpPr>
            <a:stCxn id="72" idx="3"/>
            <a:endCxn id="45" idx="1"/>
          </p:cNvCxnSpPr>
          <p:nvPr/>
        </p:nvCxnSpPr>
        <p:spPr>
          <a:xfrm>
            <a:off x="9373659" y="2812791"/>
            <a:ext cx="66928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DD8F5E8F-E4FE-3B62-573E-33E48DCF363A}"/>
              </a:ext>
            </a:extLst>
          </p:cNvPr>
          <p:cNvCxnSpPr>
            <a:stCxn id="72" idx="2"/>
            <a:endCxn id="58" idx="0"/>
          </p:cNvCxnSpPr>
          <p:nvPr/>
        </p:nvCxnSpPr>
        <p:spPr>
          <a:xfrm rot="5400000">
            <a:off x="6661673" y="2458203"/>
            <a:ext cx="1925399" cy="30665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7A123CAB-DFD7-6426-13B1-3C8F190AF3BF}"/>
              </a:ext>
            </a:extLst>
          </p:cNvPr>
          <p:cNvCxnSpPr>
            <a:stCxn id="74" idx="2"/>
            <a:endCxn id="58" idx="0"/>
          </p:cNvCxnSpPr>
          <p:nvPr/>
        </p:nvCxnSpPr>
        <p:spPr>
          <a:xfrm rot="16200000" flipH="1">
            <a:off x="3595098" y="2458203"/>
            <a:ext cx="1925399" cy="306657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34971"/>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954107" cy="400110"/>
          </a:xfrm>
          <a:prstGeom prst="rect">
            <a:avLst/>
          </a:prstGeom>
          <a:noFill/>
        </p:spPr>
        <p:txBody>
          <a:bodyPr wrap="none" rtlCol="0">
            <a:spAutoFit/>
          </a:bodyPr>
          <a:lstStyle/>
          <a:p>
            <a:r>
              <a:rPr lang="zh-CN" altLang="en-US" sz="2000" dirty="0">
                <a:solidFill>
                  <a:schemeClr val="bg1"/>
                </a:solidFill>
              </a:rPr>
              <a:t>单选题</a:t>
            </a:r>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10080000" cy="2062103"/>
          </a:xfrm>
          <a:prstGeom prst="rect">
            <a:avLst/>
          </a:prstGeom>
          <a:noFill/>
        </p:spPr>
        <p:txBody>
          <a:bodyPr wrap="square" rtlCol="0">
            <a:spAutoFit/>
          </a:bodyPr>
          <a:lstStyle/>
          <a:p>
            <a:pPr>
              <a:spcAft>
                <a:spcPts val="600"/>
              </a:spcAft>
            </a:pPr>
            <a:r>
              <a:rPr lang="zh-CN" altLang="en-US" dirty="0">
                <a:solidFill>
                  <a:schemeClr val="bg1"/>
                </a:solidFill>
              </a:rPr>
              <a:t>假设某项目的注册功能为 </a:t>
            </a:r>
            <a:r>
              <a:rPr lang="en-US" altLang="zh-CN" dirty="0">
                <a:solidFill>
                  <a:schemeClr val="bg1"/>
                </a:solidFill>
              </a:rPr>
              <a:t>3 </a:t>
            </a:r>
            <a:r>
              <a:rPr lang="zh-CN" altLang="en-US" dirty="0">
                <a:solidFill>
                  <a:schemeClr val="bg1"/>
                </a:solidFill>
              </a:rPr>
              <a:t>个 </a:t>
            </a:r>
            <a:r>
              <a:rPr lang="en-US" altLang="zh-CN" dirty="0">
                <a:solidFill>
                  <a:schemeClr val="bg1"/>
                </a:solidFill>
              </a:rPr>
              <a:t>story points</a:t>
            </a:r>
            <a:r>
              <a:rPr lang="zh-CN" altLang="en-US" dirty="0">
                <a:solidFill>
                  <a:schemeClr val="bg1"/>
                </a:solidFill>
              </a:rPr>
              <a:t>；其中成绩录入工作量比注册功能工作量略多，如果采用</a:t>
            </a:r>
            <a:r>
              <a:rPr lang="en-US" altLang="zh-CN" dirty="0">
                <a:solidFill>
                  <a:schemeClr val="bg1"/>
                </a:solidFill>
              </a:rPr>
              <a:t>Fibonacci </a:t>
            </a:r>
            <a:r>
              <a:rPr lang="zh-CN" altLang="en-US" dirty="0">
                <a:solidFill>
                  <a:schemeClr val="bg1"/>
                </a:solidFill>
              </a:rPr>
              <a:t>等级标准估算的话</a:t>
            </a:r>
            <a:r>
              <a:rPr lang="en-US" altLang="zh-CN" dirty="0">
                <a:solidFill>
                  <a:schemeClr val="bg1"/>
                </a:solidFill>
              </a:rPr>
              <a:t>,</a:t>
            </a:r>
            <a:r>
              <a:rPr lang="zh-CN" altLang="en-US" dirty="0">
                <a:solidFill>
                  <a:schemeClr val="bg1"/>
                </a:solidFill>
              </a:rPr>
              <a:t>，成绩录入功能的估算值是</a:t>
            </a:r>
            <a:r>
              <a:rPr lang="en-US" altLang="zh-CN" dirty="0">
                <a:solidFill>
                  <a:schemeClr val="bg1"/>
                </a:solidFill>
              </a:rPr>
              <a:t>( )</a:t>
            </a:r>
          </a:p>
          <a:p>
            <a:pPr>
              <a:spcAft>
                <a:spcPts val="600"/>
              </a:spcAft>
            </a:pPr>
            <a:r>
              <a:rPr lang="en-US" altLang="zh-CN" dirty="0">
                <a:solidFill>
                  <a:schemeClr val="bg1"/>
                </a:solidFill>
              </a:rPr>
              <a:t>A. 5</a:t>
            </a:r>
            <a:r>
              <a:rPr lang="zh-CN" altLang="en-US" dirty="0">
                <a:solidFill>
                  <a:schemeClr val="bg1"/>
                </a:solidFill>
              </a:rPr>
              <a:t>个</a:t>
            </a:r>
            <a:r>
              <a:rPr lang="en-US" altLang="zh-CN" dirty="0">
                <a:solidFill>
                  <a:schemeClr val="bg1"/>
                </a:solidFill>
              </a:rPr>
              <a:t>story points</a:t>
            </a:r>
          </a:p>
          <a:p>
            <a:pPr>
              <a:spcAft>
                <a:spcPts val="600"/>
              </a:spcAft>
            </a:pPr>
            <a:r>
              <a:rPr lang="en-US" altLang="zh-CN" dirty="0">
                <a:solidFill>
                  <a:schemeClr val="bg1"/>
                </a:solidFill>
              </a:rPr>
              <a:t>B. 4</a:t>
            </a:r>
            <a:r>
              <a:rPr lang="zh-CN" altLang="en-US" dirty="0">
                <a:solidFill>
                  <a:schemeClr val="bg1"/>
                </a:solidFill>
              </a:rPr>
              <a:t>个</a:t>
            </a:r>
            <a:r>
              <a:rPr lang="en-US" altLang="zh-CN" dirty="0">
                <a:solidFill>
                  <a:schemeClr val="bg1"/>
                </a:solidFill>
              </a:rPr>
              <a:t>story points</a:t>
            </a:r>
          </a:p>
          <a:p>
            <a:pPr>
              <a:spcAft>
                <a:spcPts val="600"/>
              </a:spcAft>
            </a:pPr>
            <a:r>
              <a:rPr lang="en-US" altLang="zh-CN" dirty="0">
                <a:solidFill>
                  <a:schemeClr val="bg1"/>
                </a:solidFill>
              </a:rPr>
              <a:t>C. 6</a:t>
            </a:r>
            <a:r>
              <a:rPr lang="zh-CN" altLang="en-US" dirty="0">
                <a:solidFill>
                  <a:schemeClr val="bg1"/>
                </a:solidFill>
              </a:rPr>
              <a:t>个</a:t>
            </a:r>
            <a:r>
              <a:rPr lang="en-US" altLang="zh-CN" dirty="0">
                <a:solidFill>
                  <a:schemeClr val="bg1"/>
                </a:solidFill>
              </a:rPr>
              <a:t>story points</a:t>
            </a:r>
          </a:p>
          <a:p>
            <a:pPr>
              <a:spcAft>
                <a:spcPts val="600"/>
              </a:spcAft>
            </a:pPr>
            <a:r>
              <a:rPr lang="en-US" altLang="zh-CN" dirty="0">
                <a:solidFill>
                  <a:schemeClr val="bg1"/>
                </a:solidFill>
              </a:rPr>
              <a:t>D. 7</a:t>
            </a:r>
            <a:r>
              <a:rPr lang="zh-CN" altLang="en-US" dirty="0">
                <a:solidFill>
                  <a:schemeClr val="bg1"/>
                </a:solidFill>
              </a:rPr>
              <a:t>个</a:t>
            </a:r>
            <a:r>
              <a:rPr lang="en-US" altLang="zh-CN" dirty="0">
                <a:solidFill>
                  <a:schemeClr val="bg1"/>
                </a:solidFill>
              </a:rPr>
              <a:t>story points </a:t>
            </a:r>
            <a:endParaRPr lang="zh-CN" altLang="en-US" dirty="0">
              <a:solidFill>
                <a:schemeClr val="bg1"/>
              </a:solidFill>
            </a:endParaRPr>
          </a:p>
        </p:txBody>
      </p:sp>
    </p:spTree>
    <p:extLst>
      <p:ext uri="{BB962C8B-B14F-4D97-AF65-F5344CB8AC3E}">
        <p14:creationId xmlns:p14="http://schemas.microsoft.com/office/powerpoint/2010/main" val="2438223166"/>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084C41-2278-2DF0-F4AC-A926F3F97BB8}"/>
              </a:ext>
            </a:extLst>
          </p:cNvPr>
          <p:cNvSpPr>
            <a:spLocks noGrp="1"/>
          </p:cNvSpPr>
          <p:nvPr>
            <p:ph type="title"/>
          </p:nvPr>
        </p:nvSpPr>
        <p:spPr/>
        <p:txBody>
          <a:bodyPr/>
          <a:lstStyle/>
          <a:p>
            <a:r>
              <a:rPr lang="en-US" altLang="zh-CN" dirty="0"/>
              <a:t>6.3.2 </a:t>
            </a:r>
            <a:r>
              <a:rPr lang="zh-CN" altLang="en-US" dirty="0"/>
              <a:t>快速故事点估算</a:t>
            </a:r>
          </a:p>
        </p:txBody>
      </p:sp>
      <p:sp>
        <p:nvSpPr>
          <p:cNvPr id="3" name="内容占位符 2">
            <a:extLst>
              <a:ext uri="{FF2B5EF4-FFF2-40B4-BE49-F238E27FC236}">
                <a16:creationId xmlns:a16="http://schemas.microsoft.com/office/drawing/2014/main" id="{4BE9F94A-B5A4-4896-35E4-B893AF6D6B0C}"/>
              </a:ext>
            </a:extLst>
          </p:cNvPr>
          <p:cNvSpPr>
            <a:spLocks noGrp="1"/>
          </p:cNvSpPr>
          <p:nvPr>
            <p:ph idx="1"/>
          </p:nvPr>
        </p:nvSpPr>
        <p:spPr/>
        <p:txBody>
          <a:bodyPr/>
          <a:lstStyle/>
          <a:p>
            <a:r>
              <a:rPr lang="zh-CN" altLang="en-US" dirty="0"/>
              <a:t>又称 </a:t>
            </a:r>
            <a:r>
              <a:rPr lang="en-US" altLang="zh-CN" dirty="0"/>
              <a:t>T-Shirt </a:t>
            </a:r>
            <a:r>
              <a:rPr lang="zh-CN" altLang="en-US" dirty="0"/>
              <a:t>估算</a:t>
            </a:r>
            <a:endParaRPr lang="en-US" altLang="zh-CN" dirty="0"/>
          </a:p>
          <a:p>
            <a:r>
              <a:rPr lang="en-US" altLang="zh-CN" dirty="0">
                <a:hlinkClick r:id="rId2"/>
              </a:rPr>
              <a:t>Mary Ann Michael </a:t>
            </a:r>
            <a:r>
              <a:rPr lang="zh-CN" altLang="en-US" dirty="0"/>
              <a:t>提出，采用类似衣服尺寸 </a:t>
            </a:r>
            <a:r>
              <a:rPr lang="en-US" altLang="zh-CN" dirty="0"/>
              <a:t>Size </a:t>
            </a:r>
            <a:r>
              <a:rPr lang="zh-CN" altLang="en-US" dirty="0"/>
              <a:t>的规格区分故事点规模</a:t>
            </a:r>
            <a:endParaRPr lang="en-US" altLang="zh-CN" dirty="0"/>
          </a:p>
          <a:p>
            <a:r>
              <a:rPr lang="en-US" altLang="zh-CN" dirty="0"/>
              <a:t>2000 </a:t>
            </a:r>
            <a:r>
              <a:rPr lang="zh-CN" altLang="en-US" dirty="0"/>
              <a:t>年左右提出，</a:t>
            </a:r>
            <a:r>
              <a:rPr lang="en-US" altLang="zh-CN" dirty="0"/>
              <a:t>2004-2008 </a:t>
            </a:r>
            <a:r>
              <a:rPr lang="zh-CN" altLang="en-US" dirty="0"/>
              <a:t>年间被广泛接受和标准化</a:t>
            </a:r>
          </a:p>
        </p:txBody>
      </p:sp>
      <p:sp>
        <p:nvSpPr>
          <p:cNvPr id="4" name="文本占位符 3">
            <a:extLst>
              <a:ext uri="{FF2B5EF4-FFF2-40B4-BE49-F238E27FC236}">
                <a16:creationId xmlns:a16="http://schemas.microsoft.com/office/drawing/2014/main" id="{A8A7DD1F-E66E-0D3A-2EBE-5AFCCB2A1BF0}"/>
              </a:ext>
            </a:extLst>
          </p:cNvPr>
          <p:cNvSpPr>
            <a:spLocks noGrp="1"/>
          </p:cNvSpPr>
          <p:nvPr>
            <p:ph type="body" sz="quarter" idx="10"/>
          </p:nvPr>
        </p:nvSpPr>
        <p:spPr/>
        <p:txBody>
          <a:bodyPr/>
          <a:lstStyle/>
          <a:p>
            <a:r>
              <a:rPr lang="en-US" altLang="zh-CN" dirty="0"/>
              <a:t>Fast Story Point/Aigle</a:t>
            </a:r>
            <a:endParaRPr lang="zh-CN" altLang="en-US" dirty="0"/>
          </a:p>
        </p:txBody>
      </p:sp>
      <p:graphicFrame>
        <p:nvGraphicFramePr>
          <p:cNvPr id="5" name="表格 4">
            <a:extLst>
              <a:ext uri="{FF2B5EF4-FFF2-40B4-BE49-F238E27FC236}">
                <a16:creationId xmlns:a16="http://schemas.microsoft.com/office/drawing/2014/main" id="{1DE943D6-7B60-4DE7-EC81-A0E8AE33F4BE}"/>
              </a:ext>
            </a:extLst>
          </p:cNvPr>
          <p:cNvGraphicFramePr>
            <a:graphicFrameLocks noGrp="1"/>
          </p:cNvGraphicFramePr>
          <p:nvPr>
            <p:extLst>
              <p:ext uri="{D42A27DB-BD31-4B8C-83A1-F6EECF244321}">
                <p14:modId xmlns:p14="http://schemas.microsoft.com/office/powerpoint/2010/main" val="380882718"/>
              </p:ext>
            </p:extLst>
          </p:nvPr>
        </p:nvGraphicFramePr>
        <p:xfrm>
          <a:off x="2676000" y="2658644"/>
          <a:ext cx="6840000" cy="2346960"/>
        </p:xfrm>
        <a:graphic>
          <a:graphicData uri="http://schemas.openxmlformats.org/drawingml/2006/table">
            <a:tbl>
              <a:tblPr/>
              <a:tblGrid>
                <a:gridCol w="1080000">
                  <a:extLst>
                    <a:ext uri="{9D8B030D-6E8A-4147-A177-3AD203B41FA5}">
                      <a16:colId xmlns:a16="http://schemas.microsoft.com/office/drawing/2014/main" val="3227890518"/>
                    </a:ext>
                  </a:extLst>
                </a:gridCol>
                <a:gridCol w="1800000">
                  <a:extLst>
                    <a:ext uri="{9D8B030D-6E8A-4147-A177-3AD203B41FA5}">
                      <a16:colId xmlns:a16="http://schemas.microsoft.com/office/drawing/2014/main" val="1620190121"/>
                    </a:ext>
                  </a:extLst>
                </a:gridCol>
                <a:gridCol w="28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buNone/>
                      </a:pPr>
                      <a:r>
                        <a:rPr lang="en-US" altLang="zh-CN" sz="1600" dirty="0">
                          <a:solidFill>
                            <a:schemeClr val="bg1"/>
                          </a:solidFill>
                        </a:rPr>
                        <a:t>Size</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Effort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Point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600" dirty="0">
                          <a:solidFill>
                            <a:schemeClr val="bg1"/>
                          </a:solidFill>
                        </a:rPr>
                        <a:t>XS</a:t>
                      </a:r>
                      <a:endParaRPr 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很小 </a:t>
                      </a:r>
                      <a:r>
                        <a:rPr lang="en-US" sz="1600" dirty="0">
                          <a:solidFill>
                            <a:schemeClr val="bg1"/>
                          </a:solidFill>
                        </a:rPr>
                        <a:t>Tiny</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8</a:t>
                      </a:r>
                      <a:r>
                        <a:rPr lang="zh-CN" altLang="en-US" sz="1600" dirty="0">
                          <a:solidFill>
                            <a:schemeClr val="bg1"/>
                          </a:solidFill>
                        </a:rPr>
                        <a:t>小时（</a:t>
                      </a:r>
                      <a:r>
                        <a:rPr lang="en-US" altLang="zh-CN" sz="1600" dirty="0">
                          <a:solidFill>
                            <a:schemeClr val="bg1"/>
                          </a:solidFill>
                        </a:rPr>
                        <a:t>1</a:t>
                      </a:r>
                      <a:r>
                        <a:rPr lang="zh-CN" altLang="en-US" sz="1600" dirty="0">
                          <a:solidFill>
                            <a:schemeClr val="bg1"/>
                          </a:solidFill>
                        </a:rPr>
                        <a:t>天）</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1</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dirty="0">
                          <a:solidFill>
                            <a:schemeClr val="bg1"/>
                          </a:solidFill>
                        </a:rPr>
                        <a:t>S</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较小 </a:t>
                      </a:r>
                      <a:r>
                        <a:rPr lang="en-US" sz="1600" dirty="0">
                          <a:solidFill>
                            <a:schemeClr val="bg1"/>
                          </a:solidFill>
                        </a:rPr>
                        <a:t>Small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16</a:t>
                      </a:r>
                      <a:r>
                        <a:rPr lang="zh-CN" altLang="en-US" sz="1600" dirty="0">
                          <a:solidFill>
                            <a:schemeClr val="bg1"/>
                          </a:solidFill>
                        </a:rPr>
                        <a:t>小时（</a:t>
                      </a:r>
                      <a:r>
                        <a:rPr lang="en-US" altLang="zh-CN" sz="1600" dirty="0">
                          <a:solidFill>
                            <a:schemeClr val="bg1"/>
                          </a:solidFill>
                        </a:rPr>
                        <a:t>2</a:t>
                      </a:r>
                      <a:r>
                        <a:rPr lang="zh-CN" altLang="en-US" sz="1600" dirty="0">
                          <a:solidFill>
                            <a:schemeClr val="bg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2</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sz="1600" dirty="0">
                          <a:solidFill>
                            <a:schemeClr val="bg1"/>
                          </a:solidFill>
                        </a:rPr>
                        <a:t>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中等 </a:t>
                      </a:r>
                      <a:r>
                        <a:rPr lang="en-US" sz="1600" dirty="0">
                          <a:solidFill>
                            <a:schemeClr val="bg1"/>
                          </a:solidFill>
                        </a:rPr>
                        <a:t>Medium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24</a:t>
                      </a:r>
                      <a:r>
                        <a:rPr lang="zh-CN" altLang="en-US" sz="1600" dirty="0">
                          <a:solidFill>
                            <a:schemeClr val="bg1"/>
                          </a:solidFill>
                        </a:rPr>
                        <a:t>小时（</a:t>
                      </a:r>
                      <a:r>
                        <a:rPr lang="en-US" altLang="zh-CN" sz="1600" dirty="0">
                          <a:solidFill>
                            <a:schemeClr val="bg1"/>
                          </a:solidFill>
                        </a:rPr>
                        <a:t>3</a:t>
                      </a:r>
                      <a:r>
                        <a:rPr lang="zh-CN" altLang="en-US" sz="1600" dirty="0">
                          <a:solidFill>
                            <a:schemeClr val="bg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sz="1600" dirty="0">
                          <a:solidFill>
                            <a:schemeClr val="bg1"/>
                          </a:solidFill>
                        </a:rPr>
                        <a:t>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较大 </a:t>
                      </a:r>
                      <a:r>
                        <a:rPr lang="en-US" sz="1600" dirty="0">
                          <a:solidFill>
                            <a:schemeClr val="bg1"/>
                          </a:solidFill>
                        </a:rPr>
                        <a:t>Big</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40</a:t>
                      </a:r>
                      <a:r>
                        <a:rPr lang="zh-CN" altLang="en-US" sz="1600" dirty="0">
                          <a:solidFill>
                            <a:schemeClr val="bg1"/>
                          </a:solidFill>
                        </a:rPr>
                        <a:t>小时（</a:t>
                      </a:r>
                      <a:r>
                        <a:rPr lang="en-US" altLang="zh-CN" sz="1600" dirty="0">
                          <a:solidFill>
                            <a:schemeClr val="bg1"/>
                          </a:solidFill>
                        </a:rPr>
                        <a:t>5</a:t>
                      </a:r>
                      <a:r>
                        <a:rPr lang="zh-CN" altLang="en-US" sz="1600" dirty="0">
                          <a:solidFill>
                            <a:schemeClr val="bg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5</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600" dirty="0">
                          <a:solidFill>
                            <a:schemeClr val="bg1"/>
                          </a:solidFill>
                        </a:rPr>
                        <a:t>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很大 </a:t>
                      </a:r>
                      <a:r>
                        <a:rPr lang="en-US" sz="1600" dirty="0">
                          <a:solidFill>
                            <a:schemeClr val="bg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64</a:t>
                      </a:r>
                      <a:r>
                        <a:rPr lang="zh-CN" altLang="en-US" sz="1600" dirty="0">
                          <a:solidFill>
                            <a:schemeClr val="bg1"/>
                          </a:solidFill>
                        </a:rPr>
                        <a:t>小时以上（</a:t>
                      </a:r>
                      <a:r>
                        <a:rPr lang="en-US" altLang="zh-CN" sz="1600" dirty="0">
                          <a:solidFill>
                            <a:schemeClr val="bg1"/>
                          </a:solidFill>
                        </a:rPr>
                        <a:t>8</a:t>
                      </a:r>
                      <a:r>
                        <a:rPr lang="zh-CN" altLang="en-US" sz="1600" dirty="0">
                          <a:solidFill>
                            <a:schemeClr val="bg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8</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sz="1600" dirty="0">
                          <a:solidFill>
                            <a:schemeClr val="bg1"/>
                          </a:solidFill>
                        </a:rPr>
                        <a:t>XXL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巨大 </a:t>
                      </a:r>
                      <a:r>
                        <a:rPr lang="en-US" sz="1600" dirty="0">
                          <a:solidFill>
                            <a:schemeClr val="bg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104</a:t>
                      </a:r>
                      <a:r>
                        <a:rPr lang="zh-CN" altLang="en-US" sz="1600" dirty="0">
                          <a:solidFill>
                            <a:schemeClr val="bg1"/>
                          </a:solidFill>
                        </a:rPr>
                        <a:t>小时以上（</a:t>
                      </a:r>
                      <a:r>
                        <a:rPr lang="en-US" altLang="zh-CN" sz="1600" dirty="0">
                          <a:solidFill>
                            <a:schemeClr val="bg1"/>
                          </a:solidFill>
                        </a:rPr>
                        <a:t>13</a:t>
                      </a:r>
                      <a:r>
                        <a:rPr lang="zh-CN" altLang="en-US" sz="1600" dirty="0">
                          <a:solidFill>
                            <a:schemeClr val="bg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13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bl>
          </a:graphicData>
        </a:graphic>
      </p:graphicFrame>
    </p:spTree>
    <p:extLst>
      <p:ext uri="{BB962C8B-B14F-4D97-AF65-F5344CB8AC3E}">
        <p14:creationId xmlns:p14="http://schemas.microsoft.com/office/powerpoint/2010/main" val="402678399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E67642CC-7EF7-3B41-FECD-D4B8E6726D14}"/>
              </a:ext>
            </a:extLst>
          </p:cNvPr>
          <p:cNvGraphicFramePr>
            <a:graphicFrameLocks noGrp="1"/>
          </p:cNvGraphicFramePr>
          <p:nvPr>
            <p:extLst>
              <p:ext uri="{D42A27DB-BD31-4B8C-83A1-F6EECF244321}">
                <p14:modId xmlns:p14="http://schemas.microsoft.com/office/powerpoint/2010/main" val="2158554569"/>
              </p:ext>
            </p:extLst>
          </p:nvPr>
        </p:nvGraphicFramePr>
        <p:xfrm>
          <a:off x="2856000" y="360000"/>
          <a:ext cx="7560000" cy="277368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1217625462"/>
                    </a:ext>
                  </a:extLst>
                </a:gridCol>
              </a:tblGrid>
              <a:tr h="142316">
                <a:tc gridSpan="7">
                  <a:txBody>
                    <a:bodyPr/>
                    <a:lstStyle/>
                    <a:p>
                      <a:pPr>
                        <a:buNone/>
                      </a:pPr>
                      <a:r>
                        <a:rPr lang="en-US" altLang="zh-CN" sz="1600" dirty="0">
                          <a:solidFill>
                            <a:srgbClr val="FFFF00"/>
                          </a:solidFill>
                        </a:rPr>
                        <a:t>Step 0 </a:t>
                      </a:r>
                      <a:r>
                        <a:rPr lang="zh-CN" altLang="en-US" sz="1600" dirty="0">
                          <a:solidFill>
                            <a:schemeClr val="bg1"/>
                          </a:solidFill>
                        </a:rPr>
                        <a:t>准备用户故事</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129378">
                <a:tc>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w="63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29378">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18416589"/>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11369276"/>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43198688"/>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n-lt"/>
                        <a:ea typeface="+mn-ea"/>
                        <a:cs typeface="+mn-cs"/>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268230"/>
                  </a:ext>
                </a:extLst>
              </a:tr>
            </a:tbl>
          </a:graphicData>
        </a:graphic>
      </p:graphicFrame>
      <p:graphicFrame>
        <p:nvGraphicFramePr>
          <p:cNvPr id="4" name="表格 3">
            <a:extLst>
              <a:ext uri="{FF2B5EF4-FFF2-40B4-BE49-F238E27FC236}">
                <a16:creationId xmlns:a16="http://schemas.microsoft.com/office/drawing/2014/main" id="{917203D5-D59D-47DE-158C-B71D9FAC12AC}"/>
              </a:ext>
            </a:extLst>
          </p:cNvPr>
          <p:cNvGraphicFramePr>
            <a:graphicFrameLocks noGrp="1"/>
          </p:cNvGraphicFramePr>
          <p:nvPr>
            <p:extLst>
              <p:ext uri="{D42A27DB-BD31-4B8C-83A1-F6EECF244321}">
                <p14:modId xmlns:p14="http://schemas.microsoft.com/office/powerpoint/2010/main" val="303098707"/>
              </p:ext>
            </p:extLst>
          </p:nvPr>
        </p:nvGraphicFramePr>
        <p:xfrm>
          <a:off x="2856000" y="3240000"/>
          <a:ext cx="7560000" cy="280416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0">
                <a:tc gridSpan="7">
                  <a:txBody>
                    <a:bodyPr/>
                    <a:lstStyle/>
                    <a:p>
                      <a:pPr>
                        <a:buNone/>
                      </a:pPr>
                      <a:r>
                        <a:rPr lang="en-US" altLang="zh-CN" sz="1600" dirty="0">
                          <a:solidFill>
                            <a:srgbClr val="FFFF00"/>
                          </a:solidFill>
                        </a:rPr>
                        <a:t>Step 1 </a:t>
                      </a:r>
                      <a:r>
                        <a:rPr lang="zh-CN" altLang="en-US" sz="1600" dirty="0">
                          <a:solidFill>
                            <a:schemeClr val="bg1"/>
                          </a:solidFill>
                        </a:rPr>
                        <a:t>准备估算故事点</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0">
                <a:tc gridSpan="7">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lgn="ctr">
                        <a:buNone/>
                      </a:pPr>
                      <a:r>
                        <a:rPr lang="en-US" altLang="zh-CN" sz="1400" dirty="0">
                          <a:solidFill>
                            <a:schemeClr val="bg1"/>
                          </a:solidFill>
                        </a:rPr>
                        <a:t>XS</a:t>
                      </a: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S</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rowSpan="2">
                  <a:txBody>
                    <a:bodyPr/>
                    <a:lstStyle/>
                    <a:p>
                      <a:pPr algn="ctr">
                        <a:buNone/>
                      </a:pPr>
                      <a:r>
                        <a:rPr lang="en-US" altLang="zh-CN" sz="1400" dirty="0">
                          <a:solidFill>
                            <a:schemeClr val="bg1"/>
                          </a:solidFill>
                        </a:rPr>
                        <a:t>???</a:t>
                      </a: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08258967"/>
                  </a:ext>
                </a:extLst>
              </a:tr>
              <a:tr h="0">
                <a:tc>
                  <a:txBody>
                    <a:bodyPr/>
                    <a:lstStyle/>
                    <a:p>
                      <a:pPr algn="ctr">
                        <a:buNone/>
                      </a:pPr>
                      <a:r>
                        <a:rPr lang="en-US" sz="1400" dirty="0">
                          <a:solidFill>
                            <a:schemeClr val="bg1"/>
                          </a:solidFill>
                        </a:rPr>
                        <a:t>1</a:t>
                      </a: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4200444123"/>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791262555"/>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bl>
          </a:graphicData>
        </a:graphic>
      </p:graphicFrame>
      <p:sp>
        <p:nvSpPr>
          <p:cNvPr id="14" name="文本框 13">
            <a:extLst>
              <a:ext uri="{FF2B5EF4-FFF2-40B4-BE49-F238E27FC236}">
                <a16:creationId xmlns:a16="http://schemas.microsoft.com/office/drawing/2014/main" id="{6646FF03-6CE7-3159-4A32-3CB3ABE8F19D}"/>
              </a:ext>
            </a:extLst>
          </p:cNvPr>
          <p:cNvSpPr txBox="1"/>
          <p:nvPr/>
        </p:nvSpPr>
        <p:spPr>
          <a:xfrm>
            <a:off x="273562" y="3598609"/>
            <a:ext cx="1806905" cy="307777"/>
          </a:xfrm>
          <a:prstGeom prst="rect">
            <a:avLst/>
          </a:prstGeom>
          <a:noFill/>
        </p:spPr>
        <p:txBody>
          <a:bodyPr wrap="none" rtlCol="0">
            <a:spAutoFit/>
          </a:bodyPr>
          <a:lstStyle/>
          <a:p>
            <a:r>
              <a:rPr lang="en-US" altLang="zh-CN" sz="1400" dirty="0">
                <a:solidFill>
                  <a:schemeClr val="bg1"/>
                </a:solidFill>
              </a:rPr>
              <a:t>Standing-by Area</a:t>
            </a:r>
            <a:endParaRPr lang="zh-CN" altLang="en-US" sz="1400" dirty="0">
              <a:solidFill>
                <a:schemeClr val="bg1"/>
              </a:solidFill>
            </a:endParaRPr>
          </a:p>
        </p:txBody>
      </p:sp>
      <p:sp>
        <p:nvSpPr>
          <p:cNvPr id="15" name="文本框 14">
            <a:extLst>
              <a:ext uri="{FF2B5EF4-FFF2-40B4-BE49-F238E27FC236}">
                <a16:creationId xmlns:a16="http://schemas.microsoft.com/office/drawing/2014/main" id="{E3EAD959-265D-3B5A-862A-CE349E8DBC0A}"/>
              </a:ext>
            </a:extLst>
          </p:cNvPr>
          <p:cNvSpPr txBox="1"/>
          <p:nvPr/>
        </p:nvSpPr>
        <p:spPr>
          <a:xfrm>
            <a:off x="969265" y="4989874"/>
            <a:ext cx="1111202" cy="307777"/>
          </a:xfrm>
          <a:prstGeom prst="rect">
            <a:avLst/>
          </a:prstGeom>
          <a:noFill/>
        </p:spPr>
        <p:txBody>
          <a:bodyPr wrap="none" rtlCol="0">
            <a:spAutoFit/>
          </a:bodyPr>
          <a:lstStyle/>
          <a:p>
            <a:r>
              <a:rPr lang="en-US" altLang="zh-CN" sz="1400" dirty="0">
                <a:solidFill>
                  <a:schemeClr val="bg1"/>
                </a:solidFill>
              </a:rPr>
              <a:t>Story Area</a:t>
            </a:r>
            <a:endParaRPr lang="zh-CN" altLang="en-US" sz="1400" dirty="0">
              <a:solidFill>
                <a:schemeClr val="bg1"/>
              </a:solidFill>
            </a:endParaRPr>
          </a:p>
        </p:txBody>
      </p:sp>
      <p:cxnSp>
        <p:nvCxnSpPr>
          <p:cNvPr id="16" name="直接箭头连接符 15">
            <a:extLst>
              <a:ext uri="{FF2B5EF4-FFF2-40B4-BE49-F238E27FC236}">
                <a16:creationId xmlns:a16="http://schemas.microsoft.com/office/drawing/2014/main" id="{4E4E00C5-2953-0474-2CF2-87ACE5E4BF6A}"/>
              </a:ext>
            </a:extLst>
          </p:cNvPr>
          <p:cNvCxnSpPr>
            <a:cxnSpLocks/>
          </p:cNvCxnSpPr>
          <p:nvPr/>
        </p:nvCxnSpPr>
        <p:spPr>
          <a:xfrm>
            <a:off x="1999282" y="3750783"/>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CBEC299F-8177-0042-E1C8-18787D1D86AE}"/>
              </a:ext>
            </a:extLst>
          </p:cNvPr>
          <p:cNvCxnSpPr>
            <a:cxnSpLocks/>
          </p:cNvCxnSpPr>
          <p:nvPr/>
        </p:nvCxnSpPr>
        <p:spPr>
          <a:xfrm>
            <a:off x="1999282" y="514204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1E28C35A-445B-DB80-13AD-269594B1A01A}"/>
              </a:ext>
            </a:extLst>
          </p:cNvPr>
          <p:cNvSpPr txBox="1"/>
          <p:nvPr/>
        </p:nvSpPr>
        <p:spPr>
          <a:xfrm>
            <a:off x="440274" y="4056784"/>
            <a:ext cx="1640193" cy="307777"/>
          </a:xfrm>
          <a:prstGeom prst="rect">
            <a:avLst/>
          </a:prstGeom>
          <a:noFill/>
        </p:spPr>
        <p:txBody>
          <a:bodyPr wrap="none" rtlCol="0">
            <a:spAutoFit/>
          </a:bodyPr>
          <a:lstStyle/>
          <a:p>
            <a:r>
              <a:rPr lang="en-US" altLang="zh-CN" sz="1400" dirty="0">
                <a:solidFill>
                  <a:schemeClr val="bg1"/>
                </a:solidFill>
              </a:rPr>
              <a:t>Story Point Area</a:t>
            </a:r>
            <a:endParaRPr lang="zh-CN" altLang="en-US" sz="1400" dirty="0">
              <a:solidFill>
                <a:schemeClr val="bg1"/>
              </a:solidFill>
            </a:endParaRPr>
          </a:p>
        </p:txBody>
      </p:sp>
      <p:cxnSp>
        <p:nvCxnSpPr>
          <p:cNvPr id="19" name="直接箭头连接符 18">
            <a:extLst>
              <a:ext uri="{FF2B5EF4-FFF2-40B4-BE49-F238E27FC236}">
                <a16:creationId xmlns:a16="http://schemas.microsoft.com/office/drawing/2014/main" id="{BBEB2F51-5D20-AF95-A196-BDF9E257DAF8}"/>
              </a:ext>
            </a:extLst>
          </p:cNvPr>
          <p:cNvCxnSpPr>
            <a:cxnSpLocks/>
          </p:cNvCxnSpPr>
          <p:nvPr/>
        </p:nvCxnSpPr>
        <p:spPr>
          <a:xfrm>
            <a:off x="1999282" y="420895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nvGrpSpPr>
          <p:cNvPr id="21" name="组合 20">
            <a:extLst>
              <a:ext uri="{FF2B5EF4-FFF2-40B4-BE49-F238E27FC236}">
                <a16:creationId xmlns:a16="http://schemas.microsoft.com/office/drawing/2014/main" id="{532C8D73-4290-BAD8-11A4-215F77A8731E}"/>
              </a:ext>
            </a:extLst>
          </p:cNvPr>
          <p:cNvGrpSpPr/>
          <p:nvPr/>
        </p:nvGrpSpPr>
        <p:grpSpPr>
          <a:xfrm>
            <a:off x="2952673" y="1278686"/>
            <a:ext cx="819150" cy="552450"/>
            <a:chOff x="1109203" y="1905001"/>
            <a:chExt cx="819150" cy="552450"/>
          </a:xfrm>
        </p:grpSpPr>
        <p:pic>
          <p:nvPicPr>
            <p:cNvPr id="1028" name="Picture 4" descr="儿童卡通便利贴标签贴纸记事留言纸条PNG免抠设计元素PS装饰素材">
              <a:extLst>
                <a:ext uri="{FF2B5EF4-FFF2-40B4-BE49-F238E27FC236}">
                  <a16:creationId xmlns:a16="http://schemas.microsoft.com/office/drawing/2014/main" id="{AAAFD8AA-BE18-9B55-61D7-DA8B8961699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0" name="文本框 19">
              <a:extLst>
                <a:ext uri="{FF2B5EF4-FFF2-40B4-BE49-F238E27FC236}">
                  <a16:creationId xmlns:a16="http://schemas.microsoft.com/office/drawing/2014/main" id="{C34D2D48-2D0E-0A9C-E26D-01C62C0D1DA1}"/>
                </a:ext>
              </a:extLst>
            </p:cNvPr>
            <p:cNvSpPr txBox="1"/>
            <p:nvPr/>
          </p:nvSpPr>
          <p:spPr>
            <a:xfrm>
              <a:off x="1109203" y="2027338"/>
              <a:ext cx="760144" cy="307777"/>
            </a:xfrm>
            <a:prstGeom prst="rect">
              <a:avLst/>
            </a:prstGeom>
            <a:noFill/>
          </p:spPr>
          <p:txBody>
            <a:bodyPr wrap="none" rtlCol="0">
              <a:spAutoFit/>
            </a:bodyPr>
            <a:lstStyle/>
            <a:p>
              <a:pPr algn="l"/>
              <a:r>
                <a:rPr lang="en-US" altLang="zh-CN" sz="1400" dirty="0"/>
                <a:t>Story 1</a:t>
              </a:r>
              <a:endParaRPr lang="zh-CN" altLang="en-US" sz="1400" dirty="0"/>
            </a:p>
          </p:txBody>
        </p:sp>
      </p:grpSp>
      <p:grpSp>
        <p:nvGrpSpPr>
          <p:cNvPr id="22" name="组合 21">
            <a:extLst>
              <a:ext uri="{FF2B5EF4-FFF2-40B4-BE49-F238E27FC236}">
                <a16:creationId xmlns:a16="http://schemas.microsoft.com/office/drawing/2014/main" id="{7E45E8BA-CA95-D743-EA6B-5B891EF7BAC3}"/>
              </a:ext>
            </a:extLst>
          </p:cNvPr>
          <p:cNvGrpSpPr/>
          <p:nvPr/>
        </p:nvGrpSpPr>
        <p:grpSpPr>
          <a:xfrm>
            <a:off x="3774149" y="1820899"/>
            <a:ext cx="819150" cy="552450"/>
            <a:chOff x="1109203" y="1905001"/>
            <a:chExt cx="819150" cy="552450"/>
          </a:xfrm>
        </p:grpSpPr>
        <p:pic>
          <p:nvPicPr>
            <p:cNvPr id="23" name="Picture 4" descr="儿童卡通便利贴标签贴纸记事留言纸条PNG免抠设计元素PS装饰素材">
              <a:extLst>
                <a:ext uri="{FF2B5EF4-FFF2-40B4-BE49-F238E27FC236}">
                  <a16:creationId xmlns:a16="http://schemas.microsoft.com/office/drawing/2014/main" id="{54A41052-C49D-41E9-124C-2C9BA0C189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D5FA311D-3601-B39D-4070-9EE783FC9DE8}"/>
                </a:ext>
              </a:extLst>
            </p:cNvPr>
            <p:cNvSpPr txBox="1"/>
            <p:nvPr/>
          </p:nvSpPr>
          <p:spPr>
            <a:xfrm>
              <a:off x="1109203" y="2027338"/>
              <a:ext cx="798617" cy="307777"/>
            </a:xfrm>
            <a:prstGeom prst="rect">
              <a:avLst/>
            </a:prstGeom>
            <a:noFill/>
          </p:spPr>
          <p:txBody>
            <a:bodyPr wrap="none" rtlCol="0">
              <a:spAutoFit/>
            </a:bodyPr>
            <a:lstStyle/>
            <a:p>
              <a:pPr algn="l"/>
              <a:r>
                <a:rPr lang="en-US" altLang="zh-CN" sz="1400" dirty="0"/>
                <a:t>Story 2</a:t>
              </a:r>
              <a:endParaRPr lang="zh-CN" altLang="en-US" sz="1400" dirty="0"/>
            </a:p>
          </p:txBody>
        </p:sp>
      </p:grpSp>
      <p:grpSp>
        <p:nvGrpSpPr>
          <p:cNvPr id="25" name="组合 24">
            <a:extLst>
              <a:ext uri="{FF2B5EF4-FFF2-40B4-BE49-F238E27FC236}">
                <a16:creationId xmlns:a16="http://schemas.microsoft.com/office/drawing/2014/main" id="{AE16C672-3799-130A-9FB2-61E604D259DD}"/>
              </a:ext>
            </a:extLst>
          </p:cNvPr>
          <p:cNvGrpSpPr/>
          <p:nvPr/>
        </p:nvGrpSpPr>
        <p:grpSpPr>
          <a:xfrm>
            <a:off x="3125627" y="2272846"/>
            <a:ext cx="819150" cy="552450"/>
            <a:chOff x="1109203" y="1905001"/>
            <a:chExt cx="819150" cy="552450"/>
          </a:xfrm>
        </p:grpSpPr>
        <p:pic>
          <p:nvPicPr>
            <p:cNvPr id="26" name="Picture 4" descr="儿童卡通便利贴标签贴纸记事留言纸条PNG免抠设计元素PS装饰素材">
              <a:extLst>
                <a:ext uri="{FF2B5EF4-FFF2-40B4-BE49-F238E27FC236}">
                  <a16:creationId xmlns:a16="http://schemas.microsoft.com/office/drawing/2014/main" id="{D1F502B3-62F4-8D6C-0AF3-047884F237C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7" name="文本框 26">
              <a:extLst>
                <a:ext uri="{FF2B5EF4-FFF2-40B4-BE49-F238E27FC236}">
                  <a16:creationId xmlns:a16="http://schemas.microsoft.com/office/drawing/2014/main" id="{CA98248C-D516-01FD-C365-2FAB5055D597}"/>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3</a:t>
              </a:r>
              <a:endParaRPr lang="zh-CN" altLang="en-US" sz="1400" dirty="0"/>
            </a:p>
          </p:txBody>
        </p:sp>
      </p:grpSp>
      <p:grpSp>
        <p:nvGrpSpPr>
          <p:cNvPr id="28" name="组合 27">
            <a:extLst>
              <a:ext uri="{FF2B5EF4-FFF2-40B4-BE49-F238E27FC236}">
                <a16:creationId xmlns:a16="http://schemas.microsoft.com/office/drawing/2014/main" id="{1E852032-31C2-8770-CDC5-AC46687BAE95}"/>
              </a:ext>
            </a:extLst>
          </p:cNvPr>
          <p:cNvGrpSpPr/>
          <p:nvPr/>
        </p:nvGrpSpPr>
        <p:grpSpPr>
          <a:xfrm>
            <a:off x="4423408" y="1368950"/>
            <a:ext cx="819150" cy="552450"/>
            <a:chOff x="1109203" y="1905001"/>
            <a:chExt cx="819150" cy="552450"/>
          </a:xfrm>
        </p:grpSpPr>
        <p:pic>
          <p:nvPicPr>
            <p:cNvPr id="29" name="Picture 4" descr="儿童卡通便利贴标签贴纸记事留言纸条PNG免抠设计元素PS装饰素材">
              <a:extLst>
                <a:ext uri="{FF2B5EF4-FFF2-40B4-BE49-F238E27FC236}">
                  <a16:creationId xmlns:a16="http://schemas.microsoft.com/office/drawing/2014/main" id="{673D0B39-C8FC-6999-2862-8E988124F9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0" name="文本框 29">
              <a:extLst>
                <a:ext uri="{FF2B5EF4-FFF2-40B4-BE49-F238E27FC236}">
                  <a16:creationId xmlns:a16="http://schemas.microsoft.com/office/drawing/2014/main" id="{45BB1116-A284-F421-C6DB-7A561BD06820}"/>
                </a:ext>
              </a:extLst>
            </p:cNvPr>
            <p:cNvSpPr txBox="1"/>
            <p:nvPr/>
          </p:nvSpPr>
          <p:spPr>
            <a:xfrm>
              <a:off x="1109203" y="2027338"/>
              <a:ext cx="801823" cy="307777"/>
            </a:xfrm>
            <a:prstGeom prst="rect">
              <a:avLst/>
            </a:prstGeom>
            <a:noFill/>
          </p:spPr>
          <p:txBody>
            <a:bodyPr wrap="none" rtlCol="0">
              <a:spAutoFit/>
            </a:bodyPr>
            <a:lstStyle/>
            <a:p>
              <a:pPr algn="l"/>
              <a:r>
                <a:rPr lang="en-US" altLang="zh-CN" sz="1400" dirty="0"/>
                <a:t>Story 7</a:t>
              </a:r>
              <a:endParaRPr lang="zh-CN" altLang="en-US" sz="1400" dirty="0"/>
            </a:p>
          </p:txBody>
        </p:sp>
      </p:grpSp>
      <p:grpSp>
        <p:nvGrpSpPr>
          <p:cNvPr id="31" name="组合 30">
            <a:extLst>
              <a:ext uri="{FF2B5EF4-FFF2-40B4-BE49-F238E27FC236}">
                <a16:creationId xmlns:a16="http://schemas.microsoft.com/office/drawing/2014/main" id="{377B8105-D879-EC3B-4FBF-32E3FB198103}"/>
              </a:ext>
            </a:extLst>
          </p:cNvPr>
          <p:cNvGrpSpPr/>
          <p:nvPr/>
        </p:nvGrpSpPr>
        <p:grpSpPr>
          <a:xfrm>
            <a:off x="4625214" y="2150510"/>
            <a:ext cx="819150" cy="552450"/>
            <a:chOff x="1109203" y="1905001"/>
            <a:chExt cx="819150" cy="552450"/>
          </a:xfrm>
        </p:grpSpPr>
        <p:pic>
          <p:nvPicPr>
            <p:cNvPr id="32" name="Picture 4" descr="儿童卡通便利贴标签贴纸记事留言纸条PNG免抠设计元素PS装饰素材">
              <a:extLst>
                <a:ext uri="{FF2B5EF4-FFF2-40B4-BE49-F238E27FC236}">
                  <a16:creationId xmlns:a16="http://schemas.microsoft.com/office/drawing/2014/main" id="{4D9431F2-DDD7-2EEB-001F-C70D5324428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3" name="文本框 32">
              <a:extLst>
                <a:ext uri="{FF2B5EF4-FFF2-40B4-BE49-F238E27FC236}">
                  <a16:creationId xmlns:a16="http://schemas.microsoft.com/office/drawing/2014/main" id="{F5909125-1DE5-1088-FBD2-96CE58C4E9FE}"/>
                </a:ext>
              </a:extLst>
            </p:cNvPr>
            <p:cNvSpPr txBox="1"/>
            <p:nvPr/>
          </p:nvSpPr>
          <p:spPr>
            <a:xfrm>
              <a:off x="1109203" y="2027338"/>
              <a:ext cx="809837" cy="307777"/>
            </a:xfrm>
            <a:prstGeom prst="rect">
              <a:avLst/>
            </a:prstGeom>
            <a:noFill/>
          </p:spPr>
          <p:txBody>
            <a:bodyPr wrap="none" rtlCol="0">
              <a:spAutoFit/>
            </a:bodyPr>
            <a:lstStyle/>
            <a:p>
              <a:pPr algn="l"/>
              <a:r>
                <a:rPr lang="en-US" altLang="zh-CN" sz="1400" dirty="0"/>
                <a:t>Story 8</a:t>
              </a:r>
              <a:endParaRPr lang="zh-CN" altLang="en-US" sz="1400" dirty="0"/>
            </a:p>
          </p:txBody>
        </p:sp>
      </p:grpSp>
      <p:grpSp>
        <p:nvGrpSpPr>
          <p:cNvPr id="34" name="组合 33">
            <a:extLst>
              <a:ext uri="{FF2B5EF4-FFF2-40B4-BE49-F238E27FC236}">
                <a16:creationId xmlns:a16="http://schemas.microsoft.com/office/drawing/2014/main" id="{EBE34D74-6E47-6E87-8A32-0DA78E01DCF0}"/>
              </a:ext>
            </a:extLst>
          </p:cNvPr>
          <p:cNvGrpSpPr/>
          <p:nvPr/>
        </p:nvGrpSpPr>
        <p:grpSpPr>
          <a:xfrm>
            <a:off x="5478892" y="1828312"/>
            <a:ext cx="819150" cy="552450"/>
            <a:chOff x="1109203" y="1905001"/>
            <a:chExt cx="819150" cy="552450"/>
          </a:xfrm>
        </p:grpSpPr>
        <p:pic>
          <p:nvPicPr>
            <p:cNvPr id="35" name="Picture 4" descr="儿童卡通便利贴标签贴纸记事留言纸条PNG免抠设计元素PS装饰素材">
              <a:extLst>
                <a:ext uri="{FF2B5EF4-FFF2-40B4-BE49-F238E27FC236}">
                  <a16:creationId xmlns:a16="http://schemas.microsoft.com/office/drawing/2014/main" id="{E57564DC-45C9-2B71-C7C3-671B75B57E9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6" name="文本框 35">
              <a:extLst>
                <a:ext uri="{FF2B5EF4-FFF2-40B4-BE49-F238E27FC236}">
                  <a16:creationId xmlns:a16="http://schemas.microsoft.com/office/drawing/2014/main" id="{6DDFAF9F-809E-00BF-D845-F7356269F38C}"/>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6</a:t>
              </a:r>
              <a:endParaRPr lang="zh-CN" altLang="en-US" sz="1400" dirty="0"/>
            </a:p>
          </p:txBody>
        </p:sp>
      </p:grpSp>
      <p:grpSp>
        <p:nvGrpSpPr>
          <p:cNvPr id="37" name="组合 36">
            <a:extLst>
              <a:ext uri="{FF2B5EF4-FFF2-40B4-BE49-F238E27FC236}">
                <a16:creationId xmlns:a16="http://schemas.microsoft.com/office/drawing/2014/main" id="{B5CBA463-90FC-6532-5EF9-C003C5EE71DF}"/>
              </a:ext>
            </a:extLst>
          </p:cNvPr>
          <p:cNvGrpSpPr/>
          <p:nvPr/>
        </p:nvGrpSpPr>
        <p:grpSpPr>
          <a:xfrm>
            <a:off x="5257190" y="1051681"/>
            <a:ext cx="819150" cy="552450"/>
            <a:chOff x="1109203" y="1905001"/>
            <a:chExt cx="819150" cy="552450"/>
          </a:xfrm>
        </p:grpSpPr>
        <p:pic>
          <p:nvPicPr>
            <p:cNvPr id="38" name="Picture 4" descr="儿童卡通便利贴标签贴纸记事留言纸条PNG免抠设计元素PS装饰素材">
              <a:extLst>
                <a:ext uri="{FF2B5EF4-FFF2-40B4-BE49-F238E27FC236}">
                  <a16:creationId xmlns:a16="http://schemas.microsoft.com/office/drawing/2014/main" id="{C37659E6-CE17-60A8-16AF-1E1F52D8B6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9" name="文本框 38">
              <a:extLst>
                <a:ext uri="{FF2B5EF4-FFF2-40B4-BE49-F238E27FC236}">
                  <a16:creationId xmlns:a16="http://schemas.microsoft.com/office/drawing/2014/main" id="{52378656-0A37-D2AA-AAA3-9979CC07626F}"/>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5</a:t>
              </a:r>
              <a:endParaRPr lang="zh-CN" altLang="en-US" sz="1400" dirty="0"/>
            </a:p>
          </p:txBody>
        </p:sp>
      </p:grpSp>
      <p:grpSp>
        <p:nvGrpSpPr>
          <p:cNvPr id="40" name="组合 39">
            <a:extLst>
              <a:ext uri="{FF2B5EF4-FFF2-40B4-BE49-F238E27FC236}">
                <a16:creationId xmlns:a16="http://schemas.microsoft.com/office/drawing/2014/main" id="{F393B270-98AB-432E-84BD-E372DB177F88}"/>
              </a:ext>
            </a:extLst>
          </p:cNvPr>
          <p:cNvGrpSpPr/>
          <p:nvPr/>
        </p:nvGrpSpPr>
        <p:grpSpPr>
          <a:xfrm>
            <a:off x="6267254" y="1535988"/>
            <a:ext cx="819150" cy="552450"/>
            <a:chOff x="1109203" y="1905001"/>
            <a:chExt cx="819150" cy="552450"/>
          </a:xfrm>
        </p:grpSpPr>
        <p:pic>
          <p:nvPicPr>
            <p:cNvPr id="41" name="Picture 4" descr="儿童卡通便利贴标签贴纸记事留言纸条PNG免抠设计元素PS装饰素材">
              <a:extLst>
                <a:ext uri="{FF2B5EF4-FFF2-40B4-BE49-F238E27FC236}">
                  <a16:creationId xmlns:a16="http://schemas.microsoft.com/office/drawing/2014/main" id="{204F6B62-5BC2-9C2F-201B-9FC619105F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2" name="文本框 41">
              <a:extLst>
                <a:ext uri="{FF2B5EF4-FFF2-40B4-BE49-F238E27FC236}">
                  <a16:creationId xmlns:a16="http://schemas.microsoft.com/office/drawing/2014/main" id="{DF398429-981A-776F-3B77-63BBEE9586CD}"/>
                </a:ext>
              </a:extLst>
            </p:cNvPr>
            <p:cNvSpPr txBox="1"/>
            <p:nvPr/>
          </p:nvSpPr>
          <p:spPr>
            <a:xfrm>
              <a:off x="1109203" y="2027338"/>
              <a:ext cx="814647" cy="307777"/>
            </a:xfrm>
            <a:prstGeom prst="rect">
              <a:avLst/>
            </a:prstGeom>
            <a:noFill/>
          </p:spPr>
          <p:txBody>
            <a:bodyPr wrap="none" rtlCol="0">
              <a:spAutoFit/>
            </a:bodyPr>
            <a:lstStyle/>
            <a:p>
              <a:pPr algn="l"/>
              <a:r>
                <a:rPr lang="en-US" altLang="zh-CN" sz="1400" dirty="0"/>
                <a:t>Story 4</a:t>
              </a:r>
              <a:endParaRPr lang="zh-CN" altLang="en-US" sz="1400" dirty="0"/>
            </a:p>
          </p:txBody>
        </p:sp>
      </p:grpSp>
      <p:grpSp>
        <p:nvGrpSpPr>
          <p:cNvPr id="43" name="组合 42">
            <a:extLst>
              <a:ext uri="{FF2B5EF4-FFF2-40B4-BE49-F238E27FC236}">
                <a16:creationId xmlns:a16="http://schemas.microsoft.com/office/drawing/2014/main" id="{D0AE1E1E-7999-6283-AF47-1154C5DEF02C}"/>
              </a:ext>
            </a:extLst>
          </p:cNvPr>
          <p:cNvGrpSpPr/>
          <p:nvPr/>
        </p:nvGrpSpPr>
        <p:grpSpPr>
          <a:xfrm>
            <a:off x="7393240" y="1235135"/>
            <a:ext cx="819150" cy="552450"/>
            <a:chOff x="1109203" y="1905001"/>
            <a:chExt cx="819150" cy="552450"/>
          </a:xfrm>
        </p:grpSpPr>
        <p:pic>
          <p:nvPicPr>
            <p:cNvPr id="44" name="Picture 4" descr="儿童卡通便利贴标签贴纸记事留言纸条PNG免抠设计元素PS装饰素材">
              <a:extLst>
                <a:ext uri="{FF2B5EF4-FFF2-40B4-BE49-F238E27FC236}">
                  <a16:creationId xmlns:a16="http://schemas.microsoft.com/office/drawing/2014/main" id="{AC439BB0-65BE-22D3-7431-50A34C083A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5" name="文本框 44">
              <a:extLst>
                <a:ext uri="{FF2B5EF4-FFF2-40B4-BE49-F238E27FC236}">
                  <a16:creationId xmlns:a16="http://schemas.microsoft.com/office/drawing/2014/main" id="{12802A85-0643-BE36-0F03-4D0F1CA4E5F3}"/>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9</a:t>
              </a:r>
              <a:endParaRPr lang="zh-CN" altLang="en-US" sz="1400" dirty="0"/>
            </a:p>
          </p:txBody>
        </p:sp>
      </p:grpSp>
      <p:grpSp>
        <p:nvGrpSpPr>
          <p:cNvPr id="46" name="组合 45">
            <a:extLst>
              <a:ext uri="{FF2B5EF4-FFF2-40B4-BE49-F238E27FC236}">
                <a16:creationId xmlns:a16="http://schemas.microsoft.com/office/drawing/2014/main" id="{A12C462A-6137-3009-1C78-F6AE5662FB14}"/>
              </a:ext>
            </a:extLst>
          </p:cNvPr>
          <p:cNvGrpSpPr/>
          <p:nvPr/>
        </p:nvGrpSpPr>
        <p:grpSpPr>
          <a:xfrm>
            <a:off x="7351588" y="1814671"/>
            <a:ext cx="878767" cy="552450"/>
            <a:chOff x="1069875" y="1905001"/>
            <a:chExt cx="878767" cy="552450"/>
          </a:xfrm>
        </p:grpSpPr>
        <p:pic>
          <p:nvPicPr>
            <p:cNvPr id="47" name="Picture 4" descr="儿童卡通便利贴标签贴纸记事留言纸条PNG免抠设计元素PS装饰素材">
              <a:extLst>
                <a:ext uri="{FF2B5EF4-FFF2-40B4-BE49-F238E27FC236}">
                  <a16:creationId xmlns:a16="http://schemas.microsoft.com/office/drawing/2014/main" id="{7542241F-0D5C-A0A3-6A50-F06F97EA57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8" name="文本框 47">
              <a:extLst>
                <a:ext uri="{FF2B5EF4-FFF2-40B4-BE49-F238E27FC236}">
                  <a16:creationId xmlns:a16="http://schemas.microsoft.com/office/drawing/2014/main" id="{0C011FC7-E368-ED9F-8EBB-D1C24CB9B018}"/>
                </a:ext>
              </a:extLst>
            </p:cNvPr>
            <p:cNvSpPr txBox="1"/>
            <p:nvPr/>
          </p:nvSpPr>
          <p:spPr>
            <a:xfrm>
              <a:off x="1069875" y="2027338"/>
              <a:ext cx="878767" cy="307777"/>
            </a:xfrm>
            <a:prstGeom prst="rect">
              <a:avLst/>
            </a:prstGeom>
            <a:noFill/>
          </p:spPr>
          <p:txBody>
            <a:bodyPr wrap="none" rtlCol="0">
              <a:spAutoFit/>
            </a:bodyPr>
            <a:lstStyle/>
            <a:p>
              <a:pPr algn="l"/>
              <a:r>
                <a:rPr lang="en-US" altLang="zh-CN" sz="1400" dirty="0"/>
                <a:t>Story 10</a:t>
              </a:r>
              <a:endParaRPr lang="zh-CN" altLang="en-US" sz="1400" dirty="0"/>
            </a:p>
          </p:txBody>
        </p:sp>
      </p:grpSp>
      <p:grpSp>
        <p:nvGrpSpPr>
          <p:cNvPr id="49" name="组合 48">
            <a:extLst>
              <a:ext uri="{FF2B5EF4-FFF2-40B4-BE49-F238E27FC236}">
                <a16:creationId xmlns:a16="http://schemas.microsoft.com/office/drawing/2014/main" id="{E8504EB6-A1DB-3D46-E0DB-DD24C6979DD0}"/>
              </a:ext>
            </a:extLst>
          </p:cNvPr>
          <p:cNvGrpSpPr/>
          <p:nvPr/>
        </p:nvGrpSpPr>
        <p:grpSpPr>
          <a:xfrm>
            <a:off x="8472407" y="1357471"/>
            <a:ext cx="858478" cy="552450"/>
            <a:chOff x="1069875" y="1905001"/>
            <a:chExt cx="858478" cy="552450"/>
          </a:xfrm>
        </p:grpSpPr>
        <p:pic>
          <p:nvPicPr>
            <p:cNvPr id="50" name="Picture 4" descr="儿童卡通便利贴标签贴纸记事留言纸条PNG免抠设计元素PS装饰素材">
              <a:extLst>
                <a:ext uri="{FF2B5EF4-FFF2-40B4-BE49-F238E27FC236}">
                  <a16:creationId xmlns:a16="http://schemas.microsoft.com/office/drawing/2014/main" id="{919CB746-6CF7-D017-C1A4-81AB164D72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1" name="文本框 50">
              <a:extLst>
                <a:ext uri="{FF2B5EF4-FFF2-40B4-BE49-F238E27FC236}">
                  <a16:creationId xmlns:a16="http://schemas.microsoft.com/office/drawing/2014/main" id="{9BF62C5E-4C5F-B79E-14BA-48812EF57FA9}"/>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2" name="组合 51">
            <a:extLst>
              <a:ext uri="{FF2B5EF4-FFF2-40B4-BE49-F238E27FC236}">
                <a16:creationId xmlns:a16="http://schemas.microsoft.com/office/drawing/2014/main" id="{A98C2DAE-D22C-E678-06F1-BD291C3FA1F2}"/>
              </a:ext>
            </a:extLst>
          </p:cNvPr>
          <p:cNvGrpSpPr/>
          <p:nvPr/>
        </p:nvGrpSpPr>
        <p:grpSpPr>
          <a:xfrm>
            <a:off x="8511735" y="2109745"/>
            <a:ext cx="858478" cy="552450"/>
            <a:chOff x="1069875" y="1905001"/>
            <a:chExt cx="858478" cy="552450"/>
          </a:xfrm>
        </p:grpSpPr>
        <p:pic>
          <p:nvPicPr>
            <p:cNvPr id="53" name="Picture 4" descr="儿童卡通便利贴标签贴纸记事留言纸条PNG免抠设计元素PS装饰素材">
              <a:extLst>
                <a:ext uri="{FF2B5EF4-FFF2-40B4-BE49-F238E27FC236}">
                  <a16:creationId xmlns:a16="http://schemas.microsoft.com/office/drawing/2014/main" id="{EABCF17E-4BD1-A80B-D0DD-79989E1B1F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4" name="文本框 53">
              <a:extLst>
                <a:ext uri="{FF2B5EF4-FFF2-40B4-BE49-F238E27FC236}">
                  <a16:creationId xmlns:a16="http://schemas.microsoft.com/office/drawing/2014/main" id="{307BFE6A-3AA2-D900-BB49-4CCD77554B5F}"/>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grpSp>
        <p:nvGrpSpPr>
          <p:cNvPr id="55" name="组合 54">
            <a:extLst>
              <a:ext uri="{FF2B5EF4-FFF2-40B4-BE49-F238E27FC236}">
                <a16:creationId xmlns:a16="http://schemas.microsoft.com/office/drawing/2014/main" id="{26E61E71-74E3-B833-5C92-89C3D0A6CB6E}"/>
              </a:ext>
            </a:extLst>
          </p:cNvPr>
          <p:cNvGrpSpPr/>
          <p:nvPr/>
        </p:nvGrpSpPr>
        <p:grpSpPr>
          <a:xfrm>
            <a:off x="9452913" y="1700331"/>
            <a:ext cx="858478" cy="552450"/>
            <a:chOff x="1069875" y="1905001"/>
            <a:chExt cx="858478" cy="552450"/>
          </a:xfrm>
        </p:grpSpPr>
        <p:pic>
          <p:nvPicPr>
            <p:cNvPr id="56" name="Picture 4" descr="儿童卡通便利贴标签贴纸记事留言纸条PNG免抠设计元素PS装饰素材">
              <a:extLst>
                <a:ext uri="{FF2B5EF4-FFF2-40B4-BE49-F238E27FC236}">
                  <a16:creationId xmlns:a16="http://schemas.microsoft.com/office/drawing/2014/main" id="{A4340589-03EA-0161-2CE0-44E9CC017AE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7" name="文本框 56">
              <a:extLst>
                <a:ext uri="{FF2B5EF4-FFF2-40B4-BE49-F238E27FC236}">
                  <a16:creationId xmlns:a16="http://schemas.microsoft.com/office/drawing/2014/main" id="{37BA5B63-B3E8-3451-47E6-32F461A3EDB8}"/>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spTree>
    <p:extLst>
      <p:ext uri="{BB962C8B-B14F-4D97-AF65-F5344CB8AC3E}">
        <p14:creationId xmlns:p14="http://schemas.microsoft.com/office/powerpoint/2010/main" val="1784191622"/>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EAF5D-689B-4AF3-BB04-D41C4FEC87B5}"/>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58E6D35-85A6-43D4-7464-253D9458618E}"/>
              </a:ext>
            </a:extLst>
          </p:cNvPr>
          <p:cNvGraphicFramePr>
            <a:graphicFrameLocks noGrp="1"/>
          </p:cNvGraphicFramePr>
          <p:nvPr>
            <p:extLst>
              <p:ext uri="{D42A27DB-BD31-4B8C-83A1-F6EECF244321}">
                <p14:modId xmlns:p14="http://schemas.microsoft.com/office/powerpoint/2010/main" val="755233854"/>
              </p:ext>
            </p:extLst>
          </p:nvPr>
        </p:nvGraphicFramePr>
        <p:xfrm>
          <a:off x="2856000" y="3240000"/>
          <a:ext cx="7560000" cy="329184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01861">
                <a:tc gridSpan="7">
                  <a:txBody>
                    <a:bodyPr/>
                    <a:lstStyle/>
                    <a:p>
                      <a:pPr>
                        <a:buNone/>
                      </a:pPr>
                      <a:r>
                        <a:rPr lang="en-US" altLang="zh-CN" sz="1600" dirty="0">
                          <a:solidFill>
                            <a:srgbClr val="FFFF00"/>
                          </a:solidFill>
                        </a:rPr>
                        <a:t>Step 3 </a:t>
                      </a:r>
                      <a:r>
                        <a:rPr lang="zh-CN" altLang="en-US" sz="1600" dirty="0">
                          <a:solidFill>
                            <a:schemeClr val="bg1"/>
                          </a:solidFill>
                        </a:rPr>
                        <a:t>统计估算；每列的故事点</a:t>
                      </a:r>
                      <a:r>
                        <a:rPr lang="en-US" altLang="zh-CN" sz="1600" dirty="0">
                          <a:solidFill>
                            <a:schemeClr val="bg1"/>
                          </a:solidFill>
                        </a:rPr>
                        <a:t>/</a:t>
                      </a:r>
                      <a:r>
                        <a:rPr lang="zh-CN" altLang="en-US" sz="1600" dirty="0">
                          <a:solidFill>
                            <a:schemeClr val="bg1"/>
                          </a:solidFill>
                        </a:rPr>
                        <a:t>权值和个数相乘，最后相加</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01861">
                <a:tc gridSpan="7">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83510">
                <a:tc>
                  <a:txBody>
                    <a:bodyPr/>
                    <a:lstStyle/>
                    <a:p>
                      <a:pPr algn="ctr">
                        <a:buNone/>
                      </a:pPr>
                      <a:r>
                        <a:rPr lang="en-US" altLang="zh-CN" sz="1400" dirty="0">
                          <a:solidFill>
                            <a:schemeClr val="bg1"/>
                          </a:solidFill>
                        </a:rPr>
                        <a:t>XS</a:t>
                      </a: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S</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rowSpan="2">
                  <a:txBody>
                    <a:bodyPr/>
                    <a:lstStyle/>
                    <a:p>
                      <a:pPr algn="ctr">
                        <a:buNone/>
                      </a:pPr>
                      <a:r>
                        <a:rPr lang="en-US" altLang="zh-CN" sz="1400" dirty="0">
                          <a:solidFill>
                            <a:schemeClr val="bg1"/>
                          </a:solidFill>
                        </a:rPr>
                        <a:t>???</a:t>
                      </a: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08258967"/>
                  </a:ext>
                </a:extLst>
              </a:tr>
              <a:tr h="183510">
                <a:tc>
                  <a:txBody>
                    <a:bodyPr/>
                    <a:lstStyle/>
                    <a:p>
                      <a:pPr algn="ctr">
                        <a:buNone/>
                      </a:pPr>
                      <a:r>
                        <a:rPr lang="en-US" sz="1400" dirty="0">
                          <a:solidFill>
                            <a:schemeClr val="bg1"/>
                          </a:solidFill>
                        </a:rPr>
                        <a:t>1</a:t>
                      </a: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rgbClr val="FFFF00"/>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4750331"/>
                  </a:ext>
                </a:extLst>
              </a:tr>
              <a:tr h="201861">
                <a:tc>
                  <a:txBody>
                    <a:bodyPr/>
                    <a:lstStyle/>
                    <a:p>
                      <a:pPr algn="ctr">
                        <a:buNone/>
                      </a:pPr>
                      <a:r>
                        <a:rPr lang="en-US" sz="1600" dirty="0">
                          <a:solidFill>
                            <a:schemeClr val="bg1"/>
                          </a:solidFill>
                        </a:rPr>
                        <a:t>1</a:t>
                      </a:r>
                      <a:r>
                        <a:rPr lang="en-US" altLang="zh-CN" sz="1600" dirty="0">
                          <a:solidFill>
                            <a:schemeClr val="bg1"/>
                          </a:solidFill>
                        </a:rPr>
                        <a:t>×1=1</a:t>
                      </a:r>
                      <a:endParaRPr lang="en-US" sz="1600" dirty="0">
                        <a:solidFill>
                          <a:schemeClr val="bg1"/>
                        </a:solidFill>
                      </a:endParaRPr>
                    </a:p>
                  </a:txBody>
                  <a:tcPr anchor="ctr">
                    <a:lnL w="6350" cap="flat" cmpd="sng" algn="ctr">
                      <a:noFill/>
                      <a:prstDash val="solid"/>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600" dirty="0">
                          <a:solidFill>
                            <a:schemeClr val="bg1"/>
                          </a:solidFill>
                        </a:rPr>
                        <a:t>2</a:t>
                      </a:r>
                      <a:r>
                        <a:rPr lang="en-US" altLang="zh-CN" sz="1600" dirty="0">
                          <a:solidFill>
                            <a:schemeClr val="bg1"/>
                          </a:solidFill>
                        </a:rPr>
                        <a:t>×1=2</a:t>
                      </a:r>
                      <a:endParaRPr 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3×2=6</a:t>
                      </a: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5×1=5</a:t>
                      </a:r>
                    </a:p>
                  </a:txBody>
                  <a:tcPr anchor="ctr">
                    <a:lnL>
                      <a:noFill/>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8×2=16</a:t>
                      </a:r>
                    </a:p>
                  </a:txBody>
                  <a:tcPr anchor="ctr">
                    <a:lnL>
                      <a:noFill/>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13×3=39</a:t>
                      </a:r>
                      <a:endParaRPr lang="zh-CN" altLang="en-US" sz="1600" dirty="0">
                        <a:solidFill>
                          <a:schemeClr val="bg1"/>
                        </a:solidFill>
                      </a:endParaRPr>
                    </a:p>
                  </a:txBody>
                  <a:tcPr anchor="ctr">
                    <a:lnL>
                      <a:noFill/>
                    </a:lnL>
                    <a:lnR w="63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1633680"/>
                  </a:ext>
                </a:extLst>
              </a:tr>
            </a:tbl>
          </a:graphicData>
        </a:graphic>
      </p:graphicFrame>
      <p:graphicFrame>
        <p:nvGraphicFramePr>
          <p:cNvPr id="12" name="表格 11">
            <a:extLst>
              <a:ext uri="{FF2B5EF4-FFF2-40B4-BE49-F238E27FC236}">
                <a16:creationId xmlns:a16="http://schemas.microsoft.com/office/drawing/2014/main" id="{7E160241-D231-B7AE-6480-84209CE6A428}"/>
              </a:ext>
            </a:extLst>
          </p:cNvPr>
          <p:cNvGraphicFramePr>
            <a:graphicFrameLocks noGrp="1"/>
          </p:cNvGraphicFramePr>
          <p:nvPr>
            <p:extLst>
              <p:ext uri="{D42A27DB-BD31-4B8C-83A1-F6EECF244321}">
                <p14:modId xmlns:p14="http://schemas.microsoft.com/office/powerpoint/2010/main" val="165974928"/>
              </p:ext>
            </p:extLst>
          </p:nvPr>
        </p:nvGraphicFramePr>
        <p:xfrm>
          <a:off x="2856000" y="360000"/>
          <a:ext cx="7560000" cy="280416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22641">
                <a:tc gridSpan="7">
                  <a:txBody>
                    <a:bodyPr/>
                    <a:lstStyle/>
                    <a:p>
                      <a:pPr>
                        <a:buNone/>
                      </a:pPr>
                      <a:r>
                        <a:rPr lang="en-US" altLang="zh-CN" sz="1600" dirty="0">
                          <a:solidFill>
                            <a:srgbClr val="FFFF00"/>
                          </a:solidFill>
                        </a:rPr>
                        <a:t>Step 2 </a:t>
                      </a:r>
                      <a:r>
                        <a:rPr lang="zh-CN" altLang="en-US" sz="1600" dirty="0">
                          <a:solidFill>
                            <a:schemeClr val="bg1"/>
                          </a:solidFill>
                        </a:rPr>
                        <a:t>估算故事点；分歧较大的，暂放待定区；需更多信息无法确定时，搁置区</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22641">
                <a:tc gridSpan="7">
                  <a:txBody>
                    <a:bodyPr/>
                    <a:lstStyle/>
                    <a:p>
                      <a:pPr algn="ctr">
                        <a:buNone/>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202401">
                <a:tc>
                  <a:txBody>
                    <a:bodyPr/>
                    <a:lstStyle/>
                    <a:p>
                      <a:pPr algn="ctr">
                        <a:buNone/>
                      </a:pPr>
                      <a:r>
                        <a:rPr lang="en-US" altLang="zh-CN" sz="1400" dirty="0">
                          <a:solidFill>
                            <a:schemeClr val="bg1"/>
                          </a:solidFill>
                        </a:rPr>
                        <a:t>XS</a:t>
                      </a: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S</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rowSpan="2">
                  <a:txBody>
                    <a:bodyPr/>
                    <a:lstStyle/>
                    <a:p>
                      <a:pPr algn="ctr">
                        <a:buNone/>
                      </a:pPr>
                      <a:r>
                        <a:rPr lang="en-US" altLang="zh-CN" sz="1400" dirty="0">
                          <a:solidFill>
                            <a:schemeClr val="bg1"/>
                          </a:solidFill>
                        </a:rPr>
                        <a:t>???</a:t>
                      </a: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08258967"/>
                  </a:ext>
                </a:extLst>
              </a:tr>
              <a:tr h="202401">
                <a:tc>
                  <a:txBody>
                    <a:bodyPr/>
                    <a:lstStyle/>
                    <a:p>
                      <a:pPr algn="ctr">
                        <a:buNone/>
                      </a:pPr>
                      <a:r>
                        <a:rPr lang="en-US" sz="1400" dirty="0">
                          <a:solidFill>
                            <a:schemeClr val="bg1"/>
                          </a:solidFill>
                        </a:rPr>
                        <a:t>1</a:t>
                      </a: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382090224"/>
                  </a:ext>
                </a:extLst>
              </a:tr>
              <a:tr h="202401">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2401">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2401">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52731299"/>
                  </a:ext>
                </a:extLst>
              </a:tr>
            </a:tbl>
          </a:graphicData>
        </a:graphic>
      </p:graphicFrame>
      <p:sp>
        <p:nvSpPr>
          <p:cNvPr id="13" name="文本框 12">
            <a:extLst>
              <a:ext uri="{FF2B5EF4-FFF2-40B4-BE49-F238E27FC236}">
                <a16:creationId xmlns:a16="http://schemas.microsoft.com/office/drawing/2014/main" id="{D01BFB1F-87F8-D087-31CF-ED2A4A5658FE}"/>
              </a:ext>
            </a:extLst>
          </p:cNvPr>
          <p:cNvSpPr txBox="1"/>
          <p:nvPr/>
        </p:nvSpPr>
        <p:spPr>
          <a:xfrm>
            <a:off x="1534674" y="6174174"/>
            <a:ext cx="1167307" cy="338554"/>
          </a:xfrm>
          <a:prstGeom prst="rect">
            <a:avLst/>
          </a:prstGeom>
          <a:noFill/>
        </p:spPr>
        <p:txBody>
          <a:bodyPr wrap="none" rtlCol="0">
            <a:spAutoFit/>
          </a:bodyPr>
          <a:lstStyle/>
          <a:p>
            <a:r>
              <a:rPr lang="en-US" altLang="zh-CN" sz="1600" dirty="0">
                <a:solidFill>
                  <a:srgbClr val="FFFF00"/>
                </a:solidFill>
              </a:rPr>
              <a:t>Total = 69</a:t>
            </a:r>
            <a:endParaRPr lang="zh-CN" altLang="en-US" sz="1600" dirty="0">
              <a:solidFill>
                <a:srgbClr val="FFFF00"/>
              </a:solidFill>
            </a:endParaRPr>
          </a:p>
        </p:txBody>
      </p:sp>
      <p:grpSp>
        <p:nvGrpSpPr>
          <p:cNvPr id="14" name="组合 13">
            <a:extLst>
              <a:ext uri="{FF2B5EF4-FFF2-40B4-BE49-F238E27FC236}">
                <a16:creationId xmlns:a16="http://schemas.microsoft.com/office/drawing/2014/main" id="{7AA5CBF4-6D40-0749-BF5B-1637E41AB61E}"/>
              </a:ext>
            </a:extLst>
          </p:cNvPr>
          <p:cNvGrpSpPr/>
          <p:nvPr/>
        </p:nvGrpSpPr>
        <p:grpSpPr>
          <a:xfrm>
            <a:off x="2942841" y="1996440"/>
            <a:ext cx="858478" cy="552450"/>
            <a:chOff x="1069875" y="1905001"/>
            <a:chExt cx="858478" cy="552450"/>
          </a:xfrm>
        </p:grpSpPr>
        <p:pic>
          <p:nvPicPr>
            <p:cNvPr id="15" name="Picture 4" descr="儿童卡通便利贴标签贴纸记事留言纸条PNG免抠设计元素PS装饰素材">
              <a:extLst>
                <a:ext uri="{FF2B5EF4-FFF2-40B4-BE49-F238E27FC236}">
                  <a16:creationId xmlns:a16="http://schemas.microsoft.com/office/drawing/2014/main" id="{FEB00A1C-0B27-5DE7-3682-B73E2061EBC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16" name="文本框 15">
              <a:extLst>
                <a:ext uri="{FF2B5EF4-FFF2-40B4-BE49-F238E27FC236}">
                  <a16:creationId xmlns:a16="http://schemas.microsoft.com/office/drawing/2014/main" id="{59F1280F-703D-E1A0-C556-5D0C9E1F5876}"/>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17" name="组合 16">
            <a:extLst>
              <a:ext uri="{FF2B5EF4-FFF2-40B4-BE49-F238E27FC236}">
                <a16:creationId xmlns:a16="http://schemas.microsoft.com/office/drawing/2014/main" id="{4963D4B1-1CE2-E170-A1E0-AA5A3C6F0FC1}"/>
              </a:ext>
            </a:extLst>
          </p:cNvPr>
          <p:cNvGrpSpPr/>
          <p:nvPr/>
        </p:nvGrpSpPr>
        <p:grpSpPr>
          <a:xfrm>
            <a:off x="4053887" y="1996440"/>
            <a:ext cx="838814" cy="552450"/>
            <a:chOff x="1089539" y="1905001"/>
            <a:chExt cx="838814" cy="552450"/>
          </a:xfrm>
        </p:grpSpPr>
        <p:pic>
          <p:nvPicPr>
            <p:cNvPr id="18" name="Picture 4" descr="儿童卡通便利贴标签贴纸记事留言纸条PNG免抠设计元素PS装饰素材">
              <a:extLst>
                <a:ext uri="{FF2B5EF4-FFF2-40B4-BE49-F238E27FC236}">
                  <a16:creationId xmlns:a16="http://schemas.microsoft.com/office/drawing/2014/main" id="{0EC7EE6E-C880-ECAB-DAB3-C0E134D4C7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19" name="文本框 18">
              <a:extLst>
                <a:ext uri="{FF2B5EF4-FFF2-40B4-BE49-F238E27FC236}">
                  <a16:creationId xmlns:a16="http://schemas.microsoft.com/office/drawing/2014/main" id="{32503799-DC14-0C55-F335-03B75E1DA58E}"/>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20" name="组合 19">
            <a:extLst>
              <a:ext uri="{FF2B5EF4-FFF2-40B4-BE49-F238E27FC236}">
                <a16:creationId xmlns:a16="http://schemas.microsoft.com/office/drawing/2014/main" id="{214E88AA-E302-A5E6-AE4D-FD7C42881086}"/>
              </a:ext>
            </a:extLst>
          </p:cNvPr>
          <p:cNvGrpSpPr/>
          <p:nvPr/>
        </p:nvGrpSpPr>
        <p:grpSpPr>
          <a:xfrm>
            <a:off x="5194179" y="1957112"/>
            <a:ext cx="830799" cy="552450"/>
            <a:chOff x="1097554" y="1905001"/>
            <a:chExt cx="830799" cy="552450"/>
          </a:xfrm>
        </p:grpSpPr>
        <p:pic>
          <p:nvPicPr>
            <p:cNvPr id="21" name="Picture 4" descr="儿童卡通便利贴标签贴纸记事留言纸条PNG免抠设计元素PS装饰素材">
              <a:extLst>
                <a:ext uri="{FF2B5EF4-FFF2-40B4-BE49-F238E27FC236}">
                  <a16:creationId xmlns:a16="http://schemas.microsoft.com/office/drawing/2014/main" id="{642552C5-B46D-6975-071D-703512357B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2" name="文本框 21">
              <a:extLst>
                <a:ext uri="{FF2B5EF4-FFF2-40B4-BE49-F238E27FC236}">
                  <a16:creationId xmlns:a16="http://schemas.microsoft.com/office/drawing/2014/main" id="{A1E58E68-CDC1-DA5E-341A-FBB85253A48C}"/>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23" name="组合 22">
            <a:extLst>
              <a:ext uri="{FF2B5EF4-FFF2-40B4-BE49-F238E27FC236}">
                <a16:creationId xmlns:a16="http://schemas.microsoft.com/office/drawing/2014/main" id="{83277A85-1692-8504-EE90-8F4AF9F9EA7F}"/>
              </a:ext>
            </a:extLst>
          </p:cNvPr>
          <p:cNvGrpSpPr/>
          <p:nvPr/>
        </p:nvGrpSpPr>
        <p:grpSpPr>
          <a:xfrm>
            <a:off x="5212240" y="2422217"/>
            <a:ext cx="832402" cy="552450"/>
            <a:chOff x="1095951" y="1905001"/>
            <a:chExt cx="832402" cy="552450"/>
          </a:xfrm>
        </p:grpSpPr>
        <p:pic>
          <p:nvPicPr>
            <p:cNvPr id="24" name="Picture 4" descr="儿童卡通便利贴标签贴纸记事留言纸条PNG免抠设计元素PS装饰素材">
              <a:extLst>
                <a:ext uri="{FF2B5EF4-FFF2-40B4-BE49-F238E27FC236}">
                  <a16:creationId xmlns:a16="http://schemas.microsoft.com/office/drawing/2014/main" id="{F4FF385B-5D4D-C4B3-B628-B6B84103147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5" name="文本框 24">
              <a:extLst>
                <a:ext uri="{FF2B5EF4-FFF2-40B4-BE49-F238E27FC236}">
                  <a16:creationId xmlns:a16="http://schemas.microsoft.com/office/drawing/2014/main" id="{0540AB4F-3A86-953A-7B6B-3835FE02D9FA}"/>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26" name="组合 25">
            <a:extLst>
              <a:ext uri="{FF2B5EF4-FFF2-40B4-BE49-F238E27FC236}">
                <a16:creationId xmlns:a16="http://schemas.microsoft.com/office/drawing/2014/main" id="{DD91EC56-952C-F09A-51BA-B604B871DD62}"/>
              </a:ext>
            </a:extLst>
          </p:cNvPr>
          <p:cNvGrpSpPr/>
          <p:nvPr/>
        </p:nvGrpSpPr>
        <p:grpSpPr>
          <a:xfrm>
            <a:off x="6183339" y="1996440"/>
            <a:ext cx="878767" cy="552450"/>
            <a:chOff x="1057479" y="1905001"/>
            <a:chExt cx="878767" cy="552450"/>
          </a:xfrm>
        </p:grpSpPr>
        <p:pic>
          <p:nvPicPr>
            <p:cNvPr id="27" name="Picture 4" descr="儿童卡通便利贴标签贴纸记事留言纸条PNG免抠设计元素PS装饰素材">
              <a:extLst>
                <a:ext uri="{FF2B5EF4-FFF2-40B4-BE49-F238E27FC236}">
                  <a16:creationId xmlns:a16="http://schemas.microsoft.com/office/drawing/2014/main" id="{3ECE0D58-14A7-1830-A511-6142CDA98B9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8" name="文本框 27">
              <a:extLst>
                <a:ext uri="{FF2B5EF4-FFF2-40B4-BE49-F238E27FC236}">
                  <a16:creationId xmlns:a16="http://schemas.microsoft.com/office/drawing/2014/main" id="{2E9B1419-0E71-E11D-0586-F05465B624D1}"/>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29" name="组合 28">
            <a:extLst>
              <a:ext uri="{FF2B5EF4-FFF2-40B4-BE49-F238E27FC236}">
                <a16:creationId xmlns:a16="http://schemas.microsoft.com/office/drawing/2014/main" id="{307B8195-147C-1D83-F62D-D9DA405985DF}"/>
              </a:ext>
            </a:extLst>
          </p:cNvPr>
          <p:cNvGrpSpPr/>
          <p:nvPr/>
        </p:nvGrpSpPr>
        <p:grpSpPr>
          <a:xfrm>
            <a:off x="7391507" y="1957112"/>
            <a:ext cx="819150" cy="552450"/>
            <a:chOff x="1109203" y="1905001"/>
            <a:chExt cx="819150" cy="552450"/>
          </a:xfrm>
        </p:grpSpPr>
        <p:pic>
          <p:nvPicPr>
            <p:cNvPr id="30" name="Picture 4" descr="儿童卡通便利贴标签贴纸记事留言纸条PNG免抠设计元素PS装饰素材">
              <a:extLst>
                <a:ext uri="{FF2B5EF4-FFF2-40B4-BE49-F238E27FC236}">
                  <a16:creationId xmlns:a16="http://schemas.microsoft.com/office/drawing/2014/main" id="{1C7E522F-A782-C82A-D6BC-A3CCB0B9001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1" name="文本框 30">
              <a:extLst>
                <a:ext uri="{FF2B5EF4-FFF2-40B4-BE49-F238E27FC236}">
                  <a16:creationId xmlns:a16="http://schemas.microsoft.com/office/drawing/2014/main" id="{75B9BE74-FF01-729F-8900-7A01CC6E2057}"/>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32" name="组合 31">
            <a:extLst>
              <a:ext uri="{FF2B5EF4-FFF2-40B4-BE49-F238E27FC236}">
                <a16:creationId xmlns:a16="http://schemas.microsoft.com/office/drawing/2014/main" id="{3ED60018-6A5E-B91C-60D0-8A8FF6714494}"/>
              </a:ext>
            </a:extLst>
          </p:cNvPr>
          <p:cNvGrpSpPr/>
          <p:nvPr/>
        </p:nvGrpSpPr>
        <p:grpSpPr>
          <a:xfrm>
            <a:off x="7368577" y="2417879"/>
            <a:ext cx="829997" cy="552450"/>
            <a:chOff x="1098356" y="1905001"/>
            <a:chExt cx="829997" cy="552450"/>
          </a:xfrm>
        </p:grpSpPr>
        <p:pic>
          <p:nvPicPr>
            <p:cNvPr id="33" name="Picture 4" descr="儿童卡通便利贴标签贴纸记事留言纸条PNG免抠设计元素PS装饰素材">
              <a:extLst>
                <a:ext uri="{FF2B5EF4-FFF2-40B4-BE49-F238E27FC236}">
                  <a16:creationId xmlns:a16="http://schemas.microsoft.com/office/drawing/2014/main" id="{7F7C6947-513A-5D32-978B-043A79D6BEF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4" name="文本框 33">
              <a:extLst>
                <a:ext uri="{FF2B5EF4-FFF2-40B4-BE49-F238E27FC236}">
                  <a16:creationId xmlns:a16="http://schemas.microsoft.com/office/drawing/2014/main" id="{1B1A2F31-EF02-323D-A8CA-F988289AABCE}"/>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35" name="组合 34">
            <a:extLst>
              <a:ext uri="{FF2B5EF4-FFF2-40B4-BE49-F238E27FC236}">
                <a16:creationId xmlns:a16="http://schemas.microsoft.com/office/drawing/2014/main" id="{F4423782-8FFC-0452-E031-AB06B0EA39E4}"/>
              </a:ext>
            </a:extLst>
          </p:cNvPr>
          <p:cNvGrpSpPr/>
          <p:nvPr/>
        </p:nvGrpSpPr>
        <p:grpSpPr>
          <a:xfrm>
            <a:off x="8426800" y="1957112"/>
            <a:ext cx="829997" cy="552450"/>
            <a:chOff x="1098356" y="1905001"/>
            <a:chExt cx="829997" cy="552450"/>
          </a:xfrm>
        </p:grpSpPr>
        <p:pic>
          <p:nvPicPr>
            <p:cNvPr id="36" name="Picture 4" descr="儿童卡通便利贴标签贴纸记事留言纸条PNG免抠设计元素PS装饰素材">
              <a:extLst>
                <a:ext uri="{FF2B5EF4-FFF2-40B4-BE49-F238E27FC236}">
                  <a16:creationId xmlns:a16="http://schemas.microsoft.com/office/drawing/2014/main" id="{B6B1933E-3387-B649-A268-252AA9ED03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7" name="文本框 36">
              <a:extLst>
                <a:ext uri="{FF2B5EF4-FFF2-40B4-BE49-F238E27FC236}">
                  <a16:creationId xmlns:a16="http://schemas.microsoft.com/office/drawing/2014/main" id="{ADBEF7E7-5D63-C964-6300-CFEFECBEF065}"/>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38" name="组合 37">
            <a:extLst>
              <a:ext uri="{FF2B5EF4-FFF2-40B4-BE49-F238E27FC236}">
                <a16:creationId xmlns:a16="http://schemas.microsoft.com/office/drawing/2014/main" id="{5C64ED90-DA62-60C9-5842-0F6156BFAB73}"/>
              </a:ext>
            </a:extLst>
          </p:cNvPr>
          <p:cNvGrpSpPr/>
          <p:nvPr/>
        </p:nvGrpSpPr>
        <p:grpSpPr>
          <a:xfrm>
            <a:off x="8408305" y="2417879"/>
            <a:ext cx="836409" cy="552450"/>
            <a:chOff x="1091944" y="1905001"/>
            <a:chExt cx="836409" cy="552450"/>
          </a:xfrm>
        </p:grpSpPr>
        <p:pic>
          <p:nvPicPr>
            <p:cNvPr id="39" name="Picture 4" descr="儿童卡通便利贴标签贴纸记事留言纸条PNG免抠设计元素PS装饰素材">
              <a:extLst>
                <a:ext uri="{FF2B5EF4-FFF2-40B4-BE49-F238E27FC236}">
                  <a16:creationId xmlns:a16="http://schemas.microsoft.com/office/drawing/2014/main" id="{C7A46736-AA28-BE0F-492B-B111BB45BA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0" name="文本框 39">
              <a:extLst>
                <a:ext uri="{FF2B5EF4-FFF2-40B4-BE49-F238E27FC236}">
                  <a16:creationId xmlns:a16="http://schemas.microsoft.com/office/drawing/2014/main" id="{7BC104EB-3F26-0471-766B-6F10B8E01869}"/>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grpSp>
        <p:nvGrpSpPr>
          <p:cNvPr id="41" name="组合 40">
            <a:extLst>
              <a:ext uri="{FF2B5EF4-FFF2-40B4-BE49-F238E27FC236}">
                <a16:creationId xmlns:a16="http://schemas.microsoft.com/office/drawing/2014/main" id="{CA561671-BB36-6CC0-9757-88E3C99A191F}"/>
              </a:ext>
            </a:extLst>
          </p:cNvPr>
          <p:cNvGrpSpPr/>
          <p:nvPr/>
        </p:nvGrpSpPr>
        <p:grpSpPr>
          <a:xfrm>
            <a:off x="9471510" y="1987766"/>
            <a:ext cx="834005" cy="552450"/>
            <a:chOff x="1094348" y="1905001"/>
            <a:chExt cx="834005" cy="552450"/>
          </a:xfrm>
        </p:grpSpPr>
        <p:pic>
          <p:nvPicPr>
            <p:cNvPr id="42" name="Picture 4" descr="儿童卡通便利贴标签贴纸记事留言纸条PNG免抠设计元素PS装饰素材">
              <a:extLst>
                <a:ext uri="{FF2B5EF4-FFF2-40B4-BE49-F238E27FC236}">
                  <a16:creationId xmlns:a16="http://schemas.microsoft.com/office/drawing/2014/main" id="{876527E6-21BF-1FDD-7091-D3E6A60C3137}"/>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3" name="文本框 42">
              <a:extLst>
                <a:ext uri="{FF2B5EF4-FFF2-40B4-BE49-F238E27FC236}">
                  <a16:creationId xmlns:a16="http://schemas.microsoft.com/office/drawing/2014/main" id="{953D6AC4-4C61-FFA4-4B2A-587E454B7088}"/>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solidFill>
                    <a:srgbClr val="FF0000"/>
                  </a:solidFill>
                </a:rPr>
                <a:t>Story 9</a:t>
              </a:r>
              <a:endParaRPr lang="zh-CN" altLang="en-US" sz="1400" dirty="0">
                <a:solidFill>
                  <a:srgbClr val="FF0000"/>
                </a:solidFill>
              </a:endParaRPr>
            </a:p>
          </p:txBody>
        </p:sp>
      </p:grpSp>
      <p:grpSp>
        <p:nvGrpSpPr>
          <p:cNvPr id="44" name="组合 43">
            <a:extLst>
              <a:ext uri="{FF2B5EF4-FFF2-40B4-BE49-F238E27FC236}">
                <a16:creationId xmlns:a16="http://schemas.microsoft.com/office/drawing/2014/main" id="{7C466EF0-3DDA-5815-3606-00650BCDC307}"/>
              </a:ext>
            </a:extLst>
          </p:cNvPr>
          <p:cNvGrpSpPr/>
          <p:nvPr/>
        </p:nvGrpSpPr>
        <p:grpSpPr>
          <a:xfrm>
            <a:off x="9498634" y="4647389"/>
            <a:ext cx="834005" cy="552450"/>
            <a:chOff x="1094348" y="1905001"/>
            <a:chExt cx="834005" cy="552450"/>
          </a:xfrm>
        </p:grpSpPr>
        <p:pic>
          <p:nvPicPr>
            <p:cNvPr id="45" name="Picture 4" descr="儿童卡通便利贴标签贴纸记事留言纸条PNG免抠设计元素PS装饰素材">
              <a:extLst>
                <a:ext uri="{FF2B5EF4-FFF2-40B4-BE49-F238E27FC236}">
                  <a16:creationId xmlns:a16="http://schemas.microsoft.com/office/drawing/2014/main" id="{14CDF073-15D6-EB2A-E8F8-361D2567FDC3}"/>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6" name="文本框 45">
              <a:extLst>
                <a:ext uri="{FF2B5EF4-FFF2-40B4-BE49-F238E27FC236}">
                  <a16:creationId xmlns:a16="http://schemas.microsoft.com/office/drawing/2014/main" id="{946A03D9-DAC5-D6B5-C9E5-F20CD4F62996}"/>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solidFill>
                    <a:srgbClr val="FF0000"/>
                  </a:solidFill>
                </a:rPr>
                <a:t>Story 9</a:t>
              </a:r>
              <a:endParaRPr lang="zh-CN" altLang="en-US" sz="1400" dirty="0">
                <a:solidFill>
                  <a:srgbClr val="FF0000"/>
                </a:solidFill>
              </a:endParaRPr>
            </a:p>
          </p:txBody>
        </p:sp>
      </p:grpSp>
      <p:grpSp>
        <p:nvGrpSpPr>
          <p:cNvPr id="47" name="组合 46">
            <a:extLst>
              <a:ext uri="{FF2B5EF4-FFF2-40B4-BE49-F238E27FC236}">
                <a16:creationId xmlns:a16="http://schemas.microsoft.com/office/drawing/2014/main" id="{AD81EE82-8745-5A52-FE5A-F717FCFDDFA5}"/>
              </a:ext>
            </a:extLst>
          </p:cNvPr>
          <p:cNvGrpSpPr/>
          <p:nvPr/>
        </p:nvGrpSpPr>
        <p:grpSpPr>
          <a:xfrm>
            <a:off x="2942841" y="4628708"/>
            <a:ext cx="858478" cy="552450"/>
            <a:chOff x="1069875" y="1905001"/>
            <a:chExt cx="858478" cy="552450"/>
          </a:xfrm>
        </p:grpSpPr>
        <p:pic>
          <p:nvPicPr>
            <p:cNvPr id="48" name="Picture 4" descr="儿童卡通便利贴标签贴纸记事留言纸条PNG免抠设计元素PS装饰素材">
              <a:extLst>
                <a:ext uri="{FF2B5EF4-FFF2-40B4-BE49-F238E27FC236}">
                  <a16:creationId xmlns:a16="http://schemas.microsoft.com/office/drawing/2014/main" id="{17122509-F3A6-B116-5707-C4BC12CD03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9" name="文本框 48">
              <a:extLst>
                <a:ext uri="{FF2B5EF4-FFF2-40B4-BE49-F238E27FC236}">
                  <a16:creationId xmlns:a16="http://schemas.microsoft.com/office/drawing/2014/main" id="{1B9619C5-65D3-2A99-C04A-0BB917BFC392}"/>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0" name="组合 49">
            <a:extLst>
              <a:ext uri="{FF2B5EF4-FFF2-40B4-BE49-F238E27FC236}">
                <a16:creationId xmlns:a16="http://schemas.microsoft.com/office/drawing/2014/main" id="{0B6D7135-13AF-CCAE-ADE9-42E9D3576F47}"/>
              </a:ext>
            </a:extLst>
          </p:cNvPr>
          <p:cNvGrpSpPr/>
          <p:nvPr/>
        </p:nvGrpSpPr>
        <p:grpSpPr>
          <a:xfrm>
            <a:off x="4053887" y="4628708"/>
            <a:ext cx="838814" cy="552450"/>
            <a:chOff x="1089539" y="1905001"/>
            <a:chExt cx="838814" cy="552450"/>
          </a:xfrm>
        </p:grpSpPr>
        <p:pic>
          <p:nvPicPr>
            <p:cNvPr id="51" name="Picture 4" descr="儿童卡通便利贴标签贴纸记事留言纸条PNG免抠设计元素PS装饰素材">
              <a:extLst>
                <a:ext uri="{FF2B5EF4-FFF2-40B4-BE49-F238E27FC236}">
                  <a16:creationId xmlns:a16="http://schemas.microsoft.com/office/drawing/2014/main" id="{4ED78CB0-11CC-B5F9-1D4D-E8ADAF9E99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2" name="文本框 51">
              <a:extLst>
                <a:ext uri="{FF2B5EF4-FFF2-40B4-BE49-F238E27FC236}">
                  <a16:creationId xmlns:a16="http://schemas.microsoft.com/office/drawing/2014/main" id="{1952EF77-BFFD-73F7-11DB-D72DB6A939EC}"/>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53" name="组合 52">
            <a:extLst>
              <a:ext uri="{FF2B5EF4-FFF2-40B4-BE49-F238E27FC236}">
                <a16:creationId xmlns:a16="http://schemas.microsoft.com/office/drawing/2014/main" id="{91754186-5EB2-B350-460D-668524E6C4E7}"/>
              </a:ext>
            </a:extLst>
          </p:cNvPr>
          <p:cNvGrpSpPr/>
          <p:nvPr/>
        </p:nvGrpSpPr>
        <p:grpSpPr>
          <a:xfrm>
            <a:off x="5194179" y="4589380"/>
            <a:ext cx="830799" cy="552450"/>
            <a:chOff x="1097554" y="1905001"/>
            <a:chExt cx="830799" cy="552450"/>
          </a:xfrm>
        </p:grpSpPr>
        <p:pic>
          <p:nvPicPr>
            <p:cNvPr id="54" name="Picture 4" descr="儿童卡通便利贴标签贴纸记事留言纸条PNG免抠设计元素PS装饰素材">
              <a:extLst>
                <a:ext uri="{FF2B5EF4-FFF2-40B4-BE49-F238E27FC236}">
                  <a16:creationId xmlns:a16="http://schemas.microsoft.com/office/drawing/2014/main" id="{120DBDA6-A15B-FC61-0385-9C5DD1EE30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5" name="文本框 54">
              <a:extLst>
                <a:ext uri="{FF2B5EF4-FFF2-40B4-BE49-F238E27FC236}">
                  <a16:creationId xmlns:a16="http://schemas.microsoft.com/office/drawing/2014/main" id="{9F28551E-CA09-FFAF-0D57-C9F69B8F5552}"/>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56" name="组合 55">
            <a:extLst>
              <a:ext uri="{FF2B5EF4-FFF2-40B4-BE49-F238E27FC236}">
                <a16:creationId xmlns:a16="http://schemas.microsoft.com/office/drawing/2014/main" id="{BC157454-223D-9DC8-94F1-8435F7AFF131}"/>
              </a:ext>
            </a:extLst>
          </p:cNvPr>
          <p:cNvGrpSpPr/>
          <p:nvPr/>
        </p:nvGrpSpPr>
        <p:grpSpPr>
          <a:xfrm>
            <a:off x="5212240" y="5054485"/>
            <a:ext cx="832402" cy="552450"/>
            <a:chOff x="1095951" y="1905001"/>
            <a:chExt cx="832402" cy="552450"/>
          </a:xfrm>
        </p:grpSpPr>
        <p:pic>
          <p:nvPicPr>
            <p:cNvPr id="57" name="Picture 4" descr="儿童卡通便利贴标签贴纸记事留言纸条PNG免抠设计元素PS装饰素材">
              <a:extLst>
                <a:ext uri="{FF2B5EF4-FFF2-40B4-BE49-F238E27FC236}">
                  <a16:creationId xmlns:a16="http://schemas.microsoft.com/office/drawing/2014/main" id="{25D4D317-F1D8-B2BE-0992-B613A0118CA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8" name="文本框 57">
              <a:extLst>
                <a:ext uri="{FF2B5EF4-FFF2-40B4-BE49-F238E27FC236}">
                  <a16:creationId xmlns:a16="http://schemas.microsoft.com/office/drawing/2014/main" id="{91AE8CEC-0CB1-65E4-B1D4-60E8F2CBB9CD}"/>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59" name="组合 58">
            <a:extLst>
              <a:ext uri="{FF2B5EF4-FFF2-40B4-BE49-F238E27FC236}">
                <a16:creationId xmlns:a16="http://schemas.microsoft.com/office/drawing/2014/main" id="{98BFF60E-E413-D674-CAAC-984ABB23A1FE}"/>
              </a:ext>
            </a:extLst>
          </p:cNvPr>
          <p:cNvGrpSpPr/>
          <p:nvPr/>
        </p:nvGrpSpPr>
        <p:grpSpPr>
          <a:xfrm>
            <a:off x="6183339" y="4628708"/>
            <a:ext cx="878767" cy="552450"/>
            <a:chOff x="1057479" y="1905001"/>
            <a:chExt cx="878767" cy="552450"/>
          </a:xfrm>
        </p:grpSpPr>
        <p:pic>
          <p:nvPicPr>
            <p:cNvPr id="60" name="Picture 4" descr="儿童卡通便利贴标签贴纸记事留言纸条PNG免抠设计元素PS装饰素材">
              <a:extLst>
                <a:ext uri="{FF2B5EF4-FFF2-40B4-BE49-F238E27FC236}">
                  <a16:creationId xmlns:a16="http://schemas.microsoft.com/office/drawing/2014/main" id="{316F8347-801F-6C59-9950-ED9DBB75FA4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1" name="文本框 60">
              <a:extLst>
                <a:ext uri="{FF2B5EF4-FFF2-40B4-BE49-F238E27FC236}">
                  <a16:creationId xmlns:a16="http://schemas.microsoft.com/office/drawing/2014/main" id="{34C7F6A0-17BC-2B65-8095-FE98A56C3641}"/>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62" name="组合 61">
            <a:extLst>
              <a:ext uri="{FF2B5EF4-FFF2-40B4-BE49-F238E27FC236}">
                <a16:creationId xmlns:a16="http://schemas.microsoft.com/office/drawing/2014/main" id="{7B9C2E94-5FC2-2590-D0B3-EC7735DAEB1B}"/>
              </a:ext>
            </a:extLst>
          </p:cNvPr>
          <p:cNvGrpSpPr/>
          <p:nvPr/>
        </p:nvGrpSpPr>
        <p:grpSpPr>
          <a:xfrm>
            <a:off x="7391507" y="4589380"/>
            <a:ext cx="819150" cy="552450"/>
            <a:chOff x="1109203" y="1905001"/>
            <a:chExt cx="819150" cy="552450"/>
          </a:xfrm>
        </p:grpSpPr>
        <p:pic>
          <p:nvPicPr>
            <p:cNvPr id="63" name="Picture 4" descr="儿童卡通便利贴标签贴纸记事留言纸条PNG免抠设计元素PS装饰素材">
              <a:extLst>
                <a:ext uri="{FF2B5EF4-FFF2-40B4-BE49-F238E27FC236}">
                  <a16:creationId xmlns:a16="http://schemas.microsoft.com/office/drawing/2014/main" id="{2C4C11CB-1167-92A6-D480-902E3799A67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4" name="文本框 63">
              <a:extLst>
                <a:ext uri="{FF2B5EF4-FFF2-40B4-BE49-F238E27FC236}">
                  <a16:creationId xmlns:a16="http://schemas.microsoft.com/office/drawing/2014/main" id="{22E59397-2058-364A-C15B-70A841D63178}"/>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65" name="组合 64">
            <a:extLst>
              <a:ext uri="{FF2B5EF4-FFF2-40B4-BE49-F238E27FC236}">
                <a16:creationId xmlns:a16="http://schemas.microsoft.com/office/drawing/2014/main" id="{C14C4284-0999-1E6B-321B-9F5DCF069C1E}"/>
              </a:ext>
            </a:extLst>
          </p:cNvPr>
          <p:cNvGrpSpPr/>
          <p:nvPr/>
        </p:nvGrpSpPr>
        <p:grpSpPr>
          <a:xfrm>
            <a:off x="7368577" y="5050147"/>
            <a:ext cx="829997" cy="552450"/>
            <a:chOff x="1098356" y="1905001"/>
            <a:chExt cx="829997" cy="552450"/>
          </a:xfrm>
        </p:grpSpPr>
        <p:pic>
          <p:nvPicPr>
            <p:cNvPr id="66" name="Picture 4" descr="儿童卡通便利贴标签贴纸记事留言纸条PNG免抠设计元素PS装饰素材">
              <a:extLst>
                <a:ext uri="{FF2B5EF4-FFF2-40B4-BE49-F238E27FC236}">
                  <a16:creationId xmlns:a16="http://schemas.microsoft.com/office/drawing/2014/main" id="{E50233CC-CA50-78B6-3297-B1478B066D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7" name="文本框 66">
              <a:extLst>
                <a:ext uri="{FF2B5EF4-FFF2-40B4-BE49-F238E27FC236}">
                  <a16:creationId xmlns:a16="http://schemas.microsoft.com/office/drawing/2014/main" id="{4A2F994D-6193-5971-9116-ECEAAC2A96A2}"/>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68" name="组合 67">
            <a:extLst>
              <a:ext uri="{FF2B5EF4-FFF2-40B4-BE49-F238E27FC236}">
                <a16:creationId xmlns:a16="http://schemas.microsoft.com/office/drawing/2014/main" id="{8A0DCA1F-03C9-0C30-8109-9708DF6CF3A9}"/>
              </a:ext>
            </a:extLst>
          </p:cNvPr>
          <p:cNvGrpSpPr/>
          <p:nvPr/>
        </p:nvGrpSpPr>
        <p:grpSpPr>
          <a:xfrm>
            <a:off x="8426800" y="4589380"/>
            <a:ext cx="829997" cy="552450"/>
            <a:chOff x="1098356" y="1905001"/>
            <a:chExt cx="829997" cy="552450"/>
          </a:xfrm>
        </p:grpSpPr>
        <p:pic>
          <p:nvPicPr>
            <p:cNvPr id="69" name="Picture 4" descr="儿童卡通便利贴标签贴纸记事留言纸条PNG免抠设计元素PS装饰素材">
              <a:extLst>
                <a:ext uri="{FF2B5EF4-FFF2-40B4-BE49-F238E27FC236}">
                  <a16:creationId xmlns:a16="http://schemas.microsoft.com/office/drawing/2014/main" id="{FC0B249C-38A4-58CA-7FD1-7AF5A16C81E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0" name="文本框 69">
              <a:extLst>
                <a:ext uri="{FF2B5EF4-FFF2-40B4-BE49-F238E27FC236}">
                  <a16:creationId xmlns:a16="http://schemas.microsoft.com/office/drawing/2014/main" id="{32FE7B65-9737-6406-01D7-DC4EC4CCC27E}"/>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71" name="组合 70">
            <a:extLst>
              <a:ext uri="{FF2B5EF4-FFF2-40B4-BE49-F238E27FC236}">
                <a16:creationId xmlns:a16="http://schemas.microsoft.com/office/drawing/2014/main" id="{93156B85-D65E-0303-0614-18334D8880F7}"/>
              </a:ext>
            </a:extLst>
          </p:cNvPr>
          <p:cNvGrpSpPr/>
          <p:nvPr/>
        </p:nvGrpSpPr>
        <p:grpSpPr>
          <a:xfrm>
            <a:off x="8408305" y="5050147"/>
            <a:ext cx="836409" cy="552450"/>
            <a:chOff x="1091944" y="1905001"/>
            <a:chExt cx="836409" cy="552450"/>
          </a:xfrm>
        </p:grpSpPr>
        <p:pic>
          <p:nvPicPr>
            <p:cNvPr id="72" name="Picture 4" descr="儿童卡通便利贴标签贴纸记事留言纸条PNG免抠设计元素PS装饰素材">
              <a:extLst>
                <a:ext uri="{FF2B5EF4-FFF2-40B4-BE49-F238E27FC236}">
                  <a16:creationId xmlns:a16="http://schemas.microsoft.com/office/drawing/2014/main" id="{535B887E-32D4-DB41-C205-CFF7BF6CD1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3" name="文本框 72">
              <a:extLst>
                <a:ext uri="{FF2B5EF4-FFF2-40B4-BE49-F238E27FC236}">
                  <a16:creationId xmlns:a16="http://schemas.microsoft.com/office/drawing/2014/main" id="{31D8BCE8-4C85-0808-8EEA-4F648F4EEF4E}"/>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grpSp>
        <p:nvGrpSpPr>
          <p:cNvPr id="77" name="组合 76">
            <a:extLst>
              <a:ext uri="{FF2B5EF4-FFF2-40B4-BE49-F238E27FC236}">
                <a16:creationId xmlns:a16="http://schemas.microsoft.com/office/drawing/2014/main" id="{FD5BA643-6A5C-E033-34D1-3D5B84315C3D}"/>
              </a:ext>
            </a:extLst>
          </p:cNvPr>
          <p:cNvGrpSpPr/>
          <p:nvPr/>
        </p:nvGrpSpPr>
        <p:grpSpPr>
          <a:xfrm>
            <a:off x="6014063" y="596540"/>
            <a:ext cx="832402" cy="552450"/>
            <a:chOff x="1095951" y="1905001"/>
            <a:chExt cx="832402" cy="552450"/>
          </a:xfrm>
        </p:grpSpPr>
        <p:pic>
          <p:nvPicPr>
            <p:cNvPr id="78" name="Picture 4" descr="儿童卡通便利贴标签贴纸记事留言纸条PNG免抠设计元素PS装饰素材">
              <a:extLst>
                <a:ext uri="{FF2B5EF4-FFF2-40B4-BE49-F238E27FC236}">
                  <a16:creationId xmlns:a16="http://schemas.microsoft.com/office/drawing/2014/main" id="{BC6069DC-1C7D-1AB5-C027-0FC75F017C6E}"/>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9" name="文本框 78">
              <a:extLst>
                <a:ext uri="{FF2B5EF4-FFF2-40B4-BE49-F238E27FC236}">
                  <a16:creationId xmlns:a16="http://schemas.microsoft.com/office/drawing/2014/main" id="{6AE474DD-6167-4ED5-0C22-A8845227D31E}"/>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grpSp>
        <p:nvGrpSpPr>
          <p:cNvPr id="80" name="组合 79">
            <a:extLst>
              <a:ext uri="{FF2B5EF4-FFF2-40B4-BE49-F238E27FC236}">
                <a16:creationId xmlns:a16="http://schemas.microsoft.com/office/drawing/2014/main" id="{04845BC1-E529-02B1-3D35-A391294DB76C}"/>
              </a:ext>
            </a:extLst>
          </p:cNvPr>
          <p:cNvGrpSpPr/>
          <p:nvPr/>
        </p:nvGrpSpPr>
        <p:grpSpPr>
          <a:xfrm>
            <a:off x="8437647" y="5538078"/>
            <a:ext cx="832402" cy="552450"/>
            <a:chOff x="1095951" y="1905001"/>
            <a:chExt cx="832402" cy="552450"/>
          </a:xfrm>
        </p:grpSpPr>
        <p:pic>
          <p:nvPicPr>
            <p:cNvPr id="81" name="Picture 4" descr="儿童卡通便利贴标签贴纸记事留言纸条PNG免抠设计元素PS装饰素材">
              <a:extLst>
                <a:ext uri="{FF2B5EF4-FFF2-40B4-BE49-F238E27FC236}">
                  <a16:creationId xmlns:a16="http://schemas.microsoft.com/office/drawing/2014/main" id="{EBC39597-BE96-B7CC-419D-B422C0A6BB44}"/>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2" name="文本框 81">
              <a:extLst>
                <a:ext uri="{FF2B5EF4-FFF2-40B4-BE49-F238E27FC236}">
                  <a16:creationId xmlns:a16="http://schemas.microsoft.com/office/drawing/2014/main" id="{19972B03-C524-0B4B-DB0D-B95228596C57}"/>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spTree>
    <p:extLst>
      <p:ext uri="{BB962C8B-B14F-4D97-AF65-F5344CB8AC3E}">
        <p14:creationId xmlns:p14="http://schemas.microsoft.com/office/powerpoint/2010/main" val="1077205877"/>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FD278C-F9E7-8928-D635-4BFC5F7FE7E5}"/>
              </a:ext>
            </a:extLst>
          </p:cNvPr>
          <p:cNvSpPr>
            <a:spLocks noGrp="1"/>
          </p:cNvSpPr>
          <p:nvPr>
            <p:ph type="title"/>
          </p:nvPr>
        </p:nvSpPr>
        <p:spPr>
          <a:xfrm>
            <a:off x="695998" y="360000"/>
            <a:ext cx="6375921" cy="429413"/>
          </a:xfrm>
        </p:spPr>
        <p:txBody>
          <a:bodyPr/>
          <a:lstStyle/>
          <a:p>
            <a:r>
              <a:rPr lang="en-US" altLang="zh-CN" dirty="0"/>
              <a:t>6.3.3 </a:t>
            </a:r>
            <a:r>
              <a:rPr lang="zh-CN" altLang="en-US" dirty="0"/>
              <a:t>扑克牌估算</a:t>
            </a:r>
          </a:p>
        </p:txBody>
      </p:sp>
      <p:sp>
        <p:nvSpPr>
          <p:cNvPr id="3" name="内容占位符 2">
            <a:extLst>
              <a:ext uri="{FF2B5EF4-FFF2-40B4-BE49-F238E27FC236}">
                <a16:creationId xmlns:a16="http://schemas.microsoft.com/office/drawing/2014/main" id="{ADAF634D-78D2-5A10-76A7-B3D881781F57}"/>
              </a:ext>
            </a:extLst>
          </p:cNvPr>
          <p:cNvSpPr>
            <a:spLocks noGrp="1"/>
          </p:cNvSpPr>
          <p:nvPr>
            <p:ph idx="1"/>
          </p:nvPr>
        </p:nvSpPr>
        <p:spPr>
          <a:xfrm>
            <a:off x="696000" y="864000"/>
            <a:ext cx="10800000" cy="5400000"/>
          </a:xfrm>
        </p:spPr>
        <p:txBody>
          <a:bodyPr/>
          <a:lstStyle/>
          <a:p>
            <a:r>
              <a:rPr lang="zh-CN" altLang="en-US" dirty="0"/>
              <a:t>详细估算</a:t>
            </a:r>
            <a:endParaRPr lang="en-US" altLang="zh-CN" dirty="0"/>
          </a:p>
          <a:p>
            <a:r>
              <a:rPr lang="zh-CN" altLang="en-US" dirty="0"/>
              <a:t>可以设定相应规则</a:t>
            </a:r>
          </a:p>
          <a:p>
            <a:r>
              <a:rPr lang="zh-CN" altLang="en-US" dirty="0"/>
              <a:t>通过</a:t>
            </a:r>
            <a:r>
              <a:rPr lang="zh-CN" altLang="en-US" dirty="0">
                <a:hlinkClick r:id="rId3"/>
              </a:rPr>
              <a:t>亮牌</a:t>
            </a:r>
            <a:r>
              <a:rPr lang="zh-CN" altLang="en-US" dirty="0"/>
              <a:t>来确定故事点</a:t>
            </a:r>
            <a:endParaRPr lang="en-US" altLang="zh-CN" dirty="0"/>
          </a:p>
        </p:txBody>
      </p:sp>
      <p:sp>
        <p:nvSpPr>
          <p:cNvPr id="4" name="文本占位符 3">
            <a:extLst>
              <a:ext uri="{FF2B5EF4-FFF2-40B4-BE49-F238E27FC236}">
                <a16:creationId xmlns:a16="http://schemas.microsoft.com/office/drawing/2014/main" id="{D52F7BD6-BB28-7E38-D41E-E730BFE57ABD}"/>
              </a:ext>
            </a:extLst>
          </p:cNvPr>
          <p:cNvSpPr>
            <a:spLocks noGrp="1"/>
          </p:cNvSpPr>
          <p:nvPr>
            <p:ph type="body" sz="quarter" idx="10"/>
          </p:nvPr>
        </p:nvSpPr>
        <p:spPr>
          <a:xfrm>
            <a:off x="7071919" y="448519"/>
            <a:ext cx="4424080" cy="338554"/>
          </a:xfrm>
        </p:spPr>
        <p:txBody>
          <a:bodyPr/>
          <a:lstStyle/>
          <a:p>
            <a:r>
              <a:rPr lang="en-US" altLang="zh-CN" dirty="0"/>
              <a:t>Planning Poker/Aigle</a:t>
            </a:r>
            <a:endParaRPr lang="zh-CN" altLang="en-US" dirty="0"/>
          </a:p>
        </p:txBody>
      </p:sp>
      <p:sp>
        <p:nvSpPr>
          <p:cNvPr id="30" name="任意多边形: 形状 29">
            <a:extLst>
              <a:ext uri="{FF2B5EF4-FFF2-40B4-BE49-F238E27FC236}">
                <a16:creationId xmlns:a16="http://schemas.microsoft.com/office/drawing/2014/main" id="{1C3899EF-6A10-8FC8-D712-D4D1674192F5}"/>
              </a:ext>
            </a:extLst>
          </p:cNvPr>
          <p:cNvSpPr/>
          <p:nvPr/>
        </p:nvSpPr>
        <p:spPr>
          <a:xfrm>
            <a:off x="1759934"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1</a:t>
            </a:r>
          </a:p>
          <a:p>
            <a:pPr algn="ctr"/>
            <a:endParaRPr lang="en-US" altLang="zh-CN" sz="1600" dirty="0">
              <a:solidFill>
                <a:schemeClr val="bg1"/>
              </a:solidFill>
            </a:endParaRPr>
          </a:p>
          <a:p>
            <a:pPr algn="ctr"/>
            <a:r>
              <a:rPr lang="en-US" altLang="zh-CN" sz="1600" dirty="0">
                <a:solidFill>
                  <a:schemeClr val="bg1"/>
                </a:solidFill>
              </a:rPr>
              <a:t>Distribute the Cards</a:t>
            </a:r>
            <a:endParaRPr lang="zh-CN" altLang="en-US" sz="1600" dirty="0">
              <a:solidFill>
                <a:schemeClr val="bg1"/>
              </a:solidFill>
            </a:endParaRPr>
          </a:p>
        </p:txBody>
      </p:sp>
      <p:sp>
        <p:nvSpPr>
          <p:cNvPr id="31" name="任意多边形: 形状 30">
            <a:extLst>
              <a:ext uri="{FF2B5EF4-FFF2-40B4-BE49-F238E27FC236}">
                <a16:creationId xmlns:a16="http://schemas.microsoft.com/office/drawing/2014/main" id="{5F73A5D7-0926-CAD4-B696-17FF1234E551}"/>
              </a:ext>
            </a:extLst>
          </p:cNvPr>
          <p:cNvSpPr/>
          <p:nvPr/>
        </p:nvSpPr>
        <p:spPr>
          <a:xfrm>
            <a:off x="3567967"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2</a:t>
            </a:r>
          </a:p>
          <a:p>
            <a:pPr algn="ctr"/>
            <a:endParaRPr lang="en-US" altLang="zh-CN" sz="1600" dirty="0">
              <a:solidFill>
                <a:schemeClr val="bg1"/>
              </a:solidFill>
            </a:endParaRPr>
          </a:p>
          <a:p>
            <a:pPr algn="ctr"/>
            <a:r>
              <a:rPr lang="en-US" altLang="zh-CN" sz="1600" dirty="0">
                <a:solidFill>
                  <a:schemeClr val="bg1"/>
                </a:solidFill>
              </a:rPr>
              <a:t>Present the Story </a:t>
            </a:r>
            <a:endParaRPr lang="zh-CN" altLang="en-US" sz="1600" dirty="0">
              <a:solidFill>
                <a:schemeClr val="bg1"/>
              </a:solidFill>
            </a:endParaRPr>
          </a:p>
        </p:txBody>
      </p:sp>
      <p:sp>
        <p:nvSpPr>
          <p:cNvPr id="32" name="任意多边形: 形状 31">
            <a:extLst>
              <a:ext uri="{FF2B5EF4-FFF2-40B4-BE49-F238E27FC236}">
                <a16:creationId xmlns:a16="http://schemas.microsoft.com/office/drawing/2014/main" id="{FD499B6B-91A4-74EC-1BB9-EC3CE941A1D2}"/>
              </a:ext>
            </a:extLst>
          </p:cNvPr>
          <p:cNvSpPr/>
          <p:nvPr/>
        </p:nvSpPr>
        <p:spPr>
          <a:xfrm>
            <a:off x="5376000"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3</a:t>
            </a:r>
          </a:p>
          <a:p>
            <a:pPr algn="ctr"/>
            <a:endParaRPr lang="en-US" altLang="zh-CN" sz="1600" dirty="0">
              <a:solidFill>
                <a:schemeClr val="bg1"/>
              </a:solidFill>
            </a:endParaRPr>
          </a:p>
          <a:p>
            <a:pPr algn="ctr"/>
            <a:r>
              <a:rPr lang="en-US" altLang="zh-CN" sz="1600" dirty="0">
                <a:solidFill>
                  <a:schemeClr val="bg1"/>
                </a:solidFill>
              </a:rPr>
              <a:t>Facilitate Discussion</a:t>
            </a:r>
            <a:endParaRPr lang="zh-CN" altLang="en-US" sz="1600" dirty="0">
              <a:solidFill>
                <a:schemeClr val="bg1"/>
              </a:solidFill>
            </a:endParaRPr>
          </a:p>
        </p:txBody>
      </p:sp>
      <p:sp>
        <p:nvSpPr>
          <p:cNvPr id="33" name="任意多边形: 形状 32">
            <a:extLst>
              <a:ext uri="{FF2B5EF4-FFF2-40B4-BE49-F238E27FC236}">
                <a16:creationId xmlns:a16="http://schemas.microsoft.com/office/drawing/2014/main" id="{089EE6DD-75CA-A2A2-EFA7-FB41DEAF7EC6}"/>
              </a:ext>
            </a:extLst>
          </p:cNvPr>
          <p:cNvSpPr/>
          <p:nvPr/>
        </p:nvSpPr>
        <p:spPr>
          <a:xfrm>
            <a:off x="7184033"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4</a:t>
            </a:r>
          </a:p>
          <a:p>
            <a:pPr algn="ctr"/>
            <a:endParaRPr lang="en-US" altLang="zh-CN" sz="1600" dirty="0">
              <a:solidFill>
                <a:schemeClr val="bg1"/>
              </a:solidFill>
            </a:endParaRPr>
          </a:p>
          <a:p>
            <a:pPr algn="ctr"/>
            <a:r>
              <a:rPr lang="en-US" altLang="zh-CN" sz="1600" dirty="0">
                <a:solidFill>
                  <a:schemeClr val="bg1"/>
                </a:solidFill>
              </a:rPr>
              <a:t>Estimate and Disclose</a:t>
            </a:r>
            <a:endParaRPr lang="zh-CN" altLang="en-US" sz="1600" dirty="0">
              <a:solidFill>
                <a:schemeClr val="bg1"/>
              </a:solidFill>
            </a:endParaRPr>
          </a:p>
        </p:txBody>
      </p:sp>
      <p:sp>
        <p:nvSpPr>
          <p:cNvPr id="34" name="任意多边形: 形状 33">
            <a:extLst>
              <a:ext uri="{FF2B5EF4-FFF2-40B4-BE49-F238E27FC236}">
                <a16:creationId xmlns:a16="http://schemas.microsoft.com/office/drawing/2014/main" id="{71A2182D-BFC0-2F6F-D027-EA36E3AF8D07}"/>
              </a:ext>
            </a:extLst>
          </p:cNvPr>
          <p:cNvSpPr/>
          <p:nvPr/>
        </p:nvSpPr>
        <p:spPr>
          <a:xfrm>
            <a:off x="8992066"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5</a:t>
            </a:r>
          </a:p>
          <a:p>
            <a:pPr algn="ctr"/>
            <a:endParaRPr lang="en-US" altLang="zh-CN" sz="1600" dirty="0">
              <a:solidFill>
                <a:schemeClr val="bg1"/>
              </a:solidFill>
            </a:endParaRPr>
          </a:p>
          <a:p>
            <a:pPr algn="ctr"/>
            <a:r>
              <a:rPr lang="en-US" altLang="zh-CN" sz="1600" dirty="0">
                <a:solidFill>
                  <a:schemeClr val="bg1"/>
                </a:solidFill>
              </a:rPr>
              <a:t>Strive for Agreement</a:t>
            </a:r>
            <a:endParaRPr lang="zh-CN" altLang="en-US" sz="1600" dirty="0">
              <a:solidFill>
                <a:schemeClr val="bg1"/>
              </a:solidFill>
            </a:endParaRPr>
          </a:p>
        </p:txBody>
      </p:sp>
      <p:grpSp>
        <p:nvGrpSpPr>
          <p:cNvPr id="49" name="组合 48">
            <a:extLst>
              <a:ext uri="{FF2B5EF4-FFF2-40B4-BE49-F238E27FC236}">
                <a16:creationId xmlns:a16="http://schemas.microsoft.com/office/drawing/2014/main" id="{D600BA0B-1E02-C8D7-1A03-7F4C0EA289B3}"/>
              </a:ext>
            </a:extLst>
          </p:cNvPr>
          <p:cNvGrpSpPr/>
          <p:nvPr/>
        </p:nvGrpSpPr>
        <p:grpSpPr>
          <a:xfrm>
            <a:off x="1907414" y="2983004"/>
            <a:ext cx="720000" cy="720000"/>
            <a:chOff x="1298782" y="2853868"/>
            <a:chExt cx="720000" cy="720000"/>
          </a:xfrm>
        </p:grpSpPr>
        <p:sp>
          <p:nvSpPr>
            <p:cNvPr id="46" name="椭圆 45">
              <a:extLst>
                <a:ext uri="{FF2B5EF4-FFF2-40B4-BE49-F238E27FC236}">
                  <a16:creationId xmlns:a16="http://schemas.microsoft.com/office/drawing/2014/main" id="{59773B52-0E7F-BDC8-5A37-E2D4D211EDD3}"/>
                </a:ext>
              </a:extLst>
            </p:cNvPr>
            <p:cNvSpPr/>
            <p:nvPr/>
          </p:nvSpPr>
          <p:spPr>
            <a:xfrm>
              <a:off x="1298782" y="2853868"/>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47" name="图形 46" descr="社交网络">
              <a:extLst>
                <a:ext uri="{FF2B5EF4-FFF2-40B4-BE49-F238E27FC236}">
                  <a16:creationId xmlns:a16="http://schemas.microsoft.com/office/drawing/2014/main" id="{45CC5AD3-6EA5-9639-DA61-C78A5B9E1C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88782" y="2943868"/>
              <a:ext cx="540000" cy="540000"/>
            </a:xfrm>
            <a:prstGeom prst="rect">
              <a:avLst/>
            </a:prstGeom>
          </p:spPr>
        </p:pic>
      </p:grpSp>
      <p:grpSp>
        <p:nvGrpSpPr>
          <p:cNvPr id="57" name="组合 56">
            <a:extLst>
              <a:ext uri="{FF2B5EF4-FFF2-40B4-BE49-F238E27FC236}">
                <a16:creationId xmlns:a16="http://schemas.microsoft.com/office/drawing/2014/main" id="{1061CC68-718E-028F-94EF-5EE4269CC8AF}"/>
              </a:ext>
            </a:extLst>
          </p:cNvPr>
          <p:cNvGrpSpPr/>
          <p:nvPr/>
        </p:nvGrpSpPr>
        <p:grpSpPr>
          <a:xfrm>
            <a:off x="9139546" y="2983004"/>
            <a:ext cx="720000" cy="720000"/>
            <a:chOff x="9697066" y="2430693"/>
            <a:chExt cx="720000" cy="720000"/>
          </a:xfrm>
        </p:grpSpPr>
        <p:sp>
          <p:nvSpPr>
            <p:cNvPr id="55" name="椭圆 54">
              <a:extLst>
                <a:ext uri="{FF2B5EF4-FFF2-40B4-BE49-F238E27FC236}">
                  <a16:creationId xmlns:a16="http://schemas.microsoft.com/office/drawing/2014/main" id="{DD601F3B-835F-C4A1-5246-C4FDA8659D08}"/>
                </a:ext>
              </a:extLst>
            </p:cNvPr>
            <p:cNvSpPr/>
            <p:nvPr/>
          </p:nvSpPr>
          <p:spPr>
            <a:xfrm>
              <a:off x="9697066" y="2430693"/>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56" name="图形 55" descr="集体讨论">
              <a:extLst>
                <a:ext uri="{FF2B5EF4-FFF2-40B4-BE49-F238E27FC236}">
                  <a16:creationId xmlns:a16="http://schemas.microsoft.com/office/drawing/2014/main" id="{34898FDF-65C4-4617-DD80-39F0DA6754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87066" y="2520693"/>
              <a:ext cx="540000" cy="540000"/>
            </a:xfrm>
            <a:prstGeom prst="rect">
              <a:avLst/>
            </a:prstGeom>
          </p:spPr>
        </p:pic>
      </p:grpSp>
      <p:grpSp>
        <p:nvGrpSpPr>
          <p:cNvPr id="59" name="组合 58">
            <a:extLst>
              <a:ext uri="{FF2B5EF4-FFF2-40B4-BE49-F238E27FC236}">
                <a16:creationId xmlns:a16="http://schemas.microsoft.com/office/drawing/2014/main" id="{C8BF4D27-0E9D-1761-4B21-53527CFB4611}"/>
              </a:ext>
            </a:extLst>
          </p:cNvPr>
          <p:cNvGrpSpPr/>
          <p:nvPr/>
        </p:nvGrpSpPr>
        <p:grpSpPr>
          <a:xfrm>
            <a:off x="7331513" y="2983004"/>
            <a:ext cx="720000" cy="720000"/>
            <a:chOff x="3868723" y="3501337"/>
            <a:chExt cx="720000" cy="720000"/>
          </a:xfrm>
        </p:grpSpPr>
        <p:sp>
          <p:nvSpPr>
            <p:cNvPr id="54" name="椭圆 53">
              <a:extLst>
                <a:ext uri="{FF2B5EF4-FFF2-40B4-BE49-F238E27FC236}">
                  <a16:creationId xmlns:a16="http://schemas.microsoft.com/office/drawing/2014/main" id="{94188F7E-4717-F544-E52B-EE654477AE9F}"/>
                </a:ext>
              </a:extLst>
            </p:cNvPr>
            <p:cNvSpPr/>
            <p:nvPr/>
          </p:nvSpPr>
          <p:spPr>
            <a:xfrm>
              <a:off x="3868723" y="3501337"/>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58" name="图形 57" descr="目标受众">
              <a:extLst>
                <a:ext uri="{FF2B5EF4-FFF2-40B4-BE49-F238E27FC236}">
                  <a16:creationId xmlns:a16="http://schemas.microsoft.com/office/drawing/2014/main" id="{59F1370F-9803-CAB7-DF3C-6465C1D7B87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958723" y="3591337"/>
              <a:ext cx="540000" cy="540000"/>
            </a:xfrm>
            <a:prstGeom prst="rect">
              <a:avLst/>
            </a:prstGeom>
          </p:spPr>
        </p:pic>
      </p:grpSp>
      <p:grpSp>
        <p:nvGrpSpPr>
          <p:cNvPr id="61" name="组合 60">
            <a:extLst>
              <a:ext uri="{FF2B5EF4-FFF2-40B4-BE49-F238E27FC236}">
                <a16:creationId xmlns:a16="http://schemas.microsoft.com/office/drawing/2014/main" id="{A53A0AEA-03B9-D32A-113E-29C49AF8B291}"/>
              </a:ext>
            </a:extLst>
          </p:cNvPr>
          <p:cNvGrpSpPr/>
          <p:nvPr/>
        </p:nvGrpSpPr>
        <p:grpSpPr>
          <a:xfrm>
            <a:off x="5523480" y="2983004"/>
            <a:ext cx="720000" cy="720000"/>
            <a:chOff x="2986370" y="3389852"/>
            <a:chExt cx="720000" cy="720000"/>
          </a:xfrm>
        </p:grpSpPr>
        <p:sp>
          <p:nvSpPr>
            <p:cNvPr id="53" name="椭圆 52">
              <a:extLst>
                <a:ext uri="{FF2B5EF4-FFF2-40B4-BE49-F238E27FC236}">
                  <a16:creationId xmlns:a16="http://schemas.microsoft.com/office/drawing/2014/main" id="{F1286A49-5345-50C8-58AB-D96EF203ABC8}"/>
                </a:ext>
              </a:extLst>
            </p:cNvPr>
            <p:cNvSpPr/>
            <p:nvPr/>
          </p:nvSpPr>
          <p:spPr>
            <a:xfrm>
              <a:off x="2986370" y="3389852"/>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60" name="图形 59" descr="客户评价 RTL">
              <a:extLst>
                <a:ext uri="{FF2B5EF4-FFF2-40B4-BE49-F238E27FC236}">
                  <a16:creationId xmlns:a16="http://schemas.microsoft.com/office/drawing/2014/main" id="{7D994ED4-9FCB-9730-9B5A-73672D75CD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76370" y="3479852"/>
              <a:ext cx="540000" cy="540000"/>
            </a:xfrm>
            <a:prstGeom prst="rect">
              <a:avLst/>
            </a:prstGeom>
          </p:spPr>
        </p:pic>
      </p:grpSp>
      <p:grpSp>
        <p:nvGrpSpPr>
          <p:cNvPr id="63" name="组合 62">
            <a:extLst>
              <a:ext uri="{FF2B5EF4-FFF2-40B4-BE49-F238E27FC236}">
                <a16:creationId xmlns:a16="http://schemas.microsoft.com/office/drawing/2014/main" id="{68905629-C301-8CE8-A08A-82F7BB2CF52B}"/>
              </a:ext>
            </a:extLst>
          </p:cNvPr>
          <p:cNvGrpSpPr/>
          <p:nvPr/>
        </p:nvGrpSpPr>
        <p:grpSpPr>
          <a:xfrm>
            <a:off x="3715447" y="2983004"/>
            <a:ext cx="720000" cy="720000"/>
            <a:chOff x="1966646" y="3286535"/>
            <a:chExt cx="720000" cy="720000"/>
          </a:xfrm>
        </p:grpSpPr>
        <p:sp>
          <p:nvSpPr>
            <p:cNvPr id="51" name="椭圆 50">
              <a:extLst>
                <a:ext uri="{FF2B5EF4-FFF2-40B4-BE49-F238E27FC236}">
                  <a16:creationId xmlns:a16="http://schemas.microsoft.com/office/drawing/2014/main" id="{43035464-CECB-413A-0591-793121207806}"/>
                </a:ext>
              </a:extLst>
            </p:cNvPr>
            <p:cNvSpPr/>
            <p:nvPr/>
          </p:nvSpPr>
          <p:spPr>
            <a:xfrm>
              <a:off x="1966646" y="3286535"/>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62" name="图形 61" descr="教师">
              <a:extLst>
                <a:ext uri="{FF2B5EF4-FFF2-40B4-BE49-F238E27FC236}">
                  <a16:creationId xmlns:a16="http://schemas.microsoft.com/office/drawing/2014/main" id="{D6AD6752-469B-2905-5E2B-502BFE90212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56646" y="3376535"/>
              <a:ext cx="540000" cy="540000"/>
            </a:xfrm>
            <a:prstGeom prst="rect">
              <a:avLst/>
            </a:prstGeom>
          </p:spPr>
        </p:pic>
      </p:grpSp>
    </p:spTree>
    <p:extLst>
      <p:ext uri="{BB962C8B-B14F-4D97-AF65-F5344CB8AC3E}">
        <p14:creationId xmlns:p14="http://schemas.microsoft.com/office/powerpoint/2010/main" val="927028775"/>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B1124AA8-1D3F-D27E-BC0B-A1F9DEA91C9E}"/>
              </a:ext>
            </a:extLst>
          </p:cNvPr>
          <p:cNvGraphicFramePr>
            <a:graphicFrameLocks noGrp="1"/>
          </p:cNvGraphicFramePr>
          <p:nvPr>
            <p:extLst>
              <p:ext uri="{D42A27DB-BD31-4B8C-83A1-F6EECF244321}">
                <p14:modId xmlns:p14="http://schemas.microsoft.com/office/powerpoint/2010/main" val="1931746121"/>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367020">
                <a:tc gridSpan="6">
                  <a:txBody>
                    <a:bodyPr/>
                    <a:lstStyle/>
                    <a:p>
                      <a:pPr algn="l">
                        <a:buNone/>
                      </a:pPr>
                      <a:r>
                        <a:rPr lang="en-US" altLang="zh-CN" sz="1600" dirty="0">
                          <a:solidFill>
                            <a:srgbClr val="FFFF00"/>
                          </a:solidFill>
                        </a:rPr>
                        <a:t>Case 1</a:t>
                      </a:r>
                      <a:r>
                        <a:rPr lang="zh-CN" altLang="en-US" sz="1600" dirty="0">
                          <a:solidFill>
                            <a:schemeClr val="bg1"/>
                          </a:solidFill>
                        </a:rPr>
                        <a:t>：估值分布位于 </a:t>
                      </a:r>
                      <a:r>
                        <a:rPr lang="en-US" altLang="zh-CN" sz="1600" dirty="0">
                          <a:solidFill>
                            <a:schemeClr val="bg1"/>
                          </a:solidFill>
                        </a:rPr>
                        <a:t>3 </a:t>
                      </a:r>
                      <a:r>
                        <a:rPr lang="zh-CN" altLang="en-US" sz="1600" dirty="0">
                          <a:solidFill>
                            <a:schemeClr val="bg1"/>
                          </a:solidFill>
                        </a:rPr>
                        <a:t>个连续区域，则取平均</a:t>
                      </a:r>
                      <a:endParaRPr lang="en-US" altLang="zh-CN" sz="1600" dirty="0">
                        <a:solidFill>
                          <a:schemeClr val="bg1"/>
                        </a:solidFill>
                      </a:endParaRPr>
                    </a:p>
                    <a:p>
                      <a:pPr algn="l">
                        <a:buNone/>
                      </a:pP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mpd="sng">
                      <a:noFill/>
                      <a:prstDash val="soli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prstDash val="soli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bg1"/>
                          </a:solidFill>
                        </a:rPr>
                        <a:t>Result</a:t>
                      </a: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r>
                        <a:rPr lang="en-US" sz="1600" dirty="0">
                          <a:solidFill>
                            <a:schemeClr val="bg1"/>
                          </a:solidFill>
                        </a:rPr>
                        <a:t>(3+3+3+5+8)/5=4.4</a:t>
                      </a:r>
                      <a:r>
                        <a:rPr lang="zh-CN" altLang="en-US" sz="1600" dirty="0">
                          <a:solidFill>
                            <a:schemeClr val="bg1"/>
                          </a:solidFill>
                        </a:rPr>
                        <a:t>；取值 </a:t>
                      </a:r>
                      <a:r>
                        <a:rPr lang="en-US" altLang="zh-CN" sz="1600" dirty="0">
                          <a:solidFill>
                            <a:srgbClr val="FFFF00"/>
                          </a:solidFill>
                        </a:rPr>
                        <a:t>5</a:t>
                      </a:r>
                      <a:endParaRPr 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3675884508"/>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E6F0629C-437B-49CA-FAE8-6EBEE948C4C5}"/>
              </a:ext>
            </a:extLst>
          </p:cNvPr>
          <p:cNvGraphicFramePr>
            <a:graphicFrameLocks noGrp="1"/>
          </p:cNvGraphicFramePr>
          <p:nvPr>
            <p:extLst>
              <p:ext uri="{D42A27DB-BD31-4B8C-83A1-F6EECF244321}">
                <p14:modId xmlns:p14="http://schemas.microsoft.com/office/powerpoint/2010/main" val="1570996064"/>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rgbClr val="FFFF00"/>
                          </a:solidFill>
                        </a:rPr>
                        <a:t>Case 2</a:t>
                      </a:r>
                      <a:r>
                        <a:rPr lang="zh-CN" altLang="en-US" sz="1600" dirty="0">
                          <a:solidFill>
                            <a:schemeClr val="bg1"/>
                          </a:solidFill>
                        </a:rPr>
                        <a:t>：估值分布超过 </a:t>
                      </a:r>
                      <a:r>
                        <a:rPr lang="en-US" altLang="zh-CN" sz="1600" dirty="0">
                          <a:solidFill>
                            <a:schemeClr val="bg1"/>
                          </a:solidFill>
                        </a:rPr>
                        <a:t>3 </a:t>
                      </a:r>
                      <a:r>
                        <a:rPr lang="zh-CN" altLang="en-US" sz="1600" dirty="0">
                          <a:solidFill>
                            <a:schemeClr val="bg1"/>
                          </a:solidFill>
                        </a:rPr>
                        <a:t>个连续区域，最高估值和最低估值应说明原因并重新亮牌；最多可以重复 </a:t>
                      </a:r>
                      <a:r>
                        <a:rPr lang="en-US" altLang="zh-CN" sz="1600" dirty="0">
                          <a:solidFill>
                            <a:schemeClr val="bg1"/>
                          </a:solidFill>
                        </a:rPr>
                        <a:t>2 </a:t>
                      </a:r>
                      <a:r>
                        <a:rPr lang="zh-CN" altLang="en-US" sz="1600" dirty="0">
                          <a:solidFill>
                            <a:schemeClr val="bg1"/>
                          </a:solidFill>
                        </a:rPr>
                        <a:t>次</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rgbClr val="FFFF00"/>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rgbClr val="FFFF00"/>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bg1"/>
                          </a:solidFill>
                        </a:rPr>
                        <a:t>Result</a:t>
                      </a: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endParaRPr 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780782454"/>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D9035-EEA5-0D10-A7DD-7739926AF6C3}"/>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4AB43A85-5103-AA80-A2B0-B5D66D84F1D1}"/>
              </a:ext>
            </a:extLst>
          </p:cNvPr>
          <p:cNvGraphicFramePr>
            <a:graphicFrameLocks noGrp="1"/>
          </p:cNvGraphicFramePr>
          <p:nvPr>
            <p:extLst>
              <p:ext uri="{D42A27DB-BD31-4B8C-83A1-F6EECF244321}">
                <p14:modId xmlns:p14="http://schemas.microsoft.com/office/powerpoint/2010/main" val="3496110761"/>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rgbClr val="FFFF00"/>
                          </a:solidFill>
                        </a:rPr>
                        <a:t>Case 3</a:t>
                      </a:r>
                      <a:r>
                        <a:rPr lang="zh-CN" altLang="en-US" sz="1600" dirty="0">
                          <a:solidFill>
                            <a:schemeClr val="bg1"/>
                          </a:solidFill>
                        </a:rPr>
                        <a:t>：第 </a:t>
                      </a:r>
                      <a:r>
                        <a:rPr lang="en-US" altLang="zh-CN" sz="1600" dirty="0">
                          <a:solidFill>
                            <a:schemeClr val="bg1"/>
                          </a:solidFill>
                        </a:rPr>
                        <a:t>3 </a:t>
                      </a:r>
                      <a:r>
                        <a:rPr lang="zh-CN" altLang="en-US" sz="1600" dirty="0">
                          <a:solidFill>
                            <a:schemeClr val="bg1"/>
                          </a:solidFill>
                        </a:rPr>
                        <a:t>次重复亮牌，估值分布依然超过 </a:t>
                      </a:r>
                      <a:r>
                        <a:rPr lang="en-US" altLang="zh-CN" sz="1600" dirty="0">
                          <a:solidFill>
                            <a:schemeClr val="bg1"/>
                          </a:solidFill>
                        </a:rPr>
                        <a:t>3 </a:t>
                      </a:r>
                      <a:r>
                        <a:rPr lang="zh-CN" altLang="en-US" sz="1600" dirty="0">
                          <a:solidFill>
                            <a:schemeClr val="bg1"/>
                          </a:solidFill>
                        </a:rPr>
                        <a:t>个连续区域，去掉最高估值和最低估值，其余求平均</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rgbClr val="FFFF00"/>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rgbClr val="FFFF00"/>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bg1"/>
                          </a:solidFill>
                        </a:rPr>
                        <a:t>Result</a:t>
                      </a: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(3+3+5)/3</a:t>
                      </a:r>
                      <a:r>
                        <a:rPr lang="zh-CN" altLang="en-US" sz="1600" dirty="0">
                          <a:solidFill>
                            <a:schemeClr val="bg1"/>
                          </a:solidFill>
                        </a:rPr>
                        <a:t>≈</a:t>
                      </a:r>
                      <a:r>
                        <a:rPr lang="en-US" altLang="zh-CN" sz="1600" dirty="0">
                          <a:solidFill>
                            <a:schemeClr val="bg1"/>
                          </a:solidFill>
                        </a:rPr>
                        <a:t>3.67</a:t>
                      </a:r>
                      <a:r>
                        <a:rPr lang="zh-CN" altLang="en-US" sz="1600" dirty="0">
                          <a:solidFill>
                            <a:schemeClr val="bg1"/>
                          </a:solidFill>
                        </a:rPr>
                        <a:t>；取值 </a:t>
                      </a:r>
                      <a:r>
                        <a:rPr lang="en-US" altLang="zh-CN" sz="1600" dirty="0">
                          <a:solidFill>
                            <a:srgbClr val="FFFF00"/>
                          </a:solidFill>
                        </a:rPr>
                        <a:t>4</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69045292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a:xfrm>
            <a:off x="695998" y="360000"/>
            <a:ext cx="6375921" cy="429413"/>
          </a:xfrm>
        </p:spPr>
        <p:txBody>
          <a:bodyPr/>
          <a:lstStyle/>
          <a:p>
            <a:r>
              <a:rPr lang="en-US" altLang="zh-CN" dirty="0"/>
              <a:t>6.5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864000"/>
            <a:ext cx="10800000" cy="5400000"/>
          </a:xfrm>
        </p:spPr>
        <p:txBody>
          <a:bodyPr/>
          <a:lstStyle/>
          <a:p>
            <a:r>
              <a:rPr lang="zh-CN" altLang="en-US" dirty="0"/>
              <a:t>估算是成本管理的前期步骤，用于预测完成项目所需的成本，具有不确定性</a:t>
            </a:r>
          </a:p>
          <a:p>
            <a:r>
              <a:rPr lang="zh-CN" altLang="en-US" dirty="0"/>
              <a:t>预算则是在估算基础上，结合时间维度和工作分解结构（</a:t>
            </a:r>
            <a:r>
              <a:rPr lang="en-US" altLang="zh-CN" dirty="0"/>
              <a:t>WBS</a:t>
            </a:r>
            <a:r>
              <a:rPr lang="zh-CN" altLang="en-US" dirty="0"/>
              <a:t>），将成本分配到具体的时间段和工作单元或工作包，用于实际执行中的成本控制。</a:t>
            </a:r>
          </a:p>
          <a:p>
            <a:r>
              <a:rPr lang="zh-CN" altLang="en-US" dirty="0"/>
              <a:t>预算是一个经过批准的、用于控制和监控项目支出的财务计划</a:t>
            </a:r>
          </a:p>
          <a:p>
            <a:endParaRPr lang="en-US" altLang="zh-CN" dirty="0"/>
          </a:p>
        </p:txBody>
      </p:sp>
      <p:sp>
        <p:nvSpPr>
          <p:cNvPr id="17" name="文本占位符 16">
            <a:extLst>
              <a:ext uri="{FF2B5EF4-FFF2-40B4-BE49-F238E27FC236}">
                <a16:creationId xmlns:a16="http://schemas.microsoft.com/office/drawing/2014/main" id="{A4C24D18-EC46-D9BC-A303-04F9128B2C4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3516573"/>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899DC-B647-379B-89BF-2D4F5DA3DD81}"/>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D9E8C3E-540E-5778-359E-ED105794ED78}"/>
              </a:ext>
            </a:extLst>
          </p:cNvPr>
          <p:cNvSpPr txBox="1"/>
          <p:nvPr/>
        </p:nvSpPr>
        <p:spPr>
          <a:xfrm>
            <a:off x="1056000" y="1603407"/>
            <a:ext cx="954107" cy="400110"/>
          </a:xfrm>
          <a:prstGeom prst="rect">
            <a:avLst/>
          </a:prstGeom>
          <a:noFill/>
        </p:spPr>
        <p:txBody>
          <a:bodyPr wrap="none" rtlCol="0">
            <a:spAutoFit/>
          </a:bodyPr>
          <a:lstStyle/>
          <a:p>
            <a:r>
              <a:rPr lang="zh-CN" altLang="en-US" sz="2000" dirty="0">
                <a:solidFill>
                  <a:schemeClr val="bg1"/>
                </a:solidFill>
              </a:rPr>
              <a:t>单选题</a:t>
            </a:r>
          </a:p>
        </p:txBody>
      </p:sp>
      <p:cxnSp>
        <p:nvCxnSpPr>
          <p:cNvPr id="3" name="Straight Connector 3">
            <a:extLst>
              <a:ext uri="{FF2B5EF4-FFF2-40B4-BE49-F238E27FC236}">
                <a16:creationId xmlns:a16="http://schemas.microsoft.com/office/drawing/2014/main" id="{9EFE5641-AB9B-711C-ABBE-A2AF573C0C6E}"/>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A965D6C0-6A18-E544-ADCB-B8C0C8B16968}"/>
              </a:ext>
            </a:extLst>
          </p:cNvPr>
          <p:cNvSpPr txBox="1"/>
          <p:nvPr/>
        </p:nvSpPr>
        <p:spPr>
          <a:xfrm>
            <a:off x="1056000" y="2003517"/>
            <a:ext cx="10080000" cy="1785104"/>
          </a:xfrm>
          <a:prstGeom prst="rect">
            <a:avLst/>
          </a:prstGeom>
          <a:noFill/>
        </p:spPr>
        <p:txBody>
          <a:bodyPr wrap="square" rtlCol="0">
            <a:spAutoFit/>
          </a:bodyPr>
          <a:lstStyle/>
          <a:p>
            <a:pPr>
              <a:spcAft>
                <a:spcPts val="600"/>
              </a:spcAft>
            </a:pPr>
            <a:r>
              <a:rPr lang="zh-CN" altLang="en-US" dirty="0">
                <a:solidFill>
                  <a:schemeClr val="bg1"/>
                </a:solidFill>
              </a:rPr>
              <a:t>在成本管理过程中，每个时间段中的各个工作单元的成本是</a:t>
            </a:r>
            <a:r>
              <a:rPr lang="en-US" altLang="zh-CN" dirty="0">
                <a:solidFill>
                  <a:schemeClr val="bg1"/>
                </a:solidFill>
              </a:rPr>
              <a:t>( )</a:t>
            </a:r>
          </a:p>
          <a:p>
            <a:pPr>
              <a:spcAft>
                <a:spcPts val="600"/>
              </a:spcAft>
            </a:pPr>
            <a:r>
              <a:rPr lang="en-US" altLang="zh-CN" dirty="0">
                <a:solidFill>
                  <a:schemeClr val="bg1"/>
                </a:solidFill>
              </a:rPr>
              <a:t>A. </a:t>
            </a:r>
            <a:r>
              <a:rPr lang="zh-CN" altLang="en-US" dirty="0">
                <a:solidFill>
                  <a:schemeClr val="bg1"/>
                </a:solidFill>
              </a:rPr>
              <a:t>估算</a:t>
            </a:r>
            <a:endParaRPr lang="en-US" altLang="zh-CN" dirty="0">
              <a:solidFill>
                <a:schemeClr val="bg1"/>
              </a:solidFill>
            </a:endParaRPr>
          </a:p>
          <a:p>
            <a:pPr>
              <a:spcAft>
                <a:spcPts val="600"/>
              </a:spcAft>
            </a:pPr>
            <a:r>
              <a:rPr lang="en-US" altLang="zh-CN" dirty="0">
                <a:solidFill>
                  <a:schemeClr val="bg1"/>
                </a:solidFill>
              </a:rPr>
              <a:t>B. </a:t>
            </a:r>
            <a:r>
              <a:rPr lang="zh-CN" altLang="en-US" dirty="0">
                <a:solidFill>
                  <a:schemeClr val="bg1"/>
                </a:solidFill>
              </a:rPr>
              <a:t>预算</a:t>
            </a:r>
            <a:endParaRPr lang="en-US" altLang="zh-CN" dirty="0">
              <a:solidFill>
                <a:schemeClr val="bg1"/>
              </a:solidFill>
            </a:endParaRPr>
          </a:p>
          <a:p>
            <a:pPr>
              <a:spcAft>
                <a:spcPts val="600"/>
              </a:spcAft>
            </a:pPr>
            <a:r>
              <a:rPr lang="en-US" altLang="zh-CN" dirty="0">
                <a:solidFill>
                  <a:schemeClr val="bg1"/>
                </a:solidFill>
              </a:rPr>
              <a:t>C. </a:t>
            </a:r>
            <a:r>
              <a:rPr lang="zh-CN" altLang="en-US" dirty="0">
                <a:solidFill>
                  <a:schemeClr val="bg1"/>
                </a:solidFill>
              </a:rPr>
              <a:t>直接成本</a:t>
            </a:r>
            <a:endParaRPr lang="en-US" altLang="zh-CN" dirty="0">
              <a:solidFill>
                <a:schemeClr val="bg1"/>
              </a:solidFill>
            </a:endParaRPr>
          </a:p>
          <a:p>
            <a:pPr>
              <a:spcAft>
                <a:spcPts val="600"/>
              </a:spcAft>
            </a:pPr>
            <a:r>
              <a:rPr lang="en-US" altLang="zh-CN" dirty="0">
                <a:solidFill>
                  <a:schemeClr val="bg1"/>
                </a:solidFill>
              </a:rPr>
              <a:t>D. </a:t>
            </a:r>
            <a:r>
              <a:rPr lang="zh-CN" altLang="en-US" dirty="0">
                <a:solidFill>
                  <a:schemeClr val="bg1"/>
                </a:solidFill>
              </a:rPr>
              <a:t>间接成本</a:t>
            </a:r>
          </a:p>
        </p:txBody>
      </p:sp>
    </p:spTree>
    <p:extLst>
      <p:ext uri="{BB962C8B-B14F-4D97-AF65-F5344CB8AC3E}">
        <p14:creationId xmlns:p14="http://schemas.microsoft.com/office/powerpoint/2010/main" val="3287300849"/>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FC270D-8DE2-BACB-4E6F-EFFBAD479A88}"/>
              </a:ext>
            </a:extLst>
          </p:cNvPr>
          <p:cNvSpPr>
            <a:spLocks noGrp="1"/>
          </p:cNvSpPr>
          <p:nvPr>
            <p:ph type="title"/>
          </p:nvPr>
        </p:nvSpPr>
        <p:spPr>
          <a:xfrm>
            <a:off x="695998" y="360000"/>
            <a:ext cx="6375921" cy="429413"/>
          </a:xfrm>
        </p:spPr>
        <p:txBody>
          <a:bodyPr/>
          <a:lstStyle/>
          <a:p>
            <a:r>
              <a:rPr lang="en-US" altLang="zh-CN" dirty="0"/>
              <a:t>6.5.1 </a:t>
            </a:r>
            <a:r>
              <a:rPr lang="zh-CN" altLang="en-US" dirty="0"/>
              <a:t>成本基线</a:t>
            </a:r>
          </a:p>
        </p:txBody>
      </p:sp>
      <p:sp>
        <p:nvSpPr>
          <p:cNvPr id="3" name="内容占位符 2">
            <a:extLst>
              <a:ext uri="{FF2B5EF4-FFF2-40B4-BE49-F238E27FC236}">
                <a16:creationId xmlns:a16="http://schemas.microsoft.com/office/drawing/2014/main" id="{EBDED5F2-6AA3-1B47-5796-46A8C62C047F}"/>
              </a:ext>
            </a:extLst>
          </p:cNvPr>
          <p:cNvSpPr>
            <a:spLocks noGrp="1"/>
          </p:cNvSpPr>
          <p:nvPr>
            <p:ph idx="1"/>
          </p:nvPr>
        </p:nvSpPr>
        <p:spPr>
          <a:xfrm>
            <a:off x="696000" y="864000"/>
            <a:ext cx="10800000" cy="5400000"/>
          </a:xfrm>
        </p:spPr>
        <p:txBody>
          <a:bodyPr/>
          <a:lstStyle/>
          <a:p>
            <a:r>
              <a:rPr lang="zh-CN" altLang="en-US" dirty="0"/>
              <a:t>成本基线 </a:t>
            </a:r>
            <a:r>
              <a:rPr lang="en-US" altLang="zh-CN" dirty="0"/>
              <a:t>Cost Baseline</a:t>
            </a:r>
            <a:r>
              <a:rPr lang="zh-CN" altLang="en-US" dirty="0"/>
              <a:t>：时间计划和成本预算计划</a:t>
            </a:r>
            <a:endParaRPr lang="en-US" altLang="zh-CN" dirty="0"/>
          </a:p>
          <a:p>
            <a:r>
              <a:rPr lang="zh-CN" altLang="en-US" dirty="0"/>
              <a:t>项目管理者度量和监控项目的依据</a:t>
            </a:r>
          </a:p>
          <a:p>
            <a:endParaRPr lang="zh-CN" altLang="en-US" dirty="0"/>
          </a:p>
        </p:txBody>
      </p:sp>
      <p:sp>
        <p:nvSpPr>
          <p:cNvPr id="4" name="文本占位符 3">
            <a:extLst>
              <a:ext uri="{FF2B5EF4-FFF2-40B4-BE49-F238E27FC236}">
                <a16:creationId xmlns:a16="http://schemas.microsoft.com/office/drawing/2014/main" id="{4B30ED74-4E0F-8E84-DEFC-708424C01488}"/>
              </a:ext>
            </a:extLst>
          </p:cNvPr>
          <p:cNvSpPr>
            <a:spLocks noGrp="1"/>
          </p:cNvSpPr>
          <p:nvPr>
            <p:ph type="body" sz="quarter" idx="10"/>
          </p:nvPr>
        </p:nvSpPr>
        <p:spPr>
          <a:xfrm>
            <a:off x="7071919" y="448519"/>
            <a:ext cx="4424080" cy="338554"/>
          </a:xfrm>
        </p:spPr>
        <p:txBody>
          <a:bodyPr/>
          <a:lstStyle/>
          <a:p>
            <a:r>
              <a:rPr lang="en-US" altLang="zh-CN" dirty="0"/>
              <a:t>Cost Baseline</a:t>
            </a:r>
            <a:endParaRPr lang="zh-CN" altLang="en-US" dirty="0"/>
          </a:p>
        </p:txBody>
      </p:sp>
    </p:spTree>
    <p:extLst>
      <p:ext uri="{BB962C8B-B14F-4D97-AF65-F5344CB8AC3E}">
        <p14:creationId xmlns:p14="http://schemas.microsoft.com/office/powerpoint/2010/main" val="2228147631"/>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a:xfrm>
            <a:off x="695998" y="360000"/>
            <a:ext cx="6375921" cy="429413"/>
          </a:xfrm>
        </p:spPr>
        <p:txBody>
          <a:bodyPr/>
          <a:lstStyle/>
          <a:p>
            <a:r>
              <a:rPr lang="en-US" altLang="zh-CN" dirty="0"/>
              <a:t>6.5.2 </a:t>
            </a:r>
            <a:r>
              <a:rPr lang="zh-CN" altLang="en-US" dirty="0"/>
              <a:t>分配成本预算</a:t>
            </a:r>
          </a:p>
        </p:txBody>
      </p:sp>
      <p:sp>
        <p:nvSpPr>
          <p:cNvPr id="6" name="内容占位符 5">
            <a:extLst>
              <a:ext uri="{FF2B5EF4-FFF2-40B4-BE49-F238E27FC236}">
                <a16:creationId xmlns:a16="http://schemas.microsoft.com/office/drawing/2014/main" id="{9CCEF633-BC9B-9E88-D40D-26AD71AAC625}"/>
              </a:ext>
            </a:extLst>
          </p:cNvPr>
          <p:cNvSpPr>
            <a:spLocks noGrp="1"/>
          </p:cNvSpPr>
          <p:nvPr>
            <p:ph idx="1"/>
          </p:nvPr>
        </p:nvSpPr>
        <p:spPr/>
        <p:txBody>
          <a:bodyPr/>
          <a:lstStyle/>
          <a:p>
            <a:r>
              <a:rPr lang="zh-CN" altLang="en-US" dirty="0"/>
              <a:t>分配资源成本</a:t>
            </a:r>
            <a:endParaRPr lang="en-US" altLang="zh-CN" dirty="0"/>
          </a:p>
          <a:p>
            <a:pPr lvl="1"/>
            <a:r>
              <a:rPr lang="zh-CN" altLang="en-US" dirty="0"/>
              <a:t>应用最为广泛</a:t>
            </a:r>
            <a:endParaRPr lang="en-US" altLang="zh-CN" dirty="0"/>
          </a:p>
          <a:p>
            <a:pPr lvl="1"/>
            <a:r>
              <a:rPr lang="zh-CN" altLang="en-US" dirty="0"/>
              <a:t>根据资源分配情况，按照资源费率计算成本</a:t>
            </a:r>
            <a:endParaRPr lang="en-US" altLang="zh-CN" dirty="0"/>
          </a:p>
          <a:p>
            <a:pPr lvl="1"/>
            <a:r>
              <a:rPr lang="en-US" altLang="zh-CN" dirty="0"/>
              <a:t>200</a:t>
            </a:r>
            <a:r>
              <a:rPr lang="zh-CN" altLang="en-US" dirty="0"/>
              <a:t>元</a:t>
            </a:r>
            <a:r>
              <a:rPr lang="en-US" altLang="zh-CN" dirty="0"/>
              <a:t>/</a:t>
            </a:r>
            <a:r>
              <a:rPr lang="zh-CN" altLang="en-US" dirty="0"/>
              <a:t>人</a:t>
            </a:r>
            <a:endParaRPr lang="en-US" altLang="zh-CN" dirty="0"/>
          </a:p>
          <a:p>
            <a:r>
              <a:rPr lang="zh-CN" altLang="en-US" dirty="0"/>
              <a:t>分配固定资源成本</a:t>
            </a:r>
            <a:endParaRPr lang="en-US" altLang="zh-CN" dirty="0"/>
          </a:p>
          <a:p>
            <a:pPr lvl="1"/>
            <a:r>
              <a:rPr lang="zh-CN" altLang="en-US" dirty="0"/>
              <a:t>按照固定资源分配成本</a:t>
            </a:r>
            <a:endParaRPr lang="en-US" altLang="zh-CN" dirty="0"/>
          </a:p>
          <a:p>
            <a:pPr lvl="1"/>
            <a:r>
              <a:rPr lang="zh-CN" altLang="en-US" dirty="0"/>
              <a:t>不考虑具体工时</a:t>
            </a:r>
            <a:endParaRPr lang="en-US" altLang="zh-CN" dirty="0"/>
          </a:p>
          <a:p>
            <a:pPr lvl="1"/>
            <a:r>
              <a:rPr lang="zh-CN" altLang="en-US" dirty="0"/>
              <a:t>年薪制</a:t>
            </a:r>
            <a:r>
              <a:rPr lang="en-US" altLang="zh-CN" dirty="0"/>
              <a:t>/</a:t>
            </a:r>
            <a:r>
              <a:rPr lang="zh-CN" altLang="en-US" dirty="0"/>
              <a:t>包工包料</a:t>
            </a:r>
            <a:endParaRPr lang="en-US" altLang="zh-CN" dirty="0"/>
          </a:p>
          <a:p>
            <a:r>
              <a:rPr lang="zh-CN" altLang="en-US" dirty="0"/>
              <a:t>分配固定成本</a:t>
            </a:r>
            <a:endParaRPr lang="en-US" altLang="zh-CN" dirty="0"/>
          </a:p>
          <a:p>
            <a:pPr lvl="1"/>
            <a:r>
              <a:rPr lang="zh-CN" altLang="en-US" dirty="0"/>
              <a:t>成本固定，不考虑实际工期</a:t>
            </a:r>
          </a:p>
        </p:txBody>
      </p:sp>
      <p:sp>
        <p:nvSpPr>
          <p:cNvPr id="7" name="文本占位符 6">
            <a:extLst>
              <a:ext uri="{FF2B5EF4-FFF2-40B4-BE49-F238E27FC236}">
                <a16:creationId xmlns:a16="http://schemas.microsoft.com/office/drawing/2014/main" id="{40349F33-138F-375A-11E2-C2A47346878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28DEA14-752B-6E03-F91C-D055FB95D1A2}"/>
              </a:ext>
            </a:extLst>
          </p:cNvPr>
          <p:cNvGraphicFramePr>
            <a:graphicFrameLocks noGrp="1"/>
          </p:cNvGraphicFramePr>
          <p:nvPr>
            <p:extLst>
              <p:ext uri="{D42A27DB-BD31-4B8C-83A1-F6EECF244321}">
                <p14:modId xmlns:p14="http://schemas.microsoft.com/office/powerpoint/2010/main" val="1391100245"/>
              </p:ext>
            </p:extLst>
          </p:nvPr>
        </p:nvGraphicFramePr>
        <p:xfrm>
          <a:off x="892839" y="1920240"/>
          <a:ext cx="5040000" cy="3017520"/>
        </p:xfrm>
        <a:graphic>
          <a:graphicData uri="http://schemas.openxmlformats.org/drawingml/2006/table">
            <a:tbl>
              <a:tblPr/>
              <a:tblGrid>
                <a:gridCol w="180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lgn="ctr">
                        <a:buNone/>
                      </a:pPr>
                      <a:r>
                        <a:rPr lang="en-US" altLang="zh-CN" sz="1600" baseline="0" dirty="0">
                          <a:solidFill>
                            <a:schemeClr val="bg1"/>
                          </a:solidFill>
                          <a:latin typeface="Times New Roman" panose="02020603050405020304" pitchFamily="18" charset="0"/>
                        </a:rPr>
                        <a:t>WBS</a:t>
                      </a:r>
                      <a:endParaRPr lang="zh-CN" alt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600" baseline="0" dirty="0">
                          <a:solidFill>
                            <a:schemeClr val="bg1"/>
                          </a:solidFill>
                          <a:latin typeface="Times New Roman" panose="02020603050405020304" pitchFamily="18" charset="0"/>
                        </a:rPr>
                        <a:t>成本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600" baseline="0" dirty="0">
                          <a:solidFill>
                            <a:schemeClr val="bg1"/>
                          </a:solidFill>
                          <a:latin typeface="Times New Roman" panose="02020603050405020304" pitchFamily="18" charset="0"/>
                        </a:rPr>
                        <a:t>成本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600" baseline="0" dirty="0">
                          <a:solidFill>
                            <a:schemeClr val="bg1"/>
                          </a:solidFill>
                          <a:latin typeface="Times New Roman" panose="02020603050405020304" pitchFamily="18" charset="0"/>
                        </a:rPr>
                        <a:t>总成本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600" baseline="0" dirty="0">
                          <a:solidFill>
                            <a:schemeClr val="bg1"/>
                          </a:solidFill>
                          <a:latin typeface="Times New Roman" panose="02020603050405020304" pitchFamily="18" charset="0"/>
                        </a:rPr>
                        <a:t>1. </a:t>
                      </a:r>
                      <a:r>
                        <a:rPr lang="zh-CN" altLang="en-US" sz="1600" baseline="0" dirty="0">
                          <a:solidFill>
                            <a:schemeClr val="bg1"/>
                          </a:solidFill>
                          <a:latin typeface="Times New Roman" panose="02020603050405020304" pitchFamily="18" charset="0"/>
                        </a:rPr>
                        <a:t>功能 </a:t>
                      </a:r>
                      <a:r>
                        <a:rPr lang="en-US" altLang="zh-CN" sz="1600" baseline="0" dirty="0">
                          <a:solidFill>
                            <a:schemeClr val="bg1"/>
                          </a:solidFill>
                          <a:latin typeface="Times New Roman" panose="02020603050405020304" pitchFamily="18" charset="0"/>
                        </a:rPr>
                        <a:t>1</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p>
                      <a:pPr>
                        <a:buNone/>
                      </a:pPr>
                      <a:r>
                        <a:rPr lang="en-US" altLang="zh-CN" sz="1600" baseline="0" dirty="0">
                          <a:solidFill>
                            <a:schemeClr val="bg1"/>
                          </a:solidFill>
                          <a:latin typeface="Times New Roman" panose="02020603050405020304" pitchFamily="18" charset="0"/>
                        </a:rPr>
                        <a:t>8</a:t>
                      </a:r>
                      <a:endParaRPr lang="zh-CN" alt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rowSpan="8">
                  <a:txBody>
                    <a:bodyPr/>
                    <a:lstStyle/>
                    <a:p>
                      <a:pPr algn="ctr">
                        <a:buNone/>
                      </a:pPr>
                      <a:r>
                        <a:rPr lang="en-US" altLang="zh-CN" sz="1600" baseline="0" dirty="0">
                          <a:solidFill>
                            <a:schemeClr val="bg1"/>
                          </a:solidFill>
                          <a:latin typeface="Times New Roman" panose="02020603050405020304" pitchFamily="18" charset="0"/>
                        </a:rPr>
                        <a:t>16</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baseline="0" dirty="0">
                          <a:solidFill>
                            <a:schemeClr val="bg1"/>
                          </a:solidFill>
                          <a:latin typeface="Times New Roman" panose="02020603050405020304" pitchFamily="18" charset="0"/>
                        </a:rPr>
                        <a:t>1.1 </a:t>
                      </a:r>
                      <a:r>
                        <a:rPr lang="zh-CN" altLang="en-US" sz="1600" baseline="0" dirty="0">
                          <a:solidFill>
                            <a:schemeClr val="bg1"/>
                          </a:solidFill>
                          <a:latin typeface="Times New Roman" panose="02020603050405020304" pitchFamily="18" charset="0"/>
                        </a:rPr>
                        <a:t>子功能 </a:t>
                      </a:r>
                      <a:r>
                        <a:rPr lang="en-US" altLang="zh-CN" sz="1600" baseline="0" dirty="0">
                          <a:solidFill>
                            <a:schemeClr val="bg1"/>
                          </a:solidFill>
                          <a:latin typeface="Times New Roman" panose="02020603050405020304" pitchFamily="18" charset="0"/>
                        </a:rPr>
                        <a:t>1</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600" baseline="0" dirty="0">
                          <a:solidFill>
                            <a:schemeClr val="bg1"/>
                          </a:solidFill>
                          <a:latin typeface="Times New Roman" panose="02020603050405020304" pitchFamily="18" charset="0"/>
                        </a:rPr>
                        <a:t>1.2 </a:t>
                      </a:r>
                      <a:r>
                        <a:rPr lang="zh-CN" altLang="en-US" sz="1600" baseline="0" dirty="0">
                          <a:solidFill>
                            <a:schemeClr val="bg1"/>
                          </a:solidFill>
                          <a:latin typeface="Times New Roman" panose="02020603050405020304" pitchFamily="18" charset="0"/>
                        </a:rPr>
                        <a:t>子功能 </a:t>
                      </a:r>
                      <a:r>
                        <a:rPr lang="en-US" altLang="zh-CN" sz="1600" baseline="0" dirty="0">
                          <a:solidFill>
                            <a:schemeClr val="bg1"/>
                          </a:solidFill>
                          <a:latin typeface="Times New Roman" panose="02020603050405020304" pitchFamily="18" charset="0"/>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600" baseline="0" dirty="0">
                          <a:solidFill>
                            <a:schemeClr val="bg1"/>
                          </a:solidFill>
                          <a:latin typeface="Times New Roman" panose="02020603050405020304" pitchFamily="18" charset="0"/>
                        </a:rPr>
                        <a:t>2. </a:t>
                      </a:r>
                      <a:r>
                        <a:rPr lang="zh-CN" altLang="en-US" sz="1600" baseline="0" dirty="0">
                          <a:solidFill>
                            <a:schemeClr val="bg1"/>
                          </a:solidFill>
                          <a:latin typeface="Times New Roman" panose="02020603050405020304" pitchFamily="18" charset="0"/>
                        </a:rPr>
                        <a:t>功能 </a:t>
                      </a:r>
                      <a:r>
                        <a:rPr lang="en-US" altLang="zh-CN" sz="1600" baseline="0" dirty="0">
                          <a:solidFill>
                            <a:schemeClr val="bg1"/>
                          </a:solidFill>
                          <a:latin typeface="Times New Roman" panose="02020603050405020304" pitchFamily="18" charset="0"/>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rowSpan="4">
                  <a:txBody>
                    <a:bodyPr/>
                    <a:lstStyle/>
                    <a:p>
                      <a:pPr>
                        <a:buNone/>
                      </a:pPr>
                      <a:r>
                        <a:rPr lang="en-US" altLang="zh-CN" sz="1600" baseline="0" dirty="0">
                          <a:solidFill>
                            <a:schemeClr val="bg1"/>
                          </a:solidFill>
                          <a:latin typeface="Times New Roman" panose="02020603050405020304" pitchFamily="18" charset="0"/>
                        </a:rPr>
                        <a:t>6</a:t>
                      </a:r>
                      <a:endParaRPr lang="zh-CN" alt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600" baseline="0" dirty="0">
                          <a:solidFill>
                            <a:schemeClr val="bg1"/>
                          </a:solidFill>
                          <a:latin typeface="Times New Roman" panose="02020603050405020304" pitchFamily="18" charset="0"/>
                        </a:rPr>
                        <a:t>2.1 </a:t>
                      </a:r>
                      <a:r>
                        <a:rPr lang="zh-CN" altLang="en-US" sz="1600" baseline="0" dirty="0">
                          <a:solidFill>
                            <a:schemeClr val="bg1"/>
                          </a:solidFill>
                          <a:latin typeface="Times New Roman" panose="02020603050405020304" pitchFamily="18" charset="0"/>
                        </a:rPr>
                        <a:t>子功能 </a:t>
                      </a:r>
                      <a:r>
                        <a:rPr lang="en-US" altLang="zh-CN" sz="1600" baseline="0" dirty="0">
                          <a:solidFill>
                            <a:schemeClr val="bg1"/>
                          </a:solidFill>
                          <a:latin typeface="Times New Roman" panose="02020603050405020304" pitchFamily="18" charset="0"/>
                        </a:rPr>
                        <a:t>1</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altLang="zh-CN" sz="1600" baseline="0" dirty="0">
                          <a:solidFill>
                            <a:schemeClr val="bg1"/>
                          </a:solidFill>
                          <a:latin typeface="Times New Roman" panose="02020603050405020304" pitchFamily="18" charset="0"/>
                        </a:rPr>
                        <a:t>2.2 </a:t>
                      </a:r>
                      <a:r>
                        <a:rPr lang="zh-CN" altLang="en-US" sz="1600" baseline="0" dirty="0">
                          <a:solidFill>
                            <a:schemeClr val="bg1"/>
                          </a:solidFill>
                          <a:latin typeface="Times New Roman" panose="02020603050405020304" pitchFamily="18" charset="0"/>
                        </a:rPr>
                        <a:t>子功能 </a:t>
                      </a:r>
                      <a:r>
                        <a:rPr lang="en-US" altLang="zh-CN" sz="1600" baseline="0" dirty="0">
                          <a:solidFill>
                            <a:schemeClr val="bg1"/>
                          </a:solidFill>
                          <a:latin typeface="Times New Roman" panose="02020603050405020304" pitchFamily="18" charset="0"/>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aseline="0" dirty="0">
                          <a:solidFill>
                            <a:schemeClr val="bg1"/>
                          </a:solidFill>
                          <a:latin typeface="Times New Roman" panose="02020603050405020304" pitchFamily="18" charset="0"/>
                        </a:rPr>
                        <a:t>2.3 </a:t>
                      </a:r>
                      <a:r>
                        <a:rPr lang="zh-CN" altLang="en-US" sz="1600" baseline="0" dirty="0">
                          <a:solidFill>
                            <a:schemeClr val="bg1"/>
                          </a:solidFill>
                          <a:latin typeface="Times New Roman" panose="02020603050405020304" pitchFamily="18" charset="0"/>
                        </a:rPr>
                        <a:t>子功能 </a:t>
                      </a:r>
                      <a:r>
                        <a:rPr lang="en-US" altLang="zh-CN" sz="1600" baseline="0" dirty="0">
                          <a:solidFill>
                            <a:schemeClr val="bg1"/>
                          </a:solidFill>
                          <a:latin typeface="Times New Roman" panose="02020603050405020304" pitchFamily="18" charset="0"/>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aseline="0" dirty="0">
                          <a:solidFill>
                            <a:schemeClr val="bg1"/>
                          </a:solidFill>
                          <a:latin typeface="Times New Roman" panose="02020603050405020304" pitchFamily="18" charset="0"/>
                        </a:rPr>
                        <a:t>3. </a:t>
                      </a:r>
                      <a:r>
                        <a:rPr lang="zh-CN" altLang="en-US" sz="1600" baseline="0" dirty="0">
                          <a:solidFill>
                            <a:schemeClr val="bg1"/>
                          </a:solidFill>
                          <a:latin typeface="Times New Roman" panose="02020603050405020304" pitchFamily="18" charset="0"/>
                        </a:rPr>
                        <a:t>子功能 </a:t>
                      </a:r>
                      <a:r>
                        <a:rPr lang="en-US" altLang="zh-CN" sz="1600" baseline="0" dirty="0">
                          <a:solidFill>
                            <a:schemeClr val="bg1"/>
                          </a:solidFill>
                          <a:latin typeface="Times New Roman" panose="02020603050405020304" pitchFamily="18" charset="0"/>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baseline="0" dirty="0">
                          <a:solidFill>
                            <a:schemeClr val="bg1"/>
                          </a:solidFill>
                          <a:latin typeface="Times New Roman" panose="02020603050405020304" pitchFamily="18" charset="0"/>
                        </a:rPr>
                        <a:t>2</a:t>
                      </a:r>
                      <a:endParaRPr lang="zh-CN" alt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121283430"/>
                  </a:ext>
                </a:extLst>
              </a:tr>
            </a:tbl>
          </a:graphicData>
        </a:graphic>
      </p:graphicFrame>
      <p:graphicFrame>
        <p:nvGraphicFramePr>
          <p:cNvPr id="6" name="表格 5">
            <a:extLst>
              <a:ext uri="{FF2B5EF4-FFF2-40B4-BE49-F238E27FC236}">
                <a16:creationId xmlns:a16="http://schemas.microsoft.com/office/drawing/2014/main" id="{A1D71CA9-AC76-EEE5-7854-55E4CCF25C7F}"/>
              </a:ext>
            </a:extLst>
          </p:cNvPr>
          <p:cNvGraphicFramePr>
            <a:graphicFrameLocks noGrp="1"/>
          </p:cNvGraphicFramePr>
          <p:nvPr>
            <p:extLst>
              <p:ext uri="{D42A27DB-BD31-4B8C-83A1-F6EECF244321}">
                <p14:modId xmlns:p14="http://schemas.microsoft.com/office/powerpoint/2010/main" val="355908151"/>
              </p:ext>
            </p:extLst>
          </p:nvPr>
        </p:nvGraphicFramePr>
        <p:xfrm>
          <a:off x="8059161" y="1920240"/>
          <a:ext cx="3240000" cy="3017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461627196"/>
                    </a:ext>
                  </a:extLst>
                </a:gridCol>
              </a:tblGrid>
              <a:tr h="0">
                <a:tc>
                  <a:txBody>
                    <a:bodyPr/>
                    <a:lstStyle/>
                    <a:p>
                      <a:pPr algn="ctr">
                        <a:buNone/>
                      </a:pPr>
                      <a:r>
                        <a:rPr lang="zh-CN" altLang="en-US" sz="1600" baseline="0" dirty="0">
                          <a:solidFill>
                            <a:schemeClr val="bg1"/>
                          </a:solidFill>
                          <a:latin typeface="Times New Roman" panose="02020603050405020304" pitchFamily="18" charset="0"/>
                        </a:rPr>
                        <a:t>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600" baseline="0" dirty="0">
                          <a:solidFill>
                            <a:schemeClr val="bg1"/>
                          </a:solidFill>
                          <a:latin typeface="Times New Roman" panose="02020603050405020304" pitchFamily="18" charset="0"/>
                        </a:rPr>
                        <a:t>任务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600" baseline="0" dirty="0">
                          <a:solidFill>
                            <a:schemeClr val="bg1"/>
                          </a:solidFill>
                          <a:latin typeface="Times New Roman" panose="02020603050405020304" pitchFamily="18" charset="0"/>
                        </a:rPr>
                        <a:t>成本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600" baseline="0" dirty="0">
                          <a:solidFill>
                            <a:schemeClr val="bg1"/>
                          </a:solidFill>
                          <a:latin typeface="Times New Roman" panose="02020603050405020304" pitchFamily="18" charset="0"/>
                        </a:rPr>
                        <a:t>1</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规划</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baseline="0" dirty="0">
                          <a:solidFill>
                            <a:schemeClr val="bg1"/>
                          </a:solidFill>
                          <a:latin typeface="Times New Roman" panose="02020603050405020304" pitchFamily="18" charset="0"/>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需求</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600" baseline="0" dirty="0">
                          <a:solidFill>
                            <a:schemeClr val="bg1"/>
                          </a:solidFill>
                          <a:latin typeface="Times New Roman" panose="02020603050405020304" pitchFamily="18" charset="0"/>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概要设计</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4</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600" baseline="0" dirty="0">
                          <a:solidFill>
                            <a:schemeClr val="bg1"/>
                          </a:solidFill>
                          <a:latin typeface="Times New Roman" panose="02020603050405020304" pitchFamily="18" charset="0"/>
                        </a:rPr>
                        <a:t>4</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详细设计</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48738852"/>
                  </a:ext>
                </a:extLst>
              </a:tr>
              <a:tr h="0">
                <a:tc>
                  <a:txBody>
                    <a:bodyPr/>
                    <a:lstStyle/>
                    <a:p>
                      <a:pPr>
                        <a:buNone/>
                      </a:pPr>
                      <a:r>
                        <a:rPr lang="en-US" sz="1600" baseline="0" dirty="0">
                          <a:solidFill>
                            <a:schemeClr val="bg1"/>
                          </a:solidFill>
                          <a:latin typeface="Times New Roman" panose="02020603050405020304" pitchFamily="18" charset="0"/>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开发 </a:t>
                      </a:r>
                      <a:r>
                        <a:rPr lang="en-US" altLang="zh-CN" sz="1600" baseline="0" dirty="0">
                          <a:solidFill>
                            <a:schemeClr val="bg1"/>
                          </a:solidFill>
                          <a:latin typeface="Times New Roman" panose="02020603050405020304" pitchFamily="18" charset="0"/>
                        </a:rPr>
                        <a:t>1</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8</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altLang="zh-CN" sz="1600" baseline="0" dirty="0">
                          <a:solidFill>
                            <a:schemeClr val="bg1"/>
                          </a:solidFill>
                          <a:latin typeface="Times New Roman" panose="02020603050405020304" pitchFamily="18" charset="0"/>
                        </a:rPr>
                        <a:t>6</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开发 </a:t>
                      </a:r>
                      <a:r>
                        <a:rPr lang="en-US" altLang="zh-CN" sz="1600" baseline="0" dirty="0">
                          <a:solidFill>
                            <a:schemeClr val="bg1"/>
                          </a:solidFill>
                          <a:latin typeface="Times New Roman" panose="02020603050405020304" pitchFamily="18" charset="0"/>
                        </a:rPr>
                        <a:t>2</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12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aseline="0" dirty="0">
                          <a:solidFill>
                            <a:schemeClr val="bg1"/>
                          </a:solidFill>
                          <a:latin typeface="Times New Roman" panose="02020603050405020304" pitchFamily="18" charset="0"/>
                        </a:rPr>
                        <a:t>7</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测试</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14</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aseline="0" dirty="0">
                          <a:solidFill>
                            <a:schemeClr val="bg1"/>
                          </a:solidFill>
                          <a:latin typeface="Times New Roman" panose="02020603050405020304" pitchFamily="18" charset="0"/>
                        </a:rPr>
                        <a:t>8</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验收</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16</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bl>
          </a:graphicData>
        </a:graphic>
      </p:graphicFrame>
      <p:sp>
        <p:nvSpPr>
          <p:cNvPr id="7" name="文本框 6">
            <a:extLst>
              <a:ext uri="{FF2B5EF4-FFF2-40B4-BE49-F238E27FC236}">
                <a16:creationId xmlns:a16="http://schemas.microsoft.com/office/drawing/2014/main" id="{9F86CF59-554B-6EE6-7CF4-7240CBFEB76C}"/>
              </a:ext>
            </a:extLst>
          </p:cNvPr>
          <p:cNvSpPr txBox="1"/>
          <p:nvPr/>
        </p:nvSpPr>
        <p:spPr>
          <a:xfrm>
            <a:off x="2699342" y="1474841"/>
            <a:ext cx="1426994" cy="338554"/>
          </a:xfrm>
          <a:prstGeom prst="rect">
            <a:avLst/>
          </a:prstGeom>
          <a:noFill/>
        </p:spPr>
        <p:txBody>
          <a:bodyPr wrap="none" rtlCol="0">
            <a:spAutoFit/>
          </a:bodyPr>
          <a:lstStyle/>
          <a:p>
            <a:pPr algn="l"/>
            <a:r>
              <a:rPr lang="zh-CN" altLang="en-US" sz="1600" dirty="0">
                <a:solidFill>
                  <a:schemeClr val="bg1"/>
                </a:solidFill>
              </a:rPr>
              <a:t>项目成本估算</a:t>
            </a:r>
          </a:p>
        </p:txBody>
      </p:sp>
      <p:sp>
        <p:nvSpPr>
          <p:cNvPr id="8" name="文本框 7">
            <a:extLst>
              <a:ext uri="{FF2B5EF4-FFF2-40B4-BE49-F238E27FC236}">
                <a16:creationId xmlns:a16="http://schemas.microsoft.com/office/drawing/2014/main" id="{55E576DB-1C2B-0655-D135-447838E16E65}"/>
              </a:ext>
            </a:extLst>
          </p:cNvPr>
          <p:cNvSpPr txBox="1"/>
          <p:nvPr/>
        </p:nvSpPr>
        <p:spPr>
          <a:xfrm>
            <a:off x="8965664" y="1474841"/>
            <a:ext cx="1415772" cy="338554"/>
          </a:xfrm>
          <a:prstGeom prst="rect">
            <a:avLst/>
          </a:prstGeom>
          <a:noFill/>
        </p:spPr>
        <p:txBody>
          <a:bodyPr wrap="none" rtlCol="0">
            <a:spAutoFit/>
          </a:bodyPr>
          <a:lstStyle/>
          <a:p>
            <a:pPr algn="l"/>
            <a:r>
              <a:rPr lang="zh-CN" altLang="en-US" sz="1600" dirty="0">
                <a:solidFill>
                  <a:schemeClr val="bg1"/>
                </a:solidFill>
              </a:rPr>
              <a:t>项目成本预算</a:t>
            </a:r>
          </a:p>
        </p:txBody>
      </p:sp>
    </p:spTree>
    <p:extLst>
      <p:ext uri="{BB962C8B-B14F-4D97-AF65-F5344CB8AC3E}">
        <p14:creationId xmlns:p14="http://schemas.microsoft.com/office/powerpoint/2010/main" val="589236332"/>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2624C0F9-E7EA-9175-90E6-0ABCF9B4CD79}"/>
              </a:ext>
            </a:extLst>
          </p:cNvPr>
          <p:cNvGraphicFramePr>
            <a:graphicFrameLocks/>
          </p:cNvGraphicFramePr>
          <p:nvPr>
            <p:extLst>
              <p:ext uri="{D42A27DB-BD31-4B8C-83A1-F6EECF244321}">
                <p14:modId xmlns:p14="http://schemas.microsoft.com/office/powerpoint/2010/main" val="4182562902"/>
              </p:ext>
            </p:extLst>
          </p:nvPr>
        </p:nvGraphicFramePr>
        <p:xfrm>
          <a:off x="2169242" y="1072945"/>
          <a:ext cx="7853517" cy="471211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54178673"/>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2464886" y="4681056"/>
            <a:ext cx="7262228" cy="798491"/>
          </a:xfrm>
        </p:spPr>
        <p:txBody>
          <a:bodyPr/>
          <a:lstStyle/>
          <a:p>
            <a:r>
              <a:rPr lang="zh-CN" altLang="en-US"/>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2464886" y="5479548"/>
            <a:ext cx="7262228" cy="458180"/>
          </a:xfrm>
        </p:spPr>
        <p:txBody>
          <a:bodyPr/>
          <a:lstStyle/>
          <a:p>
            <a:r>
              <a:rPr lang="en-US" altLang="zh-CN"/>
              <a:t>Section 5 Project Progress</a:t>
            </a:r>
            <a:endParaRPr lang="zh-CN" altLang="en-US"/>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a:xfrm>
            <a:off x="3883891" y="2278857"/>
            <a:ext cx="4424219" cy="2300287"/>
          </a:xfrm>
        </p:spPr>
        <p:txBody>
          <a:bodyPr>
            <a:normAutofit fontScale="92500" lnSpcReduction="20000"/>
          </a:bodyPr>
          <a:lstStyle/>
          <a:p>
            <a:r>
              <a:rPr lang="zh-CN" altLang="en-US"/>
              <a:t>规划进度</a:t>
            </a:r>
          </a:p>
          <a:p>
            <a:r>
              <a:rPr lang="zh-CN" altLang="en-US"/>
              <a:t>定义活动</a:t>
            </a:r>
          </a:p>
          <a:p>
            <a:r>
              <a:rPr lang="zh-CN" altLang="en-US"/>
              <a:t>排列活动顺序</a:t>
            </a:r>
          </a:p>
          <a:p>
            <a:r>
              <a:rPr lang="zh-CN" altLang="en-US"/>
              <a:t>估算活动资源</a:t>
            </a:r>
          </a:p>
          <a:p>
            <a:r>
              <a:rPr lang="zh-CN" altLang="en-US"/>
              <a:t>估算活动持续时间</a:t>
            </a:r>
          </a:p>
          <a:p>
            <a:r>
              <a:rPr lang="zh-CN" altLang="en-US"/>
              <a:t>制定进度计划</a:t>
            </a:r>
          </a:p>
          <a:p>
            <a:r>
              <a:rPr lang="zh-CN" altLang="en-US"/>
              <a:t>控制进度过程</a:t>
            </a:r>
          </a:p>
          <a:p>
            <a:endParaRPr lang="zh-CN" altLang="en-US"/>
          </a:p>
        </p:txBody>
      </p:sp>
    </p:spTree>
    <p:extLst>
      <p:ext uri="{BB962C8B-B14F-4D97-AF65-F5344CB8AC3E}">
        <p14:creationId xmlns:p14="http://schemas.microsoft.com/office/powerpoint/2010/main" val="257245194"/>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801A8-82D6-FC6B-6333-31A1B4A613A8}"/>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3CDB0D8C-2171-A8D8-EE62-67203AB2B193}"/>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77CF2D87-E0C9-FBB6-4E28-98FFDFBDFB4D}"/>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0AD82D0D-617F-A8AB-C725-029DA20A496B}"/>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305876D7-B33D-6923-D434-1E7D4458F34D}"/>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2679FB8E-4C3B-EA6C-5FE5-031D42CBE2B0}"/>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2147C6AA-F457-933A-3BC1-EC30682EB9B1}"/>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B4B23FCF-070F-4287-1C15-20416B218EC4}"/>
              </a:ext>
            </a:extLst>
          </p:cNvPr>
          <p:cNvSpPr/>
          <p:nvPr/>
        </p:nvSpPr>
        <p:spPr>
          <a:xfrm>
            <a:off x="4840750"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9924C1ED-4819-F9BA-B41B-EB40FD533B50}"/>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51DE155B-B227-230F-38DE-D1A4107A5065}"/>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C3FB78A0-0AB6-6A7B-5C7B-98F44C7D51D5}"/>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9F969CFB-6D8C-0D9C-842C-02ECD38840DA}"/>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873EA3A2-85C8-419F-ED1A-EC7AEE868371}"/>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35717CAD-9732-24F8-11F3-015E48DC9C00}"/>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95498829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p:txBody>
          <a:bodyPr/>
          <a:lstStyle/>
          <a:p>
            <a:r>
              <a:rPr lang="en-US" altLang="zh-CN"/>
              <a:t>7</a:t>
            </a:r>
            <a:r>
              <a:rPr lang="zh-CN" altLang="en-US"/>
              <a:t>个过程</a:t>
            </a:r>
          </a:p>
        </p:txBody>
      </p:sp>
      <p:sp>
        <p:nvSpPr>
          <p:cNvPr id="3" name="内容占位符 2">
            <a:extLst>
              <a:ext uri="{FF2B5EF4-FFF2-40B4-BE49-F238E27FC236}">
                <a16:creationId xmlns:a16="http://schemas.microsoft.com/office/drawing/2014/main" id="{19067E78-3F4E-4031-7E5D-EBB59106939D}"/>
              </a:ext>
            </a:extLst>
          </p:cNvPr>
          <p:cNvSpPr>
            <a:spLocks noGrp="1"/>
          </p:cNvSpPr>
          <p:nvPr>
            <p:ph idx="1"/>
          </p:nvPr>
        </p:nvSpPr>
        <p:spPr/>
        <p:txBody>
          <a:bodyPr/>
          <a:lstStyle/>
          <a:p>
            <a:r>
              <a:rPr lang="zh-CN" altLang="en-US"/>
              <a:t>规划进度</a:t>
            </a:r>
            <a:endParaRPr lang="en-US" altLang="zh-CN"/>
          </a:p>
          <a:p>
            <a:r>
              <a:rPr lang="zh-CN" altLang="en-US"/>
              <a:t>定义活动</a:t>
            </a:r>
            <a:endParaRPr lang="en-US" altLang="zh-CN"/>
          </a:p>
          <a:p>
            <a:r>
              <a:rPr lang="zh-CN" altLang="en-US"/>
              <a:t>排列活动顺序</a:t>
            </a:r>
            <a:endParaRPr lang="en-US" altLang="zh-CN"/>
          </a:p>
          <a:p>
            <a:r>
              <a:rPr lang="zh-CN" altLang="en-US"/>
              <a:t>估算活动资源</a:t>
            </a:r>
            <a:endParaRPr lang="en-US" altLang="zh-CN"/>
          </a:p>
          <a:p>
            <a:r>
              <a:rPr lang="zh-CN" altLang="en-US"/>
              <a:t>估算活动持续时间</a:t>
            </a:r>
            <a:endParaRPr lang="en-US" altLang="zh-CN"/>
          </a:p>
          <a:p>
            <a:r>
              <a:rPr lang="zh-CN" altLang="en-US"/>
              <a:t>制定进度计划</a:t>
            </a:r>
            <a:endParaRPr lang="en-US" altLang="zh-CN"/>
          </a:p>
          <a:p>
            <a:r>
              <a:rPr lang="zh-CN" altLang="en-US"/>
              <a:t>控制进度过程</a:t>
            </a:r>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p:txBody>
          <a:bodyPr/>
          <a:lstStyle/>
          <a:p>
            <a:r>
              <a:rPr lang="en-US" altLang="zh-CN"/>
              <a:t>Project Progress</a:t>
            </a:r>
            <a:endParaRPr lang="zh-CN" altLang="en-US"/>
          </a:p>
        </p:txBody>
      </p:sp>
    </p:spTree>
    <p:extLst>
      <p:ext uri="{BB962C8B-B14F-4D97-AF65-F5344CB8AC3E}">
        <p14:creationId xmlns:p14="http://schemas.microsoft.com/office/powerpoint/2010/main" val="2546759685"/>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695998" y="360000"/>
            <a:ext cx="7200000" cy="424732"/>
          </a:xfrm>
        </p:spPr>
        <p:txBody>
          <a:bodyPr>
            <a:normAutofit/>
          </a:bodyPr>
          <a:lstStyle/>
          <a:p>
            <a:r>
              <a:rPr lang="zh-CN" altLang="en-US"/>
              <a:t>规划进度</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p:txBody>
          <a:bodyPr/>
          <a:lstStyle/>
          <a:p>
            <a:r>
              <a:rPr lang="zh-CN" altLang="en-US"/>
              <a:t>要求</a:t>
            </a:r>
            <a:endParaRPr lang="en-US" altLang="zh-CN"/>
          </a:p>
          <a:p>
            <a:pPr lvl="1"/>
            <a:r>
              <a:rPr lang="zh-CN" altLang="en-US"/>
              <a:t>正式或非正式</a:t>
            </a:r>
            <a:endParaRPr lang="en-US" altLang="zh-CN"/>
          </a:p>
          <a:p>
            <a:pPr lvl="1"/>
            <a:r>
              <a:rPr lang="zh-CN" altLang="en-US"/>
              <a:t>详细或概括</a:t>
            </a:r>
            <a:endParaRPr lang="en-US" altLang="zh-CN"/>
          </a:p>
          <a:p>
            <a:r>
              <a:rPr lang="zh-CN" altLang="en-US"/>
              <a:t>产出</a:t>
            </a:r>
            <a:endParaRPr lang="en-US" altLang="zh-CN"/>
          </a:p>
          <a:p>
            <a:pPr lvl="1"/>
            <a:r>
              <a:rPr lang="zh-CN" altLang="en-US"/>
              <a:t>项目进度管理计划</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p:txBody>
          <a:bodyPr/>
          <a:lstStyle/>
          <a:p>
            <a:r>
              <a:rPr lang="en-US" altLang="zh-CN"/>
              <a:t>Project Progress</a:t>
            </a:r>
            <a:endParaRPr lang="zh-CN" altLang="en-US"/>
          </a:p>
        </p:txBody>
      </p:sp>
    </p:spTree>
    <p:extLst>
      <p:ext uri="{BB962C8B-B14F-4D97-AF65-F5344CB8AC3E}">
        <p14:creationId xmlns:p14="http://schemas.microsoft.com/office/powerpoint/2010/main" val="1100009547"/>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p:txBody>
          <a:bodyPr/>
          <a:lstStyle/>
          <a:p>
            <a:r>
              <a:rPr lang="zh-CN" altLang="en-US"/>
              <a:t>活动 </a:t>
            </a:r>
            <a:r>
              <a:rPr lang="en-US" altLang="zh-CN"/>
              <a:t>Activity</a:t>
            </a:r>
            <a:endParaRPr lang="zh-CN" altLang="en-US"/>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p:txBody>
          <a:bodyPr/>
          <a:lstStyle/>
          <a:p>
            <a:r>
              <a:rPr lang="zh-CN" altLang="en-US"/>
              <a:t>完成工作包所进行的工作</a:t>
            </a:r>
            <a:endParaRPr lang="en-US" altLang="zh-CN"/>
          </a:p>
          <a:p>
            <a:r>
              <a:rPr lang="zh-CN" altLang="en-US"/>
              <a:t>与工作包</a:t>
            </a:r>
            <a:endParaRPr lang="en-US" altLang="zh-CN"/>
          </a:p>
          <a:p>
            <a:pPr lvl="1"/>
            <a:r>
              <a:rPr lang="en-US" altLang="zh-CN"/>
              <a:t>1</a:t>
            </a:r>
            <a:r>
              <a:rPr lang="zh-CN" altLang="en-US"/>
              <a:t> </a:t>
            </a:r>
            <a:r>
              <a:rPr lang="en-US" altLang="zh-CN"/>
              <a:t>vs 1</a:t>
            </a:r>
          </a:p>
          <a:p>
            <a:pPr lvl="1"/>
            <a:r>
              <a:rPr lang="en-US" altLang="zh-CN"/>
              <a:t>M vs 1</a:t>
            </a:r>
          </a:p>
          <a:p>
            <a:r>
              <a:rPr lang="zh-CN" altLang="en-US"/>
              <a:t>排列活动的工具</a:t>
            </a:r>
            <a:endParaRPr lang="en-US" altLang="zh-CN"/>
          </a:p>
          <a:p>
            <a:pPr lvl="1"/>
            <a:r>
              <a:rPr lang="zh-CN" altLang="en-US"/>
              <a:t>前导图 </a:t>
            </a:r>
            <a:r>
              <a:rPr lang="en-US" altLang="zh-CN"/>
              <a:t>PDM</a:t>
            </a:r>
            <a:r>
              <a:rPr lang="zh-CN" altLang="en-US"/>
              <a:t>，</a:t>
            </a:r>
            <a:r>
              <a:rPr lang="en-US" altLang="zh-CN"/>
              <a:t>Precedence Diagramming Method</a:t>
            </a:r>
            <a:r>
              <a:rPr lang="zh-CN" altLang="en-US"/>
              <a:t>，也叫单代号网络图</a:t>
            </a:r>
            <a:endParaRPr lang="en-US" altLang="zh-CN"/>
          </a:p>
          <a:p>
            <a:pPr lvl="1"/>
            <a:r>
              <a:rPr lang="zh-CN" altLang="en-US"/>
              <a:t>箭线图 </a:t>
            </a:r>
            <a:r>
              <a:rPr lang="en-US" altLang="zh-CN"/>
              <a:t>ADM</a:t>
            </a:r>
            <a:r>
              <a:rPr lang="zh-CN" altLang="en-US"/>
              <a:t>，</a:t>
            </a:r>
            <a:r>
              <a:rPr lang="en-US" altLang="zh-CN"/>
              <a:t>Arrow Diagramming Method,</a:t>
            </a:r>
            <a:r>
              <a:rPr lang="zh-CN" altLang="en-US"/>
              <a:t>，也叫双代号网络图</a:t>
            </a:r>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p:txBody>
          <a:bodyPr/>
          <a:lstStyle/>
          <a:p>
            <a:r>
              <a:rPr lang="en-US" altLang="zh-CN"/>
              <a:t>Project Progress</a:t>
            </a:r>
            <a:endParaRPr lang="zh-CN" altLang="en-US"/>
          </a:p>
        </p:txBody>
      </p:sp>
    </p:spTree>
    <p:extLst>
      <p:ext uri="{BB962C8B-B14F-4D97-AF65-F5344CB8AC3E}">
        <p14:creationId xmlns:p14="http://schemas.microsoft.com/office/powerpoint/2010/main" val="1498995671"/>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696000" y="360000"/>
            <a:ext cx="10800000" cy="429413"/>
          </a:xfrm>
        </p:spPr>
        <p:txBody>
          <a:bodyPr>
            <a:normAutofit/>
          </a:bodyPr>
          <a:lstStyle/>
          <a:p>
            <a:r>
              <a:rPr lang="zh-CN" altLang="en-US"/>
              <a:t>前导图 </a:t>
            </a:r>
            <a:r>
              <a:rPr lang="en-US" altLang="zh-CN"/>
              <a:t>PDM</a:t>
            </a:r>
            <a:endParaRPr lang="zh-CN" altLang="en-US"/>
          </a:p>
        </p:txBody>
      </p:sp>
      <p:sp>
        <p:nvSpPr>
          <p:cNvPr id="3" name="内容占位符 2">
            <a:extLst>
              <a:ext uri="{FF2B5EF4-FFF2-40B4-BE49-F238E27FC236}">
                <a16:creationId xmlns:a16="http://schemas.microsoft.com/office/drawing/2014/main" id="{9802770C-72B0-D754-C121-5F5B33672F8A}"/>
              </a:ext>
            </a:extLst>
          </p:cNvPr>
          <p:cNvSpPr>
            <a:spLocks noGrp="1"/>
          </p:cNvSpPr>
          <p:nvPr>
            <p:ph sz="quarter" idx="10"/>
          </p:nvPr>
        </p:nvSpPr>
        <p:spPr>
          <a:xfrm>
            <a:off x="695325" y="864000"/>
            <a:ext cx="5040000" cy="5400000"/>
          </a:xfrm>
        </p:spPr>
        <p:txBody>
          <a:bodyPr>
            <a:normAutofit/>
          </a:bodyPr>
          <a:lstStyle/>
          <a:p>
            <a:r>
              <a:rPr lang="zh-CN" altLang="en-US"/>
              <a:t>活动：方块表示</a:t>
            </a:r>
            <a:endParaRPr lang="en-US" altLang="zh-CN"/>
          </a:p>
          <a:p>
            <a:r>
              <a:rPr lang="zh-CN" altLang="en-US"/>
              <a:t>紧前活动</a:t>
            </a:r>
            <a:endParaRPr lang="en-US" altLang="zh-CN"/>
          </a:p>
          <a:p>
            <a:pPr lvl="1"/>
            <a:r>
              <a:rPr lang="en-US" altLang="zh-CN"/>
              <a:t>H</a:t>
            </a:r>
            <a:r>
              <a:rPr lang="zh-CN" altLang="en-US"/>
              <a:t>是</a:t>
            </a:r>
            <a:r>
              <a:rPr lang="en-US" altLang="zh-CN"/>
              <a:t>I</a:t>
            </a:r>
            <a:r>
              <a:rPr lang="zh-CN" altLang="en-US"/>
              <a:t>的紧前活动</a:t>
            </a:r>
            <a:endParaRPr lang="en-US" altLang="zh-CN"/>
          </a:p>
          <a:p>
            <a:r>
              <a:rPr lang="zh-CN" altLang="en-US"/>
              <a:t>紧后活动</a:t>
            </a:r>
            <a:endParaRPr lang="en-US" altLang="zh-CN"/>
          </a:p>
          <a:p>
            <a:pPr lvl="1"/>
            <a:r>
              <a:rPr lang="en-US" altLang="zh-CN"/>
              <a:t>I</a:t>
            </a:r>
            <a:r>
              <a:rPr lang="zh-CN" altLang="en-US"/>
              <a:t>是</a:t>
            </a:r>
            <a:r>
              <a:rPr lang="en-US" altLang="zh-CN"/>
              <a:t>H</a:t>
            </a:r>
            <a:r>
              <a:rPr lang="zh-CN" altLang="en-US"/>
              <a:t>的紧后活动</a:t>
            </a:r>
            <a:endParaRPr lang="en-US" altLang="zh-CN"/>
          </a:p>
          <a:p>
            <a:endParaRPr lang="en-US" altLang="zh-CN"/>
          </a:p>
          <a:p>
            <a:endParaRPr lang="en-US" altLang="zh-CN"/>
          </a:p>
        </p:txBody>
      </p:sp>
      <p:sp>
        <p:nvSpPr>
          <p:cNvPr id="4" name="文本占位符 3">
            <a:extLst>
              <a:ext uri="{FF2B5EF4-FFF2-40B4-BE49-F238E27FC236}">
                <a16:creationId xmlns:a16="http://schemas.microsoft.com/office/drawing/2014/main" id="{557053F1-A402-4B7F-D341-6B237C412C05}"/>
              </a:ext>
            </a:extLst>
          </p:cNvPr>
          <p:cNvSpPr>
            <a:spLocks noGrp="1"/>
          </p:cNvSpPr>
          <p:nvPr>
            <p:ph sz="quarter" idx="11"/>
          </p:nvPr>
        </p:nvSpPr>
        <p:spPr>
          <a:xfrm>
            <a:off x="6095325" y="864000"/>
            <a:ext cx="5400675" cy="5400000"/>
          </a:xfrm>
        </p:spPr>
        <p:txBody>
          <a:bodyPr/>
          <a:lstStyle/>
          <a:p>
            <a:r>
              <a:rPr lang="zh-CN" altLang="en-US"/>
              <a:t>结束 </a:t>
            </a:r>
            <a:r>
              <a:rPr lang="en-US" altLang="zh-CN"/>
              <a:t>Finish </a:t>
            </a:r>
            <a:r>
              <a:rPr lang="zh-CN" altLang="en-US"/>
              <a:t>→ 开始 </a:t>
            </a:r>
            <a:r>
              <a:rPr lang="en-US" altLang="zh-CN"/>
              <a:t>Start</a:t>
            </a:r>
            <a:endParaRPr lang="zh-CN" altLang="en-US"/>
          </a:p>
          <a:p>
            <a:pPr lvl="1"/>
            <a:r>
              <a:rPr lang="en-US" altLang="zh-CN"/>
              <a:t>FS</a:t>
            </a:r>
            <a:r>
              <a:rPr lang="zh-CN" altLang="en-US"/>
              <a:t>：</a:t>
            </a:r>
            <a:r>
              <a:rPr lang="en-US" altLang="zh-CN"/>
              <a:t>H</a:t>
            </a:r>
            <a:r>
              <a:rPr lang="zh-CN" altLang="en-US"/>
              <a:t>结束了，</a:t>
            </a:r>
            <a:r>
              <a:rPr lang="en-US" altLang="zh-CN"/>
              <a:t>I</a:t>
            </a:r>
            <a:r>
              <a:rPr lang="zh-CN" altLang="en-US"/>
              <a:t>才可以开始</a:t>
            </a:r>
            <a:endParaRPr lang="en-US" altLang="zh-CN"/>
          </a:p>
          <a:p>
            <a:r>
              <a:rPr lang="zh-CN" altLang="en-US"/>
              <a:t>开始 </a:t>
            </a:r>
            <a:r>
              <a:rPr lang="en-US" altLang="zh-CN"/>
              <a:t>Start</a:t>
            </a:r>
            <a:r>
              <a:rPr lang="zh-CN" altLang="en-US"/>
              <a:t> → 开始 </a:t>
            </a:r>
            <a:r>
              <a:rPr lang="en-US" altLang="zh-CN"/>
              <a:t>Start</a:t>
            </a:r>
          </a:p>
          <a:p>
            <a:pPr lvl="1"/>
            <a:r>
              <a:rPr lang="en-US" altLang="zh-CN"/>
              <a:t>SS</a:t>
            </a:r>
            <a:r>
              <a:rPr lang="zh-CN" altLang="en-US"/>
              <a:t>：</a:t>
            </a:r>
            <a:r>
              <a:rPr lang="en-US" altLang="zh-CN"/>
              <a:t>A</a:t>
            </a:r>
            <a:r>
              <a:rPr lang="zh-CN" altLang="en-US"/>
              <a:t>开始，</a:t>
            </a:r>
            <a:r>
              <a:rPr lang="en-US" altLang="zh-CN"/>
              <a:t>C</a:t>
            </a:r>
            <a:r>
              <a:rPr lang="zh-CN" altLang="en-US"/>
              <a:t>也开始</a:t>
            </a:r>
            <a:endParaRPr lang="en-US" altLang="zh-CN"/>
          </a:p>
          <a:p>
            <a:r>
              <a:rPr lang="zh-CN" altLang="en-US"/>
              <a:t>开始 </a:t>
            </a:r>
            <a:r>
              <a:rPr lang="en-US" altLang="zh-CN"/>
              <a:t>Start</a:t>
            </a:r>
            <a:r>
              <a:rPr lang="zh-CN" altLang="en-US"/>
              <a:t> → 结束 </a:t>
            </a:r>
            <a:r>
              <a:rPr lang="en-US" altLang="zh-CN"/>
              <a:t>Finish</a:t>
            </a:r>
          </a:p>
          <a:p>
            <a:r>
              <a:rPr lang="zh-CN" altLang="en-US"/>
              <a:t>结束 </a:t>
            </a:r>
            <a:r>
              <a:rPr lang="en-US" altLang="zh-CN"/>
              <a:t>Finish</a:t>
            </a:r>
            <a:r>
              <a:rPr lang="zh-CN" altLang="en-US"/>
              <a:t> → 结束 </a:t>
            </a:r>
            <a:r>
              <a:rPr lang="en-US" altLang="zh-CN"/>
              <a:t>Finish</a:t>
            </a:r>
            <a:endParaRPr lang="zh-CN" altLang="en-US"/>
          </a:p>
        </p:txBody>
      </p:sp>
      <p:sp>
        <p:nvSpPr>
          <p:cNvPr id="79" name="矩形 78">
            <a:extLst>
              <a:ext uri="{FF2B5EF4-FFF2-40B4-BE49-F238E27FC236}">
                <a16:creationId xmlns:a16="http://schemas.microsoft.com/office/drawing/2014/main" id="{EFD602AE-0446-000D-C79E-58FD6D7D56FC}"/>
              </a:ext>
            </a:extLst>
          </p:cNvPr>
          <p:cNvSpPr/>
          <p:nvPr/>
        </p:nvSpPr>
        <p:spPr>
          <a:xfrm>
            <a:off x="4521699" y="394335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A</a:t>
            </a:r>
            <a:endParaRPr lang="zh-CN" altLang="en-US" sz="1600">
              <a:solidFill>
                <a:schemeClr val="bg1"/>
              </a:solidFill>
            </a:endParaRPr>
          </a:p>
        </p:txBody>
      </p:sp>
      <p:sp>
        <p:nvSpPr>
          <p:cNvPr id="80" name="矩形 79">
            <a:extLst>
              <a:ext uri="{FF2B5EF4-FFF2-40B4-BE49-F238E27FC236}">
                <a16:creationId xmlns:a16="http://schemas.microsoft.com/office/drawing/2014/main" id="{2DD8BA39-B41C-8682-7EA5-3BD21D42E0AA}"/>
              </a:ext>
            </a:extLst>
          </p:cNvPr>
          <p:cNvSpPr/>
          <p:nvPr/>
        </p:nvSpPr>
        <p:spPr>
          <a:xfrm>
            <a:off x="5569449" y="3429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B</a:t>
            </a:r>
            <a:endParaRPr lang="zh-CN" altLang="en-US" sz="1600">
              <a:solidFill>
                <a:schemeClr val="bg1"/>
              </a:solidFill>
            </a:endParaRPr>
          </a:p>
        </p:txBody>
      </p:sp>
      <p:sp>
        <p:nvSpPr>
          <p:cNvPr id="81" name="矩形 80">
            <a:extLst>
              <a:ext uri="{FF2B5EF4-FFF2-40B4-BE49-F238E27FC236}">
                <a16:creationId xmlns:a16="http://schemas.microsoft.com/office/drawing/2014/main" id="{0AD51D9A-3009-F435-84A5-26A0B0077B98}"/>
              </a:ext>
            </a:extLst>
          </p:cNvPr>
          <p:cNvSpPr/>
          <p:nvPr/>
        </p:nvSpPr>
        <p:spPr>
          <a:xfrm>
            <a:off x="6485578" y="4631093"/>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D</a:t>
            </a:r>
            <a:endParaRPr lang="zh-CN" altLang="en-US" sz="1600">
              <a:solidFill>
                <a:schemeClr val="bg1"/>
              </a:solidFill>
            </a:endParaRPr>
          </a:p>
        </p:txBody>
      </p:sp>
      <p:sp>
        <p:nvSpPr>
          <p:cNvPr id="82" name="矩形 81">
            <a:extLst>
              <a:ext uri="{FF2B5EF4-FFF2-40B4-BE49-F238E27FC236}">
                <a16:creationId xmlns:a16="http://schemas.microsoft.com/office/drawing/2014/main" id="{C9C66303-EA0E-CFB5-6198-2AF563509FFF}"/>
              </a:ext>
            </a:extLst>
          </p:cNvPr>
          <p:cNvSpPr/>
          <p:nvPr/>
        </p:nvSpPr>
        <p:spPr>
          <a:xfrm>
            <a:off x="4521699" y="5214076"/>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C</a:t>
            </a:r>
            <a:endParaRPr lang="zh-CN" altLang="en-US" sz="1600">
              <a:solidFill>
                <a:schemeClr val="bg1"/>
              </a:solidFill>
            </a:endParaRPr>
          </a:p>
        </p:txBody>
      </p:sp>
      <p:sp>
        <p:nvSpPr>
          <p:cNvPr id="83" name="矩形 82">
            <a:extLst>
              <a:ext uri="{FF2B5EF4-FFF2-40B4-BE49-F238E27FC236}">
                <a16:creationId xmlns:a16="http://schemas.microsoft.com/office/drawing/2014/main" id="{9EDC1B50-1D75-3B8B-CA52-6548664EC57F}"/>
              </a:ext>
            </a:extLst>
          </p:cNvPr>
          <p:cNvSpPr/>
          <p:nvPr/>
        </p:nvSpPr>
        <p:spPr>
          <a:xfrm>
            <a:off x="8172472" y="433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结束</a:t>
            </a:r>
          </a:p>
        </p:txBody>
      </p:sp>
      <p:sp>
        <p:nvSpPr>
          <p:cNvPr id="84" name="矩形 83">
            <a:extLst>
              <a:ext uri="{FF2B5EF4-FFF2-40B4-BE49-F238E27FC236}">
                <a16:creationId xmlns:a16="http://schemas.microsoft.com/office/drawing/2014/main" id="{A9EC7422-20EA-ED3E-6171-B458F5411CA0}"/>
              </a:ext>
            </a:extLst>
          </p:cNvPr>
          <p:cNvSpPr/>
          <p:nvPr/>
        </p:nvSpPr>
        <p:spPr>
          <a:xfrm>
            <a:off x="3371872" y="451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开始</a:t>
            </a:r>
          </a:p>
        </p:txBody>
      </p:sp>
      <p:cxnSp>
        <p:nvCxnSpPr>
          <p:cNvPr id="85" name="连接符: 肘形 84">
            <a:extLst>
              <a:ext uri="{FF2B5EF4-FFF2-40B4-BE49-F238E27FC236}">
                <a16:creationId xmlns:a16="http://schemas.microsoft.com/office/drawing/2014/main" id="{2D4C02DD-5CB6-FA20-BDA9-0E8B7B4E9E64}"/>
              </a:ext>
            </a:extLst>
          </p:cNvPr>
          <p:cNvCxnSpPr>
            <a:stCxn id="84" idx="3"/>
            <a:endCxn id="79" idx="1"/>
          </p:cNvCxnSpPr>
          <p:nvPr/>
        </p:nvCxnSpPr>
        <p:spPr>
          <a:xfrm flipV="1">
            <a:off x="4091872" y="4123350"/>
            <a:ext cx="429827" cy="5724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944A22EC-9794-2441-9D4B-CC04B6755DBD}"/>
              </a:ext>
            </a:extLst>
          </p:cNvPr>
          <p:cNvCxnSpPr>
            <a:stCxn id="79" idx="3"/>
            <a:endCxn id="80" idx="1"/>
          </p:cNvCxnSpPr>
          <p:nvPr/>
        </p:nvCxnSpPr>
        <p:spPr>
          <a:xfrm flipV="1">
            <a:off x="5241699" y="3609000"/>
            <a:ext cx="327750" cy="514350"/>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连接符: 肘形 86">
            <a:extLst>
              <a:ext uri="{FF2B5EF4-FFF2-40B4-BE49-F238E27FC236}">
                <a16:creationId xmlns:a16="http://schemas.microsoft.com/office/drawing/2014/main" id="{915337C4-7D82-5802-8980-654CA233B49F}"/>
              </a:ext>
            </a:extLst>
          </p:cNvPr>
          <p:cNvCxnSpPr>
            <a:cxnSpLocks/>
            <a:stCxn id="79" idx="3"/>
            <a:endCxn id="81" idx="1"/>
          </p:cNvCxnSpPr>
          <p:nvPr/>
        </p:nvCxnSpPr>
        <p:spPr>
          <a:xfrm>
            <a:off x="5241699" y="4123350"/>
            <a:ext cx="1243879" cy="68774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BB03BBC6-F8AC-B623-8805-B7F3FEC636AC}"/>
              </a:ext>
            </a:extLst>
          </p:cNvPr>
          <p:cNvCxnSpPr>
            <a:stCxn id="82" idx="3"/>
            <a:endCxn id="81" idx="1"/>
          </p:cNvCxnSpPr>
          <p:nvPr/>
        </p:nvCxnSpPr>
        <p:spPr>
          <a:xfrm flipV="1">
            <a:off x="5241699" y="4811093"/>
            <a:ext cx="1243879" cy="58298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9" name="连接符: 肘形 88">
            <a:extLst>
              <a:ext uri="{FF2B5EF4-FFF2-40B4-BE49-F238E27FC236}">
                <a16:creationId xmlns:a16="http://schemas.microsoft.com/office/drawing/2014/main" id="{7D9F1480-A24F-DAFC-6C46-AEDE792EEEF1}"/>
              </a:ext>
            </a:extLst>
          </p:cNvPr>
          <p:cNvCxnSpPr>
            <a:cxnSpLocks/>
            <a:stCxn id="80" idx="3"/>
            <a:endCxn id="83" idx="0"/>
          </p:cNvCxnSpPr>
          <p:nvPr/>
        </p:nvCxnSpPr>
        <p:spPr>
          <a:xfrm>
            <a:off x="6289449" y="3609000"/>
            <a:ext cx="2243023" cy="726825"/>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连接符: 肘形 89">
            <a:extLst>
              <a:ext uri="{FF2B5EF4-FFF2-40B4-BE49-F238E27FC236}">
                <a16:creationId xmlns:a16="http://schemas.microsoft.com/office/drawing/2014/main" id="{CE1D5130-2B71-3120-27A5-4370AD03F211}"/>
              </a:ext>
            </a:extLst>
          </p:cNvPr>
          <p:cNvCxnSpPr>
            <a:stCxn id="81" idx="3"/>
            <a:endCxn id="83" idx="1"/>
          </p:cNvCxnSpPr>
          <p:nvPr/>
        </p:nvCxnSpPr>
        <p:spPr>
          <a:xfrm flipV="1">
            <a:off x="7205578" y="4515825"/>
            <a:ext cx="966894" cy="295268"/>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91" name="矩形 90">
            <a:extLst>
              <a:ext uri="{FF2B5EF4-FFF2-40B4-BE49-F238E27FC236}">
                <a16:creationId xmlns:a16="http://schemas.microsoft.com/office/drawing/2014/main" id="{C2D58F10-BA92-B9A0-AECE-01E0AC952682}"/>
              </a:ext>
            </a:extLst>
          </p:cNvPr>
          <p:cNvSpPr/>
          <p:nvPr/>
        </p:nvSpPr>
        <p:spPr>
          <a:xfrm>
            <a:off x="7195048"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I</a:t>
            </a:r>
            <a:endParaRPr lang="zh-CN" altLang="en-US" sz="1600">
              <a:solidFill>
                <a:schemeClr val="bg1"/>
              </a:solidFill>
            </a:endParaRPr>
          </a:p>
        </p:txBody>
      </p:sp>
      <p:sp>
        <p:nvSpPr>
          <p:cNvPr id="92" name="矩形 91">
            <a:extLst>
              <a:ext uri="{FF2B5EF4-FFF2-40B4-BE49-F238E27FC236}">
                <a16:creationId xmlns:a16="http://schemas.microsoft.com/office/drawing/2014/main" id="{4068D3E1-FC90-FBC5-8B6F-0DB7764A697D}"/>
              </a:ext>
            </a:extLst>
          </p:cNvPr>
          <p:cNvSpPr/>
          <p:nvPr/>
        </p:nvSpPr>
        <p:spPr>
          <a:xfrm>
            <a:off x="4404223"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H</a:t>
            </a:r>
            <a:endParaRPr lang="zh-CN" altLang="en-US" sz="1600">
              <a:solidFill>
                <a:schemeClr val="bg1"/>
              </a:solidFill>
            </a:endParaRPr>
          </a:p>
        </p:txBody>
      </p:sp>
      <p:cxnSp>
        <p:nvCxnSpPr>
          <p:cNvPr id="93" name="连接符: 肘形 92">
            <a:extLst>
              <a:ext uri="{FF2B5EF4-FFF2-40B4-BE49-F238E27FC236}">
                <a16:creationId xmlns:a16="http://schemas.microsoft.com/office/drawing/2014/main" id="{3D3E3BF4-4650-DA6F-F680-D8B66B36F6D7}"/>
              </a:ext>
            </a:extLst>
          </p:cNvPr>
          <p:cNvCxnSpPr>
            <a:cxnSpLocks/>
            <a:stCxn id="84" idx="2"/>
            <a:endCxn id="92" idx="1"/>
          </p:cNvCxnSpPr>
          <p:nvPr/>
        </p:nvCxnSpPr>
        <p:spPr>
          <a:xfrm rot="16200000" flipH="1">
            <a:off x="3522684" y="5085012"/>
            <a:ext cx="1090726" cy="672351"/>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连接符: 肘形 93">
            <a:extLst>
              <a:ext uri="{FF2B5EF4-FFF2-40B4-BE49-F238E27FC236}">
                <a16:creationId xmlns:a16="http://schemas.microsoft.com/office/drawing/2014/main" id="{18D237B7-E3E5-3E6F-57D3-E584A717DCDC}"/>
              </a:ext>
            </a:extLst>
          </p:cNvPr>
          <p:cNvCxnSpPr>
            <a:stCxn id="91" idx="3"/>
            <a:endCxn id="83" idx="2"/>
          </p:cNvCxnSpPr>
          <p:nvPr/>
        </p:nvCxnSpPr>
        <p:spPr>
          <a:xfrm flipV="1">
            <a:off x="7915048" y="4695825"/>
            <a:ext cx="617424" cy="127072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接箭头连接符 94">
            <a:extLst>
              <a:ext uri="{FF2B5EF4-FFF2-40B4-BE49-F238E27FC236}">
                <a16:creationId xmlns:a16="http://schemas.microsoft.com/office/drawing/2014/main" id="{813E49A1-F736-532C-992E-A94025640FFB}"/>
              </a:ext>
            </a:extLst>
          </p:cNvPr>
          <p:cNvCxnSpPr>
            <a:stCxn id="92" idx="3"/>
            <a:endCxn id="91" idx="1"/>
          </p:cNvCxnSpPr>
          <p:nvPr/>
        </p:nvCxnSpPr>
        <p:spPr>
          <a:xfrm>
            <a:off x="5124223" y="5966551"/>
            <a:ext cx="2070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6" name="直接箭头连接符 95">
            <a:extLst>
              <a:ext uri="{FF2B5EF4-FFF2-40B4-BE49-F238E27FC236}">
                <a16:creationId xmlns:a16="http://schemas.microsoft.com/office/drawing/2014/main" id="{FAE02679-57E9-6A06-1742-65E1B970FBAD}"/>
              </a:ext>
            </a:extLst>
          </p:cNvPr>
          <p:cNvCxnSpPr>
            <a:cxnSpLocks/>
            <a:stCxn id="79" idx="1"/>
            <a:endCxn id="82" idx="1"/>
          </p:cNvCxnSpPr>
          <p:nvPr/>
        </p:nvCxnSpPr>
        <p:spPr>
          <a:xfrm>
            <a:off x="4521699" y="4123350"/>
            <a:ext cx="0" cy="12707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1917022"/>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C2B89-B807-57CE-F265-C560285D855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BF4697-5F84-BBC6-D419-D3F68EF57889}"/>
              </a:ext>
            </a:extLst>
          </p:cNvPr>
          <p:cNvSpPr>
            <a:spLocks noGrp="1"/>
          </p:cNvSpPr>
          <p:nvPr>
            <p:ph type="title"/>
          </p:nvPr>
        </p:nvSpPr>
        <p:spPr>
          <a:xfrm>
            <a:off x="696000" y="360000"/>
            <a:ext cx="10800000" cy="429413"/>
          </a:xfrm>
        </p:spPr>
        <p:txBody>
          <a:bodyPr>
            <a:normAutofit/>
          </a:bodyPr>
          <a:lstStyle/>
          <a:p>
            <a:r>
              <a:rPr lang="zh-CN" altLang="en-US"/>
              <a:t>前导图 </a:t>
            </a:r>
            <a:r>
              <a:rPr lang="en-US" altLang="zh-CN"/>
              <a:t>PDM</a:t>
            </a:r>
            <a:endParaRPr lang="zh-CN" altLang="en-US"/>
          </a:p>
        </p:txBody>
      </p:sp>
      <p:sp>
        <p:nvSpPr>
          <p:cNvPr id="3" name="内容占位符 2">
            <a:extLst>
              <a:ext uri="{FF2B5EF4-FFF2-40B4-BE49-F238E27FC236}">
                <a16:creationId xmlns:a16="http://schemas.microsoft.com/office/drawing/2014/main" id="{5CFC0552-1CF3-2FCA-9CD6-485BEDE5FC36}"/>
              </a:ext>
            </a:extLst>
          </p:cNvPr>
          <p:cNvSpPr>
            <a:spLocks noGrp="1"/>
          </p:cNvSpPr>
          <p:nvPr>
            <p:ph sz="quarter" idx="10"/>
          </p:nvPr>
        </p:nvSpPr>
        <p:spPr>
          <a:xfrm>
            <a:off x="695325" y="864000"/>
            <a:ext cx="5040000" cy="5400000"/>
          </a:xfrm>
        </p:spPr>
        <p:txBody>
          <a:bodyPr>
            <a:normAutofit/>
          </a:bodyPr>
          <a:lstStyle/>
          <a:p>
            <a:r>
              <a:rPr lang="zh-CN" altLang="en-US"/>
              <a:t>提前量 </a:t>
            </a:r>
            <a:r>
              <a:rPr lang="en-US" altLang="zh-CN"/>
              <a:t>Lead</a:t>
            </a:r>
          </a:p>
          <a:p>
            <a:pPr lvl="1"/>
            <a:r>
              <a:rPr lang="zh-CN" altLang="en-US"/>
              <a:t>紧前活动还没有完成时，紧后活动可以提前开始的时间量</a:t>
            </a:r>
            <a:endParaRPr lang="en-US" altLang="zh-CN"/>
          </a:p>
          <a:p>
            <a:pPr lvl="1"/>
            <a:r>
              <a:rPr lang="zh-CN" altLang="en-US"/>
              <a:t>负值表示</a:t>
            </a:r>
            <a:endParaRPr lang="en-US" altLang="zh-CN"/>
          </a:p>
          <a:p>
            <a:pPr lvl="1"/>
            <a:r>
              <a:rPr lang="en-US" altLang="zh-CN"/>
              <a:t>FS-2</a:t>
            </a:r>
            <a:r>
              <a:rPr lang="zh-CN" altLang="en-US"/>
              <a:t>：完成到开始，提前</a:t>
            </a:r>
            <a:r>
              <a:rPr lang="en-US" altLang="zh-CN"/>
              <a:t>2</a:t>
            </a:r>
            <a:r>
              <a:rPr lang="zh-CN" altLang="en-US"/>
              <a:t>天，表示紧后活动可以在紧前活动完成前</a:t>
            </a:r>
            <a:r>
              <a:rPr lang="en-US" altLang="zh-CN"/>
              <a:t>2</a:t>
            </a:r>
            <a:r>
              <a:rPr lang="zh-CN" altLang="en-US"/>
              <a:t>天开始</a:t>
            </a:r>
            <a:endParaRPr lang="en-US" altLang="zh-CN"/>
          </a:p>
          <a:p>
            <a:pPr lvl="1"/>
            <a:r>
              <a:rPr lang="zh-CN" altLang="en-US"/>
              <a:t>谨慎使用</a:t>
            </a:r>
            <a:endParaRPr lang="en-US" altLang="zh-CN"/>
          </a:p>
        </p:txBody>
      </p:sp>
      <p:sp>
        <p:nvSpPr>
          <p:cNvPr id="4" name="文本占位符 3">
            <a:extLst>
              <a:ext uri="{FF2B5EF4-FFF2-40B4-BE49-F238E27FC236}">
                <a16:creationId xmlns:a16="http://schemas.microsoft.com/office/drawing/2014/main" id="{BB9A3668-4F3A-07CA-1DD5-1AA4329808A2}"/>
              </a:ext>
            </a:extLst>
          </p:cNvPr>
          <p:cNvSpPr>
            <a:spLocks noGrp="1"/>
          </p:cNvSpPr>
          <p:nvPr>
            <p:ph sz="quarter" idx="11"/>
          </p:nvPr>
        </p:nvSpPr>
        <p:spPr>
          <a:xfrm>
            <a:off x="6095325" y="864000"/>
            <a:ext cx="5400675" cy="5400000"/>
          </a:xfrm>
        </p:spPr>
        <p:txBody>
          <a:bodyPr/>
          <a:lstStyle/>
          <a:p>
            <a:r>
              <a:rPr lang="zh-CN" altLang="en-US"/>
              <a:t>滞后量 </a:t>
            </a:r>
            <a:r>
              <a:rPr lang="en-US" altLang="zh-CN"/>
              <a:t>Lag</a:t>
            </a:r>
          </a:p>
          <a:p>
            <a:pPr lvl="1"/>
            <a:r>
              <a:rPr lang="zh-CN" altLang="en-US"/>
              <a:t>紧前活动完成时，紧后活动需要推迟开始的时间量</a:t>
            </a:r>
            <a:endParaRPr lang="en-US" altLang="zh-CN"/>
          </a:p>
          <a:p>
            <a:pPr lvl="1"/>
            <a:r>
              <a:rPr lang="zh-CN" altLang="en-US"/>
              <a:t>正值表示</a:t>
            </a:r>
            <a:endParaRPr lang="en-US" altLang="zh-CN"/>
          </a:p>
          <a:p>
            <a:pPr lvl="1"/>
            <a:r>
              <a:rPr lang="en-US" altLang="zh-CN"/>
              <a:t>FS+3</a:t>
            </a:r>
            <a:r>
              <a:rPr lang="zh-CN" altLang="en-US"/>
              <a:t>：完成到开始，滞后</a:t>
            </a:r>
            <a:r>
              <a:rPr lang="en-US" altLang="zh-CN"/>
              <a:t>3</a:t>
            </a:r>
            <a:r>
              <a:rPr lang="zh-CN" altLang="en-US"/>
              <a:t>天，表示紧后活动必须在紧前活动完成后</a:t>
            </a:r>
            <a:r>
              <a:rPr lang="en-US" altLang="zh-CN"/>
              <a:t>3</a:t>
            </a:r>
            <a:r>
              <a:rPr lang="zh-CN" altLang="en-US"/>
              <a:t>天才开始</a:t>
            </a:r>
            <a:endParaRPr lang="en-US" altLang="zh-CN"/>
          </a:p>
        </p:txBody>
      </p:sp>
      <p:sp>
        <p:nvSpPr>
          <p:cNvPr id="11" name="矩形 10">
            <a:extLst>
              <a:ext uri="{FF2B5EF4-FFF2-40B4-BE49-F238E27FC236}">
                <a16:creationId xmlns:a16="http://schemas.microsoft.com/office/drawing/2014/main" id="{EE7DCB57-E7DD-24AF-35DB-77A02E9ED5AF}"/>
              </a:ext>
            </a:extLst>
          </p:cNvPr>
          <p:cNvSpPr/>
          <p:nvPr/>
        </p:nvSpPr>
        <p:spPr>
          <a:xfrm>
            <a:off x="4521699" y="394335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A</a:t>
            </a:r>
            <a:endParaRPr lang="zh-CN" altLang="en-US" sz="1600">
              <a:solidFill>
                <a:schemeClr val="bg1"/>
              </a:solidFill>
            </a:endParaRPr>
          </a:p>
        </p:txBody>
      </p:sp>
      <p:sp>
        <p:nvSpPr>
          <p:cNvPr id="12" name="矩形 11">
            <a:extLst>
              <a:ext uri="{FF2B5EF4-FFF2-40B4-BE49-F238E27FC236}">
                <a16:creationId xmlns:a16="http://schemas.microsoft.com/office/drawing/2014/main" id="{3251D6FD-8087-CEB6-528D-9FD8FF07A876}"/>
              </a:ext>
            </a:extLst>
          </p:cNvPr>
          <p:cNvSpPr/>
          <p:nvPr/>
        </p:nvSpPr>
        <p:spPr>
          <a:xfrm>
            <a:off x="5569449" y="3429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B</a:t>
            </a:r>
            <a:endParaRPr lang="zh-CN" altLang="en-US" sz="1600">
              <a:solidFill>
                <a:schemeClr val="bg1"/>
              </a:solidFill>
            </a:endParaRPr>
          </a:p>
        </p:txBody>
      </p:sp>
      <p:sp>
        <p:nvSpPr>
          <p:cNvPr id="13" name="矩形 12">
            <a:extLst>
              <a:ext uri="{FF2B5EF4-FFF2-40B4-BE49-F238E27FC236}">
                <a16:creationId xmlns:a16="http://schemas.microsoft.com/office/drawing/2014/main" id="{DF0825ED-EA88-C0E9-2089-03461A62B943}"/>
              </a:ext>
            </a:extLst>
          </p:cNvPr>
          <p:cNvSpPr/>
          <p:nvPr/>
        </p:nvSpPr>
        <p:spPr>
          <a:xfrm>
            <a:off x="6485578" y="4631093"/>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D</a:t>
            </a:r>
            <a:endParaRPr lang="zh-CN" altLang="en-US" sz="1600">
              <a:solidFill>
                <a:schemeClr val="bg1"/>
              </a:solidFill>
            </a:endParaRPr>
          </a:p>
        </p:txBody>
      </p:sp>
      <p:sp>
        <p:nvSpPr>
          <p:cNvPr id="15" name="矩形 14">
            <a:extLst>
              <a:ext uri="{FF2B5EF4-FFF2-40B4-BE49-F238E27FC236}">
                <a16:creationId xmlns:a16="http://schemas.microsoft.com/office/drawing/2014/main" id="{137CA8B9-0F6F-9B3D-7F77-7BB583A99844}"/>
              </a:ext>
            </a:extLst>
          </p:cNvPr>
          <p:cNvSpPr/>
          <p:nvPr/>
        </p:nvSpPr>
        <p:spPr>
          <a:xfrm>
            <a:off x="4521699" y="5214076"/>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C</a:t>
            </a:r>
            <a:endParaRPr lang="zh-CN" altLang="en-US" sz="1600">
              <a:solidFill>
                <a:schemeClr val="bg1"/>
              </a:solidFill>
            </a:endParaRPr>
          </a:p>
        </p:txBody>
      </p:sp>
      <p:sp>
        <p:nvSpPr>
          <p:cNvPr id="16" name="矩形 15">
            <a:extLst>
              <a:ext uri="{FF2B5EF4-FFF2-40B4-BE49-F238E27FC236}">
                <a16:creationId xmlns:a16="http://schemas.microsoft.com/office/drawing/2014/main" id="{862FA9BD-0708-2737-AC6A-D044A21AEC42}"/>
              </a:ext>
            </a:extLst>
          </p:cNvPr>
          <p:cNvSpPr/>
          <p:nvPr/>
        </p:nvSpPr>
        <p:spPr>
          <a:xfrm>
            <a:off x="8172472" y="433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3371872" y="451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开始</a:t>
            </a:r>
          </a:p>
        </p:txBody>
      </p:sp>
      <p:cxnSp>
        <p:nvCxnSpPr>
          <p:cNvPr id="19" name="连接符: 肘形 18">
            <a:extLst>
              <a:ext uri="{FF2B5EF4-FFF2-40B4-BE49-F238E27FC236}">
                <a16:creationId xmlns:a16="http://schemas.microsoft.com/office/drawing/2014/main" id="{F2EFA4C0-695E-8BA2-1E9C-E97F75FC1643}"/>
              </a:ext>
            </a:extLst>
          </p:cNvPr>
          <p:cNvCxnSpPr>
            <a:stCxn id="17" idx="3"/>
            <a:endCxn id="11" idx="1"/>
          </p:cNvCxnSpPr>
          <p:nvPr/>
        </p:nvCxnSpPr>
        <p:spPr>
          <a:xfrm flipV="1">
            <a:off x="4091872" y="4123350"/>
            <a:ext cx="429827" cy="5724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9CE9D58F-1CE0-8D24-F1F0-5E3644A1BB88}"/>
              </a:ext>
            </a:extLst>
          </p:cNvPr>
          <p:cNvCxnSpPr>
            <a:stCxn id="11" idx="3"/>
            <a:endCxn id="12" idx="1"/>
          </p:cNvCxnSpPr>
          <p:nvPr/>
        </p:nvCxnSpPr>
        <p:spPr>
          <a:xfrm flipV="1">
            <a:off x="5241699" y="3609000"/>
            <a:ext cx="327750" cy="514350"/>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3812E30E-454B-F3A9-219E-AF0CDC66AFDE}"/>
              </a:ext>
            </a:extLst>
          </p:cNvPr>
          <p:cNvCxnSpPr>
            <a:cxnSpLocks/>
            <a:stCxn id="11" idx="3"/>
            <a:endCxn id="13" idx="1"/>
          </p:cNvCxnSpPr>
          <p:nvPr/>
        </p:nvCxnSpPr>
        <p:spPr>
          <a:xfrm>
            <a:off x="5241699" y="4123350"/>
            <a:ext cx="1243879" cy="68774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50407FC1-4434-A747-7093-917074379D40}"/>
              </a:ext>
            </a:extLst>
          </p:cNvPr>
          <p:cNvCxnSpPr>
            <a:stCxn id="15" idx="3"/>
            <a:endCxn id="13" idx="1"/>
          </p:cNvCxnSpPr>
          <p:nvPr/>
        </p:nvCxnSpPr>
        <p:spPr>
          <a:xfrm flipV="1">
            <a:off x="5241699" y="4811093"/>
            <a:ext cx="1243879" cy="58298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6289449" y="3609000"/>
            <a:ext cx="2243023" cy="726825"/>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1204C972-6565-E871-8551-8F22256F4D09}"/>
              </a:ext>
            </a:extLst>
          </p:cNvPr>
          <p:cNvCxnSpPr>
            <a:stCxn id="13" idx="3"/>
            <a:endCxn id="16" idx="1"/>
          </p:cNvCxnSpPr>
          <p:nvPr/>
        </p:nvCxnSpPr>
        <p:spPr>
          <a:xfrm flipV="1">
            <a:off x="7205578" y="4515825"/>
            <a:ext cx="966894" cy="295268"/>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F4EBDC9E-E5A6-7B6A-2F2D-5C9AC06B4D70}"/>
              </a:ext>
            </a:extLst>
          </p:cNvPr>
          <p:cNvSpPr/>
          <p:nvPr/>
        </p:nvSpPr>
        <p:spPr>
          <a:xfrm>
            <a:off x="7195048"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F</a:t>
            </a:r>
            <a:endParaRPr lang="zh-CN" altLang="en-US" sz="1600">
              <a:solidFill>
                <a:schemeClr val="bg1"/>
              </a:solidFill>
            </a:endParaRPr>
          </a:p>
        </p:txBody>
      </p:sp>
      <p:sp>
        <p:nvSpPr>
          <p:cNvPr id="33" name="矩形 32">
            <a:extLst>
              <a:ext uri="{FF2B5EF4-FFF2-40B4-BE49-F238E27FC236}">
                <a16:creationId xmlns:a16="http://schemas.microsoft.com/office/drawing/2014/main" id="{2A48A4F9-8A25-B0AC-2F96-FD9546FB8CB6}"/>
              </a:ext>
            </a:extLst>
          </p:cNvPr>
          <p:cNvSpPr/>
          <p:nvPr/>
        </p:nvSpPr>
        <p:spPr>
          <a:xfrm>
            <a:off x="4404223"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E</a:t>
            </a:r>
            <a:endParaRPr lang="zh-CN" altLang="en-US" sz="1600">
              <a:solidFill>
                <a:schemeClr val="bg1"/>
              </a:solidFill>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3522684" y="5085012"/>
            <a:ext cx="1090726" cy="672351"/>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stCxn id="31" idx="3"/>
            <a:endCxn id="16" idx="2"/>
          </p:cNvCxnSpPr>
          <p:nvPr/>
        </p:nvCxnSpPr>
        <p:spPr>
          <a:xfrm flipV="1">
            <a:off x="7915048" y="4695825"/>
            <a:ext cx="617424" cy="127072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F6241E2F-1652-0D09-E172-FD4E91359BF0}"/>
              </a:ext>
            </a:extLst>
          </p:cNvPr>
          <p:cNvCxnSpPr>
            <a:stCxn id="33" idx="3"/>
            <a:endCxn id="31" idx="1"/>
          </p:cNvCxnSpPr>
          <p:nvPr/>
        </p:nvCxnSpPr>
        <p:spPr>
          <a:xfrm>
            <a:off x="5124223" y="5966551"/>
            <a:ext cx="2070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5C9936CB-581A-4208-C13B-CDD9E155EA1B}"/>
              </a:ext>
            </a:extLst>
          </p:cNvPr>
          <p:cNvCxnSpPr>
            <a:cxnSpLocks/>
            <a:stCxn id="11" idx="1"/>
            <a:endCxn id="15" idx="1"/>
          </p:cNvCxnSpPr>
          <p:nvPr/>
        </p:nvCxnSpPr>
        <p:spPr>
          <a:xfrm>
            <a:off x="4521699" y="4123350"/>
            <a:ext cx="0" cy="12707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9F0ED9B3-2F26-2430-35FB-B97D61EC1926}"/>
              </a:ext>
            </a:extLst>
          </p:cNvPr>
          <p:cNvSpPr txBox="1"/>
          <p:nvPr/>
        </p:nvSpPr>
        <p:spPr>
          <a:xfrm>
            <a:off x="5636357" y="5694788"/>
            <a:ext cx="736099" cy="369332"/>
          </a:xfrm>
          <a:prstGeom prst="rect">
            <a:avLst/>
          </a:prstGeom>
          <a:noFill/>
          <a:ln>
            <a:solidFill>
              <a:schemeClr val="bg1"/>
            </a:solidFill>
          </a:ln>
        </p:spPr>
        <p:txBody>
          <a:bodyPr wrap="none" rtlCol="0">
            <a:spAutoFit/>
          </a:bodyPr>
          <a:lstStyle/>
          <a:p>
            <a:r>
              <a:rPr lang="en-US" altLang="zh-CN">
                <a:solidFill>
                  <a:schemeClr val="bg1"/>
                </a:solidFill>
              </a:rPr>
              <a:t>FS+3</a:t>
            </a:r>
            <a:endParaRPr lang="zh-CN" altLang="en-US">
              <a:solidFill>
                <a:schemeClr val="bg1"/>
              </a:solidFill>
            </a:endParaRPr>
          </a:p>
        </p:txBody>
      </p:sp>
      <p:sp>
        <p:nvSpPr>
          <p:cNvPr id="47" name="文本框 46">
            <a:extLst>
              <a:ext uri="{FF2B5EF4-FFF2-40B4-BE49-F238E27FC236}">
                <a16:creationId xmlns:a16="http://schemas.microsoft.com/office/drawing/2014/main" id="{C4F5F361-8915-AFD5-E20C-29BE69FD0D28}"/>
              </a:ext>
            </a:extLst>
          </p:cNvPr>
          <p:cNvSpPr txBox="1"/>
          <p:nvPr/>
        </p:nvSpPr>
        <p:spPr>
          <a:xfrm>
            <a:off x="5236801" y="4940768"/>
            <a:ext cx="692818" cy="369332"/>
          </a:xfrm>
          <a:prstGeom prst="rect">
            <a:avLst/>
          </a:prstGeom>
          <a:noFill/>
          <a:ln>
            <a:solidFill>
              <a:schemeClr val="bg1"/>
            </a:solidFill>
          </a:ln>
        </p:spPr>
        <p:txBody>
          <a:bodyPr wrap="none" rtlCol="0">
            <a:spAutoFit/>
          </a:bodyPr>
          <a:lstStyle/>
          <a:p>
            <a:r>
              <a:rPr lang="en-US" altLang="zh-CN">
                <a:solidFill>
                  <a:schemeClr val="bg1"/>
                </a:solidFill>
              </a:rPr>
              <a:t>FS-2</a:t>
            </a:r>
            <a:endParaRPr lang="zh-CN" altLang="en-US">
              <a:solidFill>
                <a:schemeClr val="bg1"/>
              </a:solidFill>
            </a:endParaRPr>
          </a:p>
        </p:txBody>
      </p:sp>
      <p:sp>
        <p:nvSpPr>
          <p:cNvPr id="65" name="文本框 64">
            <a:extLst>
              <a:ext uri="{FF2B5EF4-FFF2-40B4-BE49-F238E27FC236}">
                <a16:creationId xmlns:a16="http://schemas.microsoft.com/office/drawing/2014/main" id="{FC9E2D9B-7BF8-3912-0ACF-9D3B8AA714AE}"/>
              </a:ext>
            </a:extLst>
          </p:cNvPr>
          <p:cNvSpPr txBox="1"/>
          <p:nvPr/>
        </p:nvSpPr>
        <p:spPr>
          <a:xfrm>
            <a:off x="4524098" y="4598625"/>
            <a:ext cx="734496" cy="369332"/>
          </a:xfrm>
          <a:prstGeom prst="rect">
            <a:avLst/>
          </a:prstGeom>
          <a:noFill/>
          <a:ln>
            <a:solidFill>
              <a:schemeClr val="bg1"/>
            </a:solidFill>
          </a:ln>
        </p:spPr>
        <p:txBody>
          <a:bodyPr wrap="none" rtlCol="0">
            <a:spAutoFit/>
          </a:bodyPr>
          <a:lstStyle/>
          <a:p>
            <a:r>
              <a:rPr lang="en-US" altLang="zh-CN">
                <a:solidFill>
                  <a:schemeClr val="bg1"/>
                </a:solidFill>
              </a:rPr>
              <a:t>SS+2</a:t>
            </a:r>
            <a:endParaRPr lang="zh-CN" altLang="en-US">
              <a:solidFill>
                <a:schemeClr val="bg1"/>
              </a:solidFill>
            </a:endParaRPr>
          </a:p>
        </p:txBody>
      </p:sp>
    </p:spTree>
    <p:extLst>
      <p:ext uri="{BB962C8B-B14F-4D97-AF65-F5344CB8AC3E}">
        <p14:creationId xmlns:p14="http://schemas.microsoft.com/office/powerpoint/2010/main" val="3937002644"/>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695998" y="360000"/>
            <a:ext cx="6375921" cy="429413"/>
          </a:xfrm>
        </p:spPr>
        <p:txBody>
          <a:bodyPr>
            <a:normAutofit/>
          </a:bodyPr>
          <a:lstStyle/>
          <a:p>
            <a:r>
              <a:rPr lang="zh-CN" altLang="en-US"/>
              <a:t>箭线图 </a:t>
            </a:r>
            <a:r>
              <a:rPr lang="en-US" altLang="zh-CN"/>
              <a:t>ADM</a:t>
            </a:r>
            <a:endParaRPr lang="zh-CN" altLang="en-US"/>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a:xfrm>
            <a:off x="696000" y="864000"/>
            <a:ext cx="10800000" cy="5400000"/>
          </a:xfrm>
        </p:spPr>
        <p:txBody>
          <a:bodyPr/>
          <a:lstStyle/>
          <a:p>
            <a:r>
              <a:rPr lang="zh-CN" altLang="en-US"/>
              <a:t>活动：以字母表示</a:t>
            </a:r>
          </a:p>
          <a:p>
            <a:r>
              <a:rPr lang="zh-CN" altLang="en-US"/>
              <a:t>圆圈：序号，以数值表示</a:t>
            </a:r>
            <a:endParaRPr lang="en-US" altLang="zh-CN"/>
          </a:p>
          <a:p>
            <a:r>
              <a:rPr lang="zh-CN" altLang="en-US"/>
              <a:t>可以使用虚拟活动 </a:t>
            </a:r>
            <a:r>
              <a:rPr lang="en-US" altLang="zh-CN"/>
              <a:t>dummy activity </a:t>
            </a:r>
            <a:r>
              <a:rPr lang="zh-CN" altLang="en-US"/>
              <a:t>表示依赖关系</a:t>
            </a:r>
            <a:endParaRPr lang="en-US" altLang="zh-CN"/>
          </a:p>
          <a:p>
            <a:endParaRPr lang="en-US" altLang="zh-CN"/>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a:xfrm>
            <a:off x="7071919" y="448519"/>
            <a:ext cx="4424080" cy="338554"/>
          </a:xfrm>
        </p:spPr>
        <p:txBody>
          <a:bodyPr/>
          <a:lstStyle/>
          <a:p>
            <a:r>
              <a:rPr lang="en-US" altLang="zh-CN"/>
              <a:t>Project Progress</a:t>
            </a:r>
            <a:endParaRPr lang="zh-CN" altLang="en-US"/>
          </a:p>
        </p:txBody>
      </p:sp>
      <p:sp>
        <p:nvSpPr>
          <p:cNvPr id="5" name="椭圆 4">
            <a:extLst>
              <a:ext uri="{FF2B5EF4-FFF2-40B4-BE49-F238E27FC236}">
                <a16:creationId xmlns:a16="http://schemas.microsoft.com/office/drawing/2014/main" id="{6E7A7C02-DAB8-2139-4D9A-EF3985C00A8C}"/>
              </a:ext>
            </a:extLst>
          </p:cNvPr>
          <p:cNvSpPr/>
          <p:nvPr/>
        </p:nvSpPr>
        <p:spPr>
          <a:xfrm>
            <a:off x="4838700" y="3063525"/>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2</a:t>
            </a:r>
            <a:endParaRPr lang="zh-CN" altLang="en-US" sz="1600">
              <a:solidFill>
                <a:schemeClr val="bg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943600" y="2549175"/>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4</a:t>
            </a:r>
            <a:endParaRPr lang="zh-CN" altLang="en-US" sz="1600">
              <a:solidFill>
                <a:schemeClr val="bg1"/>
              </a:solidFill>
            </a:endParaRPr>
          </a:p>
        </p:txBody>
      </p:sp>
      <p:sp>
        <p:nvSpPr>
          <p:cNvPr id="7" name="椭圆 6">
            <a:extLst>
              <a:ext uri="{FF2B5EF4-FFF2-40B4-BE49-F238E27FC236}">
                <a16:creationId xmlns:a16="http://schemas.microsoft.com/office/drawing/2014/main" id="{C490F7CE-4832-AA00-CB8A-30CF18092833}"/>
              </a:ext>
            </a:extLst>
          </p:cNvPr>
          <p:cNvSpPr/>
          <p:nvPr/>
        </p:nvSpPr>
        <p:spPr>
          <a:xfrm>
            <a:off x="6859729" y="3751268"/>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5</a:t>
            </a:r>
            <a:endParaRPr lang="zh-CN" altLang="en-US" sz="1600">
              <a:solidFill>
                <a:schemeClr val="bg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5477098" y="4334251"/>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3</a:t>
            </a:r>
            <a:endParaRPr lang="zh-CN" altLang="en-US" sz="1600">
              <a:solidFill>
                <a:schemeClr val="bg1"/>
              </a:solidFill>
            </a:endParaRPr>
          </a:p>
        </p:txBody>
      </p:sp>
      <p:sp>
        <p:nvSpPr>
          <p:cNvPr id="9" name="矩形 8">
            <a:extLst>
              <a:ext uri="{FF2B5EF4-FFF2-40B4-BE49-F238E27FC236}">
                <a16:creationId xmlns:a16="http://schemas.microsoft.com/office/drawing/2014/main" id="{0A41CA30-F80E-BA4E-599D-3A29F7775A98}"/>
              </a:ext>
            </a:extLst>
          </p:cNvPr>
          <p:cNvSpPr/>
          <p:nvPr/>
        </p:nvSpPr>
        <p:spPr>
          <a:xfrm>
            <a:off x="8289448" y="3456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结束</a:t>
            </a:r>
          </a:p>
        </p:txBody>
      </p:sp>
      <p:sp>
        <p:nvSpPr>
          <p:cNvPr id="10" name="矩形 9">
            <a:extLst>
              <a:ext uri="{FF2B5EF4-FFF2-40B4-BE49-F238E27FC236}">
                <a16:creationId xmlns:a16="http://schemas.microsoft.com/office/drawing/2014/main" id="{3667BF8F-73ED-D2E2-F717-9184303D48AF}"/>
              </a:ext>
            </a:extLst>
          </p:cNvPr>
          <p:cNvSpPr/>
          <p:nvPr/>
        </p:nvSpPr>
        <p:spPr>
          <a:xfrm>
            <a:off x="3488848" y="3636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开始</a:t>
            </a:r>
          </a:p>
        </p:txBody>
      </p:sp>
      <p:cxnSp>
        <p:nvCxnSpPr>
          <p:cNvPr id="14" name="连接符: 肘形 13">
            <a:extLst>
              <a:ext uri="{FF2B5EF4-FFF2-40B4-BE49-F238E27FC236}">
                <a16:creationId xmlns:a16="http://schemas.microsoft.com/office/drawing/2014/main" id="{0ED4AE2A-B468-C93D-6DEC-0C6F49DF677A}"/>
              </a:ext>
            </a:extLst>
          </p:cNvPr>
          <p:cNvCxnSpPr>
            <a:cxnSpLocks/>
            <a:stCxn id="10" idx="3"/>
            <a:endCxn id="5" idx="2"/>
          </p:cNvCxnSpPr>
          <p:nvPr/>
        </p:nvCxnSpPr>
        <p:spPr>
          <a:xfrm flipV="1">
            <a:off x="4208848" y="3333525"/>
            <a:ext cx="629852" cy="4824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CCE2F7B7-A55A-C41D-87F4-E3E189A8D59B}"/>
              </a:ext>
            </a:extLst>
          </p:cNvPr>
          <p:cNvCxnSpPr>
            <a:cxnSpLocks/>
            <a:stCxn id="10" idx="3"/>
            <a:endCxn id="8" idx="2"/>
          </p:cNvCxnSpPr>
          <p:nvPr/>
        </p:nvCxnSpPr>
        <p:spPr>
          <a:xfrm>
            <a:off x="4208848" y="3816000"/>
            <a:ext cx="1268250" cy="788251"/>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2E548D96-634A-D3AB-5DC4-03C37AC6E0F8}"/>
              </a:ext>
            </a:extLst>
          </p:cNvPr>
          <p:cNvCxnSpPr>
            <a:cxnSpLocks/>
            <a:stCxn id="5" idx="6"/>
            <a:endCxn id="6" idx="2"/>
          </p:cNvCxnSpPr>
          <p:nvPr/>
        </p:nvCxnSpPr>
        <p:spPr>
          <a:xfrm flipV="1">
            <a:off x="5378700" y="2819175"/>
            <a:ext cx="564900" cy="514350"/>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C5B93BBE-ED23-5DA0-8D27-AB3FBC8F0315}"/>
              </a:ext>
            </a:extLst>
          </p:cNvPr>
          <p:cNvCxnSpPr>
            <a:cxnSpLocks/>
            <a:stCxn id="5" idx="6"/>
            <a:endCxn id="7" idx="2"/>
          </p:cNvCxnSpPr>
          <p:nvPr/>
        </p:nvCxnSpPr>
        <p:spPr>
          <a:xfrm>
            <a:off x="5378700" y="3333525"/>
            <a:ext cx="1481029" cy="687743"/>
          </a:xfrm>
          <a:prstGeom prst="bentConnector3">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A66BFAF-A6EB-6032-E82E-CF352F2C19F0}"/>
              </a:ext>
            </a:extLst>
          </p:cNvPr>
          <p:cNvCxnSpPr>
            <a:cxnSpLocks/>
            <a:stCxn id="8" idx="6"/>
            <a:endCxn id="7" idx="2"/>
          </p:cNvCxnSpPr>
          <p:nvPr/>
        </p:nvCxnSpPr>
        <p:spPr>
          <a:xfrm flipV="1">
            <a:off x="6017098" y="4021268"/>
            <a:ext cx="842631" cy="58298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D6EC5071-147D-1003-D26C-042364007F12}"/>
              </a:ext>
            </a:extLst>
          </p:cNvPr>
          <p:cNvCxnSpPr>
            <a:cxnSpLocks/>
            <a:stCxn id="6" idx="6"/>
            <a:endCxn id="9" idx="0"/>
          </p:cNvCxnSpPr>
          <p:nvPr/>
        </p:nvCxnSpPr>
        <p:spPr>
          <a:xfrm>
            <a:off x="6483600" y="2819175"/>
            <a:ext cx="2165848" cy="636825"/>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8422E494-72B6-B67F-7FB4-58C4E86F6148}"/>
              </a:ext>
            </a:extLst>
          </p:cNvPr>
          <p:cNvCxnSpPr>
            <a:cxnSpLocks/>
            <a:stCxn id="7" idx="6"/>
            <a:endCxn id="9" idx="1"/>
          </p:cNvCxnSpPr>
          <p:nvPr/>
        </p:nvCxnSpPr>
        <p:spPr>
          <a:xfrm flipV="1">
            <a:off x="7399729" y="3636000"/>
            <a:ext cx="889719" cy="385268"/>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9" name="椭圆 28">
            <a:extLst>
              <a:ext uri="{FF2B5EF4-FFF2-40B4-BE49-F238E27FC236}">
                <a16:creationId xmlns:a16="http://schemas.microsoft.com/office/drawing/2014/main" id="{B25264AB-A6F2-6816-CEF4-E9D18B9EC2DA}"/>
              </a:ext>
            </a:extLst>
          </p:cNvPr>
          <p:cNvSpPr/>
          <p:nvPr/>
        </p:nvSpPr>
        <p:spPr>
          <a:xfrm>
            <a:off x="7588249" y="4906726"/>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6</a:t>
            </a:r>
            <a:endParaRPr lang="zh-CN" altLang="en-US" sz="1600">
              <a:solidFill>
                <a:schemeClr val="bg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4578349" y="4906726"/>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1</a:t>
            </a:r>
            <a:endParaRPr lang="zh-CN" altLang="en-US" sz="1600">
              <a:solidFill>
                <a:schemeClr val="bg1"/>
              </a:solidFill>
            </a:endParaRPr>
          </a:p>
        </p:txBody>
      </p:sp>
      <p:cxnSp>
        <p:nvCxnSpPr>
          <p:cNvPr id="32" name="连接符: 肘形 31">
            <a:extLst>
              <a:ext uri="{FF2B5EF4-FFF2-40B4-BE49-F238E27FC236}">
                <a16:creationId xmlns:a16="http://schemas.microsoft.com/office/drawing/2014/main" id="{F27F93F1-7D30-0909-39FA-8B5A662B05AE}"/>
              </a:ext>
            </a:extLst>
          </p:cNvPr>
          <p:cNvCxnSpPr>
            <a:cxnSpLocks/>
            <a:stCxn id="10" idx="2"/>
            <a:endCxn id="30" idx="2"/>
          </p:cNvCxnSpPr>
          <p:nvPr/>
        </p:nvCxnSpPr>
        <p:spPr>
          <a:xfrm rot="16200000" flipH="1">
            <a:off x="3623235" y="4221612"/>
            <a:ext cx="1180726" cy="729501"/>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连接符: 肘形 35">
            <a:extLst>
              <a:ext uri="{FF2B5EF4-FFF2-40B4-BE49-F238E27FC236}">
                <a16:creationId xmlns:a16="http://schemas.microsoft.com/office/drawing/2014/main" id="{71B08822-3E59-998E-0DF6-F661F3245266}"/>
              </a:ext>
            </a:extLst>
          </p:cNvPr>
          <p:cNvCxnSpPr>
            <a:cxnSpLocks/>
            <a:stCxn id="29" idx="6"/>
            <a:endCxn id="9" idx="2"/>
          </p:cNvCxnSpPr>
          <p:nvPr/>
        </p:nvCxnSpPr>
        <p:spPr>
          <a:xfrm flipV="1">
            <a:off x="8128249" y="3816000"/>
            <a:ext cx="521199" cy="136072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258850A9-6513-2E98-430C-00E3A6711474}"/>
              </a:ext>
            </a:extLst>
          </p:cNvPr>
          <p:cNvCxnSpPr>
            <a:cxnSpLocks/>
            <a:stCxn id="30" idx="6"/>
            <a:endCxn id="29" idx="2"/>
          </p:cNvCxnSpPr>
          <p:nvPr/>
        </p:nvCxnSpPr>
        <p:spPr>
          <a:xfrm>
            <a:off x="5118349" y="5176726"/>
            <a:ext cx="24699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F52F0372-5392-58A4-49F9-EFEB42108812}"/>
              </a:ext>
            </a:extLst>
          </p:cNvPr>
          <p:cNvSpPr txBox="1"/>
          <p:nvPr/>
        </p:nvSpPr>
        <p:spPr>
          <a:xfrm>
            <a:off x="4208848" y="3086668"/>
            <a:ext cx="349776" cy="369332"/>
          </a:xfrm>
          <a:prstGeom prst="rect">
            <a:avLst/>
          </a:prstGeom>
          <a:noFill/>
        </p:spPr>
        <p:txBody>
          <a:bodyPr wrap="none" rtlCol="0">
            <a:spAutoFit/>
          </a:bodyPr>
          <a:lstStyle/>
          <a:p>
            <a:r>
              <a:rPr lang="en-US" altLang="zh-CN">
                <a:solidFill>
                  <a:schemeClr val="bg1"/>
                </a:solidFill>
              </a:rPr>
              <a:t>A</a:t>
            </a:r>
            <a:endParaRPr lang="zh-CN" altLang="en-US">
              <a:solidFill>
                <a:schemeClr val="bg1"/>
              </a:solidFill>
            </a:endParaRPr>
          </a:p>
        </p:txBody>
      </p:sp>
      <p:sp>
        <p:nvSpPr>
          <p:cNvPr id="38" name="文本框 37">
            <a:extLst>
              <a:ext uri="{FF2B5EF4-FFF2-40B4-BE49-F238E27FC236}">
                <a16:creationId xmlns:a16="http://schemas.microsoft.com/office/drawing/2014/main" id="{0C2744B8-3990-3C97-84D5-4203AC2DB825}"/>
              </a:ext>
            </a:extLst>
          </p:cNvPr>
          <p:cNvSpPr txBox="1"/>
          <p:nvPr/>
        </p:nvSpPr>
        <p:spPr>
          <a:xfrm>
            <a:off x="5348873" y="2485970"/>
            <a:ext cx="359394" cy="369332"/>
          </a:xfrm>
          <a:prstGeom prst="rect">
            <a:avLst/>
          </a:prstGeom>
          <a:noFill/>
        </p:spPr>
        <p:txBody>
          <a:bodyPr wrap="none" rtlCol="0">
            <a:spAutoFit/>
          </a:bodyPr>
          <a:lstStyle/>
          <a:p>
            <a:r>
              <a:rPr lang="en-US" altLang="zh-CN">
                <a:solidFill>
                  <a:schemeClr val="bg1"/>
                </a:solidFill>
              </a:rPr>
              <a:t>B</a:t>
            </a:r>
            <a:endParaRPr lang="zh-CN" altLang="en-US">
              <a:solidFill>
                <a:schemeClr val="bg1"/>
              </a:solidFill>
            </a:endParaRPr>
          </a:p>
        </p:txBody>
      </p:sp>
      <p:sp>
        <p:nvSpPr>
          <p:cNvPr id="39" name="文本框 38">
            <a:extLst>
              <a:ext uri="{FF2B5EF4-FFF2-40B4-BE49-F238E27FC236}">
                <a16:creationId xmlns:a16="http://schemas.microsoft.com/office/drawing/2014/main" id="{97428327-891F-0A24-4F79-D95ACEF0745A}"/>
              </a:ext>
            </a:extLst>
          </p:cNvPr>
          <p:cNvSpPr txBox="1"/>
          <p:nvPr/>
        </p:nvSpPr>
        <p:spPr>
          <a:xfrm>
            <a:off x="7238473" y="2485970"/>
            <a:ext cx="349776" cy="369332"/>
          </a:xfrm>
          <a:prstGeom prst="rect">
            <a:avLst/>
          </a:prstGeom>
          <a:noFill/>
        </p:spPr>
        <p:txBody>
          <a:bodyPr wrap="none" rtlCol="0">
            <a:spAutoFit/>
          </a:bodyPr>
          <a:lstStyle/>
          <a:p>
            <a:r>
              <a:rPr lang="en-US" altLang="zh-CN">
                <a:solidFill>
                  <a:schemeClr val="bg1"/>
                </a:solidFill>
              </a:rPr>
              <a:t>C</a:t>
            </a:r>
            <a:endParaRPr lang="zh-CN" altLang="en-US">
              <a:solidFill>
                <a:schemeClr val="bg1"/>
              </a:solidFill>
            </a:endParaRPr>
          </a:p>
        </p:txBody>
      </p:sp>
      <p:sp>
        <p:nvSpPr>
          <p:cNvPr id="40" name="文本框 39">
            <a:extLst>
              <a:ext uri="{FF2B5EF4-FFF2-40B4-BE49-F238E27FC236}">
                <a16:creationId xmlns:a16="http://schemas.microsoft.com/office/drawing/2014/main" id="{B71DE40E-D4E7-0293-0D1B-32B33B2A0560}"/>
              </a:ext>
            </a:extLst>
          </p:cNvPr>
          <p:cNvSpPr txBox="1"/>
          <p:nvPr/>
        </p:nvSpPr>
        <p:spPr>
          <a:xfrm>
            <a:off x="4144311" y="4816726"/>
            <a:ext cx="375424" cy="369332"/>
          </a:xfrm>
          <a:prstGeom prst="rect">
            <a:avLst/>
          </a:prstGeom>
          <a:noFill/>
        </p:spPr>
        <p:txBody>
          <a:bodyPr wrap="none" rtlCol="0">
            <a:spAutoFit/>
          </a:bodyPr>
          <a:lstStyle/>
          <a:p>
            <a:r>
              <a:rPr lang="en-US" altLang="zh-CN">
                <a:solidFill>
                  <a:schemeClr val="bg1"/>
                </a:solidFill>
              </a:rPr>
              <a:t>D</a:t>
            </a:r>
            <a:endParaRPr lang="zh-CN" altLang="en-US">
              <a:solidFill>
                <a:schemeClr val="bg1"/>
              </a:solidFill>
            </a:endParaRPr>
          </a:p>
        </p:txBody>
      </p:sp>
      <p:sp>
        <p:nvSpPr>
          <p:cNvPr id="41" name="文本框 40">
            <a:extLst>
              <a:ext uri="{FF2B5EF4-FFF2-40B4-BE49-F238E27FC236}">
                <a16:creationId xmlns:a16="http://schemas.microsoft.com/office/drawing/2014/main" id="{450F67D7-12C7-B50F-934C-901FDD934F56}"/>
              </a:ext>
            </a:extLst>
          </p:cNvPr>
          <p:cNvSpPr txBox="1"/>
          <p:nvPr/>
        </p:nvSpPr>
        <p:spPr>
          <a:xfrm>
            <a:off x="4976007" y="4201491"/>
            <a:ext cx="349776" cy="369332"/>
          </a:xfrm>
          <a:prstGeom prst="rect">
            <a:avLst/>
          </a:prstGeom>
          <a:noFill/>
        </p:spPr>
        <p:txBody>
          <a:bodyPr wrap="none" rtlCol="0">
            <a:spAutoFit/>
          </a:bodyPr>
          <a:lstStyle/>
          <a:p>
            <a:r>
              <a:rPr lang="en-US" altLang="zh-CN">
                <a:solidFill>
                  <a:schemeClr val="bg1"/>
                </a:solidFill>
              </a:rPr>
              <a:t>E</a:t>
            </a:r>
            <a:endParaRPr lang="zh-CN" altLang="en-US">
              <a:solidFill>
                <a:schemeClr val="bg1"/>
              </a:solidFill>
            </a:endParaRPr>
          </a:p>
        </p:txBody>
      </p:sp>
      <p:sp>
        <p:nvSpPr>
          <p:cNvPr id="44" name="文本框 43">
            <a:extLst>
              <a:ext uri="{FF2B5EF4-FFF2-40B4-BE49-F238E27FC236}">
                <a16:creationId xmlns:a16="http://schemas.microsoft.com/office/drawing/2014/main" id="{74D33463-1E1A-832B-DE61-E29F3F2F3C81}"/>
              </a:ext>
            </a:extLst>
          </p:cNvPr>
          <p:cNvSpPr txBox="1"/>
          <p:nvPr/>
        </p:nvSpPr>
        <p:spPr>
          <a:xfrm>
            <a:off x="6149953" y="4179680"/>
            <a:ext cx="362600" cy="369332"/>
          </a:xfrm>
          <a:prstGeom prst="rect">
            <a:avLst/>
          </a:prstGeom>
          <a:noFill/>
        </p:spPr>
        <p:txBody>
          <a:bodyPr wrap="none" rtlCol="0">
            <a:spAutoFit/>
          </a:bodyPr>
          <a:lstStyle/>
          <a:p>
            <a:r>
              <a:rPr lang="en-US" altLang="zh-CN">
                <a:solidFill>
                  <a:schemeClr val="bg1"/>
                </a:solidFill>
              </a:rPr>
              <a:t>G</a:t>
            </a:r>
            <a:endParaRPr lang="zh-CN" altLang="en-US">
              <a:solidFill>
                <a:schemeClr val="bg1"/>
              </a:solidFill>
            </a:endParaRPr>
          </a:p>
        </p:txBody>
      </p:sp>
      <p:sp>
        <p:nvSpPr>
          <p:cNvPr id="45" name="文本框 44">
            <a:extLst>
              <a:ext uri="{FF2B5EF4-FFF2-40B4-BE49-F238E27FC236}">
                <a16:creationId xmlns:a16="http://schemas.microsoft.com/office/drawing/2014/main" id="{F76CA728-D0CD-000A-ADE7-348B5DE888A2}"/>
              </a:ext>
            </a:extLst>
          </p:cNvPr>
          <p:cNvSpPr txBox="1"/>
          <p:nvPr/>
        </p:nvSpPr>
        <p:spPr>
          <a:xfrm>
            <a:off x="6912984" y="4807394"/>
            <a:ext cx="372218" cy="369332"/>
          </a:xfrm>
          <a:prstGeom prst="rect">
            <a:avLst/>
          </a:prstGeom>
          <a:noFill/>
        </p:spPr>
        <p:txBody>
          <a:bodyPr wrap="none" rtlCol="0">
            <a:spAutoFit/>
          </a:bodyPr>
          <a:lstStyle/>
          <a:p>
            <a:r>
              <a:rPr lang="en-US" altLang="zh-CN">
                <a:solidFill>
                  <a:schemeClr val="bg1"/>
                </a:solidFill>
              </a:rPr>
              <a:t>H</a:t>
            </a:r>
            <a:endParaRPr lang="zh-CN" altLang="en-US">
              <a:solidFill>
                <a:schemeClr val="bg1"/>
              </a:solidFill>
            </a:endParaRPr>
          </a:p>
        </p:txBody>
      </p:sp>
      <p:sp>
        <p:nvSpPr>
          <p:cNvPr id="46" name="文本框 45">
            <a:extLst>
              <a:ext uri="{FF2B5EF4-FFF2-40B4-BE49-F238E27FC236}">
                <a16:creationId xmlns:a16="http://schemas.microsoft.com/office/drawing/2014/main" id="{1E3DFB7D-F8DF-25B3-59BD-92567C861CE1}"/>
              </a:ext>
            </a:extLst>
          </p:cNvPr>
          <p:cNvSpPr txBox="1"/>
          <p:nvPr/>
        </p:nvSpPr>
        <p:spPr>
          <a:xfrm>
            <a:off x="7532437" y="3586005"/>
            <a:ext cx="253596" cy="369332"/>
          </a:xfrm>
          <a:prstGeom prst="rect">
            <a:avLst/>
          </a:prstGeom>
          <a:noFill/>
        </p:spPr>
        <p:txBody>
          <a:bodyPr wrap="none" rtlCol="0">
            <a:spAutoFit/>
          </a:bodyPr>
          <a:lstStyle/>
          <a:p>
            <a:r>
              <a:rPr lang="en-US" altLang="zh-CN">
                <a:solidFill>
                  <a:schemeClr val="bg1"/>
                </a:solidFill>
              </a:rPr>
              <a:t>I</a:t>
            </a:r>
            <a:endParaRPr lang="zh-CN" altLang="en-US">
              <a:solidFill>
                <a:schemeClr val="bg1"/>
              </a:solidFill>
            </a:endParaRPr>
          </a:p>
        </p:txBody>
      </p:sp>
      <p:sp>
        <p:nvSpPr>
          <p:cNvPr id="47" name="文本框 46">
            <a:extLst>
              <a:ext uri="{FF2B5EF4-FFF2-40B4-BE49-F238E27FC236}">
                <a16:creationId xmlns:a16="http://schemas.microsoft.com/office/drawing/2014/main" id="{A0E6DEE0-724C-B133-BBF1-63DAC80FC0B4}"/>
              </a:ext>
            </a:extLst>
          </p:cNvPr>
          <p:cNvSpPr txBox="1"/>
          <p:nvPr/>
        </p:nvSpPr>
        <p:spPr>
          <a:xfrm>
            <a:off x="8321598" y="4438062"/>
            <a:ext cx="300082" cy="369332"/>
          </a:xfrm>
          <a:prstGeom prst="rect">
            <a:avLst/>
          </a:prstGeom>
          <a:noFill/>
        </p:spPr>
        <p:txBody>
          <a:bodyPr wrap="none" rtlCol="0">
            <a:spAutoFit/>
          </a:bodyPr>
          <a:lstStyle/>
          <a:p>
            <a:r>
              <a:rPr lang="en-US" altLang="zh-CN">
                <a:solidFill>
                  <a:schemeClr val="bg1"/>
                </a:solidFill>
              </a:rPr>
              <a:t>J</a:t>
            </a:r>
            <a:endParaRPr lang="zh-CN" altLang="en-US">
              <a:solidFill>
                <a:schemeClr val="bg1"/>
              </a:solidFill>
            </a:endParaRPr>
          </a:p>
        </p:txBody>
      </p:sp>
    </p:spTree>
    <p:extLst>
      <p:ext uri="{BB962C8B-B14F-4D97-AF65-F5344CB8AC3E}">
        <p14:creationId xmlns:p14="http://schemas.microsoft.com/office/powerpoint/2010/main" val="265636087"/>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DA317D8-55D1-0933-4DDB-EF561856F737}"/>
              </a:ext>
            </a:extLst>
          </p:cNvPr>
          <p:cNvSpPr>
            <a:spLocks noGrp="1"/>
          </p:cNvSpPr>
          <p:nvPr>
            <p:ph type="title"/>
          </p:nvPr>
        </p:nvSpPr>
        <p:spPr/>
        <p:txBody>
          <a:bodyPr/>
          <a:lstStyle/>
          <a:p>
            <a:r>
              <a:rPr lang="en-US" altLang="zh-CN"/>
              <a:t>5. </a:t>
            </a:r>
            <a:r>
              <a:rPr lang="zh-CN" altLang="en-US"/>
              <a:t>估算活动持续时间</a:t>
            </a:r>
          </a:p>
        </p:txBody>
      </p:sp>
      <p:sp>
        <p:nvSpPr>
          <p:cNvPr id="3" name="内容占位符 2">
            <a:extLst>
              <a:ext uri="{FF2B5EF4-FFF2-40B4-BE49-F238E27FC236}">
                <a16:creationId xmlns:a16="http://schemas.microsoft.com/office/drawing/2014/main" id="{3888344A-C993-3676-C067-C34270E30D5A}"/>
              </a:ext>
            </a:extLst>
          </p:cNvPr>
          <p:cNvSpPr>
            <a:spLocks noGrp="1"/>
          </p:cNvSpPr>
          <p:nvPr>
            <p:ph idx="1"/>
          </p:nvPr>
        </p:nvSpPr>
        <p:spPr/>
        <p:txBody>
          <a:bodyPr/>
          <a:lstStyle/>
          <a:p>
            <a:r>
              <a:rPr lang="zh-CN" altLang="en-US"/>
              <a:t>类比估算</a:t>
            </a:r>
            <a:endParaRPr lang="en-US" altLang="zh-CN"/>
          </a:p>
          <a:p>
            <a:r>
              <a:rPr lang="zh-CN" altLang="en-US"/>
              <a:t>三点估算</a:t>
            </a:r>
          </a:p>
        </p:txBody>
      </p:sp>
      <p:sp>
        <p:nvSpPr>
          <p:cNvPr id="4" name="文本占位符 3">
            <a:extLst>
              <a:ext uri="{FF2B5EF4-FFF2-40B4-BE49-F238E27FC236}">
                <a16:creationId xmlns:a16="http://schemas.microsoft.com/office/drawing/2014/main" id="{48D3D086-A333-0E66-8030-96A037E1289B}"/>
              </a:ext>
            </a:extLst>
          </p:cNvPr>
          <p:cNvSpPr>
            <a:spLocks noGrp="1"/>
          </p:cNvSpPr>
          <p:nvPr>
            <p:ph type="body" sz="quarter" idx="10"/>
          </p:nvPr>
        </p:nvSpPr>
        <p:spPr/>
        <p:txBody>
          <a:bodyPr/>
          <a:lstStyle/>
          <a:p>
            <a:r>
              <a:rPr lang="en-US" altLang="zh-CN"/>
              <a:t>Project Progress</a:t>
            </a:r>
            <a:endParaRPr lang="zh-CN" altLang="en-US"/>
          </a:p>
        </p:txBody>
      </p:sp>
    </p:spTree>
    <p:extLst>
      <p:ext uri="{BB962C8B-B14F-4D97-AF65-F5344CB8AC3E}">
        <p14:creationId xmlns:p14="http://schemas.microsoft.com/office/powerpoint/2010/main" val="3117094639"/>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695998" y="360000"/>
            <a:ext cx="7200000" cy="424732"/>
          </a:xfrm>
        </p:spPr>
        <p:txBody>
          <a:bodyPr>
            <a:normAutofit/>
          </a:bodyPr>
          <a:lstStyle/>
          <a:p>
            <a:r>
              <a:rPr lang="zh-CN" altLang="en-US"/>
              <a:t>甘特图 </a:t>
            </a:r>
            <a:r>
              <a:rPr lang="en-US" altLang="zh-CN"/>
              <a:t>Gantt Chart</a:t>
            </a:r>
            <a:endParaRPr lang="zh-CN" altLang="en-US"/>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1080000"/>
            <a:ext cx="10800000" cy="5112000"/>
          </a:xfrm>
        </p:spPr>
        <p:txBody>
          <a:bodyPr>
            <a:normAutofit/>
          </a:bodyPr>
          <a:lstStyle/>
          <a:p>
            <a:r>
              <a:rPr lang="zh-CN" altLang="en-US"/>
              <a:t>甘特图是一种条形图，用于展示项目进度计划以及每个任务的开始时间和结束时间。它帮助团队成员了解项目的时间安排、任务之间的依赖关系以及整个项目的进展情况</a:t>
            </a:r>
            <a:endParaRPr lang="en-US" altLang="zh-CN"/>
          </a:p>
          <a:p>
            <a:r>
              <a:rPr lang="zh-CN" altLang="en-US"/>
              <a:t>组成</a:t>
            </a:r>
          </a:p>
          <a:p>
            <a:pPr lvl="1"/>
            <a:r>
              <a:rPr lang="zh-CN" altLang="en-US"/>
              <a:t>事件号</a:t>
            </a:r>
          </a:p>
          <a:p>
            <a:pPr lvl="1"/>
            <a:r>
              <a:rPr lang="zh-CN" altLang="en-US"/>
              <a:t>最早开始时刻</a:t>
            </a:r>
          </a:p>
          <a:p>
            <a:pPr lvl="1"/>
            <a:r>
              <a:rPr lang="zh-CN" altLang="en-US"/>
              <a:t>最晚开始时刻</a:t>
            </a:r>
          </a:p>
          <a:p>
            <a:pPr lvl="1"/>
            <a:r>
              <a:rPr lang="zh-CN" altLang="en-US"/>
              <a:t>时间持续时间</a:t>
            </a:r>
          </a:p>
          <a:p>
            <a:r>
              <a:rPr lang="zh-CN" altLang="en-US"/>
              <a:t>特点：</a:t>
            </a:r>
          </a:p>
          <a:p>
            <a:pPr lvl="1"/>
            <a:r>
              <a:rPr lang="zh-CN" altLang="en-US"/>
              <a:t>显示每个任务的起止日期 </a:t>
            </a:r>
            <a:r>
              <a:rPr lang="en-US" altLang="zh-CN"/>
              <a:t>- </a:t>
            </a:r>
            <a:r>
              <a:rPr lang="zh-CN" altLang="en-US"/>
              <a:t>进度的安排情况</a:t>
            </a:r>
          </a:p>
          <a:p>
            <a:pPr lvl="1"/>
            <a:r>
              <a:rPr lang="zh-CN" altLang="en-US"/>
              <a:t>可以清晰地看到任务之间的重叠和依赖关系 </a:t>
            </a:r>
            <a:r>
              <a:rPr lang="en-US" altLang="zh-CN"/>
              <a:t>- </a:t>
            </a:r>
            <a:r>
              <a:rPr lang="zh-CN" altLang="en-US"/>
              <a:t>体现并发任务</a:t>
            </a:r>
          </a:p>
          <a:p>
            <a:pPr lvl="1"/>
            <a:r>
              <a:rPr lang="zh-CN" altLang="en-US"/>
              <a:t>帮助项目经理监控项目进度，并根据需要调整资源分配</a:t>
            </a:r>
            <a:endParaRPr lang="en-US" altLang="zh-CN"/>
          </a:p>
          <a:p>
            <a:pPr lvl="1"/>
            <a:r>
              <a:rPr lang="zh-CN" altLang="en-US"/>
              <a:t>前续事件都完成才可以决定当前事件的执行时间</a:t>
            </a:r>
          </a:p>
          <a:p>
            <a:pPr lvl="1"/>
            <a:r>
              <a:rPr lang="zh-CN" altLang="en-US"/>
              <a:t>最后一个的最早时间和最晚时间一样</a:t>
            </a:r>
          </a:p>
          <a:p>
            <a:pPr lvl="1"/>
            <a:r>
              <a:rPr lang="zh-CN" altLang="en-US"/>
              <a:t>不能反映任务之间的依赖关系</a:t>
            </a:r>
          </a:p>
        </p:txBody>
      </p:sp>
      <p:sp>
        <p:nvSpPr>
          <p:cNvPr id="6" name="文本占位符 5">
            <a:extLst>
              <a:ext uri="{FF2B5EF4-FFF2-40B4-BE49-F238E27FC236}">
                <a16:creationId xmlns:a16="http://schemas.microsoft.com/office/drawing/2014/main" id="{BA9B8F71-14C6-E078-C4DA-B32F8D6A87B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67855499"/>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0069F9-6F67-A241-0872-B8AAEF4257F0}"/>
              </a:ext>
            </a:extLst>
          </p:cNvPr>
          <p:cNvSpPr>
            <a:spLocks noGrp="1"/>
          </p:cNvSpPr>
          <p:nvPr>
            <p:ph type="title"/>
          </p:nvPr>
        </p:nvSpPr>
        <p:spPr>
          <a:xfrm>
            <a:off x="695998" y="360000"/>
            <a:ext cx="7200000" cy="424732"/>
          </a:xfrm>
        </p:spPr>
        <p:txBody>
          <a:bodyPr>
            <a:normAutofit/>
          </a:bodyPr>
          <a:lstStyle/>
          <a:p>
            <a:r>
              <a:rPr lang="en-US" altLang="zh-CN"/>
              <a:t>PERT</a:t>
            </a:r>
            <a:endParaRPr lang="zh-CN" altLang="en-US"/>
          </a:p>
        </p:txBody>
      </p:sp>
      <p:sp>
        <p:nvSpPr>
          <p:cNvPr id="3" name="内容占位符 2">
            <a:extLst>
              <a:ext uri="{FF2B5EF4-FFF2-40B4-BE49-F238E27FC236}">
                <a16:creationId xmlns:a16="http://schemas.microsoft.com/office/drawing/2014/main" id="{94B6A6CE-2243-158F-08E0-6403EF72B974}"/>
              </a:ext>
            </a:extLst>
          </p:cNvPr>
          <p:cNvSpPr>
            <a:spLocks noGrp="1"/>
          </p:cNvSpPr>
          <p:nvPr>
            <p:ph idx="1"/>
          </p:nvPr>
        </p:nvSpPr>
        <p:spPr>
          <a:xfrm>
            <a:off x="696000" y="1080000"/>
            <a:ext cx="10800000" cy="5112000"/>
          </a:xfrm>
        </p:spPr>
        <p:txBody>
          <a:bodyPr/>
          <a:lstStyle/>
          <a:p>
            <a:r>
              <a:rPr lang="en-US" altLang="zh-CN"/>
              <a:t>Program Evaluation and Review Technique</a:t>
            </a:r>
          </a:p>
          <a:p>
            <a:r>
              <a:rPr lang="zh-CN" altLang="en-US"/>
              <a:t>在项目时间估算中的应用用于估算活动持续时间的统计工具，适用于不确定性较高的项目</a:t>
            </a:r>
            <a:endParaRPr lang="en-US" altLang="zh-CN"/>
          </a:p>
          <a:p>
            <a:r>
              <a:rPr lang="zh-CN" altLang="en-US"/>
              <a:t>组成：任务开始时间、结束时间、完成所需时间、任务之间的先后关系</a:t>
            </a:r>
          </a:p>
          <a:p>
            <a:r>
              <a:rPr lang="zh-CN" altLang="en-US"/>
              <a:t>特点：不能反映任务之间的并行关系</a:t>
            </a:r>
          </a:p>
          <a:p>
            <a:r>
              <a:rPr lang="zh-CN" altLang="en-US"/>
              <a:t>基于三个时间估计值 </a:t>
            </a:r>
            <a:r>
              <a:rPr lang="en-US" altLang="zh-CN"/>
              <a:t>- </a:t>
            </a:r>
            <a:r>
              <a:rPr lang="zh-CN" altLang="en-US"/>
              <a:t>三点估算：</a:t>
            </a:r>
            <a:endParaRPr lang="en-US" altLang="zh-CN"/>
          </a:p>
          <a:p>
            <a:pPr lvl="1"/>
            <a:r>
              <a:rPr lang="zh-CN" altLang="en-US"/>
              <a:t>乐观时间（</a:t>
            </a:r>
            <a:r>
              <a:rPr lang="en-US" altLang="zh-CN"/>
              <a:t>O</a:t>
            </a:r>
            <a:r>
              <a:rPr lang="zh-CN" altLang="en-US"/>
              <a:t>）：最理想情况下的时间</a:t>
            </a:r>
            <a:endParaRPr lang="en-US" altLang="zh-CN"/>
          </a:p>
          <a:p>
            <a:pPr lvl="1"/>
            <a:r>
              <a:rPr lang="zh-CN" altLang="en-US"/>
              <a:t>悲观时间（</a:t>
            </a:r>
            <a:r>
              <a:rPr lang="en-US" altLang="zh-CN"/>
              <a:t>P</a:t>
            </a:r>
            <a:r>
              <a:rPr lang="zh-CN" altLang="en-US"/>
              <a:t>）：最坏情况下的时间</a:t>
            </a:r>
            <a:endParaRPr lang="en-US" altLang="zh-CN"/>
          </a:p>
          <a:p>
            <a:pPr lvl="1"/>
            <a:r>
              <a:rPr lang="zh-CN" altLang="en-US"/>
              <a:t>最可能时间（</a:t>
            </a:r>
            <a:r>
              <a:rPr lang="en-US" altLang="zh-CN"/>
              <a:t>M</a:t>
            </a:r>
            <a:r>
              <a:rPr lang="zh-CN" altLang="en-US"/>
              <a:t>）：正常情况下的时间</a:t>
            </a:r>
          </a:p>
        </p:txBody>
      </p:sp>
      <p:sp>
        <p:nvSpPr>
          <p:cNvPr id="7" name="文本占位符 6">
            <a:extLst>
              <a:ext uri="{FF2B5EF4-FFF2-40B4-BE49-F238E27FC236}">
                <a16:creationId xmlns:a16="http://schemas.microsoft.com/office/drawing/2014/main" id="{A83E169C-82C1-2531-848E-A6270C6852DD}"/>
              </a:ext>
            </a:extLst>
          </p:cNvPr>
          <p:cNvSpPr>
            <a:spLocks noGrp="1"/>
          </p:cNvSpPr>
          <p:nvPr>
            <p:ph type="body" sz="quarter" idx="10"/>
          </p:nvPr>
        </p:nvSpPr>
        <p:spPr>
          <a:xfrm>
            <a:off x="6702424" y="360001"/>
            <a:ext cx="4793575" cy="424731"/>
          </a:xfrm>
        </p:spPr>
        <p:txBody>
          <a:bodyPr/>
          <a:lstStyle/>
          <a:p>
            <a:r>
              <a:rPr lang="en-US" altLang="zh-CN"/>
              <a:t>Project Progress</a:t>
            </a:r>
            <a:endParaRPr lang="zh-CN" altLang="en-US"/>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77CEA954-E298-90F7-5628-C6AC90EF5CF0}"/>
                  </a:ext>
                </a:extLst>
              </p:cNvPr>
              <p:cNvSpPr txBox="1"/>
              <p:nvPr/>
            </p:nvSpPr>
            <p:spPr>
              <a:xfrm>
                <a:off x="5350956" y="4337201"/>
                <a:ext cx="1490088" cy="5203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m:t>
                      </m:r>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𝑂</m:t>
                          </m:r>
                          <m:r>
                            <a:rPr lang="en-US" altLang="zh-CN" b="0" i="1" smtClean="0">
                              <a:solidFill>
                                <a:schemeClr val="bg1"/>
                              </a:solidFill>
                              <a:latin typeface="Cambria Math" panose="02040503050406030204" pitchFamily="18" charset="0"/>
                            </a:rPr>
                            <m:t>+</m:t>
                          </m:r>
                          <m:r>
                            <a:rPr lang="en-US" altLang="zh-CN" b="0" i="1" smtClean="0">
                              <a:solidFill>
                                <a:schemeClr val="bg1"/>
                              </a:solidFill>
                              <a:latin typeface="Cambria Math" panose="02040503050406030204" pitchFamily="18" charset="0"/>
                            </a:rPr>
                            <m:t>𝑃</m:t>
                          </m:r>
                          <m:r>
                            <a:rPr lang="en-US" altLang="zh-CN" b="0" i="1" smtClean="0">
                              <a:solidFill>
                                <a:schemeClr val="bg1"/>
                              </a:solidFill>
                              <a:latin typeface="Cambria Math" panose="02040503050406030204" pitchFamily="18" charset="0"/>
                            </a:rPr>
                            <m:t>+4</m:t>
                          </m:r>
                          <m:r>
                            <a:rPr lang="en-US" altLang="zh-CN" b="0" i="1" smtClean="0">
                              <a:solidFill>
                                <a:schemeClr val="bg1"/>
                              </a:solidFill>
                              <a:latin typeface="Cambria Math" panose="02040503050406030204" pitchFamily="18" charset="0"/>
                            </a:rPr>
                            <m:t>𝑀</m:t>
                          </m:r>
                        </m:num>
                        <m:den>
                          <m:r>
                            <a:rPr lang="en-US" altLang="zh-CN" b="0" i="1" smtClean="0">
                              <a:solidFill>
                                <a:schemeClr val="bg1"/>
                              </a:solidFill>
                              <a:latin typeface="Cambria Math" panose="02040503050406030204" pitchFamily="18" charset="0"/>
                            </a:rPr>
                            <m:t>6</m:t>
                          </m:r>
                        </m:den>
                      </m:f>
                    </m:oMath>
                  </m:oMathPara>
                </a14:m>
                <a:endParaRPr lang="zh-CN" altLang="en-US">
                  <a:solidFill>
                    <a:schemeClr val="bg1"/>
                  </a:solidFill>
                </a:endParaRPr>
              </a:p>
            </p:txBody>
          </p:sp>
        </mc:Choice>
        <mc:Fallback xmlns="">
          <p:sp>
            <p:nvSpPr>
              <p:cNvPr id="8" name="文本框 7">
                <a:extLst>
                  <a:ext uri="{FF2B5EF4-FFF2-40B4-BE49-F238E27FC236}">
                    <a16:creationId xmlns:a16="http://schemas.microsoft.com/office/drawing/2014/main" id="{77CEA954-E298-90F7-5628-C6AC90EF5CF0}"/>
                  </a:ext>
                </a:extLst>
              </p:cNvPr>
              <p:cNvSpPr txBox="1">
                <a:spLocks noRot="1" noChangeAspect="1" noMove="1" noResize="1" noEditPoints="1" noAdjustHandles="1" noChangeArrowheads="1" noChangeShapeType="1" noTextEdit="1"/>
              </p:cNvSpPr>
              <p:nvPr/>
            </p:nvSpPr>
            <p:spPr>
              <a:xfrm>
                <a:off x="5350956" y="4337201"/>
                <a:ext cx="1490088" cy="520399"/>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431170974"/>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1DF9115-8AE6-9C8B-C314-7196B4D952B2}"/>
              </a:ext>
            </a:extLst>
          </p:cNvPr>
          <p:cNvSpPr>
            <a:spLocks noGrp="1"/>
          </p:cNvSpPr>
          <p:nvPr>
            <p:ph type="title"/>
          </p:nvPr>
        </p:nvSpPr>
        <p:spPr>
          <a:xfrm>
            <a:off x="695998" y="360000"/>
            <a:ext cx="7200000" cy="424732"/>
          </a:xfrm>
        </p:spPr>
        <p:txBody>
          <a:bodyPr>
            <a:normAutofit/>
          </a:bodyPr>
          <a:lstStyle/>
          <a:p>
            <a:r>
              <a:rPr lang="en-US" altLang="zh-CN"/>
              <a:t>PERT</a:t>
            </a:r>
            <a:endParaRPr lang="zh-CN" altLang="en-US"/>
          </a:p>
        </p:txBody>
      </p:sp>
      <p:sp>
        <p:nvSpPr>
          <p:cNvPr id="7" name="内容占位符 6">
            <a:extLst>
              <a:ext uri="{FF2B5EF4-FFF2-40B4-BE49-F238E27FC236}">
                <a16:creationId xmlns:a16="http://schemas.microsoft.com/office/drawing/2014/main" id="{9125C664-9485-C14D-1587-EA8E2E33F6AB}"/>
              </a:ext>
            </a:extLst>
          </p:cNvPr>
          <p:cNvSpPr>
            <a:spLocks noGrp="1"/>
          </p:cNvSpPr>
          <p:nvPr>
            <p:ph idx="1"/>
          </p:nvPr>
        </p:nvSpPr>
        <p:spPr/>
        <p:txBody>
          <a:bodyPr/>
          <a:lstStyle/>
          <a:p>
            <a:r>
              <a:rPr lang="zh-CN" altLang="en-US"/>
              <a:t>求各事件最早时间、最晚时间、总工期、最大路径</a:t>
            </a:r>
          </a:p>
        </p:txBody>
      </p:sp>
      <p:sp>
        <p:nvSpPr>
          <p:cNvPr id="8" name="文本占位符 7">
            <a:extLst>
              <a:ext uri="{FF2B5EF4-FFF2-40B4-BE49-F238E27FC236}">
                <a16:creationId xmlns:a16="http://schemas.microsoft.com/office/drawing/2014/main" id="{2ED86FD3-1061-C0B4-1342-243A0D881139}"/>
              </a:ext>
            </a:extLst>
          </p:cNvPr>
          <p:cNvSpPr>
            <a:spLocks noGrp="1"/>
          </p:cNvSpPr>
          <p:nvPr>
            <p:ph type="body" sz="quarter" idx="10"/>
          </p:nvPr>
        </p:nvSpPr>
        <p:spPr/>
        <p:txBody>
          <a:bodyPr/>
          <a:lstStyle/>
          <a:p>
            <a:endParaRPr lang="zh-CN" altLang="en-US"/>
          </a:p>
        </p:txBody>
      </p:sp>
      <p:grpSp>
        <p:nvGrpSpPr>
          <p:cNvPr id="29" name="组合 28">
            <a:extLst>
              <a:ext uri="{FF2B5EF4-FFF2-40B4-BE49-F238E27FC236}">
                <a16:creationId xmlns:a16="http://schemas.microsoft.com/office/drawing/2014/main" id="{3427F676-1EB1-7CDD-C856-328C37783514}"/>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6614955" y="5139167"/>
            <a:ext cx="98101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C3E871AC-4854-2B8D-7B77-75430DAD77FC}"/>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6B495EA3-8356-E9DC-4B0C-EB9ED5EB352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93B9C64E-64A0-C911-11CB-2577813449B3}"/>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4D134F61-2B67-B5DC-3A81-CE2896264B58}"/>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DCB89C8F-8245-ACB5-6752-2EE69794FBAE}"/>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BE349338-EF80-5953-3000-8E9AB1A5915F}"/>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A13D22B1-56BB-0540-012D-D9BC4A6E0C22}"/>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8D7C9612-EB22-4735-63DB-62CC7B65AC0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3" name="文本框 2">
            <a:extLst>
              <a:ext uri="{FF2B5EF4-FFF2-40B4-BE49-F238E27FC236}">
                <a16:creationId xmlns:a16="http://schemas.microsoft.com/office/drawing/2014/main" id="{55911ACE-2549-386C-656B-331816F8F87D}"/>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Tree>
    <p:extLst>
      <p:ext uri="{BB962C8B-B14F-4D97-AF65-F5344CB8AC3E}">
        <p14:creationId xmlns:p14="http://schemas.microsoft.com/office/powerpoint/2010/main" val="2540800626"/>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AF4EF5-24B3-545E-5C0E-909859E88254}"/>
              </a:ext>
            </a:extLst>
          </p:cNvPr>
          <p:cNvSpPr>
            <a:spLocks noGrp="1"/>
          </p:cNvSpPr>
          <p:nvPr>
            <p:ph type="title"/>
          </p:nvPr>
        </p:nvSpPr>
        <p:spPr>
          <a:xfrm>
            <a:off x="695998" y="360000"/>
            <a:ext cx="7200000" cy="424732"/>
          </a:xfrm>
        </p:spPr>
        <p:txBody>
          <a:bodyPr>
            <a:normAutofit/>
          </a:bodyPr>
          <a:lstStyle/>
          <a:p>
            <a:r>
              <a:rPr lang="en-US" altLang="zh-CN"/>
              <a:t>PERT</a:t>
            </a:r>
            <a:endParaRPr lang="zh-CN" altLang="en-US"/>
          </a:p>
        </p:txBody>
      </p:sp>
      <p:sp>
        <p:nvSpPr>
          <p:cNvPr id="139" name="内容占位符 138">
            <a:extLst>
              <a:ext uri="{FF2B5EF4-FFF2-40B4-BE49-F238E27FC236}">
                <a16:creationId xmlns:a16="http://schemas.microsoft.com/office/drawing/2014/main" id="{765C0EBE-290F-68DF-F729-CB11AAEDEBAD}"/>
              </a:ext>
            </a:extLst>
          </p:cNvPr>
          <p:cNvSpPr>
            <a:spLocks noGrp="1"/>
          </p:cNvSpPr>
          <p:nvPr>
            <p:ph idx="1"/>
          </p:nvPr>
        </p:nvSpPr>
        <p:spPr>
          <a:xfrm>
            <a:off x="696000" y="1080000"/>
            <a:ext cx="10800000" cy="5112000"/>
          </a:xfrm>
        </p:spPr>
        <p:txBody>
          <a:bodyPr/>
          <a:lstStyle/>
          <a:p>
            <a:r>
              <a:rPr lang="zh-CN" altLang="en-US"/>
              <a:t>根据各事件持续时间，推算最早开始时间</a:t>
            </a:r>
            <a:endParaRPr lang="en-US" altLang="zh-CN"/>
          </a:p>
          <a:p>
            <a:r>
              <a:rPr lang="zh-CN" altLang="en-US"/>
              <a:t>汇总事件取最大值</a:t>
            </a:r>
            <a:endParaRPr lang="en-US" altLang="zh-CN"/>
          </a:p>
          <a:p>
            <a:r>
              <a:rPr lang="zh-CN" altLang="en-US"/>
              <a:t>总工期 </a:t>
            </a:r>
            <a:r>
              <a:rPr lang="en-US" altLang="zh-CN"/>
              <a:t>15</a:t>
            </a:r>
          </a:p>
          <a:p>
            <a:r>
              <a:rPr lang="zh-CN" altLang="en-US"/>
              <a:t>最长路径 </a:t>
            </a:r>
            <a:r>
              <a:rPr lang="en-US" altLang="zh-CN"/>
              <a:t>1 </a:t>
            </a:r>
            <a:r>
              <a:rPr lang="zh-CN" altLang="en-US"/>
              <a:t>→ </a:t>
            </a:r>
            <a:r>
              <a:rPr lang="en-US" altLang="zh-CN"/>
              <a:t>2 </a:t>
            </a:r>
            <a:r>
              <a:rPr lang="zh-CN" altLang="en-US"/>
              <a:t>→ </a:t>
            </a:r>
            <a:r>
              <a:rPr lang="en-US" altLang="zh-CN"/>
              <a:t>5 </a:t>
            </a:r>
            <a:r>
              <a:rPr lang="zh-CN" altLang="en-US"/>
              <a:t>→ </a:t>
            </a:r>
            <a:r>
              <a:rPr lang="en-US" altLang="zh-CN"/>
              <a:t>7 </a:t>
            </a:r>
            <a:r>
              <a:rPr lang="zh-CN" altLang="en-US"/>
              <a:t>→ </a:t>
            </a:r>
            <a:r>
              <a:rPr lang="en-US" altLang="zh-CN"/>
              <a:t>9</a:t>
            </a:r>
            <a:endParaRPr lang="zh-CN" altLang="en-US"/>
          </a:p>
        </p:txBody>
      </p:sp>
      <p:sp>
        <p:nvSpPr>
          <p:cNvPr id="143" name="文本占位符 142">
            <a:extLst>
              <a:ext uri="{FF2B5EF4-FFF2-40B4-BE49-F238E27FC236}">
                <a16:creationId xmlns:a16="http://schemas.microsoft.com/office/drawing/2014/main" id="{74C61180-0E68-CE1E-C6F7-C2A49817B3D9}"/>
              </a:ext>
            </a:extLst>
          </p:cNvPr>
          <p:cNvSpPr>
            <a:spLocks noGrp="1"/>
          </p:cNvSpPr>
          <p:nvPr>
            <p:ph type="body" sz="quarter" idx="10"/>
          </p:nvPr>
        </p:nvSpPr>
        <p:spPr/>
        <p:txBody>
          <a:bodyPr/>
          <a:lstStyle/>
          <a:p>
            <a:endParaRPr lang="zh-CN" altLang="en-US"/>
          </a:p>
        </p:txBody>
      </p:sp>
      <p:grpSp>
        <p:nvGrpSpPr>
          <p:cNvPr id="29" name="组合 28">
            <a:extLst>
              <a:ext uri="{FF2B5EF4-FFF2-40B4-BE49-F238E27FC236}">
                <a16:creationId xmlns:a16="http://schemas.microsoft.com/office/drawing/2014/main" id="{ACEA3629-7402-51AE-7D5C-B35B58881938}"/>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4</a:t>
              </a:r>
              <a:endParaRPr lang="zh-CN" altLang="en-US" sz="1400">
                <a:solidFill>
                  <a:srgbClr val="FFFF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9</a:t>
              </a:r>
              <a:endParaRPr lang="zh-CN" altLang="en-US" sz="1400">
                <a:solidFill>
                  <a:srgbClr val="FFFF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76" name="文本框 75">
              <a:extLst>
                <a:ext uri="{FF2B5EF4-FFF2-40B4-BE49-F238E27FC236}">
                  <a16:creationId xmlns:a16="http://schemas.microsoft.com/office/drawing/2014/main" id="{5111B45B-D956-5E20-6214-2D8B839B6B4F}"/>
                </a:ext>
              </a:extLst>
            </p:cNvPr>
            <p:cNvSpPr txBox="1"/>
            <p:nvPr/>
          </p:nvSpPr>
          <p:spPr>
            <a:xfrm>
              <a:off x="1506412" y="4040027"/>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15</a:t>
              </a:r>
              <a:endParaRPr lang="zh-CN" altLang="en-US" sz="1400">
                <a:solidFill>
                  <a:srgbClr val="FFFF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6623538" y="3239999"/>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flipV="1">
            <a:off x="6619763" y="5134501"/>
            <a:ext cx="984787" cy="466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0783AF57-B8B4-37AA-C586-43CCD1F78D01}"/>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CE2D7036-8FAD-78A0-58D2-96618871119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B02E1FC4-6729-3E38-065F-81788FB79822}"/>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9D23F614-05DB-2441-655A-52B91CCF1592}"/>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5DC1F4A2-0CAB-1581-7C02-D73077359BE0}"/>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0920D500-3A7F-D81A-106C-02DAA8584515}"/>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DACC29F8-4A83-D7E2-6F5D-A72578FCC15E}"/>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6543425A-7FF4-F1F6-8BD8-2F687E6EAE39}"/>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4A05FE09-E975-C10D-56EE-E0A31E7C21C5}"/>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4780848"/>
            <a:ext cx="303288" cy="738664"/>
          </a:xfrm>
          <a:prstGeom prst="rect">
            <a:avLst/>
          </a:prstGeom>
          <a:noFill/>
        </p:spPr>
        <p:txBody>
          <a:bodyPr wrap="none" rtlCol="0">
            <a:spAutoFit/>
          </a:bodyPr>
          <a:lstStyle/>
          <a:p>
            <a:r>
              <a:rPr lang="en-US" altLang="zh-CN" sz="1400">
                <a:solidFill>
                  <a:srgbClr val="FFFF00"/>
                </a:solidFill>
              </a:rPr>
              <a:t>3</a:t>
            </a:r>
          </a:p>
          <a:p>
            <a:endParaRPr lang="en-US" altLang="zh-CN" sz="1400">
              <a:solidFill>
                <a:srgbClr val="FFFF00"/>
              </a:solidFill>
            </a:endParaRPr>
          </a:p>
          <a:p>
            <a:r>
              <a:rPr lang="en-US" altLang="zh-CN" sz="1400">
                <a:solidFill>
                  <a:srgbClr val="FFFF00"/>
                </a:solidFill>
              </a:rPr>
              <a:t>4</a:t>
            </a:r>
            <a:endParaRPr lang="zh-CN" altLang="en-US" sz="1400">
              <a:solidFill>
                <a:srgbClr val="FFFF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4377108"/>
            <a:ext cx="293670" cy="738664"/>
          </a:xfrm>
          <a:prstGeom prst="rect">
            <a:avLst/>
          </a:prstGeom>
          <a:noFill/>
        </p:spPr>
        <p:txBody>
          <a:bodyPr wrap="none" rtlCol="0">
            <a:spAutoFit/>
          </a:bodyPr>
          <a:lstStyle/>
          <a:p>
            <a:r>
              <a:rPr lang="en-US" altLang="zh-CN" sz="1400">
                <a:solidFill>
                  <a:srgbClr val="FFFF00"/>
                </a:solidFill>
              </a:rPr>
              <a:t>9</a:t>
            </a:r>
          </a:p>
          <a:p>
            <a:endParaRPr lang="en-US" altLang="zh-CN" sz="1400">
              <a:solidFill>
                <a:srgbClr val="FFFF00"/>
              </a:solidFill>
            </a:endParaRPr>
          </a:p>
          <a:p>
            <a:r>
              <a:rPr lang="en-US" altLang="zh-CN" sz="1400">
                <a:solidFill>
                  <a:srgbClr val="FFFF00"/>
                </a:solidFill>
              </a:rPr>
              <a:t>5</a:t>
            </a:r>
            <a:endParaRPr lang="zh-CN" altLang="en-US" sz="1400">
              <a:solidFill>
                <a:srgbClr val="FFFF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3397386"/>
            <a:ext cx="349776" cy="738664"/>
          </a:xfrm>
          <a:prstGeom prst="rect">
            <a:avLst/>
          </a:prstGeom>
          <a:noFill/>
        </p:spPr>
        <p:txBody>
          <a:bodyPr wrap="none" rtlCol="0">
            <a:spAutoFit/>
          </a:bodyPr>
          <a:lstStyle/>
          <a:p>
            <a:r>
              <a:rPr lang="en-US" altLang="zh-CN" sz="1400">
                <a:solidFill>
                  <a:srgbClr val="FFFF00"/>
                </a:solidFill>
              </a:rPr>
              <a:t>15</a:t>
            </a:r>
          </a:p>
          <a:p>
            <a:endParaRPr lang="en-US" altLang="zh-CN" sz="1400">
              <a:solidFill>
                <a:srgbClr val="FFFF00"/>
              </a:solidFill>
            </a:endParaRPr>
          </a:p>
          <a:p>
            <a:r>
              <a:rPr lang="en-US" altLang="zh-CN" sz="1400">
                <a:solidFill>
                  <a:srgbClr val="FFFF00"/>
                </a:solidFill>
              </a:rPr>
              <a:t>13</a:t>
            </a:r>
            <a:endParaRPr lang="zh-CN" altLang="en-US" sz="1400">
              <a:solidFill>
                <a:srgbClr val="FFFF00"/>
              </a:solidFill>
            </a:endParaRPr>
          </a:p>
        </p:txBody>
      </p:sp>
    </p:spTree>
    <p:extLst>
      <p:ext uri="{BB962C8B-B14F-4D97-AF65-F5344CB8AC3E}">
        <p14:creationId xmlns:p14="http://schemas.microsoft.com/office/powerpoint/2010/main" val="2525448756"/>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3485A4-9E27-138E-F318-FC6527E0970C}"/>
              </a:ext>
            </a:extLst>
          </p:cNvPr>
          <p:cNvSpPr>
            <a:spLocks noGrp="1"/>
          </p:cNvSpPr>
          <p:nvPr>
            <p:ph type="title"/>
          </p:nvPr>
        </p:nvSpPr>
        <p:spPr>
          <a:xfrm>
            <a:off x="695998" y="360000"/>
            <a:ext cx="7200000" cy="424732"/>
          </a:xfrm>
        </p:spPr>
        <p:txBody>
          <a:bodyPr>
            <a:normAutofit/>
          </a:bodyPr>
          <a:lstStyle/>
          <a:p>
            <a:r>
              <a:rPr lang="en-US" altLang="zh-CN"/>
              <a:t>PERT</a:t>
            </a:r>
            <a:endParaRPr lang="zh-CN" altLang="en-US"/>
          </a:p>
        </p:txBody>
      </p:sp>
      <p:sp>
        <p:nvSpPr>
          <p:cNvPr id="139" name="内容占位符 138">
            <a:extLst>
              <a:ext uri="{FF2B5EF4-FFF2-40B4-BE49-F238E27FC236}">
                <a16:creationId xmlns:a16="http://schemas.microsoft.com/office/drawing/2014/main" id="{F180FFFB-5AB1-B923-A819-3DC9E76BB9EA}"/>
              </a:ext>
            </a:extLst>
          </p:cNvPr>
          <p:cNvSpPr>
            <a:spLocks noGrp="1"/>
          </p:cNvSpPr>
          <p:nvPr>
            <p:ph idx="1"/>
          </p:nvPr>
        </p:nvSpPr>
        <p:spPr>
          <a:xfrm>
            <a:off x="696000" y="1080000"/>
            <a:ext cx="10800000" cy="5112000"/>
          </a:xfrm>
        </p:spPr>
        <p:txBody>
          <a:bodyPr/>
          <a:lstStyle/>
          <a:p>
            <a:r>
              <a:rPr lang="zh-CN" altLang="en-US"/>
              <a:t>根据总工期 </a:t>
            </a:r>
            <a:r>
              <a:rPr lang="en-US" altLang="zh-CN"/>
              <a:t>15</a:t>
            </a:r>
            <a:r>
              <a:rPr lang="zh-CN" altLang="en-US"/>
              <a:t>，反推各事件最晚开始时间</a:t>
            </a:r>
            <a:endParaRPr lang="en-US" altLang="zh-CN"/>
          </a:p>
          <a:p>
            <a:r>
              <a:rPr lang="zh-CN" altLang="en-US"/>
              <a:t>事件汇总，取最小值</a:t>
            </a:r>
          </a:p>
        </p:txBody>
      </p:sp>
      <p:sp>
        <p:nvSpPr>
          <p:cNvPr id="143" name="文本占位符 142">
            <a:extLst>
              <a:ext uri="{FF2B5EF4-FFF2-40B4-BE49-F238E27FC236}">
                <a16:creationId xmlns:a16="http://schemas.microsoft.com/office/drawing/2014/main" id="{50B0BEBB-FEBA-708C-0751-94D82FE5C2EC}"/>
              </a:ext>
            </a:extLst>
          </p:cNvPr>
          <p:cNvSpPr>
            <a:spLocks noGrp="1"/>
          </p:cNvSpPr>
          <p:nvPr>
            <p:ph type="body" sz="quarter" idx="10"/>
          </p:nvPr>
        </p:nvSpPr>
        <p:spPr/>
        <p:txBody>
          <a:bodyPr/>
          <a:lstStyle/>
          <a:p>
            <a:endParaRPr lang="zh-CN" altLang="en-US"/>
          </a:p>
        </p:txBody>
      </p:sp>
      <p:grpSp>
        <p:nvGrpSpPr>
          <p:cNvPr id="144" name="组合 143">
            <a:extLst>
              <a:ext uri="{FF2B5EF4-FFF2-40B4-BE49-F238E27FC236}">
                <a16:creationId xmlns:a16="http://schemas.microsoft.com/office/drawing/2014/main" id="{97E84D1C-D390-6EAC-729B-8551FF416614}"/>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62A16811-3A1D-C37A-1A8F-178B72C2606F}"/>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98E5EA5A-49E1-7CA4-1CAD-5B613ECA0B7D}"/>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E50F5DDF-409E-E13E-E258-79155B37C31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2BB97EA2-0DD6-2314-AC3F-25BCF6663D1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0</a:t>
                  </a:r>
                  <a:endParaRPr lang="zh-CN" altLang="en-US" sz="1400"/>
                </a:p>
              </p:txBody>
            </p:sp>
            <p:sp>
              <p:nvSpPr>
                <p:cNvPr id="17" name="文本框 16">
                  <a:extLst>
                    <a:ext uri="{FF2B5EF4-FFF2-40B4-BE49-F238E27FC236}">
                      <a16:creationId xmlns:a16="http://schemas.microsoft.com/office/drawing/2014/main" id="{461CE1E0-9304-79CC-056B-2C3E0756545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solidFill>
                        <a:srgbClr val="FF0000"/>
                      </a:solidFill>
                    </a:rPr>
                    <a:t>2</a:t>
                  </a:r>
                  <a:endParaRPr lang="zh-CN" altLang="en-US" sz="1400">
                    <a:solidFill>
                      <a:srgbClr val="FF00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t>1</a:t>
                  </a:r>
                  <a:endParaRPr lang="zh-CN" altLang="en-US" sz="1400"/>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3489DAFD-08EA-4D90-340E-B7489C1AC91A}"/>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2</a:t>
                  </a:r>
                  <a:endParaRPr lang="zh-CN" altLang="en-US" sz="1400"/>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2</a:t>
                  </a:r>
                  <a:endParaRPr lang="zh-CN" altLang="en-US" sz="1400"/>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t>2</a:t>
                  </a:r>
                  <a:endParaRPr lang="zh-CN" altLang="en-US" sz="1400"/>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2</a:t>
                  </a:r>
                  <a:endParaRPr lang="zh-CN" altLang="en-US" sz="1400"/>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9</a:t>
                  </a:r>
                  <a:endParaRPr lang="zh-CN" altLang="en-US" sz="1400"/>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t>3</a:t>
                  </a:r>
                  <a:endParaRPr lang="zh-CN" altLang="en-US" sz="1400"/>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0</a:t>
                  </a:r>
                  <a:endParaRPr lang="zh-CN" altLang="en-US" sz="1400"/>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6</a:t>
                  </a:r>
                  <a:endParaRPr lang="zh-CN" altLang="en-US" sz="1400"/>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t>4</a:t>
                  </a:r>
                  <a:endParaRPr lang="zh-CN" altLang="en-US" sz="1400"/>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4</a:t>
                  </a:r>
                  <a:endParaRPr lang="zh-CN" altLang="en-US" sz="1400"/>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10</a:t>
                  </a:r>
                  <a:endParaRPr lang="zh-CN" altLang="en-US" sz="1400"/>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t>6</a:t>
                  </a:r>
                  <a:endParaRPr lang="zh-CN" altLang="en-US" sz="1400"/>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4</a:t>
                  </a:r>
                  <a:endParaRPr lang="zh-CN" altLang="en-US" sz="1400"/>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solidFill>
                        <a:srgbClr val="FF0000"/>
                      </a:solidFill>
                    </a:rPr>
                    <a:t>4</a:t>
                  </a:r>
                  <a:endParaRPr lang="zh-CN" altLang="en-US" sz="1400">
                    <a:solidFill>
                      <a:srgbClr val="FF00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t>5</a:t>
                  </a:r>
                  <a:endParaRPr lang="zh-CN" altLang="en-US" sz="1400"/>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9</a:t>
                  </a:r>
                  <a:endParaRPr lang="zh-CN" altLang="en-US" sz="1400"/>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9</a:t>
                  </a:r>
                  <a:endParaRPr lang="zh-CN" altLang="en-US" sz="1400"/>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t>7</a:t>
                  </a:r>
                  <a:endParaRPr lang="zh-CN" altLang="en-US" sz="1400"/>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9</a:t>
                  </a:r>
                  <a:endParaRPr lang="zh-CN" altLang="en-US" sz="1400"/>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11</a:t>
                  </a:r>
                  <a:endParaRPr lang="zh-CN" altLang="en-US" sz="1400"/>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t>8</a:t>
                  </a:r>
                  <a:endParaRPr lang="zh-CN" altLang="en-US" sz="1400"/>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15</a:t>
                  </a:r>
                  <a:endParaRPr lang="zh-CN" altLang="en-US" sz="1400"/>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0</a:t>
                  </a:r>
                  <a:endParaRPr lang="zh-CN" altLang="en-US" sz="1400"/>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t>9</a:t>
                  </a:r>
                  <a:endParaRPr lang="zh-CN" altLang="en-US" sz="1400"/>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5651025" y="4313250"/>
                <a:ext cx="976204"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2180754" y="2598749"/>
                <a:ext cx="316112" cy="369332"/>
              </a:xfrm>
              <a:prstGeom prst="rect">
                <a:avLst/>
              </a:prstGeom>
              <a:noFill/>
            </p:spPr>
            <p:txBody>
              <a:bodyPr wrap="none" rtlCol="0">
                <a:noAutofit/>
              </a:bodyPr>
              <a:lstStyle/>
              <a:p>
                <a:r>
                  <a:rPr lang="en-US" altLang="zh-CN" sz="1400"/>
                  <a:t>2</a:t>
                </a:r>
                <a:endParaRPr lang="zh-CN" altLang="en-US" sz="1400"/>
              </a:p>
            </p:txBody>
          </p:sp>
          <p:sp>
            <p:nvSpPr>
              <p:cNvPr id="124" name="文本框 123">
                <a:extLst>
                  <a:ext uri="{FF2B5EF4-FFF2-40B4-BE49-F238E27FC236}">
                    <a16:creationId xmlns:a16="http://schemas.microsoft.com/office/drawing/2014/main" id="{3FE8D917-93D2-2A54-11EF-4B8B82032636}"/>
                  </a:ext>
                </a:extLst>
              </p:cNvPr>
              <p:cNvSpPr txBox="1"/>
              <p:nvPr/>
            </p:nvSpPr>
            <p:spPr>
              <a:xfrm>
                <a:off x="5998203" y="2080194"/>
                <a:ext cx="316112" cy="369332"/>
              </a:xfrm>
              <a:prstGeom prst="rect">
                <a:avLst/>
              </a:prstGeom>
              <a:noFill/>
            </p:spPr>
            <p:txBody>
              <a:bodyPr wrap="none" rtlCol="0">
                <a:noAutofit/>
              </a:bodyPr>
              <a:lstStyle/>
              <a:p>
                <a:r>
                  <a:rPr lang="en-US" altLang="zh-CN" sz="1400"/>
                  <a:t>5</a:t>
                </a:r>
                <a:endParaRPr lang="zh-CN" altLang="en-US" sz="1400"/>
              </a:p>
            </p:txBody>
          </p:sp>
          <p:sp>
            <p:nvSpPr>
              <p:cNvPr id="125" name="文本框 124">
                <a:extLst>
                  <a:ext uri="{FF2B5EF4-FFF2-40B4-BE49-F238E27FC236}">
                    <a16:creationId xmlns:a16="http://schemas.microsoft.com/office/drawing/2014/main" id="{85AE7D87-AE8D-10C8-52A4-A43F6529255C}"/>
                  </a:ext>
                </a:extLst>
              </p:cNvPr>
              <p:cNvSpPr txBox="1"/>
              <p:nvPr/>
            </p:nvSpPr>
            <p:spPr>
              <a:xfrm>
                <a:off x="2295168" y="3455999"/>
                <a:ext cx="316112" cy="369332"/>
              </a:xfrm>
              <a:prstGeom prst="rect">
                <a:avLst/>
              </a:prstGeom>
              <a:noFill/>
            </p:spPr>
            <p:txBody>
              <a:bodyPr wrap="none" rtlCol="0">
                <a:noAutofit/>
              </a:bodyPr>
              <a:lstStyle/>
              <a:p>
                <a:r>
                  <a:rPr lang="en-US" altLang="zh-CN" sz="1400"/>
                  <a:t>2</a:t>
                </a:r>
                <a:endParaRPr lang="zh-CN" altLang="en-US" sz="1400"/>
              </a:p>
            </p:txBody>
          </p:sp>
          <p:sp>
            <p:nvSpPr>
              <p:cNvPr id="126" name="文本框 125">
                <a:extLst>
                  <a:ext uri="{FF2B5EF4-FFF2-40B4-BE49-F238E27FC236}">
                    <a16:creationId xmlns:a16="http://schemas.microsoft.com/office/drawing/2014/main" id="{854458B3-95E4-A44F-4E82-A31A44341F00}"/>
                  </a:ext>
                </a:extLst>
              </p:cNvPr>
              <p:cNvSpPr txBox="1"/>
              <p:nvPr/>
            </p:nvSpPr>
            <p:spPr>
              <a:xfrm>
                <a:off x="4192774" y="3670312"/>
                <a:ext cx="268022" cy="369332"/>
              </a:xfrm>
              <a:prstGeom prst="rect">
                <a:avLst/>
              </a:prstGeom>
              <a:noFill/>
            </p:spPr>
            <p:txBody>
              <a:bodyPr wrap="none" rtlCol="0">
                <a:noAutofit/>
              </a:bodyPr>
              <a:lstStyle/>
              <a:p>
                <a:r>
                  <a:rPr lang="en-US" altLang="zh-CN" sz="1400"/>
                  <a:t>1</a:t>
                </a:r>
                <a:endParaRPr lang="zh-CN" altLang="en-US" sz="1400"/>
              </a:p>
            </p:txBody>
          </p:sp>
          <p:sp>
            <p:nvSpPr>
              <p:cNvPr id="127" name="文本框 126">
                <a:extLst>
                  <a:ext uri="{FF2B5EF4-FFF2-40B4-BE49-F238E27FC236}">
                    <a16:creationId xmlns:a16="http://schemas.microsoft.com/office/drawing/2014/main" id="{02D6BE33-9957-63EE-A568-B6D92A7E6C35}"/>
                  </a:ext>
                </a:extLst>
              </p:cNvPr>
              <p:cNvSpPr txBox="1"/>
              <p:nvPr/>
            </p:nvSpPr>
            <p:spPr>
              <a:xfrm>
                <a:off x="4107173" y="4596305"/>
                <a:ext cx="336952" cy="369332"/>
              </a:xfrm>
              <a:prstGeom prst="rect">
                <a:avLst/>
              </a:prstGeom>
              <a:noFill/>
            </p:spPr>
            <p:txBody>
              <a:bodyPr wrap="none" rtlCol="0">
                <a:noAutofit/>
              </a:bodyPr>
              <a:lstStyle/>
              <a:p>
                <a:r>
                  <a:rPr lang="en-US" altLang="zh-CN" sz="1400"/>
                  <a:t>4</a:t>
                </a:r>
                <a:endParaRPr lang="zh-CN" altLang="en-US" sz="1400"/>
              </a:p>
            </p:txBody>
          </p:sp>
          <p:sp>
            <p:nvSpPr>
              <p:cNvPr id="128" name="文本框 127">
                <a:extLst>
                  <a:ext uri="{FF2B5EF4-FFF2-40B4-BE49-F238E27FC236}">
                    <a16:creationId xmlns:a16="http://schemas.microsoft.com/office/drawing/2014/main" id="{135B024D-852E-7D0E-9CE6-C15A88515F6F}"/>
                  </a:ext>
                </a:extLst>
              </p:cNvPr>
              <p:cNvSpPr txBox="1"/>
              <p:nvPr/>
            </p:nvSpPr>
            <p:spPr>
              <a:xfrm>
                <a:off x="5979869" y="3939252"/>
                <a:ext cx="268022" cy="369332"/>
              </a:xfrm>
              <a:prstGeom prst="rect">
                <a:avLst/>
              </a:prstGeom>
              <a:noFill/>
            </p:spPr>
            <p:txBody>
              <a:bodyPr wrap="none" rtlCol="0">
                <a:noAutofit/>
              </a:bodyPr>
              <a:lstStyle/>
              <a:p>
                <a:r>
                  <a:rPr lang="en-US" altLang="zh-CN" sz="1400"/>
                  <a:t>1</a:t>
                </a:r>
                <a:endParaRPr lang="zh-CN" altLang="en-US" sz="1400"/>
              </a:p>
            </p:txBody>
          </p:sp>
          <p:sp>
            <p:nvSpPr>
              <p:cNvPr id="129" name="文本框 128">
                <a:extLst>
                  <a:ext uri="{FF2B5EF4-FFF2-40B4-BE49-F238E27FC236}">
                    <a16:creationId xmlns:a16="http://schemas.microsoft.com/office/drawing/2014/main" id="{ACE01207-9172-5925-1C00-FC257C2A937B}"/>
                  </a:ext>
                </a:extLst>
              </p:cNvPr>
              <p:cNvSpPr txBox="1"/>
              <p:nvPr/>
            </p:nvSpPr>
            <p:spPr>
              <a:xfrm>
                <a:off x="6163898" y="3104389"/>
                <a:ext cx="316112" cy="369332"/>
              </a:xfrm>
              <a:prstGeom prst="rect">
                <a:avLst/>
              </a:prstGeom>
              <a:noFill/>
            </p:spPr>
            <p:txBody>
              <a:bodyPr wrap="none" rtlCol="0">
                <a:noAutofit/>
              </a:bodyPr>
              <a:lstStyle/>
              <a:p>
                <a:r>
                  <a:rPr lang="en-US" altLang="zh-CN" sz="1400"/>
                  <a:t>5</a:t>
                </a:r>
                <a:endParaRPr lang="zh-CN" altLang="en-US" sz="1400"/>
              </a:p>
            </p:txBody>
          </p:sp>
          <p:sp>
            <p:nvSpPr>
              <p:cNvPr id="130" name="文本框 129">
                <a:extLst>
                  <a:ext uri="{FF2B5EF4-FFF2-40B4-BE49-F238E27FC236}">
                    <a16:creationId xmlns:a16="http://schemas.microsoft.com/office/drawing/2014/main" id="{636C7201-E4A9-E25A-3C36-1BB48601A8C9}"/>
                  </a:ext>
                </a:extLst>
              </p:cNvPr>
              <p:cNvSpPr txBox="1"/>
              <p:nvPr/>
            </p:nvSpPr>
            <p:spPr>
              <a:xfrm>
                <a:off x="7704591" y="2387971"/>
                <a:ext cx="325730" cy="369332"/>
              </a:xfrm>
              <a:prstGeom prst="rect">
                <a:avLst/>
              </a:prstGeom>
              <a:noFill/>
            </p:spPr>
            <p:txBody>
              <a:bodyPr wrap="none" rtlCol="0">
                <a:noAutofit/>
              </a:bodyPr>
              <a:lstStyle/>
              <a:p>
                <a:r>
                  <a:rPr lang="en-US" altLang="zh-CN" sz="1400"/>
                  <a:t>6</a:t>
                </a:r>
                <a:endParaRPr lang="zh-CN" altLang="en-US" sz="1400"/>
              </a:p>
            </p:txBody>
          </p:sp>
          <p:sp>
            <p:nvSpPr>
              <p:cNvPr id="131" name="文本框 130">
                <a:extLst>
                  <a:ext uri="{FF2B5EF4-FFF2-40B4-BE49-F238E27FC236}">
                    <a16:creationId xmlns:a16="http://schemas.microsoft.com/office/drawing/2014/main" id="{2AEE48D5-E924-734D-DD5E-6F84B1E1E6BD}"/>
                  </a:ext>
                </a:extLst>
              </p:cNvPr>
              <p:cNvSpPr txBox="1"/>
              <p:nvPr/>
            </p:nvSpPr>
            <p:spPr>
              <a:xfrm>
                <a:off x="7808667" y="3603385"/>
                <a:ext cx="336952" cy="369332"/>
              </a:xfrm>
              <a:prstGeom prst="rect">
                <a:avLst/>
              </a:prstGeom>
              <a:noFill/>
            </p:spPr>
            <p:txBody>
              <a:bodyPr wrap="none" rtlCol="0">
                <a:noAutofit/>
              </a:bodyPr>
              <a:lstStyle/>
              <a:p>
                <a:r>
                  <a:rPr lang="en-US" altLang="zh-CN" sz="1400"/>
                  <a:t>4</a:t>
                </a:r>
                <a:endParaRPr lang="zh-CN" altLang="en-US" sz="1400"/>
              </a:p>
            </p:txBody>
          </p:sp>
        </p:grpSp>
        <p:sp>
          <p:nvSpPr>
            <p:cNvPr id="133" name="文本框 132">
              <a:extLst>
                <a:ext uri="{FF2B5EF4-FFF2-40B4-BE49-F238E27FC236}">
                  <a16:creationId xmlns:a16="http://schemas.microsoft.com/office/drawing/2014/main" id="{814F9EFA-2379-F2B2-72A9-E2A05865FC3F}"/>
                </a:ext>
              </a:extLst>
            </p:cNvPr>
            <p:cNvSpPr txBox="1"/>
            <p:nvPr/>
          </p:nvSpPr>
          <p:spPr>
            <a:xfrm>
              <a:off x="5043964" y="1847084"/>
              <a:ext cx="316112" cy="369332"/>
            </a:xfrm>
            <a:prstGeom prst="rect">
              <a:avLst/>
            </a:prstGeom>
            <a:noFill/>
          </p:spPr>
          <p:txBody>
            <a:bodyPr wrap="none" rtlCol="0">
              <a:noAutofit/>
            </a:bodyPr>
            <a:lstStyle/>
            <a:p>
              <a:r>
                <a:rPr lang="en-US" altLang="zh-CN" sz="1400"/>
                <a:t>2</a:t>
              </a:r>
              <a:endParaRPr lang="zh-CN" altLang="en-US" sz="1400"/>
            </a:p>
          </p:txBody>
        </p:sp>
      </p:gr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a:solidFill>
                  <a:srgbClr val="FF0000"/>
                </a:solidFill>
              </a:rPr>
              <a:t>4</a:t>
            </a:r>
          </a:p>
          <a:p>
            <a:endParaRPr lang="en-US" altLang="zh-CN" sz="1400">
              <a:solidFill>
                <a:srgbClr val="FF0000"/>
              </a:solidFill>
            </a:endParaRPr>
          </a:p>
          <a:p>
            <a:r>
              <a:rPr lang="en-US" altLang="zh-CN" sz="1400">
                <a:solidFill>
                  <a:srgbClr val="FF0000"/>
                </a:solidFill>
              </a:rPr>
              <a:t>6</a:t>
            </a:r>
            <a:endParaRPr lang="zh-CN" altLang="en-US" sz="1400">
              <a:solidFill>
                <a:srgbClr val="FF00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a:solidFill>
                  <a:srgbClr val="FF0000"/>
                </a:solidFill>
              </a:rPr>
              <a:t>2</a:t>
            </a:r>
          </a:p>
          <a:p>
            <a:endParaRPr lang="en-US" altLang="zh-CN" sz="1400">
              <a:solidFill>
                <a:srgbClr val="FF0000"/>
              </a:solidFill>
            </a:endParaRPr>
          </a:p>
          <a:p>
            <a:r>
              <a:rPr lang="en-US" altLang="zh-CN" sz="1400">
                <a:solidFill>
                  <a:srgbClr val="FF0000"/>
                </a:solidFill>
              </a:rPr>
              <a:t>7</a:t>
            </a:r>
            <a:endParaRPr lang="zh-CN" altLang="en-US" sz="1400">
              <a:solidFill>
                <a:srgbClr val="FF0000"/>
              </a:solidFill>
            </a:endParaRPr>
          </a:p>
        </p:txBody>
      </p:sp>
    </p:spTree>
    <p:extLst>
      <p:ext uri="{BB962C8B-B14F-4D97-AF65-F5344CB8AC3E}">
        <p14:creationId xmlns:p14="http://schemas.microsoft.com/office/powerpoint/2010/main" val="2831213795"/>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p:txBody>
          <a:bodyPr/>
          <a:lstStyle/>
          <a:p>
            <a:r>
              <a:rPr lang="en-US" altLang="zh-CN"/>
              <a:t>6. </a:t>
            </a:r>
            <a:r>
              <a:rPr lang="zh-CN" altLang="en-US"/>
              <a:t>制定进度计划</a:t>
            </a:r>
          </a:p>
        </p:txBody>
      </p:sp>
      <p:sp>
        <p:nvSpPr>
          <p:cNvPr id="3" name="内容占位符 2">
            <a:extLst>
              <a:ext uri="{FF2B5EF4-FFF2-40B4-BE49-F238E27FC236}">
                <a16:creationId xmlns:a16="http://schemas.microsoft.com/office/drawing/2014/main" id="{06F2CBCE-C602-07B3-97E0-56879C56AFDD}"/>
              </a:ext>
            </a:extLst>
          </p:cNvPr>
          <p:cNvSpPr>
            <a:spLocks noGrp="1"/>
          </p:cNvSpPr>
          <p:nvPr>
            <p:ph idx="1"/>
          </p:nvPr>
        </p:nvSpPr>
        <p:spPr/>
        <p:txBody>
          <a:bodyPr/>
          <a:lstStyle/>
          <a:p>
            <a:r>
              <a:rPr lang="zh-CN" altLang="en-US"/>
              <a:t>关键路径法</a:t>
            </a:r>
          </a:p>
        </p:txBody>
      </p:sp>
      <p:sp>
        <p:nvSpPr>
          <p:cNvPr id="4" name="文本占位符 3">
            <a:extLst>
              <a:ext uri="{FF2B5EF4-FFF2-40B4-BE49-F238E27FC236}">
                <a16:creationId xmlns:a16="http://schemas.microsoft.com/office/drawing/2014/main" id="{5D260287-286B-5AB7-01B3-146030DD959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695998" y="360000"/>
            <a:ext cx="7200000" cy="424732"/>
          </a:xfrm>
        </p:spPr>
        <p:txBody>
          <a:bodyPr>
            <a:normAutofit/>
          </a:bodyPr>
          <a:lstStyle/>
          <a:p>
            <a:r>
              <a:rPr lang="zh-CN" altLang="en-US"/>
              <a:t>关键路径法</a:t>
            </a:r>
            <a:endParaRPr lang="en-US" altLang="zh-CN"/>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1080000"/>
            <a:ext cx="10800000" cy="5112000"/>
          </a:xfrm>
        </p:spPr>
        <p:txBody>
          <a:bodyPr/>
          <a:lstStyle/>
          <a:p>
            <a:r>
              <a:rPr lang="zh-CN" altLang="en-US"/>
              <a:t>可能不止一条</a:t>
            </a:r>
            <a:endParaRPr lang="en-US" altLang="zh-CN"/>
          </a:p>
          <a:p>
            <a:r>
              <a:rPr lang="zh-CN" altLang="en-US"/>
              <a:t>时间参数</a:t>
            </a:r>
            <a:endParaRPr lang="en-US" altLang="zh-CN"/>
          </a:p>
          <a:p>
            <a:pPr lvl="1"/>
            <a:r>
              <a:rPr lang="zh-CN" altLang="en-US"/>
              <a:t>最早开始时间 </a:t>
            </a:r>
            <a:r>
              <a:rPr lang="en-US" altLang="zh-CN"/>
              <a:t>ES - Earliest Start Time</a:t>
            </a:r>
            <a:endParaRPr lang="zh-CN" altLang="en-US"/>
          </a:p>
          <a:p>
            <a:pPr lvl="1"/>
            <a:r>
              <a:rPr lang="zh-CN" altLang="en-US"/>
              <a:t>最晚开始时间 </a:t>
            </a:r>
            <a:r>
              <a:rPr lang="en-US" altLang="zh-CN"/>
              <a:t>LS - Latest Start Time</a:t>
            </a:r>
            <a:endParaRPr lang="zh-CN" altLang="en-US"/>
          </a:p>
          <a:p>
            <a:pPr lvl="1"/>
            <a:r>
              <a:rPr lang="zh-CN" altLang="en-US"/>
              <a:t>最早完成时间 </a:t>
            </a:r>
            <a:r>
              <a:rPr lang="en-US" altLang="zh-CN"/>
              <a:t>EF - Earliest Finish Time</a:t>
            </a:r>
            <a:endParaRPr lang="zh-CN" altLang="en-US"/>
          </a:p>
          <a:p>
            <a:pPr lvl="1"/>
            <a:r>
              <a:rPr lang="zh-CN" altLang="en-US"/>
              <a:t>最晚完成时间 </a:t>
            </a:r>
            <a:r>
              <a:rPr lang="en-US" altLang="zh-CN"/>
              <a:t>LF - Latest Finish Time</a:t>
            </a:r>
            <a:endParaRPr lang="zh-CN" altLang="en-US"/>
          </a:p>
          <a:p>
            <a:r>
              <a:rPr lang="zh-CN" altLang="en-US"/>
              <a:t>浮动时间 </a:t>
            </a:r>
            <a:r>
              <a:rPr lang="en-US" altLang="zh-CN"/>
              <a:t>Total Float</a:t>
            </a:r>
          </a:p>
          <a:p>
            <a:pPr lvl="1"/>
            <a:r>
              <a:rPr lang="zh-CN" altLang="en-US"/>
              <a:t>总时差</a:t>
            </a:r>
            <a:endParaRPr lang="en-US" altLang="zh-CN"/>
          </a:p>
          <a:p>
            <a:pPr lvl="1"/>
            <a:r>
              <a:rPr lang="en-US" altLang="zh-CN"/>
              <a:t>LS – ES = LF - EF</a:t>
            </a:r>
            <a:endParaRPr lang="zh-CN" altLang="en-US"/>
          </a:p>
          <a:p>
            <a:pPr lvl="1"/>
            <a:r>
              <a:rPr lang="zh-CN" altLang="en-US"/>
              <a:t>关键路径上的任务总浮动时间为 </a:t>
            </a:r>
            <a:r>
              <a:rPr lang="en-US" altLang="zh-CN"/>
              <a:t>0</a:t>
            </a:r>
            <a:endParaRPr lang="zh-CN" altLang="en-US"/>
          </a:p>
          <a:p>
            <a:endParaRPr lang="zh-CN" altLang="en-US"/>
          </a:p>
          <a:p>
            <a:endParaRPr lang="zh-CN" altLang="en-US"/>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p:txBody>
          <a:bodyPr/>
          <a:lstStyle/>
          <a:p>
            <a:endParaRPr lang="zh-CN" altLang="en-US"/>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541665829"/>
              </p:ext>
            </p:extLst>
          </p:nvPr>
        </p:nvGraphicFramePr>
        <p:xfrm>
          <a:off x="6096000" y="2948516"/>
          <a:ext cx="5400000" cy="1097280"/>
        </p:xfrm>
        <a:graphic>
          <a:graphicData uri="http://schemas.openxmlformats.org/drawingml/2006/table">
            <a:tbl>
              <a:tblPr firstRow="1" bandRow="1">
                <a:tableStyleId>{2D5ABB26-0587-4C30-8999-92F81FD0307C}</a:tableStyleId>
              </a:tblPr>
              <a:tblGrid>
                <a:gridCol w="1800000">
                  <a:extLst>
                    <a:ext uri="{9D8B030D-6E8A-4147-A177-3AD203B41FA5}">
                      <a16:colId xmlns:a16="http://schemas.microsoft.com/office/drawing/2014/main" val="3960536262"/>
                    </a:ext>
                  </a:extLst>
                </a:gridCol>
                <a:gridCol w="1800000">
                  <a:extLst>
                    <a:ext uri="{9D8B030D-6E8A-4147-A177-3AD203B41FA5}">
                      <a16:colId xmlns:a16="http://schemas.microsoft.com/office/drawing/2014/main" val="2140318526"/>
                    </a:ext>
                  </a:extLst>
                </a:gridCol>
                <a:gridCol w="1800000">
                  <a:extLst>
                    <a:ext uri="{9D8B030D-6E8A-4147-A177-3AD203B41FA5}">
                      <a16:colId xmlns:a16="http://schemas.microsoft.com/office/drawing/2014/main" val="3000295592"/>
                    </a:ext>
                  </a:extLst>
                </a:gridCol>
              </a:tblGrid>
              <a:tr h="365760">
                <a:tc>
                  <a:txBody>
                    <a:bodyPr/>
                    <a:lstStyle/>
                    <a:p>
                      <a:pPr algn="ctr"/>
                      <a:r>
                        <a:rPr lang="en-US" altLang="zh-CN">
                          <a:solidFill>
                            <a:schemeClr val="bg1"/>
                          </a:solidFill>
                        </a:rPr>
                        <a:t>ES</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Duration</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EF</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Event</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a:solidFill>
                            <a:schemeClr val="bg1"/>
                          </a:solidFill>
                        </a:rPr>
                        <a:t>LS</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Total float</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LF</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1817770671"/>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1172843872"/>
              </p:ext>
            </p:extLst>
          </p:nvPr>
        </p:nvGraphicFramePr>
        <p:xfrm>
          <a:off x="3219344" y="2344260"/>
          <a:ext cx="8640000" cy="329184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a:solidFill>
                            <a:schemeClr val="bg1"/>
                          </a:solidFill>
                        </a:rPr>
                        <a:t>工作代号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紧前工作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计划工作历时</a:t>
                      </a:r>
                      <a:r>
                        <a:rPr lang="en-US" altLang="zh-CN">
                          <a:solidFill>
                            <a:schemeClr val="bg1"/>
                          </a:solidFill>
                        </a:rPr>
                        <a:t>/</a:t>
                      </a:r>
                      <a:r>
                        <a:rPr lang="zh-CN" altLang="en-US">
                          <a:solidFill>
                            <a:schemeClr val="bg1"/>
                          </a:solidFill>
                        </a:rPr>
                        <a:t>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a:solidFill>
                            <a:schemeClr val="bg1"/>
                          </a:solidFill>
                        </a:rPr>
                        <a:t>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852081910"/>
                  </a:ext>
                </a:extLst>
              </a:tr>
              <a:tr h="323550">
                <a:tc>
                  <a:txBody>
                    <a:bodyPr/>
                    <a:lstStyle/>
                    <a:p>
                      <a:pPr>
                        <a:buNone/>
                      </a:pPr>
                      <a:r>
                        <a:rPr lang="en-US">
                          <a:solidFill>
                            <a:schemeClr val="bg1"/>
                          </a:solidFill>
                        </a:rPr>
                        <a:t>B</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43277927"/>
                  </a:ext>
                </a:extLst>
              </a:tr>
              <a:tr h="323550">
                <a:tc>
                  <a:txBody>
                    <a:bodyPr/>
                    <a:lstStyle/>
                    <a:p>
                      <a:pPr>
                        <a:buNone/>
                      </a:pPr>
                      <a:r>
                        <a:rPr lang="en-US">
                          <a:solidFill>
                            <a:schemeClr val="bg1"/>
                          </a:solidFill>
                        </a:rPr>
                        <a:t>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8</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1868069"/>
                  </a:ext>
                </a:extLst>
              </a:tr>
              <a:tr h="323550">
                <a:tc>
                  <a:txBody>
                    <a:bodyPr/>
                    <a:lstStyle/>
                    <a:p>
                      <a:pPr>
                        <a:buNone/>
                      </a:pPr>
                      <a:r>
                        <a:rPr lang="en-US">
                          <a:solidFill>
                            <a:schemeClr val="bg1"/>
                          </a:solidFill>
                        </a:rPr>
                        <a:t>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B, 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3292863"/>
                  </a:ext>
                </a:extLst>
              </a:tr>
              <a:tr h="323550">
                <a:tc>
                  <a:txBody>
                    <a:bodyPr/>
                    <a:lstStyle/>
                    <a:p>
                      <a:pPr>
                        <a:buNone/>
                      </a:pPr>
                      <a:r>
                        <a:rPr lang="en-US">
                          <a:solidFill>
                            <a:schemeClr val="bg1"/>
                          </a:solidFill>
                        </a:rPr>
                        <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48767259"/>
                  </a:ext>
                </a:extLst>
              </a:tr>
              <a:tr h="323550">
                <a:tc>
                  <a:txBody>
                    <a:bodyPr/>
                    <a:lstStyle/>
                    <a:p>
                      <a:pPr>
                        <a:buNone/>
                      </a:pPr>
                      <a:r>
                        <a:rPr lang="en-US">
                          <a:solidFill>
                            <a:schemeClr val="bg1"/>
                          </a:solidFill>
                        </a:rPr>
                        <a:t>F</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2228622"/>
                  </a:ext>
                </a:extLst>
              </a:tr>
              <a:tr h="323550">
                <a:tc>
                  <a:txBody>
                    <a:bodyPr/>
                    <a:lstStyle/>
                    <a:p>
                      <a:pPr>
                        <a:buNone/>
                      </a:pPr>
                      <a:r>
                        <a:rPr lang="en-US">
                          <a:solidFill>
                            <a:schemeClr val="bg1"/>
                          </a:solidFill>
                        </a:rPr>
                        <a:t>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D, 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25273505"/>
                  </a:ext>
                </a:extLst>
              </a:tr>
              <a:tr h="323550">
                <a:tc>
                  <a:txBody>
                    <a:bodyPr/>
                    <a:lstStyle/>
                    <a:p>
                      <a:pPr>
                        <a:buNone/>
                      </a:pPr>
                      <a:r>
                        <a:rPr lang="en-US">
                          <a:solidFill>
                            <a:schemeClr val="bg1"/>
                          </a:solidFill>
                        </a:rPr>
                        <a:t>H</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F, 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p:txBody>
          <a:bodyPr/>
          <a:lstStyle/>
          <a:p>
            <a:r>
              <a:rPr lang="zh-CN" altLang="en-US"/>
              <a:t>找出项目的关键路径 </a:t>
            </a:r>
            <a:r>
              <a:rPr lang="en-US" altLang="zh-CN"/>
              <a:t>Critical Path</a:t>
            </a:r>
            <a:r>
              <a:rPr lang="zh-CN" altLang="en-US"/>
              <a:t> 和总工期 </a:t>
            </a:r>
            <a:r>
              <a:rPr lang="en-US" altLang="zh-CN"/>
              <a:t>Project Duration</a:t>
            </a:r>
            <a:endParaRPr lang="zh-CN" altLang="en-US"/>
          </a:p>
        </p:txBody>
      </p:sp>
    </p:spTree>
    <p:extLst>
      <p:ext uri="{BB962C8B-B14F-4D97-AF65-F5344CB8AC3E}">
        <p14:creationId xmlns:p14="http://schemas.microsoft.com/office/powerpoint/2010/main" val="4279547965"/>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A1EEB06E-09B3-13BA-E4E9-A2CA6F1B84E0}"/>
              </a:ext>
            </a:extLst>
          </p:cNvPr>
          <p:cNvSpPr txBox="1"/>
          <p:nvPr/>
        </p:nvSpPr>
        <p:spPr>
          <a:xfrm>
            <a:off x="1247775" y="4143375"/>
            <a:ext cx="349776" cy="369332"/>
          </a:xfrm>
          <a:prstGeom prst="rect">
            <a:avLst/>
          </a:prstGeom>
          <a:noFill/>
        </p:spPr>
        <p:txBody>
          <a:bodyPr wrap="none" rtlCol="0">
            <a:spAutoFit/>
          </a:bodyPr>
          <a:lstStyle/>
          <a:p>
            <a:r>
              <a:rPr lang="en-US" altLang="zh-CN">
                <a:solidFill>
                  <a:schemeClr val="bg1"/>
                </a:solidFill>
              </a:rPr>
              <a:t>A</a:t>
            </a:r>
            <a:endParaRPr lang="zh-CN" altLang="en-US">
              <a:solidFill>
                <a:schemeClr val="bg1"/>
              </a:solidFill>
            </a:endParaRPr>
          </a:p>
        </p:txBody>
      </p:sp>
      <p:sp>
        <p:nvSpPr>
          <p:cNvPr id="4" name="文本框 3">
            <a:extLst>
              <a:ext uri="{FF2B5EF4-FFF2-40B4-BE49-F238E27FC236}">
                <a16:creationId xmlns:a16="http://schemas.microsoft.com/office/drawing/2014/main" id="{E2F7552E-8E4E-4BB8-9C2F-3EDF889D5F69}"/>
              </a:ext>
            </a:extLst>
          </p:cNvPr>
          <p:cNvSpPr txBox="1"/>
          <p:nvPr/>
        </p:nvSpPr>
        <p:spPr>
          <a:xfrm>
            <a:off x="2476500" y="3619500"/>
            <a:ext cx="359394" cy="369332"/>
          </a:xfrm>
          <a:prstGeom prst="rect">
            <a:avLst/>
          </a:prstGeom>
          <a:noFill/>
        </p:spPr>
        <p:txBody>
          <a:bodyPr wrap="none" rtlCol="0">
            <a:spAutoFit/>
          </a:bodyPr>
          <a:lstStyle/>
          <a:p>
            <a:r>
              <a:rPr lang="en-US" altLang="zh-CN">
                <a:solidFill>
                  <a:schemeClr val="bg1"/>
                </a:solidFill>
              </a:rPr>
              <a:t>B</a:t>
            </a:r>
            <a:endParaRPr lang="zh-CN" altLang="en-US">
              <a:solidFill>
                <a:schemeClr val="bg1"/>
              </a:solidFill>
            </a:endParaRPr>
          </a:p>
        </p:txBody>
      </p:sp>
      <p:sp>
        <p:nvSpPr>
          <p:cNvPr id="5" name="文本框 4">
            <a:extLst>
              <a:ext uri="{FF2B5EF4-FFF2-40B4-BE49-F238E27FC236}">
                <a16:creationId xmlns:a16="http://schemas.microsoft.com/office/drawing/2014/main" id="{9639FEA2-0FC3-5C14-77CB-93535DEBB73A}"/>
              </a:ext>
            </a:extLst>
          </p:cNvPr>
          <p:cNvSpPr txBox="1"/>
          <p:nvPr/>
        </p:nvSpPr>
        <p:spPr>
          <a:xfrm>
            <a:off x="2476500" y="4629150"/>
            <a:ext cx="351378" cy="369332"/>
          </a:xfrm>
          <a:prstGeom prst="rect">
            <a:avLst/>
          </a:prstGeom>
          <a:noFill/>
        </p:spPr>
        <p:txBody>
          <a:bodyPr wrap="none" rtlCol="0">
            <a:spAutoFit/>
          </a:bodyPr>
          <a:lstStyle/>
          <a:p>
            <a:r>
              <a:rPr lang="en-US" altLang="zh-CN">
                <a:solidFill>
                  <a:schemeClr val="bg1"/>
                </a:solidFill>
              </a:rPr>
              <a:t>C</a:t>
            </a:r>
            <a:endParaRPr lang="zh-CN" altLang="en-US">
              <a:solidFill>
                <a:schemeClr val="bg1"/>
              </a:solidFill>
            </a:endParaRPr>
          </a:p>
        </p:txBody>
      </p:sp>
      <p:cxnSp>
        <p:nvCxnSpPr>
          <p:cNvPr id="7" name="直接箭头连接符 6">
            <a:extLst>
              <a:ext uri="{FF2B5EF4-FFF2-40B4-BE49-F238E27FC236}">
                <a16:creationId xmlns:a16="http://schemas.microsoft.com/office/drawing/2014/main" id="{21C30B8C-7E6A-DD62-5082-8880561EF0C4}"/>
              </a:ext>
            </a:extLst>
          </p:cNvPr>
          <p:cNvCxnSpPr>
            <a:stCxn id="3" idx="3"/>
            <a:endCxn id="4" idx="1"/>
          </p:cNvCxnSpPr>
          <p:nvPr/>
        </p:nvCxnSpPr>
        <p:spPr>
          <a:xfrm flipV="1">
            <a:off x="1597551" y="3804166"/>
            <a:ext cx="878949" cy="523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7B22A5D7-8DB0-DC7F-00E1-877B92809B8F}"/>
              </a:ext>
            </a:extLst>
          </p:cNvPr>
          <p:cNvSpPr txBox="1"/>
          <p:nvPr/>
        </p:nvSpPr>
        <p:spPr>
          <a:xfrm>
            <a:off x="1264607" y="3842266"/>
            <a:ext cx="316112" cy="369332"/>
          </a:xfrm>
          <a:prstGeom prst="rect">
            <a:avLst/>
          </a:prstGeom>
          <a:noFill/>
        </p:spPr>
        <p:txBody>
          <a:bodyPr wrap="none" rtlCol="0">
            <a:spAutoFit/>
          </a:bodyPr>
          <a:lstStyle/>
          <a:p>
            <a:r>
              <a:rPr lang="en-US" altLang="zh-CN">
                <a:solidFill>
                  <a:schemeClr val="bg1"/>
                </a:solidFill>
              </a:rPr>
              <a:t>5</a:t>
            </a:r>
            <a:endParaRPr lang="zh-CN" altLang="en-US">
              <a:solidFill>
                <a:schemeClr val="bg1"/>
              </a:solidFill>
            </a:endParaRPr>
          </a:p>
        </p:txBody>
      </p:sp>
      <p:cxnSp>
        <p:nvCxnSpPr>
          <p:cNvPr id="10" name="直接箭头连接符 9">
            <a:extLst>
              <a:ext uri="{FF2B5EF4-FFF2-40B4-BE49-F238E27FC236}">
                <a16:creationId xmlns:a16="http://schemas.microsoft.com/office/drawing/2014/main" id="{1C232C25-3884-778D-2637-20B4C6904DBF}"/>
              </a:ext>
            </a:extLst>
          </p:cNvPr>
          <p:cNvCxnSpPr>
            <a:stCxn id="3" idx="3"/>
            <a:endCxn id="5" idx="1"/>
          </p:cNvCxnSpPr>
          <p:nvPr/>
        </p:nvCxnSpPr>
        <p:spPr>
          <a:xfrm>
            <a:off x="1597551" y="4328041"/>
            <a:ext cx="878949" cy="48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43C7076D-97B3-854C-ACE4-5EE1AAF0DEAD}"/>
              </a:ext>
            </a:extLst>
          </p:cNvPr>
          <p:cNvSpPr txBox="1"/>
          <p:nvPr/>
        </p:nvSpPr>
        <p:spPr>
          <a:xfrm>
            <a:off x="3476625" y="4274582"/>
            <a:ext cx="375424" cy="369332"/>
          </a:xfrm>
          <a:prstGeom prst="rect">
            <a:avLst/>
          </a:prstGeom>
          <a:noFill/>
        </p:spPr>
        <p:txBody>
          <a:bodyPr wrap="none" rtlCol="0">
            <a:spAutoFit/>
          </a:bodyPr>
          <a:lstStyle/>
          <a:p>
            <a:r>
              <a:rPr lang="en-US" altLang="zh-CN">
                <a:solidFill>
                  <a:schemeClr val="bg1"/>
                </a:solidFill>
              </a:rPr>
              <a:t>D</a:t>
            </a:r>
            <a:endParaRPr lang="zh-CN" altLang="en-US">
              <a:solidFill>
                <a:schemeClr val="bg1"/>
              </a:solidFill>
            </a:endParaRPr>
          </a:p>
        </p:txBody>
      </p:sp>
      <p:cxnSp>
        <p:nvCxnSpPr>
          <p:cNvPr id="14" name="直接箭头连接符 13">
            <a:extLst>
              <a:ext uri="{FF2B5EF4-FFF2-40B4-BE49-F238E27FC236}">
                <a16:creationId xmlns:a16="http://schemas.microsoft.com/office/drawing/2014/main" id="{8DDD277F-BAE1-BFE8-B58D-790EF9F4285D}"/>
              </a:ext>
            </a:extLst>
          </p:cNvPr>
          <p:cNvCxnSpPr>
            <a:stCxn id="4" idx="3"/>
            <a:endCxn id="12" idx="1"/>
          </p:cNvCxnSpPr>
          <p:nvPr/>
        </p:nvCxnSpPr>
        <p:spPr>
          <a:xfrm>
            <a:off x="2835894" y="3804166"/>
            <a:ext cx="640731" cy="65508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A08931A-FC26-E229-E9AD-AA153D42D85A}"/>
              </a:ext>
            </a:extLst>
          </p:cNvPr>
          <p:cNvCxnSpPr>
            <a:stCxn id="5" idx="3"/>
            <a:endCxn id="12" idx="1"/>
          </p:cNvCxnSpPr>
          <p:nvPr/>
        </p:nvCxnSpPr>
        <p:spPr>
          <a:xfrm flipV="1">
            <a:off x="2827878" y="4459248"/>
            <a:ext cx="648747" cy="35456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775A7A25-F6DD-2E82-D637-B87C3EE02018}"/>
              </a:ext>
            </a:extLst>
          </p:cNvPr>
          <p:cNvSpPr txBox="1"/>
          <p:nvPr/>
        </p:nvSpPr>
        <p:spPr>
          <a:xfrm>
            <a:off x="2494133" y="3349883"/>
            <a:ext cx="316112" cy="369332"/>
          </a:xfrm>
          <a:prstGeom prst="rect">
            <a:avLst/>
          </a:prstGeom>
          <a:noFill/>
        </p:spPr>
        <p:txBody>
          <a:bodyPr wrap="none" rtlCol="0">
            <a:spAutoFit/>
          </a:bodyPr>
          <a:lstStyle/>
          <a:p>
            <a:r>
              <a:rPr lang="en-US" altLang="zh-CN">
                <a:solidFill>
                  <a:schemeClr val="bg1"/>
                </a:solidFill>
              </a:rPr>
              <a:t>2</a:t>
            </a:r>
            <a:endParaRPr lang="zh-CN" altLang="en-US">
              <a:solidFill>
                <a:schemeClr val="bg1"/>
              </a:solidFill>
            </a:endParaRPr>
          </a:p>
        </p:txBody>
      </p:sp>
      <p:sp>
        <p:nvSpPr>
          <p:cNvPr id="18" name="文本框 17">
            <a:extLst>
              <a:ext uri="{FF2B5EF4-FFF2-40B4-BE49-F238E27FC236}">
                <a16:creationId xmlns:a16="http://schemas.microsoft.com/office/drawing/2014/main" id="{7462B772-7874-7A53-AAC6-DD493DFF6A19}"/>
              </a:ext>
            </a:extLst>
          </p:cNvPr>
          <p:cNvSpPr txBox="1"/>
          <p:nvPr/>
        </p:nvSpPr>
        <p:spPr>
          <a:xfrm>
            <a:off x="2510965" y="4406563"/>
            <a:ext cx="332142" cy="369332"/>
          </a:xfrm>
          <a:prstGeom prst="rect">
            <a:avLst/>
          </a:prstGeom>
          <a:noFill/>
        </p:spPr>
        <p:txBody>
          <a:bodyPr wrap="none" rtlCol="0">
            <a:spAutoFit/>
          </a:bodyPr>
          <a:lstStyle/>
          <a:p>
            <a:r>
              <a:rPr lang="en-US" altLang="zh-CN">
                <a:solidFill>
                  <a:schemeClr val="bg1"/>
                </a:solidFill>
              </a:rPr>
              <a:t>8</a:t>
            </a:r>
            <a:endParaRPr lang="zh-CN" altLang="en-US">
              <a:solidFill>
                <a:schemeClr val="bg1"/>
              </a:solidFill>
            </a:endParaRPr>
          </a:p>
        </p:txBody>
      </p:sp>
      <p:sp>
        <p:nvSpPr>
          <p:cNvPr id="19" name="文本框 18">
            <a:extLst>
              <a:ext uri="{FF2B5EF4-FFF2-40B4-BE49-F238E27FC236}">
                <a16:creationId xmlns:a16="http://schemas.microsoft.com/office/drawing/2014/main" id="{21BCCF1A-573C-077D-338F-3A717DB74CEA}"/>
              </a:ext>
            </a:extLst>
          </p:cNvPr>
          <p:cNvSpPr txBox="1"/>
          <p:nvPr/>
        </p:nvSpPr>
        <p:spPr>
          <a:xfrm>
            <a:off x="3476625" y="5248275"/>
            <a:ext cx="338554" cy="369332"/>
          </a:xfrm>
          <a:prstGeom prst="rect">
            <a:avLst/>
          </a:prstGeom>
          <a:noFill/>
        </p:spPr>
        <p:txBody>
          <a:bodyPr wrap="none" rtlCol="0">
            <a:spAutoFit/>
          </a:bodyPr>
          <a:lstStyle/>
          <a:p>
            <a:r>
              <a:rPr lang="en-US" altLang="zh-CN">
                <a:solidFill>
                  <a:schemeClr val="bg1"/>
                </a:solidFill>
              </a:rPr>
              <a:t>E</a:t>
            </a:r>
            <a:endParaRPr lang="zh-CN" altLang="en-US">
              <a:solidFill>
                <a:schemeClr val="bg1"/>
              </a:solidFill>
            </a:endParaRPr>
          </a:p>
        </p:txBody>
      </p:sp>
      <p:cxnSp>
        <p:nvCxnSpPr>
          <p:cNvPr id="21" name="直接箭头连接符 20">
            <a:extLst>
              <a:ext uri="{FF2B5EF4-FFF2-40B4-BE49-F238E27FC236}">
                <a16:creationId xmlns:a16="http://schemas.microsoft.com/office/drawing/2014/main" id="{F52438E8-F59B-CFC3-FAED-1F2CDB6E25EE}"/>
              </a:ext>
            </a:extLst>
          </p:cNvPr>
          <p:cNvCxnSpPr>
            <a:stCxn id="5" idx="3"/>
            <a:endCxn id="19" idx="1"/>
          </p:cNvCxnSpPr>
          <p:nvPr/>
        </p:nvCxnSpPr>
        <p:spPr>
          <a:xfrm>
            <a:off x="2827878" y="4813816"/>
            <a:ext cx="648747" cy="61912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6AD89484-632E-336C-E93F-6D55EA28F567}"/>
              </a:ext>
            </a:extLst>
          </p:cNvPr>
          <p:cNvSpPr txBox="1"/>
          <p:nvPr/>
        </p:nvSpPr>
        <p:spPr>
          <a:xfrm>
            <a:off x="4686300" y="4274582"/>
            <a:ext cx="330540" cy="369332"/>
          </a:xfrm>
          <a:prstGeom prst="rect">
            <a:avLst/>
          </a:prstGeom>
          <a:noFill/>
        </p:spPr>
        <p:txBody>
          <a:bodyPr wrap="none" rtlCol="0">
            <a:spAutoFit/>
          </a:bodyPr>
          <a:lstStyle/>
          <a:p>
            <a:r>
              <a:rPr lang="en-US" altLang="zh-CN">
                <a:solidFill>
                  <a:schemeClr val="bg1"/>
                </a:solidFill>
              </a:rPr>
              <a:t>F</a:t>
            </a:r>
            <a:endParaRPr lang="zh-CN" altLang="en-US">
              <a:solidFill>
                <a:schemeClr val="bg1"/>
              </a:solidFill>
            </a:endParaRPr>
          </a:p>
        </p:txBody>
      </p:sp>
      <p:cxnSp>
        <p:nvCxnSpPr>
          <p:cNvPr id="25" name="直接箭头连接符 24">
            <a:extLst>
              <a:ext uri="{FF2B5EF4-FFF2-40B4-BE49-F238E27FC236}">
                <a16:creationId xmlns:a16="http://schemas.microsoft.com/office/drawing/2014/main" id="{42BE6AB1-C496-9E66-8224-90B8B8E5E767}"/>
              </a:ext>
            </a:extLst>
          </p:cNvPr>
          <p:cNvCxnSpPr>
            <a:stCxn id="12" idx="3"/>
            <a:endCxn id="23" idx="1"/>
          </p:cNvCxnSpPr>
          <p:nvPr/>
        </p:nvCxnSpPr>
        <p:spPr>
          <a:xfrm>
            <a:off x="3852049" y="4459248"/>
            <a:ext cx="83425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21E606B5-BFC0-29AD-FEE1-0D7695CFEE4F}"/>
              </a:ext>
            </a:extLst>
          </p:cNvPr>
          <p:cNvSpPr txBox="1"/>
          <p:nvPr/>
        </p:nvSpPr>
        <p:spPr>
          <a:xfrm>
            <a:off x="3443449" y="4043244"/>
            <a:ext cx="420308" cy="369332"/>
          </a:xfrm>
          <a:prstGeom prst="rect">
            <a:avLst/>
          </a:prstGeom>
          <a:noFill/>
        </p:spPr>
        <p:txBody>
          <a:bodyPr wrap="none" rtlCol="0">
            <a:spAutoFit/>
          </a:bodyPr>
          <a:lstStyle/>
          <a:p>
            <a:r>
              <a:rPr lang="en-US" altLang="zh-CN">
                <a:solidFill>
                  <a:schemeClr val="bg1"/>
                </a:solidFill>
              </a:rPr>
              <a:t>10</a:t>
            </a:r>
            <a:endParaRPr lang="zh-CN" altLang="en-US">
              <a:solidFill>
                <a:schemeClr val="bg1"/>
              </a:solidFill>
            </a:endParaRPr>
          </a:p>
        </p:txBody>
      </p:sp>
      <p:sp>
        <p:nvSpPr>
          <p:cNvPr id="27" name="文本框 26">
            <a:extLst>
              <a:ext uri="{FF2B5EF4-FFF2-40B4-BE49-F238E27FC236}">
                <a16:creationId xmlns:a16="http://schemas.microsoft.com/office/drawing/2014/main" id="{5D1CA704-0D72-33DB-01DE-92BE2277F6D3}"/>
              </a:ext>
            </a:extLst>
          </p:cNvPr>
          <p:cNvSpPr txBox="1"/>
          <p:nvPr/>
        </p:nvSpPr>
        <p:spPr>
          <a:xfrm>
            <a:off x="3476625" y="4946094"/>
            <a:ext cx="316112" cy="369332"/>
          </a:xfrm>
          <a:prstGeom prst="rect">
            <a:avLst/>
          </a:prstGeom>
          <a:noFill/>
        </p:spPr>
        <p:txBody>
          <a:bodyPr wrap="none" rtlCol="0">
            <a:spAutoFit/>
          </a:bodyPr>
          <a:lstStyle/>
          <a:p>
            <a:r>
              <a:rPr lang="en-US" altLang="zh-CN">
                <a:solidFill>
                  <a:schemeClr val="bg1"/>
                </a:solidFill>
              </a:rPr>
              <a:t>5</a:t>
            </a:r>
            <a:endParaRPr lang="zh-CN" altLang="en-US">
              <a:solidFill>
                <a:schemeClr val="bg1"/>
              </a:solidFill>
            </a:endParaRPr>
          </a:p>
        </p:txBody>
      </p:sp>
      <p:sp>
        <p:nvSpPr>
          <p:cNvPr id="28" name="文本框 27">
            <a:extLst>
              <a:ext uri="{FF2B5EF4-FFF2-40B4-BE49-F238E27FC236}">
                <a16:creationId xmlns:a16="http://schemas.microsoft.com/office/drawing/2014/main" id="{2ADF7969-A354-0346-83CF-301505950CD6}"/>
              </a:ext>
            </a:extLst>
          </p:cNvPr>
          <p:cNvSpPr txBox="1"/>
          <p:nvPr/>
        </p:nvSpPr>
        <p:spPr>
          <a:xfrm>
            <a:off x="4686300" y="5248275"/>
            <a:ext cx="362600" cy="369332"/>
          </a:xfrm>
          <a:prstGeom prst="rect">
            <a:avLst/>
          </a:prstGeom>
          <a:noFill/>
        </p:spPr>
        <p:txBody>
          <a:bodyPr wrap="none" rtlCol="0">
            <a:spAutoFit/>
          </a:bodyPr>
          <a:lstStyle/>
          <a:p>
            <a:r>
              <a:rPr lang="en-US" altLang="zh-CN">
                <a:solidFill>
                  <a:schemeClr val="bg1"/>
                </a:solidFill>
              </a:rPr>
              <a:t>G</a:t>
            </a:r>
            <a:endParaRPr lang="zh-CN" altLang="en-US">
              <a:solidFill>
                <a:schemeClr val="bg1"/>
              </a:solidFill>
            </a:endParaRPr>
          </a:p>
        </p:txBody>
      </p:sp>
      <p:cxnSp>
        <p:nvCxnSpPr>
          <p:cNvPr id="30" name="直接箭头连接符 29">
            <a:extLst>
              <a:ext uri="{FF2B5EF4-FFF2-40B4-BE49-F238E27FC236}">
                <a16:creationId xmlns:a16="http://schemas.microsoft.com/office/drawing/2014/main" id="{94A727FC-6C7F-D35D-7C04-723D4C2A780D}"/>
              </a:ext>
            </a:extLst>
          </p:cNvPr>
          <p:cNvCxnSpPr>
            <a:stCxn id="12" idx="3"/>
            <a:endCxn id="28" idx="1"/>
          </p:cNvCxnSpPr>
          <p:nvPr/>
        </p:nvCxnSpPr>
        <p:spPr>
          <a:xfrm>
            <a:off x="3852049" y="4459248"/>
            <a:ext cx="834251" cy="97369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5A453B17-3F87-E350-7E3A-2AFC74DBDA61}"/>
              </a:ext>
            </a:extLst>
          </p:cNvPr>
          <p:cNvCxnSpPr>
            <a:stCxn id="19" idx="3"/>
            <a:endCxn id="28" idx="1"/>
          </p:cNvCxnSpPr>
          <p:nvPr/>
        </p:nvCxnSpPr>
        <p:spPr>
          <a:xfrm>
            <a:off x="3815179" y="5432941"/>
            <a:ext cx="87112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3" name="文本框 32">
            <a:extLst>
              <a:ext uri="{FF2B5EF4-FFF2-40B4-BE49-F238E27FC236}">
                <a16:creationId xmlns:a16="http://schemas.microsoft.com/office/drawing/2014/main" id="{1FC8C197-6AE9-64E1-30AE-8B1933CE7ACF}"/>
              </a:ext>
            </a:extLst>
          </p:cNvPr>
          <p:cNvSpPr txBox="1"/>
          <p:nvPr/>
        </p:nvSpPr>
        <p:spPr>
          <a:xfrm>
            <a:off x="5723782" y="4813816"/>
            <a:ext cx="372218" cy="369332"/>
          </a:xfrm>
          <a:prstGeom prst="rect">
            <a:avLst/>
          </a:prstGeom>
          <a:noFill/>
        </p:spPr>
        <p:txBody>
          <a:bodyPr wrap="none" rtlCol="0">
            <a:spAutoFit/>
          </a:bodyPr>
          <a:lstStyle/>
          <a:p>
            <a:r>
              <a:rPr lang="en-US" altLang="zh-CN">
                <a:solidFill>
                  <a:schemeClr val="bg1"/>
                </a:solidFill>
              </a:rPr>
              <a:t>H</a:t>
            </a:r>
            <a:endParaRPr lang="zh-CN" altLang="en-US">
              <a:solidFill>
                <a:schemeClr val="bg1"/>
              </a:solidFill>
            </a:endParaRPr>
          </a:p>
        </p:txBody>
      </p:sp>
      <p:cxnSp>
        <p:nvCxnSpPr>
          <p:cNvPr id="35" name="直接箭头连接符 34">
            <a:extLst>
              <a:ext uri="{FF2B5EF4-FFF2-40B4-BE49-F238E27FC236}">
                <a16:creationId xmlns:a16="http://schemas.microsoft.com/office/drawing/2014/main" id="{4FE91681-D249-9B65-CFDC-5809DFB10604}"/>
              </a:ext>
            </a:extLst>
          </p:cNvPr>
          <p:cNvCxnSpPr>
            <a:stCxn id="23" idx="3"/>
            <a:endCxn id="33" idx="1"/>
          </p:cNvCxnSpPr>
          <p:nvPr/>
        </p:nvCxnSpPr>
        <p:spPr>
          <a:xfrm>
            <a:off x="5016840" y="4459248"/>
            <a:ext cx="706942" cy="53923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BA1A8A0B-8179-1073-359D-F0B2C147A430}"/>
              </a:ext>
            </a:extLst>
          </p:cNvPr>
          <p:cNvCxnSpPr>
            <a:stCxn id="28" idx="3"/>
            <a:endCxn id="33" idx="1"/>
          </p:cNvCxnSpPr>
          <p:nvPr/>
        </p:nvCxnSpPr>
        <p:spPr>
          <a:xfrm flipV="1">
            <a:off x="5048900" y="4998482"/>
            <a:ext cx="674882" cy="434459"/>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28BC799A-7694-14D9-CEA2-8C5B00FC0B6F}"/>
              </a:ext>
            </a:extLst>
          </p:cNvPr>
          <p:cNvSpPr txBox="1"/>
          <p:nvPr/>
        </p:nvSpPr>
        <p:spPr>
          <a:xfrm>
            <a:off x="4657446" y="4028778"/>
            <a:ext cx="420308" cy="369332"/>
          </a:xfrm>
          <a:prstGeom prst="rect">
            <a:avLst/>
          </a:prstGeom>
          <a:noFill/>
        </p:spPr>
        <p:txBody>
          <a:bodyPr wrap="none" rtlCol="0">
            <a:spAutoFit/>
          </a:bodyPr>
          <a:lstStyle/>
          <a:p>
            <a:r>
              <a:rPr lang="en-US" altLang="zh-CN">
                <a:solidFill>
                  <a:schemeClr val="bg1"/>
                </a:solidFill>
              </a:rPr>
              <a:t>10</a:t>
            </a:r>
            <a:endParaRPr lang="zh-CN" altLang="en-US">
              <a:solidFill>
                <a:schemeClr val="bg1"/>
              </a:solidFill>
            </a:endParaRPr>
          </a:p>
        </p:txBody>
      </p:sp>
      <p:sp>
        <p:nvSpPr>
          <p:cNvPr id="39" name="文本框 38">
            <a:extLst>
              <a:ext uri="{FF2B5EF4-FFF2-40B4-BE49-F238E27FC236}">
                <a16:creationId xmlns:a16="http://schemas.microsoft.com/office/drawing/2014/main" id="{F246383B-AA9A-4A46-BFD7-F0EBC2C47C3B}"/>
              </a:ext>
            </a:extLst>
          </p:cNvPr>
          <p:cNvSpPr txBox="1"/>
          <p:nvPr/>
        </p:nvSpPr>
        <p:spPr>
          <a:xfrm>
            <a:off x="4686300" y="4998482"/>
            <a:ext cx="351378" cy="369332"/>
          </a:xfrm>
          <a:prstGeom prst="rect">
            <a:avLst/>
          </a:prstGeom>
          <a:noFill/>
        </p:spPr>
        <p:txBody>
          <a:bodyPr wrap="none" rtlCol="0">
            <a:spAutoFit/>
          </a:bodyPr>
          <a:lstStyle/>
          <a:p>
            <a:r>
              <a:rPr lang="en-US" altLang="zh-CN">
                <a:solidFill>
                  <a:schemeClr val="bg1"/>
                </a:solidFill>
              </a:rPr>
              <a:t>11</a:t>
            </a:r>
            <a:endParaRPr lang="zh-CN" altLang="en-US">
              <a:solidFill>
                <a:schemeClr val="bg1"/>
              </a:solidFill>
            </a:endParaRPr>
          </a:p>
        </p:txBody>
      </p:sp>
      <p:sp>
        <p:nvSpPr>
          <p:cNvPr id="40" name="文本框 39">
            <a:extLst>
              <a:ext uri="{FF2B5EF4-FFF2-40B4-BE49-F238E27FC236}">
                <a16:creationId xmlns:a16="http://schemas.microsoft.com/office/drawing/2014/main" id="{2D212E3E-FA41-1DC5-A703-73FA3519FF06}"/>
              </a:ext>
            </a:extLst>
          </p:cNvPr>
          <p:cNvSpPr txBox="1"/>
          <p:nvPr/>
        </p:nvSpPr>
        <p:spPr>
          <a:xfrm>
            <a:off x="5699737" y="4533305"/>
            <a:ext cx="420308" cy="369332"/>
          </a:xfrm>
          <a:prstGeom prst="rect">
            <a:avLst/>
          </a:prstGeom>
          <a:noFill/>
        </p:spPr>
        <p:txBody>
          <a:bodyPr wrap="none" rtlCol="0">
            <a:spAutoFit/>
          </a:bodyPr>
          <a:lstStyle/>
          <a:p>
            <a:r>
              <a:rPr lang="en-US" altLang="zh-CN">
                <a:solidFill>
                  <a:schemeClr val="bg1"/>
                </a:solidFill>
              </a:rPr>
              <a:t>10</a:t>
            </a:r>
            <a:endParaRPr lang="zh-CN" altLang="en-US">
              <a:solidFill>
                <a:schemeClr val="bg1"/>
              </a:solidFill>
            </a:endParaRPr>
          </a:p>
        </p:txBody>
      </p:sp>
    </p:spTree>
    <p:extLst>
      <p:ext uri="{BB962C8B-B14F-4D97-AF65-F5344CB8AC3E}">
        <p14:creationId xmlns:p14="http://schemas.microsoft.com/office/powerpoint/2010/main" val="2758940164"/>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p:txBody>
          <a:bodyPr/>
          <a:lstStyle/>
          <a:p>
            <a:r>
              <a:rPr lang="zh-CN" altLang="en-US"/>
              <a:t>资源优化</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p:txBody>
          <a:bodyPr/>
          <a:lstStyle/>
          <a:p>
            <a:r>
              <a:rPr lang="zh-CN" altLang="en-US"/>
              <a:t>资源平衡</a:t>
            </a:r>
            <a:endParaRPr lang="en-US" altLang="zh-CN"/>
          </a:p>
          <a:p>
            <a:pPr lvl="1"/>
            <a:r>
              <a:rPr lang="zh-CN" altLang="en-US"/>
              <a:t>改变关键路径，通常是延长</a:t>
            </a:r>
            <a:endParaRPr lang="en-US" altLang="zh-CN"/>
          </a:p>
          <a:p>
            <a:r>
              <a:rPr lang="zh-CN" altLang="en-US"/>
              <a:t>资源平滑</a:t>
            </a:r>
            <a:endParaRPr lang="en-US" altLang="zh-CN"/>
          </a:p>
          <a:p>
            <a:pPr lvl="1"/>
            <a:r>
              <a:rPr lang="zh-CN" altLang="en-US"/>
              <a:t>不会改变关键路径</a:t>
            </a:r>
            <a:endParaRPr lang="en-US" altLang="zh-CN"/>
          </a:p>
          <a:p>
            <a:pPr lvl="1"/>
            <a:r>
              <a:rPr lang="zh-CN" altLang="en-US"/>
              <a:t>无法实现所有资源优化</a:t>
            </a:r>
            <a:endParaRPr lang="en-US" altLang="zh-CN"/>
          </a:p>
          <a:p>
            <a:endParaRPr lang="zh-CN" altLang="en-US"/>
          </a:p>
        </p:txBody>
      </p:sp>
      <p:sp>
        <p:nvSpPr>
          <p:cNvPr id="4" name="文本占位符 3">
            <a:extLst>
              <a:ext uri="{FF2B5EF4-FFF2-40B4-BE49-F238E27FC236}">
                <a16:creationId xmlns:a16="http://schemas.microsoft.com/office/drawing/2014/main" id="{0DFBD7E7-F771-7246-820D-6B80FE8F697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610194431"/>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p:txBody>
          <a:bodyPr/>
          <a:lstStyle/>
          <a:p>
            <a:r>
              <a:rPr lang="zh-CN" altLang="en-US"/>
              <a:t>资源压缩</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p:txBody>
          <a:bodyPr/>
          <a:lstStyle/>
          <a:p>
            <a:r>
              <a:rPr lang="zh-CN" altLang="en-US"/>
              <a:t>赶工 </a:t>
            </a:r>
            <a:r>
              <a:rPr lang="en-US" altLang="zh-CN"/>
              <a:t>Crashing</a:t>
            </a:r>
          </a:p>
          <a:p>
            <a:pPr lvl="1"/>
            <a:r>
              <a:rPr lang="zh-CN" altLang="en-US"/>
              <a:t>加班</a:t>
            </a:r>
            <a:endParaRPr lang="en-US" altLang="zh-CN"/>
          </a:p>
          <a:p>
            <a:r>
              <a:rPr lang="zh-CN" altLang="en-US"/>
              <a:t>快速跟进 </a:t>
            </a:r>
            <a:r>
              <a:rPr lang="en-US" altLang="zh-CN"/>
              <a:t>Fast Tracking</a:t>
            </a:r>
          </a:p>
          <a:p>
            <a:pPr lvl="1"/>
            <a:r>
              <a:rPr lang="zh-CN" altLang="en-US"/>
              <a:t>串行 → 并行</a:t>
            </a:r>
          </a:p>
        </p:txBody>
      </p:sp>
      <p:sp>
        <p:nvSpPr>
          <p:cNvPr id="4" name="文本占位符 3">
            <a:extLst>
              <a:ext uri="{FF2B5EF4-FFF2-40B4-BE49-F238E27FC236}">
                <a16:creationId xmlns:a16="http://schemas.microsoft.com/office/drawing/2014/main" id="{66A67F6C-85E4-63A7-E0C8-7790EC7672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77212110"/>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58C59-18EC-820F-424D-4377029A877B}"/>
              </a:ext>
            </a:extLst>
          </p:cNvPr>
          <p:cNvSpPr>
            <a:spLocks noGrp="1"/>
          </p:cNvSpPr>
          <p:nvPr>
            <p:ph type="title"/>
          </p:nvPr>
        </p:nvSpPr>
        <p:spPr/>
        <p:txBody>
          <a:bodyPr/>
          <a:lstStyle/>
          <a:p>
            <a:r>
              <a:rPr lang="en-US" altLang="zh-CN"/>
              <a:t>7. </a:t>
            </a:r>
            <a:r>
              <a:rPr lang="zh-CN" altLang="en-US"/>
              <a:t>进度控制</a:t>
            </a:r>
          </a:p>
        </p:txBody>
      </p:sp>
      <p:sp>
        <p:nvSpPr>
          <p:cNvPr id="3" name="内容占位符 2">
            <a:extLst>
              <a:ext uri="{FF2B5EF4-FFF2-40B4-BE49-F238E27FC236}">
                <a16:creationId xmlns:a16="http://schemas.microsoft.com/office/drawing/2014/main" id="{D1BD782F-47F6-81A2-E4B8-EEFB47D64136}"/>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E651F3E-A570-EFE7-184C-BE8CDDD4C2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20534762"/>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p:txBody>
          <a:bodyPr/>
          <a:lstStyle/>
          <a:p>
            <a:r>
              <a:rPr lang="en-US" altLang="zh-CN"/>
              <a:t>39</a:t>
            </a:r>
            <a:r>
              <a:rPr lang="zh-CN" altLang="en-US"/>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a:p>
          <a:p>
            <a:endParaRPr lang="zh-CN" altLang="en-US"/>
          </a:p>
          <a:p>
            <a:r>
              <a:rPr lang="en-US" altLang="zh-CN"/>
              <a:t>A. </a:t>
            </a:r>
            <a:r>
              <a:rPr lang="zh-CN" altLang="en-US"/>
              <a:t>赶工 </a:t>
            </a:r>
            <a:r>
              <a:rPr lang="en-US" altLang="zh-CN"/>
              <a:t>Crashing</a:t>
            </a:r>
            <a:endParaRPr lang="zh-CN" altLang="en-US"/>
          </a:p>
          <a:p>
            <a:r>
              <a:rPr lang="en-US" altLang="zh-CN"/>
              <a:t>B. </a:t>
            </a:r>
            <a:r>
              <a:rPr lang="zh-CN" altLang="en-US"/>
              <a:t>并行施工 </a:t>
            </a:r>
            <a:r>
              <a:rPr lang="en-US" altLang="zh-CN"/>
              <a:t>Fast Tracking</a:t>
            </a:r>
            <a:endParaRPr lang="zh-CN" altLang="en-US"/>
          </a:p>
          <a:p>
            <a:r>
              <a:rPr lang="en-US" altLang="zh-CN"/>
              <a:t>C. </a:t>
            </a:r>
            <a:r>
              <a:rPr lang="zh-CN" altLang="en-US"/>
              <a:t>增加资源投入</a:t>
            </a:r>
          </a:p>
          <a:p>
            <a:r>
              <a:rPr lang="en-US" altLang="zh-CN"/>
              <a:t>D. </a:t>
            </a:r>
            <a:r>
              <a:rPr lang="zh-CN" altLang="en-US"/>
              <a:t>缩小项目范围</a:t>
            </a:r>
          </a:p>
        </p:txBody>
      </p:sp>
    </p:spTree>
    <p:extLst>
      <p:ext uri="{BB962C8B-B14F-4D97-AF65-F5344CB8AC3E}">
        <p14:creationId xmlns:p14="http://schemas.microsoft.com/office/powerpoint/2010/main" val="1256559890"/>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2464886" y="4681056"/>
            <a:ext cx="7262228" cy="798491"/>
          </a:xfrm>
        </p:spPr>
        <p:txBody>
          <a:bodyPr/>
          <a:lstStyle/>
          <a:p>
            <a:r>
              <a:rPr lang="zh-CN" altLang="en-US"/>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2464886" y="5479548"/>
            <a:ext cx="7262228" cy="458180"/>
          </a:xfrm>
        </p:spPr>
        <p:txBody>
          <a:bodyPr/>
          <a:lstStyle/>
          <a:p>
            <a:r>
              <a:rPr lang="en-US" altLang="zh-CN"/>
              <a:t>Section 6 Project Quality</a:t>
            </a:r>
            <a:endParaRPr lang="zh-CN" altLang="en-US"/>
          </a:p>
        </p:txBody>
      </p:sp>
      <p:sp>
        <p:nvSpPr>
          <p:cNvPr id="6" name="文本占位符 5">
            <a:extLst>
              <a:ext uri="{FF2B5EF4-FFF2-40B4-BE49-F238E27FC236}">
                <a16:creationId xmlns:a16="http://schemas.microsoft.com/office/drawing/2014/main" id="{93A5A236-7DF4-25DA-E597-A9C54C42FC92}"/>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145729688"/>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4419CB50-EECA-956B-34C1-3951AA0AC5D1}"/>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72A4452C-D6C7-C81B-81F1-FC14B5B0F286}"/>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2ADBF6C-1431-F5A0-F147-A386ECEE5F17}"/>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847F73E4-29C8-EC73-AF4F-9D0CD8DC9C64}"/>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37857487-C250-0CA5-1A64-6BE37DE7D669}"/>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21A7EE77-8D64-FDF0-3407-6DDD2FE94F83}"/>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E0ECD4B7-D183-A110-4648-4D4F077EEB72}"/>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C101687C-DFFA-973F-F3D9-3780627CAF45}"/>
              </a:ext>
            </a:extLst>
          </p:cNvPr>
          <p:cNvSpPr/>
          <p:nvPr/>
        </p:nvSpPr>
        <p:spPr>
          <a:xfrm>
            <a:off x="5534326"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03AD73-D9BD-013B-A9CF-E6B3D0A032A3}"/>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9E50933E-F86C-609F-EAFE-7090DBFE695C}"/>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DD022715-79DA-47CE-BD99-C614DC8F4F33}"/>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B17D68E6-828E-2FE8-AF80-5EA1C955E0C7}"/>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F8F1EA29-2499-8283-7592-6D87F20B9B5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536096271"/>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8815C25-4CA3-E93A-9AE7-67A44BC4702F}"/>
              </a:ext>
            </a:extLst>
          </p:cNvPr>
          <p:cNvSpPr>
            <a:spLocks noGrp="1"/>
          </p:cNvSpPr>
          <p:nvPr>
            <p:ph type="title"/>
          </p:nvPr>
        </p:nvSpPr>
        <p:spPr>
          <a:xfrm>
            <a:off x="695998" y="360000"/>
            <a:ext cx="7200000" cy="424732"/>
          </a:xfrm>
        </p:spPr>
        <p:txBody>
          <a:bodyPr>
            <a:normAutofit/>
          </a:bodyPr>
          <a:lstStyle/>
          <a:p>
            <a:r>
              <a:rPr lang="zh-CN" altLang="en-US"/>
              <a:t>六大质量特性 </a:t>
            </a:r>
            <a:r>
              <a:rPr lang="en-US" altLang="zh-CN"/>
              <a:t>Quality Characteristics</a:t>
            </a:r>
            <a:endParaRPr lang="zh-CN" altLang="en-US"/>
          </a:p>
        </p:txBody>
      </p:sp>
      <p:sp>
        <p:nvSpPr>
          <p:cNvPr id="3" name="内容占位符 2">
            <a:extLst>
              <a:ext uri="{FF2B5EF4-FFF2-40B4-BE49-F238E27FC236}">
                <a16:creationId xmlns:a16="http://schemas.microsoft.com/office/drawing/2014/main" id="{0E3593D0-305D-C506-D80C-A1EB6AED4CD8}"/>
              </a:ext>
            </a:extLst>
          </p:cNvPr>
          <p:cNvSpPr>
            <a:spLocks noGrp="1"/>
          </p:cNvSpPr>
          <p:nvPr>
            <p:ph idx="1"/>
          </p:nvPr>
        </p:nvSpPr>
        <p:spPr>
          <a:xfrm>
            <a:off x="696000" y="1080000"/>
            <a:ext cx="10800000" cy="5112000"/>
          </a:xfrm>
        </p:spPr>
        <p:txBody>
          <a:bodyPr/>
          <a:lstStyle/>
          <a:p>
            <a:r>
              <a:rPr lang="zh-CN" altLang="en-US"/>
              <a:t>功能性 </a:t>
            </a:r>
            <a:r>
              <a:rPr lang="en-US" altLang="zh-CN"/>
              <a:t>Functionality</a:t>
            </a:r>
            <a:endParaRPr lang="zh-CN" altLang="en-US"/>
          </a:p>
          <a:p>
            <a:r>
              <a:rPr lang="zh-CN" altLang="en-US"/>
              <a:t>可靠性 </a:t>
            </a:r>
            <a:r>
              <a:rPr lang="en-US" altLang="zh-CN"/>
              <a:t>Reliability</a:t>
            </a:r>
            <a:endParaRPr lang="zh-CN" altLang="en-US"/>
          </a:p>
          <a:p>
            <a:r>
              <a:rPr lang="zh-CN" altLang="en-US"/>
              <a:t>易用性 </a:t>
            </a:r>
            <a:r>
              <a:rPr lang="en-US" altLang="zh-CN"/>
              <a:t>Usability</a:t>
            </a:r>
            <a:endParaRPr lang="zh-CN" altLang="en-US"/>
          </a:p>
          <a:p>
            <a:r>
              <a:rPr lang="zh-CN" altLang="en-US"/>
              <a:t>效率 </a:t>
            </a:r>
            <a:r>
              <a:rPr lang="en-US" altLang="zh-CN"/>
              <a:t>Efficiency</a:t>
            </a:r>
            <a:endParaRPr lang="zh-CN" altLang="en-US"/>
          </a:p>
          <a:p>
            <a:r>
              <a:rPr lang="zh-CN" altLang="en-US"/>
              <a:t>可维护性 </a:t>
            </a:r>
            <a:r>
              <a:rPr lang="en-US" altLang="zh-CN"/>
              <a:t>Maintainability</a:t>
            </a:r>
            <a:endParaRPr lang="zh-CN" altLang="en-US"/>
          </a:p>
          <a:p>
            <a:r>
              <a:rPr lang="zh-CN" altLang="en-US"/>
              <a:t>可移植性 </a:t>
            </a:r>
            <a:r>
              <a:rPr lang="en-US" altLang="zh-CN"/>
              <a:t>Portability</a:t>
            </a:r>
            <a:endParaRPr lang="zh-CN" altLang="en-US"/>
          </a:p>
        </p:txBody>
      </p:sp>
      <p:sp>
        <p:nvSpPr>
          <p:cNvPr id="10" name="文本占位符 9">
            <a:extLst>
              <a:ext uri="{FF2B5EF4-FFF2-40B4-BE49-F238E27FC236}">
                <a16:creationId xmlns:a16="http://schemas.microsoft.com/office/drawing/2014/main" id="{9A909E8D-F138-201C-0193-BCA9DE40743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210762475"/>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0CC68A-3F4E-DF9D-8922-610038F63895}"/>
              </a:ext>
            </a:extLst>
          </p:cNvPr>
          <p:cNvSpPr>
            <a:spLocks noGrp="1"/>
          </p:cNvSpPr>
          <p:nvPr>
            <p:ph type="title"/>
          </p:nvPr>
        </p:nvSpPr>
        <p:spPr>
          <a:xfrm>
            <a:off x="695998" y="360000"/>
            <a:ext cx="7200000" cy="424732"/>
          </a:xfrm>
        </p:spPr>
        <p:txBody>
          <a:bodyPr>
            <a:normAutofit/>
          </a:bodyPr>
          <a:lstStyle/>
          <a:p>
            <a:r>
              <a:rPr lang="zh-CN" altLang="en-US"/>
              <a:t>可靠性 </a:t>
            </a:r>
            <a:r>
              <a:rPr lang="en-US" altLang="zh-CN"/>
              <a:t>Reliability</a:t>
            </a:r>
            <a:endParaRPr lang="zh-CN" altLang="en-US"/>
          </a:p>
        </p:txBody>
      </p:sp>
      <p:sp>
        <p:nvSpPr>
          <p:cNvPr id="4" name="内容占位符 3">
            <a:extLst>
              <a:ext uri="{FF2B5EF4-FFF2-40B4-BE49-F238E27FC236}">
                <a16:creationId xmlns:a16="http://schemas.microsoft.com/office/drawing/2014/main" id="{15D425BB-BE61-88D7-F888-B9FBCDA56F57}"/>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8FD2B766-D72D-179F-D097-8633DCC89A52}"/>
              </a:ext>
            </a:extLst>
          </p:cNvPr>
          <p:cNvSpPr>
            <a:spLocks noGrp="1"/>
          </p:cNvSpPr>
          <p:nvPr>
            <p:ph type="body" sz="quarter" idx="10"/>
          </p:nvPr>
        </p:nvSpPr>
        <p:spPr/>
        <p:txBody>
          <a:bodyPr/>
          <a:lstStyle/>
          <a:p>
            <a:endParaRPr lang="zh-CN" altLang="en-US"/>
          </a:p>
        </p:txBody>
      </p:sp>
      <p:graphicFrame>
        <p:nvGraphicFramePr>
          <p:cNvPr id="14" name="内容占位符 4">
            <a:extLst>
              <a:ext uri="{FF2B5EF4-FFF2-40B4-BE49-F238E27FC236}">
                <a16:creationId xmlns:a16="http://schemas.microsoft.com/office/drawing/2014/main" id="{977E511B-24F5-9EF1-B10A-AE2CDB911291}"/>
              </a:ext>
            </a:extLst>
          </p:cNvPr>
          <p:cNvGraphicFramePr>
            <a:graphicFrameLocks/>
          </p:cNvGraphicFramePr>
          <p:nvPr>
            <p:extLst>
              <p:ext uri="{D42A27DB-BD31-4B8C-83A1-F6EECF244321}">
                <p14:modId xmlns:p14="http://schemas.microsoft.com/office/powerpoint/2010/main" val="1731369967"/>
              </p:ext>
            </p:extLst>
          </p:nvPr>
        </p:nvGraphicFramePr>
        <p:xfrm>
          <a:off x="695997" y="2374900"/>
          <a:ext cx="10800677" cy="1463040"/>
        </p:xfrm>
        <a:graphic>
          <a:graphicData uri="http://schemas.openxmlformats.org/drawingml/2006/table">
            <a:tbl>
              <a:tblPr/>
              <a:tblGrid>
                <a:gridCol w="4009775">
                  <a:extLst>
                    <a:ext uri="{9D8B030D-6E8A-4147-A177-3AD203B41FA5}">
                      <a16:colId xmlns:a16="http://schemas.microsoft.com/office/drawing/2014/main" val="792915361"/>
                    </a:ext>
                  </a:extLst>
                </a:gridCol>
                <a:gridCol w="6790902">
                  <a:extLst>
                    <a:ext uri="{9D8B030D-6E8A-4147-A177-3AD203B41FA5}">
                      <a16:colId xmlns:a16="http://schemas.microsoft.com/office/drawing/2014/main" val="2607753553"/>
                    </a:ext>
                  </a:extLst>
                </a:gridCol>
              </a:tblGrid>
              <a:tr h="0">
                <a:tc>
                  <a:txBody>
                    <a:bodyPr/>
                    <a:lstStyle/>
                    <a:p>
                      <a:pPr>
                        <a:buNone/>
                      </a:pPr>
                      <a:r>
                        <a:rPr lang="zh-CN" altLang="en-US">
                          <a:solidFill>
                            <a:schemeClr val="bg1"/>
                          </a:solidFill>
                        </a:rPr>
                        <a:t>子特性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71778928"/>
                  </a:ext>
                </a:extLst>
              </a:tr>
              <a:tr h="0">
                <a:tc>
                  <a:txBody>
                    <a:bodyPr/>
                    <a:lstStyle/>
                    <a:p>
                      <a:pPr>
                        <a:buNone/>
                      </a:pPr>
                      <a:r>
                        <a:rPr lang="zh-CN" altLang="en-US">
                          <a:solidFill>
                            <a:schemeClr val="bg1"/>
                          </a:solidFill>
                        </a:rPr>
                        <a:t>成熟性 </a:t>
                      </a:r>
                      <a:r>
                        <a:rPr lang="en-US">
                          <a:solidFill>
                            <a:schemeClr val="bg1"/>
                          </a:solidFill>
                        </a:rPr>
                        <a:t>Maturity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软件避免由于错误而导致失效的能力。即软件运行稳定，不崩溃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72620879"/>
                  </a:ext>
                </a:extLst>
              </a:tr>
              <a:tr h="0">
                <a:tc>
                  <a:txBody>
                    <a:bodyPr/>
                    <a:lstStyle/>
                    <a:p>
                      <a:pPr>
                        <a:buNone/>
                      </a:pPr>
                      <a:r>
                        <a:rPr lang="zh-CN" altLang="en-US">
                          <a:solidFill>
                            <a:schemeClr val="bg1"/>
                          </a:solidFill>
                        </a:rPr>
                        <a:t>容错性 </a:t>
                      </a:r>
                      <a:r>
                        <a:rPr lang="en-US">
                          <a:solidFill>
                            <a:schemeClr val="bg1"/>
                          </a:solidFill>
                        </a:rPr>
                        <a:t>Fault Tolerance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软件在发生故障时，仍能保持功能或自动恢复的能力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110707642"/>
                  </a:ext>
                </a:extLst>
              </a:tr>
              <a:tr h="0">
                <a:tc>
                  <a:txBody>
                    <a:bodyPr/>
                    <a:lstStyle/>
                    <a:p>
                      <a:pPr>
                        <a:buNone/>
                      </a:pPr>
                      <a:r>
                        <a:rPr lang="en-US" err="1">
                          <a:solidFill>
                            <a:schemeClr val="bg1"/>
                          </a:solidFill>
                        </a:rPr>
                        <a:t>易恢复性</a:t>
                      </a:r>
                      <a:r>
                        <a:rPr lang="en-US">
                          <a:solidFill>
                            <a:schemeClr val="bg1"/>
                          </a:solidFill>
                        </a:rPr>
                        <a:t> Recoverability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软件在发生故障后，能够快速恢复到正常状态的能力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79794354"/>
                  </a:ext>
                </a:extLst>
              </a:tr>
            </a:tbl>
          </a:graphicData>
        </a:graphic>
      </p:graphicFrame>
    </p:spTree>
    <p:extLst>
      <p:ext uri="{BB962C8B-B14F-4D97-AF65-F5344CB8AC3E}">
        <p14:creationId xmlns:p14="http://schemas.microsoft.com/office/powerpoint/2010/main" val="1929041919"/>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p:txBody>
          <a:bodyPr/>
          <a:lstStyle/>
          <a:p>
            <a:r>
              <a:rPr lang="zh-CN" altLang="en-US"/>
              <a:t>在</a:t>
            </a:r>
            <a:r>
              <a:rPr lang="en-US" altLang="zh-CN"/>
              <a:t>ISO/IEC 9126</a:t>
            </a:r>
            <a:r>
              <a:rPr lang="zh-CN" altLang="en-US"/>
              <a:t>软件质量模型中，可靠性质量特性是指在规定的一段时间内和规定的条件下，软件维持在其性能水平有关的能力，其质量子特性不包括（ ）。</a:t>
            </a:r>
          </a:p>
          <a:p>
            <a:endParaRPr lang="zh-CN" altLang="en-US"/>
          </a:p>
          <a:p>
            <a:r>
              <a:rPr lang="en-US" altLang="zh-CN"/>
              <a:t>A. </a:t>
            </a:r>
            <a:r>
              <a:rPr lang="zh-CN" altLang="en-US"/>
              <a:t>安全性</a:t>
            </a:r>
          </a:p>
          <a:p>
            <a:r>
              <a:rPr lang="en-US" altLang="zh-CN"/>
              <a:t>B. </a:t>
            </a:r>
            <a:r>
              <a:rPr lang="zh-CN" altLang="en-US"/>
              <a:t>成熟性</a:t>
            </a:r>
          </a:p>
          <a:p>
            <a:r>
              <a:rPr lang="en-US" altLang="zh-CN"/>
              <a:t>C. </a:t>
            </a:r>
            <a:r>
              <a:rPr lang="zh-CN" altLang="en-US"/>
              <a:t>容错性</a:t>
            </a:r>
          </a:p>
          <a:p>
            <a:r>
              <a:rPr lang="en-US" altLang="zh-CN"/>
              <a:t>D. </a:t>
            </a:r>
            <a:r>
              <a:rPr lang="zh-CN" altLang="en-US"/>
              <a:t>易恢复性</a:t>
            </a:r>
          </a:p>
        </p:txBody>
      </p:sp>
    </p:spTree>
    <p:extLst>
      <p:ext uri="{BB962C8B-B14F-4D97-AF65-F5344CB8AC3E}">
        <p14:creationId xmlns:p14="http://schemas.microsoft.com/office/powerpoint/2010/main" val="121876382"/>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4AB8AAEB-B6CB-1AF3-ACF3-E1DF24E9DA32}"/>
              </a:ext>
            </a:extLst>
          </p:cNvPr>
          <p:cNvSpPr>
            <a:spLocks noGrp="1"/>
          </p:cNvSpPr>
          <p:nvPr>
            <p:ph type="title"/>
          </p:nvPr>
        </p:nvSpPr>
        <p:spPr>
          <a:xfrm>
            <a:off x="695998" y="360000"/>
            <a:ext cx="7200000" cy="424732"/>
          </a:xfrm>
        </p:spPr>
        <p:txBody>
          <a:bodyPr>
            <a:normAutofit/>
          </a:bodyPr>
          <a:lstStyle/>
          <a:p>
            <a:r>
              <a:rPr lang="zh-CN" altLang="en-US"/>
              <a:t>质量管理</a:t>
            </a:r>
          </a:p>
        </p:txBody>
      </p:sp>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1"/>
            <p:extLst>
              <p:ext uri="{D42A27DB-BD31-4B8C-83A1-F6EECF244321}">
                <p14:modId xmlns:p14="http://schemas.microsoft.com/office/powerpoint/2010/main" val="493987538"/>
              </p:ext>
            </p:extLst>
          </p:nvPr>
        </p:nvGraphicFramePr>
        <p:xfrm>
          <a:off x="695325" y="1079500"/>
          <a:ext cx="10801350" cy="1828800"/>
        </p:xfrm>
        <a:graphic>
          <a:graphicData uri="http://schemas.openxmlformats.org/drawingml/2006/table">
            <a:tbl>
              <a:tblPr/>
              <a:tblGrid>
                <a:gridCol w="4305300">
                  <a:extLst>
                    <a:ext uri="{9D8B030D-6E8A-4147-A177-3AD203B41FA5}">
                      <a16:colId xmlns:a16="http://schemas.microsoft.com/office/drawing/2014/main" val="142830297"/>
                    </a:ext>
                  </a:extLst>
                </a:gridCol>
                <a:gridCol w="6496050">
                  <a:extLst>
                    <a:ext uri="{9D8B030D-6E8A-4147-A177-3AD203B41FA5}">
                      <a16:colId xmlns:a16="http://schemas.microsoft.com/office/drawing/2014/main" val="3981675338"/>
                    </a:ext>
                  </a:extLst>
                </a:gridCol>
              </a:tblGrid>
              <a:tr h="0">
                <a:tc>
                  <a:txBody>
                    <a:bodyPr/>
                    <a:lstStyle/>
                    <a:p>
                      <a:pPr>
                        <a:buNone/>
                      </a:pPr>
                      <a:r>
                        <a:rPr lang="zh-CN" altLang="en-US">
                          <a:solidFill>
                            <a:schemeClr val="bg1"/>
                          </a:solidFill>
                        </a:rPr>
                        <a:t>核心过程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09838467"/>
                  </a:ext>
                </a:extLst>
              </a:tr>
              <a:tr h="0">
                <a:tc>
                  <a:txBody>
                    <a:bodyPr/>
                    <a:lstStyle/>
                    <a:p>
                      <a:pPr>
                        <a:buNone/>
                      </a:pPr>
                      <a:r>
                        <a:rPr lang="zh-CN" altLang="en-US">
                          <a:solidFill>
                            <a:schemeClr val="bg1"/>
                          </a:solidFill>
                        </a:rPr>
                        <a:t>质量规划 </a:t>
                      </a:r>
                      <a:r>
                        <a:rPr lang="en-US">
                          <a:solidFill>
                            <a:schemeClr val="bg1"/>
                          </a:solidFill>
                        </a:rPr>
                        <a:t>Quality Planning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确定项目质量标准，制定如何满足这些标准的策略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1995517"/>
                  </a:ext>
                </a:extLst>
              </a:tr>
              <a:tr h="0">
                <a:tc>
                  <a:txBody>
                    <a:bodyPr/>
                    <a:lstStyle/>
                    <a:p>
                      <a:pPr>
                        <a:buNone/>
                      </a:pPr>
                      <a:r>
                        <a:rPr lang="zh-CN" altLang="en-US">
                          <a:solidFill>
                            <a:schemeClr val="bg1"/>
                          </a:solidFill>
                        </a:rPr>
                        <a:t>质量保证 </a:t>
                      </a:r>
                      <a:r>
                        <a:rPr lang="en-US">
                          <a:solidFill>
                            <a:schemeClr val="bg1"/>
                          </a:solidFill>
                        </a:rPr>
                        <a:t>Quality Assurance, QA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通过审计、流程改进等手段确保质量体系有效运行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20162338"/>
                  </a:ext>
                </a:extLst>
              </a:tr>
              <a:tr h="0">
                <a:tc>
                  <a:txBody>
                    <a:bodyPr/>
                    <a:lstStyle/>
                    <a:p>
                      <a:pPr>
                        <a:buNone/>
                      </a:pPr>
                      <a:r>
                        <a:rPr lang="zh-CN" altLang="en-US">
                          <a:solidFill>
                            <a:schemeClr val="bg1"/>
                          </a:solidFill>
                        </a:rPr>
                        <a:t>质量控制 </a:t>
                      </a:r>
                      <a:r>
                        <a:rPr lang="en-US">
                          <a:solidFill>
                            <a:schemeClr val="bg1"/>
                          </a:solidFill>
                        </a:rPr>
                        <a:t>Quality Control, QC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监控具体成果是否符合质量标准，识别缺陷并纠正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528719874"/>
                  </a:ext>
                </a:extLst>
              </a:tr>
              <a:tr h="0">
                <a:tc>
                  <a:txBody>
                    <a:bodyPr/>
                    <a:lstStyle/>
                    <a:p>
                      <a:pPr>
                        <a:buNone/>
                      </a:pPr>
                      <a:r>
                        <a:rPr lang="zh-CN" altLang="en-US">
                          <a:solidFill>
                            <a:schemeClr val="bg1"/>
                          </a:solidFill>
                        </a:rPr>
                        <a:t>质量改进 </a:t>
                      </a:r>
                      <a:r>
                        <a:rPr lang="en-US">
                          <a:solidFill>
                            <a:schemeClr val="bg1"/>
                          </a:solidFill>
                        </a:rPr>
                        <a:t>Quality Improvement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持续优化流程，提高效率和质量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07807469"/>
                  </a:ext>
                </a:extLst>
              </a:tr>
            </a:tbl>
          </a:graphicData>
        </a:graphic>
      </p:graphicFrame>
      <p:sp>
        <p:nvSpPr>
          <p:cNvPr id="9" name="文本占位符 8">
            <a:extLst>
              <a:ext uri="{FF2B5EF4-FFF2-40B4-BE49-F238E27FC236}">
                <a16:creationId xmlns:a16="http://schemas.microsoft.com/office/drawing/2014/main" id="{879250EA-AF5E-4284-7016-6B81272A2B2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759774522"/>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p:txBody>
          <a:bodyPr/>
          <a:lstStyle/>
          <a:p>
            <a:r>
              <a:rPr lang="zh-CN" altLang="en-US"/>
              <a:t>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p:txBody>
          <a:bodyPr/>
          <a:lstStyle/>
          <a:p>
            <a:r>
              <a:rPr lang="zh-CN" altLang="en-US"/>
              <a:t>流</a:t>
            </a:r>
            <a:endParaRPr lang="en-US" altLang="zh-CN"/>
          </a:p>
          <a:p>
            <a:r>
              <a:rPr lang="zh-CN" altLang="en-US"/>
              <a:t>因果图</a:t>
            </a:r>
            <a:endParaRPr lang="en-US" altLang="zh-CN"/>
          </a:p>
          <a:p>
            <a:r>
              <a:rPr lang="zh-CN" altLang="en-US"/>
              <a:t>直方图 </a:t>
            </a:r>
            <a:r>
              <a:rPr lang="en-US" altLang="zh-CN"/>
              <a:t>Histogram</a:t>
            </a:r>
          </a:p>
          <a:p>
            <a:pPr lvl="1"/>
            <a:r>
              <a:rPr lang="zh-CN" altLang="en-US"/>
              <a:t>数据在不同数值区间内出现的频率或次数</a:t>
            </a:r>
            <a:endParaRPr lang="en-US" altLang="zh-CN"/>
          </a:p>
          <a:p>
            <a:r>
              <a:rPr lang="zh-CN" altLang="en-US"/>
              <a:t>散点图</a:t>
            </a:r>
            <a:endParaRPr lang="en-US" altLang="zh-CN"/>
          </a:p>
          <a:p>
            <a:r>
              <a:rPr lang="zh-CN" altLang="en-US"/>
              <a:t>帕累托定律 </a:t>
            </a:r>
            <a:r>
              <a:rPr lang="en-US" altLang="zh-CN"/>
              <a:t>Pareto Principle</a:t>
            </a:r>
          </a:p>
          <a:p>
            <a:pPr lvl="1"/>
            <a:r>
              <a:rPr lang="zh-CN" altLang="en-US"/>
              <a:t>又称 </a:t>
            </a:r>
            <a:r>
              <a:rPr lang="en-US" altLang="zh-CN"/>
              <a:t>80/20 </a:t>
            </a:r>
            <a:r>
              <a:rPr lang="zh-CN" altLang="en-US"/>
              <a:t>法则：大约</a:t>
            </a:r>
            <a:r>
              <a:rPr lang="en-US" altLang="zh-CN"/>
              <a:t>80%</a:t>
            </a:r>
            <a:r>
              <a:rPr lang="zh-CN" altLang="en-US"/>
              <a:t>的结果来自</a:t>
            </a:r>
            <a:r>
              <a:rPr lang="en-US" altLang="zh-CN"/>
              <a:t>20%</a:t>
            </a:r>
            <a:r>
              <a:rPr lang="zh-CN" altLang="en-US"/>
              <a:t>的原因</a:t>
            </a:r>
            <a:endParaRPr lang="en-US" altLang="zh-CN"/>
          </a:p>
          <a:p>
            <a:r>
              <a:rPr lang="zh-CN" altLang="en-US"/>
              <a:t>控制图</a:t>
            </a:r>
            <a:endParaRPr lang="en-US" altLang="zh-CN"/>
          </a:p>
          <a:p>
            <a:r>
              <a:rPr lang="zh-CN" altLang="en-US"/>
              <a:t>核查表</a:t>
            </a:r>
          </a:p>
        </p:txBody>
      </p:sp>
      <p:sp>
        <p:nvSpPr>
          <p:cNvPr id="4" name="文本占位符 3">
            <a:extLst>
              <a:ext uri="{FF2B5EF4-FFF2-40B4-BE49-F238E27FC236}">
                <a16:creationId xmlns:a16="http://schemas.microsoft.com/office/drawing/2014/main" id="{5DB5BE0A-7FDD-822B-0C09-7802F011FE0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2464886" y="4681056"/>
            <a:ext cx="7262228" cy="798491"/>
          </a:xfrm>
        </p:spPr>
        <p:txBody>
          <a:bodyPr/>
          <a:lstStyle/>
          <a:p>
            <a:r>
              <a:rPr lang="zh-CN" altLang="en-US"/>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2464886" y="5479548"/>
            <a:ext cx="7262228" cy="458180"/>
          </a:xfrm>
        </p:spPr>
        <p:txBody>
          <a:bodyPr/>
          <a:lstStyle/>
          <a:p>
            <a:r>
              <a:rPr lang="en-US" altLang="zh-CN"/>
              <a:t>Section 7 Project Configuration</a:t>
            </a:r>
            <a:endParaRPr lang="zh-CN" altLang="en-US"/>
          </a:p>
        </p:txBody>
      </p:sp>
      <p:sp>
        <p:nvSpPr>
          <p:cNvPr id="6" name="文本占位符 5">
            <a:extLst>
              <a:ext uri="{FF2B5EF4-FFF2-40B4-BE49-F238E27FC236}">
                <a16:creationId xmlns:a16="http://schemas.microsoft.com/office/drawing/2014/main" id="{1DE04944-71A7-92B2-C09A-4F7CB6B7C85C}"/>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2693216358"/>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3C82A956-0FE1-5CA5-F571-84D3884785F8}"/>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B9358539-81F8-4C9A-E28A-3A28E528ABDA}"/>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6670D308-0362-72AC-4152-477051848155}"/>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08AF3108-2B1C-7009-2199-D14D158373E3}"/>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19" name="矩形 18">
            <a:extLst>
              <a:ext uri="{FF2B5EF4-FFF2-40B4-BE49-F238E27FC236}">
                <a16:creationId xmlns:a16="http://schemas.microsoft.com/office/drawing/2014/main" id="{9564206F-2156-118B-6CEA-062B1B568826}"/>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20" name="矩形 19">
            <a:extLst>
              <a:ext uri="{FF2B5EF4-FFF2-40B4-BE49-F238E27FC236}">
                <a16:creationId xmlns:a16="http://schemas.microsoft.com/office/drawing/2014/main" id="{F0A09BC4-313C-339F-AD6D-36A1240C003A}"/>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21" name="矩形 20">
            <a:extLst>
              <a:ext uri="{FF2B5EF4-FFF2-40B4-BE49-F238E27FC236}">
                <a16:creationId xmlns:a16="http://schemas.microsoft.com/office/drawing/2014/main" id="{7752F12B-AC09-CD6E-FA34-37DA866567FE}"/>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22" name="矩形 21">
            <a:extLst>
              <a:ext uri="{FF2B5EF4-FFF2-40B4-BE49-F238E27FC236}">
                <a16:creationId xmlns:a16="http://schemas.microsoft.com/office/drawing/2014/main" id="{9DA964F9-65E1-9203-F57A-BC00B5DC71C4}"/>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23" name="矩形 22">
            <a:extLst>
              <a:ext uri="{FF2B5EF4-FFF2-40B4-BE49-F238E27FC236}">
                <a16:creationId xmlns:a16="http://schemas.microsoft.com/office/drawing/2014/main" id="{3A6D4966-E5F7-9F1C-8234-A4C3E5A924B9}"/>
              </a:ext>
            </a:extLst>
          </p:cNvPr>
          <p:cNvSpPr/>
          <p:nvPr/>
        </p:nvSpPr>
        <p:spPr>
          <a:xfrm>
            <a:off x="6227902"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24" name="矩形 23">
            <a:extLst>
              <a:ext uri="{FF2B5EF4-FFF2-40B4-BE49-F238E27FC236}">
                <a16:creationId xmlns:a16="http://schemas.microsoft.com/office/drawing/2014/main" id="{49A29938-5D81-070A-D626-5C3BB1E043F3}"/>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25" name="矩形 24">
            <a:extLst>
              <a:ext uri="{FF2B5EF4-FFF2-40B4-BE49-F238E27FC236}">
                <a16:creationId xmlns:a16="http://schemas.microsoft.com/office/drawing/2014/main" id="{7D22C80D-2DC5-4CEF-46AD-9D305C1DDA94}"/>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26" name="矩形 25">
            <a:extLst>
              <a:ext uri="{FF2B5EF4-FFF2-40B4-BE49-F238E27FC236}">
                <a16:creationId xmlns:a16="http://schemas.microsoft.com/office/drawing/2014/main" id="{477F11F4-9262-B192-3F15-F75650FB2091}"/>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28" name="梯形 27">
            <a:extLst>
              <a:ext uri="{FF2B5EF4-FFF2-40B4-BE49-F238E27FC236}">
                <a16:creationId xmlns:a16="http://schemas.microsoft.com/office/drawing/2014/main" id="{045F67B4-AF9B-69C3-918E-768F5D7CF29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79613142"/>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DB148A0-47E8-D286-69D9-6B147FCCD6FB}"/>
              </a:ext>
            </a:extLst>
          </p:cNvPr>
          <p:cNvSpPr>
            <a:spLocks noGrp="1"/>
          </p:cNvSpPr>
          <p:nvPr>
            <p:ph type="body" sz="quarter" idx="10"/>
          </p:nvPr>
        </p:nvSpPr>
        <p:spPr>
          <a:xfrm>
            <a:off x="3219345" y="1629000"/>
            <a:ext cx="8640000" cy="3600000"/>
          </a:xfrm>
        </p:spPr>
        <p:txBody>
          <a:bodyPr/>
          <a:lstStyle/>
          <a:p>
            <a:r>
              <a:rPr lang="zh-CN" altLang="en-US"/>
              <a:t>小张是软件研发和项目经理，负责的某项目已进入实施阶段，此时用户提出要增加一项新的功能，小张应该（ ）</a:t>
            </a:r>
            <a:endParaRPr lang="en-US" altLang="zh-CN"/>
          </a:p>
          <a:p>
            <a:endParaRPr lang="zh-CN" altLang="en-US"/>
          </a:p>
          <a:p>
            <a:r>
              <a:rPr lang="en-US" altLang="zh-CN"/>
              <a:t>A</a:t>
            </a:r>
            <a:r>
              <a:rPr lang="zh-CN" altLang="en-US"/>
              <a:t>、拒绝该变更</a:t>
            </a:r>
          </a:p>
          <a:p>
            <a:r>
              <a:rPr lang="en-US" altLang="zh-CN"/>
              <a:t>B</a:t>
            </a:r>
            <a:r>
              <a:rPr lang="zh-CN" altLang="en-US"/>
              <a:t>、通过变更控制流程进行处理</a:t>
            </a:r>
          </a:p>
          <a:p>
            <a:r>
              <a:rPr lang="en-US" altLang="zh-CN"/>
              <a:t>C</a:t>
            </a:r>
            <a:r>
              <a:rPr lang="zh-CN" altLang="en-US"/>
              <a:t>、立即实现该变更</a:t>
            </a:r>
          </a:p>
          <a:p>
            <a:r>
              <a:rPr lang="en-US" altLang="zh-CN"/>
              <a:t>D</a:t>
            </a:r>
            <a:r>
              <a:rPr lang="zh-CN" altLang="en-US"/>
              <a:t>、要求客户应先去与公司领导协商</a:t>
            </a:r>
          </a:p>
        </p:txBody>
      </p:sp>
    </p:spTree>
    <p:extLst>
      <p:ext uri="{BB962C8B-B14F-4D97-AF65-F5344CB8AC3E}">
        <p14:creationId xmlns:p14="http://schemas.microsoft.com/office/powerpoint/2010/main" val="2242210256"/>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6E1B7D6-E970-C5F8-2BD2-D6797AACE99B}"/>
              </a:ext>
            </a:extLst>
          </p:cNvPr>
          <p:cNvSpPr>
            <a:spLocks noGrp="1"/>
          </p:cNvSpPr>
          <p:nvPr>
            <p:ph type="body" sz="quarter" idx="10"/>
          </p:nvPr>
        </p:nvSpPr>
        <p:spPr>
          <a:xfrm>
            <a:off x="3219345" y="1629000"/>
            <a:ext cx="8640000" cy="3600000"/>
          </a:xfrm>
        </p:spPr>
        <p:txBody>
          <a:bodyPr/>
          <a:lstStyle/>
          <a:p>
            <a:r>
              <a:rPr lang="zh-CN" altLang="en-US"/>
              <a:t>项目整体变更控制管理的流程是：变更请求 →（ ）</a:t>
            </a:r>
            <a:endParaRPr lang="en-US" altLang="zh-CN"/>
          </a:p>
          <a:p>
            <a:endParaRPr lang="zh-CN" altLang="en-US"/>
          </a:p>
          <a:p>
            <a:r>
              <a:rPr lang="en-US" altLang="zh-CN"/>
              <a:t>A</a:t>
            </a:r>
            <a:r>
              <a:rPr lang="zh-CN" altLang="en-US"/>
              <a:t>、同意或否决变更 → 变更影响评估 → 执行</a:t>
            </a:r>
          </a:p>
          <a:p>
            <a:r>
              <a:rPr lang="en-US" altLang="zh-CN"/>
              <a:t>B</a:t>
            </a:r>
            <a:r>
              <a:rPr lang="zh-CN" altLang="en-US"/>
              <a:t>、执行变更 → 变更影响评估 → 同意或否决变更</a:t>
            </a:r>
          </a:p>
          <a:p>
            <a:r>
              <a:rPr lang="en-US" altLang="zh-CN"/>
              <a:t>C</a:t>
            </a:r>
            <a:r>
              <a:rPr lang="zh-CN" altLang="en-US"/>
              <a:t>、变更影响评估 → 同意或否决变更 → 执行</a:t>
            </a:r>
          </a:p>
          <a:p>
            <a:r>
              <a:rPr lang="en-US" altLang="zh-CN"/>
              <a:t>D</a:t>
            </a:r>
            <a:r>
              <a:rPr lang="zh-CN" altLang="en-US"/>
              <a:t>、同意或否决变更 → 执行 → 变更影响评估</a:t>
            </a:r>
          </a:p>
        </p:txBody>
      </p:sp>
    </p:spTree>
    <p:extLst>
      <p:ext uri="{BB962C8B-B14F-4D97-AF65-F5344CB8AC3E}">
        <p14:creationId xmlns:p14="http://schemas.microsoft.com/office/powerpoint/2010/main" val="4211139758"/>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a:xfrm>
            <a:off x="695998" y="360000"/>
            <a:ext cx="6375921" cy="429413"/>
          </a:xfrm>
        </p:spPr>
        <p:txBody>
          <a:bodyPr/>
          <a:lstStyle/>
          <a:p>
            <a:r>
              <a:rPr lang="zh-CN" altLang="en-US"/>
              <a:t>软件配置管理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864000"/>
            <a:ext cx="10800000" cy="5400000"/>
          </a:xfrm>
        </p:spPr>
        <p:txBody>
          <a:bodyPr/>
          <a:lstStyle/>
          <a:p>
            <a:r>
              <a:rPr lang="en-US" altLang="zh-CN"/>
              <a:t>Software Configuration Management</a:t>
            </a:r>
          </a:p>
          <a:p>
            <a:r>
              <a:rPr lang="zh-CN" altLang="en-US"/>
              <a:t>是项目管理、系统工程和软件工程中的一个关键过程</a:t>
            </a:r>
            <a:endParaRPr lang="en-US" altLang="zh-CN"/>
          </a:p>
          <a:p>
            <a:r>
              <a:rPr lang="zh-CN" altLang="en-US"/>
              <a:t>旨在系统化地识别、控制、记录和审计产品、服务或系统在其生命周期内的功能特性和物理特性，以确保其性能、功能和实体属性与需求、设计和操作信息保持一致</a:t>
            </a:r>
            <a:endParaRPr lang="en-US" altLang="zh-CN"/>
          </a:p>
          <a:p>
            <a:pPr lvl="1"/>
            <a:r>
              <a:rPr lang="zh-CN" altLang="en-US"/>
              <a:t>确保产品完整性、可追溯性、一致性和可控性</a:t>
            </a:r>
            <a:endParaRPr lang="en-US" altLang="zh-CN"/>
          </a:p>
          <a:p>
            <a:pPr lvl="1"/>
            <a:r>
              <a:rPr lang="zh-CN" altLang="en-US"/>
              <a:t>也称变更管理</a:t>
            </a:r>
            <a:endParaRPr lang="en-US" altLang="zh-CN"/>
          </a:p>
          <a:p>
            <a:r>
              <a:rPr lang="zh-CN" altLang="en-US"/>
              <a:t>目标：</a:t>
            </a:r>
            <a:endParaRPr lang="en-US" altLang="zh-CN"/>
          </a:p>
          <a:p>
            <a:pPr lvl="1"/>
            <a:r>
              <a:rPr lang="zh-CN" altLang="en-US"/>
              <a:t>保证所有交付物版本可控</a:t>
            </a:r>
          </a:p>
          <a:p>
            <a:pPr lvl="1"/>
            <a:r>
              <a:rPr lang="zh-CN" altLang="en-US"/>
              <a:t>支持并行开发协作</a:t>
            </a:r>
          </a:p>
          <a:p>
            <a:pPr lvl="1"/>
            <a:r>
              <a:rPr lang="zh-CN" altLang="en-US"/>
              <a:t>快速定位问题根源</a:t>
            </a:r>
          </a:p>
          <a:p>
            <a:pPr lvl="1"/>
            <a:r>
              <a:rPr lang="zh-CN" altLang="en-US"/>
              <a:t>满足审计与合规要求</a:t>
            </a:r>
          </a:p>
          <a:p>
            <a:endParaRPr lang="zh-CN" altLang="en-US"/>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a:xfrm>
            <a:off x="7071919" y="448519"/>
            <a:ext cx="4424080" cy="338554"/>
          </a:xfrm>
        </p:spPr>
        <p:txBody>
          <a:bodyPr/>
          <a:lstStyle/>
          <a:p>
            <a:r>
              <a:rPr lang="en-US" altLang="zh-CN"/>
              <a:t>SCM</a:t>
            </a:r>
            <a:endParaRPr lang="zh-CN" altLang="en-US"/>
          </a:p>
        </p:txBody>
      </p:sp>
    </p:spTree>
    <p:extLst>
      <p:ext uri="{BB962C8B-B14F-4D97-AF65-F5344CB8AC3E}">
        <p14:creationId xmlns:p14="http://schemas.microsoft.com/office/powerpoint/2010/main" val="4062935932"/>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57E7C-CFA2-440F-AEC7-E3AAB9B663A7}"/>
              </a:ext>
            </a:extLst>
          </p:cNvPr>
          <p:cNvSpPr>
            <a:spLocks noGrp="1"/>
          </p:cNvSpPr>
          <p:nvPr>
            <p:ph type="title"/>
          </p:nvPr>
        </p:nvSpPr>
        <p:spPr>
          <a:xfrm>
            <a:off x="695998" y="360000"/>
            <a:ext cx="6375921" cy="429413"/>
          </a:xfrm>
        </p:spPr>
        <p:txBody>
          <a:bodyPr/>
          <a:lstStyle/>
          <a:p>
            <a:r>
              <a:rPr lang="zh-CN" altLang="en-US"/>
              <a:t>原因</a:t>
            </a:r>
          </a:p>
        </p:txBody>
      </p:sp>
      <p:sp>
        <p:nvSpPr>
          <p:cNvPr id="3" name="内容占位符 2">
            <a:extLst>
              <a:ext uri="{FF2B5EF4-FFF2-40B4-BE49-F238E27FC236}">
                <a16:creationId xmlns:a16="http://schemas.microsoft.com/office/drawing/2014/main" id="{93721C6B-6BC4-3133-BAEC-53FA9E957BFE}"/>
              </a:ext>
            </a:extLst>
          </p:cNvPr>
          <p:cNvSpPr>
            <a:spLocks noGrp="1"/>
          </p:cNvSpPr>
          <p:nvPr>
            <p:ph idx="1"/>
          </p:nvPr>
        </p:nvSpPr>
        <p:spPr>
          <a:xfrm>
            <a:off x="696000" y="864000"/>
            <a:ext cx="10800000" cy="5400000"/>
          </a:xfrm>
        </p:spPr>
        <p:txBody>
          <a:bodyPr/>
          <a:lstStyle/>
          <a:p>
            <a:r>
              <a:rPr lang="zh-CN" altLang="en-US"/>
              <a:t>新的业务或市场</a:t>
            </a:r>
            <a:endParaRPr lang="en-US" altLang="zh-CN"/>
          </a:p>
          <a:p>
            <a:r>
              <a:rPr lang="zh-CN" altLang="en-US"/>
              <a:t>新的客户需求</a:t>
            </a:r>
            <a:endParaRPr lang="en-US" altLang="zh-CN"/>
          </a:p>
          <a:p>
            <a:r>
              <a:rPr lang="zh-CN" altLang="en-US"/>
              <a:t>企业改组或规模调整</a:t>
            </a:r>
            <a:endParaRPr lang="en-US" altLang="zh-CN"/>
          </a:p>
          <a:p>
            <a:r>
              <a:rPr lang="zh-CN" altLang="en-US"/>
              <a:t>预算或进度安排受限</a:t>
            </a:r>
          </a:p>
        </p:txBody>
      </p:sp>
      <p:sp>
        <p:nvSpPr>
          <p:cNvPr id="4" name="文本占位符 3">
            <a:extLst>
              <a:ext uri="{FF2B5EF4-FFF2-40B4-BE49-F238E27FC236}">
                <a16:creationId xmlns:a16="http://schemas.microsoft.com/office/drawing/2014/main" id="{EB2102E0-B29C-045F-8E91-010285AA3DC9}"/>
              </a:ext>
            </a:extLst>
          </p:cNvPr>
          <p:cNvSpPr>
            <a:spLocks noGrp="1"/>
          </p:cNvSpPr>
          <p:nvPr>
            <p:ph type="body" sz="quarter" idx="10"/>
          </p:nvPr>
        </p:nvSpPr>
        <p:spPr>
          <a:xfrm>
            <a:off x="7071919" y="448519"/>
            <a:ext cx="4424080" cy="338554"/>
          </a:xfrm>
        </p:spPr>
        <p:txBody>
          <a:bodyPr/>
          <a:lstStyle/>
          <a:p>
            <a:r>
              <a:rPr lang="en-US" altLang="zh-CN"/>
              <a:t>Reason</a:t>
            </a:r>
            <a:endParaRPr lang="zh-CN" altLang="en-US"/>
          </a:p>
        </p:txBody>
      </p:sp>
    </p:spTree>
    <p:extLst>
      <p:ext uri="{BB962C8B-B14F-4D97-AF65-F5344CB8AC3E}">
        <p14:creationId xmlns:p14="http://schemas.microsoft.com/office/powerpoint/2010/main" val="769967317"/>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6332AEE-C8DD-EDD2-3BC0-D96C3A71009C}"/>
              </a:ext>
            </a:extLst>
          </p:cNvPr>
          <p:cNvGraphicFramePr>
            <a:graphicFrameLocks noGrp="1"/>
          </p:cNvGraphicFramePr>
          <p:nvPr>
            <p:extLst>
              <p:ext uri="{D42A27DB-BD31-4B8C-83A1-F6EECF244321}">
                <p14:modId xmlns:p14="http://schemas.microsoft.com/office/powerpoint/2010/main" val="3129325332"/>
              </p:ext>
            </p:extLst>
          </p:nvPr>
        </p:nvGraphicFramePr>
        <p:xfrm>
          <a:off x="695325" y="2009457"/>
          <a:ext cx="10801350" cy="2316480"/>
        </p:xfrm>
        <a:graphic>
          <a:graphicData uri="http://schemas.openxmlformats.org/drawingml/2006/table">
            <a:tbl>
              <a:tblPr/>
              <a:tblGrid>
                <a:gridCol w="2962275">
                  <a:extLst>
                    <a:ext uri="{9D8B030D-6E8A-4147-A177-3AD203B41FA5}">
                      <a16:colId xmlns:a16="http://schemas.microsoft.com/office/drawing/2014/main" val="161237699"/>
                    </a:ext>
                  </a:extLst>
                </a:gridCol>
                <a:gridCol w="3746090">
                  <a:extLst>
                    <a:ext uri="{9D8B030D-6E8A-4147-A177-3AD203B41FA5}">
                      <a16:colId xmlns:a16="http://schemas.microsoft.com/office/drawing/2014/main" val="1070831843"/>
                    </a:ext>
                  </a:extLst>
                </a:gridCol>
                <a:gridCol w="4092985">
                  <a:extLst>
                    <a:ext uri="{9D8B030D-6E8A-4147-A177-3AD203B41FA5}">
                      <a16:colId xmlns:a16="http://schemas.microsoft.com/office/drawing/2014/main" val="2463009145"/>
                    </a:ext>
                  </a:extLst>
                </a:gridCol>
              </a:tblGrid>
              <a:tr h="0">
                <a:tc>
                  <a:txBody>
                    <a:bodyPr/>
                    <a:lstStyle/>
                    <a:p>
                      <a:pPr algn="l">
                        <a:buNone/>
                      </a:pPr>
                      <a:r>
                        <a:rPr lang="zh-CN" altLang="en-US" sz="1600">
                          <a:solidFill>
                            <a:schemeClr val="bg1"/>
                          </a:solidFill>
                        </a:rPr>
                        <a:t>特征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解释</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为什么重要？</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02073324"/>
                  </a:ext>
                </a:extLst>
              </a:tr>
              <a:tr h="0">
                <a:tc>
                  <a:txBody>
                    <a:bodyPr/>
                    <a:lstStyle/>
                    <a:p>
                      <a:pPr algn="l">
                        <a:buNone/>
                      </a:pPr>
                      <a:r>
                        <a:rPr lang="zh-CN" altLang="en-US" sz="1600">
                          <a:solidFill>
                            <a:schemeClr val="bg1"/>
                          </a:solidFill>
                        </a:rPr>
                        <a:t>稳定性 </a:t>
                      </a:r>
                      <a:r>
                        <a:rPr lang="en-US" sz="1600">
                          <a:solidFill>
                            <a:schemeClr val="bg1"/>
                          </a:solidFill>
                        </a:rPr>
                        <a:t>Stability</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chemeClr val="bg1"/>
                          </a:solidFill>
                        </a:rPr>
                        <a:t>基线一旦建立，内容在逻辑上是固定的，不会随随便便变动</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chemeClr val="bg1"/>
                          </a:solidFill>
                        </a:rPr>
                        <a:t>给开发和测试团队一个稳定的工作目标，避免“边做边改”导致的返工</a:t>
                      </a:r>
                    </a:p>
                  </a:txBody>
                  <a:tcPr anchor="ctr">
                    <a:lnL>
                      <a:noFill/>
                    </a:lnL>
                    <a:lnR>
                      <a:noFill/>
                    </a:lnR>
                    <a:lnT w="1270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909443335"/>
                  </a:ext>
                </a:extLst>
              </a:tr>
              <a:tr h="0">
                <a:tc>
                  <a:txBody>
                    <a:bodyPr/>
                    <a:lstStyle/>
                    <a:p>
                      <a:pPr algn="l">
                        <a:buNone/>
                      </a:pPr>
                      <a:r>
                        <a:rPr lang="zh-CN" altLang="en-US" sz="1600">
                          <a:solidFill>
                            <a:schemeClr val="bg1"/>
                          </a:solidFill>
                        </a:rPr>
                        <a:t>权威性 </a:t>
                      </a:r>
                      <a:r>
                        <a:rPr lang="en-US" altLang="zh-CN" sz="1600">
                          <a:solidFill>
                            <a:schemeClr val="bg1"/>
                          </a:solidFill>
                        </a:rPr>
                        <a:t>(</a:t>
                      </a:r>
                      <a:r>
                        <a:rPr lang="en-US" sz="1600">
                          <a:solidFill>
                            <a:schemeClr val="bg1"/>
                          </a:solidFill>
                        </a:rPr>
                        <a:t>Authority</a:t>
                      </a:r>
                    </a:p>
                  </a:txBody>
                  <a:tcPr anchor="ctr">
                    <a:lnL>
                      <a:noFill/>
                    </a:lnL>
                    <a:lnR>
                      <a:noFill/>
                    </a:lnR>
                    <a:lnT>
                      <a:noFill/>
                    </a:lnT>
                    <a:lnB>
                      <a:noFill/>
                    </a:lnB>
                    <a:noFill/>
                  </a:tcPr>
                </a:tc>
                <a:tc>
                  <a:txBody>
                    <a:bodyPr/>
                    <a:lstStyle/>
                    <a:p>
                      <a:pPr algn="l">
                        <a:buNone/>
                      </a:pPr>
                      <a:r>
                        <a:rPr lang="zh-CN" altLang="en-US" sz="1600">
                          <a:solidFill>
                            <a:schemeClr val="bg1"/>
                          </a:solidFill>
                        </a:rPr>
                        <a:t>它是经过正式评审（</a:t>
                      </a:r>
                      <a:r>
                        <a:rPr lang="en-US" altLang="zh-CN" sz="1600">
                          <a:solidFill>
                            <a:schemeClr val="bg1"/>
                          </a:solidFill>
                        </a:rPr>
                        <a:t>Review</a:t>
                      </a:r>
                      <a:r>
                        <a:rPr lang="zh-CN" altLang="en-US" sz="1600">
                          <a:solidFill>
                            <a:schemeClr val="bg1"/>
                          </a:solidFill>
                        </a:rPr>
                        <a:t>）和签字批准的，具有“法律效力”</a:t>
                      </a:r>
                    </a:p>
                  </a:txBody>
                  <a:tcPr anchor="ctr">
                    <a:lnL>
                      <a:noFill/>
                    </a:lnL>
                    <a:lnR>
                      <a:noFill/>
                    </a:lnR>
                    <a:lnT>
                      <a:noFill/>
                    </a:lnT>
                    <a:lnB>
                      <a:noFill/>
                    </a:lnB>
                    <a:noFill/>
                  </a:tcPr>
                </a:tc>
                <a:tc>
                  <a:txBody>
                    <a:bodyPr/>
                    <a:lstStyle/>
                    <a:p>
                      <a:pPr algn="l">
                        <a:buNone/>
                      </a:pPr>
                      <a:r>
                        <a:rPr lang="zh-CN" altLang="en-US" sz="1600">
                          <a:solidFill>
                            <a:schemeClr val="bg1"/>
                          </a:solidFill>
                        </a:rPr>
                        <a:t>它是验收的标准。如果做出来的东西和基线不一致，就是缺陷（</a:t>
                      </a:r>
                      <a:r>
                        <a:rPr lang="en-US" altLang="zh-CN" sz="1600">
                          <a:solidFill>
                            <a:schemeClr val="bg1"/>
                          </a:solidFill>
                        </a:rPr>
                        <a:t>Bug</a:t>
                      </a:r>
                      <a:r>
                        <a:rPr lang="zh-CN" altLang="en-US" sz="1600">
                          <a:solidFill>
                            <a:schemeClr val="bg1"/>
                          </a:solidFill>
                        </a:rPr>
                        <a:t>）</a:t>
                      </a:r>
                    </a:p>
                  </a:txBody>
                  <a:tcPr anchor="ctr">
                    <a:lnL>
                      <a:noFill/>
                    </a:lnL>
                    <a:lnR>
                      <a:noFill/>
                    </a:lnR>
                    <a:lnT>
                      <a:noFill/>
                    </a:lnT>
                    <a:lnB>
                      <a:noFill/>
                    </a:lnB>
                    <a:noFill/>
                  </a:tcPr>
                </a:tc>
                <a:extLst>
                  <a:ext uri="{0D108BD9-81ED-4DB2-BD59-A6C34878D82A}">
                    <a16:rowId xmlns:a16="http://schemas.microsoft.com/office/drawing/2014/main" val="4270465890"/>
                  </a:ext>
                </a:extLst>
              </a:tr>
              <a:tr h="0">
                <a:tc>
                  <a:txBody>
                    <a:bodyPr/>
                    <a:lstStyle/>
                    <a:p>
                      <a:pPr algn="l">
                        <a:buNone/>
                      </a:pPr>
                      <a:r>
                        <a:rPr lang="zh-CN" altLang="en-US" sz="1600">
                          <a:solidFill>
                            <a:schemeClr val="bg1"/>
                          </a:solidFill>
                        </a:rPr>
                        <a:t>可追溯性 </a:t>
                      </a:r>
                      <a:r>
                        <a:rPr lang="en-US" sz="1600">
                          <a:solidFill>
                            <a:schemeClr val="bg1"/>
                          </a:solidFill>
                        </a:rPr>
                        <a:t>Traceability</a:t>
                      </a:r>
                    </a:p>
                  </a:txBody>
                  <a:tcPr anchor="ctr">
                    <a:lnL>
                      <a:noFill/>
                    </a:lnL>
                    <a:lnR>
                      <a:noFill/>
                    </a:lnR>
                    <a:lnT>
                      <a:noFill/>
                    </a:lnT>
                    <a:lnB>
                      <a:noFill/>
                    </a:lnB>
                    <a:noFill/>
                  </a:tcPr>
                </a:tc>
                <a:tc>
                  <a:txBody>
                    <a:bodyPr/>
                    <a:lstStyle/>
                    <a:p>
                      <a:pPr algn="l">
                        <a:buNone/>
                      </a:pPr>
                      <a:r>
                        <a:rPr lang="zh-CN" altLang="en-US" sz="1600">
                          <a:solidFill>
                            <a:schemeClr val="bg1"/>
                          </a:solidFill>
                        </a:rPr>
                        <a:t>基线有明确的版本号（如 </a:t>
                      </a:r>
                      <a:r>
                        <a:rPr lang="en-US" altLang="zh-CN" sz="1600">
                          <a:solidFill>
                            <a:schemeClr val="bg1"/>
                          </a:solidFill>
                        </a:rPr>
                        <a:t>v1.0</a:t>
                      </a:r>
                      <a:r>
                        <a:rPr lang="zh-CN" altLang="en-US" sz="1600">
                          <a:solidFill>
                            <a:schemeClr val="bg1"/>
                          </a:solidFill>
                        </a:rPr>
                        <a:t>），任何后续修改都会生成新版本（</a:t>
                      </a:r>
                      <a:r>
                        <a:rPr lang="en-US" altLang="zh-CN" sz="1600">
                          <a:solidFill>
                            <a:schemeClr val="bg1"/>
                          </a:solidFill>
                        </a:rPr>
                        <a:t>v1.1</a:t>
                      </a:r>
                      <a:r>
                        <a:rPr lang="zh-CN" altLang="en-US" sz="1600">
                          <a:solidFill>
                            <a:schemeClr val="bg1"/>
                          </a:solidFill>
                        </a:rPr>
                        <a:t>），且保留旧版本记录</a:t>
                      </a:r>
                    </a:p>
                  </a:txBody>
                  <a:tcPr anchor="ctr">
                    <a:lnL>
                      <a:noFill/>
                    </a:lnL>
                    <a:lnR>
                      <a:noFill/>
                    </a:lnR>
                    <a:lnT>
                      <a:noFill/>
                    </a:lnT>
                    <a:lnB>
                      <a:noFill/>
                    </a:lnB>
                    <a:noFill/>
                  </a:tcPr>
                </a:tc>
                <a:tc>
                  <a:txBody>
                    <a:bodyPr/>
                    <a:lstStyle/>
                    <a:p>
                      <a:pPr algn="l">
                        <a:buNone/>
                      </a:pPr>
                      <a:r>
                        <a:rPr lang="zh-CN" altLang="en-US" sz="1600">
                          <a:solidFill>
                            <a:schemeClr val="bg1"/>
                          </a:solidFill>
                        </a:rPr>
                        <a:t>确保我们知道“改了什么”、“谁改的”、“为什么改”，防止历史丢失</a:t>
                      </a:r>
                    </a:p>
                  </a:txBody>
                  <a:tcPr anchor="ctr">
                    <a:lnL>
                      <a:noFill/>
                    </a:lnL>
                    <a:lnR>
                      <a:noFill/>
                    </a:lnR>
                    <a:lnT>
                      <a:noFill/>
                    </a:lnT>
                    <a:lnB>
                      <a:noFill/>
                    </a:lnB>
                    <a:noFill/>
                  </a:tcPr>
                </a:tc>
                <a:extLst>
                  <a:ext uri="{0D108BD9-81ED-4DB2-BD59-A6C34878D82A}">
                    <a16:rowId xmlns:a16="http://schemas.microsoft.com/office/drawing/2014/main" val="2730614757"/>
                  </a:ext>
                </a:extLst>
              </a:tr>
            </a:tbl>
          </a:graphicData>
        </a:graphic>
      </p:graphicFrame>
    </p:spTree>
    <p:extLst>
      <p:ext uri="{BB962C8B-B14F-4D97-AF65-F5344CB8AC3E}">
        <p14:creationId xmlns:p14="http://schemas.microsoft.com/office/powerpoint/2010/main" val="164183533"/>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676F0C-B63C-C0E3-C1E5-BB6979780A27}"/>
              </a:ext>
            </a:extLst>
          </p:cNvPr>
          <p:cNvSpPr>
            <a:spLocks noGrp="1"/>
          </p:cNvSpPr>
          <p:nvPr>
            <p:ph type="title"/>
          </p:nvPr>
        </p:nvSpPr>
        <p:spPr/>
        <p:txBody>
          <a:bodyPr/>
          <a:lstStyle/>
          <a:p>
            <a:r>
              <a:rPr lang="zh-CN" altLang="en-US"/>
              <a:t>概念</a:t>
            </a:r>
          </a:p>
        </p:txBody>
      </p:sp>
      <p:sp>
        <p:nvSpPr>
          <p:cNvPr id="3" name="内容占位符 2">
            <a:extLst>
              <a:ext uri="{FF2B5EF4-FFF2-40B4-BE49-F238E27FC236}">
                <a16:creationId xmlns:a16="http://schemas.microsoft.com/office/drawing/2014/main" id="{B823C20A-E20C-18A0-C6AD-F93ECE400298}"/>
              </a:ext>
            </a:extLst>
          </p:cNvPr>
          <p:cNvSpPr>
            <a:spLocks noGrp="1"/>
          </p:cNvSpPr>
          <p:nvPr>
            <p:ph idx="1"/>
          </p:nvPr>
        </p:nvSpPr>
        <p:spPr/>
        <p:txBody>
          <a:bodyPr/>
          <a:lstStyle/>
          <a:p>
            <a:r>
              <a:rPr lang="zh-CN" altLang="en-US"/>
              <a:t>基线</a:t>
            </a:r>
            <a:endParaRPr lang="en-US" altLang="zh-CN"/>
          </a:p>
          <a:p>
            <a:r>
              <a:rPr lang="zh-CN" altLang="en-US"/>
              <a:t>软件配置项 </a:t>
            </a:r>
            <a:r>
              <a:rPr lang="en-US" altLang="zh-CN"/>
              <a:t>configuration item</a:t>
            </a:r>
            <a:endParaRPr lang="zh-CN" altLang="en-US"/>
          </a:p>
        </p:txBody>
      </p:sp>
      <p:sp>
        <p:nvSpPr>
          <p:cNvPr id="4" name="文本占位符 3">
            <a:extLst>
              <a:ext uri="{FF2B5EF4-FFF2-40B4-BE49-F238E27FC236}">
                <a16:creationId xmlns:a16="http://schemas.microsoft.com/office/drawing/2014/main" id="{10394549-4C21-F5EC-11E6-B1EDD64925CB}"/>
              </a:ext>
            </a:extLst>
          </p:cNvPr>
          <p:cNvSpPr>
            <a:spLocks noGrp="1"/>
          </p:cNvSpPr>
          <p:nvPr>
            <p:ph type="body" sz="quarter" idx="10"/>
          </p:nvPr>
        </p:nvSpPr>
        <p:spPr/>
        <p:txBody>
          <a:bodyPr/>
          <a:lstStyle/>
          <a:p>
            <a:r>
              <a:rPr lang="en-US" altLang="zh-CN"/>
              <a:t>Concepts</a:t>
            </a:r>
            <a:endParaRPr lang="zh-CN" altLang="en-US"/>
          </a:p>
        </p:txBody>
      </p:sp>
    </p:spTree>
    <p:extLst>
      <p:ext uri="{BB962C8B-B14F-4D97-AF65-F5344CB8AC3E}">
        <p14:creationId xmlns:p14="http://schemas.microsoft.com/office/powerpoint/2010/main" val="1635739793"/>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a:xfrm>
            <a:off x="695998" y="360000"/>
            <a:ext cx="6375921" cy="429413"/>
          </a:xfrm>
        </p:spPr>
        <p:txBody>
          <a:bodyPr/>
          <a:lstStyle/>
          <a:p>
            <a:r>
              <a:rPr lang="zh-CN" altLang="en-US"/>
              <a:t>六个活动</a:t>
            </a:r>
          </a:p>
        </p:txBody>
      </p:sp>
      <p:sp>
        <p:nvSpPr>
          <p:cNvPr id="3" name="内容占位符 2">
            <a:extLst>
              <a:ext uri="{FF2B5EF4-FFF2-40B4-BE49-F238E27FC236}">
                <a16:creationId xmlns:a16="http://schemas.microsoft.com/office/drawing/2014/main" id="{335F6017-DDC9-817C-9C5F-5A9160EFB8E8}"/>
              </a:ext>
            </a:extLst>
          </p:cNvPr>
          <p:cNvSpPr>
            <a:spLocks noGrp="1"/>
          </p:cNvSpPr>
          <p:nvPr>
            <p:ph idx="1"/>
          </p:nvPr>
        </p:nvSpPr>
        <p:spPr>
          <a:xfrm>
            <a:off x="696000" y="864000"/>
            <a:ext cx="10800000" cy="5400000"/>
          </a:xfrm>
        </p:spPr>
        <p:txBody>
          <a:bodyPr/>
          <a:lstStyle/>
          <a:p>
            <a:endParaRPr lang="zh-CN" altLang="en-US"/>
          </a:p>
        </p:txBody>
      </p:sp>
      <p:sp>
        <p:nvSpPr>
          <p:cNvPr id="7" name="文本占位符 6">
            <a:extLst>
              <a:ext uri="{FF2B5EF4-FFF2-40B4-BE49-F238E27FC236}">
                <a16:creationId xmlns:a16="http://schemas.microsoft.com/office/drawing/2014/main" id="{795E1505-16E0-2B93-B29E-EF9E018D3AAA}"/>
              </a:ext>
            </a:extLst>
          </p:cNvPr>
          <p:cNvSpPr>
            <a:spLocks noGrp="1"/>
          </p:cNvSpPr>
          <p:nvPr>
            <p:ph type="body" sz="quarter" idx="10"/>
          </p:nvPr>
        </p:nvSpPr>
        <p:spPr/>
        <p:txBody>
          <a:bodyPr/>
          <a:lstStyle/>
          <a:p>
            <a:endParaRPr lang="zh-CN" altLang="en-US"/>
          </a:p>
        </p:txBody>
      </p:sp>
      <p:graphicFrame>
        <p:nvGraphicFramePr>
          <p:cNvPr id="8" name="表格 7">
            <a:extLst>
              <a:ext uri="{FF2B5EF4-FFF2-40B4-BE49-F238E27FC236}">
                <a16:creationId xmlns:a16="http://schemas.microsoft.com/office/drawing/2014/main" id="{3761D626-33A1-F3D8-D519-7F903D3CF5C8}"/>
              </a:ext>
            </a:extLst>
          </p:cNvPr>
          <p:cNvGraphicFramePr>
            <a:graphicFrameLocks noGrp="1"/>
          </p:cNvGraphicFramePr>
          <p:nvPr>
            <p:extLst>
              <p:ext uri="{D42A27DB-BD31-4B8C-83A1-F6EECF244321}">
                <p14:modId xmlns:p14="http://schemas.microsoft.com/office/powerpoint/2010/main" val="2078013217"/>
              </p:ext>
            </p:extLst>
          </p:nvPr>
        </p:nvGraphicFramePr>
        <p:xfrm>
          <a:off x="695325" y="2100897"/>
          <a:ext cx="10801350" cy="3230880"/>
        </p:xfrm>
        <a:graphic>
          <a:graphicData uri="http://schemas.openxmlformats.org/drawingml/2006/table">
            <a:tbl>
              <a:tblPr/>
              <a:tblGrid>
                <a:gridCol w="4043823">
                  <a:extLst>
                    <a:ext uri="{9D8B030D-6E8A-4147-A177-3AD203B41FA5}">
                      <a16:colId xmlns:a16="http://schemas.microsoft.com/office/drawing/2014/main" val="2867934318"/>
                    </a:ext>
                  </a:extLst>
                </a:gridCol>
                <a:gridCol w="6757527">
                  <a:extLst>
                    <a:ext uri="{9D8B030D-6E8A-4147-A177-3AD203B41FA5}">
                      <a16:colId xmlns:a16="http://schemas.microsoft.com/office/drawing/2014/main" val="3324239611"/>
                    </a:ext>
                  </a:extLst>
                </a:gridCol>
              </a:tblGrid>
              <a:tr h="0">
                <a:tc>
                  <a:txBody>
                    <a:bodyPr/>
                    <a:lstStyle/>
                    <a:p>
                      <a:pPr>
                        <a:buNone/>
                      </a:pPr>
                      <a:r>
                        <a:rPr lang="zh-CN" altLang="en-US" sz="160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zh-CN" altLang="en-US" sz="1600">
                          <a:solidFill>
                            <a:schemeClr val="bg1"/>
                          </a:solidFill>
                        </a:rPr>
                        <a:t>说明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632968330"/>
                  </a:ext>
                </a:extLst>
              </a:tr>
              <a:tr h="0">
                <a:tc>
                  <a:txBody>
                    <a:bodyPr/>
                    <a:lstStyle/>
                    <a:p>
                      <a:pPr>
                        <a:buNone/>
                      </a:pPr>
                      <a:r>
                        <a:rPr lang="zh-CN" altLang="en-US" sz="1600">
                          <a:solidFill>
                            <a:schemeClr val="bg1"/>
                          </a:solidFill>
                        </a:rPr>
                        <a:t>制定配置管理计划 </a:t>
                      </a:r>
                      <a:r>
                        <a:rPr lang="en-US" altLang="zh-CN" sz="1600">
                          <a:solidFill>
                            <a:schemeClr val="bg1"/>
                          </a:solidFill>
                        </a:rPr>
                        <a:t>CMP</a:t>
                      </a:r>
                    </a:p>
                    <a:p>
                      <a:pPr>
                        <a:buNone/>
                      </a:pPr>
                      <a:r>
                        <a:rPr lang="en-US" sz="1600">
                          <a:solidFill>
                            <a:schemeClr val="bg1"/>
                          </a:solidFill>
                        </a:rPr>
                        <a:t>Configuration Management Plan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为整个项目定义如何实施配置管理的策略、流程、工具与职责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0179228"/>
                  </a:ext>
                </a:extLst>
              </a:tr>
              <a:tr h="0">
                <a:tc>
                  <a:txBody>
                    <a:bodyPr/>
                    <a:lstStyle/>
                    <a:p>
                      <a:pPr>
                        <a:buNone/>
                      </a:pPr>
                      <a:r>
                        <a:rPr lang="zh-CN" altLang="en-US" sz="1600">
                          <a:solidFill>
                            <a:schemeClr val="bg1"/>
                          </a:solidFill>
                        </a:rPr>
                        <a:t>配置标识 </a:t>
                      </a:r>
                      <a:r>
                        <a:rPr lang="en-US" altLang="zh-CN" sz="1600">
                          <a:solidFill>
                            <a:schemeClr val="bg1"/>
                          </a:solidFill>
                        </a:rPr>
                        <a:t>CI</a:t>
                      </a:r>
                    </a:p>
                    <a:p>
                      <a:pPr>
                        <a:buNone/>
                      </a:pPr>
                      <a:r>
                        <a:rPr lang="en-US" altLang="zh-CN" sz="1600">
                          <a:solidFill>
                            <a:schemeClr val="bg1"/>
                          </a:solidFill>
                        </a:rPr>
                        <a:t>Configuration </a:t>
                      </a:r>
                      <a:r>
                        <a:rPr lang="en-US" sz="1600">
                          <a:solidFill>
                            <a:schemeClr val="bg1"/>
                          </a:solidFill>
                        </a:rPr>
                        <a:t>Identification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确定哪些工件需要被管理（如代码、文档、测试用例），并赋予唯一标识符（如版本号、基线名）</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490626"/>
                  </a:ext>
                </a:extLst>
              </a:tr>
              <a:tr h="0">
                <a:tc>
                  <a:txBody>
                    <a:bodyPr/>
                    <a:lstStyle/>
                    <a:p>
                      <a:pPr>
                        <a:buNone/>
                      </a:pPr>
                      <a:r>
                        <a:rPr lang="it-IT" sz="1600">
                          <a:solidFill>
                            <a:schemeClr val="bg1"/>
                          </a:solidFill>
                        </a:rPr>
                        <a:t>配置控制</a:t>
                      </a:r>
                    </a:p>
                    <a:p>
                      <a:pPr>
                        <a:buNone/>
                      </a:pPr>
                      <a:r>
                        <a:rPr lang="it-IT" sz="1600">
                          <a:solidFill>
                            <a:schemeClr val="bg1"/>
                          </a:solidFill>
                        </a:rPr>
                        <a:t>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建立变更请求流程（</a:t>
                      </a:r>
                      <a:r>
                        <a:rPr lang="en-US" altLang="zh-CN" sz="1600">
                          <a:solidFill>
                            <a:schemeClr val="bg1"/>
                          </a:solidFill>
                        </a:rPr>
                        <a:t>CR</a:t>
                      </a:r>
                      <a:r>
                        <a:rPr lang="zh-CN" altLang="en-US" sz="1600">
                          <a:solidFill>
                            <a:schemeClr val="bg1"/>
                          </a:solidFill>
                        </a:rPr>
                        <a:t>）、审批机制、影响分析、实施与验证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557815"/>
                  </a:ext>
                </a:extLst>
              </a:tr>
              <a:tr h="0">
                <a:tc>
                  <a:txBody>
                    <a:bodyPr/>
                    <a:lstStyle/>
                    <a:p>
                      <a:pPr>
                        <a:buNone/>
                      </a:pPr>
                      <a:r>
                        <a:rPr lang="zh-CN" altLang="en-US" sz="1600">
                          <a:solidFill>
                            <a:schemeClr val="bg1"/>
                          </a:solidFill>
                        </a:rPr>
                        <a:t>状态记账</a:t>
                      </a:r>
                      <a:endParaRPr lang="en-US" altLang="zh-CN" sz="1600">
                        <a:solidFill>
                          <a:schemeClr val="bg1"/>
                        </a:solidFill>
                      </a:endParaRPr>
                    </a:p>
                    <a:p>
                      <a:pPr>
                        <a:buNone/>
                      </a:pPr>
                      <a:r>
                        <a:rPr lang="en-US" sz="1600">
                          <a:solidFill>
                            <a:schemeClr val="bg1"/>
                          </a:solidFill>
                        </a:rPr>
                        <a:t>Status Accounting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记录每个配置项的状态（如草稿、评审中、已批准、已发布）、历史变更记录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979687"/>
                  </a:ext>
                </a:extLst>
              </a:tr>
              <a:tr h="0">
                <a:tc>
                  <a:txBody>
                    <a:bodyPr/>
                    <a:lstStyle/>
                    <a:p>
                      <a:pPr>
                        <a:buNone/>
                      </a:pPr>
                      <a:r>
                        <a:rPr lang="zh-CN" altLang="en-US" sz="1600">
                          <a:solidFill>
                            <a:schemeClr val="bg1"/>
                          </a:solidFill>
                        </a:rPr>
                        <a:t>配置审计</a:t>
                      </a:r>
                      <a:endParaRPr lang="en-US" altLang="zh-CN" sz="1600">
                        <a:solidFill>
                          <a:schemeClr val="bg1"/>
                        </a:solidFill>
                      </a:endParaRPr>
                    </a:p>
                    <a:p>
                      <a:pPr>
                        <a:buNone/>
                      </a:pPr>
                      <a:r>
                        <a:rPr lang="en-US" altLang="zh-CN" sz="1600">
                          <a:solidFill>
                            <a:schemeClr val="bg1"/>
                          </a:solidFill>
                        </a:rPr>
                        <a:t>Audit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功能审计（是否满足需求）</a:t>
                      </a:r>
                      <a:r>
                        <a:rPr lang="en-US" altLang="zh-CN" sz="1600">
                          <a:solidFill>
                            <a:schemeClr val="bg1"/>
                          </a:solidFill>
                        </a:rPr>
                        <a:t>+ </a:t>
                      </a:r>
                      <a:r>
                        <a:rPr lang="zh-CN" altLang="en-US" sz="1600">
                          <a:solidFill>
                            <a:schemeClr val="bg1"/>
                          </a:solidFill>
                        </a:rPr>
                        <a:t>物理审计（实际交付物是否与记录一致）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7190558"/>
                  </a:ext>
                </a:extLst>
              </a:tr>
            </a:tbl>
          </a:graphicData>
        </a:graphic>
      </p:graphicFrame>
    </p:spTree>
    <p:extLst>
      <p:ext uri="{BB962C8B-B14F-4D97-AF65-F5344CB8AC3E}">
        <p14:creationId xmlns:p14="http://schemas.microsoft.com/office/powerpoint/2010/main" val="1978100626"/>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8658B3-69CF-2ECC-1F95-E69CD80699BC}"/>
              </a:ext>
            </a:extLst>
          </p:cNvPr>
          <p:cNvSpPr>
            <a:spLocks noGrp="1"/>
          </p:cNvSpPr>
          <p:nvPr>
            <p:ph type="title"/>
          </p:nvPr>
        </p:nvSpPr>
        <p:spPr>
          <a:xfrm>
            <a:off x="695998" y="360000"/>
            <a:ext cx="6375921" cy="429413"/>
          </a:xfrm>
        </p:spPr>
        <p:txBody>
          <a:bodyPr/>
          <a:lstStyle/>
          <a:p>
            <a:r>
              <a:rPr lang="zh-CN" altLang="en-US"/>
              <a:t>项目变更</a:t>
            </a:r>
          </a:p>
        </p:txBody>
      </p:sp>
      <p:sp>
        <p:nvSpPr>
          <p:cNvPr id="6" name="内容占位符 5">
            <a:extLst>
              <a:ext uri="{FF2B5EF4-FFF2-40B4-BE49-F238E27FC236}">
                <a16:creationId xmlns:a16="http://schemas.microsoft.com/office/drawing/2014/main" id="{E1BAE254-773A-CAE3-2062-04B030AB2D28}"/>
              </a:ext>
            </a:extLst>
          </p:cNvPr>
          <p:cNvSpPr>
            <a:spLocks noGrp="1"/>
          </p:cNvSpPr>
          <p:nvPr>
            <p:ph idx="1"/>
          </p:nvPr>
        </p:nvSpPr>
        <p:spPr>
          <a:xfrm>
            <a:off x="696000" y="864000"/>
            <a:ext cx="10800000" cy="5400000"/>
          </a:xfrm>
        </p:spPr>
        <p:txBody>
          <a:bodyPr/>
          <a:lstStyle/>
          <a:p>
            <a:r>
              <a:rPr lang="zh-CN" altLang="en-US"/>
              <a:t>涉及的主体</a:t>
            </a:r>
            <a:endParaRPr lang="en-US" altLang="zh-CN"/>
          </a:p>
          <a:p>
            <a:pPr lvl="1"/>
            <a:r>
              <a:rPr lang="zh-CN" altLang="en-US"/>
              <a:t>任何干系人 </a:t>
            </a:r>
            <a:r>
              <a:rPr lang="en-US" altLang="zh-CN"/>
              <a:t>Stakeholder</a:t>
            </a:r>
            <a:r>
              <a:rPr lang="zh-CN" altLang="en-US"/>
              <a:t>：提出变更申请</a:t>
            </a:r>
          </a:p>
          <a:p>
            <a:pPr lvl="1"/>
            <a:r>
              <a:rPr lang="zh-CN" altLang="en-US"/>
              <a:t>项目经理 </a:t>
            </a:r>
            <a:r>
              <a:rPr lang="en-US" altLang="zh-CN"/>
              <a:t>Project Manager</a:t>
            </a:r>
            <a:r>
              <a:rPr lang="zh-CN" altLang="en-US"/>
              <a:t>：影响分析；召开变更委员会会议、实施变更</a:t>
            </a:r>
          </a:p>
          <a:p>
            <a:pPr lvl="1"/>
            <a:r>
              <a:rPr lang="zh-CN" altLang="en-US"/>
              <a:t>变更控制委员会 </a:t>
            </a:r>
            <a:r>
              <a:rPr lang="en-US" altLang="zh-CN">
                <a:hlinkClick r:id="rId2"/>
              </a:rPr>
              <a:t>CCB</a:t>
            </a:r>
            <a:r>
              <a:rPr lang="zh-CN" altLang="en-US"/>
              <a:t>，</a:t>
            </a:r>
            <a:r>
              <a:rPr lang="en-US" altLang="zh-CN"/>
              <a:t>Change Control Board</a:t>
            </a:r>
            <a:r>
              <a:rPr lang="zh-CN" altLang="en-US"/>
              <a:t>：决策机构；双方决策人；审查、评价、批准</a:t>
            </a:r>
          </a:p>
          <a:p>
            <a:r>
              <a:rPr lang="zh-CN" altLang="en-US"/>
              <a:t>基本过程</a:t>
            </a:r>
            <a:endParaRPr lang="en-US" altLang="zh-CN"/>
          </a:p>
          <a:p>
            <a:pPr lvl="1"/>
            <a:r>
              <a:rPr lang="zh-CN" altLang="en-US"/>
              <a:t>提交变更请求</a:t>
            </a:r>
          </a:p>
          <a:p>
            <a:pPr lvl="1"/>
            <a:r>
              <a:rPr lang="zh-CN" altLang="en-US"/>
              <a:t>进行变更影响评估（由项目经理组织团队分析对范围、进度、成本、质量等的影响）</a:t>
            </a:r>
          </a:p>
          <a:p>
            <a:pPr lvl="1"/>
            <a:r>
              <a:rPr lang="zh-CN" altLang="en-US"/>
              <a:t>提交变更控制委员会（</a:t>
            </a:r>
            <a:r>
              <a:rPr lang="en-US" altLang="zh-CN"/>
              <a:t>CCB, </a:t>
            </a:r>
            <a:r>
              <a:rPr lang="zh-CN" altLang="en-US"/>
              <a:t>）审批 → 同意或否决变更</a:t>
            </a:r>
          </a:p>
          <a:p>
            <a:pPr lvl="1"/>
            <a:r>
              <a:rPr lang="zh-CN" altLang="en-US"/>
              <a:t>若批准，则执行变更；若拒绝，则通知申请人并归档</a:t>
            </a:r>
          </a:p>
          <a:p>
            <a:pPr lvl="1"/>
            <a:r>
              <a:rPr lang="zh-CN" altLang="en-US"/>
              <a:t>更新基线与文档，关闭变更请求</a:t>
            </a:r>
          </a:p>
        </p:txBody>
      </p:sp>
      <p:sp>
        <p:nvSpPr>
          <p:cNvPr id="7" name="文本占位符 6">
            <a:extLst>
              <a:ext uri="{FF2B5EF4-FFF2-40B4-BE49-F238E27FC236}">
                <a16:creationId xmlns:a16="http://schemas.microsoft.com/office/drawing/2014/main" id="{E2D503BF-DB9B-AC36-7D7D-02639E3B5FED}"/>
              </a:ext>
            </a:extLst>
          </p:cNvPr>
          <p:cNvSpPr>
            <a:spLocks noGrp="1"/>
          </p:cNvSpPr>
          <p:nvPr>
            <p:ph type="body" sz="quarter" idx="10"/>
          </p:nvPr>
        </p:nvSpPr>
        <p:spPr>
          <a:xfrm>
            <a:off x="7071919" y="448519"/>
            <a:ext cx="4424080" cy="338554"/>
          </a:xfrm>
        </p:spPr>
        <p:txBody>
          <a:bodyPr/>
          <a:lstStyle/>
          <a:p>
            <a:r>
              <a:rPr lang="en-US" altLang="zh-CN"/>
              <a:t>Project Change</a:t>
            </a:r>
            <a:endParaRPr lang="zh-CN" altLang="en-US"/>
          </a:p>
        </p:txBody>
      </p:sp>
    </p:spTree>
    <p:extLst>
      <p:ext uri="{BB962C8B-B14F-4D97-AF65-F5344CB8AC3E}">
        <p14:creationId xmlns:p14="http://schemas.microsoft.com/office/powerpoint/2010/main" val="60234605"/>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F85B1D-3F75-37F8-A2B4-F14716F242D2}"/>
              </a:ext>
            </a:extLst>
          </p:cNvPr>
          <p:cNvSpPr>
            <a:spLocks noGrp="1"/>
          </p:cNvSpPr>
          <p:nvPr>
            <p:ph type="title"/>
          </p:nvPr>
        </p:nvSpPr>
        <p:spPr>
          <a:xfrm>
            <a:off x="695998" y="360000"/>
            <a:ext cx="6375921" cy="429413"/>
          </a:xfrm>
        </p:spPr>
        <p:txBody>
          <a:bodyPr/>
          <a:lstStyle/>
          <a:p>
            <a:r>
              <a:rPr lang="zh-CN" altLang="en-US"/>
              <a:t>变更控制委员会</a:t>
            </a:r>
          </a:p>
        </p:txBody>
      </p:sp>
      <p:sp>
        <p:nvSpPr>
          <p:cNvPr id="7" name="内容占位符 6">
            <a:extLst>
              <a:ext uri="{FF2B5EF4-FFF2-40B4-BE49-F238E27FC236}">
                <a16:creationId xmlns:a16="http://schemas.microsoft.com/office/drawing/2014/main" id="{3B2C8851-7D5E-DEE6-4CCF-B200139CB5B6}"/>
              </a:ext>
            </a:extLst>
          </p:cNvPr>
          <p:cNvSpPr>
            <a:spLocks noGrp="1"/>
          </p:cNvSpPr>
          <p:nvPr>
            <p:ph idx="1"/>
          </p:nvPr>
        </p:nvSpPr>
        <p:spPr>
          <a:xfrm>
            <a:off x="696000" y="864000"/>
            <a:ext cx="10800000" cy="5400000"/>
          </a:xfrm>
        </p:spPr>
        <p:txBody>
          <a:bodyPr/>
          <a:lstStyle/>
          <a:p>
            <a:r>
              <a:rPr lang="en-US" altLang="zh-CN"/>
              <a:t>the development manager,</a:t>
            </a:r>
          </a:p>
          <a:p>
            <a:r>
              <a:rPr lang="en-US" altLang="zh-CN"/>
              <a:t>a test manager,</a:t>
            </a:r>
          </a:p>
          <a:p>
            <a:r>
              <a:rPr lang="en-US" altLang="zh-CN"/>
              <a:t>a product manager</a:t>
            </a:r>
          </a:p>
          <a:p>
            <a:r>
              <a:rPr lang="en-US" altLang="zh-CN"/>
              <a:t>and the project manager.</a:t>
            </a:r>
          </a:p>
          <a:p>
            <a:r>
              <a:rPr lang="en-US" altLang="zh-CN"/>
              <a:t>In some cases, stakeholders are also involved.</a:t>
            </a:r>
            <a:endParaRPr lang="zh-CN" altLang="en-US"/>
          </a:p>
          <a:p>
            <a:endParaRPr lang="zh-CN" altLang="en-US"/>
          </a:p>
        </p:txBody>
      </p:sp>
      <p:sp>
        <p:nvSpPr>
          <p:cNvPr id="4" name="文本占位符 3">
            <a:extLst>
              <a:ext uri="{FF2B5EF4-FFF2-40B4-BE49-F238E27FC236}">
                <a16:creationId xmlns:a16="http://schemas.microsoft.com/office/drawing/2014/main" id="{658DA847-1583-5220-8500-4F539B8FD5D0}"/>
              </a:ext>
            </a:extLst>
          </p:cNvPr>
          <p:cNvSpPr>
            <a:spLocks noGrp="1"/>
          </p:cNvSpPr>
          <p:nvPr>
            <p:ph type="body" sz="quarter" idx="10"/>
          </p:nvPr>
        </p:nvSpPr>
        <p:spPr>
          <a:xfrm>
            <a:off x="7071919" y="448519"/>
            <a:ext cx="4424080" cy="338554"/>
          </a:xfrm>
        </p:spPr>
        <p:txBody>
          <a:bodyPr/>
          <a:lstStyle/>
          <a:p>
            <a:r>
              <a:rPr lang="en-US" altLang="zh-CN"/>
              <a:t>CCB</a:t>
            </a:r>
            <a:endParaRPr lang="zh-CN" altLang="en-US"/>
          </a:p>
        </p:txBody>
      </p:sp>
    </p:spTree>
    <p:extLst>
      <p:ext uri="{BB962C8B-B14F-4D97-AF65-F5344CB8AC3E}">
        <p14:creationId xmlns:p14="http://schemas.microsoft.com/office/powerpoint/2010/main" val="1074014852"/>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1A5E6622-F2E8-B326-768C-9719A2A164B1}"/>
              </a:ext>
            </a:extLst>
          </p:cNvPr>
          <p:cNvGraphicFramePr>
            <a:graphicFrameLocks noGrp="1"/>
          </p:cNvGraphicFramePr>
          <p:nvPr>
            <p:extLst>
              <p:ext uri="{D42A27DB-BD31-4B8C-83A1-F6EECF244321}">
                <p14:modId xmlns:p14="http://schemas.microsoft.com/office/powerpoint/2010/main" val="2492482860"/>
              </p:ext>
            </p:extLst>
          </p:nvPr>
        </p:nvGraphicFramePr>
        <p:xfrm>
          <a:off x="2522297" y="1249680"/>
          <a:ext cx="7147406" cy="4023360"/>
        </p:xfrm>
        <a:graphic>
          <a:graphicData uri="http://schemas.openxmlformats.org/drawingml/2006/table">
            <a:tbl>
              <a:tblPr firstRow="1" bandRow="1">
                <a:tableStyleId>{5C22544A-7EE6-4342-B048-85BDC9FD1C3A}</a:tableStyleId>
              </a:tblPr>
              <a:tblGrid>
                <a:gridCol w="1296000">
                  <a:extLst>
                    <a:ext uri="{9D8B030D-6E8A-4147-A177-3AD203B41FA5}">
                      <a16:colId xmlns:a16="http://schemas.microsoft.com/office/drawing/2014/main" val="1571433902"/>
                    </a:ext>
                  </a:extLst>
                </a:gridCol>
                <a:gridCol w="2379406">
                  <a:extLst>
                    <a:ext uri="{9D8B030D-6E8A-4147-A177-3AD203B41FA5}">
                      <a16:colId xmlns:a16="http://schemas.microsoft.com/office/drawing/2014/main" val="4082139051"/>
                    </a:ext>
                  </a:extLst>
                </a:gridCol>
                <a:gridCol w="1440000">
                  <a:extLst>
                    <a:ext uri="{9D8B030D-6E8A-4147-A177-3AD203B41FA5}">
                      <a16:colId xmlns:a16="http://schemas.microsoft.com/office/drawing/2014/main" val="1920455824"/>
                    </a:ext>
                  </a:extLst>
                </a:gridCol>
                <a:gridCol w="2032000">
                  <a:extLst>
                    <a:ext uri="{9D8B030D-6E8A-4147-A177-3AD203B41FA5}">
                      <a16:colId xmlns:a16="http://schemas.microsoft.com/office/drawing/2014/main" val="716357521"/>
                    </a:ext>
                  </a:extLst>
                </a:gridCol>
              </a:tblGrid>
              <a:tr h="0">
                <a:tc>
                  <a:txBody>
                    <a:bodyPr/>
                    <a:lstStyle/>
                    <a:p>
                      <a:pPr algn="dist"/>
                      <a:r>
                        <a:rPr lang="zh-CN" altLang="en-US" sz="1600">
                          <a:solidFill>
                            <a:schemeClr val="bg1"/>
                          </a:solidFill>
                        </a:rPr>
                        <a:t>变更号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64235506"/>
                  </a:ext>
                </a:extLst>
              </a:tr>
              <a:tr h="0">
                <a:tc>
                  <a:txBody>
                    <a:bodyPr/>
                    <a:lstStyle/>
                    <a:p>
                      <a:pPr algn="dist"/>
                      <a:r>
                        <a:rPr lang="zh-CN" altLang="en-US" sz="1600">
                          <a:solidFill>
                            <a:schemeClr val="bg1"/>
                          </a:solidFill>
                        </a:rPr>
                        <a:t>提出人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sz="1600">
                          <a:solidFill>
                            <a:schemeClr val="bg1"/>
                          </a:solidFill>
                        </a:rPr>
                        <a:t>日期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22811592"/>
                  </a:ext>
                </a:extLst>
              </a:tr>
              <a:tr h="0">
                <a:tc>
                  <a:txBody>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变更原因</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r>
                        <a:rPr lang="zh-CN" altLang="en-US" sz="1600">
                          <a:solidFill>
                            <a:schemeClr val="bg1"/>
                          </a:solidFill>
                          <a:sym typeface="Wingdings" panose="05000000000000000000" pitchFamily="2" charset="2"/>
                        </a:rPr>
                        <a:t> </a:t>
                      </a:r>
                      <a:r>
                        <a:rPr lang="zh-CN" altLang="en-US" sz="1600">
                          <a:solidFill>
                            <a:schemeClr val="bg1"/>
                          </a:solidFill>
                        </a:rPr>
                        <a:t>用户需求变化 </a:t>
                      </a:r>
                      <a:r>
                        <a:rPr lang="zh-CN" altLang="en-US" sz="1600">
                          <a:solidFill>
                            <a:schemeClr val="bg1"/>
                          </a:solidFill>
                          <a:sym typeface="Wingdings" panose="05000000000000000000" pitchFamily="2" charset="2"/>
                        </a:rPr>
                        <a:t> </a:t>
                      </a:r>
                      <a:r>
                        <a:rPr lang="zh-CN" altLang="en-US" sz="1600">
                          <a:solidFill>
                            <a:schemeClr val="bg1"/>
                          </a:solidFill>
                        </a:rPr>
                        <a:t>技术限制 </a:t>
                      </a:r>
                      <a:r>
                        <a:rPr lang="zh-CN" altLang="en-US" sz="1600">
                          <a:solidFill>
                            <a:schemeClr val="bg1"/>
                          </a:solidFill>
                          <a:sym typeface="Wingdings" panose="05000000000000000000" pitchFamily="2" charset="2"/>
                        </a:rPr>
                        <a:t> </a:t>
                      </a:r>
                      <a:r>
                        <a:rPr lang="zh-CN" altLang="en-US" sz="1600">
                          <a:solidFill>
                            <a:schemeClr val="bg1"/>
                          </a:solidFill>
                        </a:rPr>
                        <a:t>法律法规 </a:t>
                      </a:r>
                      <a:r>
                        <a:rPr lang="zh-CN" altLang="en-US" sz="1600">
                          <a:solidFill>
                            <a:schemeClr val="bg1"/>
                          </a:solidFill>
                          <a:sym typeface="Wingdings" panose="05000000000000000000" pitchFamily="2" charset="2"/>
                        </a:rPr>
                        <a:t> </a:t>
                      </a:r>
                      <a:r>
                        <a:rPr lang="zh-CN" altLang="en-US" sz="1600">
                          <a:solidFill>
                            <a:schemeClr val="bg1"/>
                          </a:solidFill>
                        </a:rPr>
                        <a:t>缺陷修复 </a:t>
                      </a:r>
                      <a:r>
                        <a:rPr lang="zh-CN" altLang="en-US" sz="1600">
                          <a:solidFill>
                            <a:schemeClr val="bg1"/>
                          </a:solidFill>
                          <a:sym typeface="Wingdings" panose="05000000000000000000" pitchFamily="2" charset="2"/>
                        </a:rPr>
                        <a:t> </a:t>
                      </a:r>
                      <a:r>
                        <a:rPr lang="zh-CN" altLang="en-US" sz="1600">
                          <a:solidFill>
                            <a:schemeClr val="bg1"/>
                          </a:solidFill>
                        </a:rPr>
                        <a:t>其它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44002923"/>
                  </a:ext>
                </a:extLst>
              </a:tr>
              <a:tr h="0">
                <a:tc>
                  <a:txBody>
                    <a:bodyPr/>
                    <a:lstStyle/>
                    <a:p>
                      <a:pPr algn="dist"/>
                      <a:r>
                        <a:rPr lang="zh-CN" altLang="en-US" sz="1600">
                          <a:solidFill>
                            <a:schemeClr val="bg1"/>
                          </a:solidFill>
                        </a:rPr>
                        <a:t>原需求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30898843"/>
                  </a:ext>
                </a:extLst>
              </a:tr>
              <a:tr h="0">
                <a:tc>
                  <a:txBody>
                    <a:bodyPr/>
                    <a:lstStyle/>
                    <a:p>
                      <a:pPr algn="dist"/>
                      <a:r>
                        <a:rPr lang="zh-CN" altLang="en-US" sz="1600">
                          <a:solidFill>
                            <a:schemeClr val="bg1"/>
                          </a:solidFill>
                        </a:rPr>
                        <a:t>新需求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3636696600"/>
                  </a:ext>
                </a:extLst>
              </a:tr>
              <a:tr h="0">
                <a:tc>
                  <a:txBody>
                    <a:bodyPr/>
                    <a:lstStyle/>
                    <a:p>
                      <a:pPr algn="dist"/>
                      <a:r>
                        <a:rPr lang="zh-CN" altLang="en-US" sz="1600">
                          <a:solidFill>
                            <a:schemeClr val="bg1"/>
                          </a:solidFill>
                        </a:rPr>
                        <a:t>影响模块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3800033"/>
                  </a:ext>
                </a:extLst>
              </a:tr>
              <a:tr h="0">
                <a:tc>
                  <a:txBody>
                    <a:bodyPr/>
                    <a:lstStyle/>
                    <a:p>
                      <a:pPr algn="dist"/>
                      <a:r>
                        <a:rPr lang="zh-CN" altLang="en-US" sz="1600">
                          <a:solidFill>
                            <a:schemeClr val="bg1"/>
                          </a:solidFill>
                        </a:rPr>
                        <a:t>预计工作量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4335444"/>
                  </a:ext>
                </a:extLst>
              </a:tr>
              <a:tr h="0">
                <a:tc>
                  <a:txBody>
                    <a:bodyPr/>
                    <a:lstStyle/>
                    <a:p>
                      <a:pPr algn="dist"/>
                      <a:r>
                        <a:rPr lang="zh-CN" altLang="en-US" sz="1600">
                          <a:solidFill>
                            <a:schemeClr val="bg1"/>
                          </a:solidFill>
                        </a:rPr>
                        <a:t>风险等级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r>
                        <a:rPr lang="zh-CN" altLang="en-US" sz="1600">
                          <a:solidFill>
                            <a:schemeClr val="bg1"/>
                          </a:solidFill>
                          <a:sym typeface="Wingdings" panose="05000000000000000000" pitchFamily="2" charset="2"/>
                        </a:rPr>
                        <a:t> 高  中  低</a:t>
                      </a: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82999761"/>
                  </a:ext>
                </a:extLst>
              </a:tr>
              <a:tr h="0">
                <a:tc>
                  <a:txBody>
                    <a:bodyPr/>
                    <a:lstStyle/>
                    <a:p>
                      <a:pPr algn="dist"/>
                      <a:r>
                        <a:rPr lang="zh-CN" altLang="en-US" sz="1600">
                          <a:solidFill>
                            <a:schemeClr val="bg1"/>
                          </a:solidFill>
                        </a:rPr>
                        <a:t>建议优先级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31747142"/>
                  </a:ext>
                </a:extLst>
              </a:tr>
              <a:tr h="0">
                <a:tc>
                  <a:txBody>
                    <a:bodyPr/>
                    <a:lstStyle/>
                    <a:p>
                      <a:pPr algn="dist"/>
                      <a:r>
                        <a:rPr lang="zh-CN" altLang="en-US" sz="1600">
                          <a:solidFill>
                            <a:schemeClr val="bg1"/>
                          </a:solidFill>
                        </a:rPr>
                        <a:t>审批意见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r>
                        <a:rPr lang="zh-CN" altLang="en-US" sz="1600">
                          <a:solidFill>
                            <a:schemeClr val="bg1"/>
                          </a:solidFill>
                          <a:sym typeface="Wingdings" panose="05000000000000000000" pitchFamily="2" charset="2"/>
                        </a:rPr>
                        <a:t> </a:t>
                      </a:r>
                      <a:r>
                        <a:rPr lang="zh-CN" altLang="en-US" sz="1600">
                          <a:solidFill>
                            <a:schemeClr val="bg1"/>
                          </a:solidFill>
                        </a:rPr>
                        <a:t>批准 </a:t>
                      </a:r>
                      <a:r>
                        <a:rPr lang="zh-CN" altLang="en-US" sz="1600">
                          <a:solidFill>
                            <a:schemeClr val="bg1"/>
                          </a:solidFill>
                          <a:sym typeface="Wingdings" panose="05000000000000000000" pitchFamily="2" charset="2"/>
                        </a:rPr>
                        <a:t> </a:t>
                      </a:r>
                      <a:r>
                        <a:rPr lang="zh-CN" altLang="en-US" sz="1600">
                          <a:solidFill>
                            <a:schemeClr val="bg1"/>
                          </a:solidFill>
                        </a:rPr>
                        <a:t>拒绝 </a:t>
                      </a:r>
                      <a:r>
                        <a:rPr lang="zh-CN" altLang="en-US" sz="1600">
                          <a:solidFill>
                            <a:schemeClr val="bg1"/>
                          </a:solidFill>
                          <a:sym typeface="Wingdings" panose="05000000000000000000" pitchFamily="2" charset="2"/>
                        </a:rPr>
                        <a:t> </a:t>
                      </a:r>
                      <a:r>
                        <a:rPr lang="zh-CN" altLang="en-US" sz="1600">
                          <a:solidFill>
                            <a:schemeClr val="bg1"/>
                          </a:solidFill>
                        </a:rPr>
                        <a:t>延期 </a:t>
                      </a:r>
                      <a:r>
                        <a:rPr lang="zh-CN" altLang="en-US" sz="1600">
                          <a:solidFill>
                            <a:schemeClr val="bg1"/>
                          </a:solidFill>
                          <a:sym typeface="Wingdings" panose="05000000000000000000" pitchFamily="2" charset="2"/>
                        </a:rPr>
                        <a:t> </a:t>
                      </a:r>
                      <a:r>
                        <a:rPr lang="zh-CN" altLang="en-US" sz="1600">
                          <a:solidFill>
                            <a:schemeClr val="bg1"/>
                          </a:solidFill>
                        </a:rPr>
                        <a:t>需补充材料</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6103098"/>
                  </a:ext>
                </a:extLst>
              </a:tr>
              <a:tr h="0">
                <a:tc>
                  <a:txBody>
                    <a:bodyPr/>
                    <a:lstStyle/>
                    <a:p>
                      <a:pPr algn="dist"/>
                      <a:r>
                        <a:rPr lang="zh-CN" altLang="en-US" sz="1600">
                          <a:solidFill>
                            <a:schemeClr val="bg1"/>
                          </a:solidFill>
                        </a:rPr>
                        <a:t>审批人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sz="1600">
                          <a:solidFill>
                            <a:schemeClr val="bg1"/>
                          </a:solidFill>
                        </a:rPr>
                        <a:t>日期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31214444"/>
                  </a:ext>
                </a:extLst>
              </a:tr>
              <a:tr h="0">
                <a:tc>
                  <a:txBody>
                    <a:bodyPr/>
                    <a:lstStyle/>
                    <a:p>
                      <a:pPr algn="dist"/>
                      <a:r>
                        <a:rPr lang="zh-CN" altLang="en-US" sz="1600">
                          <a:solidFill>
                            <a:schemeClr val="bg1"/>
                          </a:solidFill>
                        </a:rPr>
                        <a:t>备注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23962075"/>
                  </a:ext>
                </a:extLst>
              </a:tr>
            </a:tbl>
          </a:graphicData>
        </a:graphic>
      </p:graphicFrame>
    </p:spTree>
    <p:extLst>
      <p:ext uri="{BB962C8B-B14F-4D97-AF65-F5344CB8AC3E}">
        <p14:creationId xmlns:p14="http://schemas.microsoft.com/office/powerpoint/2010/main" val="969751421"/>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7FAC11-BADB-4759-CE2E-89BFD2396607}"/>
              </a:ext>
            </a:extLst>
          </p:cNvPr>
          <p:cNvSpPr>
            <a:spLocks noGrp="1"/>
          </p:cNvSpPr>
          <p:nvPr>
            <p:ph type="title"/>
          </p:nvPr>
        </p:nvSpPr>
        <p:spPr>
          <a:xfrm>
            <a:off x="695998" y="360000"/>
            <a:ext cx="6375921" cy="429413"/>
          </a:xfrm>
        </p:spPr>
        <p:txBody>
          <a:bodyPr/>
          <a:lstStyle/>
          <a:p>
            <a:r>
              <a:rPr lang="zh-CN" altLang="en-US"/>
              <a:t>配置管理系统</a:t>
            </a:r>
          </a:p>
        </p:txBody>
      </p:sp>
      <p:sp>
        <p:nvSpPr>
          <p:cNvPr id="6" name="内容占位符 5">
            <a:extLst>
              <a:ext uri="{FF2B5EF4-FFF2-40B4-BE49-F238E27FC236}">
                <a16:creationId xmlns:a16="http://schemas.microsoft.com/office/drawing/2014/main" id="{6C557D3E-86C1-C25F-9E5B-09DE9CA870F0}"/>
              </a:ext>
            </a:extLst>
          </p:cNvPr>
          <p:cNvSpPr>
            <a:spLocks noGrp="1"/>
          </p:cNvSpPr>
          <p:nvPr>
            <p:ph idx="1"/>
          </p:nvPr>
        </p:nvSpPr>
        <p:spPr/>
        <p:txBody>
          <a:bodyPr/>
          <a:lstStyle/>
          <a:p>
            <a:endParaRPr lang="zh-CN" altLang="en-US"/>
          </a:p>
        </p:txBody>
      </p:sp>
      <p:sp>
        <p:nvSpPr>
          <p:cNvPr id="7" name="文本占位符 6">
            <a:extLst>
              <a:ext uri="{FF2B5EF4-FFF2-40B4-BE49-F238E27FC236}">
                <a16:creationId xmlns:a16="http://schemas.microsoft.com/office/drawing/2014/main" id="{3245875D-CA61-6CC0-FB41-CE7901F4263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41514905"/>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F09870-CFF1-4F59-24C4-6BBD21F9A4C2}"/>
              </a:ext>
            </a:extLst>
          </p:cNvPr>
          <p:cNvSpPr>
            <a:spLocks noGrp="1"/>
          </p:cNvSpPr>
          <p:nvPr>
            <p:ph type="title"/>
          </p:nvPr>
        </p:nvSpPr>
        <p:spPr>
          <a:xfrm>
            <a:off x="695998" y="360000"/>
            <a:ext cx="6375921" cy="429413"/>
          </a:xfrm>
        </p:spPr>
        <p:txBody>
          <a:bodyPr/>
          <a:lstStyle/>
          <a:p>
            <a:r>
              <a:rPr lang="zh-CN" altLang="en-US"/>
              <a:t>配置项版本管理</a:t>
            </a:r>
          </a:p>
        </p:txBody>
      </p:sp>
      <p:sp>
        <p:nvSpPr>
          <p:cNvPr id="3" name="内容占位符 2">
            <a:extLst>
              <a:ext uri="{FF2B5EF4-FFF2-40B4-BE49-F238E27FC236}">
                <a16:creationId xmlns:a16="http://schemas.microsoft.com/office/drawing/2014/main" id="{59C9B529-B587-26C6-BB18-6D1DAA3CDF3B}"/>
              </a:ext>
            </a:extLst>
          </p:cNvPr>
          <p:cNvSpPr>
            <a:spLocks noGrp="1"/>
          </p:cNvSpPr>
          <p:nvPr>
            <p:ph idx="1"/>
          </p:nvPr>
        </p:nvSpPr>
        <p:spPr>
          <a:xfrm>
            <a:off x="696000" y="864000"/>
            <a:ext cx="10800000" cy="5400000"/>
          </a:xfrm>
        </p:spPr>
        <p:txBody>
          <a:bodyPr/>
          <a:lstStyle/>
          <a:p>
            <a:r>
              <a:rPr lang="zh-CN" altLang="en-US"/>
              <a:t>主版本号 </a:t>
            </a:r>
            <a:r>
              <a:rPr lang="en-US" altLang="zh-CN"/>
              <a:t>Major</a:t>
            </a:r>
            <a:r>
              <a:rPr lang="zh-CN" altLang="en-US"/>
              <a:t>：重大变更、架构调整、不兼容升级</a:t>
            </a:r>
          </a:p>
          <a:p>
            <a:r>
              <a:rPr lang="zh-CN" altLang="en-US"/>
              <a:t>次版本号 </a:t>
            </a:r>
            <a:r>
              <a:rPr lang="en-US" altLang="zh-CN"/>
              <a:t>Minor</a:t>
            </a:r>
            <a:r>
              <a:rPr lang="zh-CN" altLang="en-US"/>
              <a:t>：新增功能、小幅改进</a:t>
            </a:r>
          </a:p>
          <a:p>
            <a:r>
              <a:rPr lang="zh-CN" altLang="en-US"/>
              <a:t>修订号 </a:t>
            </a:r>
            <a:r>
              <a:rPr lang="en-US" altLang="zh-CN"/>
              <a:t>Patch</a:t>
            </a:r>
            <a:r>
              <a:rPr lang="zh-CN" altLang="en-US"/>
              <a:t>：</a:t>
            </a:r>
            <a:r>
              <a:rPr lang="en-US" altLang="zh-CN"/>
              <a:t>Bug</a:t>
            </a:r>
            <a:r>
              <a:rPr lang="zh-CN" altLang="en-US"/>
              <a:t>修复、小调整</a:t>
            </a:r>
            <a:endParaRPr lang="en-US" altLang="zh-CN"/>
          </a:p>
          <a:p>
            <a:endParaRPr lang="en-US" altLang="zh-CN"/>
          </a:p>
        </p:txBody>
      </p:sp>
      <p:sp>
        <p:nvSpPr>
          <p:cNvPr id="7" name="文本占位符 6">
            <a:extLst>
              <a:ext uri="{FF2B5EF4-FFF2-40B4-BE49-F238E27FC236}">
                <a16:creationId xmlns:a16="http://schemas.microsoft.com/office/drawing/2014/main" id="{63D59409-3CBD-2D2F-1E39-36F3A88580BE}"/>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956B6824-2049-5AAD-ECA8-7359298709F5}"/>
              </a:ext>
            </a:extLst>
          </p:cNvPr>
          <p:cNvGraphicFramePr>
            <a:graphicFrameLocks noGrp="1"/>
          </p:cNvGraphicFramePr>
          <p:nvPr>
            <p:extLst>
              <p:ext uri="{D42A27DB-BD31-4B8C-83A1-F6EECF244321}">
                <p14:modId xmlns:p14="http://schemas.microsoft.com/office/powerpoint/2010/main" val="2098415879"/>
              </p:ext>
            </p:extLst>
          </p:nvPr>
        </p:nvGraphicFramePr>
        <p:xfrm>
          <a:off x="695325" y="4728960"/>
          <a:ext cx="10801350" cy="1463040"/>
        </p:xfrm>
        <a:graphic>
          <a:graphicData uri="http://schemas.openxmlformats.org/drawingml/2006/table">
            <a:tbl>
              <a:tblPr/>
              <a:tblGrid>
                <a:gridCol w="3600450">
                  <a:extLst>
                    <a:ext uri="{9D8B030D-6E8A-4147-A177-3AD203B41FA5}">
                      <a16:colId xmlns:a16="http://schemas.microsoft.com/office/drawing/2014/main" val="1412152516"/>
                    </a:ext>
                  </a:extLst>
                </a:gridCol>
                <a:gridCol w="3600450">
                  <a:extLst>
                    <a:ext uri="{9D8B030D-6E8A-4147-A177-3AD203B41FA5}">
                      <a16:colId xmlns:a16="http://schemas.microsoft.com/office/drawing/2014/main" val="999299804"/>
                    </a:ext>
                  </a:extLst>
                </a:gridCol>
                <a:gridCol w="3600450">
                  <a:extLst>
                    <a:ext uri="{9D8B030D-6E8A-4147-A177-3AD203B41FA5}">
                      <a16:colId xmlns:a16="http://schemas.microsoft.com/office/drawing/2014/main" val="203989512"/>
                    </a:ext>
                  </a:extLst>
                </a:gridCol>
              </a:tblGrid>
              <a:tr h="0">
                <a:tc>
                  <a:txBody>
                    <a:bodyPr/>
                    <a:lstStyle/>
                    <a:p>
                      <a:pPr>
                        <a:buNone/>
                      </a:pPr>
                      <a:r>
                        <a:rPr lang="zh-CN" altLang="en-US">
                          <a:solidFill>
                            <a:schemeClr val="bg1"/>
                          </a:solidFill>
                        </a:rPr>
                        <a:t>状态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版本号格式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16052283"/>
                  </a:ext>
                </a:extLst>
              </a:tr>
              <a:tr h="0">
                <a:tc>
                  <a:txBody>
                    <a:bodyPr/>
                    <a:lstStyle/>
                    <a:p>
                      <a:pPr>
                        <a:buNone/>
                      </a:pPr>
                      <a:r>
                        <a:rPr lang="zh-CN" altLang="en-US">
                          <a:solidFill>
                            <a:schemeClr val="bg1"/>
                          </a:solidFill>
                        </a:rPr>
                        <a:t>草稿 </a:t>
                      </a:r>
                      <a:r>
                        <a:rPr lang="en-US">
                          <a:solidFill>
                            <a:schemeClr val="bg1"/>
                          </a:solidFill>
                        </a:rPr>
                        <a:t>Draft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s-ES">
                          <a:solidFill>
                            <a:schemeClr val="bg1"/>
                          </a:solidFill>
                          <a:latin typeface="Courier New" panose="02070309020205020404" pitchFamily="49" charset="0"/>
                        </a:rPr>
                        <a:t>0.Y</a:t>
                      </a:r>
                      <a:r>
                        <a:rPr lang="es-ES">
                          <a:solidFill>
                            <a:schemeClr val="bg1"/>
                          </a:solidFill>
                        </a:rPr>
                        <a:t> 或 </a:t>
                      </a:r>
                      <a:r>
                        <a:rPr lang="es-ES">
                          <a:solidFill>
                            <a:schemeClr val="bg1"/>
                          </a:solidFill>
                          <a:latin typeface="Courier New" panose="02070309020205020404" pitchFamily="49" charset="0"/>
                        </a:rPr>
                        <a:t>0.YZ</a:t>
                      </a:r>
                      <a:endParaRPr lang="es-E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初始编写阶段，尚未评审通过</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26911041"/>
                  </a:ext>
                </a:extLst>
              </a:tr>
              <a:tr h="0">
                <a:tc>
                  <a:txBody>
                    <a:bodyPr/>
                    <a:lstStyle/>
                    <a:p>
                      <a:pPr>
                        <a:buNone/>
                      </a:pPr>
                      <a:r>
                        <a:rPr lang="zh-CN" altLang="en-US">
                          <a:solidFill>
                            <a:schemeClr val="bg1"/>
                          </a:solidFill>
                        </a:rPr>
                        <a:t>正式 </a:t>
                      </a:r>
                      <a:r>
                        <a:rPr lang="en-US">
                          <a:solidFill>
                            <a:schemeClr val="bg1"/>
                          </a:solidFill>
                        </a:rPr>
                        <a:t>Formal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fr-FR">
                          <a:solidFill>
                            <a:schemeClr val="bg1"/>
                          </a:solidFill>
                          <a:latin typeface="Courier New" panose="02070309020205020404" pitchFamily="49" charset="0"/>
                        </a:rPr>
                        <a:t>1.X</a:t>
                      </a:r>
                      <a:r>
                        <a:rPr lang="fr-FR">
                          <a:solidFill>
                            <a:schemeClr val="bg1"/>
                          </a:solidFill>
                        </a:rPr>
                        <a:t> 或 </a:t>
                      </a:r>
                      <a:r>
                        <a:rPr lang="fr-FR">
                          <a:solidFill>
                            <a:schemeClr val="bg1"/>
                          </a:solidFill>
                          <a:latin typeface="Courier New" panose="02070309020205020404" pitchFamily="49" charset="0"/>
                        </a:rPr>
                        <a:t>X.Y</a:t>
                      </a:r>
                      <a:endParaRPr lang="fr-FR">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经过评审、批准后发布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10376463"/>
                  </a:ext>
                </a:extLst>
              </a:tr>
              <a:tr h="0">
                <a:tc>
                  <a:txBody>
                    <a:bodyPr/>
                    <a:lstStyle/>
                    <a:p>
                      <a:pPr>
                        <a:buNone/>
                      </a:pPr>
                      <a:r>
                        <a:rPr lang="zh-CN" altLang="en-US">
                          <a:solidFill>
                            <a:schemeClr val="bg1"/>
                          </a:solidFill>
                        </a:rPr>
                        <a:t>修改 </a:t>
                      </a:r>
                      <a:r>
                        <a:rPr lang="en-US">
                          <a:solidFill>
                            <a:schemeClr val="bg1"/>
                          </a:solidFill>
                        </a:rPr>
                        <a:t>Modified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在原基础上递增</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如从 </a:t>
                      </a:r>
                      <a:r>
                        <a:rPr lang="en-US" altLang="zh-CN">
                          <a:solidFill>
                            <a:schemeClr val="bg1"/>
                          </a:solidFill>
                        </a:rPr>
                        <a:t>1.0 → 1.1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0668883"/>
                  </a:ext>
                </a:extLst>
              </a:tr>
            </a:tbl>
          </a:graphicData>
        </a:graphic>
      </p:graphicFrame>
    </p:spTree>
    <p:extLst>
      <p:ext uri="{BB962C8B-B14F-4D97-AF65-F5344CB8AC3E}">
        <p14:creationId xmlns:p14="http://schemas.microsoft.com/office/powerpoint/2010/main" val="143862061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5F77529-85B9-C63C-938C-84E604370C2C}"/>
              </a:ext>
            </a:extLst>
          </p:cNvPr>
          <p:cNvSpPr>
            <a:spLocks noGrp="1"/>
          </p:cNvSpPr>
          <p:nvPr>
            <p:ph type="title"/>
          </p:nvPr>
        </p:nvSpPr>
        <p:spPr>
          <a:xfrm>
            <a:off x="695998" y="360000"/>
            <a:ext cx="6375921" cy="429413"/>
          </a:xfrm>
        </p:spPr>
        <p:txBody>
          <a:bodyPr>
            <a:normAutofit/>
          </a:bodyPr>
          <a:lstStyle/>
          <a:p>
            <a:r>
              <a:rPr lang="zh-CN" altLang="en-US"/>
              <a:t>配置库</a:t>
            </a:r>
          </a:p>
        </p:txBody>
      </p:sp>
      <p:sp>
        <p:nvSpPr>
          <p:cNvPr id="7" name="内容占位符 6">
            <a:extLst>
              <a:ext uri="{FF2B5EF4-FFF2-40B4-BE49-F238E27FC236}">
                <a16:creationId xmlns:a16="http://schemas.microsoft.com/office/drawing/2014/main" id="{859E2E68-567F-ED32-2ABD-14B0145A5BFC}"/>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6BB7B779-EFD5-8646-A1A1-CA038C8A3300}"/>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3130191335"/>
              </p:ext>
            </p:extLst>
          </p:nvPr>
        </p:nvGraphicFramePr>
        <p:xfrm>
          <a:off x="695325" y="3083040"/>
          <a:ext cx="10801350" cy="31089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a:solidFill>
                            <a:schemeClr val="bg1"/>
                          </a:solidFill>
                        </a:rPr>
                        <a:t>库类型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用途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98119768"/>
                  </a:ext>
                </a:extLst>
              </a:tr>
              <a:tr h="0">
                <a:tc>
                  <a:txBody>
                    <a:bodyPr/>
                    <a:lstStyle/>
                    <a:p>
                      <a:pPr>
                        <a:buNone/>
                      </a:pPr>
                      <a:r>
                        <a:rPr lang="zh-CN" altLang="en-US">
                          <a:solidFill>
                            <a:schemeClr val="bg1"/>
                          </a:solidFill>
                        </a:rPr>
                        <a:t>开发库（</a:t>
                      </a:r>
                      <a:r>
                        <a:rPr lang="en-US">
                          <a:solidFill>
                            <a:schemeClr val="bg1"/>
                          </a:solidFill>
                        </a:rPr>
                        <a:t>Development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存放开发人员正在工作的文件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 </a:t>
                      </a:r>
                      <a:r>
                        <a:rPr lang="zh-CN" altLang="en-US">
                          <a:solidFill>
                            <a:schemeClr val="bg1"/>
                          </a:solidFill>
                        </a:rPr>
                        <a:t>个人或团队工作空间</a:t>
                      </a:r>
                      <a:br>
                        <a:rPr lang="zh-CN" altLang="en-US">
                          <a:solidFill>
                            <a:schemeClr val="bg1"/>
                          </a:solidFill>
                        </a:rPr>
                      </a:br>
                      <a:r>
                        <a:rPr lang="en-US" altLang="zh-CN">
                          <a:solidFill>
                            <a:schemeClr val="bg1"/>
                          </a:solidFill>
                        </a:rPr>
                        <a:t>- </a:t>
                      </a:r>
                      <a:r>
                        <a:rPr lang="zh-CN" altLang="en-US">
                          <a:solidFill>
                            <a:schemeClr val="bg1"/>
                          </a:solidFill>
                        </a:rPr>
                        <a:t>无严格版本控制</a:t>
                      </a:r>
                      <a:br>
                        <a:rPr lang="zh-CN" altLang="en-US">
                          <a:solidFill>
                            <a:schemeClr val="bg1"/>
                          </a:solidFill>
                        </a:rPr>
                      </a:br>
                      <a:r>
                        <a:rPr lang="en-US" altLang="zh-CN">
                          <a:solidFill>
                            <a:schemeClr val="bg1"/>
                          </a:solidFill>
                        </a:rPr>
                        <a:t>- </a:t>
                      </a:r>
                      <a:r>
                        <a:rPr lang="zh-CN" altLang="en-US">
                          <a:solidFill>
                            <a:schemeClr val="bg1"/>
                          </a:solidFill>
                        </a:rPr>
                        <a:t>可自由修改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74645017"/>
                  </a:ext>
                </a:extLst>
              </a:tr>
              <a:tr h="0">
                <a:tc>
                  <a:txBody>
                    <a:bodyPr/>
                    <a:lstStyle/>
                    <a:p>
                      <a:pPr>
                        <a:buNone/>
                      </a:pPr>
                      <a:r>
                        <a:rPr lang="zh-CN" altLang="en-US">
                          <a:solidFill>
                            <a:schemeClr val="bg1"/>
                          </a:solidFill>
                        </a:rPr>
                        <a:t>受控库（</a:t>
                      </a:r>
                      <a:r>
                        <a:rPr lang="en-US">
                          <a:solidFill>
                            <a:schemeClr val="bg1"/>
                          </a:solidFill>
                        </a:rPr>
                        <a:t>Controlled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存放已提交、需变更控制的配置项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 </a:t>
                      </a:r>
                      <a:r>
                        <a:rPr lang="zh-CN" altLang="en-US">
                          <a:solidFill>
                            <a:schemeClr val="bg1"/>
                          </a:solidFill>
                        </a:rPr>
                        <a:t>经审批后才能修改</a:t>
                      </a:r>
                      <a:br>
                        <a:rPr lang="zh-CN" altLang="en-US">
                          <a:solidFill>
                            <a:schemeClr val="bg1"/>
                          </a:solidFill>
                        </a:rPr>
                      </a:br>
                      <a:r>
                        <a:rPr lang="en-US" altLang="zh-CN">
                          <a:solidFill>
                            <a:schemeClr val="bg1"/>
                          </a:solidFill>
                        </a:rPr>
                        <a:t>- </a:t>
                      </a:r>
                      <a:r>
                        <a:rPr lang="zh-CN" altLang="en-US">
                          <a:solidFill>
                            <a:schemeClr val="bg1"/>
                          </a:solidFill>
                        </a:rPr>
                        <a:t>用于集成、测试</a:t>
                      </a:r>
                      <a:br>
                        <a:rPr lang="zh-CN" altLang="en-US">
                          <a:solidFill>
                            <a:schemeClr val="bg1"/>
                          </a:solidFill>
                        </a:rPr>
                      </a:br>
                      <a:r>
                        <a:rPr lang="en-US" altLang="zh-CN">
                          <a:solidFill>
                            <a:schemeClr val="bg1"/>
                          </a:solidFill>
                        </a:rPr>
                        <a:t>- </a:t>
                      </a:r>
                      <a:r>
                        <a:rPr lang="zh-CN" altLang="en-US">
                          <a:solidFill>
                            <a:schemeClr val="bg1"/>
                          </a:solidFill>
                        </a:rPr>
                        <a:t>实现版本控制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38728833"/>
                  </a:ext>
                </a:extLst>
              </a:tr>
              <a:tr h="0">
                <a:tc>
                  <a:txBody>
                    <a:bodyPr/>
                    <a:lstStyle/>
                    <a:p>
                      <a:pPr>
                        <a:buNone/>
                      </a:pPr>
                      <a:r>
                        <a:rPr lang="zh-CN" altLang="en-US">
                          <a:solidFill>
                            <a:schemeClr val="bg1"/>
                          </a:solidFill>
                        </a:rPr>
                        <a:t>产品库（</a:t>
                      </a:r>
                      <a:r>
                        <a:rPr lang="en-US">
                          <a:solidFill>
                            <a:schemeClr val="bg1"/>
                          </a:solidFill>
                        </a:rPr>
                        <a:t>Product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存放已发布、正式交付的产品版本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 </a:t>
                      </a:r>
                      <a:r>
                        <a:rPr lang="zh-CN" altLang="en-US">
                          <a:solidFill>
                            <a:schemeClr val="bg1"/>
                          </a:solidFill>
                        </a:rPr>
                        <a:t>最终版本</a:t>
                      </a:r>
                      <a:br>
                        <a:rPr lang="zh-CN" altLang="en-US">
                          <a:solidFill>
                            <a:schemeClr val="bg1"/>
                          </a:solidFill>
                        </a:rPr>
                      </a:br>
                      <a:r>
                        <a:rPr lang="en-US" altLang="zh-CN">
                          <a:solidFill>
                            <a:schemeClr val="bg1"/>
                          </a:solidFill>
                        </a:rPr>
                        <a:t>- </a:t>
                      </a:r>
                      <a:r>
                        <a:rPr lang="zh-CN" altLang="en-US">
                          <a:solidFill>
                            <a:schemeClr val="bg1"/>
                          </a:solidFill>
                        </a:rPr>
                        <a:t>不可随意修改</a:t>
                      </a:r>
                      <a:br>
                        <a:rPr lang="zh-CN" altLang="en-US">
                          <a:solidFill>
                            <a:schemeClr val="bg1"/>
                          </a:solidFill>
                        </a:rPr>
                      </a:br>
                      <a:r>
                        <a:rPr lang="en-US" altLang="zh-CN">
                          <a:solidFill>
                            <a:schemeClr val="bg1"/>
                          </a:solidFill>
                        </a:rPr>
                        <a:t>- </a:t>
                      </a:r>
                      <a:r>
                        <a:rPr lang="zh-CN" altLang="en-US">
                          <a:solidFill>
                            <a:schemeClr val="bg1"/>
                          </a:solidFill>
                        </a:rPr>
                        <a:t>供发布和交付使用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33103633"/>
                  </a:ext>
                </a:extLst>
              </a:tr>
            </a:tbl>
          </a:graphicData>
        </a:graphic>
      </p:graphicFrame>
    </p:spTree>
    <p:extLst>
      <p:ext uri="{BB962C8B-B14F-4D97-AF65-F5344CB8AC3E}">
        <p14:creationId xmlns:p14="http://schemas.microsoft.com/office/powerpoint/2010/main" val="3358279613"/>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77D3B2-C106-DA07-4CB8-C5FFBB7270C3}"/>
              </a:ext>
            </a:extLst>
          </p:cNvPr>
          <p:cNvSpPr>
            <a:spLocks noGrp="1"/>
          </p:cNvSpPr>
          <p:nvPr>
            <p:ph type="title"/>
          </p:nvPr>
        </p:nvSpPr>
        <p:spPr>
          <a:xfrm>
            <a:off x="695998" y="360000"/>
            <a:ext cx="6375921" cy="429413"/>
          </a:xfrm>
        </p:spPr>
        <p:txBody>
          <a:bodyPr>
            <a:normAutofit/>
          </a:bodyPr>
          <a:lstStyle/>
          <a:p>
            <a:r>
              <a:rPr lang="zh-CN" altLang="en-US"/>
              <a:t>发布管理和交付</a:t>
            </a:r>
          </a:p>
        </p:txBody>
      </p:sp>
      <p:sp>
        <p:nvSpPr>
          <p:cNvPr id="7" name="内容占位符 6">
            <a:extLst>
              <a:ext uri="{FF2B5EF4-FFF2-40B4-BE49-F238E27FC236}">
                <a16:creationId xmlns:a16="http://schemas.microsoft.com/office/drawing/2014/main" id="{3DF03DC4-C917-6F2B-73AE-DF6832175447}"/>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AEE779BD-DDB3-F165-4749-5BBB8590AD7E}"/>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3874212858"/>
              </p:ext>
            </p:extLst>
          </p:nvPr>
        </p:nvGraphicFramePr>
        <p:xfrm>
          <a:off x="695325" y="3448800"/>
          <a:ext cx="10801350" cy="2743200"/>
        </p:xfrm>
        <a:graphic>
          <a:graphicData uri="http://schemas.openxmlformats.org/drawingml/2006/table">
            <a:tbl>
              <a:tblPr/>
              <a:tblGrid>
                <a:gridCol w="5400675">
                  <a:extLst>
                    <a:ext uri="{9D8B030D-6E8A-4147-A177-3AD203B41FA5}">
                      <a16:colId xmlns:a16="http://schemas.microsoft.com/office/drawing/2014/main" val="4199016566"/>
                    </a:ext>
                  </a:extLst>
                </a:gridCol>
                <a:gridCol w="5400675">
                  <a:extLst>
                    <a:ext uri="{9D8B030D-6E8A-4147-A177-3AD203B41FA5}">
                      <a16:colId xmlns:a16="http://schemas.microsoft.com/office/drawing/2014/main" val="2395728285"/>
                    </a:ext>
                  </a:extLst>
                </a:gridCol>
              </a:tblGrid>
              <a:tr h="0">
                <a:tc>
                  <a:txBody>
                    <a:bodyPr/>
                    <a:lstStyle/>
                    <a:p>
                      <a:pPr>
                        <a:buNone/>
                      </a:pPr>
                      <a:r>
                        <a:rPr lang="zh-CN" altLang="en-US">
                          <a:solidFill>
                            <a:schemeClr val="bg1"/>
                          </a:solidFill>
                        </a:rPr>
                        <a:t>活动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4290677"/>
                  </a:ext>
                </a:extLst>
              </a:tr>
              <a:tr h="0">
                <a:tc>
                  <a:txBody>
                    <a:bodyPr/>
                    <a:lstStyle/>
                    <a:p>
                      <a:pPr>
                        <a:buNone/>
                      </a:pPr>
                      <a:r>
                        <a:rPr lang="zh-CN" altLang="en-US">
                          <a:solidFill>
                            <a:schemeClr val="bg1"/>
                          </a:solidFill>
                        </a:rPr>
                        <a:t>打包 </a:t>
                      </a:r>
                      <a:r>
                        <a:rPr lang="en-US">
                          <a:solidFill>
                            <a:schemeClr val="bg1"/>
                          </a:solidFill>
                        </a:rPr>
                        <a:t>Packaging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将多个配置项（如代码、文档、配置文件）组合成一个可发布的单元（如安装包、镜像）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36428169"/>
                  </a:ext>
                </a:extLst>
              </a:tr>
              <a:tr h="0">
                <a:tc>
                  <a:txBody>
                    <a:bodyPr/>
                    <a:lstStyle/>
                    <a:p>
                      <a:pPr>
                        <a:buNone/>
                      </a:pPr>
                      <a:r>
                        <a:rPr lang="zh-CN" altLang="en-US">
                          <a:solidFill>
                            <a:schemeClr val="bg1"/>
                          </a:solidFill>
                        </a:rPr>
                        <a:t>复制 </a:t>
                      </a:r>
                      <a:r>
                        <a:rPr lang="en-US">
                          <a:solidFill>
                            <a:schemeClr val="bg1"/>
                          </a:solidFill>
                        </a:rPr>
                        <a:t>Replication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将发布版本复制到目标环境（如测试、生产、客户）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781879113"/>
                  </a:ext>
                </a:extLst>
              </a:tr>
              <a:tr h="0">
                <a:tc>
                  <a:txBody>
                    <a:bodyPr/>
                    <a:lstStyle/>
                    <a:p>
                      <a:pPr>
                        <a:buNone/>
                      </a:pPr>
                      <a:r>
                        <a:rPr lang="zh-CN" altLang="en-US">
                          <a:solidFill>
                            <a:schemeClr val="bg1"/>
                          </a:solidFill>
                        </a:rPr>
                        <a:t>存储 </a:t>
                      </a:r>
                      <a:r>
                        <a:rPr lang="en-US">
                          <a:solidFill>
                            <a:schemeClr val="bg1"/>
                          </a:solidFill>
                        </a:rPr>
                        <a:t>Storage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将发布版本存放在产品库或发布服务器中，供后续使用或回滚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35302203"/>
                  </a:ext>
                </a:extLst>
              </a:tr>
              <a:tr h="0">
                <a:tc>
                  <a:txBody>
                    <a:bodyPr/>
                    <a:lstStyle/>
                    <a:p>
                      <a:pPr>
                        <a:buNone/>
                      </a:pPr>
                      <a:r>
                        <a:rPr lang="zh-CN" altLang="en-US">
                          <a:solidFill>
                            <a:schemeClr val="bg1"/>
                          </a:solidFill>
                        </a:rPr>
                        <a:t>分发 </a:t>
                      </a:r>
                      <a:r>
                        <a:rPr lang="en-US">
                          <a:solidFill>
                            <a:schemeClr val="bg1"/>
                          </a:solidFill>
                        </a:rPr>
                        <a:t>Distribution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向用户或运维团队提供发布包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0829072"/>
                  </a:ext>
                </a:extLst>
              </a:tr>
              <a:tr h="0">
                <a:tc>
                  <a:txBody>
                    <a:bodyPr/>
                    <a:lstStyle/>
                    <a:p>
                      <a:pPr>
                        <a:buNone/>
                      </a:pPr>
                      <a:r>
                        <a:rPr lang="zh-CN" altLang="en-US">
                          <a:solidFill>
                            <a:schemeClr val="bg1"/>
                          </a:solidFill>
                        </a:rPr>
                        <a:t>部署 </a:t>
                      </a:r>
                      <a:r>
                        <a:rPr lang="en-US">
                          <a:solidFill>
                            <a:schemeClr val="bg1"/>
                          </a:solidFill>
                        </a:rPr>
                        <a:t>Deployment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在目标环境中安装和运行发布包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2464886" y="4681056"/>
            <a:ext cx="7262228" cy="798491"/>
          </a:xfrm>
        </p:spPr>
        <p:txBody>
          <a:bodyPr/>
          <a:lstStyle/>
          <a:p>
            <a:r>
              <a:rPr lang="zh-CN" altLang="en-US"/>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2464886" y="5479548"/>
            <a:ext cx="7262228" cy="458180"/>
          </a:xfrm>
        </p:spPr>
        <p:txBody>
          <a:bodyPr/>
          <a:lstStyle/>
          <a:p>
            <a:r>
              <a:rPr lang="en-US" altLang="zh-CN"/>
              <a:t>Section 8 Project Team</a:t>
            </a:r>
            <a:endParaRPr lang="zh-CN" altLang="en-US"/>
          </a:p>
        </p:txBody>
      </p:sp>
      <p:sp>
        <p:nvSpPr>
          <p:cNvPr id="7" name="文本占位符 6">
            <a:extLst>
              <a:ext uri="{FF2B5EF4-FFF2-40B4-BE49-F238E27FC236}">
                <a16:creationId xmlns:a16="http://schemas.microsoft.com/office/drawing/2014/main" id="{00BC0D8F-8EF0-F8CA-9F58-7B2F9D4A731F}"/>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1657808287"/>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A0926-B592-01FA-054D-52B5D6F7DA82}"/>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8A26963B-CFFC-CDDD-A9B8-9C6C942B4636}"/>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C6AE52E3-247C-DC41-9D2C-DF6270BC1D05}"/>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985DE243-6AA7-19D2-49FD-44B2ADEA518F}"/>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BBA3F34E-DA18-1BA1-63B0-FCC37216F226}"/>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204622C8-DE79-D2F9-876E-4A7CEAC17790}"/>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DB5D75F2-2A71-E442-9EEC-DC9057B15411}"/>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1EFEB7EC-8573-A8FE-49E5-EEC441AFC9CD}"/>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76D76049-DFB0-C086-CF66-48F9B5DE7F20}"/>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99AA9747-F7B1-796F-9A7F-A8D7B5F56868}"/>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441DE999-90D2-8DDF-35DF-F3C64BFD090B}"/>
              </a:ext>
            </a:extLst>
          </p:cNvPr>
          <p:cNvSpPr/>
          <p:nvPr/>
        </p:nvSpPr>
        <p:spPr>
          <a:xfrm>
            <a:off x="6921478"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06382E8B-8578-4E73-6523-87A8BAF62E90}"/>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7580AAD0-7FD4-114A-42C0-CECE5F40BAC0}"/>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69F47C5A-289D-7020-ECDF-ACCC1A11D6C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683643901"/>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CF6A98E-B257-8F8D-43F4-280E31A276D5}"/>
              </a:ext>
            </a:extLst>
          </p:cNvPr>
          <p:cNvSpPr>
            <a:spLocks noGrp="1"/>
          </p:cNvSpPr>
          <p:nvPr>
            <p:ph type="title"/>
          </p:nvPr>
        </p:nvSpPr>
        <p:spPr>
          <a:xfrm>
            <a:off x="695998" y="360000"/>
            <a:ext cx="6375921" cy="429413"/>
          </a:xfrm>
        </p:spPr>
        <p:txBody>
          <a:bodyPr>
            <a:normAutofit/>
          </a:bodyPr>
          <a:lstStyle/>
          <a:p>
            <a:r>
              <a:rPr lang="zh-CN" altLang="en-US"/>
              <a:t>团队发展四阶段</a:t>
            </a:r>
          </a:p>
        </p:txBody>
      </p:sp>
      <p:sp>
        <p:nvSpPr>
          <p:cNvPr id="6" name="内容占位符 5">
            <a:extLst>
              <a:ext uri="{FF2B5EF4-FFF2-40B4-BE49-F238E27FC236}">
                <a16:creationId xmlns:a16="http://schemas.microsoft.com/office/drawing/2014/main" id="{503C520A-0517-88D9-2579-58A7AFF26F11}"/>
              </a:ext>
            </a:extLst>
          </p:cNvPr>
          <p:cNvSpPr>
            <a:spLocks noGrp="1"/>
          </p:cNvSpPr>
          <p:nvPr>
            <p:ph idx="1"/>
          </p:nvPr>
        </p:nvSpPr>
        <p:spPr>
          <a:xfrm>
            <a:off x="696000" y="864000"/>
            <a:ext cx="10800000" cy="5400000"/>
          </a:xfrm>
        </p:spPr>
        <p:txBody>
          <a:bodyPr/>
          <a:lstStyle/>
          <a:p>
            <a:r>
              <a:rPr lang="zh-CN" altLang="en-US"/>
              <a:t>塔克曼 </a:t>
            </a:r>
            <a:r>
              <a:rPr lang="en-US" altLang="zh-CN"/>
              <a:t>Bruce Tuckman </a:t>
            </a:r>
            <a:r>
              <a:rPr lang="zh-CN" altLang="en-US"/>
              <a:t>于</a:t>
            </a:r>
            <a:r>
              <a:rPr lang="en-US" altLang="zh-CN"/>
              <a:t>1965</a:t>
            </a:r>
            <a:r>
              <a:rPr lang="zh-CN" altLang="en-US"/>
              <a:t>年提出</a:t>
            </a:r>
          </a:p>
        </p:txBody>
      </p:sp>
      <p:sp>
        <p:nvSpPr>
          <p:cNvPr id="5" name="文本占位符 4">
            <a:extLst>
              <a:ext uri="{FF2B5EF4-FFF2-40B4-BE49-F238E27FC236}">
                <a16:creationId xmlns:a16="http://schemas.microsoft.com/office/drawing/2014/main" id="{61472ABF-54B5-61A6-F31E-E6F2728516FF}"/>
              </a:ext>
            </a:extLst>
          </p:cNvPr>
          <p:cNvSpPr>
            <a:spLocks noGrp="1"/>
          </p:cNvSpPr>
          <p:nvPr>
            <p:ph type="body" sz="quarter" idx="10"/>
          </p:nvPr>
        </p:nvSpPr>
        <p:spPr/>
        <p:txBody>
          <a:bodyPr/>
          <a:lstStyle/>
          <a:p>
            <a:endParaRPr lang="zh-CN" altLang="en-US"/>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2685887968"/>
              </p:ext>
            </p:extLst>
          </p:nvPr>
        </p:nvGraphicFramePr>
        <p:xfrm>
          <a:off x="695325" y="3996690"/>
          <a:ext cx="10801350" cy="2194560"/>
        </p:xfrm>
        <a:graphic>
          <a:graphicData uri="http://schemas.openxmlformats.org/drawingml/2006/table">
            <a:tbl>
              <a:tblPr/>
              <a:tblGrid>
                <a:gridCol w="5400675">
                  <a:extLst>
                    <a:ext uri="{9D8B030D-6E8A-4147-A177-3AD203B41FA5}">
                      <a16:colId xmlns:a16="http://schemas.microsoft.com/office/drawing/2014/main" val="98282091"/>
                    </a:ext>
                  </a:extLst>
                </a:gridCol>
                <a:gridCol w="5400675">
                  <a:extLst>
                    <a:ext uri="{9D8B030D-6E8A-4147-A177-3AD203B41FA5}">
                      <a16:colId xmlns:a16="http://schemas.microsoft.com/office/drawing/2014/main" val="3840129698"/>
                    </a:ext>
                  </a:extLst>
                </a:gridCol>
              </a:tblGrid>
              <a:tr h="0">
                <a:tc>
                  <a:txBody>
                    <a:bodyPr/>
                    <a:lstStyle/>
                    <a:p>
                      <a:pPr>
                        <a:buNone/>
                      </a:pPr>
                      <a:r>
                        <a:rPr lang="en-US" altLang="zh-CN">
                          <a:solidFill>
                            <a:schemeClr val="bg1"/>
                          </a:solidFill>
                        </a:rPr>
                        <a:t>Item</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buNone/>
                      </a:pPr>
                      <a:r>
                        <a:rPr lang="en-US" altLang="zh-CN">
                          <a:solidFill>
                            <a:schemeClr val="bg1"/>
                          </a:solidFill>
                        </a:rPr>
                        <a:t>Description</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extLst>
                  <a:ext uri="{0D108BD9-81ED-4DB2-BD59-A6C34878D82A}">
                    <a16:rowId xmlns:a16="http://schemas.microsoft.com/office/drawing/2014/main" val="4294107049"/>
                  </a:ext>
                </a:extLst>
              </a:tr>
              <a:tr h="0">
                <a:tc>
                  <a:txBody>
                    <a:bodyPr/>
                    <a:lstStyle/>
                    <a:p>
                      <a:pPr>
                        <a:buNone/>
                      </a:pPr>
                      <a:r>
                        <a:rPr lang="en-US">
                          <a:solidFill>
                            <a:schemeClr val="bg1"/>
                          </a:solidFill>
                        </a:rPr>
                        <a:t>Forming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形成期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0982016"/>
                  </a:ext>
                </a:extLst>
              </a:tr>
              <a:tr h="0">
                <a:tc>
                  <a:txBody>
                    <a:bodyPr/>
                    <a:lstStyle/>
                    <a:p>
                      <a:pPr>
                        <a:buNone/>
                      </a:pPr>
                      <a:r>
                        <a:rPr lang="en-US">
                          <a:solidFill>
                            <a:schemeClr val="bg1"/>
                          </a:solidFill>
                        </a:rPr>
                        <a:t>Storming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震荡期或磨合期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7801575"/>
                  </a:ext>
                </a:extLst>
              </a:tr>
              <a:tr h="0">
                <a:tc>
                  <a:txBody>
                    <a:bodyPr/>
                    <a:lstStyle/>
                    <a:p>
                      <a:pPr>
                        <a:buNone/>
                      </a:pPr>
                      <a:r>
                        <a:rPr lang="en-US">
                          <a:solidFill>
                            <a:schemeClr val="bg1"/>
                          </a:solidFill>
                        </a:rPr>
                        <a:t>Norming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规范期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0702055"/>
                  </a:ext>
                </a:extLst>
              </a:tr>
              <a:tr h="0">
                <a:tc>
                  <a:txBody>
                    <a:bodyPr/>
                    <a:lstStyle/>
                    <a:p>
                      <a:pPr>
                        <a:buNone/>
                      </a:pPr>
                      <a:r>
                        <a:rPr lang="en-US">
                          <a:solidFill>
                            <a:schemeClr val="bg1"/>
                          </a:solidFill>
                        </a:rPr>
                        <a:t>Performing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表现期 </a:t>
                      </a:r>
                      <a:r>
                        <a:rPr lang="en-US" altLang="zh-CN">
                          <a:solidFill>
                            <a:schemeClr val="bg1"/>
                          </a:solidFill>
                        </a:rPr>
                        <a:t>/ </a:t>
                      </a:r>
                      <a:r>
                        <a:rPr lang="zh-CN" altLang="en-US">
                          <a:solidFill>
                            <a:schemeClr val="bg1"/>
                          </a:solidFill>
                        </a:rPr>
                        <a:t>执行期 </a:t>
                      </a:r>
                      <a:r>
                        <a:rPr lang="en-US" altLang="zh-CN">
                          <a:solidFill>
                            <a:schemeClr val="bg1"/>
                          </a:solidFill>
                        </a:rPr>
                        <a:t>/ </a:t>
                      </a:r>
                      <a:r>
                        <a:rPr lang="zh-CN" altLang="en-US">
                          <a:solidFill>
                            <a:schemeClr val="bg1"/>
                          </a:solidFill>
                        </a:rPr>
                        <a:t>高绩效期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37711081"/>
                  </a:ext>
                </a:extLst>
              </a:tr>
              <a:tr h="0">
                <a:tc>
                  <a:txBody>
                    <a:bodyPr/>
                    <a:lstStyle/>
                    <a:p>
                      <a:pPr>
                        <a:buNone/>
                      </a:pPr>
                      <a:r>
                        <a:rPr lang="en-US">
                          <a:solidFill>
                            <a:schemeClr val="bg1"/>
                          </a:solidFill>
                        </a:rPr>
                        <a:t>Adjourning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结束期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15FF807-D4AD-87BB-16C5-2AFE892CC52F}"/>
              </a:ext>
            </a:extLst>
          </p:cNvPr>
          <p:cNvSpPr>
            <a:spLocks noGrp="1"/>
          </p:cNvSpPr>
          <p:nvPr>
            <p:ph type="title"/>
          </p:nvPr>
        </p:nvSpPr>
        <p:spPr>
          <a:xfrm>
            <a:off x="695998" y="360000"/>
            <a:ext cx="6375921" cy="429413"/>
          </a:xfrm>
        </p:spPr>
        <p:txBody>
          <a:bodyPr>
            <a:normAutofit/>
          </a:bodyPr>
          <a:lstStyle/>
          <a:p>
            <a:r>
              <a:rPr lang="zh-CN" altLang="en-US"/>
              <a:t>人力资源管理</a:t>
            </a:r>
          </a:p>
        </p:txBody>
      </p:sp>
      <p:sp>
        <p:nvSpPr>
          <p:cNvPr id="3" name="内容占位符 2">
            <a:extLst>
              <a:ext uri="{FF2B5EF4-FFF2-40B4-BE49-F238E27FC236}">
                <a16:creationId xmlns:a16="http://schemas.microsoft.com/office/drawing/2014/main" id="{7C6EFB41-CF6A-0D4C-135E-BED5FD9FCF8A}"/>
              </a:ext>
            </a:extLst>
          </p:cNvPr>
          <p:cNvSpPr>
            <a:spLocks noGrp="1"/>
          </p:cNvSpPr>
          <p:nvPr>
            <p:ph idx="1"/>
          </p:nvPr>
        </p:nvSpPr>
        <p:spPr>
          <a:xfrm>
            <a:off x="696000" y="864000"/>
            <a:ext cx="10800000" cy="5400000"/>
          </a:xfrm>
        </p:spPr>
        <p:txBody>
          <a:bodyPr/>
          <a:lstStyle/>
          <a:p>
            <a:r>
              <a:rPr lang="zh-CN" altLang="en-US"/>
              <a:t>编制</a:t>
            </a:r>
            <a:endParaRPr lang="en-US" altLang="zh-CN"/>
          </a:p>
          <a:p>
            <a:r>
              <a:rPr lang="zh-CN" altLang="en-US"/>
              <a:t>组建</a:t>
            </a:r>
            <a:endParaRPr lang="en-US" altLang="zh-CN"/>
          </a:p>
          <a:p>
            <a:r>
              <a:rPr lang="zh-CN" altLang="en-US"/>
              <a:t>建设</a:t>
            </a:r>
            <a:endParaRPr lang="en-US" altLang="zh-CN"/>
          </a:p>
          <a:p>
            <a:r>
              <a:rPr lang="zh-CN" altLang="en-US"/>
              <a:t>管理</a:t>
            </a:r>
          </a:p>
        </p:txBody>
      </p:sp>
      <p:sp>
        <p:nvSpPr>
          <p:cNvPr id="6" name="文本占位符 5">
            <a:extLst>
              <a:ext uri="{FF2B5EF4-FFF2-40B4-BE49-F238E27FC236}">
                <a16:creationId xmlns:a16="http://schemas.microsoft.com/office/drawing/2014/main" id="{32D4F82D-BEE5-7358-FBD3-8423C494A33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925032"/>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5998" y="360000"/>
            <a:ext cx="6375921" cy="429413"/>
          </a:xfrm>
        </p:spPr>
        <p:txBody>
          <a:bodyPr>
            <a:normAutofit/>
          </a:bodyPr>
          <a:lstStyle/>
          <a:p>
            <a:r>
              <a:rPr lang="zh-CN" altLang="en-US"/>
              <a:t>责任分配矩阵</a:t>
            </a:r>
          </a:p>
        </p:txBody>
      </p:sp>
      <p:graphicFrame>
        <p:nvGraphicFramePr>
          <p:cNvPr id="5" name="内容占位符 4">
            <a:extLst>
              <a:ext uri="{FF2B5EF4-FFF2-40B4-BE49-F238E27FC236}">
                <a16:creationId xmlns:a16="http://schemas.microsoft.com/office/drawing/2014/main" id="{611D0D26-6BE3-8125-4D93-A2C3B4AAE019}"/>
              </a:ext>
            </a:extLst>
          </p:cNvPr>
          <p:cNvGraphicFramePr>
            <a:graphicFrameLocks noGrp="1"/>
          </p:cNvGraphicFramePr>
          <p:nvPr>
            <p:ph idx="1"/>
            <p:extLst>
              <p:ext uri="{D42A27DB-BD31-4B8C-83A1-F6EECF244321}">
                <p14:modId xmlns:p14="http://schemas.microsoft.com/office/powerpoint/2010/main" val="4059632314"/>
              </p:ext>
            </p:extLst>
          </p:nvPr>
        </p:nvGraphicFramePr>
        <p:xfrm>
          <a:off x="695325" y="863600"/>
          <a:ext cx="10801350" cy="1854200"/>
        </p:xfrm>
        <a:graphic>
          <a:graphicData uri="http://schemas.openxmlformats.org/drawingml/2006/table">
            <a:tbl>
              <a:tblPr firstRow="1" bandRow="1">
                <a:tableStyleId>{21E4AEA4-8DFA-4A89-87EB-49C32662AFE0}</a:tableStyleId>
              </a:tblPr>
              <a:tblGrid>
                <a:gridCol w="2160270">
                  <a:extLst>
                    <a:ext uri="{9D8B030D-6E8A-4147-A177-3AD203B41FA5}">
                      <a16:colId xmlns:a16="http://schemas.microsoft.com/office/drawing/2014/main" val="3999067801"/>
                    </a:ext>
                  </a:extLst>
                </a:gridCol>
                <a:gridCol w="2160270">
                  <a:extLst>
                    <a:ext uri="{9D8B030D-6E8A-4147-A177-3AD203B41FA5}">
                      <a16:colId xmlns:a16="http://schemas.microsoft.com/office/drawing/2014/main" val="1734416110"/>
                    </a:ext>
                  </a:extLst>
                </a:gridCol>
                <a:gridCol w="2160270">
                  <a:extLst>
                    <a:ext uri="{9D8B030D-6E8A-4147-A177-3AD203B41FA5}">
                      <a16:colId xmlns:a16="http://schemas.microsoft.com/office/drawing/2014/main" val="1798037809"/>
                    </a:ext>
                  </a:extLst>
                </a:gridCol>
                <a:gridCol w="2160270">
                  <a:extLst>
                    <a:ext uri="{9D8B030D-6E8A-4147-A177-3AD203B41FA5}">
                      <a16:colId xmlns:a16="http://schemas.microsoft.com/office/drawing/2014/main" val="3458534209"/>
                    </a:ext>
                  </a:extLst>
                </a:gridCol>
                <a:gridCol w="2160270">
                  <a:extLst>
                    <a:ext uri="{9D8B030D-6E8A-4147-A177-3AD203B41FA5}">
                      <a16:colId xmlns:a16="http://schemas.microsoft.com/office/drawing/2014/main" val="798378600"/>
                    </a:ext>
                  </a:extLst>
                </a:gridCol>
              </a:tblGrid>
              <a:tr h="370840">
                <a:tc gridSpan="5">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人员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需求定义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张三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李四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王五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赵六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178040689"/>
                  </a:ext>
                </a:extLst>
              </a:tr>
              <a:tr h="370840">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系统设计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87288823"/>
                  </a:ext>
                </a:extLst>
              </a:tr>
              <a:tr h="370840">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系统开发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8659324"/>
                  </a:ext>
                </a:extLst>
              </a:tr>
              <a:tr h="370840">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测试</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86058177"/>
                  </a:ext>
                </a:extLst>
              </a:tr>
            </a:tbl>
          </a:graphicData>
        </a:graphic>
      </p:graphicFrame>
      <p:sp>
        <p:nvSpPr>
          <p:cNvPr id="6" name="文本占位符 5">
            <a:extLst>
              <a:ext uri="{FF2B5EF4-FFF2-40B4-BE49-F238E27FC236}">
                <a16:creationId xmlns:a16="http://schemas.microsoft.com/office/drawing/2014/main" id="{3C2771CF-5E35-E161-74AF-B9C648A506D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39220882"/>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ADA6BB-7092-7A20-3592-407F582001D6}"/>
              </a:ext>
            </a:extLst>
          </p:cNvPr>
          <p:cNvSpPr>
            <a:spLocks noGrp="1"/>
          </p:cNvSpPr>
          <p:nvPr>
            <p:ph type="title"/>
          </p:nvPr>
        </p:nvSpPr>
        <p:spPr>
          <a:xfrm>
            <a:off x="695998" y="360000"/>
            <a:ext cx="6375921" cy="429413"/>
          </a:xfrm>
        </p:spPr>
        <p:txBody>
          <a:bodyPr>
            <a:normAutofit/>
          </a:bodyPr>
          <a:lstStyle/>
          <a:p>
            <a:r>
              <a:rPr lang="zh-CN" altLang="en-US"/>
              <a:t>冲突解决</a:t>
            </a:r>
          </a:p>
        </p:txBody>
      </p:sp>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1"/>
            <p:extLst>
              <p:ext uri="{D42A27DB-BD31-4B8C-83A1-F6EECF244321}">
                <p14:modId xmlns:p14="http://schemas.microsoft.com/office/powerpoint/2010/main" val="2801849561"/>
              </p:ext>
            </p:extLst>
          </p:nvPr>
        </p:nvGraphicFramePr>
        <p:xfrm>
          <a:off x="695325" y="863600"/>
          <a:ext cx="10801350" cy="219456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a:solidFill>
                            <a:schemeClr val="bg1"/>
                          </a:solidFill>
                        </a:rPr>
                        <a:t>技术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453913"/>
                  </a:ext>
                </a:extLst>
              </a:tr>
              <a:tr h="0">
                <a:tc>
                  <a:txBody>
                    <a:bodyPr/>
                    <a:lstStyle/>
                    <a:p>
                      <a:pPr>
                        <a:buNone/>
                      </a:pPr>
                      <a:r>
                        <a:rPr lang="zh-CN" altLang="en-US">
                          <a:solidFill>
                            <a:schemeClr val="bg1"/>
                          </a:solidFill>
                        </a:rPr>
                        <a:t>回避</a:t>
                      </a:r>
                      <a:r>
                        <a:rPr lang="en-US" altLang="zh-CN">
                          <a:solidFill>
                            <a:schemeClr val="bg1"/>
                          </a:solidFill>
                        </a:rPr>
                        <a:t>/</a:t>
                      </a:r>
                      <a:r>
                        <a:rPr lang="zh-CN" altLang="en-US">
                          <a:solidFill>
                            <a:schemeClr val="bg1"/>
                          </a:solidFill>
                        </a:rPr>
                        <a:t>撤退 </a:t>
                      </a:r>
                      <a:r>
                        <a:rPr lang="en-US">
                          <a:solidFill>
                            <a:schemeClr val="bg1"/>
                          </a:solidFill>
                        </a:rPr>
                        <a:t>Avoiding/Withdrawal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回避问题，不处理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临时回避，或问题不重要时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3555536"/>
                  </a:ext>
                </a:extLst>
              </a:tr>
              <a:tr h="0">
                <a:tc>
                  <a:txBody>
                    <a:bodyPr/>
                    <a:lstStyle/>
                    <a:p>
                      <a:pPr>
                        <a:buNone/>
                      </a:pPr>
                      <a:r>
                        <a:rPr lang="zh-CN" altLang="en-US">
                          <a:solidFill>
                            <a:schemeClr val="bg1"/>
                          </a:solidFill>
                        </a:rPr>
                        <a:t>安抚</a:t>
                      </a:r>
                      <a:r>
                        <a:rPr lang="en-US" altLang="zh-CN">
                          <a:solidFill>
                            <a:schemeClr val="bg1"/>
                          </a:solidFill>
                        </a:rPr>
                        <a:t>/</a:t>
                      </a:r>
                      <a:r>
                        <a:rPr lang="zh-CN" altLang="en-US">
                          <a:solidFill>
                            <a:schemeClr val="bg1"/>
                          </a:solidFill>
                        </a:rPr>
                        <a:t>迁就 </a:t>
                      </a:r>
                      <a:r>
                        <a:rPr lang="en-US">
                          <a:solidFill>
                            <a:schemeClr val="bg1"/>
                          </a:solidFill>
                        </a:rPr>
                        <a:t>Accommodating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优先考虑他人需求，牺牲自己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维护关系，暂时让步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0821334"/>
                  </a:ext>
                </a:extLst>
              </a:tr>
              <a:tr h="0">
                <a:tc>
                  <a:txBody>
                    <a:bodyPr/>
                    <a:lstStyle/>
                    <a:p>
                      <a:pPr>
                        <a:buNone/>
                      </a:pPr>
                      <a:r>
                        <a:rPr lang="zh-CN" altLang="en-US">
                          <a:solidFill>
                            <a:schemeClr val="bg1"/>
                          </a:solidFill>
                        </a:rPr>
                        <a:t>妥协 </a:t>
                      </a:r>
                      <a:r>
                        <a:rPr lang="en-US">
                          <a:solidFill>
                            <a:schemeClr val="bg1"/>
                          </a:solidFill>
                        </a:rPr>
                        <a:t>Compromising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双方各让一步，达成折中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时间紧迫，双方都有利害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3499686"/>
                  </a:ext>
                </a:extLst>
              </a:tr>
              <a:tr h="0">
                <a:tc>
                  <a:txBody>
                    <a:bodyPr/>
                    <a:lstStyle/>
                    <a:p>
                      <a:pPr>
                        <a:buNone/>
                      </a:pPr>
                      <a:r>
                        <a:rPr lang="zh-CN" altLang="en-US">
                          <a:solidFill>
                            <a:schemeClr val="bg1"/>
                          </a:solidFill>
                        </a:rPr>
                        <a:t>强制 </a:t>
                      </a:r>
                      <a:r>
                        <a:rPr lang="en-US">
                          <a:solidFill>
                            <a:schemeClr val="bg1"/>
                          </a:solidFill>
                        </a:rPr>
                        <a:t>Forcing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强行推动自己的观点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权力大、必须决策时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00407737"/>
                  </a:ext>
                </a:extLst>
              </a:tr>
              <a:tr h="0">
                <a:tc>
                  <a:txBody>
                    <a:bodyPr/>
                    <a:lstStyle/>
                    <a:p>
                      <a:pPr>
                        <a:buNone/>
                      </a:pPr>
                      <a:r>
                        <a:rPr lang="zh-CN" altLang="en-US">
                          <a:solidFill>
                            <a:schemeClr val="bg1"/>
                          </a:solidFill>
                        </a:rPr>
                        <a:t>合作</a:t>
                      </a:r>
                      <a:r>
                        <a:rPr lang="en-US" altLang="zh-CN">
                          <a:solidFill>
                            <a:schemeClr val="bg1"/>
                          </a:solidFill>
                        </a:rPr>
                        <a:t>/</a:t>
                      </a:r>
                      <a:r>
                        <a:rPr lang="zh-CN" altLang="en-US">
                          <a:solidFill>
                            <a:schemeClr val="bg1"/>
                          </a:solidFill>
                        </a:rPr>
                        <a:t>解决问题 </a:t>
                      </a:r>
                      <a:r>
                        <a:rPr lang="en-US">
                          <a:solidFill>
                            <a:schemeClr val="bg1"/>
                          </a:solidFill>
                        </a:rPr>
                        <a:t>Collaborating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共同探讨，寻找双赢方案</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复杂问题，需要共识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18812145"/>
                  </a:ext>
                </a:extLst>
              </a:tr>
            </a:tbl>
          </a:graphicData>
        </a:graphic>
      </p:graphicFrame>
      <p:sp>
        <p:nvSpPr>
          <p:cNvPr id="5" name="文本占位符 4">
            <a:extLst>
              <a:ext uri="{FF2B5EF4-FFF2-40B4-BE49-F238E27FC236}">
                <a16:creationId xmlns:a16="http://schemas.microsoft.com/office/drawing/2014/main" id="{02E25227-3B79-C11B-379B-DF53170DCED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798594967"/>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8FF2FAC-A162-3CE6-9267-D3AFEB4A826B}"/>
              </a:ext>
            </a:extLst>
          </p:cNvPr>
          <p:cNvSpPr>
            <a:spLocks noGrp="1"/>
          </p:cNvSpPr>
          <p:nvPr>
            <p:ph type="title"/>
          </p:nvPr>
        </p:nvSpPr>
        <p:spPr>
          <a:xfrm>
            <a:off x="695998" y="360000"/>
            <a:ext cx="6375921" cy="429413"/>
          </a:xfrm>
        </p:spPr>
        <p:txBody>
          <a:bodyPr>
            <a:normAutofit/>
          </a:bodyPr>
          <a:lstStyle/>
          <a:p>
            <a:r>
              <a:rPr lang="zh-CN" altLang="en-US"/>
              <a:t>马斯洛需要层次理论</a:t>
            </a:r>
          </a:p>
        </p:txBody>
      </p:sp>
      <p:graphicFrame>
        <p:nvGraphicFramePr>
          <p:cNvPr id="5" name="内容占位符 4">
            <a:extLst>
              <a:ext uri="{FF2B5EF4-FFF2-40B4-BE49-F238E27FC236}">
                <a16:creationId xmlns:a16="http://schemas.microsoft.com/office/drawing/2014/main" id="{6AD8818F-00AC-2B08-F138-AB3AD8688B5F}"/>
              </a:ext>
            </a:extLst>
          </p:cNvPr>
          <p:cNvGraphicFramePr>
            <a:graphicFrameLocks noGrp="1"/>
          </p:cNvGraphicFramePr>
          <p:nvPr>
            <p:ph idx="1"/>
            <p:extLst>
              <p:ext uri="{D42A27DB-BD31-4B8C-83A1-F6EECF244321}">
                <p14:modId xmlns:p14="http://schemas.microsoft.com/office/powerpoint/2010/main" val="71125211"/>
              </p:ext>
            </p:extLst>
          </p:nvPr>
        </p:nvGraphicFramePr>
        <p:xfrm>
          <a:off x="695325" y="863600"/>
          <a:ext cx="10801350" cy="2194560"/>
        </p:xfrm>
        <a:graphic>
          <a:graphicData uri="http://schemas.openxmlformats.org/drawingml/2006/table">
            <a:tbl>
              <a:tblPr/>
              <a:tblGrid>
                <a:gridCol w="1247775">
                  <a:extLst>
                    <a:ext uri="{9D8B030D-6E8A-4147-A177-3AD203B41FA5}">
                      <a16:colId xmlns:a16="http://schemas.microsoft.com/office/drawing/2014/main" val="1510409188"/>
                    </a:ext>
                  </a:extLst>
                </a:gridCol>
                <a:gridCol w="4867275">
                  <a:extLst>
                    <a:ext uri="{9D8B030D-6E8A-4147-A177-3AD203B41FA5}">
                      <a16:colId xmlns:a16="http://schemas.microsoft.com/office/drawing/2014/main" val="2212586778"/>
                    </a:ext>
                  </a:extLst>
                </a:gridCol>
                <a:gridCol w="4686300">
                  <a:extLst>
                    <a:ext uri="{9D8B030D-6E8A-4147-A177-3AD203B41FA5}">
                      <a16:colId xmlns:a16="http://schemas.microsoft.com/office/drawing/2014/main" val="1462968597"/>
                    </a:ext>
                  </a:extLst>
                </a:gridCol>
              </a:tblGrid>
              <a:tr h="0">
                <a:tc>
                  <a:txBody>
                    <a:bodyPr/>
                    <a:lstStyle/>
                    <a:p>
                      <a:pPr>
                        <a:buNone/>
                      </a:pPr>
                      <a:r>
                        <a:rPr lang="zh-CN" altLang="en-US">
                          <a:solidFill>
                            <a:schemeClr val="bg1"/>
                          </a:solidFill>
                        </a:rPr>
                        <a:t>层次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名称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典型表现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1168794"/>
                  </a:ext>
                </a:extLst>
              </a:tr>
              <a:tr h="0">
                <a:tc>
                  <a:txBody>
                    <a:bodyPr/>
                    <a:lstStyle/>
                    <a:p>
                      <a:pPr>
                        <a:buNone/>
                      </a:pPr>
                      <a:r>
                        <a:rPr lang="en-US" altLang="zh-CN">
                          <a:solidFill>
                            <a:schemeClr val="bg1"/>
                          </a:solidFill>
                        </a:rPr>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生理需求（</a:t>
                      </a:r>
                      <a:r>
                        <a:rPr lang="en-US" altLang="zh-CN">
                          <a:solidFill>
                            <a:schemeClr val="bg1"/>
                          </a:solidFill>
                        </a:rPr>
                        <a:t>Physiological</a:t>
                      </a:r>
                      <a:r>
                        <a:rPr lang="en-US">
                          <a:solidFill>
                            <a:schemeClr val="bg1"/>
                          </a:solidFill>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饮食、睡眠、休息等基本生存需求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90555722"/>
                  </a:ext>
                </a:extLst>
              </a:tr>
              <a:tr h="0">
                <a:tc>
                  <a:txBody>
                    <a:bodyPr/>
                    <a:lstStyle/>
                    <a:p>
                      <a:pPr>
                        <a:buNone/>
                      </a:pPr>
                      <a:r>
                        <a:rPr lang="en-US" altLang="zh-CN">
                          <a:solidFill>
                            <a:schemeClr val="bg1"/>
                          </a:solidFill>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安全需求（</a:t>
                      </a:r>
                      <a:r>
                        <a:rPr lang="en-US" altLang="zh-CN">
                          <a:solidFill>
                            <a:schemeClr val="bg1"/>
                          </a:solidFill>
                        </a:rPr>
                        <a:t>Safety</a:t>
                      </a:r>
                      <a:r>
                        <a:rPr lang="en-US">
                          <a:solidFill>
                            <a:schemeClr val="bg1"/>
                          </a:solidFill>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工作稳定、健康保障、职业安全等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31442999"/>
                  </a:ext>
                </a:extLst>
              </a:tr>
              <a:tr h="0">
                <a:tc>
                  <a:txBody>
                    <a:bodyPr/>
                    <a:lstStyle/>
                    <a:p>
                      <a:pPr>
                        <a:buNone/>
                      </a:pPr>
                      <a:r>
                        <a:rPr lang="en-US" altLang="zh-CN">
                          <a:solidFill>
                            <a:schemeClr val="bg1"/>
                          </a:solidFill>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社会交往需求（</a:t>
                      </a:r>
                      <a:r>
                        <a:rPr lang="en-US">
                          <a:solidFill>
                            <a:schemeClr val="bg1"/>
                          </a:solidFill>
                        </a:rPr>
                        <a:t>Love/Belonging）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友谊、爱情、团队归属、被接纳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703633182"/>
                  </a:ext>
                </a:extLst>
              </a:tr>
              <a:tr h="0">
                <a:tc>
                  <a:txBody>
                    <a:bodyPr/>
                    <a:lstStyle/>
                    <a:p>
                      <a:pPr>
                        <a:buNone/>
                      </a:pPr>
                      <a:r>
                        <a:rPr lang="en-US" altLang="zh-CN">
                          <a:solidFill>
                            <a:schemeClr val="bg1"/>
                          </a:solidFill>
                        </a:rPr>
                        <a:t>4</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自尊需求（</a:t>
                      </a:r>
                      <a:r>
                        <a:rPr lang="en-US">
                          <a:solidFill>
                            <a:schemeClr val="bg1"/>
                          </a:solidFill>
                        </a:rPr>
                        <a:t>Esteem）</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获得尊重、认可、成就感、地位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7657656"/>
                  </a:ext>
                </a:extLst>
              </a:tr>
              <a:tr h="0">
                <a:tc>
                  <a:txBody>
                    <a:bodyPr/>
                    <a:lstStyle/>
                    <a:p>
                      <a:pPr>
                        <a:buNone/>
                      </a:pPr>
                      <a:r>
                        <a:rPr lang="en-US" altLang="zh-CN">
                          <a:solidFill>
                            <a:schemeClr val="bg1"/>
                          </a:solidFill>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自我实现（</a:t>
                      </a:r>
                      <a:r>
                        <a:rPr lang="en-US">
                          <a:solidFill>
                            <a:schemeClr val="bg1"/>
                          </a:solidFill>
                        </a:rPr>
                        <a:t>Self-actualization）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实现潜能、追求理想、创造性发挥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90960172"/>
                  </a:ext>
                </a:extLst>
              </a:tr>
            </a:tbl>
          </a:graphicData>
        </a:graphic>
      </p:graphicFrame>
      <p:sp>
        <p:nvSpPr>
          <p:cNvPr id="9" name="文本占位符 8">
            <a:extLst>
              <a:ext uri="{FF2B5EF4-FFF2-40B4-BE49-F238E27FC236}">
                <a16:creationId xmlns:a16="http://schemas.microsoft.com/office/drawing/2014/main" id="{BF40FB67-02B3-C99F-47BA-89556E1962EF}"/>
              </a:ext>
            </a:extLst>
          </p:cNvPr>
          <p:cNvSpPr>
            <a:spLocks noGrp="1"/>
          </p:cNvSpPr>
          <p:nvPr>
            <p:ph type="body" sz="quarter" idx="10"/>
          </p:nvPr>
        </p:nvSpPr>
        <p:spPr/>
        <p:txBody>
          <a:bodyPr/>
          <a:lstStyle/>
          <a:p>
            <a:endParaRPr lang="zh-CN" altLang="en-US"/>
          </a:p>
        </p:txBody>
      </p:sp>
      <p:graphicFrame>
        <p:nvGraphicFramePr>
          <p:cNvPr id="12" name="图示 11">
            <a:extLst>
              <a:ext uri="{FF2B5EF4-FFF2-40B4-BE49-F238E27FC236}">
                <a16:creationId xmlns:a16="http://schemas.microsoft.com/office/drawing/2014/main" id="{F1F94AB0-4D1E-AA5D-1AE2-D069DC398F95}"/>
              </a:ext>
            </a:extLst>
          </p:cNvPr>
          <p:cNvGraphicFramePr>
            <a:graphicFrameLocks noChangeAspect="1"/>
          </p:cNvGraphicFramePr>
          <p:nvPr>
            <p:extLst>
              <p:ext uri="{D42A27DB-BD31-4B8C-83A1-F6EECF244321}">
                <p14:modId xmlns:p14="http://schemas.microsoft.com/office/powerpoint/2010/main" val="547967781"/>
              </p:ext>
            </p:extLst>
          </p:nvPr>
        </p:nvGraphicFramePr>
        <p:xfrm>
          <a:off x="3396000" y="21785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5935852"/>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6CDFF28B-8D76-76D8-95C0-568C5C876B00}"/>
              </a:ext>
            </a:extLst>
          </p:cNvPr>
          <p:cNvSpPr>
            <a:spLocks noGrp="1"/>
          </p:cNvSpPr>
          <p:nvPr>
            <p:ph type="title"/>
          </p:nvPr>
        </p:nvSpPr>
        <p:spPr>
          <a:xfrm>
            <a:off x="695998" y="360000"/>
            <a:ext cx="6375921" cy="429413"/>
          </a:xfrm>
        </p:spPr>
        <p:txBody>
          <a:bodyPr>
            <a:normAutofit/>
          </a:bodyPr>
          <a:lstStyle/>
          <a:p>
            <a:r>
              <a:rPr lang="zh-CN" altLang="en-US"/>
              <a:t>赫茨伯格双因素激励理论</a:t>
            </a:r>
          </a:p>
        </p:txBody>
      </p:sp>
      <p:sp>
        <p:nvSpPr>
          <p:cNvPr id="3" name="内容占位符 2">
            <a:extLst>
              <a:ext uri="{FF2B5EF4-FFF2-40B4-BE49-F238E27FC236}">
                <a16:creationId xmlns:a16="http://schemas.microsoft.com/office/drawing/2014/main" id="{16070594-59BF-C8BF-E4A7-5205D1D32623}"/>
              </a:ext>
            </a:extLst>
          </p:cNvPr>
          <p:cNvSpPr>
            <a:spLocks noGrp="1"/>
          </p:cNvSpPr>
          <p:nvPr>
            <p:ph idx="1"/>
          </p:nvPr>
        </p:nvSpPr>
        <p:spPr>
          <a:xfrm>
            <a:off x="696000" y="864000"/>
            <a:ext cx="10800000" cy="5400000"/>
          </a:xfrm>
        </p:spPr>
        <p:txBody>
          <a:bodyPr>
            <a:normAutofit fontScale="92500" lnSpcReduction="10000"/>
          </a:bodyPr>
          <a:lstStyle/>
          <a:p>
            <a:r>
              <a:rPr lang="zh-CN" altLang="en-US"/>
              <a:t>由美国心理学家弗雷德里克</a:t>
            </a:r>
            <a:r>
              <a:rPr lang="en-US" altLang="zh-CN"/>
              <a:t>·</a:t>
            </a:r>
            <a:r>
              <a:rPr lang="zh-CN" altLang="en-US"/>
              <a:t>赫茨伯格（</a:t>
            </a:r>
            <a:r>
              <a:rPr lang="en-US" altLang="zh-CN"/>
              <a:t>Frederick Herzberg</a:t>
            </a:r>
            <a:r>
              <a:rPr lang="zh-CN" altLang="en-US"/>
              <a:t>）于</a:t>
            </a:r>
            <a:r>
              <a:rPr lang="en-US" altLang="zh-CN"/>
              <a:t>20</a:t>
            </a:r>
            <a:r>
              <a:rPr lang="zh-CN" altLang="en-US"/>
              <a:t>世纪</a:t>
            </a:r>
            <a:r>
              <a:rPr lang="en-US" altLang="zh-CN"/>
              <a:t>50</a:t>
            </a:r>
            <a:r>
              <a:rPr lang="zh-CN" altLang="en-US"/>
              <a:t>年代末提出的一种关于工作动机和员工满意度的重要理论</a:t>
            </a:r>
            <a:endParaRPr lang="en-US" altLang="zh-CN"/>
          </a:p>
          <a:p>
            <a:r>
              <a:rPr lang="zh-CN" altLang="en-US"/>
              <a:t>激励因素 </a:t>
            </a:r>
            <a:r>
              <a:rPr lang="en-US" altLang="zh-CN"/>
              <a:t>Motivators</a:t>
            </a:r>
            <a:r>
              <a:rPr lang="zh-CN" altLang="en-US"/>
              <a:t> </a:t>
            </a:r>
            <a:r>
              <a:rPr lang="en-US" altLang="zh-CN"/>
              <a:t>- </a:t>
            </a:r>
            <a:r>
              <a:rPr lang="zh-CN" altLang="en-US"/>
              <a:t>提升积极性</a:t>
            </a:r>
          </a:p>
          <a:p>
            <a:pPr lvl="1"/>
            <a:r>
              <a:rPr lang="zh-CN" altLang="en-US"/>
              <a:t>成就感（</a:t>
            </a:r>
            <a:r>
              <a:rPr lang="en-US" altLang="zh-CN"/>
              <a:t>Achievement</a:t>
            </a:r>
            <a:r>
              <a:rPr lang="zh-CN" altLang="en-US"/>
              <a:t>）</a:t>
            </a:r>
          </a:p>
          <a:p>
            <a:pPr lvl="1"/>
            <a:r>
              <a:rPr lang="zh-CN" altLang="en-US"/>
              <a:t>认可</a:t>
            </a:r>
            <a:r>
              <a:rPr lang="en-US" altLang="zh-CN"/>
              <a:t>/</a:t>
            </a:r>
            <a:r>
              <a:rPr lang="zh-CN" altLang="en-US"/>
              <a:t>赞赏（</a:t>
            </a:r>
            <a:r>
              <a:rPr lang="en-US" altLang="zh-CN"/>
              <a:t>Recognition</a:t>
            </a:r>
            <a:r>
              <a:rPr lang="zh-CN" altLang="en-US"/>
              <a:t>）</a:t>
            </a:r>
          </a:p>
          <a:p>
            <a:pPr lvl="1"/>
            <a:r>
              <a:rPr lang="zh-CN" altLang="en-US"/>
              <a:t>工作本身（</a:t>
            </a:r>
            <a:r>
              <a:rPr lang="en-US" altLang="zh-CN"/>
              <a:t>The work itself</a:t>
            </a:r>
            <a:r>
              <a:rPr lang="zh-CN" altLang="en-US"/>
              <a:t>）</a:t>
            </a:r>
          </a:p>
          <a:p>
            <a:pPr lvl="1"/>
            <a:r>
              <a:rPr lang="zh-CN" altLang="en-US"/>
              <a:t>责任感（</a:t>
            </a:r>
            <a:r>
              <a:rPr lang="en-US" altLang="zh-CN"/>
              <a:t>Responsibility</a:t>
            </a:r>
            <a:r>
              <a:rPr lang="zh-CN" altLang="en-US"/>
              <a:t>）</a:t>
            </a:r>
          </a:p>
          <a:p>
            <a:pPr lvl="1"/>
            <a:r>
              <a:rPr lang="zh-CN" altLang="en-US"/>
              <a:t>晋升机会（</a:t>
            </a:r>
            <a:r>
              <a:rPr lang="en-US" altLang="zh-CN"/>
              <a:t>Advancement</a:t>
            </a:r>
            <a:r>
              <a:rPr lang="zh-CN" altLang="en-US"/>
              <a:t>）</a:t>
            </a:r>
          </a:p>
          <a:p>
            <a:pPr lvl="1"/>
            <a:r>
              <a:rPr lang="zh-CN" altLang="en-US"/>
              <a:t>成长与发展（</a:t>
            </a:r>
            <a:r>
              <a:rPr lang="en-US" altLang="zh-CN"/>
              <a:t>Growth</a:t>
            </a:r>
            <a:r>
              <a:rPr lang="zh-CN" altLang="en-US"/>
              <a:t>）</a:t>
            </a:r>
            <a:endParaRPr lang="en-US" altLang="zh-CN"/>
          </a:p>
          <a:p>
            <a:r>
              <a:rPr lang="zh-CN" altLang="en-US"/>
              <a:t>保健因素 </a:t>
            </a:r>
            <a:r>
              <a:rPr lang="en-US" altLang="zh-CN"/>
              <a:t>Hygiene Factors</a:t>
            </a:r>
            <a:r>
              <a:rPr lang="zh-CN" altLang="en-US"/>
              <a:t> </a:t>
            </a:r>
            <a:r>
              <a:rPr lang="en-US" altLang="zh-CN"/>
              <a:t>-</a:t>
            </a:r>
            <a:r>
              <a:rPr lang="zh-CN" altLang="en-US"/>
              <a:t> 避免不满</a:t>
            </a:r>
          </a:p>
          <a:p>
            <a:pPr lvl="1"/>
            <a:r>
              <a:rPr lang="zh-CN" altLang="en-US"/>
              <a:t>公司政策与管理（</a:t>
            </a:r>
            <a:r>
              <a:rPr lang="en-US" altLang="zh-CN"/>
              <a:t>Company policy</a:t>
            </a:r>
            <a:r>
              <a:rPr lang="zh-CN" altLang="en-US"/>
              <a:t>）</a:t>
            </a:r>
          </a:p>
          <a:p>
            <a:pPr lvl="1"/>
            <a:r>
              <a:rPr lang="zh-CN" altLang="en-US"/>
              <a:t>监督方式（</a:t>
            </a:r>
            <a:r>
              <a:rPr lang="en-US" altLang="zh-CN"/>
              <a:t>Supervision</a:t>
            </a:r>
            <a:r>
              <a:rPr lang="zh-CN" altLang="en-US"/>
              <a:t>）</a:t>
            </a:r>
          </a:p>
          <a:p>
            <a:pPr lvl="1"/>
            <a:r>
              <a:rPr lang="zh-CN" altLang="en-US"/>
              <a:t>工作条件（</a:t>
            </a:r>
            <a:r>
              <a:rPr lang="en-US" altLang="zh-CN"/>
              <a:t>Working conditions</a:t>
            </a:r>
            <a:r>
              <a:rPr lang="zh-CN" altLang="en-US"/>
              <a:t>）</a:t>
            </a:r>
          </a:p>
          <a:p>
            <a:pPr lvl="1"/>
            <a:r>
              <a:rPr lang="zh-CN" altLang="en-US"/>
              <a:t>薪资待遇（</a:t>
            </a:r>
            <a:r>
              <a:rPr lang="en-US" altLang="zh-CN"/>
              <a:t>Salary</a:t>
            </a:r>
            <a:r>
              <a:rPr lang="zh-CN" altLang="en-US"/>
              <a:t>）</a:t>
            </a:r>
          </a:p>
          <a:p>
            <a:pPr lvl="1"/>
            <a:r>
              <a:rPr lang="zh-CN" altLang="en-US"/>
              <a:t>同事关系（</a:t>
            </a:r>
            <a:r>
              <a:rPr lang="en-US" altLang="zh-CN"/>
              <a:t>Interpersonal relations</a:t>
            </a:r>
            <a:r>
              <a:rPr lang="zh-CN" altLang="en-US"/>
              <a:t>）</a:t>
            </a:r>
          </a:p>
          <a:p>
            <a:pPr lvl="1"/>
            <a:r>
              <a:rPr lang="zh-CN" altLang="en-US"/>
              <a:t>地位（</a:t>
            </a:r>
            <a:r>
              <a:rPr lang="en-US" altLang="zh-CN"/>
              <a:t>Status</a:t>
            </a:r>
            <a:r>
              <a:rPr lang="zh-CN" altLang="en-US"/>
              <a:t>）</a:t>
            </a:r>
          </a:p>
          <a:p>
            <a:pPr lvl="1"/>
            <a:r>
              <a:rPr lang="zh-CN" altLang="en-US"/>
              <a:t>工作安全感（</a:t>
            </a:r>
            <a:r>
              <a:rPr lang="en-US" altLang="zh-CN"/>
              <a:t>Job security</a:t>
            </a:r>
            <a:r>
              <a:rPr lang="zh-CN" altLang="en-US"/>
              <a:t>）</a:t>
            </a:r>
          </a:p>
        </p:txBody>
      </p:sp>
      <p:sp>
        <p:nvSpPr>
          <p:cNvPr id="20" name="文本占位符 19">
            <a:extLst>
              <a:ext uri="{FF2B5EF4-FFF2-40B4-BE49-F238E27FC236}">
                <a16:creationId xmlns:a16="http://schemas.microsoft.com/office/drawing/2014/main" id="{57568756-3691-79AE-C834-25C4DBD0D9DA}"/>
              </a:ext>
            </a:extLst>
          </p:cNvPr>
          <p:cNvSpPr>
            <a:spLocks noGrp="1"/>
          </p:cNvSpPr>
          <p:nvPr>
            <p:ph type="body" sz="quarter" idx="10"/>
          </p:nvPr>
        </p:nvSpPr>
        <p:spPr>
          <a:xfrm>
            <a:off x="7071919" y="448519"/>
            <a:ext cx="4424080" cy="338554"/>
          </a:xfrm>
        </p:spPr>
        <p:txBody>
          <a:bodyPr/>
          <a:lstStyle/>
          <a:p>
            <a:r>
              <a:rPr lang="en-US" altLang="zh-CN"/>
              <a:t>Herzberg's Motivation-Hygiene Theory</a:t>
            </a:r>
          </a:p>
        </p:txBody>
      </p:sp>
    </p:spTree>
    <p:extLst>
      <p:ext uri="{BB962C8B-B14F-4D97-AF65-F5344CB8AC3E}">
        <p14:creationId xmlns:p14="http://schemas.microsoft.com/office/powerpoint/2010/main" val="2786837647"/>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13F4761-7A73-9624-CF8C-257621ACD1F6}"/>
              </a:ext>
            </a:extLst>
          </p:cNvPr>
          <p:cNvSpPr>
            <a:spLocks noGrp="1"/>
          </p:cNvSpPr>
          <p:nvPr>
            <p:ph type="title"/>
          </p:nvPr>
        </p:nvSpPr>
        <p:spPr/>
        <p:txBody>
          <a:bodyPr/>
          <a:lstStyle/>
          <a:p>
            <a:r>
              <a:rPr lang="zh-CN" altLang="en-US"/>
              <a:t>虚拟团队</a:t>
            </a:r>
          </a:p>
        </p:txBody>
      </p:sp>
      <p:sp>
        <p:nvSpPr>
          <p:cNvPr id="3" name="内容占位符 2">
            <a:extLst>
              <a:ext uri="{FF2B5EF4-FFF2-40B4-BE49-F238E27FC236}">
                <a16:creationId xmlns:a16="http://schemas.microsoft.com/office/drawing/2014/main" id="{CB14E2EF-9B74-95AC-A6BD-45F074662EF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72870D9C-DB4E-6F59-A800-3E8D38FCAE0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3382067"/>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078D7896-D496-BE2A-A9D1-E159830ADCD9}"/>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2284119812"/>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a:xfrm>
            <a:off x="695998" y="360000"/>
            <a:ext cx="6375921" cy="429413"/>
          </a:xfrm>
        </p:spPr>
        <p:txBody>
          <a:bodyPr/>
          <a:lstStyle/>
          <a:p>
            <a:r>
              <a:rPr lang="zh-CN" altLang="en-US"/>
              <a:t>沟通管理</a:t>
            </a:r>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864000"/>
            <a:ext cx="10800000" cy="5400000"/>
          </a:xfrm>
        </p:spPr>
        <p:txBody>
          <a:bodyPr/>
          <a:lstStyle/>
          <a:p>
            <a:r>
              <a:rPr lang="zh-CN" altLang="en-US"/>
              <a:t>规划管理过程</a:t>
            </a:r>
            <a:endParaRPr lang="en-US" altLang="zh-CN"/>
          </a:p>
          <a:p>
            <a:r>
              <a:rPr lang="zh-CN" altLang="en-US"/>
              <a:t>管理沟通</a:t>
            </a:r>
            <a:endParaRPr lang="en-US" altLang="zh-CN"/>
          </a:p>
          <a:p>
            <a:r>
              <a:rPr lang="zh-CN" altLang="en-US"/>
              <a:t>控制管理过程</a:t>
            </a:r>
            <a:endParaRPr lang="en-US" altLang="zh-CN"/>
          </a:p>
          <a:p>
            <a:pPr lvl="1"/>
            <a:r>
              <a:rPr lang="zh-CN" altLang="en-US"/>
              <a:t>有效沟通：效果和效率</a:t>
            </a:r>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a:xfrm>
            <a:off x="7071919" y="448519"/>
            <a:ext cx="4424080" cy="338554"/>
          </a:xfrm>
        </p:spPr>
        <p:txBody>
          <a:bodyPr/>
          <a:lstStyle/>
          <a:p>
            <a:r>
              <a:rPr lang="en-US" altLang="zh-CN"/>
              <a:t>Communication Mgt</a:t>
            </a:r>
            <a:endParaRPr lang="zh-CN" altLang="en-US"/>
          </a:p>
        </p:txBody>
      </p:sp>
      <p:graphicFrame>
        <p:nvGraphicFramePr>
          <p:cNvPr id="6" name="表格 5">
            <a:extLst>
              <a:ext uri="{FF2B5EF4-FFF2-40B4-BE49-F238E27FC236}">
                <a16:creationId xmlns:a16="http://schemas.microsoft.com/office/drawing/2014/main" id="{D2F70561-1685-3745-9C7B-BB5DA5858FC1}"/>
              </a:ext>
            </a:extLst>
          </p:cNvPr>
          <p:cNvGraphicFramePr>
            <a:graphicFrameLocks noGrp="1"/>
          </p:cNvGraphicFramePr>
          <p:nvPr>
            <p:extLst>
              <p:ext uri="{D42A27DB-BD31-4B8C-83A1-F6EECF244321}">
                <p14:modId xmlns:p14="http://schemas.microsoft.com/office/powerpoint/2010/main" val="257567925"/>
              </p:ext>
            </p:extLst>
          </p:nvPr>
        </p:nvGraphicFramePr>
        <p:xfrm>
          <a:off x="695325" y="3540240"/>
          <a:ext cx="10801350" cy="2651760"/>
        </p:xfrm>
        <a:graphic>
          <a:graphicData uri="http://schemas.openxmlformats.org/drawingml/2006/table">
            <a:tbl>
              <a:tblPr/>
              <a:tblGrid>
                <a:gridCol w="3600450">
                  <a:extLst>
                    <a:ext uri="{9D8B030D-6E8A-4147-A177-3AD203B41FA5}">
                      <a16:colId xmlns:a16="http://schemas.microsoft.com/office/drawing/2014/main" val="4038116095"/>
                    </a:ext>
                  </a:extLst>
                </a:gridCol>
                <a:gridCol w="3600450">
                  <a:extLst>
                    <a:ext uri="{9D8B030D-6E8A-4147-A177-3AD203B41FA5}">
                      <a16:colId xmlns:a16="http://schemas.microsoft.com/office/drawing/2014/main" val="2845909379"/>
                    </a:ext>
                  </a:extLst>
                </a:gridCol>
                <a:gridCol w="3600450">
                  <a:extLst>
                    <a:ext uri="{9D8B030D-6E8A-4147-A177-3AD203B41FA5}">
                      <a16:colId xmlns:a16="http://schemas.microsoft.com/office/drawing/2014/main" val="2152632391"/>
                    </a:ext>
                  </a:extLst>
                </a:gridCol>
              </a:tblGrid>
              <a:tr h="0">
                <a:tc>
                  <a:txBody>
                    <a:bodyPr/>
                    <a:lstStyle/>
                    <a:p>
                      <a:pPr>
                        <a:buNone/>
                      </a:pPr>
                      <a:r>
                        <a:rPr lang="zh-CN" altLang="en-US">
                          <a:solidFill>
                            <a:schemeClr val="bg1"/>
                          </a:solidFill>
                        </a:rPr>
                        <a:t>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定义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4886506"/>
                  </a:ext>
                </a:extLst>
              </a:tr>
              <a:tr h="0">
                <a:tc>
                  <a:txBody>
                    <a:bodyPr/>
                    <a:lstStyle/>
                    <a:p>
                      <a:pPr>
                        <a:buNone/>
                      </a:pPr>
                      <a:r>
                        <a:rPr lang="en-US">
                          <a:solidFill>
                            <a:schemeClr val="bg1"/>
                          </a:solidFill>
                        </a:rPr>
                        <a:t>A. </a:t>
                      </a:r>
                      <a:r>
                        <a:rPr lang="zh-CN" altLang="en-US">
                          <a:solidFill>
                            <a:schemeClr val="bg1"/>
                          </a:solidFill>
                        </a:rPr>
                        <a:t>正式沟通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通过组织结构、书面文件、会议等正规渠道进行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规范、有记录、可控性强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95844813"/>
                  </a:ext>
                </a:extLst>
              </a:tr>
              <a:tr h="0">
                <a:tc>
                  <a:txBody>
                    <a:bodyPr/>
                    <a:lstStyle/>
                    <a:p>
                      <a:pPr>
                        <a:buNone/>
                      </a:pPr>
                      <a:r>
                        <a:rPr lang="en-US">
                          <a:solidFill>
                            <a:schemeClr val="bg1"/>
                          </a:solidFill>
                        </a:rPr>
                        <a:t>B. </a:t>
                      </a:r>
                      <a:r>
                        <a:rPr lang="zh-CN" altLang="en-US">
                          <a:solidFill>
                            <a:schemeClr val="bg1"/>
                          </a:solidFill>
                        </a:rPr>
                        <a:t>非正式沟通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口头交流、闲聊、社交互动等非官方形式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灵活、快速、但可能失真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65573547"/>
                  </a:ext>
                </a:extLst>
              </a:tr>
              <a:tr h="0">
                <a:tc>
                  <a:txBody>
                    <a:bodyPr/>
                    <a:lstStyle/>
                    <a:p>
                      <a:pPr>
                        <a:buNone/>
                      </a:pPr>
                      <a:r>
                        <a:rPr lang="en-US">
                          <a:solidFill>
                            <a:schemeClr val="bg1"/>
                          </a:solidFill>
                        </a:rPr>
                        <a:t>C. </a:t>
                      </a:r>
                      <a:r>
                        <a:rPr lang="zh-CN" altLang="en-US">
                          <a:solidFill>
                            <a:schemeClr val="bg1"/>
                          </a:solidFill>
                        </a:rPr>
                        <a:t>垂直沟通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上下级之间的沟通（如项目经理与下属）</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权责明确，流程清晰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7305166"/>
                  </a:ext>
                </a:extLst>
              </a:tr>
              <a:tr h="0">
                <a:tc>
                  <a:txBody>
                    <a:bodyPr/>
                    <a:lstStyle/>
                    <a:p>
                      <a:pPr>
                        <a:buNone/>
                      </a:pPr>
                      <a:r>
                        <a:rPr lang="en-US">
                          <a:solidFill>
                            <a:schemeClr val="bg1"/>
                          </a:solidFill>
                        </a:rPr>
                        <a:t>D. </a:t>
                      </a:r>
                      <a:r>
                        <a:rPr lang="zh-CN" altLang="en-US">
                          <a:solidFill>
                            <a:schemeClr val="bg1"/>
                          </a:solidFill>
                        </a:rPr>
                        <a:t>水平沟通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同级之间或跨部门之间的沟通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协调难度大，易受多方影响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52754276"/>
                  </a:ext>
                </a:extLst>
              </a:tr>
            </a:tbl>
          </a:graphicData>
        </a:graphic>
      </p:graphicFrame>
    </p:spTree>
    <p:extLst>
      <p:ext uri="{BB962C8B-B14F-4D97-AF65-F5344CB8AC3E}">
        <p14:creationId xmlns:p14="http://schemas.microsoft.com/office/powerpoint/2010/main" val="347102458"/>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EF26FB-B0DE-4125-134A-4E0614469BD3}"/>
              </a:ext>
            </a:extLst>
          </p:cNvPr>
          <p:cNvSpPr>
            <a:spLocks noGrp="1"/>
          </p:cNvSpPr>
          <p:nvPr>
            <p:ph type="title"/>
          </p:nvPr>
        </p:nvSpPr>
        <p:spPr>
          <a:xfrm>
            <a:off x="695998" y="360000"/>
            <a:ext cx="6375921" cy="429413"/>
          </a:xfrm>
        </p:spPr>
        <p:txBody>
          <a:bodyPr>
            <a:normAutofit/>
          </a:bodyPr>
          <a:lstStyle/>
          <a:p>
            <a:r>
              <a:rPr lang="zh-CN" altLang="en-US"/>
              <a:t>干系人管理</a:t>
            </a:r>
          </a:p>
        </p:txBody>
      </p:sp>
      <p:sp>
        <p:nvSpPr>
          <p:cNvPr id="3" name="内容占位符 2">
            <a:extLst>
              <a:ext uri="{FF2B5EF4-FFF2-40B4-BE49-F238E27FC236}">
                <a16:creationId xmlns:a16="http://schemas.microsoft.com/office/drawing/2014/main" id="{1A53E66D-42F5-9025-C7D2-0B9DE6AC81CF}"/>
              </a:ext>
            </a:extLst>
          </p:cNvPr>
          <p:cNvSpPr>
            <a:spLocks noGrp="1"/>
          </p:cNvSpPr>
          <p:nvPr>
            <p:ph idx="1"/>
          </p:nvPr>
        </p:nvSpPr>
        <p:spPr>
          <a:xfrm>
            <a:off x="696000" y="864000"/>
            <a:ext cx="10800000" cy="5400000"/>
          </a:xfrm>
        </p:spPr>
        <p:txBody>
          <a:bodyPr/>
          <a:lstStyle/>
          <a:p>
            <a:r>
              <a:rPr lang="zh-CN" altLang="en-US"/>
              <a:t>典型流程：</a:t>
            </a:r>
          </a:p>
          <a:p>
            <a:pPr lvl="1"/>
            <a:r>
              <a:rPr lang="zh-CN" altLang="en-US"/>
              <a:t>识别干系人 </a:t>
            </a:r>
            <a:r>
              <a:rPr lang="en-US" altLang="zh-CN"/>
              <a:t>Identify Stakeholders</a:t>
            </a:r>
            <a:r>
              <a:rPr lang="zh-CN" altLang="en-US"/>
              <a:t> </a:t>
            </a:r>
            <a:r>
              <a:rPr lang="en-US" altLang="zh-CN"/>
              <a:t>-</a:t>
            </a:r>
            <a:r>
              <a:rPr lang="zh-CN" altLang="en-US"/>
              <a:t> 找出谁是干系人，并收集基本信息（如姓名、角色、部门）</a:t>
            </a:r>
          </a:p>
          <a:p>
            <a:pPr lvl="1"/>
            <a:r>
              <a:rPr lang="zh-CN" altLang="en-US"/>
              <a:t>评估干系人 </a:t>
            </a:r>
            <a:r>
              <a:rPr lang="en-US" altLang="zh-CN"/>
              <a:t>Analyze Stakeholders</a:t>
            </a:r>
            <a:r>
              <a:rPr lang="zh-CN" altLang="en-US"/>
              <a:t> </a:t>
            </a:r>
            <a:r>
              <a:rPr lang="en-US" altLang="zh-CN"/>
              <a:t>-</a:t>
            </a:r>
            <a:r>
              <a:rPr lang="zh-CN" altLang="en-US"/>
              <a:t> 分析他们的诉求、期望、影响力、权力等</a:t>
            </a:r>
          </a:p>
          <a:p>
            <a:pPr lvl="1"/>
            <a:r>
              <a:rPr lang="zh-CN" altLang="en-US"/>
              <a:t>对干系人分类 </a:t>
            </a:r>
            <a:r>
              <a:rPr lang="en-US" altLang="zh-CN"/>
              <a:t>Categorize Stakeholders</a:t>
            </a:r>
            <a:r>
              <a:rPr lang="zh-CN" altLang="en-US"/>
              <a:t> </a:t>
            </a:r>
            <a:r>
              <a:rPr lang="en-US" altLang="zh-CN"/>
              <a:t>-</a:t>
            </a:r>
            <a:r>
              <a:rPr lang="zh-CN" altLang="en-US"/>
              <a:t> 使用方格模型（如权利</a:t>
            </a:r>
            <a:r>
              <a:rPr lang="en-US" altLang="zh-CN"/>
              <a:t>/</a:t>
            </a:r>
            <a:r>
              <a:rPr lang="zh-CN" altLang="en-US"/>
              <a:t>利益方格）进行归类</a:t>
            </a:r>
          </a:p>
          <a:p>
            <a:pPr lvl="1"/>
            <a:r>
              <a:rPr lang="zh-CN" altLang="en-US"/>
              <a:t>制定干系人管理计划 </a:t>
            </a:r>
            <a:r>
              <a:rPr lang="en-US" altLang="zh-CN"/>
              <a:t>Develop Stakeholder Management Plan</a:t>
            </a:r>
            <a:r>
              <a:rPr lang="zh-CN" altLang="en-US"/>
              <a:t> </a:t>
            </a:r>
            <a:r>
              <a:rPr lang="en-US" altLang="zh-CN"/>
              <a:t>-</a:t>
            </a:r>
            <a:r>
              <a:rPr lang="zh-CN" altLang="en-US"/>
              <a:t> 根据分类结果，制定沟通策略、管理方式等</a:t>
            </a:r>
          </a:p>
          <a:p>
            <a:pPr lvl="1"/>
            <a:endParaRPr lang="zh-CN" altLang="en-US"/>
          </a:p>
        </p:txBody>
      </p:sp>
      <p:sp>
        <p:nvSpPr>
          <p:cNvPr id="10" name="文本占位符 9">
            <a:extLst>
              <a:ext uri="{FF2B5EF4-FFF2-40B4-BE49-F238E27FC236}">
                <a16:creationId xmlns:a16="http://schemas.microsoft.com/office/drawing/2014/main" id="{377EB90D-9546-0F4F-C74F-49212539F80F}"/>
              </a:ext>
            </a:extLst>
          </p:cNvPr>
          <p:cNvSpPr>
            <a:spLocks noGrp="1"/>
          </p:cNvSpPr>
          <p:nvPr>
            <p:ph type="body" sz="quarter" idx="10"/>
          </p:nvPr>
        </p:nvSpPr>
        <p:spPr>
          <a:xfrm>
            <a:off x="7071919" y="448519"/>
            <a:ext cx="4424080" cy="338554"/>
          </a:xfrm>
        </p:spPr>
        <p:txBody>
          <a:bodyPr/>
          <a:lstStyle/>
          <a:p>
            <a:r>
              <a:rPr lang="en-US" altLang="zh-CN"/>
              <a:t>Stakeholders Mgt</a:t>
            </a:r>
            <a:endParaRPr lang="zh-CN" altLang="en-US"/>
          </a:p>
        </p:txBody>
      </p:sp>
      <p:graphicFrame>
        <p:nvGraphicFramePr>
          <p:cNvPr id="4" name="表格 3">
            <a:extLst>
              <a:ext uri="{FF2B5EF4-FFF2-40B4-BE49-F238E27FC236}">
                <a16:creationId xmlns:a16="http://schemas.microsoft.com/office/drawing/2014/main" id="{5F35F9D5-5F2E-5744-9D5A-37E2016EB489}"/>
              </a:ext>
            </a:extLst>
          </p:cNvPr>
          <p:cNvGraphicFramePr>
            <a:graphicFrameLocks noGrp="1"/>
          </p:cNvGraphicFramePr>
          <p:nvPr>
            <p:extLst>
              <p:ext uri="{D42A27DB-BD31-4B8C-83A1-F6EECF244321}">
                <p14:modId xmlns:p14="http://schemas.microsoft.com/office/powerpoint/2010/main" val="241047111"/>
              </p:ext>
            </p:extLst>
          </p:nvPr>
        </p:nvGraphicFramePr>
        <p:xfrm>
          <a:off x="695325" y="4363200"/>
          <a:ext cx="10800674" cy="1828800"/>
        </p:xfrm>
        <a:graphic>
          <a:graphicData uri="http://schemas.openxmlformats.org/drawingml/2006/table">
            <a:tbl>
              <a:tblPr/>
              <a:tblGrid>
                <a:gridCol w="2526146">
                  <a:extLst>
                    <a:ext uri="{9D8B030D-6E8A-4147-A177-3AD203B41FA5}">
                      <a16:colId xmlns:a16="http://schemas.microsoft.com/office/drawing/2014/main" val="2475006854"/>
                    </a:ext>
                  </a:extLst>
                </a:gridCol>
                <a:gridCol w="8274528">
                  <a:extLst>
                    <a:ext uri="{9D8B030D-6E8A-4147-A177-3AD203B41FA5}">
                      <a16:colId xmlns:a16="http://schemas.microsoft.com/office/drawing/2014/main" val="522252834"/>
                    </a:ext>
                  </a:extLst>
                </a:gridCol>
              </a:tblGrid>
              <a:tr h="0">
                <a:tc>
                  <a:txBody>
                    <a:bodyPr/>
                    <a:lstStyle/>
                    <a:p>
                      <a:pPr>
                        <a:buNone/>
                      </a:pPr>
                      <a:r>
                        <a:rPr lang="zh-CN" altLang="en-US">
                          <a:solidFill>
                            <a:schemeClr val="bg1"/>
                          </a:solidFill>
                        </a:rPr>
                        <a:t>输入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52262433"/>
                  </a:ext>
                </a:extLst>
              </a:tr>
              <a:tr h="0">
                <a:tc>
                  <a:txBody>
                    <a:bodyPr/>
                    <a:lstStyle/>
                    <a:p>
                      <a:pPr>
                        <a:buNone/>
                      </a:pPr>
                      <a:r>
                        <a:rPr lang="zh-CN" altLang="en-US">
                          <a:solidFill>
                            <a:schemeClr val="bg1"/>
                          </a:solidFill>
                        </a:rPr>
                        <a:t>项目章程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包含高层级干系人信息，如发起人、客户等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99531260"/>
                  </a:ext>
                </a:extLst>
              </a:tr>
              <a:tr h="0">
                <a:tc>
                  <a:txBody>
                    <a:bodyPr/>
                    <a:lstStyle/>
                    <a:p>
                      <a:pPr>
                        <a:buNone/>
                      </a:pPr>
                      <a:r>
                        <a:rPr lang="zh-CN" altLang="en-US">
                          <a:solidFill>
                            <a:schemeClr val="bg1"/>
                          </a:solidFill>
                        </a:rPr>
                        <a:t>采购文件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如合同、招标书，涉及供应商、承包商等外部干系人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49295670"/>
                  </a:ext>
                </a:extLst>
              </a:tr>
              <a:tr h="0">
                <a:tc>
                  <a:txBody>
                    <a:bodyPr/>
                    <a:lstStyle/>
                    <a:p>
                      <a:pPr>
                        <a:buNone/>
                      </a:pPr>
                      <a:r>
                        <a:rPr lang="zh-CN" altLang="en-US">
                          <a:solidFill>
                            <a:schemeClr val="bg1"/>
                          </a:solidFill>
                        </a:rPr>
                        <a:t>干系人记录模板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组织内部使用的标准化表格，用于记录干系人信息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74221116"/>
                  </a:ext>
                </a:extLst>
              </a:tr>
              <a:tr h="0">
                <a:tc>
                  <a:txBody>
                    <a:bodyPr/>
                    <a:lstStyle/>
                    <a:p>
                      <a:pPr>
                        <a:buNone/>
                      </a:pPr>
                      <a:r>
                        <a:rPr lang="zh-CN" altLang="en-US">
                          <a:solidFill>
                            <a:schemeClr val="bg1"/>
                          </a:solidFill>
                        </a:rPr>
                        <a:t>组织过程资产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包括以往项目的干系人清单、模板、经验教训等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19526502"/>
                  </a:ext>
                </a:extLst>
              </a:tr>
            </a:tbl>
          </a:graphicData>
        </a:graphic>
      </p:graphicFrame>
    </p:spTree>
    <p:extLst>
      <p:ext uri="{BB962C8B-B14F-4D97-AF65-F5344CB8AC3E}">
        <p14:creationId xmlns:p14="http://schemas.microsoft.com/office/powerpoint/2010/main" val="2137977114"/>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59578-7087-52F7-997F-3737C639765A}"/>
              </a:ext>
            </a:extLst>
          </p:cNvPr>
          <p:cNvSpPr>
            <a:spLocks noGrp="1"/>
          </p:cNvSpPr>
          <p:nvPr>
            <p:ph type="title"/>
          </p:nvPr>
        </p:nvSpPr>
        <p:spPr>
          <a:xfrm>
            <a:off x="695998" y="360000"/>
            <a:ext cx="6375921" cy="429413"/>
          </a:xfrm>
        </p:spPr>
        <p:txBody>
          <a:bodyPr>
            <a:normAutofit/>
          </a:bodyPr>
          <a:lstStyle/>
          <a:p>
            <a:r>
              <a:rPr lang="zh-CN" altLang="en-US"/>
              <a:t>凸显模型</a:t>
            </a:r>
          </a:p>
        </p:txBody>
      </p:sp>
      <p:sp>
        <p:nvSpPr>
          <p:cNvPr id="5" name="内容占位符 4">
            <a:extLst>
              <a:ext uri="{FF2B5EF4-FFF2-40B4-BE49-F238E27FC236}">
                <a16:creationId xmlns:a16="http://schemas.microsoft.com/office/drawing/2014/main" id="{4EC3EEB4-120A-ABA9-F634-FFC69AB14466}"/>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498FEE96-7E09-9E8B-5042-2211161898F0}"/>
              </a:ext>
            </a:extLst>
          </p:cNvPr>
          <p:cNvSpPr>
            <a:spLocks noGrp="1"/>
          </p:cNvSpPr>
          <p:nvPr>
            <p:ph type="body" sz="quarter" idx="10"/>
          </p:nvPr>
        </p:nvSpPr>
        <p:spPr>
          <a:xfrm>
            <a:off x="7071919" y="448519"/>
            <a:ext cx="4424080" cy="338554"/>
          </a:xfrm>
        </p:spPr>
        <p:txBody>
          <a:bodyPr/>
          <a:lstStyle/>
          <a:p>
            <a:r>
              <a:rPr lang="en-US" altLang="zh-CN"/>
              <a:t>Salience Model</a:t>
            </a:r>
            <a:endParaRPr lang="zh-CN" altLang="en-US"/>
          </a:p>
        </p:txBody>
      </p:sp>
      <p:graphicFrame>
        <p:nvGraphicFramePr>
          <p:cNvPr id="9" name="内容占位符 5">
            <a:extLst>
              <a:ext uri="{FF2B5EF4-FFF2-40B4-BE49-F238E27FC236}">
                <a16:creationId xmlns:a16="http://schemas.microsoft.com/office/drawing/2014/main" id="{28CD73D4-2AD0-D999-55A3-A7BD54DBD2B5}"/>
              </a:ext>
            </a:extLst>
          </p:cNvPr>
          <p:cNvGraphicFramePr>
            <a:graphicFrameLocks/>
          </p:cNvGraphicFramePr>
          <p:nvPr>
            <p:extLst>
              <p:ext uri="{D42A27DB-BD31-4B8C-83A1-F6EECF244321}">
                <p14:modId xmlns:p14="http://schemas.microsoft.com/office/powerpoint/2010/main" val="3251992994"/>
              </p:ext>
            </p:extLst>
          </p:nvPr>
        </p:nvGraphicFramePr>
        <p:xfrm>
          <a:off x="695325" y="4528552"/>
          <a:ext cx="10801350" cy="1663448"/>
        </p:xfrm>
        <a:graphic>
          <a:graphicData uri="http://schemas.openxmlformats.org/drawingml/2006/table">
            <a:tbl>
              <a:tblPr>
                <a:tableStyleId>{72833802-FEF1-4C79-8D5D-14CF1EAF98D9}</a:tableStyleId>
              </a:tblPr>
              <a:tblGrid>
                <a:gridCol w="5400675">
                  <a:extLst>
                    <a:ext uri="{9D8B030D-6E8A-4147-A177-3AD203B41FA5}">
                      <a16:colId xmlns:a16="http://schemas.microsoft.com/office/drawing/2014/main" val="2257498338"/>
                    </a:ext>
                  </a:extLst>
                </a:gridCol>
                <a:gridCol w="5400675">
                  <a:extLst>
                    <a:ext uri="{9D8B030D-6E8A-4147-A177-3AD203B41FA5}">
                      <a16:colId xmlns:a16="http://schemas.microsoft.com/office/drawing/2014/main" val="772762208"/>
                    </a:ext>
                  </a:extLst>
                </a:gridCol>
              </a:tblGrid>
              <a:tr h="0">
                <a:tc>
                  <a:txBody>
                    <a:bodyPr/>
                    <a:lstStyle/>
                    <a:p>
                      <a:pPr>
                        <a:lnSpc>
                          <a:spcPct val="150000"/>
                        </a:lnSpc>
                        <a:buNone/>
                      </a:pPr>
                      <a:r>
                        <a:rPr lang="zh-CN" altLang="en-US" sz="1600">
                          <a:solidFill>
                            <a:schemeClr val="bg1"/>
                          </a:solidFill>
                        </a:rPr>
                        <a:t>维度</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extLst>
                  <a:ext uri="{0D108BD9-81ED-4DB2-BD59-A6C34878D82A}">
                    <a16:rowId xmlns:a16="http://schemas.microsoft.com/office/drawing/2014/main" val="1950792618"/>
                  </a:ext>
                </a:extLst>
              </a:tr>
              <a:tr h="0">
                <a:tc>
                  <a:txBody>
                    <a:bodyPr/>
                    <a:lstStyle/>
                    <a:p>
                      <a:pPr>
                        <a:lnSpc>
                          <a:spcPct val="150000"/>
                        </a:lnSpc>
                        <a:buNone/>
                      </a:pPr>
                      <a:r>
                        <a:rPr lang="zh-CN" altLang="en-US" sz="1600">
                          <a:solidFill>
                            <a:schemeClr val="bg1"/>
                          </a:solidFill>
                        </a:rPr>
                        <a:t>权力 </a:t>
                      </a:r>
                      <a:r>
                        <a:rPr lang="en-US" sz="1600">
                          <a:solidFill>
                            <a:schemeClr val="bg1"/>
                          </a:solidFill>
                        </a:rPr>
                        <a:t>Power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是否有能力影响项目决策或资源分配？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14146267"/>
                  </a:ext>
                </a:extLst>
              </a:tr>
              <a:tr h="0">
                <a:tc>
                  <a:txBody>
                    <a:bodyPr/>
                    <a:lstStyle/>
                    <a:p>
                      <a:pPr>
                        <a:lnSpc>
                          <a:spcPct val="150000"/>
                        </a:lnSpc>
                        <a:buNone/>
                      </a:pPr>
                      <a:r>
                        <a:rPr lang="zh-CN" altLang="en-US" sz="1600">
                          <a:solidFill>
                            <a:schemeClr val="bg1"/>
                          </a:solidFill>
                        </a:rPr>
                        <a:t>合法性 </a:t>
                      </a:r>
                      <a:r>
                        <a:rPr lang="en-US" sz="1600">
                          <a:solidFill>
                            <a:schemeClr val="bg1"/>
                          </a:solidFill>
                        </a:rPr>
                        <a:t>Legitimacy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其参与是否符合规则、道德或社会期望？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004831539"/>
                  </a:ext>
                </a:extLst>
              </a:tr>
              <a:tr h="0">
                <a:tc>
                  <a:txBody>
                    <a:bodyPr/>
                    <a:lstStyle/>
                    <a:p>
                      <a:pPr>
                        <a:lnSpc>
                          <a:spcPct val="150000"/>
                        </a:lnSpc>
                        <a:buNone/>
                      </a:pPr>
                      <a:r>
                        <a:rPr lang="zh-CN" altLang="en-US" sz="1600">
                          <a:solidFill>
                            <a:schemeClr val="bg1"/>
                          </a:solidFill>
                        </a:rPr>
                        <a:t>紧迫性 </a:t>
                      </a:r>
                      <a:r>
                        <a:rPr lang="en-US" sz="1600">
                          <a:solidFill>
                            <a:schemeClr val="bg1"/>
                          </a:solidFill>
                        </a:rPr>
                        <a:t>Urgency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是否需要立即响应？是否有时间压力？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84911823"/>
                  </a:ext>
                </a:extLst>
              </a:tr>
            </a:tbl>
          </a:graphicData>
        </a:graphic>
      </p:graphicFrame>
    </p:spTree>
    <p:extLst>
      <p:ext uri="{BB962C8B-B14F-4D97-AF65-F5344CB8AC3E}">
        <p14:creationId xmlns:p14="http://schemas.microsoft.com/office/powerpoint/2010/main" val="2048020882"/>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B596F958-C726-0557-68E6-F92B50677791}"/>
              </a:ext>
            </a:extLst>
          </p:cNvPr>
          <p:cNvSpPr>
            <a:spLocks noGrp="1"/>
          </p:cNvSpPr>
          <p:nvPr>
            <p:ph type="title"/>
          </p:nvPr>
        </p:nvSpPr>
        <p:spPr>
          <a:xfrm>
            <a:off x="695998" y="360000"/>
            <a:ext cx="6375921" cy="429413"/>
          </a:xfrm>
        </p:spPr>
        <p:txBody>
          <a:bodyPr>
            <a:normAutofit/>
          </a:bodyPr>
          <a:lstStyle/>
          <a:p>
            <a:r>
              <a:rPr lang="zh-CN" altLang="en-US"/>
              <a:t>干系人</a:t>
            </a:r>
          </a:p>
        </p:txBody>
      </p:sp>
      <p:sp>
        <p:nvSpPr>
          <p:cNvPr id="7" name="内容占位符 6">
            <a:extLst>
              <a:ext uri="{FF2B5EF4-FFF2-40B4-BE49-F238E27FC236}">
                <a16:creationId xmlns:a16="http://schemas.microsoft.com/office/drawing/2014/main" id="{49D20EC9-7695-DAC8-C504-5A1C69830A14}"/>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7EF861D-4CCF-2E00-F4C2-E18650662A43}"/>
              </a:ext>
            </a:extLst>
          </p:cNvPr>
          <p:cNvSpPr>
            <a:spLocks noGrp="1"/>
          </p:cNvSpPr>
          <p:nvPr>
            <p:ph type="body" sz="quarter" idx="10"/>
          </p:nvPr>
        </p:nvSpPr>
        <p:spPr>
          <a:xfrm>
            <a:off x="7071919" y="448519"/>
            <a:ext cx="4424080" cy="338554"/>
          </a:xfrm>
        </p:spPr>
        <p:txBody>
          <a:bodyPr/>
          <a:lstStyle/>
          <a:p>
            <a:r>
              <a:rPr lang="en-US" altLang="zh-CN"/>
              <a:t>Stakeholders</a:t>
            </a:r>
            <a:endParaRPr lang="zh-CN" altLang="en-US"/>
          </a:p>
        </p:txBody>
      </p:sp>
      <p:graphicFrame>
        <p:nvGraphicFramePr>
          <p:cNvPr id="9" name="内容占位符 3">
            <a:extLst>
              <a:ext uri="{FF2B5EF4-FFF2-40B4-BE49-F238E27FC236}">
                <a16:creationId xmlns:a16="http://schemas.microsoft.com/office/drawing/2014/main" id="{B7830169-B500-B273-3FB2-332093BAA4B1}"/>
              </a:ext>
            </a:extLst>
          </p:cNvPr>
          <p:cNvGraphicFramePr>
            <a:graphicFrameLocks/>
          </p:cNvGraphicFramePr>
          <p:nvPr>
            <p:extLst>
              <p:ext uri="{D42A27DB-BD31-4B8C-83A1-F6EECF244321}">
                <p14:modId xmlns:p14="http://schemas.microsoft.com/office/powerpoint/2010/main" val="1777558749"/>
              </p:ext>
            </p:extLst>
          </p:nvPr>
        </p:nvGraphicFramePr>
        <p:xfrm>
          <a:off x="695325" y="2994807"/>
          <a:ext cx="10800000" cy="3197193"/>
        </p:xfrm>
        <a:graphic>
          <a:graphicData uri="http://schemas.openxmlformats.org/drawingml/2006/table">
            <a:tbl>
              <a:tblPr>
                <a:tableStyleId>{72833802-FEF1-4C79-8D5D-14CF1EAF98D9}</a:tableStyleId>
              </a:tblPr>
              <a:tblGrid>
                <a:gridCol w="647608">
                  <a:extLst>
                    <a:ext uri="{9D8B030D-6E8A-4147-A177-3AD203B41FA5}">
                      <a16:colId xmlns:a16="http://schemas.microsoft.com/office/drawing/2014/main" val="3977532349"/>
                    </a:ext>
                  </a:extLst>
                </a:gridCol>
                <a:gridCol w="2995127">
                  <a:extLst>
                    <a:ext uri="{9D8B030D-6E8A-4147-A177-3AD203B41FA5}">
                      <a16:colId xmlns:a16="http://schemas.microsoft.com/office/drawing/2014/main" val="3201153781"/>
                    </a:ext>
                  </a:extLst>
                </a:gridCol>
                <a:gridCol w="1119673">
                  <a:extLst>
                    <a:ext uri="{9D8B030D-6E8A-4147-A177-3AD203B41FA5}">
                      <a16:colId xmlns:a16="http://schemas.microsoft.com/office/drawing/2014/main" val="790501837"/>
                    </a:ext>
                  </a:extLst>
                </a:gridCol>
                <a:gridCol w="6037592">
                  <a:extLst>
                    <a:ext uri="{9D8B030D-6E8A-4147-A177-3AD203B41FA5}">
                      <a16:colId xmlns:a16="http://schemas.microsoft.com/office/drawing/2014/main" val="246903288"/>
                    </a:ext>
                  </a:extLst>
                </a:gridCol>
              </a:tblGrid>
              <a:tr h="0">
                <a:tc>
                  <a:txBody>
                    <a:bodyPr/>
                    <a:lstStyle/>
                    <a:p>
                      <a:pPr algn="ctr">
                        <a:lnSpc>
                          <a:spcPct val="150000"/>
                        </a:lnSpc>
                        <a:buNone/>
                      </a:pPr>
                      <a:r>
                        <a:rPr lang="zh-CN" altLang="en-US" sz="1600">
                          <a:solidFill>
                            <a:schemeClr val="bg1"/>
                          </a:solidFill>
                        </a:rPr>
                        <a:t>编号</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a:solidFill>
                            <a:schemeClr val="bg1"/>
                          </a:solidFill>
                        </a:rPr>
                        <a:t>英文名称</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a:solidFill>
                            <a:schemeClr val="bg1"/>
                          </a:solidFill>
                        </a:rPr>
                        <a:t>中文名称</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a:solidFill>
                            <a:schemeClr val="bg1"/>
                          </a:solidFill>
                        </a:rPr>
                        <a:t>特征说明</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extLst>
                  <a:ext uri="{0D108BD9-81ED-4DB2-BD59-A6C34878D82A}">
                    <a16:rowId xmlns:a16="http://schemas.microsoft.com/office/drawing/2014/main" val="127923883"/>
                  </a:ext>
                </a:extLst>
              </a:tr>
              <a:tr h="0">
                <a:tc>
                  <a:txBody>
                    <a:bodyPr/>
                    <a:lstStyle/>
                    <a:p>
                      <a:pPr algn="ctr">
                        <a:lnSpc>
                          <a:spcPct val="150000"/>
                        </a:lnSpc>
                        <a:buNone/>
                      </a:pPr>
                      <a:r>
                        <a:rPr lang="en-US" altLang="zh-CN" sz="1600">
                          <a:solidFill>
                            <a:schemeClr val="bg1"/>
                          </a:solidFill>
                        </a:rPr>
                        <a:t>1</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Dormant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潜伏型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有权力但不主动，合法且非紧急。可暂时忽略，但需监控</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590803437"/>
                  </a:ext>
                </a:extLst>
              </a:tr>
              <a:tr h="0">
                <a:tc>
                  <a:txBody>
                    <a:bodyPr/>
                    <a:lstStyle/>
                    <a:p>
                      <a:pPr algn="ctr">
                        <a:lnSpc>
                          <a:spcPct val="150000"/>
                        </a:lnSpc>
                        <a:buNone/>
                      </a:pPr>
                      <a:r>
                        <a:rPr lang="en-US" altLang="zh-CN" sz="1600">
                          <a:solidFill>
                            <a:schemeClr val="bg1"/>
                          </a:solidFill>
                        </a:rPr>
                        <a:t>2</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Discretionary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随意型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无权力，但合法且紧急。例如：临时求助的同事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224256384"/>
                  </a:ext>
                </a:extLst>
              </a:tr>
              <a:tr h="0">
                <a:tc>
                  <a:txBody>
                    <a:bodyPr/>
                    <a:lstStyle/>
                    <a:p>
                      <a:pPr algn="ctr">
                        <a:lnSpc>
                          <a:spcPct val="150000"/>
                        </a:lnSpc>
                        <a:buNone/>
                      </a:pPr>
                      <a:r>
                        <a:rPr lang="en-US" altLang="zh-CN" sz="1600">
                          <a:solidFill>
                            <a:schemeClr val="bg1"/>
                          </a:solidFill>
                        </a:rPr>
                        <a:t>3</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Demanding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娇情型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有权、合法但不紧急。喜欢提要求，但不会立刻施压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75907110"/>
                  </a:ext>
                </a:extLst>
              </a:tr>
              <a:tr h="0">
                <a:tc>
                  <a:txBody>
                    <a:bodyPr/>
                    <a:lstStyle/>
                    <a:p>
                      <a:pPr algn="ctr">
                        <a:lnSpc>
                          <a:spcPct val="150000"/>
                        </a:lnSpc>
                        <a:buNone/>
                      </a:pPr>
                      <a:r>
                        <a:rPr lang="en-US" altLang="zh-CN" sz="1600">
                          <a:solidFill>
                            <a:schemeClr val="bg1"/>
                          </a:solidFill>
                        </a:rPr>
                        <a:t>4</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Dominant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权贵型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有权、合法、但不紧急。典型如高层领导、董事会成员</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980077829"/>
                  </a:ext>
                </a:extLst>
              </a:tr>
              <a:tr h="0">
                <a:tc>
                  <a:txBody>
                    <a:bodyPr/>
                    <a:lstStyle/>
                    <a:p>
                      <a:pPr algn="ctr">
                        <a:lnSpc>
                          <a:spcPct val="150000"/>
                        </a:lnSpc>
                        <a:buNone/>
                      </a:pPr>
                      <a:r>
                        <a:rPr lang="en-US" altLang="zh-CN" sz="1600">
                          <a:solidFill>
                            <a:schemeClr val="bg1"/>
                          </a:solidFill>
                        </a:rPr>
                        <a:t>5</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Dangerous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危险型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有权、不合法、但紧急。可能违法或破坏项目，需警惕</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484786950"/>
                  </a:ext>
                </a:extLst>
              </a:tr>
              <a:tr h="0">
                <a:tc>
                  <a:txBody>
                    <a:bodyPr/>
                    <a:lstStyle/>
                    <a:p>
                      <a:pPr algn="ctr">
                        <a:lnSpc>
                          <a:spcPct val="150000"/>
                        </a:lnSpc>
                        <a:buNone/>
                      </a:pPr>
                      <a:r>
                        <a:rPr lang="en-US" altLang="zh-CN" sz="1600">
                          <a:solidFill>
                            <a:schemeClr val="bg1"/>
                          </a:solidFill>
                        </a:rPr>
                        <a:t>6</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Dependent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从众型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无权、不合法、也不紧急。依赖他人支持，影响力小</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214180841"/>
                  </a:ext>
                </a:extLst>
              </a:tr>
              <a:tr h="0">
                <a:tc>
                  <a:txBody>
                    <a:bodyPr/>
                    <a:lstStyle/>
                    <a:p>
                      <a:pPr algn="ctr">
                        <a:lnSpc>
                          <a:spcPct val="150000"/>
                        </a:lnSpc>
                        <a:buNone/>
                      </a:pPr>
                      <a:r>
                        <a:rPr lang="en-US" altLang="zh-CN" sz="1600">
                          <a:solidFill>
                            <a:schemeClr val="bg1"/>
                          </a:solidFill>
                        </a:rPr>
                        <a:t>7</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Definitive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统治型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三者俱全：有权、合法、紧急。最核心的干系人，必须重点管理</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880363959"/>
                  </a:ext>
                </a:extLst>
              </a:tr>
            </a:tbl>
          </a:graphicData>
        </a:graphic>
      </p:graphicFrame>
    </p:spTree>
    <p:extLst>
      <p:ext uri="{BB962C8B-B14F-4D97-AF65-F5344CB8AC3E}">
        <p14:creationId xmlns:p14="http://schemas.microsoft.com/office/powerpoint/2010/main" val="245479388"/>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4D96D-6654-6337-7F4E-B73C7116D111}"/>
              </a:ext>
            </a:extLst>
          </p:cNvPr>
          <p:cNvSpPr>
            <a:spLocks noGrp="1"/>
          </p:cNvSpPr>
          <p:nvPr>
            <p:ph type="title"/>
          </p:nvPr>
        </p:nvSpPr>
        <p:spPr>
          <a:xfrm>
            <a:off x="695998" y="360000"/>
            <a:ext cx="7200000" cy="424732"/>
          </a:xfrm>
        </p:spPr>
        <p:txBody>
          <a:bodyPr>
            <a:normAutofit/>
          </a:bodyPr>
          <a:lstStyle/>
          <a:p>
            <a:r>
              <a:rPr lang="zh-CN" altLang="en-US"/>
              <a:t>干系人 </a:t>
            </a:r>
            <a:r>
              <a:rPr lang="en-US" altLang="zh-CN"/>
              <a:t>Stakeholders</a:t>
            </a:r>
            <a:endParaRPr lang="zh-CN" altLang="en-US"/>
          </a:p>
        </p:txBody>
      </p:sp>
      <p:sp>
        <p:nvSpPr>
          <p:cNvPr id="8" name="内容占位符 7">
            <a:extLst>
              <a:ext uri="{FF2B5EF4-FFF2-40B4-BE49-F238E27FC236}">
                <a16:creationId xmlns:a16="http://schemas.microsoft.com/office/drawing/2014/main" id="{8CEA8E8B-1623-8C4B-D566-A15898E38EBF}"/>
              </a:ext>
            </a:extLst>
          </p:cNvPr>
          <p:cNvSpPr>
            <a:spLocks noGrp="1"/>
          </p:cNvSpPr>
          <p:nvPr>
            <p:ph idx="1"/>
          </p:nvPr>
        </p:nvSpPr>
        <p:spPr>
          <a:xfrm>
            <a:off x="696000" y="1080000"/>
            <a:ext cx="10800000" cy="5112000"/>
          </a:xfrm>
        </p:spPr>
        <p:txBody>
          <a:bodyPr/>
          <a:lstStyle/>
          <a:p>
            <a:r>
              <a:rPr lang="zh-CN" altLang="en-US"/>
              <a:t>利益方格 </a:t>
            </a:r>
            <a:r>
              <a:rPr lang="en-US" altLang="zh-CN"/>
              <a:t>Power/Interest Grid</a:t>
            </a:r>
          </a:p>
          <a:p>
            <a:pPr lvl="1"/>
            <a:r>
              <a:rPr lang="en-US" altLang="zh-CN"/>
              <a:t>Manage closely</a:t>
            </a:r>
            <a:endParaRPr lang="zh-CN" altLang="en-US"/>
          </a:p>
        </p:txBody>
      </p:sp>
      <p:sp>
        <p:nvSpPr>
          <p:cNvPr id="27" name="文本占位符 26">
            <a:extLst>
              <a:ext uri="{FF2B5EF4-FFF2-40B4-BE49-F238E27FC236}">
                <a16:creationId xmlns:a16="http://schemas.microsoft.com/office/drawing/2014/main" id="{B7BA12E2-D94B-EA9B-F1E6-F64FE15840AC}"/>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4007022-4AEA-80DD-D86A-2F972ECE7309}"/>
              </a:ext>
            </a:extLst>
          </p:cNvPr>
          <p:cNvPicPr>
            <a:picLocks noChangeAspect="1"/>
          </p:cNvPicPr>
          <p:nvPr/>
        </p:nvPicPr>
        <p:blipFill>
          <a:blip r:embed="rId2"/>
          <a:stretch>
            <a:fillRect/>
          </a:stretch>
        </p:blipFill>
        <p:spPr>
          <a:xfrm>
            <a:off x="4224827" y="298936"/>
            <a:ext cx="3742346" cy="2112000"/>
          </a:xfrm>
          <a:prstGeom prst="rect">
            <a:avLst/>
          </a:prstGeom>
        </p:spPr>
      </p:pic>
      <p:graphicFrame>
        <p:nvGraphicFramePr>
          <p:cNvPr id="24" name="表格 23">
            <a:extLst>
              <a:ext uri="{FF2B5EF4-FFF2-40B4-BE49-F238E27FC236}">
                <a16:creationId xmlns:a16="http://schemas.microsoft.com/office/drawing/2014/main" id="{E70260A3-0C8C-09EA-9B0D-93371E845C68}"/>
              </a:ext>
            </a:extLst>
          </p:cNvPr>
          <p:cNvGraphicFramePr>
            <a:graphicFrameLocks noGrp="1"/>
          </p:cNvGraphicFramePr>
          <p:nvPr>
            <p:extLst>
              <p:ext uri="{D42A27DB-BD31-4B8C-83A1-F6EECF244321}">
                <p14:modId xmlns:p14="http://schemas.microsoft.com/office/powerpoint/2010/main" val="2939707391"/>
              </p:ext>
            </p:extLst>
          </p:nvPr>
        </p:nvGraphicFramePr>
        <p:xfrm>
          <a:off x="695324" y="3814560"/>
          <a:ext cx="10800001" cy="1828800"/>
        </p:xfrm>
        <a:graphic>
          <a:graphicData uri="http://schemas.openxmlformats.org/drawingml/2006/table">
            <a:tbl>
              <a:tblPr/>
              <a:tblGrid>
                <a:gridCol w="2421372">
                  <a:extLst>
                    <a:ext uri="{9D8B030D-6E8A-4147-A177-3AD203B41FA5}">
                      <a16:colId xmlns:a16="http://schemas.microsoft.com/office/drawing/2014/main" val="3982195049"/>
                    </a:ext>
                  </a:extLst>
                </a:gridCol>
                <a:gridCol w="2562417">
                  <a:extLst>
                    <a:ext uri="{9D8B030D-6E8A-4147-A177-3AD203B41FA5}">
                      <a16:colId xmlns:a16="http://schemas.microsoft.com/office/drawing/2014/main" val="1411995689"/>
                    </a:ext>
                  </a:extLst>
                </a:gridCol>
                <a:gridCol w="5816212">
                  <a:extLst>
                    <a:ext uri="{9D8B030D-6E8A-4147-A177-3AD203B41FA5}">
                      <a16:colId xmlns:a16="http://schemas.microsoft.com/office/drawing/2014/main" val="1413315509"/>
                    </a:ext>
                  </a:extLst>
                </a:gridCol>
              </a:tblGrid>
              <a:tr h="0">
                <a:tc>
                  <a:txBody>
                    <a:bodyPr/>
                    <a:lstStyle/>
                    <a:p>
                      <a:pPr>
                        <a:buNone/>
                      </a:pPr>
                      <a:r>
                        <a:rPr lang="zh-CN" altLang="en-US">
                          <a:solidFill>
                            <a:schemeClr val="bg1"/>
                          </a:solidFill>
                        </a:rPr>
                        <a:t>权力 </a:t>
                      </a:r>
                      <a:r>
                        <a:rPr lang="en-US">
                          <a:solidFill>
                            <a:schemeClr val="bg1"/>
                          </a:solidFill>
                        </a:rPr>
                        <a:t>Power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利益 </a:t>
                      </a:r>
                      <a:r>
                        <a:rPr lang="en-US">
                          <a:solidFill>
                            <a:schemeClr val="bg1"/>
                          </a:solidFill>
                        </a:rPr>
                        <a:t>Interest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管理策略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09978989"/>
                  </a:ext>
                </a:extLst>
              </a:tr>
              <a:tr h="0">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重点管理 </a:t>
                      </a:r>
                      <a:r>
                        <a:rPr lang="en-US">
                          <a:solidFill>
                            <a:schemeClr val="bg1"/>
                          </a:solidFill>
                        </a:rPr>
                        <a:t>Manage closely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66278497"/>
                  </a:ext>
                </a:extLst>
              </a:tr>
              <a:tr h="0">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监督 </a:t>
                      </a:r>
                      <a:r>
                        <a:rPr lang="en-US">
                          <a:solidFill>
                            <a:schemeClr val="bg1"/>
                          </a:solidFill>
                        </a:rPr>
                        <a:t>Keep satisfied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12310039"/>
                  </a:ext>
                </a:extLst>
              </a:tr>
              <a:tr h="0">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随时告知 </a:t>
                      </a:r>
                      <a:r>
                        <a:rPr lang="en-US">
                          <a:solidFill>
                            <a:schemeClr val="bg1"/>
                          </a:solidFill>
                        </a:rPr>
                        <a:t>Keep informed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996962581"/>
                  </a:ext>
                </a:extLst>
              </a:tr>
              <a:tr h="0">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令其满意 </a:t>
                      </a:r>
                      <a:r>
                        <a:rPr lang="en-US">
                          <a:solidFill>
                            <a:schemeClr val="bg1"/>
                          </a:solidFill>
                        </a:rPr>
                        <a:t>Minimal effort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85854794"/>
                  </a:ext>
                </a:extLst>
              </a:tr>
            </a:tbl>
          </a:graphicData>
        </a:graphic>
      </p:graphicFrame>
    </p:spTree>
    <p:extLst>
      <p:ext uri="{BB962C8B-B14F-4D97-AF65-F5344CB8AC3E}">
        <p14:creationId xmlns:p14="http://schemas.microsoft.com/office/powerpoint/2010/main" val="4076603631"/>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2464886" y="4681056"/>
            <a:ext cx="7262228" cy="798491"/>
          </a:xfrm>
        </p:spPr>
        <p:txBody>
          <a:bodyPr/>
          <a:lstStyle/>
          <a:p>
            <a:r>
              <a:rPr lang="zh-CN" altLang="en-US"/>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2464886" y="5479548"/>
            <a:ext cx="7262228" cy="458180"/>
          </a:xfrm>
        </p:spPr>
        <p:txBody>
          <a:bodyPr/>
          <a:lstStyle/>
          <a:p>
            <a:r>
              <a:rPr lang="en-US" altLang="zh-CN"/>
              <a:t>Section 9 Project Risk</a:t>
            </a:r>
            <a:endParaRPr lang="zh-CN" altLang="en-US"/>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a:xfrm>
            <a:off x="3883891" y="2278857"/>
            <a:ext cx="4424219" cy="2300287"/>
          </a:xfrm>
        </p:spPr>
        <p:txBody>
          <a:bodyPr/>
          <a:lstStyle/>
          <a:p>
            <a:r>
              <a:rPr lang="zh-CN" altLang="en-US"/>
              <a:t>类型</a:t>
            </a:r>
            <a:endParaRPr lang="en-US" altLang="zh-CN"/>
          </a:p>
          <a:p>
            <a:r>
              <a:rPr lang="en-US" altLang="zh-CN"/>
              <a:t>3</a:t>
            </a:r>
            <a:r>
              <a:rPr lang="zh-CN" altLang="en-US"/>
              <a:t>要素</a:t>
            </a:r>
            <a:endParaRPr lang="en-US" altLang="zh-CN"/>
          </a:p>
          <a:p>
            <a:r>
              <a:rPr lang="en-US" altLang="zh-CN"/>
              <a:t>4</a:t>
            </a:r>
            <a:r>
              <a:rPr lang="zh-CN" altLang="en-US"/>
              <a:t>过程</a:t>
            </a:r>
          </a:p>
        </p:txBody>
      </p:sp>
    </p:spTree>
    <p:extLst>
      <p:ext uri="{BB962C8B-B14F-4D97-AF65-F5344CB8AC3E}">
        <p14:creationId xmlns:p14="http://schemas.microsoft.com/office/powerpoint/2010/main" val="727486452"/>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0BB56-D1AC-B8CE-4880-46B7F3D1E1D1}"/>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7B851591-AB9D-0FFB-53F8-C79730CF6872}"/>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7C56BEA1-1B39-5FD5-D8DC-72E16760F012}"/>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3CB86D73-E9CC-8BAC-C8ED-B0E1879334C9}"/>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B8A491C7-2F7B-5BF0-B65B-269E188D0463}"/>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08D0211C-91B6-D5CA-E81A-50A2CD4C7AA4}"/>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2126D76E-564A-7DC3-B8DD-3161420A620C}"/>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F8781456-6DD1-3DB5-0846-3181AE36E75F}"/>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3C7E234A-7E05-AE30-B28B-3002A9FF8A21}"/>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B0212EBB-701D-FE74-9E85-5B9D249874DD}"/>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548C2C71-26AD-5F5F-C515-F844179783AF}"/>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E875E01B-BE10-E22A-02FB-6FCE57F1AAC7}"/>
              </a:ext>
            </a:extLst>
          </p:cNvPr>
          <p:cNvSpPr/>
          <p:nvPr/>
        </p:nvSpPr>
        <p:spPr>
          <a:xfrm>
            <a:off x="7615054"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AAA79413-93BA-0F92-40BC-93A56A041EBC}"/>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5328FECD-17E1-CF92-7C72-75DDD75A13BF}"/>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17831775"/>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p:txBody>
          <a:bodyPr/>
          <a:lstStyle/>
          <a:p>
            <a:r>
              <a:rPr lang="zh-CN" altLang="en-US"/>
              <a:t>风险定义</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6000" y="1080000"/>
            <a:ext cx="10800000" cy="5112000"/>
          </a:xfrm>
        </p:spPr>
        <p:txBody>
          <a:bodyPr/>
          <a:lstStyle/>
          <a:p>
            <a:r>
              <a:rPr lang="zh-CN" altLang="zh-CN"/>
              <a:t>风险是对潜在的、未来可能发生损害的一种度量</a:t>
            </a:r>
            <a:endParaRPr lang="en-US" altLang="zh-CN"/>
          </a:p>
          <a:p>
            <a:r>
              <a:rPr lang="zh-CN" altLang="zh-CN"/>
              <a:t>软件风险对软件开发过程及软件产品本身可能造成的伤害或损失。</a:t>
            </a:r>
            <a:endParaRPr lang="zh-CN" altLang="en-US"/>
          </a:p>
          <a:p>
            <a:endParaRPr lang="zh-CN" altLang="en-US"/>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p:txBody>
          <a:bodyPr/>
          <a:lstStyle/>
          <a:p>
            <a:r>
              <a:rPr lang="en-US" altLang="zh-CN"/>
              <a:t>Risk</a:t>
            </a:r>
            <a:endParaRPr lang="zh-CN" altLang="en-US"/>
          </a:p>
        </p:txBody>
      </p:sp>
    </p:spTree>
    <p:extLst>
      <p:ext uri="{BB962C8B-B14F-4D97-AF65-F5344CB8AC3E}">
        <p14:creationId xmlns:p14="http://schemas.microsoft.com/office/powerpoint/2010/main" val="2873615642"/>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695998" y="360000"/>
            <a:ext cx="7200000" cy="424732"/>
          </a:xfrm>
        </p:spPr>
        <p:txBody>
          <a:bodyPr>
            <a:normAutofit/>
          </a:bodyPr>
          <a:lstStyle/>
          <a:p>
            <a:r>
              <a:rPr lang="zh-CN" altLang="en-US"/>
              <a:t>风险曝光度 </a:t>
            </a:r>
            <a:r>
              <a:rPr lang="en-US" altLang="zh-CN"/>
              <a:t>Risk Exposure</a:t>
            </a:r>
            <a:endParaRPr lang="zh-CN" altLang="en-US"/>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1080000"/>
            <a:ext cx="10800000" cy="5112000"/>
          </a:xfrm>
        </p:spPr>
        <p:txBody>
          <a:bodyPr/>
          <a:lstStyle/>
          <a:p>
            <a:r>
              <a:rPr lang="zh-CN" altLang="en-US"/>
              <a:t>风险概率*可能的损失</a:t>
            </a:r>
          </a:p>
          <a:p>
            <a:r>
              <a:rPr lang="zh-CN" altLang="en-US"/>
              <a:t>管理风险可能会带来新的风险</a:t>
            </a:r>
          </a:p>
          <a:p>
            <a:r>
              <a:rPr lang="zh-CN" altLang="en-US"/>
              <a:t>风险是客观存在的，不可能完全避免</a:t>
            </a:r>
          </a:p>
          <a:p>
            <a:r>
              <a:rPr lang="zh-CN" altLang="en-US"/>
              <a:t>风险管理应贯穿整个项目管理过程</a:t>
            </a:r>
          </a:p>
          <a:p>
            <a:endParaRPr lang="zh-CN" altLang="en-US"/>
          </a:p>
        </p:txBody>
      </p:sp>
      <p:sp>
        <p:nvSpPr>
          <p:cNvPr id="7" name="文本占位符 6">
            <a:extLst>
              <a:ext uri="{FF2B5EF4-FFF2-40B4-BE49-F238E27FC236}">
                <a16:creationId xmlns:a16="http://schemas.microsoft.com/office/drawing/2014/main" id="{2387A5B7-4AFF-C41D-7F2E-2F5F19117A3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p:txBody>
          <a:bodyPr/>
          <a:lstStyle/>
          <a:p>
            <a:r>
              <a:rPr lang="zh-CN" altLang="en-US"/>
              <a:t>在风险管理中，通常需要进行风险监测，其目的不包括（ ）。</a:t>
            </a:r>
            <a:endParaRPr lang="en-US" altLang="zh-CN"/>
          </a:p>
          <a:p>
            <a:endParaRPr lang="zh-CN" altLang="en-US"/>
          </a:p>
          <a:p>
            <a:r>
              <a:rPr lang="en-US" altLang="zh-CN"/>
              <a:t>A. </a:t>
            </a:r>
            <a:r>
              <a:rPr lang="zh-CN" altLang="en-US"/>
              <a:t>消除风险</a:t>
            </a:r>
          </a:p>
          <a:p>
            <a:r>
              <a:rPr lang="en-US" altLang="zh-CN"/>
              <a:t>B. </a:t>
            </a:r>
            <a:r>
              <a:rPr lang="zh-CN" altLang="en-US"/>
              <a:t>评估所预测的风险是否发生</a:t>
            </a:r>
          </a:p>
          <a:p>
            <a:r>
              <a:rPr lang="en-US" altLang="zh-CN"/>
              <a:t>C. </a:t>
            </a:r>
            <a:r>
              <a:rPr lang="zh-CN" altLang="en-US"/>
              <a:t>保证正确实施了风险缓解步骤</a:t>
            </a:r>
          </a:p>
          <a:p>
            <a:r>
              <a:rPr lang="en-US" altLang="zh-CN"/>
              <a:t>D. </a:t>
            </a:r>
            <a:r>
              <a:rPr lang="zh-CN" altLang="en-US"/>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内容占位符 20">
            <a:extLst>
              <a:ext uri="{FF2B5EF4-FFF2-40B4-BE49-F238E27FC236}">
                <a16:creationId xmlns:a16="http://schemas.microsoft.com/office/drawing/2014/main" id="{779E8394-A7B2-0749-E9F1-362CE870A853}"/>
              </a:ext>
            </a:extLst>
          </p:cNvPr>
          <p:cNvSpPr>
            <a:spLocks noGrp="1"/>
          </p:cNvSpPr>
          <p:nvPr>
            <p:ph idx="1"/>
          </p:nvPr>
        </p:nvSpPr>
        <p:spPr>
          <a:xfrm>
            <a:off x="696000" y="1080000"/>
            <a:ext cx="10800000" cy="5112000"/>
          </a:xfrm>
        </p:spPr>
        <p:txBody>
          <a:bodyPr/>
          <a:lstStyle/>
          <a:p>
            <a:endParaRPr lang="zh-CN" altLang="en-US"/>
          </a:p>
        </p:txBody>
      </p:sp>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5998" y="360000"/>
            <a:ext cx="7200000" cy="424732"/>
          </a:xfrm>
        </p:spPr>
        <p:txBody>
          <a:bodyPr>
            <a:normAutofit/>
          </a:bodyPr>
          <a:lstStyle/>
          <a:p>
            <a:r>
              <a:rPr lang="zh-CN" altLang="en-US"/>
              <a:t>风险类型</a:t>
            </a:r>
          </a:p>
        </p:txBody>
      </p:sp>
      <p:sp>
        <p:nvSpPr>
          <p:cNvPr id="4" name="文本占位符 3">
            <a:extLst>
              <a:ext uri="{FF2B5EF4-FFF2-40B4-BE49-F238E27FC236}">
                <a16:creationId xmlns:a16="http://schemas.microsoft.com/office/drawing/2014/main" id="{065B829C-66A5-32AB-3718-593C67C41EDD}"/>
              </a:ext>
            </a:extLst>
          </p:cNvPr>
          <p:cNvSpPr>
            <a:spLocks noGrp="1"/>
          </p:cNvSpPr>
          <p:nvPr>
            <p:ph type="body" sz="quarter" idx="10"/>
          </p:nvPr>
        </p:nvSpPr>
        <p:spPr>
          <a:xfrm>
            <a:off x="6702424" y="360001"/>
            <a:ext cx="4793575" cy="424731"/>
          </a:xfrm>
        </p:spPr>
        <p:txBody>
          <a:bodyPr/>
          <a:lstStyle/>
          <a:p>
            <a:r>
              <a:rPr lang="en-US" altLang="zh-CN"/>
              <a:t>Risk</a:t>
            </a:r>
            <a:endParaRPr lang="zh-CN" altLang="en-US"/>
          </a:p>
        </p:txBody>
      </p:sp>
      <p:sp>
        <p:nvSpPr>
          <p:cNvPr id="26" name="矩形: 圆角 25">
            <a:extLst>
              <a:ext uri="{FF2B5EF4-FFF2-40B4-BE49-F238E27FC236}">
                <a16:creationId xmlns:a16="http://schemas.microsoft.com/office/drawing/2014/main" id="{01EB9A67-1F99-9040-F429-82403580C4DB}"/>
              </a:ext>
            </a:extLst>
          </p:cNvPr>
          <p:cNvSpPr/>
          <p:nvPr/>
        </p:nvSpPr>
        <p:spPr>
          <a:xfrm>
            <a:off x="4028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a:solidFill>
                  <a:schemeClr val="tx1"/>
                </a:solidFill>
              </a:rPr>
              <a:t>已知风险 </a:t>
            </a:r>
            <a:r>
              <a:rPr lang="en-US" altLang="zh-CN">
                <a:solidFill>
                  <a:schemeClr val="tx1"/>
                </a:solidFill>
              </a:rPr>
              <a:t>Known known</a:t>
            </a:r>
          </a:p>
          <a:p>
            <a:r>
              <a:rPr lang="zh-CN" altLang="en-US">
                <a:solidFill>
                  <a:schemeClr val="tx1"/>
                </a:solidFill>
              </a:rPr>
              <a:t>可预测风险 </a:t>
            </a:r>
            <a:r>
              <a:rPr lang="en-US" altLang="zh-CN">
                <a:solidFill>
                  <a:schemeClr val="tx1"/>
                </a:solidFill>
              </a:rPr>
              <a:t>Known unknown </a:t>
            </a:r>
          </a:p>
          <a:p>
            <a:r>
              <a:rPr lang="zh-CN" altLang="en-US">
                <a:solidFill>
                  <a:schemeClr val="tx1"/>
                </a:solidFill>
              </a:rPr>
              <a:t>不可预测风险 </a:t>
            </a:r>
            <a:r>
              <a:rPr lang="en-US" altLang="zh-CN">
                <a:solidFill>
                  <a:schemeClr val="tx1"/>
                </a:solidFill>
              </a:rPr>
              <a:t>unknown unknown</a:t>
            </a:r>
            <a:endParaRPr lang="zh-CN" altLang="en-US">
              <a:solidFill>
                <a:schemeClr val="tx1"/>
              </a:solidFill>
            </a:endParaRPr>
          </a:p>
        </p:txBody>
      </p:sp>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a:t>预测角度</a:t>
            </a:r>
          </a:p>
        </p:txBody>
      </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a:solidFill>
                  <a:schemeClr val="tx1"/>
                </a:solidFill>
              </a:rPr>
              <a:t>商业风险、管理风险、人员风险、技术风险、开发环境风险、客户风险、过程风险、产品规模风险等。</a:t>
            </a:r>
          </a:p>
        </p:txBody>
      </p:sp>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a:t>范围角度</a:t>
            </a:r>
          </a:p>
        </p:txBody>
      </p:sp>
    </p:spTree>
    <p:extLst>
      <p:ext uri="{BB962C8B-B14F-4D97-AF65-F5344CB8AC3E}">
        <p14:creationId xmlns:p14="http://schemas.microsoft.com/office/powerpoint/2010/main" val="3069181260"/>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011341-F3F5-4FB8-3FB0-EB4F2F3BC121}"/>
              </a:ext>
            </a:extLst>
          </p:cNvPr>
          <p:cNvSpPr>
            <a:spLocks noGrp="1"/>
          </p:cNvSpPr>
          <p:nvPr>
            <p:ph type="title"/>
          </p:nvPr>
        </p:nvSpPr>
        <p:spPr/>
        <p:txBody>
          <a:bodyPr/>
          <a:lstStyle/>
          <a:p>
            <a:r>
              <a:rPr lang="zh-CN" altLang="en-US"/>
              <a:t>风险</a:t>
            </a:r>
            <a:r>
              <a:rPr lang="en-US" altLang="zh-CN"/>
              <a:t>3</a:t>
            </a:r>
            <a:r>
              <a:rPr lang="zh-CN" altLang="en-US"/>
              <a:t>个要素</a:t>
            </a:r>
          </a:p>
        </p:txBody>
      </p:sp>
      <p:sp>
        <p:nvSpPr>
          <p:cNvPr id="3" name="内容占位符 2">
            <a:extLst>
              <a:ext uri="{FF2B5EF4-FFF2-40B4-BE49-F238E27FC236}">
                <a16:creationId xmlns:a16="http://schemas.microsoft.com/office/drawing/2014/main" id="{CFC541F1-FF1E-B63F-3E29-DFA05055E338}"/>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DD75DE52-A397-4D17-090A-A365021F6EDD}"/>
              </a:ext>
            </a:extLst>
          </p:cNvPr>
          <p:cNvSpPr>
            <a:spLocks noGrp="1"/>
          </p:cNvSpPr>
          <p:nvPr>
            <p:ph type="body" sz="quarter" idx="10"/>
          </p:nvPr>
        </p:nvSpPr>
        <p:spPr/>
        <p:txBody>
          <a:bodyPr/>
          <a:lstStyle/>
          <a:p>
            <a:r>
              <a:rPr lang="en-US" altLang="zh-CN"/>
              <a:t>Risk</a:t>
            </a:r>
            <a:endParaRPr lang="zh-CN" altLang="en-US"/>
          </a:p>
        </p:txBody>
      </p:sp>
      <p:graphicFrame>
        <p:nvGraphicFramePr>
          <p:cNvPr id="5" name="图示 4">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668628807"/>
              </p:ext>
            </p:extLst>
          </p:nvPr>
        </p:nvGraphicFramePr>
        <p:xfrm>
          <a:off x="2387588" y="18481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82383428"/>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p:txBody>
          <a:bodyPr/>
          <a:lstStyle/>
          <a:p>
            <a:r>
              <a:rPr lang="zh-CN" altLang="en-US"/>
              <a:t>风险</a:t>
            </a:r>
            <a:r>
              <a:rPr lang="en-US" altLang="zh-CN"/>
              <a:t>4</a:t>
            </a:r>
            <a:r>
              <a:rPr lang="zh-CN" altLang="en-US"/>
              <a:t>个过程</a:t>
            </a:r>
          </a:p>
        </p:txBody>
      </p:sp>
      <p:sp>
        <p:nvSpPr>
          <p:cNvPr id="3" name="内容占位符 2">
            <a:extLst>
              <a:ext uri="{FF2B5EF4-FFF2-40B4-BE49-F238E27FC236}">
                <a16:creationId xmlns:a16="http://schemas.microsoft.com/office/drawing/2014/main" id="{32D252C7-0F7D-13EA-79C7-11AAF89A90AF}"/>
              </a:ext>
            </a:extLst>
          </p:cNvPr>
          <p:cNvSpPr>
            <a:spLocks noGrp="1"/>
          </p:cNvSpPr>
          <p:nvPr>
            <p:ph idx="1"/>
          </p:nvPr>
        </p:nvSpPr>
        <p:spPr>
          <a:xfrm>
            <a:off x="696000" y="1080000"/>
            <a:ext cx="10800000" cy="5112000"/>
          </a:xfrm>
        </p:spPr>
        <p:txBody>
          <a:bodyPr/>
          <a:lstStyle/>
          <a:p>
            <a:endParaRPr lang="zh-CN" altLang="en-US"/>
          </a:p>
        </p:txBody>
      </p:sp>
      <p:sp>
        <p:nvSpPr>
          <p:cNvPr id="4" name="文本占位符 3">
            <a:extLst>
              <a:ext uri="{FF2B5EF4-FFF2-40B4-BE49-F238E27FC236}">
                <a16:creationId xmlns:a16="http://schemas.microsoft.com/office/drawing/2014/main" id="{FF7ADC87-433E-D27E-ED1B-FC45F43DD6E9}"/>
              </a:ext>
            </a:extLst>
          </p:cNvPr>
          <p:cNvSpPr>
            <a:spLocks noGrp="1"/>
          </p:cNvSpPr>
          <p:nvPr>
            <p:ph type="body" sz="quarter" idx="10"/>
          </p:nvPr>
        </p:nvSpPr>
        <p:spPr/>
        <p:txBody>
          <a:bodyPr/>
          <a:lstStyle/>
          <a:p>
            <a:endParaRPr lang="zh-CN" altLang="en-US"/>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2514600" y="2235795"/>
            <a:ext cx="1905000" cy="432000"/>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4267200" y="3035895"/>
            <a:ext cx="1905000" cy="432000"/>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019800" y="3835995"/>
            <a:ext cx="1905000" cy="432000"/>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7772400" y="4636095"/>
            <a:ext cx="1905000" cy="432000"/>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风险控制</a:t>
            </a:r>
          </a:p>
        </p:txBody>
      </p:sp>
      <p:cxnSp>
        <p:nvCxnSpPr>
          <p:cNvPr id="10" name="连接符: 肘形 9">
            <a:extLst>
              <a:ext uri="{FF2B5EF4-FFF2-40B4-BE49-F238E27FC236}">
                <a16:creationId xmlns:a16="http://schemas.microsoft.com/office/drawing/2014/main" id="{F99466C6-96A9-6206-226E-A57C8ADB4FCC}"/>
              </a:ext>
            </a:extLst>
          </p:cNvPr>
          <p:cNvCxnSpPr>
            <a:stCxn id="5" idx="3"/>
            <a:endCxn id="6" idx="0"/>
          </p:cNvCxnSpPr>
          <p:nvPr/>
        </p:nvCxnSpPr>
        <p:spPr>
          <a:xfrm>
            <a:off x="4419600" y="2451795"/>
            <a:ext cx="800100" cy="58410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6172200" y="3251895"/>
            <a:ext cx="800100" cy="58410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7924800" y="4051995"/>
            <a:ext cx="800100" cy="58410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p:txBody>
          <a:bodyPr>
            <a:normAutofit/>
          </a:bodyPr>
          <a:lstStyle/>
          <a:p>
            <a:r>
              <a:rPr lang="en-US" altLang="zh-CN"/>
              <a:t>SWOT</a:t>
            </a:r>
            <a:endParaRPr lang="zh-CN" altLang="en-US"/>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extLst>
              <p:ext uri="{D42A27DB-BD31-4B8C-83A1-F6EECF244321}">
                <p14:modId xmlns:p14="http://schemas.microsoft.com/office/powerpoint/2010/main" val="2958351577"/>
              </p:ext>
            </p:extLst>
          </p:nvPr>
        </p:nvGraphicFramePr>
        <p:xfrm>
          <a:off x="695325" y="2172335"/>
          <a:ext cx="10801350" cy="292608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a:solidFill>
                            <a:schemeClr val="bg1"/>
                          </a:solidFill>
                        </a:rPr>
                        <a:t>字母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内容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78355106"/>
                  </a:ext>
                </a:extLst>
              </a:tr>
              <a:tr h="0">
                <a:tc>
                  <a:txBody>
                    <a:bodyPr/>
                    <a:lstStyle/>
                    <a:p>
                      <a:pPr>
                        <a:buNone/>
                      </a:pPr>
                      <a:r>
                        <a:rPr lang="en-US">
                          <a:solidFill>
                            <a:schemeClr val="bg1"/>
                          </a:solidFill>
                        </a:rPr>
                        <a:t>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Strengths（</a:t>
                      </a:r>
                      <a:r>
                        <a:rPr lang="zh-CN" altLang="en-US">
                          <a:solidFill>
                            <a:schemeClr val="bg1"/>
                          </a:solidFill>
                        </a:rPr>
                        <a:t>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组织内部的积极因素（如技术强、团队经验丰富）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66432399"/>
                  </a:ext>
                </a:extLst>
              </a:tr>
              <a:tr h="0">
                <a:tc>
                  <a:txBody>
                    <a:bodyPr/>
                    <a:lstStyle/>
                    <a:p>
                      <a:pPr>
                        <a:buNone/>
                      </a:pPr>
                      <a:r>
                        <a:rPr lang="en-US">
                          <a:solidFill>
                            <a:schemeClr val="bg1"/>
                          </a:solidFill>
                        </a:rPr>
                        <a:t>W</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Weaknesses（</a:t>
                      </a:r>
                      <a:r>
                        <a:rPr lang="zh-CN" altLang="en-US">
                          <a:solidFill>
                            <a:schemeClr val="bg1"/>
                          </a:solidFill>
                        </a:rPr>
                        <a:t>劣势）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组织内部的消极因素（如资源不足、流程混乱）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20212666"/>
                  </a:ext>
                </a:extLst>
              </a:tr>
              <a:tr h="0">
                <a:tc>
                  <a:txBody>
                    <a:bodyPr/>
                    <a:lstStyle/>
                    <a:p>
                      <a:pPr>
                        <a:buNone/>
                      </a:pPr>
                      <a:r>
                        <a:rPr lang="en-US">
                          <a:solidFill>
                            <a:schemeClr val="bg1"/>
                          </a:solidFill>
                        </a:rPr>
                        <a:t>O</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Opportunities（</a:t>
                      </a:r>
                      <a:r>
                        <a:rPr lang="zh-CN" altLang="en-US">
                          <a:solidFill>
                            <a:schemeClr val="bg1"/>
                          </a:solidFill>
                        </a:rPr>
                        <a:t>机会）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外部环境中的有利条件（如政策支持、市场需求增长）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96084666"/>
                  </a:ext>
                </a:extLst>
              </a:tr>
              <a:tr h="0">
                <a:tc>
                  <a:txBody>
                    <a:bodyPr/>
                    <a:lstStyle/>
                    <a:p>
                      <a:pPr>
                        <a:buNone/>
                      </a:pPr>
                      <a:r>
                        <a:rPr lang="en-US">
                          <a:solidFill>
                            <a:schemeClr val="bg1"/>
                          </a:solidFill>
                        </a:rPr>
                        <a:t>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Threats（</a:t>
                      </a:r>
                      <a:r>
                        <a:rPr lang="zh-CN" altLang="en-US">
                          <a:solidFill>
                            <a:schemeClr val="bg1"/>
                          </a:solidFill>
                        </a:rPr>
                        <a:t>威胁）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外部环境中的不利因素（如竞争加剧、法规变化）</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96590102"/>
                  </a:ext>
                </a:extLst>
              </a:tr>
            </a:tbl>
          </a:graphicData>
        </a:graphic>
      </p:graphicFrame>
      <p:sp>
        <p:nvSpPr>
          <p:cNvPr id="4" name="文本占位符 3">
            <a:extLst>
              <a:ext uri="{FF2B5EF4-FFF2-40B4-BE49-F238E27FC236}">
                <a16:creationId xmlns:a16="http://schemas.microsoft.com/office/drawing/2014/main" id="{B1B1E4F2-0F21-B41A-E5B1-92F2B34E2C2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2464886" y="4681056"/>
            <a:ext cx="7262228" cy="798491"/>
          </a:xfrm>
        </p:spPr>
        <p:txBody>
          <a:bodyPr/>
          <a:lstStyle/>
          <a:p>
            <a:r>
              <a:rPr lang="zh-CN" altLang="en-US"/>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2464886" y="5479548"/>
            <a:ext cx="7262228" cy="458180"/>
          </a:xfrm>
        </p:spPr>
        <p:txBody>
          <a:bodyPr/>
          <a:lstStyle/>
          <a:p>
            <a:r>
              <a:rPr lang="en-US" altLang="zh-CN"/>
              <a:t>Section 10 Project Contract</a:t>
            </a:r>
            <a:endParaRPr lang="zh-CN" altLang="en-US"/>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3883891" y="2278857"/>
            <a:ext cx="4424219" cy="2300287"/>
          </a:xfrm>
        </p:spPr>
        <p:txBody>
          <a:bodyPr/>
          <a:lstStyle/>
          <a:p>
            <a:r>
              <a:rPr lang="zh-CN" altLang="en-US"/>
              <a:t>类型</a:t>
            </a:r>
          </a:p>
          <a:p>
            <a:r>
              <a:rPr lang="zh-CN" altLang="en-US"/>
              <a:t>签订</a:t>
            </a:r>
          </a:p>
          <a:p>
            <a:r>
              <a:rPr lang="zh-CN" altLang="en-US"/>
              <a:t>管理</a:t>
            </a:r>
          </a:p>
        </p:txBody>
      </p:sp>
    </p:spTree>
    <p:extLst>
      <p:ext uri="{BB962C8B-B14F-4D97-AF65-F5344CB8AC3E}">
        <p14:creationId xmlns:p14="http://schemas.microsoft.com/office/powerpoint/2010/main" val="910411400"/>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DE738-D250-DA1D-4886-010EE8C8F41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B95CD81-0F19-6D66-08AA-AFA65F9C5C4A}"/>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4F80E2FE-5797-6351-5F55-45EC78BA1B67}"/>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674109C-2229-D6E3-8387-B013FA257E24}"/>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C320177F-BB77-FD8E-2EF5-87DB4DE1E96A}"/>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FAF469C4-8D30-118E-6C6B-8CF42FD63A16}"/>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0FF15A1E-B9D5-3E52-F20D-98F935266F42}"/>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9A4C6A5C-936D-4D0C-610C-BF53F52E02C7}"/>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CEA54391-90C9-286B-9B17-32E06115DDFC}"/>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C7826C80-9AA0-355A-FA2F-47AE1ADF45D8}"/>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1D6C2ECA-FC5E-E830-5904-31DB52145167}"/>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127AEDB7-C8F7-836A-73A4-A2B2B0D71CCC}"/>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81C03350-1876-8443-D11B-67C70F3852F5}"/>
              </a:ext>
            </a:extLst>
          </p:cNvPr>
          <p:cNvSpPr/>
          <p:nvPr/>
        </p:nvSpPr>
        <p:spPr>
          <a:xfrm>
            <a:off x="8308629"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C7E92326-5544-C777-57B9-BEE219F91639}"/>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695939012"/>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695998" y="360000"/>
            <a:ext cx="7200000" cy="424732"/>
          </a:xfrm>
        </p:spPr>
        <p:txBody>
          <a:bodyPr>
            <a:normAutofit/>
          </a:bodyPr>
          <a:lstStyle/>
          <a:p>
            <a:r>
              <a:rPr lang="zh-CN" altLang="en-US"/>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1080000"/>
            <a:ext cx="10800000" cy="5112000"/>
          </a:xfrm>
        </p:spPr>
        <p:txBody>
          <a:bodyPr/>
          <a:lstStyle/>
          <a:p>
            <a:r>
              <a:rPr lang="zh-CN" altLang="en-US"/>
              <a:t>合同是具有法律</a:t>
            </a:r>
            <a:r>
              <a:rPr lang="zh-CN" altLang="zh-CN"/>
              <a:t>效力</a:t>
            </a:r>
            <a:r>
              <a:rPr lang="zh-CN" altLang="en-US"/>
              <a:t>的协议</a:t>
            </a:r>
            <a:endParaRPr lang="en-US" altLang="zh-CN"/>
          </a:p>
          <a:p>
            <a:r>
              <a:rPr lang="zh-CN" altLang="en-US"/>
              <a:t>双方自愿达成的协议</a:t>
            </a:r>
            <a:endParaRPr lang="en-US" altLang="zh-CN"/>
          </a:p>
          <a:p>
            <a:r>
              <a:rPr lang="zh-CN" altLang="en-US"/>
              <a:t>签订者具有相应的法律能力</a:t>
            </a:r>
          </a:p>
          <a:p>
            <a:r>
              <a:rPr lang="zh-CN" altLang="en-US"/>
              <a:t>有充分的签约理由</a:t>
            </a:r>
          </a:p>
          <a:p>
            <a:r>
              <a:rPr lang="zh-CN" altLang="en-US"/>
              <a:t>具有合法的目的</a:t>
            </a:r>
          </a:p>
          <a:p>
            <a:endParaRPr lang="en-US" altLang="zh-CN"/>
          </a:p>
          <a:p>
            <a:endParaRPr lang="zh-CN" altLang="en-US"/>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p:txBody>
          <a:bodyPr/>
          <a:lstStyle/>
          <a:p>
            <a:r>
              <a:rPr lang="en-US" altLang="zh-CN"/>
              <a:t>Contract</a:t>
            </a:r>
            <a:endParaRPr lang="zh-CN" altLang="en-US"/>
          </a:p>
        </p:txBody>
      </p:sp>
    </p:spTree>
    <p:extLst>
      <p:ext uri="{BB962C8B-B14F-4D97-AF65-F5344CB8AC3E}">
        <p14:creationId xmlns:p14="http://schemas.microsoft.com/office/powerpoint/2010/main" val="2278580081"/>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695998" y="360000"/>
            <a:ext cx="7200000" cy="424732"/>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1080000"/>
            <a:ext cx="10800000" cy="5112000"/>
          </a:xfrm>
        </p:spPr>
        <p:txBody>
          <a:bodyPr/>
          <a:lstStyle/>
          <a:p>
            <a:r>
              <a:rPr lang="zh-CN" altLang="en-US"/>
              <a:t>按范围方式</a:t>
            </a:r>
            <a:endParaRPr lang="en-US" altLang="zh-CN"/>
          </a:p>
          <a:p>
            <a:pPr lvl="1"/>
            <a:r>
              <a:rPr lang="zh-CN" altLang="en-US"/>
              <a:t>总承包合同</a:t>
            </a:r>
            <a:endParaRPr lang="en-US" altLang="zh-CN"/>
          </a:p>
          <a:p>
            <a:pPr lvl="1"/>
            <a:r>
              <a:rPr lang="zh-CN" altLang="en-US"/>
              <a:t>单项工程承包合同</a:t>
            </a:r>
            <a:endParaRPr lang="en-US" altLang="zh-CN"/>
          </a:p>
          <a:p>
            <a:pPr lvl="1"/>
            <a:r>
              <a:rPr lang="zh-CN" altLang="en-US"/>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p:txBody>
          <a:bodyPr/>
          <a:lstStyle/>
          <a:p>
            <a:r>
              <a:rPr lang="en-US" altLang="zh-CN"/>
              <a:t>Contract</a:t>
            </a:r>
            <a:endParaRPr lang="zh-CN" altLang="en-US"/>
          </a:p>
        </p:txBody>
      </p:sp>
    </p:spTree>
    <p:extLst>
      <p:ext uri="{BB962C8B-B14F-4D97-AF65-F5344CB8AC3E}">
        <p14:creationId xmlns:p14="http://schemas.microsoft.com/office/powerpoint/2010/main" val="663516078"/>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695998" y="360000"/>
            <a:ext cx="7200000" cy="424732"/>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1080000"/>
            <a:ext cx="10800000" cy="5112000"/>
          </a:xfrm>
        </p:spPr>
        <p:txBody>
          <a:bodyPr/>
          <a:lstStyle/>
          <a:p>
            <a:r>
              <a:rPr lang="zh-CN" altLang="en-US"/>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p:txBody>
          <a:bodyPr/>
          <a:lstStyle/>
          <a:p>
            <a:r>
              <a:rPr lang="en-US" altLang="zh-CN"/>
              <a:t>Contract</a:t>
            </a:r>
            <a:endParaRPr lang="zh-CN" altLang="en-US"/>
          </a:p>
        </p:txBody>
      </p:sp>
      <p:graphicFrame>
        <p:nvGraphicFramePr>
          <p:cNvPr id="5" name="Diagram 3">
            <a:extLst>
              <a:ext uri="{FF2B5EF4-FFF2-40B4-BE49-F238E27FC236}">
                <a16:creationId xmlns:a16="http://schemas.microsoft.com/office/drawing/2014/main" id="{12F70F5D-11A6-1105-6569-EABA8689B05C}"/>
              </a:ext>
            </a:extLst>
          </p:cNvPr>
          <p:cNvGraphicFramePr/>
          <p:nvPr>
            <p:extLst>
              <p:ext uri="{D42A27DB-BD31-4B8C-83A1-F6EECF244321}">
                <p14:modId xmlns:p14="http://schemas.microsoft.com/office/powerpoint/2010/main" val="1882790980"/>
              </p:ext>
            </p:extLst>
          </p:nvPr>
        </p:nvGraphicFramePr>
        <p:xfrm>
          <a:off x="3023828" y="1863916"/>
          <a:ext cx="6144344" cy="354416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1169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695998" y="360000"/>
            <a:ext cx="7200000" cy="424732"/>
          </a:xfrm>
        </p:spPr>
        <p:txBody>
          <a:bodyPr>
            <a:normAutofit/>
          </a:bodyPr>
          <a:lstStyle/>
          <a:p>
            <a:r>
              <a:rPr lang="zh-CN" altLang="en-US"/>
              <a:t>合同类型 </a:t>
            </a:r>
            <a:r>
              <a:rPr lang="en-US" altLang="zh-CN"/>
              <a:t>- </a:t>
            </a:r>
            <a:r>
              <a:rPr lang="zh-CN" altLang="zh-CN"/>
              <a:t>总价合同</a:t>
            </a:r>
            <a:endParaRPr lang="zh-CN" altLang="en-US"/>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1080000"/>
            <a:ext cx="10800000" cy="5112000"/>
          </a:xfrm>
        </p:spPr>
        <p:txBody>
          <a:bodyPr/>
          <a:lstStyle/>
          <a:p>
            <a:r>
              <a:rPr lang="en-US" altLang="zh-CN"/>
              <a:t>Fixed Price</a:t>
            </a:r>
          </a:p>
          <a:p>
            <a:r>
              <a:rPr lang="zh-CN" altLang="zh-CN"/>
              <a:t>总价合同为既定产品、服务或成果的采购设定一个总价</a:t>
            </a:r>
            <a:endParaRPr lang="en-US" altLang="zh-CN"/>
          </a:p>
          <a:p>
            <a:r>
              <a:rPr lang="zh-CN" altLang="en-US"/>
              <a:t>预算固定、成本可控</a:t>
            </a:r>
            <a:endParaRPr lang="en-US" altLang="zh-CN"/>
          </a:p>
          <a:p>
            <a:r>
              <a:rPr lang="zh-CN" altLang="en-US"/>
              <a:t>适用：需求明确，且不会出现重大范围变更。</a:t>
            </a:r>
          </a:p>
          <a:p>
            <a:endParaRPr lang="zh-CN" altLang="en-US"/>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spTree>
    <p:extLst>
      <p:ext uri="{BB962C8B-B14F-4D97-AF65-F5344CB8AC3E}">
        <p14:creationId xmlns:p14="http://schemas.microsoft.com/office/powerpoint/2010/main" val="677469773"/>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695998" y="360000"/>
            <a:ext cx="7200000" cy="424732"/>
          </a:xfrm>
        </p:spPr>
        <p:txBody>
          <a:bodyPr>
            <a:normAutofit/>
          </a:bodyPr>
          <a:lstStyle/>
          <a:p>
            <a:r>
              <a:rPr lang="zh-CN" altLang="en-US"/>
              <a:t>合同类型 </a:t>
            </a:r>
            <a:r>
              <a:rPr lang="en-US" altLang="zh-CN"/>
              <a:t>- </a:t>
            </a:r>
            <a:r>
              <a:rPr lang="zh-CN" altLang="en-US"/>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1080000"/>
            <a:ext cx="10800000" cy="5112000"/>
          </a:xfrm>
        </p:spPr>
        <p:txBody>
          <a:bodyPr/>
          <a:lstStyle/>
          <a:p>
            <a:r>
              <a:rPr lang="en-US" altLang="zh-CN"/>
              <a:t>Cost Reimbursable</a:t>
            </a:r>
          </a:p>
          <a:p>
            <a:r>
              <a:rPr lang="zh-CN" altLang="zh-CN"/>
              <a:t>向卖方支付为完成工作而发生的全部合法实际成本，外加一笔费用作为卖方的利润。</a:t>
            </a:r>
            <a:endParaRPr lang="en-US" altLang="zh-CN"/>
          </a:p>
          <a:p>
            <a:r>
              <a:rPr lang="zh-CN" altLang="en-US"/>
              <a:t>组成：实际成本</a:t>
            </a:r>
            <a:r>
              <a:rPr lang="en-US" altLang="zh-CN"/>
              <a:t>+</a:t>
            </a:r>
            <a:r>
              <a:rPr lang="zh-CN" altLang="en-US"/>
              <a:t>酬金</a:t>
            </a:r>
            <a:r>
              <a:rPr lang="en-US" altLang="zh-CN"/>
              <a:t>/</a:t>
            </a:r>
            <a:r>
              <a:rPr lang="zh-CN" altLang="en-US"/>
              <a:t>利润</a:t>
            </a:r>
            <a:endParaRPr lang="en-US" altLang="zh-CN"/>
          </a:p>
          <a:p>
            <a:r>
              <a:rPr lang="zh-CN" altLang="zh-CN"/>
              <a:t>适用：工作范围预计会在合同执行期间发生重大变更</a:t>
            </a:r>
            <a:endParaRPr lang="zh-CN" altLang="en-US"/>
          </a:p>
          <a:p>
            <a:endParaRPr lang="zh-CN" altLang="en-US"/>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spTree>
    <p:extLst>
      <p:ext uri="{BB962C8B-B14F-4D97-AF65-F5344CB8AC3E}">
        <p14:creationId xmlns:p14="http://schemas.microsoft.com/office/powerpoint/2010/main" val="925197643"/>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695998" y="360000"/>
            <a:ext cx="7200000" cy="424732"/>
          </a:xfrm>
        </p:spPr>
        <p:txBody>
          <a:bodyPr>
            <a:normAutofit/>
          </a:bodyPr>
          <a:lstStyle/>
          <a:p>
            <a:r>
              <a:rPr lang="zh-CN" altLang="en-US"/>
              <a:t>合同类型 </a:t>
            </a:r>
            <a:r>
              <a:rPr lang="en-US" altLang="zh-CN"/>
              <a:t>- </a:t>
            </a:r>
            <a:r>
              <a:rPr lang="zh-CN" altLang="zh-CN"/>
              <a:t>工料合同</a:t>
            </a:r>
            <a:r>
              <a:rPr lang="en-US" altLang="zh-CN"/>
              <a:t> T&amp;M</a:t>
            </a:r>
            <a:endParaRPr lang="zh-CN" altLang="en-US"/>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1080000"/>
            <a:ext cx="10800000" cy="5112000"/>
          </a:xfrm>
        </p:spPr>
        <p:txBody>
          <a:bodyPr/>
          <a:lstStyle/>
          <a:p>
            <a:r>
              <a:rPr lang="en-US" altLang="zh-CN"/>
              <a:t>Time &amp; Material</a:t>
            </a:r>
            <a:r>
              <a:rPr lang="zh-CN" altLang="en-US"/>
              <a:t>，</a:t>
            </a:r>
            <a:r>
              <a:rPr lang="en-US" altLang="zh-CN"/>
              <a:t>T&amp;M</a:t>
            </a:r>
          </a:p>
          <a:p>
            <a:r>
              <a:rPr lang="zh-CN" altLang="en-US"/>
              <a:t>兼具：成本补偿合同和总价合同的特点</a:t>
            </a:r>
            <a:endParaRPr lang="en-US" altLang="zh-CN"/>
          </a:p>
          <a:p>
            <a:r>
              <a:rPr lang="zh-CN" altLang="en-US"/>
              <a:t>组成：实际成本</a:t>
            </a:r>
            <a:r>
              <a:rPr lang="en-US" altLang="zh-CN"/>
              <a:t>+</a:t>
            </a:r>
            <a:r>
              <a:rPr lang="zh-CN" altLang="en-US"/>
              <a:t>管理</a:t>
            </a:r>
            <a:endParaRPr lang="en-US" altLang="zh-CN"/>
          </a:p>
          <a:p>
            <a:r>
              <a:rPr lang="zh-CN" altLang="zh-CN"/>
              <a:t>必须为每一个单位的工作量付出一定的报酬</a:t>
            </a:r>
            <a:endParaRPr lang="en-US" altLang="zh-CN"/>
          </a:p>
          <a:p>
            <a:r>
              <a:rPr lang="zh-CN" altLang="en-US"/>
              <a:t>适用范围：宽</a:t>
            </a:r>
            <a:endParaRPr lang="en-US" altLang="zh-CN"/>
          </a:p>
          <a:p>
            <a:endParaRPr lang="en-US" altLang="zh-CN"/>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1411665114"/>
              </p:ext>
            </p:extLst>
          </p:nvPr>
        </p:nvGraphicFramePr>
        <p:xfrm>
          <a:off x="695325" y="3265920"/>
          <a:ext cx="10801350" cy="2926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a:solidFill>
                            <a:schemeClr val="bg1"/>
                          </a:solidFill>
                        </a:rPr>
                        <a:t>合同类型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61265677"/>
                  </a:ext>
                </a:extLst>
              </a:tr>
              <a:tr h="0">
                <a:tc>
                  <a:txBody>
                    <a:bodyPr/>
                    <a:lstStyle/>
                    <a:p>
                      <a:pPr>
                        <a:buNone/>
                      </a:pPr>
                      <a:r>
                        <a:rPr lang="zh-CN" altLang="en-US">
                          <a:solidFill>
                            <a:schemeClr val="bg1"/>
                          </a:solidFill>
                        </a:rPr>
                        <a:t>总价合同</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单价或总价固定，风险由卖方承担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范围明确、需求清晰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56097127"/>
                  </a:ext>
                </a:extLst>
              </a:tr>
              <a:tr h="0">
                <a:tc>
                  <a:txBody>
                    <a:bodyPr/>
                    <a:lstStyle/>
                    <a:p>
                      <a:pPr>
                        <a:buNone/>
                      </a:pPr>
                      <a:r>
                        <a:rPr lang="zh-CN" altLang="en-US">
                          <a:solidFill>
                            <a:schemeClr val="bg1"/>
                          </a:solidFill>
                        </a:rPr>
                        <a:t>成本补偿合同</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支付实际成本</a:t>
                      </a:r>
                      <a:r>
                        <a:rPr lang="en-US" altLang="zh-CN">
                          <a:solidFill>
                            <a:schemeClr val="bg1"/>
                          </a:solidFill>
                        </a:rPr>
                        <a:t>+</a:t>
                      </a:r>
                      <a:r>
                        <a:rPr lang="zh-CN" altLang="en-US">
                          <a:solidFill>
                            <a:schemeClr val="bg1"/>
                          </a:solidFill>
                        </a:rPr>
                        <a:t>酬金，买方承担大部分风险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范围不确定、需灵活调整</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94792854"/>
                  </a:ext>
                </a:extLst>
              </a:tr>
              <a:tr h="0">
                <a:tc>
                  <a:txBody>
                    <a:bodyPr/>
                    <a:lstStyle/>
                    <a:p>
                      <a:pPr>
                        <a:buNone/>
                      </a:pPr>
                      <a:r>
                        <a:rPr lang="zh-CN" altLang="en-US">
                          <a:solidFill>
                            <a:schemeClr val="bg1"/>
                          </a:solidFill>
                        </a:rPr>
                        <a:t>工料合同</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按工时和材料计费，单价固定，总量不固定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范围不清但可定义工作单元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66670"/>
                  </a:ext>
                </a:extLst>
              </a:tr>
              <a:tr h="0">
                <a:tc>
                  <a:txBody>
                    <a:bodyPr/>
                    <a:lstStyle/>
                    <a:p>
                      <a:pPr>
                        <a:buNone/>
                      </a:pPr>
                      <a:r>
                        <a:rPr lang="zh-CN" altLang="en-US">
                          <a:solidFill>
                            <a:schemeClr val="bg1"/>
                          </a:solidFill>
                        </a:rPr>
                        <a:t>采购单合同 </a:t>
                      </a:r>
                      <a:r>
                        <a:rPr lang="en-US">
                          <a:solidFill>
                            <a:schemeClr val="bg1"/>
                          </a:solidFill>
                        </a:rPr>
                        <a:t>Purchase Order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简单采购订单，用于一次性商品</a:t>
                      </a:r>
                      <a:r>
                        <a:rPr lang="en-US" altLang="zh-CN">
                          <a:solidFill>
                            <a:schemeClr val="bg1"/>
                          </a:solidFill>
                        </a:rPr>
                        <a:t>/</a:t>
                      </a:r>
                      <a:r>
                        <a:rPr lang="zh-CN" altLang="en-US">
                          <a:solidFill>
                            <a:schemeClr val="bg1"/>
                          </a:solidFill>
                        </a:rPr>
                        <a:t>服务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小额、标准品、非复杂项目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normAutofit/>
          </a:bodyPr>
          <a:lstStyle/>
          <a:p>
            <a:r>
              <a:rPr lang="zh-CN" altLang="en-US"/>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en-US"/>
              <a:t>明确如何进行委托、委托什么项目、何时进行、费用如何等</a:t>
            </a:r>
            <a:endParaRPr lang="en-US" altLang="zh-CN"/>
          </a:p>
          <a:p>
            <a:r>
              <a:rPr lang="zh-CN" altLang="en-US"/>
              <a:t>选择需要的合同类型，采用的招标方式、合同形式等</a:t>
            </a:r>
            <a:endParaRPr lang="en-US" altLang="zh-CN"/>
          </a:p>
          <a:p>
            <a:r>
              <a:rPr lang="zh-CN" altLang="en-US"/>
              <a:t>输出</a:t>
            </a:r>
            <a:endParaRPr lang="en-US" altLang="zh-CN"/>
          </a:p>
          <a:p>
            <a:pPr lvl="1"/>
            <a:r>
              <a:rPr lang="zh-CN" altLang="en-US"/>
              <a:t>招标书或者类似招标书的形式体现的   </a:t>
            </a:r>
          </a:p>
          <a:p>
            <a:endParaRPr lang="zh-CN" altLang="en-US"/>
          </a:p>
          <a:p>
            <a:endParaRPr lang="en-US" altLang="zh-CN"/>
          </a:p>
          <a:p>
            <a:endParaRPr lang="zh-CN" altLang="en-US"/>
          </a:p>
          <a:p>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spTree>
    <p:extLst>
      <p:ext uri="{BB962C8B-B14F-4D97-AF65-F5344CB8AC3E}">
        <p14:creationId xmlns:p14="http://schemas.microsoft.com/office/powerpoint/2010/main" val="3984208002"/>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normAutofit/>
          </a:bodyPr>
          <a:lstStyle/>
          <a:p>
            <a:r>
              <a:rPr lang="zh-CN" altLang="en-US"/>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zh-CN"/>
              <a:t>多层</a:t>
            </a:r>
            <a:r>
              <a:rPr lang="zh-CN" altLang="en-US"/>
              <a:t>协议</a:t>
            </a:r>
            <a:r>
              <a:rPr lang="zh-CN" altLang="zh-CN"/>
              <a:t>结构</a:t>
            </a:r>
            <a:endParaRPr lang="en-US" altLang="zh-CN"/>
          </a:p>
          <a:p>
            <a:r>
              <a:rPr lang="zh-CN" altLang="zh-CN"/>
              <a:t>价值交付</a:t>
            </a:r>
            <a:r>
              <a:rPr lang="zh-CN" altLang="en-US"/>
              <a:t>（例如迭代付费）</a:t>
            </a:r>
            <a:endParaRPr lang="en-US" altLang="zh-CN"/>
          </a:p>
          <a:p>
            <a:r>
              <a:rPr lang="zh-CN" altLang="zh-CN"/>
              <a:t>总价增量</a:t>
            </a:r>
            <a:r>
              <a:rPr lang="en-US" altLang="zh-CN"/>
              <a:t> </a:t>
            </a:r>
            <a:r>
              <a:rPr lang="zh-CN" altLang="en-US"/>
              <a:t>（例如基于</a:t>
            </a:r>
            <a:r>
              <a:rPr lang="en-US" altLang="zh-CN"/>
              <a:t>Story</a:t>
            </a:r>
            <a:r>
              <a:rPr lang="zh-CN" altLang="en-US"/>
              <a:t>付费）</a:t>
            </a:r>
            <a:endParaRPr lang="en-US" altLang="zh-CN"/>
          </a:p>
          <a:p>
            <a:r>
              <a:rPr lang="zh-CN" altLang="en-US"/>
              <a:t>灵活总价</a:t>
            </a:r>
            <a:r>
              <a:rPr lang="zh-CN" altLang="zh-CN"/>
              <a:t>方案</a:t>
            </a:r>
            <a:endParaRPr lang="en-US" altLang="zh-CN"/>
          </a:p>
          <a:p>
            <a:r>
              <a:rPr lang="zh-CN" altLang="zh-CN"/>
              <a:t>动态范围方案</a:t>
            </a:r>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spTree>
    <p:extLst>
      <p:ext uri="{BB962C8B-B14F-4D97-AF65-F5344CB8AC3E}">
        <p14:creationId xmlns:p14="http://schemas.microsoft.com/office/powerpoint/2010/main" val="879014748"/>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p:txBody>
          <a:bodyPr/>
          <a:lstStyle/>
          <a:p>
            <a:r>
              <a:rPr lang="zh-CN" altLang="en-US"/>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p:txBody>
          <a:bodyPr/>
          <a:lstStyle/>
          <a:p>
            <a:r>
              <a:rPr lang="zh-CN" altLang="en-US"/>
              <a:t>经济补偿，不是处罚</a:t>
            </a:r>
            <a:endParaRPr lang="en-US" altLang="zh-CN"/>
          </a:p>
          <a:p>
            <a:r>
              <a:rPr lang="zh-CN" altLang="en-US"/>
              <a:t>分类：</a:t>
            </a:r>
            <a:endParaRPr lang="en-US" altLang="zh-CN"/>
          </a:p>
          <a:p>
            <a:pPr lvl="1"/>
            <a:r>
              <a:rPr lang="zh-CN" altLang="en-US"/>
              <a:t>工期索赔</a:t>
            </a:r>
            <a:endParaRPr lang="en-US" altLang="zh-CN"/>
          </a:p>
          <a:p>
            <a:pPr lvl="1"/>
            <a:r>
              <a:rPr lang="zh-CN" altLang="en-US"/>
              <a:t>费用索赔</a:t>
            </a:r>
            <a:endParaRPr lang="en-US" altLang="zh-CN"/>
          </a:p>
          <a:p>
            <a:r>
              <a:rPr lang="zh-CN" altLang="en-US"/>
              <a:t>期限：每个阶段均为</a:t>
            </a:r>
            <a:r>
              <a:rPr lang="en-US" altLang="zh-CN"/>
              <a:t>28</a:t>
            </a:r>
            <a:r>
              <a:rPr lang="zh-CN" altLang="en-US"/>
              <a:t>天</a:t>
            </a:r>
          </a:p>
        </p:txBody>
      </p:sp>
      <p:sp>
        <p:nvSpPr>
          <p:cNvPr id="4" name="文本占位符 3">
            <a:extLst>
              <a:ext uri="{FF2B5EF4-FFF2-40B4-BE49-F238E27FC236}">
                <a16:creationId xmlns:a16="http://schemas.microsoft.com/office/drawing/2014/main" id="{53EB425B-6570-9958-E58F-8060C25A31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p:txBody>
          <a:bodyPr/>
          <a:lstStyle/>
          <a:p>
            <a:r>
              <a:rPr lang="zh-CN" altLang="en-US"/>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p:txBody>
          <a:bodyPr/>
          <a:lstStyle/>
          <a:p>
            <a:r>
              <a:rPr lang="zh-CN" altLang="en-US"/>
              <a:t>合同变更是一个管理闭环过程，通常遵循以下顺序：</a:t>
            </a:r>
          </a:p>
          <a:p>
            <a:pPr lvl="1"/>
            <a:r>
              <a:rPr lang="zh-CN" altLang="en-US"/>
              <a:t>变更提出 </a:t>
            </a:r>
            <a:r>
              <a:rPr lang="en-US" altLang="zh-CN"/>
              <a:t>Change Request Submitted</a:t>
            </a:r>
            <a:r>
              <a:rPr lang="zh-CN" altLang="en-US"/>
              <a:t>：一方（如业主、承包商）提出变更需求</a:t>
            </a:r>
          </a:p>
          <a:p>
            <a:pPr lvl="1"/>
            <a:r>
              <a:rPr lang="zh-CN" altLang="en-US"/>
              <a:t>变更请求审查 </a:t>
            </a:r>
            <a:r>
              <a:rPr lang="en-US" altLang="zh-CN"/>
              <a:t>Review of Change Request</a:t>
            </a:r>
            <a:r>
              <a:rPr lang="zh-CN" altLang="en-US"/>
              <a:t>：对变更的影响进行评估（成本、工期、质量等）</a:t>
            </a:r>
          </a:p>
          <a:p>
            <a:pPr lvl="1"/>
            <a:r>
              <a:rPr lang="zh-CN" altLang="en-US"/>
              <a:t>变更批准 </a:t>
            </a:r>
            <a:r>
              <a:rPr lang="en-US" altLang="zh-CN"/>
              <a:t>Approval of Change</a:t>
            </a:r>
            <a:r>
              <a:rPr lang="zh-CN" altLang="en-US"/>
              <a:t>：经审批后决定是否接受变更</a:t>
            </a:r>
          </a:p>
          <a:p>
            <a:pPr lvl="1"/>
            <a:r>
              <a:rPr lang="zh-CN" altLang="en-US"/>
              <a:t>变更实施 </a:t>
            </a:r>
            <a:r>
              <a:rPr lang="en-US" altLang="zh-CN"/>
              <a:t>Implementation of Change</a:t>
            </a:r>
            <a:r>
              <a:rPr lang="zh-CN" altLang="en-US"/>
              <a:t>：执行变更内容，并记录结果</a:t>
            </a:r>
          </a:p>
        </p:txBody>
      </p:sp>
      <p:sp>
        <p:nvSpPr>
          <p:cNvPr id="4" name="文本占位符 3">
            <a:extLst>
              <a:ext uri="{FF2B5EF4-FFF2-40B4-BE49-F238E27FC236}">
                <a16:creationId xmlns:a16="http://schemas.microsoft.com/office/drawing/2014/main" id="{AD073962-92DA-ABE5-61BB-8AE6377FBA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2464886" y="4681056"/>
            <a:ext cx="7262228" cy="798491"/>
          </a:xfrm>
        </p:spPr>
        <p:txBody>
          <a:bodyPr/>
          <a:lstStyle/>
          <a:p>
            <a:r>
              <a:rPr lang="zh-CN" altLang="en-US"/>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2464886" y="5479548"/>
            <a:ext cx="7262228" cy="458180"/>
          </a:xfrm>
        </p:spPr>
        <p:txBody>
          <a:bodyPr/>
          <a:lstStyle/>
          <a:p>
            <a:r>
              <a:rPr lang="en-US" altLang="zh-CN"/>
              <a:t>Section 11 Project Execution &amp; Control</a:t>
            </a:r>
            <a:endParaRPr lang="zh-CN" altLang="en-US"/>
          </a:p>
        </p:txBody>
      </p:sp>
      <p:sp>
        <p:nvSpPr>
          <p:cNvPr id="6" name="文本占位符 5">
            <a:extLst>
              <a:ext uri="{FF2B5EF4-FFF2-40B4-BE49-F238E27FC236}">
                <a16:creationId xmlns:a16="http://schemas.microsoft.com/office/drawing/2014/main" id="{3DC2B38E-C50C-E802-C257-B724B944AB8C}"/>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3343414957"/>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68552-E27E-727C-64F4-1D2D769390E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E3680C14-EBB8-9BD4-D0E4-9569524A2C73}"/>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B3E913E9-5F3C-4633-35C1-5E070BD42C18}"/>
              </a:ext>
            </a:extLst>
          </p:cNvPr>
          <p:cNvSpPr/>
          <p:nvPr/>
        </p:nvSpPr>
        <p:spPr>
          <a:xfrm>
            <a:off x="4180548"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A812D123-7914-8793-D42C-5698BC5F04AE}"/>
              </a:ext>
            </a:extLst>
          </p:cNvPr>
          <p:cNvSpPr/>
          <p:nvPr/>
        </p:nvSpPr>
        <p:spPr>
          <a:xfrm>
            <a:off x="5906652"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71C9EE59-4D04-57F6-AD14-320B4C54F7D4}"/>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603EFE14-4129-4867-42D7-836C9ED02D51}"/>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5F2AE1F4-EECB-ED33-7B60-036248FB5A2F}"/>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82069C54-F85B-84A2-48DA-82672A767F48}"/>
              </a:ext>
            </a:extLst>
          </p:cNvPr>
          <p:cNvSpPr/>
          <p:nvPr/>
        </p:nvSpPr>
        <p:spPr>
          <a:xfrm>
            <a:off x="4840750"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E63E646B-2D3A-F535-2B01-46F3EEBE8A62}"/>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CD69D64-BD6B-03B6-3902-0270A61F010D}"/>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C3C1E7FF-135A-ACD0-2A00-1D261AB75300}"/>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B627C820-EDFE-BB4D-B0C2-1EF6B23A8E07}"/>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3FBAECE0-798B-3FE6-068F-BB8DA3348BF9}"/>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46D5E1D2-1925-5ACB-4C8E-D0A4DED3B5E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223499410"/>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52BBC8EB-E652-22DE-9621-B0A1FD6CB1FB}"/>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864000"/>
            <a:ext cx="10800000" cy="5400000"/>
          </a:xfrm>
        </p:spPr>
        <p:txBody>
          <a:bodyPr/>
          <a:lstStyle/>
          <a:p>
            <a:r>
              <a:rPr lang="zh-CN" altLang="en-US"/>
              <a:t>马云和比尔盖茨都表达过类似的观点：“一流的战略、三流的执行”不如“三流的战略、一流的执行”。一流的战略和一流的执行，似乎就像鱼与熊掌一样不可兼得。</a:t>
            </a:r>
          </a:p>
          <a:p>
            <a:endParaRPr lang="zh-CN" altLang="en-US"/>
          </a:p>
        </p:txBody>
      </p:sp>
      <p:sp>
        <p:nvSpPr>
          <p:cNvPr id="10" name="文本占位符 9">
            <a:extLst>
              <a:ext uri="{FF2B5EF4-FFF2-40B4-BE49-F238E27FC236}">
                <a16:creationId xmlns:a16="http://schemas.microsoft.com/office/drawing/2014/main" id="{844D0099-3093-D1AA-9C64-D19FF4E68B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695998" y="360000"/>
            <a:ext cx="6375921" cy="429413"/>
          </a:xfrm>
        </p:spPr>
        <p:txBody>
          <a:bodyPr>
            <a:normAutofit/>
          </a:bodyPr>
          <a:lstStyle/>
          <a:p>
            <a:r>
              <a:rPr lang="zh-CN" altLang="en-US"/>
              <a:t>约束</a:t>
            </a:r>
          </a:p>
        </p:txBody>
      </p:sp>
      <p:sp>
        <p:nvSpPr>
          <p:cNvPr id="23" name="内容占位符 22">
            <a:extLst>
              <a:ext uri="{FF2B5EF4-FFF2-40B4-BE49-F238E27FC236}">
                <a16:creationId xmlns:a16="http://schemas.microsoft.com/office/drawing/2014/main" id="{01496836-6604-07B3-4682-7CFB1C11BAF8}"/>
              </a:ext>
            </a:extLst>
          </p:cNvPr>
          <p:cNvSpPr>
            <a:spLocks noGrp="1"/>
          </p:cNvSpPr>
          <p:nvPr>
            <p:ph idx="1"/>
          </p:nvPr>
        </p:nvSpPr>
        <p:spPr/>
        <p:txBody>
          <a:bodyPr/>
          <a:lstStyle/>
          <a:p>
            <a:endParaRPr lang="zh-CN" altLang="en-US"/>
          </a:p>
        </p:txBody>
      </p:sp>
      <p:sp>
        <p:nvSpPr>
          <p:cNvPr id="18" name="文本占位符 17">
            <a:extLst>
              <a:ext uri="{FF2B5EF4-FFF2-40B4-BE49-F238E27FC236}">
                <a16:creationId xmlns:a16="http://schemas.microsoft.com/office/drawing/2014/main" id="{35B4A9CE-EB33-D57B-AEF1-4008E044EED1}"/>
              </a:ext>
            </a:extLst>
          </p:cNvPr>
          <p:cNvSpPr>
            <a:spLocks noGrp="1"/>
          </p:cNvSpPr>
          <p:nvPr>
            <p:ph type="body" sz="quarter" idx="10"/>
          </p:nvPr>
        </p:nvSpPr>
        <p:spPr>
          <a:xfrm>
            <a:off x="7071919" y="448519"/>
            <a:ext cx="4424080" cy="338554"/>
          </a:xfrm>
        </p:spPr>
        <p:txBody>
          <a:bodyPr/>
          <a:lstStyle/>
          <a:p>
            <a:r>
              <a:rPr lang="en-US" altLang="zh-CN"/>
              <a:t>Triple Constraint Diagram</a:t>
            </a:r>
            <a:endParaRPr lang="zh-CN" altLang="en-US"/>
          </a:p>
        </p:txBody>
      </p:sp>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a:solidFill>
                  <a:schemeClr val="bg1"/>
                </a:solidFill>
              </a:rPr>
              <a:t>The tasks</a:t>
            </a:r>
          </a:p>
          <a:p>
            <a:r>
              <a:rPr lang="en-US" altLang="zh-CN">
                <a:solidFill>
                  <a:schemeClr val="bg1"/>
                </a:solidFill>
              </a:rPr>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a:solidFill>
                  <a:schemeClr val="bg1"/>
                </a:solidFill>
              </a:rPr>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a:solidFill>
                  <a:schemeClr val="bg1"/>
                </a:solidFill>
              </a:rPr>
              <a:t>The schedule</a:t>
            </a:r>
          </a:p>
          <a:p>
            <a:r>
              <a:rPr lang="en-US" altLang="zh-CN">
                <a:solidFill>
                  <a:schemeClr val="bg1"/>
                </a:solidFill>
              </a:rPr>
              <a:t>for the project to reach completion</a:t>
            </a:r>
            <a:endParaRPr lang="zh-CN" altLang="en-US">
              <a:solidFill>
                <a:schemeClr val="bg1"/>
              </a:solidFill>
            </a:endParaRPr>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826000" y="2466725"/>
            <a:ext cx="540000" cy="540000"/>
          </a:xfrm>
          <a:prstGeom prst="rect">
            <a:avLst/>
          </a:prstGeom>
        </p:spPr>
      </p:pic>
      <p:pic>
        <p:nvPicPr>
          <p:cNvPr id="15" name="内容占位符 26" descr="时钟">
            <a:extLst>
              <a:ext uri="{FF2B5EF4-FFF2-40B4-BE49-F238E27FC236}">
                <a16:creationId xmlns:a16="http://schemas.microsoft.com/office/drawing/2014/main" id="{2FA749CD-DA96-5D61-98F9-DDE1A6EA1D1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834378" y="4198978"/>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864000"/>
            <a:ext cx="10800000" cy="5400000"/>
          </a:xfrm>
        </p:spPr>
        <p:txBody>
          <a:bodyPr/>
          <a:lstStyle/>
          <a:p>
            <a:r>
              <a:rPr lang="zh-CN" altLang="en-US"/>
              <a:t>假设正在建设一个小型零售店，大约</a:t>
            </a:r>
            <a:r>
              <a:rPr lang="en-US" altLang="zh-CN"/>
              <a:t>2,000</a:t>
            </a:r>
            <a:r>
              <a:rPr lang="zh-CN" altLang="en-US"/>
              <a:t>平方英尺。项目时间为</a:t>
            </a:r>
            <a:r>
              <a:rPr lang="en-US" altLang="zh-CN"/>
              <a:t>6</a:t>
            </a:r>
            <a:r>
              <a:rPr lang="zh-CN" altLang="en-US"/>
              <a:t>个月，预算为</a:t>
            </a:r>
            <a:r>
              <a:rPr lang="en-US" altLang="zh-CN"/>
              <a:t>30</a:t>
            </a:r>
            <a:r>
              <a:rPr lang="zh-CN" altLang="en-US"/>
              <a:t>万美元</a:t>
            </a:r>
            <a:endParaRPr lang="en-US" altLang="zh-CN"/>
          </a:p>
          <a:p>
            <a:r>
              <a:rPr lang="zh-CN" altLang="en-US"/>
              <a:t>如果客户在最后一刻提出增加</a:t>
            </a:r>
            <a:r>
              <a:rPr lang="en-US" altLang="zh-CN"/>
              <a:t>500</a:t>
            </a:r>
            <a:r>
              <a:rPr lang="zh-CN" altLang="en-US"/>
              <a:t>平方英尺的要求：</a:t>
            </a:r>
            <a:endParaRPr lang="en-US" altLang="zh-CN"/>
          </a:p>
          <a:p>
            <a:pPr lvl="1"/>
            <a:r>
              <a:rPr lang="zh-CN" altLang="en-US"/>
              <a:t>扩大项目范围</a:t>
            </a:r>
            <a:endParaRPr lang="en-US" altLang="zh-CN"/>
          </a:p>
          <a:p>
            <a:pPr lvl="1"/>
            <a:r>
              <a:rPr lang="zh-CN" altLang="en-US"/>
              <a:t>要么时间表必须推迟，要么预算增加</a:t>
            </a:r>
          </a:p>
        </p:txBody>
      </p:sp>
      <p:sp>
        <p:nvSpPr>
          <p:cNvPr id="6" name="文本占位符 5">
            <a:extLst>
              <a:ext uri="{FF2B5EF4-FFF2-40B4-BE49-F238E27FC236}">
                <a16:creationId xmlns:a16="http://schemas.microsoft.com/office/drawing/2014/main" id="{AFCA8D41-96CD-F50D-4A6D-D2CFD1086E72}"/>
              </a:ext>
            </a:extLst>
          </p:cNvPr>
          <p:cNvSpPr>
            <a:spLocks noGrp="1"/>
          </p:cNvSpPr>
          <p:nvPr>
            <p:ph type="body" sz="quarter" idx="10"/>
          </p:nvPr>
        </p:nvSpPr>
        <p:spPr>
          <a:xfrm>
            <a:off x="7071919" y="448519"/>
            <a:ext cx="4424080" cy="338554"/>
          </a:xfrm>
        </p:spPr>
        <p:txBody>
          <a:bodyPr/>
          <a:lstStyle/>
          <a:p>
            <a:r>
              <a:rPr lang="en-US" altLang="zh-CN"/>
              <a:t>Construction project Triple Constraint</a:t>
            </a:r>
            <a:endParaRPr lang="zh-CN" altLang="en-US"/>
          </a:p>
        </p:txBody>
      </p:sp>
    </p:spTree>
    <p:extLst>
      <p:ext uri="{BB962C8B-B14F-4D97-AF65-F5344CB8AC3E}">
        <p14:creationId xmlns:p14="http://schemas.microsoft.com/office/powerpoint/2010/main" val="100991124"/>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864000"/>
            <a:ext cx="10800000" cy="5400000"/>
          </a:xfrm>
        </p:spPr>
        <p:txBody>
          <a:bodyPr/>
          <a:lstStyle/>
          <a:p>
            <a:r>
              <a:rPr lang="zh-CN" altLang="en-US"/>
              <a:t>如果一个销售团队需要建立一个新的客户关系管理系统</a:t>
            </a:r>
            <a:r>
              <a:rPr lang="en-US" altLang="zh-CN"/>
              <a:t>CRM</a:t>
            </a:r>
            <a:r>
              <a:rPr lang="zh-CN" altLang="en-US"/>
              <a:t>，他们可能有</a:t>
            </a:r>
            <a:r>
              <a:rPr lang="en-US" altLang="zh-CN"/>
              <a:t>9</a:t>
            </a:r>
            <a:r>
              <a:rPr lang="zh-CN" altLang="en-US"/>
              <a:t>个月的时间框架和</a:t>
            </a:r>
            <a:r>
              <a:rPr lang="en-US" altLang="zh-CN"/>
              <a:t>25</a:t>
            </a:r>
            <a:r>
              <a:rPr lang="zh-CN" altLang="en-US"/>
              <a:t>万美元的预算。在范围方面，</a:t>
            </a:r>
            <a:r>
              <a:rPr lang="en-US" altLang="zh-CN"/>
              <a:t>CRM</a:t>
            </a:r>
            <a:r>
              <a:rPr lang="zh-CN" altLang="en-US"/>
              <a:t>需要包括潜在客户管理、销售报告和联系跟踪</a:t>
            </a:r>
            <a:endParaRPr lang="en-US" altLang="zh-CN"/>
          </a:p>
          <a:p>
            <a:r>
              <a:rPr lang="zh-CN" altLang="en-US"/>
              <a:t>如果销售团队要求系统在</a:t>
            </a:r>
            <a:r>
              <a:rPr lang="en-US" altLang="zh-CN"/>
              <a:t>6</a:t>
            </a:r>
            <a:r>
              <a:rPr lang="zh-CN" altLang="en-US"/>
              <a:t>个月内准备就绪：</a:t>
            </a:r>
            <a:endParaRPr lang="en-US" altLang="zh-CN"/>
          </a:p>
          <a:p>
            <a:pPr lvl="1"/>
            <a:r>
              <a:rPr lang="zh-CN" altLang="en-US"/>
              <a:t>减少范围</a:t>
            </a:r>
            <a:endParaRPr lang="en-US" altLang="zh-CN"/>
          </a:p>
          <a:p>
            <a:pPr lvl="1"/>
            <a:r>
              <a:rPr lang="zh-CN" altLang="en-US"/>
              <a:t>增加预算</a:t>
            </a:r>
          </a:p>
        </p:txBody>
      </p:sp>
      <p:sp>
        <p:nvSpPr>
          <p:cNvPr id="6" name="文本占位符 5">
            <a:extLst>
              <a:ext uri="{FF2B5EF4-FFF2-40B4-BE49-F238E27FC236}">
                <a16:creationId xmlns:a16="http://schemas.microsoft.com/office/drawing/2014/main" id="{B47CC1A2-D243-81DF-4342-89DC8AA81764}"/>
              </a:ext>
            </a:extLst>
          </p:cNvPr>
          <p:cNvSpPr>
            <a:spLocks noGrp="1"/>
          </p:cNvSpPr>
          <p:nvPr>
            <p:ph type="body" sz="quarter" idx="10"/>
          </p:nvPr>
        </p:nvSpPr>
        <p:spPr>
          <a:xfrm>
            <a:off x="7071919" y="448519"/>
            <a:ext cx="4424080" cy="338554"/>
          </a:xfrm>
        </p:spPr>
        <p:txBody>
          <a:bodyPr/>
          <a:lstStyle/>
          <a:p>
            <a:r>
              <a:rPr lang="en-US" altLang="zh-CN"/>
              <a:t>IT project Triple Constraint</a:t>
            </a:r>
            <a:endParaRPr lang="zh-CN" altLang="en-US"/>
          </a:p>
        </p:txBody>
      </p:sp>
    </p:spTree>
    <p:extLst>
      <p:ext uri="{BB962C8B-B14F-4D97-AF65-F5344CB8AC3E}">
        <p14:creationId xmlns:p14="http://schemas.microsoft.com/office/powerpoint/2010/main" val="338979811"/>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a:xfrm>
            <a:off x="696000" y="864000"/>
            <a:ext cx="10800000" cy="5400000"/>
          </a:xfrm>
        </p:spPr>
        <p:txBody>
          <a:bodyPr/>
          <a:lstStyle/>
          <a:p>
            <a:r>
              <a:rPr lang="zh-CN" altLang="en-US"/>
              <a:t>假设一家制造公司正在生产</a:t>
            </a:r>
            <a:r>
              <a:rPr lang="en-US" altLang="zh-CN"/>
              <a:t>5,000</a:t>
            </a:r>
            <a:r>
              <a:rPr lang="zh-CN" altLang="en-US"/>
              <a:t>台新型智能家居设备。它需要包含应用程序集成和语音控制，每台设备的制造成本不能超过</a:t>
            </a:r>
            <a:r>
              <a:rPr lang="en-US" altLang="zh-CN"/>
              <a:t>50</a:t>
            </a:r>
            <a:r>
              <a:rPr lang="zh-CN" altLang="en-US"/>
              <a:t>美元，并且所有设备必须在</a:t>
            </a:r>
            <a:r>
              <a:rPr lang="en-US" altLang="zh-CN"/>
              <a:t>3</a:t>
            </a:r>
            <a:r>
              <a:rPr lang="zh-CN" altLang="en-US"/>
              <a:t>个月内生产完成</a:t>
            </a:r>
            <a:endParaRPr lang="en-US" altLang="zh-CN"/>
          </a:p>
          <a:p>
            <a:r>
              <a:rPr lang="zh-CN" altLang="en-US"/>
              <a:t>如果预算中突然出现成本变化，并且每台设备的制造成本不能超过</a:t>
            </a:r>
            <a:r>
              <a:rPr lang="en-US" altLang="zh-CN"/>
              <a:t>40</a:t>
            </a:r>
            <a:r>
              <a:rPr lang="zh-CN" altLang="en-US"/>
              <a:t>美元：</a:t>
            </a:r>
            <a:endParaRPr lang="en-US" altLang="zh-CN"/>
          </a:p>
          <a:p>
            <a:pPr lvl="1"/>
            <a:r>
              <a:rPr lang="zh-CN" altLang="en-US"/>
              <a:t>要么需要放慢速度，这将延长预算</a:t>
            </a:r>
            <a:endParaRPr lang="en-US" altLang="zh-CN"/>
          </a:p>
          <a:p>
            <a:pPr lvl="1"/>
            <a:r>
              <a:rPr lang="zh-CN" altLang="en-US"/>
              <a:t>要么范围将需要缩减</a:t>
            </a:r>
          </a:p>
        </p:txBody>
      </p:sp>
      <p:sp>
        <p:nvSpPr>
          <p:cNvPr id="6" name="文本占位符 5">
            <a:extLst>
              <a:ext uri="{FF2B5EF4-FFF2-40B4-BE49-F238E27FC236}">
                <a16:creationId xmlns:a16="http://schemas.microsoft.com/office/drawing/2014/main" id="{AAB54011-8869-3D47-C6D3-AA9BA832B46E}"/>
              </a:ext>
            </a:extLst>
          </p:cNvPr>
          <p:cNvSpPr>
            <a:spLocks noGrp="1"/>
          </p:cNvSpPr>
          <p:nvPr>
            <p:ph type="body" sz="quarter" idx="10"/>
          </p:nvPr>
        </p:nvSpPr>
        <p:spPr>
          <a:xfrm>
            <a:off x="7071919" y="448519"/>
            <a:ext cx="4424080" cy="338554"/>
          </a:xfrm>
        </p:spPr>
        <p:txBody>
          <a:bodyPr/>
          <a:lstStyle/>
          <a:p>
            <a:r>
              <a:rPr lang="en-US" altLang="zh-CN"/>
              <a:t>Manufacturing Triple Constraint</a:t>
            </a:r>
            <a:endParaRPr lang="zh-CN" altLang="en-US"/>
          </a:p>
        </p:txBody>
      </p:sp>
    </p:spTree>
    <p:extLst>
      <p:ext uri="{BB962C8B-B14F-4D97-AF65-F5344CB8AC3E}">
        <p14:creationId xmlns:p14="http://schemas.microsoft.com/office/powerpoint/2010/main" val="364262728"/>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2464886" y="4681056"/>
            <a:ext cx="7262228" cy="798491"/>
          </a:xfrm>
        </p:spPr>
        <p:txBody>
          <a:bodyPr/>
          <a:lstStyle/>
          <a:p>
            <a:r>
              <a:rPr lang="zh-CN" altLang="en-US"/>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2464886" y="5479548"/>
            <a:ext cx="7262228" cy="458180"/>
          </a:xfrm>
        </p:spPr>
        <p:txBody>
          <a:bodyPr/>
          <a:lstStyle/>
          <a:p>
            <a:r>
              <a:rPr lang="en-US" altLang="zh-CN"/>
              <a:t>Section 12 Project Closure</a:t>
            </a:r>
            <a:endParaRPr lang="zh-CN" altLang="en-US"/>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3883891" y="2278857"/>
            <a:ext cx="4424219" cy="2300287"/>
          </a:xfrm>
        </p:spPr>
        <p:txBody>
          <a:bodyPr/>
          <a:lstStyle/>
          <a:p>
            <a:r>
              <a:rPr lang="zh-CN" altLang="en-US"/>
              <a:t>项目终止</a:t>
            </a:r>
            <a:endParaRPr lang="en-US" altLang="zh-CN"/>
          </a:p>
          <a:p>
            <a:r>
              <a:rPr lang="zh-CN" altLang="en-US"/>
              <a:t>项目结束</a:t>
            </a:r>
          </a:p>
        </p:txBody>
      </p:sp>
    </p:spTree>
    <p:extLst>
      <p:ext uri="{BB962C8B-B14F-4D97-AF65-F5344CB8AC3E}">
        <p14:creationId xmlns:p14="http://schemas.microsoft.com/office/powerpoint/2010/main" val="3481589626"/>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FF9E6-9E52-7D32-EA63-78543B099B1E}"/>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58F83B6B-FE72-5203-7BAE-986DE035AE06}"/>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B477B985-73BD-5090-5F5E-573F20709A7F}"/>
              </a:ext>
            </a:extLst>
          </p:cNvPr>
          <p:cNvSpPr/>
          <p:nvPr/>
        </p:nvSpPr>
        <p:spPr>
          <a:xfrm>
            <a:off x="4180548"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05B514E-8462-085C-9F5A-F215DE5F33F7}"/>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12C06C3B-F478-29D5-A343-E5DCC93727CD}"/>
              </a:ext>
            </a:extLst>
          </p:cNvPr>
          <p:cNvSpPr/>
          <p:nvPr/>
        </p:nvSpPr>
        <p:spPr>
          <a:xfrm>
            <a:off x="7632755"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8163AD3A-D079-198F-692B-8805A0754FAC}"/>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1126563F-EFBA-A44C-E0C4-EAD0F44A6A7D}"/>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AE1CD4FB-43F9-0858-CCF6-C8225CF43C09}"/>
              </a:ext>
            </a:extLst>
          </p:cNvPr>
          <p:cNvSpPr/>
          <p:nvPr/>
        </p:nvSpPr>
        <p:spPr>
          <a:xfrm>
            <a:off x="4840750"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A720C152-7020-08D1-6031-68F39909928B}"/>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EAA668BC-18F2-4086-918C-5E40FC72A9A9}"/>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4406620C-95F6-C506-A0EC-C39B4D4FFC3B}"/>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C394A6D5-F639-D1D9-5BC4-C2428725B890}"/>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C519C489-6589-4E62-66EF-DEE216A0E236}"/>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795F63D4-ACB5-4A39-FF43-A7DB5A961D6D}"/>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327739422"/>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695998" y="360000"/>
            <a:ext cx="7200000" cy="424732"/>
          </a:xfrm>
        </p:spPr>
        <p:txBody>
          <a:bodyPr>
            <a:normAutofit/>
          </a:bodyPr>
          <a:lstStyle/>
          <a:p>
            <a:r>
              <a:rPr lang="zh-CN" altLang="en-US"/>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1080000"/>
            <a:ext cx="10800000" cy="5112000"/>
          </a:xfrm>
        </p:spPr>
        <p:txBody>
          <a:bodyPr/>
          <a:lstStyle/>
          <a:p>
            <a:r>
              <a:rPr lang="zh-CN" altLang="en-US"/>
              <a:t>项目计划中确定的可交付成果已经出现</a:t>
            </a:r>
            <a:endParaRPr lang="en-US" altLang="zh-CN"/>
          </a:p>
          <a:p>
            <a:pPr lvl="1"/>
            <a:r>
              <a:rPr lang="zh-CN" altLang="en-US"/>
              <a:t>项目的目标已经成功实现</a:t>
            </a:r>
            <a:endParaRPr lang="en-US" altLang="zh-CN"/>
          </a:p>
          <a:p>
            <a:r>
              <a:rPr lang="zh-CN" altLang="en-US"/>
              <a:t>由于相关原因</a:t>
            </a:r>
            <a:r>
              <a:rPr lang="en-US" altLang="zh-CN"/>
              <a:t>,</a:t>
            </a:r>
            <a:r>
              <a:rPr lang="zh-CN" altLang="en-US"/>
              <a:t>项目无法继续进行</a:t>
            </a:r>
            <a:endParaRPr lang="en-US" altLang="zh-CN"/>
          </a:p>
          <a:p>
            <a:pPr lvl="1"/>
            <a:r>
              <a:rPr lang="zh-CN" altLang="en-US"/>
              <a:t>项目已经不具备实用价值</a:t>
            </a:r>
            <a:endParaRPr lang="en-US" altLang="zh-CN"/>
          </a:p>
          <a:p>
            <a:pPr lvl="1"/>
            <a:r>
              <a:rPr lang="zh-CN" altLang="en-US"/>
              <a:t>项目无竞争力，难以生存</a:t>
            </a:r>
            <a:endParaRPr lang="en-US" altLang="zh-CN"/>
          </a:p>
          <a:p>
            <a:pPr lvl="1"/>
            <a:r>
              <a:rPr lang="en-US" altLang="zh-CN"/>
              <a:t>……</a:t>
            </a:r>
          </a:p>
          <a:p>
            <a:endParaRPr lang="zh-CN" altLang="en-US"/>
          </a:p>
        </p:txBody>
      </p:sp>
      <p:sp>
        <p:nvSpPr>
          <p:cNvPr id="28" name="文本占位符 27">
            <a:extLst>
              <a:ext uri="{FF2B5EF4-FFF2-40B4-BE49-F238E27FC236}">
                <a16:creationId xmlns:a16="http://schemas.microsoft.com/office/drawing/2014/main" id="{BA786531-1A09-2C9E-7FB2-8F1B622026A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695998" y="360000"/>
            <a:ext cx="7200000" cy="424732"/>
          </a:xfrm>
        </p:spPr>
        <p:txBody>
          <a:bodyPr>
            <a:normAutofit/>
          </a:bodyPr>
          <a:lstStyle/>
          <a:p>
            <a:r>
              <a:rPr lang="zh-CN" altLang="en-US"/>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1080000"/>
            <a:ext cx="10800000" cy="5112000"/>
          </a:xfrm>
        </p:spPr>
        <p:txBody>
          <a:bodyPr/>
          <a:lstStyle/>
          <a:p>
            <a:r>
              <a:rPr lang="zh-CN" altLang="en-US"/>
              <a:t>达到项目的完工或退出标准</a:t>
            </a:r>
            <a:endParaRPr lang="en-US" altLang="zh-CN"/>
          </a:p>
          <a:p>
            <a:r>
              <a:rPr lang="zh-CN" altLang="en-US"/>
              <a:t>完成项目合同协议</a:t>
            </a:r>
            <a:endParaRPr lang="en-US" altLang="zh-CN"/>
          </a:p>
          <a:p>
            <a:r>
              <a:rPr lang="zh-CN" altLang="en-US"/>
              <a:t>完成项目信息报告</a:t>
            </a:r>
          </a:p>
          <a:p>
            <a:endParaRPr lang="en-US" altLang="zh-CN"/>
          </a:p>
          <a:p>
            <a:endParaRPr lang="zh-CN" altLang="en-US"/>
          </a:p>
        </p:txBody>
      </p:sp>
      <p:sp>
        <p:nvSpPr>
          <p:cNvPr id="25" name="文本占位符 24">
            <a:extLst>
              <a:ext uri="{FF2B5EF4-FFF2-40B4-BE49-F238E27FC236}">
                <a16:creationId xmlns:a16="http://schemas.microsoft.com/office/drawing/2014/main" id="{6A4CE0F7-5231-F56A-2556-076F6D60244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p:txBody>
          <a:bodyPr/>
          <a:lstStyle/>
          <a:p>
            <a:r>
              <a:rPr lang="zh-CN" altLang="en-US"/>
              <a:t>项目结束</a:t>
            </a:r>
          </a:p>
        </p:txBody>
      </p:sp>
      <p:sp>
        <p:nvSpPr>
          <p:cNvPr id="3" name="内容占位符 2">
            <a:extLst>
              <a:ext uri="{FF2B5EF4-FFF2-40B4-BE49-F238E27FC236}">
                <a16:creationId xmlns:a16="http://schemas.microsoft.com/office/drawing/2014/main" id="{D3268B25-F0CD-4E0E-C9B7-E42E1A995160}"/>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12704218-1DC9-8216-641A-F1B869E50B1C}"/>
              </a:ext>
            </a:extLst>
          </p:cNvPr>
          <p:cNvSpPr>
            <a:spLocks noGrp="1"/>
          </p:cNvSpPr>
          <p:nvPr>
            <p:ph type="body" sz="quarter" idx="10"/>
          </p:nvPr>
        </p:nvSpPr>
        <p:spPr/>
        <p:txBody>
          <a:bodyPr/>
          <a:lstStyle/>
          <a:p>
            <a:endParaRPr lang="zh-CN" altLang="en-US"/>
          </a:p>
        </p:txBody>
      </p:sp>
      <p:graphicFrame>
        <p:nvGraphicFramePr>
          <p:cNvPr id="5" name="内容占位符 5">
            <a:extLst>
              <a:ext uri="{FF2B5EF4-FFF2-40B4-BE49-F238E27FC236}">
                <a16:creationId xmlns:a16="http://schemas.microsoft.com/office/drawing/2014/main" id="{7E5C5DE8-BE2F-79BA-48AF-9EB8EFF8A4B2}"/>
              </a:ext>
            </a:extLst>
          </p:cNvPr>
          <p:cNvGraphicFramePr>
            <a:graphicFrameLocks noChangeAspect="1"/>
          </p:cNvGraphicFramePr>
          <p:nvPr>
            <p:extLst>
              <p:ext uri="{D42A27DB-BD31-4B8C-83A1-F6EECF244321}">
                <p14:modId xmlns:p14="http://schemas.microsoft.com/office/powerpoint/2010/main" val="1942087867"/>
              </p:ext>
            </p:extLst>
          </p:nvPr>
        </p:nvGraphicFramePr>
        <p:xfrm>
          <a:off x="3046412" y="1080000"/>
          <a:ext cx="6099176" cy="511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96949250"/>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a:xfrm>
            <a:off x="695998" y="360000"/>
            <a:ext cx="6375921" cy="429413"/>
          </a:xfrm>
        </p:spPr>
        <p:txBody>
          <a:bodyPr/>
          <a:lstStyle/>
          <a:p>
            <a:r>
              <a:rPr lang="zh-CN" altLang="en-US"/>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a:xfrm>
            <a:off x="696000" y="864000"/>
            <a:ext cx="10800000" cy="5400000"/>
          </a:xfrm>
        </p:spPr>
        <p:txBody>
          <a:bodyPr/>
          <a:lstStyle/>
          <a:p>
            <a:r>
              <a:rPr lang="zh-CN" altLang="en-US"/>
              <a:t>合同结束</a:t>
            </a:r>
            <a:endParaRPr lang="en-US" altLang="zh-CN"/>
          </a:p>
          <a:p>
            <a:r>
              <a:rPr lang="zh-CN" altLang="en-US"/>
              <a:t>行政结束</a:t>
            </a:r>
          </a:p>
        </p:txBody>
      </p:sp>
      <p:sp>
        <p:nvSpPr>
          <p:cNvPr id="7" name="文本占位符 6">
            <a:extLst>
              <a:ext uri="{FF2B5EF4-FFF2-40B4-BE49-F238E27FC236}">
                <a16:creationId xmlns:a16="http://schemas.microsoft.com/office/drawing/2014/main" id="{65BE9A37-4E79-9CFF-2BCB-9B2D997C786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a:xfrm>
            <a:off x="695998" y="360000"/>
            <a:ext cx="6375921" cy="429413"/>
          </a:xfrm>
        </p:spPr>
        <p:txBody>
          <a:bodyPr/>
          <a:lstStyle/>
          <a:p>
            <a:r>
              <a:rPr lang="zh-CN" altLang="en-US"/>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a:xfrm>
            <a:off x="696000" y="864000"/>
            <a:ext cx="10800000" cy="5400000"/>
          </a:xfrm>
        </p:spPr>
        <p:txBody>
          <a:bodyPr/>
          <a:lstStyle/>
          <a:p>
            <a:r>
              <a:rPr lang="zh-CN" altLang="en-US"/>
              <a:t>验收测试</a:t>
            </a:r>
            <a:endParaRPr lang="en-US" altLang="zh-CN"/>
          </a:p>
          <a:p>
            <a:r>
              <a:rPr lang="zh-CN" altLang="en-US"/>
              <a:t>系统试运行</a:t>
            </a:r>
            <a:endParaRPr lang="en-US" altLang="zh-CN"/>
          </a:p>
          <a:p>
            <a:r>
              <a:rPr lang="zh-CN" altLang="en-US"/>
              <a:t>文档验收</a:t>
            </a:r>
            <a:endParaRPr lang="en-US" altLang="zh-CN"/>
          </a:p>
          <a:p>
            <a:r>
              <a:rPr lang="zh-CN" altLang="en-US"/>
              <a:t>项目终验</a:t>
            </a:r>
          </a:p>
        </p:txBody>
      </p:sp>
      <p:sp>
        <p:nvSpPr>
          <p:cNvPr id="8" name="文本占位符 7">
            <a:extLst>
              <a:ext uri="{FF2B5EF4-FFF2-40B4-BE49-F238E27FC236}">
                <a16:creationId xmlns:a16="http://schemas.microsoft.com/office/drawing/2014/main" id="{95EC2E53-CE46-684E-9B10-860026A56E50}"/>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52722F36-123A-481A-F0EB-5E76CD8516D5}"/>
              </a:ext>
            </a:extLst>
          </p:cNvPr>
          <p:cNvPicPr>
            <a:picLocks noChangeAspect="1"/>
          </p:cNvPicPr>
          <p:nvPr/>
        </p:nvPicPr>
        <p:blipFill>
          <a:blip r:embed="rId2"/>
          <a:stretch>
            <a:fillRect/>
          </a:stretch>
        </p:blipFill>
        <p:spPr>
          <a:xfrm>
            <a:off x="2948381" y="1605190"/>
            <a:ext cx="6295238" cy="3647619"/>
          </a:xfrm>
          <a:prstGeom prst="rect">
            <a:avLst/>
          </a:prstGeom>
        </p:spPr>
      </p:pic>
    </p:spTree>
    <p:extLst>
      <p:ext uri="{BB962C8B-B14F-4D97-AF65-F5344CB8AC3E}">
        <p14:creationId xmlns:p14="http://schemas.microsoft.com/office/powerpoint/2010/main" val="978809581"/>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a:xfrm>
            <a:off x="695998" y="360000"/>
            <a:ext cx="6375921" cy="429413"/>
          </a:xfrm>
        </p:spPr>
        <p:txBody>
          <a:bodyPr/>
          <a:lstStyle/>
          <a:p>
            <a:r>
              <a:rPr lang="zh-CN" altLang="en-US"/>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a:xfrm>
            <a:off x="696000" y="864000"/>
            <a:ext cx="10800000" cy="5400000"/>
          </a:xfrm>
        </p:spPr>
        <p:txBody>
          <a:bodyPr/>
          <a:lstStyle/>
          <a:p>
            <a:r>
              <a:rPr lang="zh-CN" altLang="en-US"/>
              <a:t>管理收尾</a:t>
            </a:r>
            <a:r>
              <a:rPr lang="en-US" altLang="zh-CN"/>
              <a:t>/</a:t>
            </a:r>
            <a:r>
              <a:rPr lang="zh-CN" altLang="en-US"/>
              <a:t>行政收尾</a:t>
            </a:r>
          </a:p>
        </p:txBody>
      </p:sp>
      <p:sp>
        <p:nvSpPr>
          <p:cNvPr id="7" name="文本占位符 6">
            <a:extLst>
              <a:ext uri="{FF2B5EF4-FFF2-40B4-BE49-F238E27FC236}">
                <a16:creationId xmlns:a16="http://schemas.microsoft.com/office/drawing/2014/main" id="{B4164C2E-4A63-A045-248F-F84271FA760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a:xfrm>
            <a:off x="695998" y="360000"/>
            <a:ext cx="6375921" cy="429413"/>
          </a:xfrm>
        </p:spPr>
        <p:txBody>
          <a:bodyPr/>
          <a:lstStyle/>
          <a:p>
            <a:r>
              <a:rPr lang="zh-CN" altLang="en-US"/>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a:xfrm>
            <a:off x="696000" y="864000"/>
            <a:ext cx="10800000" cy="5400000"/>
          </a:xfrm>
        </p:spPr>
        <p:txBody>
          <a:bodyPr/>
          <a:lstStyle/>
          <a:p>
            <a:r>
              <a:rPr lang="zh-CN" altLang="en-US"/>
              <a:t>目标评价</a:t>
            </a:r>
            <a:endParaRPr lang="en-US" altLang="zh-CN"/>
          </a:p>
          <a:p>
            <a:r>
              <a:rPr lang="zh-CN" altLang="en-US"/>
              <a:t>过程评价</a:t>
            </a:r>
            <a:endParaRPr lang="en-US" altLang="zh-CN"/>
          </a:p>
          <a:p>
            <a:r>
              <a:rPr lang="zh-CN" altLang="en-US"/>
              <a:t>效益评价</a:t>
            </a:r>
            <a:endParaRPr lang="en-US" altLang="zh-CN"/>
          </a:p>
          <a:p>
            <a:r>
              <a:rPr lang="zh-CN" altLang="en-US"/>
              <a:t>可持续评价</a:t>
            </a:r>
          </a:p>
        </p:txBody>
      </p:sp>
      <p:sp>
        <p:nvSpPr>
          <p:cNvPr id="8" name="文本占位符 7">
            <a:extLst>
              <a:ext uri="{FF2B5EF4-FFF2-40B4-BE49-F238E27FC236}">
                <a16:creationId xmlns:a16="http://schemas.microsoft.com/office/drawing/2014/main" id="{62DA4E9F-7F7A-FF5C-9A82-95E064AE3A7A}"/>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900F831-8BFC-6EFC-04F7-EA15064BB7D0}"/>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1570362373"/>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695998" y="360000"/>
            <a:ext cx="6375921" cy="429413"/>
          </a:xfrm>
        </p:spPr>
        <p:txBody>
          <a:bodyPr>
            <a:normAutofit/>
          </a:bodyPr>
          <a:lstStyle/>
          <a:p>
            <a:r>
              <a:rPr lang="en-US" altLang="zh-CN"/>
              <a:t>Tips</a:t>
            </a:r>
            <a:endParaRPr lang="zh-CN" altLang="en-US"/>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864000"/>
            <a:ext cx="10800000" cy="5400000"/>
          </a:xfrm>
        </p:spPr>
        <p:txBody>
          <a:bodyPr/>
          <a:lstStyle/>
          <a:p>
            <a:r>
              <a:rPr lang="zh-CN" altLang="en-US"/>
              <a:t>聚焦价值</a:t>
            </a:r>
            <a:endParaRPr lang="en-US" altLang="zh-CN"/>
          </a:p>
          <a:p>
            <a:r>
              <a:rPr lang="zh-CN" altLang="en-US"/>
              <a:t>正能量</a:t>
            </a:r>
            <a:endParaRPr lang="en-US" altLang="zh-CN"/>
          </a:p>
          <a:p>
            <a:r>
              <a:rPr lang="zh-CN" altLang="en-US"/>
              <a:t>主动</a:t>
            </a:r>
            <a:endParaRPr lang="en-US" altLang="zh-CN"/>
          </a:p>
          <a:p>
            <a:r>
              <a:rPr lang="zh-CN" altLang="en-US"/>
              <a:t>客观</a:t>
            </a:r>
          </a:p>
        </p:txBody>
      </p:sp>
      <p:sp>
        <p:nvSpPr>
          <p:cNvPr id="4" name="文本占位符 3">
            <a:extLst>
              <a:ext uri="{FF2B5EF4-FFF2-40B4-BE49-F238E27FC236}">
                <a16:creationId xmlns:a16="http://schemas.microsoft.com/office/drawing/2014/main" id="{4C483833-AECE-61E3-14A7-275000C6FD1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流程图: 过程 4">
            <a:extLst>
              <a:ext uri="{FF2B5EF4-FFF2-40B4-BE49-F238E27FC236}">
                <a16:creationId xmlns:a16="http://schemas.microsoft.com/office/drawing/2014/main" id="{711AF794-8997-73F5-F137-0DBA3A11B5B3}"/>
              </a:ext>
            </a:extLst>
          </p:cNvPr>
          <p:cNvSpPr/>
          <p:nvPr/>
        </p:nvSpPr>
        <p:spPr>
          <a:xfrm>
            <a:off x="2797490" y="1288509"/>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班长</a:t>
            </a:r>
          </a:p>
        </p:txBody>
      </p:sp>
      <p:sp>
        <p:nvSpPr>
          <p:cNvPr id="6" name="流程图: 决策 5">
            <a:extLst>
              <a:ext uri="{FF2B5EF4-FFF2-40B4-BE49-F238E27FC236}">
                <a16:creationId xmlns:a16="http://schemas.microsoft.com/office/drawing/2014/main" id="{2474CCD6-A8B2-2E08-96D2-E8205FAAC43C}"/>
              </a:ext>
            </a:extLst>
          </p:cNvPr>
          <p:cNvSpPr/>
          <p:nvPr/>
        </p:nvSpPr>
        <p:spPr>
          <a:xfrm>
            <a:off x="5427406" y="1243954"/>
            <a:ext cx="1337187" cy="52111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管理</a:t>
            </a:r>
          </a:p>
        </p:txBody>
      </p:sp>
      <p:sp>
        <p:nvSpPr>
          <p:cNvPr id="7" name="流程图: 过程 6">
            <a:extLst>
              <a:ext uri="{FF2B5EF4-FFF2-40B4-BE49-F238E27FC236}">
                <a16:creationId xmlns:a16="http://schemas.microsoft.com/office/drawing/2014/main" id="{DC86A98D-933E-4E8C-59D0-4F6BB890CD7A}"/>
              </a:ext>
            </a:extLst>
          </p:cNvPr>
          <p:cNvSpPr/>
          <p:nvPr/>
        </p:nvSpPr>
        <p:spPr>
          <a:xfrm>
            <a:off x="7954510" y="1288509"/>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班级</a:t>
            </a:r>
          </a:p>
        </p:txBody>
      </p:sp>
      <p:cxnSp>
        <p:nvCxnSpPr>
          <p:cNvPr id="9" name="直接连接符 8">
            <a:extLst>
              <a:ext uri="{FF2B5EF4-FFF2-40B4-BE49-F238E27FC236}">
                <a16:creationId xmlns:a16="http://schemas.microsoft.com/office/drawing/2014/main" id="{FCF6E865-B8F2-BF32-CE2E-98CFD0BA0EEB}"/>
              </a:ext>
            </a:extLst>
          </p:cNvPr>
          <p:cNvCxnSpPr>
            <a:stCxn id="5" idx="3"/>
            <a:endCxn id="6" idx="1"/>
          </p:cNvCxnSpPr>
          <p:nvPr/>
        </p:nvCxnSpPr>
        <p:spPr>
          <a:xfrm>
            <a:off x="4237490" y="1504509"/>
            <a:ext cx="1189916"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46E59816-0C97-70F1-77A6-C11109760264}"/>
              </a:ext>
            </a:extLst>
          </p:cNvPr>
          <p:cNvCxnSpPr>
            <a:stCxn id="6" idx="3"/>
            <a:endCxn id="7" idx="1"/>
          </p:cNvCxnSpPr>
          <p:nvPr/>
        </p:nvCxnSpPr>
        <p:spPr>
          <a:xfrm>
            <a:off x="6764593" y="1504509"/>
            <a:ext cx="118991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14" name="流程图: 过程 13">
            <a:extLst>
              <a:ext uri="{FF2B5EF4-FFF2-40B4-BE49-F238E27FC236}">
                <a16:creationId xmlns:a16="http://schemas.microsoft.com/office/drawing/2014/main" id="{3F7BF616-DD80-A42D-A7A5-6AE0EF3BC7B6}"/>
              </a:ext>
            </a:extLst>
          </p:cNvPr>
          <p:cNvSpPr/>
          <p:nvPr/>
        </p:nvSpPr>
        <p:spPr>
          <a:xfrm>
            <a:off x="2797490" y="3790820"/>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老师</a:t>
            </a:r>
          </a:p>
        </p:txBody>
      </p:sp>
      <p:sp>
        <p:nvSpPr>
          <p:cNvPr id="15" name="流程图: 决策 14">
            <a:extLst>
              <a:ext uri="{FF2B5EF4-FFF2-40B4-BE49-F238E27FC236}">
                <a16:creationId xmlns:a16="http://schemas.microsoft.com/office/drawing/2014/main" id="{39A3FD63-E50D-0000-128E-4D642D08EC47}"/>
              </a:ext>
            </a:extLst>
          </p:cNvPr>
          <p:cNvSpPr/>
          <p:nvPr/>
        </p:nvSpPr>
        <p:spPr>
          <a:xfrm>
            <a:off x="5427406" y="3746265"/>
            <a:ext cx="1337187" cy="52111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讲授</a:t>
            </a:r>
          </a:p>
        </p:txBody>
      </p:sp>
      <p:sp>
        <p:nvSpPr>
          <p:cNvPr id="16" name="流程图: 过程 15">
            <a:extLst>
              <a:ext uri="{FF2B5EF4-FFF2-40B4-BE49-F238E27FC236}">
                <a16:creationId xmlns:a16="http://schemas.microsoft.com/office/drawing/2014/main" id="{864929D1-7A8E-05B6-2E91-3F5F41227CFE}"/>
              </a:ext>
            </a:extLst>
          </p:cNvPr>
          <p:cNvSpPr/>
          <p:nvPr/>
        </p:nvSpPr>
        <p:spPr>
          <a:xfrm>
            <a:off x="7954510" y="3790820"/>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专业课程</a:t>
            </a:r>
          </a:p>
        </p:txBody>
      </p:sp>
      <p:cxnSp>
        <p:nvCxnSpPr>
          <p:cNvPr id="17" name="直接连接符 16">
            <a:extLst>
              <a:ext uri="{FF2B5EF4-FFF2-40B4-BE49-F238E27FC236}">
                <a16:creationId xmlns:a16="http://schemas.microsoft.com/office/drawing/2014/main" id="{EB2C6006-7D2A-2B9A-8EF1-C9DB1C555D09}"/>
              </a:ext>
            </a:extLst>
          </p:cNvPr>
          <p:cNvCxnSpPr>
            <a:stCxn id="14" idx="3"/>
            <a:endCxn id="15" idx="1"/>
          </p:cNvCxnSpPr>
          <p:nvPr/>
        </p:nvCxnSpPr>
        <p:spPr>
          <a:xfrm>
            <a:off x="4237490" y="4006820"/>
            <a:ext cx="1189916"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A845A51C-93F5-2F8A-8510-2296124BE149}"/>
              </a:ext>
            </a:extLst>
          </p:cNvPr>
          <p:cNvCxnSpPr>
            <a:stCxn id="15" idx="3"/>
            <a:endCxn id="16" idx="1"/>
          </p:cNvCxnSpPr>
          <p:nvPr/>
        </p:nvCxnSpPr>
        <p:spPr>
          <a:xfrm>
            <a:off x="6764593" y="4006820"/>
            <a:ext cx="118991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21" name="流程图: 过程 20">
            <a:extLst>
              <a:ext uri="{FF2B5EF4-FFF2-40B4-BE49-F238E27FC236}">
                <a16:creationId xmlns:a16="http://schemas.microsoft.com/office/drawing/2014/main" id="{0B917CBC-5656-C6CE-701D-3ED87AC4E32F}"/>
              </a:ext>
            </a:extLst>
          </p:cNvPr>
          <p:cNvSpPr/>
          <p:nvPr/>
        </p:nvSpPr>
        <p:spPr>
          <a:xfrm>
            <a:off x="2797490" y="5288075"/>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学生</a:t>
            </a:r>
          </a:p>
        </p:txBody>
      </p:sp>
      <p:sp>
        <p:nvSpPr>
          <p:cNvPr id="22" name="流程图: 决策 21">
            <a:extLst>
              <a:ext uri="{FF2B5EF4-FFF2-40B4-BE49-F238E27FC236}">
                <a16:creationId xmlns:a16="http://schemas.microsoft.com/office/drawing/2014/main" id="{B4590885-FF8A-1993-C8F6-C1C66A20ACD8}"/>
              </a:ext>
            </a:extLst>
          </p:cNvPr>
          <p:cNvSpPr/>
          <p:nvPr/>
        </p:nvSpPr>
        <p:spPr>
          <a:xfrm>
            <a:off x="5427406" y="5243520"/>
            <a:ext cx="1337187" cy="52111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选修</a:t>
            </a:r>
          </a:p>
        </p:txBody>
      </p:sp>
      <p:sp>
        <p:nvSpPr>
          <p:cNvPr id="23" name="流程图: 过程 22">
            <a:extLst>
              <a:ext uri="{FF2B5EF4-FFF2-40B4-BE49-F238E27FC236}">
                <a16:creationId xmlns:a16="http://schemas.microsoft.com/office/drawing/2014/main" id="{D773FBA3-C22D-0086-2AD6-0EDDF310284D}"/>
              </a:ext>
            </a:extLst>
          </p:cNvPr>
          <p:cNvSpPr/>
          <p:nvPr/>
        </p:nvSpPr>
        <p:spPr>
          <a:xfrm>
            <a:off x="7954510" y="5288075"/>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选修课程</a:t>
            </a:r>
          </a:p>
        </p:txBody>
      </p:sp>
      <p:cxnSp>
        <p:nvCxnSpPr>
          <p:cNvPr id="24" name="直接连接符 23">
            <a:extLst>
              <a:ext uri="{FF2B5EF4-FFF2-40B4-BE49-F238E27FC236}">
                <a16:creationId xmlns:a16="http://schemas.microsoft.com/office/drawing/2014/main" id="{E89E8253-AFF8-F8F0-C4B6-67A4A2994E6C}"/>
              </a:ext>
            </a:extLst>
          </p:cNvPr>
          <p:cNvCxnSpPr>
            <a:stCxn id="21" idx="3"/>
            <a:endCxn id="22" idx="1"/>
          </p:cNvCxnSpPr>
          <p:nvPr/>
        </p:nvCxnSpPr>
        <p:spPr>
          <a:xfrm>
            <a:off x="4237490" y="5504075"/>
            <a:ext cx="1189916"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1545D277-9CB1-45C1-B154-D83C01483AD8}"/>
              </a:ext>
            </a:extLst>
          </p:cNvPr>
          <p:cNvCxnSpPr>
            <a:cxnSpLocks/>
            <a:stCxn id="22" idx="3"/>
            <a:endCxn id="23" idx="1"/>
          </p:cNvCxnSpPr>
          <p:nvPr/>
        </p:nvCxnSpPr>
        <p:spPr>
          <a:xfrm>
            <a:off x="6764593" y="5504075"/>
            <a:ext cx="118991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28" name="流程图: 过程 27">
            <a:extLst>
              <a:ext uri="{FF2B5EF4-FFF2-40B4-BE49-F238E27FC236}">
                <a16:creationId xmlns:a16="http://schemas.microsoft.com/office/drawing/2014/main" id="{105A4B9A-D769-209F-D02E-68EBB991CCA4}"/>
              </a:ext>
            </a:extLst>
          </p:cNvPr>
          <p:cNvSpPr/>
          <p:nvPr/>
        </p:nvSpPr>
        <p:spPr>
          <a:xfrm>
            <a:off x="2797490" y="2376792"/>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学生</a:t>
            </a:r>
          </a:p>
        </p:txBody>
      </p:sp>
      <p:sp>
        <p:nvSpPr>
          <p:cNvPr id="29" name="流程图: 决策 28">
            <a:extLst>
              <a:ext uri="{FF2B5EF4-FFF2-40B4-BE49-F238E27FC236}">
                <a16:creationId xmlns:a16="http://schemas.microsoft.com/office/drawing/2014/main" id="{15D4D2FE-EAF6-9192-662E-3D683202333F}"/>
              </a:ext>
            </a:extLst>
          </p:cNvPr>
          <p:cNvSpPr/>
          <p:nvPr/>
        </p:nvSpPr>
        <p:spPr>
          <a:xfrm>
            <a:off x="5427406" y="2332237"/>
            <a:ext cx="1337187" cy="52111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属于</a:t>
            </a:r>
          </a:p>
        </p:txBody>
      </p:sp>
      <p:sp>
        <p:nvSpPr>
          <p:cNvPr id="30" name="流程图: 过程 29">
            <a:extLst>
              <a:ext uri="{FF2B5EF4-FFF2-40B4-BE49-F238E27FC236}">
                <a16:creationId xmlns:a16="http://schemas.microsoft.com/office/drawing/2014/main" id="{6BF36014-1B37-F75C-239C-06F1A431F52D}"/>
              </a:ext>
            </a:extLst>
          </p:cNvPr>
          <p:cNvSpPr/>
          <p:nvPr/>
        </p:nvSpPr>
        <p:spPr>
          <a:xfrm>
            <a:off x="7954510" y="2376792"/>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班级</a:t>
            </a:r>
          </a:p>
        </p:txBody>
      </p:sp>
      <p:cxnSp>
        <p:nvCxnSpPr>
          <p:cNvPr id="31" name="直接连接符 30">
            <a:extLst>
              <a:ext uri="{FF2B5EF4-FFF2-40B4-BE49-F238E27FC236}">
                <a16:creationId xmlns:a16="http://schemas.microsoft.com/office/drawing/2014/main" id="{7C92CD4A-4FBB-490F-F80F-C597033DCB94}"/>
              </a:ext>
            </a:extLst>
          </p:cNvPr>
          <p:cNvCxnSpPr>
            <a:stCxn id="28" idx="3"/>
            <a:endCxn id="29" idx="1"/>
          </p:cNvCxnSpPr>
          <p:nvPr/>
        </p:nvCxnSpPr>
        <p:spPr>
          <a:xfrm>
            <a:off x="4237490" y="2592792"/>
            <a:ext cx="1189916"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BADC58DB-AF99-F4DC-F849-F15FC9ED6872}"/>
              </a:ext>
            </a:extLst>
          </p:cNvPr>
          <p:cNvCxnSpPr>
            <a:stCxn id="29" idx="3"/>
            <a:endCxn id="30" idx="1"/>
          </p:cNvCxnSpPr>
          <p:nvPr/>
        </p:nvCxnSpPr>
        <p:spPr>
          <a:xfrm>
            <a:off x="6764593" y="2592792"/>
            <a:ext cx="118991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36" name="椭圆 35">
            <a:extLst>
              <a:ext uri="{FF2B5EF4-FFF2-40B4-BE49-F238E27FC236}">
                <a16:creationId xmlns:a16="http://schemas.microsoft.com/office/drawing/2014/main" id="{3F7909FB-3E1D-7BC0-54AF-E631BBD1EAE6}"/>
              </a:ext>
            </a:extLst>
          </p:cNvPr>
          <p:cNvSpPr/>
          <p:nvPr/>
        </p:nvSpPr>
        <p:spPr>
          <a:xfrm>
            <a:off x="1568743" y="3790820"/>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姓名</a:t>
            </a:r>
          </a:p>
        </p:txBody>
      </p:sp>
      <p:sp>
        <p:nvSpPr>
          <p:cNvPr id="37" name="椭圆 36">
            <a:extLst>
              <a:ext uri="{FF2B5EF4-FFF2-40B4-BE49-F238E27FC236}">
                <a16:creationId xmlns:a16="http://schemas.microsoft.com/office/drawing/2014/main" id="{5D91A46A-E30B-023E-3F4E-94313FD93BB7}"/>
              </a:ext>
            </a:extLst>
          </p:cNvPr>
          <p:cNvSpPr/>
          <p:nvPr/>
        </p:nvSpPr>
        <p:spPr>
          <a:xfrm>
            <a:off x="9650362" y="3790820"/>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专业</a:t>
            </a:r>
          </a:p>
        </p:txBody>
      </p:sp>
      <p:sp>
        <p:nvSpPr>
          <p:cNvPr id="38" name="椭圆 37">
            <a:extLst>
              <a:ext uri="{FF2B5EF4-FFF2-40B4-BE49-F238E27FC236}">
                <a16:creationId xmlns:a16="http://schemas.microsoft.com/office/drawing/2014/main" id="{75D492AB-BC04-DF58-36A9-83BE6FECE81E}"/>
              </a:ext>
            </a:extLst>
          </p:cNvPr>
          <p:cNvSpPr/>
          <p:nvPr/>
        </p:nvSpPr>
        <p:spPr>
          <a:xfrm>
            <a:off x="1568743" y="3249736"/>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ID</a:t>
            </a:r>
            <a:endParaRPr lang="zh-CN" altLang="en-US" sz="1400">
              <a:solidFill>
                <a:schemeClr val="bg1"/>
              </a:solidFill>
            </a:endParaRPr>
          </a:p>
        </p:txBody>
      </p:sp>
      <p:sp>
        <p:nvSpPr>
          <p:cNvPr id="39" name="椭圆 38">
            <a:extLst>
              <a:ext uri="{FF2B5EF4-FFF2-40B4-BE49-F238E27FC236}">
                <a16:creationId xmlns:a16="http://schemas.microsoft.com/office/drawing/2014/main" id="{A63AE5DA-E65E-AE28-86B4-6BED5B46AB30}"/>
              </a:ext>
            </a:extLst>
          </p:cNvPr>
          <p:cNvSpPr/>
          <p:nvPr/>
        </p:nvSpPr>
        <p:spPr>
          <a:xfrm>
            <a:off x="1568743" y="4331904"/>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院别</a:t>
            </a:r>
          </a:p>
        </p:txBody>
      </p:sp>
      <p:cxnSp>
        <p:nvCxnSpPr>
          <p:cNvPr id="41" name="直接连接符 40">
            <a:extLst>
              <a:ext uri="{FF2B5EF4-FFF2-40B4-BE49-F238E27FC236}">
                <a16:creationId xmlns:a16="http://schemas.microsoft.com/office/drawing/2014/main" id="{7C6EAC5F-F370-24AD-98D3-9D79C3260952}"/>
              </a:ext>
            </a:extLst>
          </p:cNvPr>
          <p:cNvCxnSpPr>
            <a:stCxn id="38" idx="6"/>
            <a:endCxn id="14" idx="0"/>
          </p:cNvCxnSpPr>
          <p:nvPr/>
        </p:nvCxnSpPr>
        <p:spPr>
          <a:xfrm>
            <a:off x="2648743" y="3465736"/>
            <a:ext cx="868747" cy="32508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1ADEE950-9048-E1EA-9374-41E241C369C0}"/>
              </a:ext>
            </a:extLst>
          </p:cNvPr>
          <p:cNvCxnSpPr>
            <a:stCxn id="36" idx="6"/>
            <a:endCxn id="14" idx="1"/>
          </p:cNvCxnSpPr>
          <p:nvPr/>
        </p:nvCxnSpPr>
        <p:spPr>
          <a:xfrm>
            <a:off x="2648743" y="4006820"/>
            <a:ext cx="14874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73C1D36-B4A5-2EBD-2722-7424BA48E021}"/>
              </a:ext>
            </a:extLst>
          </p:cNvPr>
          <p:cNvCxnSpPr>
            <a:stCxn id="39" idx="6"/>
            <a:endCxn id="14" idx="2"/>
          </p:cNvCxnSpPr>
          <p:nvPr/>
        </p:nvCxnSpPr>
        <p:spPr>
          <a:xfrm flipV="1">
            <a:off x="2648743" y="4222820"/>
            <a:ext cx="868747" cy="32508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46" name="椭圆 45">
            <a:extLst>
              <a:ext uri="{FF2B5EF4-FFF2-40B4-BE49-F238E27FC236}">
                <a16:creationId xmlns:a16="http://schemas.microsoft.com/office/drawing/2014/main" id="{EA74C081-6F69-1C97-5F73-6083F83F8FCD}"/>
              </a:ext>
            </a:extLst>
          </p:cNvPr>
          <p:cNvSpPr/>
          <p:nvPr/>
        </p:nvSpPr>
        <p:spPr>
          <a:xfrm>
            <a:off x="9650362" y="3249736"/>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ID</a:t>
            </a:r>
            <a:endParaRPr lang="zh-CN" altLang="en-US" sz="1400">
              <a:solidFill>
                <a:schemeClr val="bg1"/>
              </a:solidFill>
            </a:endParaRPr>
          </a:p>
        </p:txBody>
      </p:sp>
      <p:sp>
        <p:nvSpPr>
          <p:cNvPr id="47" name="椭圆 46">
            <a:extLst>
              <a:ext uri="{FF2B5EF4-FFF2-40B4-BE49-F238E27FC236}">
                <a16:creationId xmlns:a16="http://schemas.microsoft.com/office/drawing/2014/main" id="{5D913AE3-1E94-D977-C225-62B56B616F95}"/>
              </a:ext>
            </a:extLst>
          </p:cNvPr>
          <p:cNvSpPr/>
          <p:nvPr/>
        </p:nvSpPr>
        <p:spPr>
          <a:xfrm>
            <a:off x="9650362" y="4331904"/>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名称</a:t>
            </a:r>
          </a:p>
        </p:txBody>
      </p:sp>
      <p:cxnSp>
        <p:nvCxnSpPr>
          <p:cNvPr id="49" name="直接连接符 48">
            <a:extLst>
              <a:ext uri="{FF2B5EF4-FFF2-40B4-BE49-F238E27FC236}">
                <a16:creationId xmlns:a16="http://schemas.microsoft.com/office/drawing/2014/main" id="{6A69ACA3-2FC2-39CE-A54D-07FC05A86D4A}"/>
              </a:ext>
            </a:extLst>
          </p:cNvPr>
          <p:cNvCxnSpPr>
            <a:stCxn id="16" idx="0"/>
            <a:endCxn id="46" idx="2"/>
          </p:cNvCxnSpPr>
          <p:nvPr/>
        </p:nvCxnSpPr>
        <p:spPr>
          <a:xfrm flipV="1">
            <a:off x="8674510" y="3465736"/>
            <a:ext cx="975852" cy="32508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99608C30-15ED-65A7-83EE-DCACD8396733}"/>
              </a:ext>
            </a:extLst>
          </p:cNvPr>
          <p:cNvCxnSpPr>
            <a:stCxn id="16" idx="2"/>
            <a:endCxn id="47" idx="2"/>
          </p:cNvCxnSpPr>
          <p:nvPr/>
        </p:nvCxnSpPr>
        <p:spPr>
          <a:xfrm>
            <a:off x="8674510" y="4222820"/>
            <a:ext cx="975852" cy="32508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6E97E582-2E54-BCA6-CADD-F934859B5BB3}"/>
              </a:ext>
            </a:extLst>
          </p:cNvPr>
          <p:cNvCxnSpPr>
            <a:stCxn id="16" idx="3"/>
            <a:endCxn id="37" idx="2"/>
          </p:cNvCxnSpPr>
          <p:nvPr/>
        </p:nvCxnSpPr>
        <p:spPr>
          <a:xfrm>
            <a:off x="9394510" y="4006820"/>
            <a:ext cx="255852"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C38948E9-CE0B-5E85-EE24-C225C4250989}"/>
              </a:ext>
            </a:extLst>
          </p:cNvPr>
          <p:cNvCxnSpPr>
            <a:cxnSpLocks/>
          </p:cNvCxnSpPr>
          <p:nvPr/>
        </p:nvCxnSpPr>
        <p:spPr>
          <a:xfrm>
            <a:off x="4365246" y="1396509"/>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063693EA-AC7B-1283-FDA5-69B66A666DB2}"/>
              </a:ext>
            </a:extLst>
          </p:cNvPr>
          <p:cNvCxnSpPr>
            <a:cxnSpLocks/>
          </p:cNvCxnSpPr>
          <p:nvPr/>
        </p:nvCxnSpPr>
        <p:spPr>
          <a:xfrm>
            <a:off x="7840957" y="1396509"/>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46179360-5A39-68BB-3AA4-66C7B1C0A3D2}"/>
              </a:ext>
            </a:extLst>
          </p:cNvPr>
          <p:cNvCxnSpPr>
            <a:cxnSpLocks/>
          </p:cNvCxnSpPr>
          <p:nvPr/>
        </p:nvCxnSpPr>
        <p:spPr>
          <a:xfrm>
            <a:off x="7840957" y="2484792"/>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11FCCA6A-4519-995E-FB69-B8497CA665B5}"/>
              </a:ext>
            </a:extLst>
          </p:cNvPr>
          <p:cNvCxnSpPr>
            <a:cxnSpLocks/>
          </p:cNvCxnSpPr>
          <p:nvPr/>
        </p:nvCxnSpPr>
        <p:spPr>
          <a:xfrm>
            <a:off x="4365246" y="3898820"/>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nvGrpSpPr>
          <p:cNvPr id="64" name="组合 63">
            <a:extLst>
              <a:ext uri="{FF2B5EF4-FFF2-40B4-BE49-F238E27FC236}">
                <a16:creationId xmlns:a16="http://schemas.microsoft.com/office/drawing/2014/main" id="{0BE58772-5890-7A21-EC35-94BCEC5ABEE6}"/>
              </a:ext>
            </a:extLst>
          </p:cNvPr>
          <p:cNvGrpSpPr/>
          <p:nvPr/>
        </p:nvGrpSpPr>
        <p:grpSpPr>
          <a:xfrm flipH="1">
            <a:off x="4227816" y="2538792"/>
            <a:ext cx="216000" cy="108000"/>
            <a:chOff x="4537527" y="2224237"/>
            <a:chExt cx="216000" cy="108000"/>
          </a:xfrm>
        </p:grpSpPr>
        <p:cxnSp>
          <p:nvCxnSpPr>
            <p:cNvPr id="60" name="直接连接符 59">
              <a:extLst>
                <a:ext uri="{FF2B5EF4-FFF2-40B4-BE49-F238E27FC236}">
                  <a16:creationId xmlns:a16="http://schemas.microsoft.com/office/drawing/2014/main" id="{5E8208A1-0676-7B61-C49B-A8C5249F77E1}"/>
                </a:ext>
              </a:extLst>
            </p:cNvPr>
            <p:cNvCxnSpPr>
              <a:cxnSpLocks/>
            </p:cNvCxnSpPr>
            <p:nvPr/>
          </p:nvCxnSpPr>
          <p:spPr>
            <a:xfrm rot="3600000">
              <a:off x="4645527" y="2116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A5350DC-F359-5C9C-7B59-AE0D3141774E}"/>
                </a:ext>
              </a:extLst>
            </p:cNvPr>
            <p:cNvCxnSpPr>
              <a:cxnSpLocks/>
            </p:cNvCxnSpPr>
            <p:nvPr/>
          </p:nvCxnSpPr>
          <p:spPr>
            <a:xfrm rot="-3600000">
              <a:off x="4645527" y="2224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EC57A04A-7C1E-00A4-9394-28540AA5E8BC}"/>
              </a:ext>
            </a:extLst>
          </p:cNvPr>
          <p:cNvGrpSpPr/>
          <p:nvPr/>
        </p:nvGrpSpPr>
        <p:grpSpPr>
          <a:xfrm>
            <a:off x="7733021" y="3952820"/>
            <a:ext cx="216000" cy="108000"/>
            <a:chOff x="4537527" y="2224237"/>
            <a:chExt cx="216000" cy="108000"/>
          </a:xfrm>
        </p:grpSpPr>
        <p:cxnSp>
          <p:nvCxnSpPr>
            <p:cNvPr id="66" name="直接连接符 65">
              <a:extLst>
                <a:ext uri="{FF2B5EF4-FFF2-40B4-BE49-F238E27FC236}">
                  <a16:creationId xmlns:a16="http://schemas.microsoft.com/office/drawing/2014/main" id="{0BEF07E5-A391-1424-862A-D3B3510EDFD7}"/>
                </a:ext>
              </a:extLst>
            </p:cNvPr>
            <p:cNvCxnSpPr>
              <a:cxnSpLocks/>
            </p:cNvCxnSpPr>
            <p:nvPr/>
          </p:nvCxnSpPr>
          <p:spPr>
            <a:xfrm rot="3600000">
              <a:off x="4645527" y="2116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0CCCB968-2D33-AFDC-E6A7-6FB902D140CE}"/>
                </a:ext>
              </a:extLst>
            </p:cNvPr>
            <p:cNvCxnSpPr>
              <a:cxnSpLocks/>
            </p:cNvCxnSpPr>
            <p:nvPr/>
          </p:nvCxnSpPr>
          <p:spPr>
            <a:xfrm rot="-3600000">
              <a:off x="4645527" y="2224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nvGrpSpPr>
          <p:cNvPr id="68" name="组合 67">
            <a:extLst>
              <a:ext uri="{FF2B5EF4-FFF2-40B4-BE49-F238E27FC236}">
                <a16:creationId xmlns:a16="http://schemas.microsoft.com/office/drawing/2014/main" id="{18E35633-1C98-4862-C2B9-F2EE3599883C}"/>
              </a:ext>
            </a:extLst>
          </p:cNvPr>
          <p:cNvGrpSpPr/>
          <p:nvPr/>
        </p:nvGrpSpPr>
        <p:grpSpPr>
          <a:xfrm flipH="1">
            <a:off x="4227816" y="5450075"/>
            <a:ext cx="216000" cy="108000"/>
            <a:chOff x="4537527" y="2224237"/>
            <a:chExt cx="216000" cy="108000"/>
          </a:xfrm>
        </p:grpSpPr>
        <p:cxnSp>
          <p:nvCxnSpPr>
            <p:cNvPr id="69" name="直接连接符 68">
              <a:extLst>
                <a:ext uri="{FF2B5EF4-FFF2-40B4-BE49-F238E27FC236}">
                  <a16:creationId xmlns:a16="http://schemas.microsoft.com/office/drawing/2014/main" id="{24395E11-B4E8-6EDE-0A2B-3A62E53EBE05}"/>
                </a:ext>
              </a:extLst>
            </p:cNvPr>
            <p:cNvCxnSpPr>
              <a:cxnSpLocks/>
            </p:cNvCxnSpPr>
            <p:nvPr/>
          </p:nvCxnSpPr>
          <p:spPr>
            <a:xfrm rot="3600000">
              <a:off x="4645527" y="2116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0" name="直接连接符 69">
              <a:extLst>
                <a:ext uri="{FF2B5EF4-FFF2-40B4-BE49-F238E27FC236}">
                  <a16:creationId xmlns:a16="http://schemas.microsoft.com/office/drawing/2014/main" id="{B731F3E6-574A-FCA8-26D8-C884C75C3924}"/>
                </a:ext>
              </a:extLst>
            </p:cNvPr>
            <p:cNvCxnSpPr>
              <a:cxnSpLocks/>
            </p:cNvCxnSpPr>
            <p:nvPr/>
          </p:nvCxnSpPr>
          <p:spPr>
            <a:xfrm rot="-3600000">
              <a:off x="4645527" y="2224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nvGrpSpPr>
          <p:cNvPr id="71" name="组合 70">
            <a:extLst>
              <a:ext uri="{FF2B5EF4-FFF2-40B4-BE49-F238E27FC236}">
                <a16:creationId xmlns:a16="http://schemas.microsoft.com/office/drawing/2014/main" id="{0B75926B-6B7A-A236-9211-6B2B9D59B18F}"/>
              </a:ext>
            </a:extLst>
          </p:cNvPr>
          <p:cNvGrpSpPr/>
          <p:nvPr/>
        </p:nvGrpSpPr>
        <p:grpSpPr>
          <a:xfrm>
            <a:off x="7733021" y="5450075"/>
            <a:ext cx="216000" cy="108000"/>
            <a:chOff x="4537527" y="2224237"/>
            <a:chExt cx="216000" cy="108000"/>
          </a:xfrm>
        </p:grpSpPr>
        <p:cxnSp>
          <p:nvCxnSpPr>
            <p:cNvPr id="72" name="直接连接符 71">
              <a:extLst>
                <a:ext uri="{FF2B5EF4-FFF2-40B4-BE49-F238E27FC236}">
                  <a16:creationId xmlns:a16="http://schemas.microsoft.com/office/drawing/2014/main" id="{A9AA9D4C-773E-B564-E7C7-55E4CDF728A9}"/>
                </a:ext>
              </a:extLst>
            </p:cNvPr>
            <p:cNvCxnSpPr>
              <a:cxnSpLocks/>
            </p:cNvCxnSpPr>
            <p:nvPr/>
          </p:nvCxnSpPr>
          <p:spPr>
            <a:xfrm rot="3600000">
              <a:off x="4645527" y="2116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3" name="直接连接符 72">
              <a:extLst>
                <a:ext uri="{FF2B5EF4-FFF2-40B4-BE49-F238E27FC236}">
                  <a16:creationId xmlns:a16="http://schemas.microsoft.com/office/drawing/2014/main" id="{C3A92E97-620F-E690-6B15-29993AB0E33C}"/>
                </a:ext>
              </a:extLst>
            </p:cNvPr>
            <p:cNvCxnSpPr>
              <a:cxnSpLocks/>
            </p:cNvCxnSpPr>
            <p:nvPr/>
          </p:nvCxnSpPr>
          <p:spPr>
            <a:xfrm rot="-3600000">
              <a:off x="4645527" y="2224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sp useBgFill="1">
        <p:nvSpPr>
          <p:cNvPr id="75" name="椭圆 74">
            <a:extLst>
              <a:ext uri="{FF2B5EF4-FFF2-40B4-BE49-F238E27FC236}">
                <a16:creationId xmlns:a16="http://schemas.microsoft.com/office/drawing/2014/main" id="{DB9DE025-899F-773B-C703-CCA29567D2B3}"/>
              </a:ext>
            </a:extLst>
          </p:cNvPr>
          <p:cNvSpPr/>
          <p:nvPr/>
        </p:nvSpPr>
        <p:spPr>
          <a:xfrm>
            <a:off x="4429347" y="5450075"/>
            <a:ext cx="108000" cy="108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Tree>
    <p:extLst>
      <p:ext uri="{BB962C8B-B14F-4D97-AF65-F5344CB8AC3E}">
        <p14:creationId xmlns:p14="http://schemas.microsoft.com/office/powerpoint/2010/main" val="3994791139"/>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bg1"/>
          </a:solidFill>
        </a:ln>
      </a:spPr>
      <a:bodyPr rtlCol="0" anchor="ctr"/>
      <a:lstStyle>
        <a:defPPr algn="ctr">
          <a:defRPr sz="1400" dirty="0">
            <a:solidFill>
              <a:schemeClr val="bg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1600" dirty="0" smtClean="0">
            <a:solidFill>
              <a:schemeClr val="bg1"/>
            </a:solidFill>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28027</TotalTime>
  <Words>29430</Words>
  <Application>Microsoft Office PowerPoint</Application>
  <PresentationFormat>宽屏</PresentationFormat>
  <Paragraphs>5081</Paragraphs>
  <Slides>334</Slides>
  <Notes>136</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334</vt:i4>
      </vt:variant>
    </vt:vector>
  </HeadingPairs>
  <TitlesOfParts>
    <vt:vector size="345" baseType="lpstr">
      <vt:lpstr>Roboto Mono</vt:lpstr>
      <vt:lpstr>Montserrat</vt:lpstr>
      <vt:lpstr>等线</vt:lpstr>
      <vt:lpstr>Roboto Mono Light</vt:lpstr>
      <vt:lpstr>Arial</vt:lpstr>
      <vt:lpstr>Courier New</vt:lpstr>
      <vt:lpstr>Cambria Math</vt:lpstr>
      <vt:lpstr>Times New Roman</vt:lpstr>
      <vt:lpstr>Wingdings</vt:lpstr>
      <vt:lpstr>微软雅黑 Light</vt:lpstr>
      <vt:lpstr>Office 主题​​</vt:lpstr>
      <vt:lpstr>PowerPoint 演示文稿</vt:lpstr>
      <vt:lpstr>PowerPoint 演示文稿</vt:lpstr>
      <vt:lpstr>软件项目管理概述</vt:lpstr>
      <vt:lpstr>1.1 项目</vt:lpstr>
      <vt:lpstr>PowerPoint 演示文稿</vt:lpstr>
      <vt:lpstr>1.1 项目</vt:lpstr>
      <vt:lpstr>1.2 子项目</vt:lpstr>
      <vt:lpstr>1.3 项目集</vt:lpstr>
      <vt:lpstr>1.4 项目组合</vt:lpstr>
      <vt:lpstr>PowerPoint 演示文稿</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演示文稿</vt:lpstr>
      <vt:lpstr>3.1 PMBOK 第6版</vt:lpstr>
      <vt:lpstr>3.1.1 五大标准过程组</vt:lpstr>
      <vt:lpstr>3.1.1 五大标准过程组</vt:lpstr>
      <vt:lpstr>3.1.2 十大知识领域</vt:lpstr>
      <vt:lpstr>3.2 PMBOK第7版</vt:lpstr>
      <vt:lpstr>3.2 PMBOK第7版</vt:lpstr>
      <vt:lpstr>3.2.1 十二项原则</vt:lpstr>
      <vt:lpstr>3.2.1 十二项原则</vt:lpstr>
      <vt:lpstr>3.2.2 八大绩效域</vt:lpstr>
      <vt:lpstr>3.2.2 八大绩效域</vt:lpstr>
      <vt:lpstr>VUCA</vt:lpstr>
      <vt:lpstr>PowerPoint 演示文稿</vt:lpstr>
      <vt:lpstr>4.1 敏捷开发</vt:lpstr>
      <vt:lpstr>PowerPoint 演示文稿</vt:lpstr>
      <vt:lpstr>PowerPoint 演示文稿</vt:lpstr>
      <vt:lpstr>4.2 敏捷软件开发宣言</vt:lpstr>
      <vt:lpstr>4.2.1 敏捷宣言四个核心价值</vt:lpstr>
      <vt:lpstr>4.2.2 敏捷宣言十二项原则</vt:lpstr>
      <vt:lpstr>4.2.2 敏捷宣言十二项原则</vt:lpstr>
      <vt:lpstr>PowerPoint 演示文稿</vt:lpstr>
      <vt:lpstr>PowerPoint 演示文稿</vt:lpstr>
      <vt:lpstr>项目初始</vt:lpstr>
      <vt:lpstr>PowerPoint 演示文稿</vt:lpstr>
      <vt:lpstr>2.1 项目评估</vt:lpstr>
      <vt:lpstr>2.1.1 净现金值</vt:lpstr>
      <vt:lpstr>2.1.1 净现金值</vt:lpstr>
      <vt:lpstr>2.1.1 净现金值</vt:lpstr>
      <vt:lpstr>2.2 项目立项</vt:lpstr>
      <vt:lpstr>2.3 项目招投标</vt:lpstr>
      <vt:lpstr>2.3.1 招标书</vt:lpstr>
      <vt:lpstr>2.3.2 投标书</vt:lpstr>
      <vt:lpstr>2.3.3 合同</vt:lpstr>
      <vt:lpstr>2.4 项目章程</vt:lpstr>
      <vt:lpstr>2.4 项目章程</vt:lpstr>
      <vt:lpstr>2.4.1 项目章程 - 风险摘要</vt:lpstr>
      <vt:lpstr>2.4.1 项目章程 - 风险摘要</vt:lpstr>
      <vt:lpstr>2.4.2 项目章程 - 假设条件与制约因素</vt:lpstr>
      <vt:lpstr>2.4.2 项目章程 – 示例</vt:lpstr>
      <vt:lpstr>2.4.3 项目经理</vt:lpstr>
      <vt:lpstr>2.4.3.1 项目经理</vt:lpstr>
      <vt:lpstr>2.4.3.2 项目经理</vt:lpstr>
      <vt:lpstr>2.4.3.3 项目经理</vt:lpstr>
      <vt:lpstr>2.5 软件项目生存期模型</vt:lpstr>
      <vt:lpstr>2.5 软件项目生存期模型</vt:lpstr>
      <vt:lpstr>2.5.1 预测型</vt:lpstr>
      <vt:lpstr>2.5.1.1 瀑布模型</vt:lpstr>
      <vt:lpstr>2.5.1.2 V模型</vt:lpstr>
      <vt:lpstr>PowerPoint 演示文稿</vt:lpstr>
      <vt:lpstr>2.5.2 迭代型</vt:lpstr>
      <vt:lpstr>PowerPoint 演示文稿</vt:lpstr>
      <vt:lpstr>2.5.3 增量型</vt:lpstr>
      <vt:lpstr>2.5.3 增量型</vt:lpstr>
      <vt:lpstr>PowerPoint 演示文稿</vt:lpstr>
      <vt:lpstr>PowerPoint 演示文稿</vt:lpstr>
      <vt:lpstr>2.5.4 敏捷型</vt:lpstr>
      <vt:lpstr>2.5.4 敏捷型</vt:lpstr>
      <vt:lpstr>2.5.4.1 Scrum</vt:lpstr>
      <vt:lpstr>2.5.4.2 看板</vt:lpstr>
      <vt:lpstr>PowerPoint 演示文稿</vt:lpstr>
      <vt:lpstr>PowerPoint 演示文稿</vt:lpstr>
      <vt:lpstr>2.5.4.2 看板</vt:lpstr>
      <vt:lpstr>PowerPoint 演示文稿</vt:lpstr>
      <vt:lpstr>2.5.4.3 极限编程</vt:lpstr>
      <vt:lpstr>2.5.4.3 极限编程</vt:lpstr>
      <vt:lpstr>2.5.4.3 极限编程</vt:lpstr>
      <vt:lpstr>2.5.4.4 特性驱动开发</vt:lpstr>
      <vt:lpstr>2.5.4.4 特性驱动开发</vt:lpstr>
      <vt:lpstr>2.5.4.4 特性驱动开发</vt:lpstr>
      <vt:lpstr>2.5.4.5 水晶</vt:lpstr>
      <vt:lpstr>2.5.4.5 水晶</vt:lpstr>
      <vt:lpstr>PowerPoint 演示文稿</vt:lpstr>
      <vt:lpstr>PowerPoint 演示文稿</vt:lpstr>
      <vt:lpstr>PowerPoint 演示文稿</vt:lpstr>
      <vt:lpstr>2.6 敏捷</vt:lpstr>
      <vt:lpstr>2.6.1 敏捷理念 Scrum Theory</vt:lpstr>
      <vt:lpstr>2.6.1 敏捷理念 Scrum Theory</vt:lpstr>
      <vt:lpstr>2.6.2 体系</vt:lpstr>
      <vt:lpstr>PowerPoint 演示文稿</vt:lpstr>
      <vt:lpstr>2.6.3 敏捷价值观 Scrum Values</vt:lpstr>
      <vt:lpstr>2.6.4 敏捷团队 Scrum Team</vt:lpstr>
      <vt:lpstr>2.6.4.1 开发者</vt:lpstr>
      <vt:lpstr>2.6.4.2 产品负责人</vt:lpstr>
      <vt:lpstr>2.6.4.3 敏捷教练</vt:lpstr>
      <vt:lpstr>2.6.4.3 敏捷教练</vt:lpstr>
      <vt:lpstr>2.6.4.3 敏捷教练</vt:lpstr>
      <vt:lpstr>2.6.4.3 敏捷教练</vt:lpstr>
      <vt:lpstr>PowerPoint 演示文稿</vt:lpstr>
      <vt:lpstr>2.6.5 敏捷活动</vt:lpstr>
      <vt:lpstr>2.6.5.1 冲刺</vt:lpstr>
      <vt:lpstr>2.6.5.2 冲刺计划</vt:lpstr>
      <vt:lpstr>2.6.5.3 每日站会</vt:lpstr>
      <vt:lpstr>2.6.5.4 冲刺评审</vt:lpstr>
      <vt:lpstr>2.6.5.5 冲刺回顾</vt:lpstr>
      <vt:lpstr>2.6.6 敏捷工件</vt:lpstr>
      <vt:lpstr>2.6.6.1 产品待办事项 </vt:lpstr>
      <vt:lpstr>2.6.6.2 冲刺待办事项</vt:lpstr>
      <vt:lpstr>2.6.6.3 增量</vt:lpstr>
      <vt:lpstr>2.7 开发流程</vt:lpstr>
      <vt:lpstr>PowerPoint 演示文稿</vt:lpstr>
      <vt:lpstr>PowerPoint 演示文稿</vt:lpstr>
      <vt:lpstr>软件项目范围计划</vt:lpstr>
      <vt:lpstr>PowerPoint 演示文稿</vt:lpstr>
      <vt:lpstr>PowerPoint 演示文稿</vt:lpstr>
      <vt:lpstr>项目范围</vt:lpstr>
      <vt:lpstr>PowerPoint 演示文稿</vt:lpstr>
      <vt:lpstr>1. 项目需求涵义</vt:lpstr>
      <vt:lpstr>1.1 项目需求</vt:lpstr>
      <vt:lpstr>PowerPoint 演示文稿</vt:lpstr>
      <vt:lpstr>1.2 需求过程</vt:lpstr>
      <vt:lpstr>1.2.1 需求获取</vt:lpstr>
      <vt:lpstr>1.2.2 需求分析</vt:lpstr>
      <vt:lpstr>1.2.3 需求规约编写</vt:lpstr>
      <vt:lpstr>PowerPoint 演示文稿</vt:lpstr>
      <vt:lpstr>1.2.4 需求验证</vt:lpstr>
      <vt:lpstr>1.2.5 需求变更</vt:lpstr>
      <vt:lpstr>PowerPoint 演示文稿</vt:lpstr>
      <vt:lpstr>2.1 System Flowchart</vt:lpstr>
      <vt:lpstr>2.2 DFD</vt:lpstr>
      <vt:lpstr>2.3 Data Dictionary</vt:lpstr>
      <vt:lpstr>PowerPoint 演示文稿</vt:lpstr>
      <vt:lpstr>2.4 UML</vt:lpstr>
      <vt:lpstr>3.1 影响地图 </vt:lpstr>
      <vt:lpstr>PowerPoint 演示文稿</vt:lpstr>
      <vt:lpstr>PowerPoint 演示文稿</vt:lpstr>
      <vt:lpstr>PowerPoint 演示文稿</vt:lpstr>
      <vt:lpstr>3.2 需求池</vt:lpstr>
      <vt:lpstr>[用户故事]</vt:lpstr>
      <vt:lpstr>3.4 用户故事编写 </vt:lpstr>
      <vt:lpstr>PowerPoint 演示文稿</vt:lpstr>
      <vt:lpstr>PowerPoint 演示文稿</vt:lpstr>
      <vt:lpstr>PowerPoint 演示文稿</vt:lpstr>
      <vt:lpstr>3.3 用户故事地图 </vt:lpstr>
      <vt:lpstr>PowerPoint 演示文稿</vt:lpstr>
      <vt:lpstr>PowerPoint 演示文稿</vt:lpstr>
      <vt:lpstr>3.5 INVEST 原则</vt:lpstr>
      <vt:lpstr>3.6 行为驱动开发 </vt:lpstr>
      <vt:lpstr>3.6 行为驱动开发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 工作范围</vt:lpstr>
      <vt:lpstr>5. 任务分解</vt:lpstr>
      <vt:lpstr>5.1 工作包</vt:lpstr>
      <vt:lpstr>5.2 任务分解形式</vt:lpstr>
      <vt:lpstr>5.3 字典</vt:lpstr>
      <vt:lpstr>PowerPoint 演示文稿</vt:lpstr>
      <vt:lpstr>5.4.1 模板参照</vt:lpstr>
      <vt:lpstr>5.4.2 类比</vt:lpstr>
      <vt:lpstr>5.4.3 自上而下</vt:lpstr>
      <vt:lpstr>5.4.4 自下而上</vt:lpstr>
      <vt:lpstr>5.5 任务分解建议</vt:lpstr>
      <vt:lpstr>6. 敏捷任务分解</vt:lpstr>
      <vt:lpstr>史诗</vt:lpstr>
      <vt:lpstr>PowerPoint 演示文稿</vt:lpstr>
      <vt:lpstr>PowerPoint 演示文稿</vt:lpstr>
      <vt:lpstr>PowerPoint 演示文稿</vt:lpstr>
      <vt:lpstr>PowerPoint 演示文稿</vt:lpstr>
      <vt:lpstr>软件项目成本计划</vt:lpstr>
      <vt:lpstr>PowerPoint 演示文稿</vt:lpstr>
      <vt:lpstr>PowerPoint 演示文稿</vt:lpstr>
      <vt:lpstr>PowerPoint 演示文稿</vt:lpstr>
      <vt:lpstr>6.1.1 成本估算</vt:lpstr>
      <vt:lpstr>6.1.2 规模、工作量、成本</vt:lpstr>
      <vt:lpstr>6.1.2 规模、工作量、成本</vt:lpstr>
      <vt:lpstr>PowerPoint 演示文稿</vt:lpstr>
      <vt:lpstr>PowerPoint 演示文稿</vt:lpstr>
      <vt:lpstr>6.1.3 成本估算过程</vt:lpstr>
      <vt:lpstr>PowerPoint 演示文稿</vt:lpstr>
      <vt:lpstr>6.2 传统项目成本估算方法</vt:lpstr>
      <vt:lpstr>6.2.1 代码行估算法 </vt:lpstr>
      <vt:lpstr>6.2.2 功能点估算法 </vt:lpstr>
      <vt:lpstr>6.2.2 功能点估算法</vt:lpstr>
      <vt:lpstr>6.2.2 功能点估算法 </vt:lpstr>
      <vt:lpstr>6.2.2.1 IFPUG</vt:lpstr>
      <vt:lpstr>PowerPoint 演示文稿</vt:lpstr>
      <vt:lpstr>PowerPoint 演示文稿</vt:lpstr>
      <vt:lpstr>PowerPoint 演示文稿</vt:lpstr>
      <vt:lpstr>PowerPoint 演示文稿</vt:lpstr>
      <vt:lpstr>PowerPoint 演示文稿</vt:lpstr>
      <vt:lpstr>6.2.2.2 NESMA</vt:lpstr>
      <vt:lpstr>6.2.2.3 COSMIC</vt:lpstr>
      <vt:lpstr>PowerPoint 演示文稿</vt:lpstr>
      <vt:lpstr>6.2.3 用例点估算法 </vt:lpstr>
      <vt:lpstr>PowerPoint 演示文稿</vt:lpstr>
      <vt:lpstr>PowerPoint 演示文稿</vt:lpstr>
      <vt:lpstr>6.2.4 类比估算法</vt:lpstr>
      <vt:lpstr>6.2.5 自下而上估算法</vt:lpstr>
      <vt:lpstr>PowerPoint 演示文稿</vt:lpstr>
      <vt:lpstr>6.2.6 三点估算</vt:lpstr>
      <vt:lpstr>6.2.7 参数估算法</vt:lpstr>
      <vt:lpstr>6.2.8 专家估算法</vt:lpstr>
      <vt:lpstr>6.2.8 专家估算法</vt:lpstr>
      <vt:lpstr>PowerPoint 演示文稿</vt:lpstr>
      <vt:lpstr>6.3 敏捷项目成本估算</vt:lpstr>
      <vt:lpstr>6.3.1 故事点估算</vt:lpstr>
      <vt:lpstr>PowerPoint 演示文稿</vt:lpstr>
      <vt:lpstr>PowerPoint 演示文稿</vt:lpstr>
      <vt:lpstr>6.3.2 快速故事点估算</vt:lpstr>
      <vt:lpstr>PowerPoint 演示文稿</vt:lpstr>
      <vt:lpstr>PowerPoint 演示文稿</vt:lpstr>
      <vt:lpstr>6.3.3 扑克牌估算</vt:lpstr>
      <vt:lpstr>PowerPoint 演示文稿</vt:lpstr>
      <vt:lpstr>PowerPoint 演示文稿</vt:lpstr>
      <vt:lpstr>PowerPoint 演示文稿</vt:lpstr>
      <vt:lpstr>6.5 成本预算</vt:lpstr>
      <vt:lpstr>PowerPoint 演示文稿</vt:lpstr>
      <vt:lpstr>6.5.1 成本基线</vt:lpstr>
      <vt:lpstr>6.5.2 分配成本预算</vt:lpstr>
      <vt:lpstr>PowerPoint 演示文稿</vt:lpstr>
      <vt:lpstr>PowerPoint 演示文稿</vt:lpstr>
      <vt:lpstr>软件项目进度计划</vt:lpstr>
      <vt:lpstr>PowerPoint 演示文稿</vt:lpstr>
      <vt:lpstr>7个过程</vt:lpstr>
      <vt:lpstr>规划进度</vt:lpstr>
      <vt:lpstr>活动 Activity</vt:lpstr>
      <vt:lpstr>前导图 PDM</vt:lpstr>
      <vt:lpstr>前导图 PDM</vt:lpstr>
      <vt:lpstr>箭线图 ADM</vt:lpstr>
      <vt:lpstr>5. 估算活动持续时间</vt:lpstr>
      <vt:lpstr>甘特图 Gantt Chart</vt:lpstr>
      <vt:lpstr>PERT</vt:lpstr>
      <vt:lpstr>PERT</vt:lpstr>
      <vt:lpstr>PERT</vt:lpstr>
      <vt:lpstr>PERT</vt:lpstr>
      <vt:lpstr>6. 制定进度计划</vt:lpstr>
      <vt:lpstr>关键路径法</vt:lpstr>
      <vt:lpstr>PowerPoint 演示文稿</vt:lpstr>
      <vt:lpstr>PowerPoint 演示文稿</vt:lpstr>
      <vt:lpstr>资源优化</vt:lpstr>
      <vt:lpstr>资源压缩</vt:lpstr>
      <vt:lpstr>7. 进度控制</vt:lpstr>
      <vt:lpstr>PowerPoint 演示文稿</vt:lpstr>
      <vt:lpstr>软件项目质量计划</vt:lpstr>
      <vt:lpstr>PowerPoint 演示文稿</vt:lpstr>
      <vt:lpstr>六大质量特性 Quality Characteristics</vt:lpstr>
      <vt:lpstr>可靠性 Reliability</vt:lpstr>
      <vt:lpstr>PowerPoint 演示文稿</vt:lpstr>
      <vt:lpstr>质量管理</vt:lpstr>
      <vt:lpstr>七大质量管理工具</vt:lpstr>
      <vt:lpstr>软件配置管理计划</vt:lpstr>
      <vt:lpstr>PowerPoint 演示文稿</vt:lpstr>
      <vt:lpstr>PowerPoint 演示文稿</vt:lpstr>
      <vt:lpstr>PowerPoint 演示文稿</vt:lpstr>
      <vt:lpstr>软件配置管理</vt:lpstr>
      <vt:lpstr>原因</vt:lpstr>
      <vt:lpstr>PowerPoint 演示文稿</vt:lpstr>
      <vt:lpstr>概念</vt:lpstr>
      <vt:lpstr>六个活动</vt:lpstr>
      <vt:lpstr>项目变更</vt:lpstr>
      <vt:lpstr>变更控制委员会</vt:lpstr>
      <vt:lpstr>PowerPoint 演示文稿</vt:lpstr>
      <vt:lpstr>配置管理系统</vt:lpstr>
      <vt:lpstr>配置项版本管理</vt:lpstr>
      <vt:lpstr>配置库</vt:lpstr>
      <vt:lpstr>发布管理和交付</vt:lpstr>
      <vt:lpstr>软件项目团队计划</vt:lpstr>
      <vt:lpstr>PowerPoint 演示文稿</vt:lpstr>
      <vt:lpstr>团队发展四阶段</vt:lpstr>
      <vt:lpstr>人力资源管理</vt:lpstr>
      <vt:lpstr>责任分配矩阵</vt:lpstr>
      <vt:lpstr>冲突解决</vt:lpstr>
      <vt:lpstr>马斯洛需要层次理论</vt:lpstr>
      <vt:lpstr>赫茨伯格双因素激励理论</vt:lpstr>
      <vt:lpstr>虚拟团队</vt:lpstr>
      <vt:lpstr>PowerPoint 演示文稿</vt:lpstr>
      <vt:lpstr>沟通管理</vt:lpstr>
      <vt:lpstr>干系人管理</vt:lpstr>
      <vt:lpstr>凸显模型</vt:lpstr>
      <vt:lpstr>干系人</vt:lpstr>
      <vt:lpstr>干系人 Stakeholders</vt:lpstr>
      <vt:lpstr>软件项目风险计划</vt:lpstr>
      <vt:lpstr>PowerPoint 演示文稿</vt:lpstr>
      <vt:lpstr>风险定义</vt:lpstr>
      <vt:lpstr>风险曝光度 Risk Exposure</vt:lpstr>
      <vt:lpstr>PowerPoint 演示文稿</vt:lpstr>
      <vt:lpstr>风险类型</vt:lpstr>
      <vt:lpstr>风险3个要素</vt:lpstr>
      <vt:lpstr>风险4个过程</vt:lpstr>
      <vt:lpstr>SWOT</vt:lpstr>
      <vt:lpstr>软件项目合同计划</vt:lpstr>
      <vt:lpstr>PowerPoint 演示文稿</vt:lpstr>
      <vt:lpstr>PowerPoint 演示文稿</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演示文稿</vt:lpstr>
      <vt:lpstr>PowerPoint 演示文稿</vt:lpstr>
      <vt:lpstr>约束</vt:lpstr>
      <vt:lpstr>Example</vt:lpstr>
      <vt:lpstr>Example</vt:lpstr>
      <vt:lpstr>Example</vt:lpstr>
      <vt:lpstr>项目结束</vt:lpstr>
      <vt:lpstr>PowerPoint 演示文稿</vt:lpstr>
      <vt:lpstr>项目终止条件</vt:lpstr>
      <vt:lpstr>项目终止过程</vt:lpstr>
      <vt:lpstr>项目结束</vt:lpstr>
      <vt:lpstr>项目结束</vt:lpstr>
      <vt:lpstr>项目验收</vt:lpstr>
      <vt:lpstr>项目总结</vt:lpstr>
      <vt:lpstr>项目后评价</vt:lpstr>
      <vt:lpstr>Tips</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2217</cp:revision>
  <dcterms:created xsi:type="dcterms:W3CDTF">2026-01-24T11:12:04Z</dcterms:created>
  <dcterms:modified xsi:type="dcterms:W3CDTF">2026-04-12T13:49:55Z</dcterms:modified>
</cp:coreProperties>
</file>