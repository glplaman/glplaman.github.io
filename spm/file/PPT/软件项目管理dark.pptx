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41"/>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816" r:id="rId107"/>
    <p:sldId id="359" r:id="rId108"/>
    <p:sldId id="344" r:id="rId109"/>
    <p:sldId id="594" r:id="rId110"/>
    <p:sldId id="595" r:id="rId111"/>
    <p:sldId id="596" r:id="rId112"/>
    <p:sldId id="597" r:id="rId113"/>
    <p:sldId id="598" r:id="rId114"/>
    <p:sldId id="365" r:id="rId115"/>
    <p:sldId id="590" r:id="rId116"/>
    <p:sldId id="591" r:id="rId117"/>
    <p:sldId id="592" r:id="rId118"/>
    <p:sldId id="550" r:id="rId119"/>
    <p:sldId id="558" r:id="rId120"/>
    <p:sldId id="559" r:id="rId121"/>
    <p:sldId id="273" r:id="rId122"/>
    <p:sldId id="538" r:id="rId123"/>
    <p:sldId id="657" r:id="rId124"/>
    <p:sldId id="656" r:id="rId125"/>
    <p:sldId id="603" r:id="rId126"/>
    <p:sldId id="602" r:id="rId127"/>
    <p:sldId id="605" r:id="rId128"/>
    <p:sldId id="619" r:id="rId129"/>
    <p:sldId id="618" r:id="rId130"/>
    <p:sldId id="622" r:id="rId131"/>
    <p:sldId id="620" r:id="rId132"/>
    <p:sldId id="621" r:id="rId133"/>
    <p:sldId id="623" r:id="rId134"/>
    <p:sldId id="606" r:id="rId135"/>
    <p:sldId id="607" r:id="rId136"/>
    <p:sldId id="628" r:id="rId137"/>
    <p:sldId id="639" r:id="rId138"/>
    <p:sldId id="627" r:id="rId139"/>
    <p:sldId id="641" r:id="rId140"/>
    <p:sldId id="642" r:id="rId141"/>
    <p:sldId id="640" r:id="rId142"/>
    <p:sldId id="610" r:id="rId143"/>
    <p:sldId id="634" r:id="rId144"/>
    <p:sldId id="631" r:id="rId145"/>
    <p:sldId id="632" r:id="rId146"/>
    <p:sldId id="612" r:id="rId147"/>
    <p:sldId id="644" r:id="rId148"/>
    <p:sldId id="614" r:id="rId149"/>
    <p:sldId id="635" r:id="rId150"/>
    <p:sldId id="629" r:id="rId151"/>
    <p:sldId id="630" r:id="rId152"/>
    <p:sldId id="613" r:id="rId153"/>
    <p:sldId id="617" r:id="rId154"/>
    <p:sldId id="633" r:id="rId155"/>
    <p:sldId id="615" r:id="rId156"/>
    <p:sldId id="616" r:id="rId157"/>
    <p:sldId id="638" r:id="rId158"/>
    <p:sldId id="637" r:id="rId159"/>
    <p:sldId id="645" r:id="rId160"/>
    <p:sldId id="646" r:id="rId161"/>
    <p:sldId id="647" r:id="rId162"/>
    <p:sldId id="636" r:id="rId163"/>
    <p:sldId id="299" r:id="rId164"/>
    <p:sldId id="300" r:id="rId165"/>
    <p:sldId id="301" r:id="rId166"/>
    <p:sldId id="294" r:id="rId167"/>
    <p:sldId id="569" r:id="rId168"/>
    <p:sldId id="649" r:id="rId169"/>
    <p:sldId id="570" r:id="rId170"/>
    <p:sldId id="648" r:id="rId171"/>
    <p:sldId id="650" r:id="rId172"/>
    <p:sldId id="572" r:id="rId173"/>
    <p:sldId id="654" r:id="rId174"/>
    <p:sldId id="652" r:id="rId175"/>
    <p:sldId id="653" r:id="rId176"/>
    <p:sldId id="573" r:id="rId177"/>
    <p:sldId id="574" r:id="rId178"/>
    <p:sldId id="575" r:id="rId179"/>
    <p:sldId id="576" r:id="rId180"/>
    <p:sldId id="655" r:id="rId181"/>
    <p:sldId id="579" r:id="rId182"/>
    <p:sldId id="651" r:id="rId183"/>
    <p:sldId id="445" r:id="rId184"/>
    <p:sldId id="536" r:id="rId185"/>
    <p:sldId id="679" r:id="rId186"/>
    <p:sldId id="658" r:id="rId187"/>
    <p:sldId id="447" r:id="rId188"/>
    <p:sldId id="677" r:id="rId189"/>
    <p:sldId id="443" r:id="rId190"/>
    <p:sldId id="702" r:id="rId191"/>
    <p:sldId id="680" r:id="rId192"/>
    <p:sldId id="705" r:id="rId193"/>
    <p:sldId id="678" r:id="rId194"/>
    <p:sldId id="670" r:id="rId195"/>
    <p:sldId id="672" r:id="rId196"/>
    <p:sldId id="673" r:id="rId197"/>
    <p:sldId id="674" r:id="rId198"/>
    <p:sldId id="681" r:id="rId199"/>
    <p:sldId id="682" r:id="rId200"/>
    <p:sldId id="659" r:id="rId201"/>
    <p:sldId id="668" r:id="rId202"/>
    <p:sldId id="683" r:id="rId203"/>
    <p:sldId id="684" r:id="rId204"/>
    <p:sldId id="685" r:id="rId205"/>
    <p:sldId id="686" r:id="rId206"/>
    <p:sldId id="660" r:id="rId207"/>
    <p:sldId id="661" r:id="rId208"/>
    <p:sldId id="662" r:id="rId209"/>
    <p:sldId id="675" r:id="rId210"/>
    <p:sldId id="688" r:id="rId211"/>
    <p:sldId id="689" r:id="rId212"/>
    <p:sldId id="663" r:id="rId213"/>
    <p:sldId id="676" r:id="rId214"/>
    <p:sldId id="687" r:id="rId215"/>
    <p:sldId id="664" r:id="rId216"/>
    <p:sldId id="665" r:id="rId217"/>
    <p:sldId id="667" r:id="rId218"/>
    <p:sldId id="666" r:id="rId219"/>
    <p:sldId id="669" r:id="rId220"/>
    <p:sldId id="690" r:id="rId221"/>
    <p:sldId id="692" r:id="rId222"/>
    <p:sldId id="691" r:id="rId223"/>
    <p:sldId id="703" r:id="rId224"/>
    <p:sldId id="693" r:id="rId225"/>
    <p:sldId id="671" r:id="rId226"/>
    <p:sldId id="706" r:id="rId227"/>
    <p:sldId id="694" r:id="rId228"/>
    <p:sldId id="707" r:id="rId229"/>
    <p:sldId id="696" r:id="rId230"/>
    <p:sldId id="698" r:id="rId231"/>
    <p:sldId id="695" r:id="rId232"/>
    <p:sldId id="697" r:id="rId233"/>
    <p:sldId id="448" r:id="rId234"/>
    <p:sldId id="704" r:id="rId235"/>
    <p:sldId id="699" r:id="rId236"/>
    <p:sldId id="449" r:id="rId237"/>
    <p:sldId id="700" r:id="rId238"/>
    <p:sldId id="701" r:id="rId239"/>
    <p:sldId id="274" r:id="rId240"/>
    <p:sldId id="535" r:id="rId241"/>
    <p:sldId id="742" r:id="rId242"/>
    <p:sldId id="708" r:id="rId243"/>
    <p:sldId id="419" r:id="rId244"/>
    <p:sldId id="421" r:id="rId245"/>
    <p:sldId id="267" r:id="rId246"/>
    <p:sldId id="710" r:id="rId247"/>
    <p:sldId id="715" r:id="rId248"/>
    <p:sldId id="422" r:id="rId249"/>
    <p:sldId id="716" r:id="rId250"/>
    <p:sldId id="719" r:id="rId251"/>
    <p:sldId id="718" r:id="rId252"/>
    <p:sldId id="423" r:id="rId253"/>
    <p:sldId id="720" r:id="rId254"/>
    <p:sldId id="717" r:id="rId255"/>
    <p:sldId id="747" r:id="rId256"/>
    <p:sldId id="711" r:id="rId257"/>
    <p:sldId id="722" r:id="rId258"/>
    <p:sldId id="721" r:id="rId259"/>
    <p:sldId id="723" r:id="rId260"/>
    <p:sldId id="712" r:id="rId261"/>
    <p:sldId id="713" r:id="rId262"/>
    <p:sldId id="714" r:id="rId263"/>
    <p:sldId id="748" r:id="rId264"/>
    <p:sldId id="420" r:id="rId265"/>
    <p:sldId id="724" r:id="rId266"/>
    <p:sldId id="436" r:id="rId267"/>
    <p:sldId id="725" r:id="rId268"/>
    <p:sldId id="726" r:id="rId269"/>
    <p:sldId id="727" r:id="rId270"/>
    <p:sldId id="728" r:id="rId271"/>
    <p:sldId id="731" r:id="rId272"/>
    <p:sldId id="741" r:id="rId273"/>
    <p:sldId id="730" r:id="rId274"/>
    <p:sldId id="729" r:id="rId275"/>
    <p:sldId id="709" r:id="rId276"/>
    <p:sldId id="440" r:id="rId277"/>
    <p:sldId id="732" r:id="rId278"/>
    <p:sldId id="734" r:id="rId279"/>
    <p:sldId id="442" r:id="rId280"/>
    <p:sldId id="733" r:id="rId281"/>
    <p:sldId id="735" r:id="rId282"/>
    <p:sldId id="794" r:id="rId283"/>
    <p:sldId id="429" r:id="rId284"/>
    <p:sldId id="428" r:id="rId285"/>
    <p:sldId id="430" r:id="rId286"/>
    <p:sldId id="437" r:id="rId287"/>
    <p:sldId id="740" r:id="rId288"/>
    <p:sldId id="736" r:id="rId289"/>
    <p:sldId id="737" r:id="rId290"/>
    <p:sldId id="738" r:id="rId291"/>
    <p:sldId id="743" r:id="rId292"/>
    <p:sldId id="745" r:id="rId293"/>
    <p:sldId id="744" r:id="rId294"/>
    <p:sldId id="746" r:id="rId295"/>
    <p:sldId id="427" r:id="rId296"/>
    <p:sldId id="439" r:id="rId297"/>
    <p:sldId id="441" r:id="rId298"/>
    <p:sldId id="275" r:id="rId299"/>
    <p:sldId id="529" r:id="rId300"/>
    <p:sldId id="760" r:id="rId301"/>
    <p:sldId id="754" r:id="rId302"/>
    <p:sldId id="792" r:id="rId303"/>
    <p:sldId id="761" r:id="rId304"/>
    <p:sldId id="762" r:id="rId305"/>
    <p:sldId id="763" r:id="rId306"/>
    <p:sldId id="753" r:id="rId307"/>
    <p:sldId id="764" r:id="rId308"/>
    <p:sldId id="750" r:id="rId309"/>
    <p:sldId id="765" r:id="rId310"/>
    <p:sldId id="766" r:id="rId311"/>
    <p:sldId id="789" r:id="rId312"/>
    <p:sldId id="767" r:id="rId313"/>
    <p:sldId id="752" r:id="rId314"/>
    <p:sldId id="432" r:id="rId315"/>
    <p:sldId id="755" r:id="rId316"/>
    <p:sldId id="790" r:id="rId317"/>
    <p:sldId id="756" r:id="rId318"/>
    <p:sldId id="758" r:id="rId319"/>
    <p:sldId id="757" r:id="rId320"/>
    <p:sldId id="791" r:id="rId321"/>
    <p:sldId id="759" r:id="rId322"/>
    <p:sldId id="793" r:id="rId323"/>
    <p:sldId id="770" r:id="rId324"/>
    <p:sldId id="771" r:id="rId325"/>
    <p:sldId id="453" r:id="rId326"/>
    <p:sldId id="773" r:id="rId327"/>
    <p:sldId id="787" r:id="rId328"/>
    <p:sldId id="774" r:id="rId329"/>
    <p:sldId id="786" r:id="rId330"/>
    <p:sldId id="785" r:id="rId331"/>
    <p:sldId id="775" r:id="rId332"/>
    <p:sldId id="783" r:id="rId333"/>
    <p:sldId id="784" r:id="rId334"/>
    <p:sldId id="776" r:id="rId335"/>
    <p:sldId id="780" r:id="rId336"/>
    <p:sldId id="781" r:id="rId337"/>
    <p:sldId id="782" r:id="rId338"/>
    <p:sldId id="777" r:id="rId339"/>
    <p:sldId id="788" r:id="rId340"/>
    <p:sldId id="778" r:id="rId341"/>
    <p:sldId id="779" r:id="rId342"/>
    <p:sldId id="768" r:id="rId343"/>
    <p:sldId id="769" r:id="rId344"/>
    <p:sldId id="796" r:id="rId345"/>
    <p:sldId id="772" r:id="rId346"/>
    <p:sldId id="795" r:id="rId347"/>
    <p:sldId id="452" r:id="rId348"/>
    <p:sldId id="276" r:id="rId349"/>
    <p:sldId id="525" r:id="rId350"/>
    <p:sldId id="522" r:id="rId351"/>
    <p:sldId id="526" r:id="rId352"/>
    <p:sldId id="527" r:id="rId353"/>
    <p:sldId id="815" r:id="rId354"/>
    <p:sldId id="802" r:id="rId355"/>
    <p:sldId id="467" r:id="rId356"/>
    <p:sldId id="524" r:id="rId357"/>
    <p:sldId id="810" r:id="rId358"/>
    <p:sldId id="626" r:id="rId359"/>
    <p:sldId id="811" r:id="rId360"/>
    <p:sldId id="528" r:id="rId361"/>
    <p:sldId id="803" r:id="rId362"/>
    <p:sldId id="466" r:id="rId363"/>
    <p:sldId id="804" r:id="rId364"/>
    <p:sldId id="470" r:id="rId365"/>
    <p:sldId id="805" r:id="rId366"/>
    <p:sldId id="825" r:id="rId367"/>
    <p:sldId id="826" r:id="rId368"/>
    <p:sldId id="624" r:id="rId369"/>
    <p:sldId id="806" r:id="rId370"/>
    <p:sldId id="807" r:id="rId371"/>
    <p:sldId id="808" r:id="rId372"/>
    <p:sldId id="809" r:id="rId373"/>
    <p:sldId id="822" r:id="rId374"/>
    <p:sldId id="823" r:id="rId375"/>
    <p:sldId id="824" r:id="rId376"/>
    <p:sldId id="827" r:id="rId377"/>
    <p:sldId id="469" r:id="rId378"/>
    <p:sldId id="817" r:id="rId379"/>
    <p:sldId id="819" r:id="rId380"/>
    <p:sldId id="820" r:id="rId381"/>
    <p:sldId id="821" r:id="rId382"/>
    <p:sldId id="818" r:id="rId383"/>
    <p:sldId id="277" r:id="rId384"/>
    <p:sldId id="530" r:id="rId385"/>
    <p:sldId id="313" r:id="rId386"/>
    <p:sldId id="798" r:id="rId387"/>
    <p:sldId id="454" r:id="rId388"/>
    <p:sldId id="799" r:id="rId389"/>
    <p:sldId id="800" r:id="rId390"/>
    <p:sldId id="801" r:id="rId391"/>
    <p:sldId id="455" r:id="rId392"/>
    <p:sldId id="457" r:id="rId393"/>
    <p:sldId id="458" r:id="rId394"/>
    <p:sldId id="459" r:id="rId395"/>
    <p:sldId id="456" r:id="rId396"/>
    <p:sldId id="263" r:id="rId397"/>
    <p:sldId id="264" r:id="rId398"/>
    <p:sldId id="265" r:id="rId399"/>
    <p:sldId id="461" r:id="rId400"/>
    <p:sldId id="460" r:id="rId401"/>
    <p:sldId id="278" r:id="rId402"/>
    <p:sldId id="531" r:id="rId403"/>
    <p:sldId id="390" r:id="rId404"/>
    <p:sldId id="435" r:id="rId405"/>
    <p:sldId id="431" r:id="rId406"/>
    <p:sldId id="391" r:id="rId407"/>
    <p:sldId id="388" r:id="rId408"/>
    <p:sldId id="389" r:id="rId409"/>
    <p:sldId id="471" r:id="rId410"/>
    <p:sldId id="279" r:id="rId411"/>
    <p:sldId id="532" r:id="rId412"/>
    <p:sldId id="463" r:id="rId413"/>
    <p:sldId id="393" r:id="rId414"/>
    <p:sldId id="392" r:id="rId415"/>
    <p:sldId id="462" r:id="rId416"/>
    <p:sldId id="394" r:id="rId417"/>
    <p:sldId id="395" r:id="rId418"/>
    <p:sldId id="396" r:id="rId419"/>
    <p:sldId id="397" r:id="rId420"/>
    <p:sldId id="398" r:id="rId421"/>
    <p:sldId id="464" r:id="rId422"/>
    <p:sldId id="465" r:id="rId423"/>
    <p:sldId id="280" r:id="rId424"/>
    <p:sldId id="533" r:id="rId425"/>
    <p:sldId id="399" r:id="rId426"/>
    <p:sldId id="287" r:id="rId427"/>
    <p:sldId id="288" r:id="rId428"/>
    <p:sldId id="289" r:id="rId429"/>
    <p:sldId id="290" r:id="rId430"/>
    <p:sldId id="281" r:id="rId431"/>
    <p:sldId id="534" r:id="rId432"/>
    <p:sldId id="400" r:id="rId433"/>
    <p:sldId id="402" r:id="rId434"/>
    <p:sldId id="401" r:id="rId435"/>
    <p:sldId id="412" r:id="rId436"/>
    <p:sldId id="472" r:id="rId437"/>
    <p:sldId id="473" r:id="rId438"/>
    <p:sldId id="474" r:id="rId439"/>
    <p:sldId id="367" r:id="rId440"/>
  </p:sldIdLst>
  <p:sldSz cx="12192000" cy="6858000"/>
  <p:notesSz cx="6858000" cy="9144000"/>
  <p:embeddedFontLst>
    <p:embeddedFont>
      <p:font typeface="幼圆" panose="02010509060101010101" pitchFamily="49" charset="-122"/>
      <p:regular r:id="rId442"/>
    </p:embeddedFont>
    <p:embeddedFont>
      <p:font typeface="Cambria Math" panose="02040503050406030204" pitchFamily="18" charset="0"/>
      <p:regular r:id="rId443"/>
    </p:embeddedFont>
    <p:embeddedFont>
      <p:font typeface="Montserrat" panose="00000500000000000000" pitchFamily="2" charset="0"/>
      <p:regular r:id="rId444"/>
    </p:embeddedFont>
    <p:embeddedFont>
      <p:font typeface="Roboto Mono" pitchFamily="2" charset="0"/>
      <p:regular r:id="rId445"/>
      <p:bold r:id="rId446"/>
    </p:embeddedFont>
    <p:embeddedFont>
      <p:font typeface="等线" panose="02010600030101010101" pitchFamily="2" charset="-122"/>
      <p:regular r:id="rId447"/>
      <p:bold r:id="rId448"/>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05F73"/>
    <a:srgbClr val="00B0F0"/>
    <a:srgbClr val="2E75B6"/>
    <a:srgbClr val="E4745C"/>
    <a:srgbClr val="FDBCA8"/>
    <a:srgbClr val="6DB6E6"/>
    <a:srgbClr val="6CCA94"/>
    <a:srgbClr val="001F3F"/>
    <a:srgbClr val="E7886E"/>
    <a:srgbClr val="F6BA4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94675" autoAdjust="0"/>
  </p:normalViewPr>
  <p:slideViewPr>
    <p:cSldViewPr snapToGrid="0">
      <p:cViewPr varScale="1">
        <p:scale>
          <a:sx n="104" d="100"/>
          <a:sy n="104" d="100"/>
        </p:scale>
        <p:origin x="114" y="174"/>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slide" Target="slides/slide432.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font" Target="fonts/font3.fntdata"/><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font" Target="fonts/font5.fntdata"/><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font" Target="fonts/font7.fntdata"/><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presProps" Target="presProps.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420" Type="http://schemas.openxmlformats.org/officeDocument/2006/relationships/slide" Target="slides/slide419.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41" Type="http://schemas.openxmlformats.org/officeDocument/2006/relationships/notesMaster" Target="notesMasters/notesMaster1.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364" Type="http://schemas.openxmlformats.org/officeDocument/2006/relationships/slide" Target="slides/slide363.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385" Type="http://schemas.openxmlformats.org/officeDocument/2006/relationships/slide" Target="slides/slide384.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410" Type="http://schemas.openxmlformats.org/officeDocument/2006/relationships/slide" Target="slides/slide409.xml"/><Relationship Id="rId431" Type="http://schemas.openxmlformats.org/officeDocument/2006/relationships/slide" Target="slides/slide430.xml"/><Relationship Id="rId452" Type="http://schemas.openxmlformats.org/officeDocument/2006/relationships/theme" Target="theme/theme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slide" Target="slides/slide353.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75" Type="http://schemas.openxmlformats.org/officeDocument/2006/relationships/slide" Target="slides/slide374.xml"/><Relationship Id="rId396" Type="http://schemas.openxmlformats.org/officeDocument/2006/relationships/slide" Target="slides/slide395.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400" Type="http://schemas.openxmlformats.org/officeDocument/2006/relationships/slide" Target="slides/slide399.xml"/><Relationship Id="rId421" Type="http://schemas.openxmlformats.org/officeDocument/2006/relationships/slide" Target="slides/slide420.xml"/><Relationship Id="rId442" Type="http://schemas.openxmlformats.org/officeDocument/2006/relationships/font" Target="fonts/font1.fntdata"/><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365" Type="http://schemas.openxmlformats.org/officeDocument/2006/relationships/slide" Target="slides/slide364.xml"/><Relationship Id="rId386" Type="http://schemas.openxmlformats.org/officeDocument/2006/relationships/slide" Target="slides/slide385.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slide" Target="slides/slide431.xml"/><Relationship Id="rId453" Type="http://schemas.openxmlformats.org/officeDocument/2006/relationships/tableStyles" Target="tableStyles.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font" Target="fonts/font2.fntdata"/><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font" Target="fonts/font4.fntdata"/><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font" Target="fonts/font6.fntdata"/><Relationship Id="rId251" Type="http://schemas.openxmlformats.org/officeDocument/2006/relationships/slide" Target="slides/slide250.xml"/><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commentAuthors" Target="commentAuthors.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rgbClr val="00B0F0"/>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34925" cap="rnd">
              <a:solidFill>
                <a:schemeClr val="accent1"/>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lt1">
                        <a:lumMod val="8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solidFill>
              <a:schemeClr val="lt1">
                <a:lumMod val="95000"/>
                <a:alpha val="10000"/>
              </a:schemeClr>
            </a:solidFill>
            <a:round/>
          </a:ln>
          <a:effectLst/>
        </c:spPr>
        <c:txPr>
          <a:bodyPr rot="0" spcFirstLastPara="1" vertOverflow="ellipsis" vert="wordArtVertRtl"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33">
  <cs:axisTitle>
    <cs:lnRef idx="0"/>
    <cs:fillRef idx="0"/>
    <cs:effectRef idx="0"/>
    <cs:fontRef idx="minor">
      <a:schemeClr val="lt1">
        <a:lumMod val="85000"/>
      </a:schemeClr>
    </cs:fontRef>
    <cs:defRPr sz="1197" b="1" kern="1200" cap="all"/>
  </cs:axisTitle>
  <cs:categoryAxis>
    <cs:lnRef idx="0"/>
    <cs:fillRef idx="0"/>
    <cs:effectRef idx="0"/>
    <cs:fontRef idx="minor">
      <a:schemeClr val="lt1">
        <a:lumMod val="85000"/>
      </a:schemeClr>
    </cs:fontRef>
    <cs:spPr>
      <a:ln w="9525" cap="flat" cmpd="sng" algn="ctr">
        <a:solidFill>
          <a:schemeClr val="lt1">
            <a:lumMod val="95000"/>
            <a:alpha val="10000"/>
          </a:schemeClr>
        </a:solidFill>
        <a:round/>
      </a:ln>
    </cs:spPr>
    <cs:defRPr sz="1197"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kern="1200"/>
  </cs:chartArea>
  <cs:dataLabel>
    <cs:lnRef idx="0"/>
    <cs:fillRef idx="0"/>
    <cs:effectRef idx="0"/>
    <cs:fontRef idx="minor">
      <a:schemeClr val="lt1">
        <a:lumMod val="85000"/>
      </a:schemeClr>
    </cs:fontRef>
    <cs:defRPr sz="1197" kern="1200"/>
  </cs:dataLabel>
  <cs:dataLabelCallout>
    <cs:lnRef idx="0"/>
    <cs:fillRef idx="0"/>
    <cs:effectRef idx="0"/>
    <cs:fontRef idx="minor">
      <a:schemeClr val="dk1">
        <a:lumMod val="65000"/>
        <a:lumOff val="35000"/>
      </a:schemeClr>
    </cs:fontRef>
    <cs:spPr>
      <a:solidFill>
        <a:schemeClr val="lt1"/>
      </a:solidFill>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1197"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2128"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1197"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1197"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dirty="0">
              <a:solidFill>
                <a:schemeClr val="bg1"/>
              </a:solidFill>
            </a:rPr>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a:solidFill>
                <a:schemeClr val="bg1"/>
              </a:solidFill>
            </a:rPr>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a:solidFill>
                <a:schemeClr val="bg1"/>
              </a:solidFill>
            </a:rPr>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a:solidFill>
                <a:schemeClr val="bg1"/>
              </a:solidFill>
            </a:rPr>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a:solidFill>
                <a:schemeClr val="bg1"/>
              </a:solidFill>
            </a:rPr>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1731510" y="0"/>
          <a:ext cx="865755" cy="57717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solidFill>
                <a:schemeClr val="bg1"/>
              </a:solidFill>
            </a:rPr>
            <a:t>自我实现</a:t>
          </a:r>
        </a:p>
      </dsp:txBody>
      <dsp:txXfrm>
        <a:off x="1731510" y="0"/>
        <a:ext cx="865755" cy="577170"/>
      </dsp:txXfrm>
    </dsp:sp>
    <dsp:sp modelId="{2F299D70-5224-4C9C-9CB1-AFD882711B69}">
      <dsp:nvSpPr>
        <dsp:cNvPr id="0" name=""/>
        <dsp:cNvSpPr/>
      </dsp:nvSpPr>
      <dsp:spPr>
        <a:xfrm>
          <a:off x="1298632" y="577170"/>
          <a:ext cx="1731510" cy="57717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自尊</a:t>
          </a:r>
        </a:p>
      </dsp:txBody>
      <dsp:txXfrm>
        <a:off x="1601646" y="577170"/>
        <a:ext cx="1125481" cy="577170"/>
      </dsp:txXfrm>
    </dsp:sp>
    <dsp:sp modelId="{76D34559-A530-45C2-A0B6-720AD4C0207E}">
      <dsp:nvSpPr>
        <dsp:cNvPr id="0" name=""/>
        <dsp:cNvSpPr/>
      </dsp:nvSpPr>
      <dsp:spPr>
        <a:xfrm>
          <a:off x="865755" y="1154340"/>
          <a:ext cx="2597265" cy="57717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社会交往</a:t>
          </a:r>
        </a:p>
      </dsp:txBody>
      <dsp:txXfrm>
        <a:off x="1320276" y="1154340"/>
        <a:ext cx="1688222" cy="577170"/>
      </dsp:txXfrm>
    </dsp:sp>
    <dsp:sp modelId="{8F6F6EB1-74EE-4946-86A7-A5F9FCDABEE5}">
      <dsp:nvSpPr>
        <dsp:cNvPr id="0" name=""/>
        <dsp:cNvSpPr/>
      </dsp:nvSpPr>
      <dsp:spPr>
        <a:xfrm>
          <a:off x="432877" y="1731510"/>
          <a:ext cx="3463020" cy="57717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安全</a:t>
          </a:r>
        </a:p>
      </dsp:txBody>
      <dsp:txXfrm>
        <a:off x="1038905" y="1731510"/>
        <a:ext cx="2250963" cy="577170"/>
      </dsp:txXfrm>
    </dsp:sp>
    <dsp:sp modelId="{50DFD313-CB4A-4B94-8CDD-8D2917A17D7E}">
      <dsp:nvSpPr>
        <dsp:cNvPr id="0" name=""/>
        <dsp:cNvSpPr/>
      </dsp:nvSpPr>
      <dsp:spPr>
        <a:xfrm>
          <a:off x="0" y="2308680"/>
          <a:ext cx="4328775" cy="57717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kern="1200">
              <a:solidFill>
                <a:schemeClr val="bg1"/>
              </a:solidFill>
            </a:rPr>
            <a:t>生理</a:t>
          </a:r>
        </a:p>
      </dsp:txBody>
      <dsp:txXfrm>
        <a:off x="757535" y="2308680"/>
        <a:ext cx="2813703" cy="57717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a:latin typeface="Montserrat" panose="00000500000000000000" pitchFamily="2" charset="0"/>
              <a:ea typeface="微软雅黑 Light" panose="020B0502040204020203" pitchFamily="34" charset="-122"/>
            </a:rPr>
            <a:t>工料合同</a:t>
          </a:r>
          <a:r>
            <a:rPr lang="en-US" sz="2000" kern="1200" baseline="0">
              <a:latin typeface="Montserrat" panose="00000500000000000000" pitchFamily="2" charset="0"/>
              <a:ea typeface="微软雅黑 Light" panose="020B0502040204020203" pitchFamily="34" charset="-122"/>
            </a:rPr>
            <a:t> (T&amp;M)</a:t>
          </a:r>
          <a:endParaRPr lang="zh-CN" altLang="en-US" sz="2000" kern="1200" baseline="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12.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2026/5/10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7.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7.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85.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87.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393.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39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405.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408.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4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As nouns the difference between housekeeper and steward is that housekeeper is one who </a:t>
            </a:r>
            <a:r>
              <a:rPr lang="en-US" altLang="zh-CN" b="1"/>
              <a:t>looks after </a:t>
            </a:r>
            <a:r>
              <a:rPr lang="en-US" altLang="zh-CN"/>
              <a:t>the home by herself; either as a wife or a hired servant </a:t>
            </a:r>
          </a:p>
          <a:p>
            <a:r>
              <a:rPr lang="en-US" altLang="zh-CN"/>
              <a:t>while steward is a person who </a:t>
            </a:r>
            <a:r>
              <a:rPr lang="en-US" altLang="zh-CN" b="1"/>
              <a:t>manages</a:t>
            </a:r>
            <a:r>
              <a:rPr lang="en-US" altLang="zh-CN"/>
              <a:t> the property or affairs for another entity.</a:t>
            </a:r>
          </a:p>
          <a:p>
            <a:r>
              <a:rPr lang="en-US" altLang="zh-CN"/>
              <a:t>Stewardship is about being </a:t>
            </a:r>
            <a:r>
              <a:rPr lang="en-US" altLang="zh-CN" b="1"/>
              <a:t>responsible</a:t>
            </a:r>
            <a:r>
              <a:rPr lang="en-US" altLang="zh-CN"/>
              <a:t> for the resources, processes, and trust that have been entrusted to us. </a:t>
            </a:r>
          </a:p>
          <a:p>
            <a:r>
              <a:rPr lang="en-US" altLang="zh-CN"/>
              <a:t>It involves acting with integrity, compliance, and respect for people and the environment."</a:t>
            </a:r>
          </a:p>
          <a:p>
            <a:r>
              <a:rPr lang="en-US" altLang="zh-CN"/>
              <a:t>"Project managers act as stewards by ensuring compliance with legal and regulatory requirements, safeguarding safety and security, and managing resources sustainably."</a:t>
            </a:r>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Developing</a:t>
            </a:r>
            <a:r>
              <a:rPr lang="zh-CN" altLang="en-US" dirty="0"/>
              <a:t>：有发展和变化的意思。不单单是制定</a:t>
            </a:r>
            <a:endParaRPr lang="en-US" altLang="zh-CN" dirty="0"/>
          </a:p>
          <a:p>
            <a:r>
              <a:rPr lang="zh-CN" altLang="en-US" dirty="0"/>
              <a:t>自己理解产品目标，转化为</a:t>
            </a:r>
            <a:r>
              <a:rPr lang="en-US" altLang="zh-CN" dirty="0"/>
              <a:t>backlog</a:t>
            </a:r>
            <a:r>
              <a:rPr lang="zh-CN" altLang="en-US" dirty="0"/>
              <a:t>并保证团队能理解</a:t>
            </a:r>
            <a:endParaRPr lang="en-US" altLang="zh-CN" dirty="0"/>
          </a:p>
          <a:p>
            <a:r>
              <a:rPr lang="en-US" altLang="zh-CN" dirty="0"/>
              <a:t>123</a:t>
            </a:r>
            <a:r>
              <a:rPr lang="zh-CN" altLang="en-US" dirty="0"/>
              <a:t>是动作，是因</a:t>
            </a:r>
            <a:endParaRPr lang="en-US" altLang="zh-CN" dirty="0"/>
          </a:p>
          <a:p>
            <a:r>
              <a:rPr lang="en-US" altLang="zh-CN" dirty="0"/>
              <a:t>4</a:t>
            </a:r>
            <a:r>
              <a:rPr lang="zh-CN" altLang="en-US" dirty="0"/>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138</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143</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148</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156</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168</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183</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198</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206</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215</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221</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232</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234</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240</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253</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259</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266</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272</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276</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280</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286</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289</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293</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295</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297</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300</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301</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303</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306</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309</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314</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316</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318</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凤姐再美，美不过范冰冰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321</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323</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327</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332</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333</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338</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344</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346</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351</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352</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357</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PO</a:t>
            </a:r>
            <a:r>
              <a:rPr lang="zh-CN" altLang="en-US" dirty="0"/>
              <a:t>：只对产品的“内容”和“价值”负责。</a:t>
            </a:r>
            <a:endParaRPr lang="en-US" altLang="zh-CN" dirty="0"/>
          </a:p>
          <a:p>
            <a:r>
              <a:rPr lang="en-US" altLang="zh-CN" dirty="0"/>
              <a:t>PM</a:t>
            </a:r>
            <a:r>
              <a:rPr lang="zh-CN" altLang="en-US" dirty="0"/>
              <a:t>：只对项目的“进度”、“资源”和“流程”负责。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360</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定规矩。确定什么东西要管（配置项），怎么命名，怎么分类。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362</a:t>
            </a:fld>
            <a:endParaRPr lang="zh-CN" altLang="en-US"/>
          </a:p>
        </p:txBody>
      </p:sp>
    </p:spTree>
    <p:extLst>
      <p:ext uri="{BB962C8B-B14F-4D97-AF65-F5344CB8AC3E}">
        <p14:creationId xmlns:p14="http://schemas.microsoft.com/office/powerpoint/2010/main" val="135228668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363</a:t>
            </a:fld>
            <a:endParaRPr lang="zh-CN" altLang="en-US"/>
          </a:p>
        </p:txBody>
      </p:sp>
    </p:spTree>
    <p:extLst>
      <p:ext uri="{BB962C8B-B14F-4D97-AF65-F5344CB8AC3E}">
        <p14:creationId xmlns:p14="http://schemas.microsoft.com/office/powerpoint/2010/main" val="85370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365</a:t>
            </a:fld>
            <a:endParaRPr lang="zh-CN" altLang="en-US"/>
          </a:p>
        </p:txBody>
      </p:sp>
    </p:spTree>
    <p:extLst>
      <p:ext uri="{BB962C8B-B14F-4D97-AF65-F5344CB8AC3E}">
        <p14:creationId xmlns:p14="http://schemas.microsoft.com/office/powerpoint/2010/main" val="149602329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查错纠偏。检查是不是按规定做的，实物和记录对不对得上。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369</a:t>
            </a:fld>
            <a:endParaRPr lang="zh-CN" altLang="en-US"/>
          </a:p>
        </p:txBody>
      </p:sp>
    </p:spTree>
    <p:extLst>
      <p:ext uri="{BB962C8B-B14F-4D97-AF65-F5344CB8AC3E}">
        <p14:creationId xmlns:p14="http://schemas.microsoft.com/office/powerpoint/2010/main" val="1009551976"/>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记流水账。记录当前是什么状态，谁改了什么，有哪些版本</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370</a:t>
            </a:fld>
            <a:endParaRPr lang="zh-CN" altLang="en-US"/>
          </a:p>
        </p:txBody>
      </p:sp>
    </p:spTree>
    <p:extLst>
      <p:ext uri="{BB962C8B-B14F-4D97-AF65-F5344CB8AC3E}">
        <p14:creationId xmlns:p14="http://schemas.microsoft.com/office/powerpoint/2010/main" val="190837462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385</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387</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393</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395</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405</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风险识别是识别风险事件</a:t>
            </a:r>
            <a:r>
              <a:rPr lang="en-US" altLang="zh-CN"/>
              <a:t>, </a:t>
            </a:r>
            <a:r>
              <a:rPr lang="zh-CN" altLang="en-US"/>
              <a:t>系统化地确定对项目计划的威胁，识别已知和可预测的风险</a:t>
            </a:r>
            <a:endParaRPr lang="en-US" altLang="zh-CN"/>
          </a:p>
          <a:p>
            <a:endParaRPr lang="en-US" altLang="zh-CN"/>
          </a:p>
          <a:p>
            <a:r>
              <a:rPr lang="zh-CN" altLang="en-US"/>
              <a:t>对风险事件发生概率的评估，对项目风险影响的评估，给出项目风险排序</a:t>
            </a:r>
            <a:endParaRPr lang="en-US" altLang="zh-CN"/>
          </a:p>
          <a:p>
            <a:endParaRPr lang="en-US" altLang="zh-CN"/>
          </a:p>
          <a:p>
            <a:r>
              <a:rPr lang="zh-CN" altLang="en-US"/>
              <a:t>针对风险分析的结果，制定一定的行动和策略来对付、减少、以至于消灭风险事件造成的影响</a:t>
            </a:r>
          </a:p>
          <a:p>
            <a:endParaRPr lang="en-US" altLang="zh-CN"/>
          </a:p>
          <a:p>
            <a:r>
              <a:rPr lang="zh-CN" altLang="en-US"/>
              <a:t>风险控制是在项目执行过程中实施和监控风险计划，同时，不断进行风险识别、风险分析、风险规划的过程。</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408</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415</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rgbClr val="00B0F0"/>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rgbClr val="00B0F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5998" y="360000"/>
            <a:ext cx="6375921" cy="429413"/>
          </a:xfrm>
        </p:spPr>
        <p:txBody>
          <a:bodyPr>
            <a:noAutofit/>
          </a:bodyPr>
          <a:lstStyle>
            <a:lvl1pPr>
              <a:defRPr lang="zh-CN" altLang="en-US" dirty="0"/>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gradFill>
            <a:gsLst>
              <a:gs pos="100000">
                <a:srgbClr val="00B0F0"/>
              </a:gs>
              <a:gs pos="0">
                <a:srgbClr val="2E75B6"/>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lang="zh-CN" altLang="en-US" dirty="0"/>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gradFill>
            <a:gsLst>
              <a:gs pos="0">
                <a:srgbClr val="00B0F0"/>
              </a:gs>
              <a:gs pos="100000">
                <a:srgbClr val="2E75B6"/>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tx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tx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rgbClr val="00B0F0"/>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348.xml"/><Relationship Id="rId13" Type="http://schemas.openxmlformats.org/officeDocument/2006/relationships/slide" Target="slide423.xml"/><Relationship Id="rId3" Type="http://schemas.openxmlformats.org/officeDocument/2006/relationships/slide" Target="slide41.xml"/><Relationship Id="rId7" Type="http://schemas.openxmlformats.org/officeDocument/2006/relationships/slide" Target="slide298.xml"/><Relationship Id="rId12" Type="http://schemas.openxmlformats.org/officeDocument/2006/relationships/slide" Target="slide410.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239.xml"/><Relationship Id="rId11" Type="http://schemas.openxmlformats.org/officeDocument/2006/relationships/slide" Target="slide430.xml"/><Relationship Id="rId5" Type="http://schemas.openxmlformats.org/officeDocument/2006/relationships/slide" Target="slide183.xml"/><Relationship Id="rId10" Type="http://schemas.openxmlformats.org/officeDocument/2006/relationships/slide" Target="slide401.xml"/><Relationship Id="rId4" Type="http://schemas.openxmlformats.org/officeDocument/2006/relationships/slide" Target="slide121.xml"/><Relationship Id="rId9" Type="http://schemas.openxmlformats.org/officeDocument/2006/relationships/slide" Target="slide38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5.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5.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5.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6.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5.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5.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5.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5.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8.xml"/><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9.xml"/><Relationship Id="rId1" Type="http://schemas.openxmlformats.org/officeDocument/2006/relationships/slideLayout" Target="../slideLayouts/slideLayout5.xml"/><Relationship Id="rId4" Type="http://schemas.openxmlformats.org/officeDocument/2006/relationships/image" Target="../media/image46.png"/></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7.xml"/><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hyperlink" Target="https://planningpokeronline.com/" TargetMode="External"/><Relationship Id="rId7" Type="http://schemas.openxmlformats.org/officeDocument/2006/relationships/image" Target="../media/image51.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svg"/></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8.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3" Type="http://schemas.openxmlformats.org/officeDocument/2006/relationships/image" Target="../media/image55.sv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image" Target="../media/image54.svg"/><Relationship Id="rId16" Type="http://schemas.openxmlformats.org/officeDocument/2006/relationships/image" Target="../media/image68.png"/><Relationship Id="rId1" Type="http://schemas.openxmlformats.org/officeDocument/2006/relationships/slideLayout" Target="../slideLayouts/slideLayout5.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5" Type="http://schemas.openxmlformats.org/officeDocument/2006/relationships/image" Target="../media/image67.png"/><Relationship Id="rId10" Type="http://schemas.openxmlformats.org/officeDocument/2006/relationships/image" Target="../media/image62.png"/><Relationship Id="rId4" Type="http://schemas.openxmlformats.org/officeDocument/2006/relationships/image" Target="../media/image56.svg"/><Relationship Id="rId9" Type="http://schemas.openxmlformats.org/officeDocument/2006/relationships/image" Target="../media/image61.jpg"/><Relationship Id="rId14" Type="http://schemas.openxmlformats.org/officeDocument/2006/relationships/image" Target="../media/image66.sv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5.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5.xml"/></Relationships>
</file>

<file path=ppt/slides/_rels/slide266.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73.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5.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5.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5.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5.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5.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5.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5.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4.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4.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5.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5.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5.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5.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5.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1.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5.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5.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5.xml"/><Relationship Id="rId4" Type="http://schemas.openxmlformats.org/officeDocument/2006/relationships/image" Target="../media/image75.png"/></Relationships>
</file>

<file path=ppt/slides/_rels/slide333.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5.xml"/><Relationship Id="rId4" Type="http://schemas.openxmlformats.org/officeDocument/2006/relationships/image" Target="../media/image76.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5.xml"/></Relationships>
</file>

<file path=ppt/slides/_rels/slide336.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5.xml"/></Relationships>
</file>

<file path=ppt/slides/_rels/slide337.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5.xml"/></Relationships>
</file>

<file path=ppt/slides/_rels/slide33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5.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6.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4.xml"/></Relationships>
</file>

<file path=ppt/slides/_rels/slide35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4.xml"/></Relationships>
</file>

<file path=ppt/slides/_rels/slide353.xml.rels><?xml version="1.0" encoding="UTF-8" standalone="yes"?>
<Relationships xmlns="http://schemas.openxmlformats.org/package/2006/relationships"><Relationship Id="rId8" Type="http://schemas.openxmlformats.org/officeDocument/2006/relationships/image" Target="../media/image85.svg"/><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image" Target="../media/image79.svg"/><Relationship Id="rId1" Type="http://schemas.openxmlformats.org/officeDocument/2006/relationships/slideLayout" Target="../slideLayouts/slideLayout5.xml"/><Relationship Id="rId6" Type="http://schemas.openxmlformats.org/officeDocument/2006/relationships/image" Target="../media/image83.svg"/><Relationship Id="rId5" Type="http://schemas.openxmlformats.org/officeDocument/2006/relationships/image" Target="../media/image82.svg"/><Relationship Id="rId10" Type="http://schemas.openxmlformats.org/officeDocument/2006/relationships/image" Target="../media/image87.svg"/><Relationship Id="rId4" Type="http://schemas.openxmlformats.org/officeDocument/2006/relationships/image" Target="../media/image81.svg"/><Relationship Id="rId9" Type="http://schemas.openxmlformats.org/officeDocument/2006/relationships/image" Target="../media/image86.sv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6.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7.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4.xml"/></Relationships>
</file>

<file path=ppt/slides/_rels/slide358.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0.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5.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9.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70.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2.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hyperlink" Target="https://gitee.com/" TargetMode="Externa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5.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7.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3.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182.xml"/><Relationship Id="rId1" Type="http://schemas.openxmlformats.org/officeDocument/2006/relationships/slideLayout" Target="../slideLayouts/slideLayout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4.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5.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4.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7.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408.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2.xml.rels><?xml version="1.0" encoding="UTF-8" standalone="yes"?>
<Relationships xmlns="http://schemas.openxmlformats.org/package/2006/relationships"><Relationship Id="rId2" Type="http://schemas.openxmlformats.org/officeDocument/2006/relationships/image" Target="../media/image89.svg"/><Relationship Id="rId1" Type="http://schemas.openxmlformats.org/officeDocument/2006/relationships/slideLayout" Target="../slideLayouts/slideLayout5.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5.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86.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6.xml.rels><?xml version="1.0" encoding="UTF-8" standalone="yes"?>
<Relationships xmlns="http://schemas.openxmlformats.org/package/2006/relationships"><Relationship Id="rId8" Type="http://schemas.openxmlformats.org/officeDocument/2006/relationships/image" Target="../media/image91.svg"/><Relationship Id="rId3" Type="http://schemas.openxmlformats.org/officeDocument/2006/relationships/diagramLayout" Target="../diagrams/layout14.xml"/><Relationship Id="rId7" Type="http://schemas.openxmlformats.org/officeDocument/2006/relationships/image" Target="../media/image90.svg"/><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 Id="rId9" Type="http://schemas.openxmlformats.org/officeDocument/2006/relationships/image" Target="../media/image92.svg"/></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gradFill>
            <a:gsLst>
              <a:gs pos="0">
                <a:srgbClr val="00B0F0"/>
              </a:gs>
              <a:gs pos="100000">
                <a:srgbClr val="2E75B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B11962CC-5FD7-7938-727B-C1FC1834D1AC}"/>
              </a:ext>
            </a:extLst>
          </p:cNvPr>
          <p:cNvSpPr/>
          <p:nvPr/>
        </p:nvSpPr>
        <p:spPr>
          <a:xfrm>
            <a:off x="1874566" y="1671657"/>
            <a:ext cx="2388242" cy="4315128"/>
          </a:xfrm>
          <a:custGeom>
            <a:avLst/>
            <a:gdLst>
              <a:gd name="csX0" fmla="*/ 230678 w 2388242"/>
              <a:gd name="csY0" fmla="*/ 0 h 4315128"/>
              <a:gd name="csX1" fmla="*/ 2388242 w 2388242"/>
              <a:gd name="csY1" fmla="*/ 2157564 h 4315128"/>
              <a:gd name="csX2" fmla="*/ 230678 w 2388242"/>
              <a:gd name="csY2" fmla="*/ 4315128 h 4315128"/>
              <a:gd name="csX3" fmla="*/ 10080 w 2388242"/>
              <a:gd name="csY3" fmla="*/ 4303989 h 4315128"/>
              <a:gd name="csX4" fmla="*/ 0 w 2388242"/>
              <a:gd name="csY4" fmla="*/ 4302451 h 4315128"/>
              <a:gd name="csX5" fmla="*/ 204147 w 2388242"/>
              <a:gd name="csY5" fmla="*/ 4271294 h 4315128"/>
              <a:gd name="csX6" fmla="*/ 1926886 w 2388242"/>
              <a:gd name="csY6" fmla="*/ 2157564 h 4315128"/>
              <a:gd name="csX7" fmla="*/ 204147 w 2388242"/>
              <a:gd name="csY7" fmla="*/ 43834 h 4315128"/>
              <a:gd name="csX8" fmla="*/ 0 w 2388242"/>
              <a:gd name="csY8" fmla="*/ 12678 h 4315128"/>
              <a:gd name="csX9" fmla="*/ 10080 w 2388242"/>
              <a:gd name="csY9" fmla="*/ 11139 h 4315128"/>
              <a:gd name="csX10" fmla="*/ 230678 w 2388242"/>
              <a:gd name="csY10" fmla="*/ 0 h 431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88242" h="4315128">
                <a:moveTo>
                  <a:pt x="230678" y="0"/>
                </a:moveTo>
                <a:cubicBezTo>
                  <a:pt x="1422268" y="0"/>
                  <a:pt x="2388242" y="965974"/>
                  <a:pt x="2388242" y="2157564"/>
                </a:cubicBezTo>
                <a:cubicBezTo>
                  <a:pt x="2388242" y="3349154"/>
                  <a:pt x="1422268" y="4315128"/>
                  <a:pt x="230678" y="4315128"/>
                </a:cubicBezTo>
                <a:cubicBezTo>
                  <a:pt x="156204" y="4315128"/>
                  <a:pt x="82611" y="4311355"/>
                  <a:pt x="10080" y="4303989"/>
                </a:cubicBezTo>
                <a:lnTo>
                  <a:pt x="0" y="4302451"/>
                </a:lnTo>
                <a:lnTo>
                  <a:pt x="204147" y="4271294"/>
                </a:lnTo>
                <a:cubicBezTo>
                  <a:pt x="1187312" y="4070110"/>
                  <a:pt x="1926886" y="3200206"/>
                  <a:pt x="1926886" y="2157564"/>
                </a:cubicBezTo>
                <a:cubicBezTo>
                  <a:pt x="1926886" y="1114923"/>
                  <a:pt x="1187312" y="245019"/>
                  <a:pt x="204147" y="43834"/>
                </a:cubicBezTo>
                <a:lnTo>
                  <a:pt x="0" y="12678"/>
                </a:lnTo>
                <a:lnTo>
                  <a:pt x="10080" y="11139"/>
                </a:lnTo>
                <a:cubicBezTo>
                  <a:pt x="82611" y="3773"/>
                  <a:pt x="156204" y="0"/>
                  <a:pt x="230678" y="0"/>
                </a:cubicBez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独特性 </a:t>
            </a:r>
            <a:r>
              <a:rPr lang="en-US" altLang="zh-CN" dirty="0">
                <a:solidFill>
                  <a:schemeClr val="tx1"/>
                </a:solidFill>
              </a:rPr>
              <a:t>Unique</a:t>
            </a:r>
            <a:endParaRPr lang="zh-CN" altLang="en-US" dirty="0">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资源约束性 </a:t>
            </a:r>
            <a:r>
              <a:rPr lang="en-US" altLang="zh-CN" dirty="0">
                <a:solidFill>
                  <a:schemeClr val="tx1"/>
                </a:solidFill>
              </a:rPr>
              <a:t>Constrain</a:t>
            </a:r>
            <a:endParaRPr lang="zh-CN" altLang="en-US" dirty="0">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721802087"/>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Relevant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4043075705"/>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582239501"/>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a:solidFill>
            <a:schemeClr val="bg1"/>
          </a:solidFill>
        </p:spPr>
        <p:txBody>
          <a:bodyPr>
            <a:normAutofit/>
          </a:bodyPr>
          <a:lstStyle/>
          <a:p>
            <a:r>
              <a:rPr lang="en-US" altLang="zh-CN"/>
              <a:t>3.1.1 </a:t>
            </a:r>
            <a:r>
              <a:rPr lang="zh-CN" altLang="en-US"/>
              <a:t>五大标准过程组</a:t>
            </a:r>
          </a:p>
        </p:txBody>
      </p:sp>
      <p:sp>
        <p:nvSpPr>
          <p:cNvPr id="9" name="内容占位符 8">
            <a:extLst>
              <a:ext uri="{FF2B5EF4-FFF2-40B4-BE49-F238E27FC236}">
                <a16:creationId xmlns:a16="http://schemas.microsoft.com/office/drawing/2014/main" id="{0D432F06-BB11-9A68-A959-20B1EFD588EC}"/>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82572000"/>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Description</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305254612"/>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Description</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4" name="内容占位符 3">
            <a:extLst>
              <a:ext uri="{FF2B5EF4-FFF2-40B4-BE49-F238E27FC236}">
                <a16:creationId xmlns:a16="http://schemas.microsoft.com/office/drawing/2014/main" id="{2B858A74-FC20-DEDC-02BF-D9EF28BA025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4" name="内容占位符 3">
            <a:extLst>
              <a:ext uri="{FF2B5EF4-FFF2-40B4-BE49-F238E27FC236}">
                <a16:creationId xmlns:a16="http://schemas.microsoft.com/office/drawing/2014/main" id="{B210171B-80B6-DD42-FFCC-BA8386595E1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项目在实现预期成果和价值方面的整体表现 </a:t>
            </a:r>
            <a:r>
              <a:rPr lang="en-US" altLang="zh-CN" dirty="0"/>
              <a:t>Performance</a:t>
            </a:r>
          </a:p>
          <a:p>
            <a:r>
              <a:rPr lang="zh-CN" altLang="en-US" dirty="0"/>
              <a:t>一组相互关联的项目活动，对于有效交付项目成果至关重要</a:t>
            </a:r>
            <a:endParaRPr lang="en-US" altLang="zh-CN" dirty="0"/>
          </a:p>
          <a:p>
            <a:r>
              <a:rPr lang="zh-CN" altLang="en-US" dirty="0"/>
              <a:t>同时发生、动态交织、需要持续关注</a:t>
            </a:r>
          </a:p>
          <a:p>
            <a:endParaRPr lang="en-US" altLang="zh-CN" dirty="0"/>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1845067704"/>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11" name="内容占位符 10">
            <a:extLst>
              <a:ext uri="{FF2B5EF4-FFF2-40B4-BE49-F238E27FC236}">
                <a16:creationId xmlns:a16="http://schemas.microsoft.com/office/drawing/2014/main" id="{422A26C3-BC96-7479-A99E-B22282039C8D}"/>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6" name="文本占位符 5">
            <a:extLst>
              <a:ext uri="{FF2B5EF4-FFF2-40B4-BE49-F238E27FC236}">
                <a16:creationId xmlns:a16="http://schemas.microsoft.com/office/drawing/2014/main" id="{80F25E1D-A044-CC9C-93C7-886FD0AA2109}"/>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320536193"/>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dirty="0">
                          <a:solidFill>
                            <a:schemeClr val="bg1"/>
                          </a:solidFill>
                        </a:rPr>
                        <a:t>Char</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English</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Chinese</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a:t>4.2.1 </a:t>
            </a:r>
            <a:r>
              <a:rPr lang="zh-CN" altLang="en-US"/>
              <a:t>敏捷宣言四个核心价值</a:t>
            </a:r>
            <a:endParaRPr lang="en-US" altLang="zh-CN"/>
          </a:p>
        </p:txBody>
      </p:sp>
      <p:sp>
        <p:nvSpPr>
          <p:cNvPr id="11" name="内容占位符 10">
            <a:extLst>
              <a:ext uri="{FF2B5EF4-FFF2-40B4-BE49-F238E27FC236}">
                <a16:creationId xmlns:a16="http://schemas.microsoft.com/office/drawing/2014/main" id="{C5A1D466-D586-FF84-3083-6FA5B2EF1421}"/>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1062976759"/>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Values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609650908"/>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699093807"/>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3629420919"/>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zh-CN" altLang="en-US" sz="1600" dirty="0">
                          <a:solidFill>
                            <a:schemeClr val="bg1"/>
                          </a:solidFill>
                        </a:rPr>
                        <a:t>敏捷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sz="1600" dirty="0">
                          <a:solidFill>
                            <a:schemeClr val="bg1"/>
                          </a:solidFill>
                        </a:rPr>
                        <a:t>PMBOK 7 </a:t>
                      </a:r>
                      <a:r>
                        <a:rPr lang="zh-CN" altLang="en-US" sz="1600" dirty="0">
                          <a:solidFill>
                            <a:schemeClr val="bg1"/>
                          </a:solidFill>
                        </a:rPr>
                        <a:t>的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rgbClr val="00B0F0"/>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695998"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2348947296"/>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260727067"/>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9413"/>
          </a:xfrm>
        </p:spPr>
        <p:txBody>
          <a:bodyPr>
            <a:normAutofit/>
          </a:bodyPr>
          <a:lstStyle/>
          <a:p>
            <a:r>
              <a:rPr lang="en-US" altLang="zh-CN"/>
              <a:t>2.2 </a:t>
            </a:r>
            <a:r>
              <a:rPr lang="zh-CN" altLang="en-US"/>
              <a:t>项目立项</a:t>
            </a:r>
          </a:p>
        </p:txBody>
      </p:sp>
      <p:sp>
        <p:nvSpPr>
          <p:cNvPr id="21" name="内容占位符 20">
            <a:extLst>
              <a:ext uri="{FF2B5EF4-FFF2-40B4-BE49-F238E27FC236}">
                <a16:creationId xmlns:a16="http://schemas.microsoft.com/office/drawing/2014/main" id="{779B95AC-2B68-358B-E250-04F9AEC3000A}"/>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695998" y="360000"/>
            <a:ext cx="6375921" cy="429413"/>
          </a:xfrm>
        </p:spPr>
        <p:txBody>
          <a:bodyPr/>
          <a:lstStyle/>
          <a:p>
            <a:r>
              <a:rPr lang="en-US" altLang="zh-CN"/>
              <a:t>2.3 </a:t>
            </a:r>
            <a:r>
              <a:rPr lang="zh-CN" altLang="en-US"/>
              <a:t>项目招投标</a:t>
            </a:r>
          </a:p>
        </p:txBody>
      </p:sp>
      <p:sp>
        <p:nvSpPr>
          <p:cNvPr id="11" name="内容占位符 10">
            <a:extLst>
              <a:ext uri="{FF2B5EF4-FFF2-40B4-BE49-F238E27FC236}">
                <a16:creationId xmlns:a16="http://schemas.microsoft.com/office/drawing/2014/main" id="{45B7E7ED-BAB9-1C13-D7CD-F2BF2ED0F924}"/>
              </a:ext>
            </a:extLst>
          </p:cNvPr>
          <p:cNvSpPr>
            <a:spLocks noGrp="1"/>
          </p:cNvSpPr>
          <p:nvPr>
            <p:ph idx="1"/>
          </p:nvPr>
        </p:nvSpPr>
        <p:spPr/>
        <p:txBody>
          <a:bodyPr/>
          <a:lstStyle/>
          <a:p>
            <a:endParaRPr lang="zh-CN" altLang="en-US" dirty="0"/>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695998"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 name="矩形 2">
            <a:extLst>
              <a:ext uri="{FF2B5EF4-FFF2-40B4-BE49-F238E27FC236}">
                <a16:creationId xmlns:a16="http://schemas.microsoft.com/office/drawing/2014/main" id="{7512E9F0-594D-5F79-4AB8-3FA56286FD42}"/>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C7AFA702-50D6-8CC7-B1F8-71302618959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5" name="矩形 4">
            <a:extLst>
              <a:ext uri="{FF2B5EF4-FFF2-40B4-BE49-F238E27FC236}">
                <a16:creationId xmlns:a16="http://schemas.microsoft.com/office/drawing/2014/main" id="{056A5E99-836B-6DA7-2342-82B27A797905}"/>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6" name="矩形 5">
            <a:extLst>
              <a:ext uri="{FF2B5EF4-FFF2-40B4-BE49-F238E27FC236}">
                <a16:creationId xmlns:a16="http://schemas.microsoft.com/office/drawing/2014/main" id="{34FD2EF7-193B-3776-048F-EDC7DA265AE3}"/>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7" name="直接箭头连接符 6">
            <a:extLst>
              <a:ext uri="{FF2B5EF4-FFF2-40B4-BE49-F238E27FC236}">
                <a16:creationId xmlns:a16="http://schemas.microsoft.com/office/drawing/2014/main" id="{3FF71AE2-FFF0-F37B-9340-ED7E6E3927E2}"/>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4197B09C-8D22-8873-6CEE-2F6672AC2B4A}"/>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E4EEA43-A098-49D0-FA94-444C17FCB076}"/>
              </a:ext>
            </a:extLst>
          </p:cNvPr>
          <p:cNvCxnSpPr>
            <a:stCxn id="5" idx="2"/>
            <a:endCxn id="6"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CBA3BFC9-301A-921D-5957-BE8FD3FC8C3D}"/>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2" name="矩形: 圆角 11">
            <a:extLst>
              <a:ext uri="{FF2B5EF4-FFF2-40B4-BE49-F238E27FC236}">
                <a16:creationId xmlns:a16="http://schemas.microsoft.com/office/drawing/2014/main" id="{25A60122-E137-8D85-67E7-784BA2E0FAFB}"/>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3" name="直接箭头连接符 12">
            <a:extLst>
              <a:ext uri="{FF2B5EF4-FFF2-40B4-BE49-F238E27FC236}">
                <a16:creationId xmlns:a16="http://schemas.microsoft.com/office/drawing/2014/main" id="{3A14B600-D7F8-60A4-7A84-DC3897F18F71}"/>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9A45339-D7D6-095D-B6EB-04283573527B}"/>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C31BFB6B-FAD0-0B65-6E1B-6AEFCF2A2B52}"/>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6" name="直接箭头连接符 15">
            <a:extLst>
              <a:ext uri="{FF2B5EF4-FFF2-40B4-BE49-F238E27FC236}">
                <a16:creationId xmlns:a16="http://schemas.microsoft.com/office/drawing/2014/main" id="{4C1A2892-C268-A985-CF1F-B0364AC8A7AC}"/>
              </a:ext>
            </a:extLst>
          </p:cNvPr>
          <p:cNvCxnSpPr>
            <a:stCxn id="6"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AB51BDC4-6607-47DE-DEAE-21B517FE1008}"/>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695998"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 name="矩形 2">
            <a:extLst>
              <a:ext uri="{FF2B5EF4-FFF2-40B4-BE49-F238E27FC236}">
                <a16:creationId xmlns:a16="http://schemas.microsoft.com/office/drawing/2014/main" id="{9286A6AA-EF78-E815-260D-B7EF61B7C380}"/>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3174CF22-1A73-3D81-9084-435EC37BF90D}"/>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93F38A45-A66F-F778-14A3-4CEB3F36DF34}"/>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352A5E6F-75FB-F942-9535-6ECC189C96AA}"/>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9" name="直接箭头连接符 8">
            <a:extLst>
              <a:ext uri="{FF2B5EF4-FFF2-40B4-BE49-F238E27FC236}">
                <a16:creationId xmlns:a16="http://schemas.microsoft.com/office/drawing/2014/main" id="{B4F4D869-2EBA-536E-E5E1-5232252D1D90}"/>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793B9439-9FE5-7277-AC0F-7A18E2629D52}"/>
              </a:ext>
            </a:extLst>
          </p:cNvPr>
          <p:cNvCxnSpPr>
            <a:stCxn id="6"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F59BA091-BC9E-5714-4788-7C422E26E8C6}"/>
              </a:ext>
            </a:extLst>
          </p:cNvPr>
          <p:cNvCxnSpPr>
            <a:stCxn id="7" idx="2"/>
            <a:endCxn id="8"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33A09714-2BA1-B311-3E15-9ABC53C754C9}"/>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ABE32954-0844-5E53-CB7C-61DC9856C3DE}"/>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D9566682-39F0-A793-B457-198D05A0A6FD}"/>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DC96BD40-0B67-AECE-33AF-D6D95BBCAD87}"/>
              </a:ext>
            </a:extLst>
          </p:cNvPr>
          <p:cNvCxnSpPr>
            <a:stCxn id="6"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7E24EBFF-EAC0-5E18-74ED-BB25A3BF22F5}"/>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C915BF63-70BF-1A24-B735-791479EFB6B1}"/>
              </a:ext>
            </a:extLst>
          </p:cNvPr>
          <p:cNvCxnSpPr>
            <a:stCxn id="8"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B6505081-EACC-B183-A6EE-66702CC8A80A}"/>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695998"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矩形 2">
            <a:extLst>
              <a:ext uri="{FF2B5EF4-FFF2-40B4-BE49-F238E27FC236}">
                <a16:creationId xmlns:a16="http://schemas.microsoft.com/office/drawing/2014/main" id="{D6F58050-8F46-967F-1B5A-8DA048A66D56}"/>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F7999FEA-0EAC-588B-D7E3-9B7B50971FA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6" name="矩形 5">
            <a:extLst>
              <a:ext uri="{FF2B5EF4-FFF2-40B4-BE49-F238E27FC236}">
                <a16:creationId xmlns:a16="http://schemas.microsoft.com/office/drawing/2014/main" id="{6BB74E91-7403-976E-6743-E24E1C82ABF9}"/>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7" name="矩形 6">
            <a:extLst>
              <a:ext uri="{FF2B5EF4-FFF2-40B4-BE49-F238E27FC236}">
                <a16:creationId xmlns:a16="http://schemas.microsoft.com/office/drawing/2014/main" id="{3CCC825F-DB41-1F0D-FB06-FAAB6C342BB7}"/>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8" name="直接箭头连接符 7">
            <a:extLst>
              <a:ext uri="{FF2B5EF4-FFF2-40B4-BE49-F238E27FC236}">
                <a16:creationId xmlns:a16="http://schemas.microsoft.com/office/drawing/2014/main" id="{DBB20D6A-FC63-A14B-1F69-D01EBFFB428D}"/>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50925B99-2304-045F-25FE-3F0F13253CDC}"/>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CCFD4FB2-9963-B79D-C8B4-5BE6C157E3BA}"/>
              </a:ext>
            </a:extLst>
          </p:cNvPr>
          <p:cNvCxnSpPr>
            <a:stCxn id="6" idx="2"/>
            <a:endCxn id="7"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6AEB236C-4878-CF7E-6681-6900235FD28C}"/>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D2B67C2D-6903-374E-C29E-CE14BA55F981}"/>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8EC7B117-5DA0-8D12-EAF7-8BB58831A70A}"/>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55F1808-92F5-03BE-EB8A-A6F729D763A8}"/>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D29B182C-C0FB-EDBE-8BEC-6C42F11E3FE4}"/>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29E14D5B-3B39-2707-6011-7E500867C9A0}"/>
              </a:ext>
            </a:extLst>
          </p:cNvPr>
          <p:cNvCxnSpPr>
            <a:stCxn id="7"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858771-E274-30B0-328B-E603C6D91540}"/>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695998"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854928094"/>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dirty="0">
                          <a:solidFill>
                            <a:schemeClr val="bg1"/>
                          </a:solidFill>
                        </a:rPr>
                        <a:t>Items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Sample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21874666"/>
                  </a:ext>
                </a:extLst>
              </a:tr>
              <a:tr h="126976">
                <a:tc>
                  <a:txBody>
                    <a:bodyPr/>
                    <a:lstStyle/>
                    <a:p>
                      <a:pPr algn="l">
                        <a:buNone/>
                      </a:pPr>
                      <a:r>
                        <a:rPr lang="zh-CN" altLang="en-US" sz="1600" dirty="0">
                          <a:solidFill>
                            <a:schemeClr val="tx1"/>
                          </a:solidFill>
                        </a:rPr>
                        <a:t>技术风险 </a:t>
                      </a:r>
                      <a:r>
                        <a:rPr lang="en-US" altLang="zh-CN" sz="1600" dirty="0">
                          <a:solidFill>
                            <a:schemeClr val="tx1"/>
                          </a:solidFill>
                        </a:rPr>
                        <a:t>Technology</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尚未在大规模数据下验证，过渡依赖热门</a:t>
                      </a:r>
                      <a:r>
                        <a:rPr lang="en-US" altLang="zh-CN" sz="1600">
                          <a:solidFill>
                            <a:schemeClr val="tx1"/>
                          </a:solidFill>
                        </a:rPr>
                        <a:t>AI</a:t>
                      </a:r>
                      <a:r>
                        <a:rPr lang="zh-CN" altLang="en-US" sz="1600">
                          <a:solidFill>
                            <a:schemeClr val="tx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dirty="0">
                          <a:solidFill>
                            <a:schemeClr val="tx1"/>
                          </a:solidFill>
                        </a:rPr>
                        <a:t>市场</a:t>
                      </a:r>
                      <a:r>
                        <a:rPr lang="en-US" altLang="zh-CN" sz="1600" dirty="0">
                          <a:solidFill>
                            <a:schemeClr val="tx1"/>
                          </a:solidFill>
                        </a:rPr>
                        <a:t>/</a:t>
                      </a:r>
                      <a:r>
                        <a:rPr lang="zh-CN" altLang="en-US" sz="1600" dirty="0">
                          <a:solidFill>
                            <a:schemeClr val="tx1"/>
                          </a:solidFill>
                        </a:rPr>
                        <a:t>商业风险 </a:t>
                      </a:r>
                      <a:r>
                        <a:rPr lang="en-US" altLang="zh-CN" sz="1600" dirty="0">
                          <a:solidFill>
                            <a:schemeClr val="tx1"/>
                          </a:solidFill>
                        </a:rPr>
                        <a:t>Market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竞争对手可能在项目上线前</a:t>
                      </a:r>
                      <a:r>
                        <a:rPr lang="en-US" altLang="zh-CN" sz="1600" dirty="0">
                          <a:solidFill>
                            <a:schemeClr val="tx1"/>
                          </a:solidFill>
                        </a:rPr>
                        <a:t>3</a:t>
                      </a:r>
                      <a:r>
                        <a:rPr lang="zh-CN" altLang="en-US" sz="1600" dirty="0">
                          <a:solidFill>
                            <a:schemeClr val="tx1"/>
                          </a:solidFill>
                        </a:rPr>
                        <a:t>个月发布同类低价产品，导致市场份额预期下降</a:t>
                      </a:r>
                      <a:r>
                        <a:rPr lang="en-US" altLang="zh-CN" sz="1600" dirty="0">
                          <a:solidFill>
                            <a:schemeClr val="tx1"/>
                          </a:solidFill>
                        </a:rPr>
                        <a:t>50%</a:t>
                      </a: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tx1"/>
                          </a:solidFill>
                        </a:rPr>
                        <a:t>资源风险 </a:t>
                      </a:r>
                      <a:r>
                        <a:rPr lang="en-US" altLang="zh-CN" sz="1600">
                          <a:solidFill>
                            <a:schemeClr val="tx1"/>
                          </a:solidFill>
                        </a:rPr>
                        <a:t>Resource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tx1"/>
                          </a:solidFill>
                        </a:rPr>
                        <a:t>合规</a:t>
                      </a:r>
                      <a:r>
                        <a:rPr lang="en-US" altLang="zh-CN" sz="1600">
                          <a:solidFill>
                            <a:schemeClr val="tx1"/>
                          </a:solidFill>
                        </a:rPr>
                        <a:t>/</a:t>
                      </a:r>
                      <a:r>
                        <a:rPr lang="zh-CN" altLang="en-US" sz="1600">
                          <a:solidFill>
                            <a:schemeClr val="tx1"/>
                          </a:solidFill>
                        </a:rPr>
                        <a:t>法律风险 </a:t>
                      </a:r>
                      <a:r>
                        <a:rPr lang="en-US" altLang="zh-CN" sz="1600">
                          <a:solidFill>
                            <a:schemeClr val="tx1"/>
                          </a:solidFill>
                        </a:rPr>
                        <a:t>Compliance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tx1"/>
                          </a:solidFill>
                        </a:rPr>
                        <a:t>外部依赖风险 </a:t>
                      </a:r>
                      <a:r>
                        <a:rPr lang="en-US" altLang="zh-CN" sz="1600">
                          <a:solidFill>
                            <a:schemeClr val="tx1"/>
                          </a:solidFill>
                        </a:rPr>
                        <a:t>Dependence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项目依赖第三方供应商的</a:t>
                      </a:r>
                      <a:r>
                        <a:rPr lang="en-US" altLang="zh-CN" sz="1600" dirty="0">
                          <a:solidFill>
                            <a:schemeClr val="tx1"/>
                          </a:solidFill>
                        </a:rPr>
                        <a:t>API</a:t>
                      </a:r>
                      <a:r>
                        <a:rPr lang="zh-CN" altLang="en-US" sz="1600" dirty="0">
                          <a:solidFill>
                            <a:schemeClr val="tx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695998"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2073245618"/>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dirty="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955753585"/>
                  </a:ext>
                </a:extLst>
              </a:tr>
              <a:tr h="0">
                <a:tc>
                  <a:txBody>
                    <a:bodyPr/>
                    <a:lstStyle/>
                    <a:p>
                      <a:pPr algn="l">
                        <a:buNone/>
                      </a:pPr>
                      <a:r>
                        <a:rPr lang="zh-CN" altLang="en-US" sz="1600" dirty="0">
                          <a:solidFill>
                            <a:schemeClr val="tx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tx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医疗项目未在预计时间内获得药监局</a:t>
                      </a:r>
                      <a:r>
                        <a:rPr lang="en-US" altLang="zh-CN" sz="1600" dirty="0">
                          <a:solidFill>
                            <a:schemeClr val="tx1"/>
                          </a:solidFill>
                        </a:rPr>
                        <a:t>(NMPA)</a:t>
                      </a:r>
                      <a:r>
                        <a:rPr lang="zh-CN" altLang="en-US" sz="1600" dirty="0">
                          <a:solidFill>
                            <a:schemeClr val="tx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tx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tx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tx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tx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695998"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9257645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假设条件 </a:t>
                      </a:r>
                      <a:r>
                        <a:rPr lang="en-US" sz="1600" dirty="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制约因素 </a:t>
                      </a:r>
                      <a:r>
                        <a:rPr lang="en-US" sz="1600" dirty="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87775788"/>
                  </a:ext>
                </a:extLst>
              </a:tr>
              <a:tr h="0">
                <a:tc>
                  <a:txBody>
                    <a:bodyPr/>
                    <a:lstStyle/>
                    <a:p>
                      <a:pPr algn="l">
                        <a:buNone/>
                      </a:pPr>
                      <a:r>
                        <a:rPr lang="zh-CN" altLang="en-US" sz="1600" dirty="0">
                          <a:solidFill>
                            <a:schemeClr val="tx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dirty="0">
                          <a:solidFill>
                            <a:schemeClr val="tx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会变成风险 </a:t>
                      </a:r>
                      <a:r>
                        <a:rPr lang="en-US" altLang="zh-CN" sz="1600" dirty="0">
                          <a:solidFill>
                            <a:schemeClr val="tx1"/>
                          </a:solidFill>
                        </a:rPr>
                        <a:t>(</a:t>
                      </a:r>
                      <a:r>
                        <a:rPr lang="en-US" sz="1600" dirty="0">
                          <a:solidFill>
                            <a:schemeClr val="tx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tx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tx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我们假定</a:t>
                      </a:r>
                      <a:r>
                        <a:rPr lang="en-US" altLang="zh-CN" sz="16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我们必须</a:t>
                      </a:r>
                      <a:r>
                        <a:rPr lang="en-US" altLang="zh-CN" sz="1600" dirty="0">
                          <a:solidFill>
                            <a:schemeClr val="tx1"/>
                          </a:solidFill>
                        </a:rPr>
                        <a:t>...” / “</a:t>
                      </a:r>
                      <a:r>
                        <a:rPr lang="zh-CN" altLang="en-US" sz="1600" dirty="0">
                          <a:solidFill>
                            <a:schemeClr val="tx1"/>
                          </a:solidFill>
                        </a:rPr>
                        <a:t>不能超过</a:t>
                      </a:r>
                      <a:r>
                        <a:rPr lang="en-US" altLang="zh-CN"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tx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695998"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695998"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695998"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69266768"/>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19983">
                <a:tc>
                  <a:txBody>
                    <a:bodyPr/>
                    <a:lstStyle/>
                    <a:p>
                      <a:pPr>
                        <a:buNone/>
                      </a:pPr>
                      <a:r>
                        <a:rPr lang="zh-CN" altLang="en-US" sz="1600" dirty="0">
                          <a:solidFill>
                            <a:schemeClr val="tx1"/>
                          </a:solidFill>
                        </a:rPr>
                        <a:t>技术项目管理</a:t>
                      </a:r>
                      <a:endParaRPr lang="en-US" altLang="zh-CN" sz="1600" dirty="0">
                        <a:solidFill>
                          <a:schemeClr val="tx1"/>
                        </a:solidFill>
                      </a:endParaRPr>
                    </a:p>
                    <a:p>
                      <a:pPr>
                        <a:buNone/>
                      </a:pPr>
                      <a:r>
                        <a:rPr lang="en-US" altLang="zh-CN" sz="1600" dirty="0">
                          <a:solidFill>
                            <a:schemeClr val="tx1"/>
                          </a:solidFill>
                        </a:rPr>
                        <a:t>Technical Project Management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与项目、项目集和项目组合管理特定领域相关的知识、技能和行为</a:t>
                      </a:r>
                      <a:endParaRPr lang="en-US" altLang="zh-CN" sz="1600">
                        <a:solidFill>
                          <a:schemeClr val="tx1"/>
                        </a:solidFill>
                      </a:endParaRPr>
                    </a:p>
                    <a:p>
                      <a:pPr>
                        <a:buNone/>
                      </a:pPr>
                      <a:r>
                        <a:rPr lang="zh-CN" altLang="en-US" sz="1600">
                          <a:solidFill>
                            <a:schemeClr val="tx1"/>
                          </a:solidFill>
                        </a:rPr>
                        <a:t>即执行你岗位</a:t>
                      </a:r>
                      <a:r>
                        <a:rPr lang="en-US" altLang="zh-CN" sz="1600">
                          <a:solidFill>
                            <a:schemeClr val="tx1"/>
                          </a:solidFill>
                        </a:rPr>
                        <a:t>/</a:t>
                      </a:r>
                      <a:r>
                        <a:rPr lang="zh-CN" altLang="en-US" sz="1600">
                          <a:solidFill>
                            <a:schemeClr val="tx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dirty="0">
                          <a:solidFill>
                            <a:schemeClr val="tx1"/>
                          </a:solidFill>
                        </a:rPr>
                        <a:t>领导力</a:t>
                      </a:r>
                      <a:endParaRPr lang="en-US" altLang="zh-CN" sz="1600" dirty="0">
                        <a:solidFill>
                          <a:schemeClr val="tx1"/>
                        </a:solidFill>
                      </a:endParaRPr>
                    </a:p>
                    <a:p>
                      <a:pPr>
                        <a:buNone/>
                      </a:pPr>
                      <a:r>
                        <a:rPr lang="en-US" altLang="zh-CN" sz="1600" dirty="0">
                          <a:solidFill>
                            <a:schemeClr val="tx1"/>
                          </a:solidFill>
                        </a:rPr>
                        <a:t>Leadership</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涉及引导、激励和</a:t>
                      </a:r>
                      <a:r>
                        <a:rPr lang="en-US" altLang="zh-CN" sz="1600" dirty="0">
                          <a:solidFill>
                            <a:schemeClr val="tx1"/>
                          </a:solidFill>
                        </a:rPr>
                        <a:t>/</a:t>
                      </a:r>
                      <a:r>
                        <a:rPr lang="zh-CN" altLang="en-US" sz="1600" dirty="0">
                          <a:solidFill>
                            <a:schemeClr val="tx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tx1"/>
                          </a:solidFill>
                        </a:rPr>
                        <a:t>战略与商业管理</a:t>
                      </a:r>
                      <a:endParaRPr lang="en-US" altLang="zh-CN" sz="1600">
                        <a:solidFill>
                          <a:schemeClr val="tx1"/>
                        </a:solidFill>
                      </a:endParaRPr>
                    </a:p>
                    <a:p>
                      <a:pPr>
                        <a:buNone/>
                      </a:pPr>
                      <a:r>
                        <a:rPr lang="en-US" altLang="zh-CN" sz="1600">
                          <a:solidFill>
                            <a:schemeClr val="tx1"/>
                          </a:solidFill>
                        </a:rPr>
                        <a:t>Strategic and Business Management</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对行业</a:t>
                      </a:r>
                      <a:r>
                        <a:rPr lang="en-US" altLang="zh-CN" sz="1600" dirty="0">
                          <a:solidFill>
                            <a:schemeClr val="tx1"/>
                          </a:solidFill>
                        </a:rPr>
                        <a:t>/</a:t>
                      </a:r>
                      <a:r>
                        <a:rPr lang="zh-CN" altLang="en-US" sz="1600" dirty="0">
                          <a:solidFill>
                            <a:schemeClr val="tx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695998"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867564404"/>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59506">
                <a:tc>
                  <a:txBody>
                    <a:bodyPr/>
                    <a:lstStyle/>
                    <a:p>
                      <a:pPr>
                        <a:buNone/>
                      </a:pPr>
                      <a:r>
                        <a:rPr lang="zh-CN" altLang="en-US" sz="1600" dirty="0">
                          <a:solidFill>
                            <a:schemeClr val="tx1"/>
                          </a:solidFill>
                        </a:rPr>
                        <a:t>工作方式</a:t>
                      </a:r>
                      <a:endParaRPr lang="en-US" altLang="zh-CN" sz="1600" dirty="0">
                        <a:solidFill>
                          <a:schemeClr val="tx1"/>
                        </a:solidFill>
                      </a:endParaRPr>
                    </a:p>
                    <a:p>
                      <a:pPr>
                        <a:buNone/>
                      </a:pPr>
                      <a:r>
                        <a:rPr lang="en-US" altLang="zh-CN" sz="1600" dirty="0">
                          <a:solidFill>
                            <a:schemeClr val="tx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涵盖交付价值的方法、工具、技术和途径 </a:t>
                      </a:r>
                      <a:r>
                        <a:rPr lang="en-US" altLang="zh-CN" sz="1600" dirty="0">
                          <a:solidFill>
                            <a:schemeClr val="tx1"/>
                          </a:solidFill>
                        </a:rPr>
                        <a:t>- </a:t>
                      </a:r>
                      <a:r>
                        <a:rPr lang="zh-CN" altLang="en-US" sz="1600" dirty="0">
                          <a:solidFill>
                            <a:schemeClr val="tx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tx1"/>
                          </a:solidFill>
                        </a:rPr>
                        <a:t>能力技能</a:t>
                      </a:r>
                      <a:endParaRPr lang="en-US" altLang="zh-CN" sz="1600">
                        <a:solidFill>
                          <a:schemeClr val="tx1"/>
                        </a:solidFill>
                      </a:endParaRPr>
                    </a:p>
                    <a:p>
                      <a:pPr>
                        <a:buNone/>
                      </a:pPr>
                      <a:r>
                        <a:rPr lang="en-US" altLang="zh-CN" sz="1600">
                          <a:solidFill>
                            <a:schemeClr val="tx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指使个人能够影响、激励、协作和领导的人际能力</a:t>
                      </a:r>
                      <a:r>
                        <a:rPr lang="en-US" altLang="zh-CN" sz="1600" dirty="0">
                          <a:solidFill>
                            <a:schemeClr val="tx1"/>
                          </a:solidFill>
                        </a:rPr>
                        <a:t> - </a:t>
                      </a:r>
                      <a:r>
                        <a:rPr lang="zh-CN" altLang="en-US" sz="1600" dirty="0">
                          <a:solidFill>
                            <a:schemeClr val="tx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tx1"/>
                          </a:solidFill>
                        </a:rPr>
                        <a:t>商业洞察力</a:t>
                      </a:r>
                      <a:endParaRPr lang="en-US" altLang="zh-CN" sz="1600">
                        <a:solidFill>
                          <a:schemeClr val="tx1"/>
                        </a:solidFill>
                      </a:endParaRPr>
                    </a:p>
                    <a:p>
                      <a:pPr>
                        <a:buNone/>
                      </a:pPr>
                      <a:r>
                        <a:rPr lang="en-US" altLang="zh-CN" sz="1600">
                          <a:solidFill>
                            <a:schemeClr val="tx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695998"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2486599890"/>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Former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later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460554950"/>
                  </a:ext>
                </a:extLst>
              </a:tr>
              <a:tr h="323388">
                <a:tc>
                  <a:txBody>
                    <a:bodyPr/>
                    <a:lstStyle/>
                    <a:p>
                      <a:pPr>
                        <a:buNone/>
                      </a:pPr>
                      <a:r>
                        <a:rPr lang="zh-CN" altLang="en-US" sz="1600" dirty="0">
                          <a:solidFill>
                            <a:schemeClr val="tx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Technical Project Management</a:t>
                      </a:r>
                      <a:br>
                        <a:rPr lang="en-US" sz="1600" dirty="0">
                          <a:solidFill>
                            <a:schemeClr val="tx1"/>
                          </a:solidFill>
                        </a:rPr>
                      </a:br>
                      <a:r>
                        <a:rPr lang="zh-CN" altLang="en-US" sz="1600" dirty="0">
                          <a:solidFill>
                            <a:schemeClr val="tx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Ways of Working</a:t>
                      </a:r>
                      <a:br>
                        <a:rPr lang="en-US" sz="1600">
                          <a:solidFill>
                            <a:schemeClr val="tx1"/>
                          </a:solidFill>
                        </a:rPr>
                      </a:br>
                      <a:r>
                        <a:rPr lang="en-US" sz="1600" err="1">
                          <a:solidFill>
                            <a:schemeClr val="tx1"/>
                          </a:solidFill>
                        </a:rPr>
                        <a:t>工作方式</a:t>
                      </a:r>
                      <a:endParaRPr 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tx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Leadership</a:t>
                      </a:r>
                    </a:p>
                    <a:p>
                      <a:pPr>
                        <a:buNone/>
                      </a:pPr>
                      <a:r>
                        <a:rPr lang="zh-CN" altLang="en-US" sz="1600" dirty="0">
                          <a:solidFill>
                            <a:schemeClr val="tx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Power Skills</a:t>
                      </a:r>
                      <a:br>
                        <a:rPr lang="en-US" sz="1600" dirty="0">
                          <a:solidFill>
                            <a:schemeClr val="tx1"/>
                          </a:solidFill>
                        </a:rPr>
                      </a:br>
                      <a:r>
                        <a:rPr lang="zh-CN" altLang="en-US" sz="1600" dirty="0">
                          <a:solidFill>
                            <a:schemeClr val="tx1"/>
                          </a:solidFill>
                        </a:rPr>
                        <a:t>权力技能 </a:t>
                      </a:r>
                      <a:r>
                        <a:rPr lang="en-US" altLang="zh-CN" sz="1600" dirty="0">
                          <a:solidFill>
                            <a:schemeClr val="tx1"/>
                          </a:solidFill>
                        </a:rPr>
                        <a:t>/ </a:t>
                      </a:r>
                      <a:r>
                        <a:rPr lang="zh-CN" altLang="en-US" sz="1600" dirty="0">
                          <a:solidFill>
                            <a:schemeClr val="tx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tx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Strategic and Business Management</a:t>
                      </a:r>
                      <a:br>
                        <a:rPr lang="en-US" sz="1600">
                          <a:solidFill>
                            <a:schemeClr val="tx1"/>
                          </a:solidFill>
                        </a:rPr>
                      </a:br>
                      <a:r>
                        <a:rPr lang="zh-CN" altLang="en-US" sz="1600">
                          <a:solidFill>
                            <a:schemeClr val="tx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Business Acumen</a:t>
                      </a:r>
                      <a:br>
                        <a:rPr lang="en-US" sz="1600" dirty="0">
                          <a:solidFill>
                            <a:schemeClr val="tx1"/>
                          </a:solidFill>
                        </a:rPr>
                      </a:br>
                      <a:r>
                        <a:rPr lang="zh-CN" altLang="en-US" sz="1600" dirty="0">
                          <a:solidFill>
                            <a:schemeClr val="tx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8" name="内容占位符 17">
            <a:extLst>
              <a:ext uri="{FF2B5EF4-FFF2-40B4-BE49-F238E27FC236}">
                <a16:creationId xmlns:a16="http://schemas.microsoft.com/office/drawing/2014/main" id="{98F4413D-643A-488B-5EBE-FFA2C7A0BD0E}"/>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596946211"/>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预测型 </a:t>
                      </a:r>
                      <a:r>
                        <a:rPr lang="en-US" sz="1600" dirty="0">
                          <a:solidFill>
                            <a:schemeClr val="tx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tx1"/>
                          </a:solidFill>
                        </a:rPr>
                        <a:t>迭代型 </a:t>
                      </a:r>
                      <a:r>
                        <a:rPr lang="en-US" sz="1600">
                          <a:solidFill>
                            <a:schemeClr val="tx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tx1"/>
                          </a:solidFill>
                        </a:rPr>
                        <a:t>增量型 </a:t>
                      </a:r>
                      <a:r>
                        <a:rPr lang="en-US" sz="1600">
                          <a:solidFill>
                            <a:schemeClr val="tx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tx1"/>
                          </a:solidFill>
                        </a:rPr>
                        <a:t>敏捷型 </a:t>
                      </a:r>
                      <a:r>
                        <a:rPr lang="en-US" sz="1600">
                          <a:solidFill>
                            <a:schemeClr val="tx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t>Degree of Change</a:t>
              </a:r>
              <a:endParaRPr lang="zh-CN" altLang="en-US" sz="1200"/>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t>Frequency of Delivery</a:t>
              </a:r>
              <a:endParaRPr lang="zh-CN" altLang="en-US" sz="1200"/>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t>Predictive</a:t>
              </a:r>
              <a:endParaRPr lang="zh-CN" altLang="en-US" sz="1400"/>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t>Iterative</a:t>
              </a:r>
              <a:endParaRPr lang="zh-CN" altLang="en-US" sz="1400"/>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dirty="0"/>
                <a:t>Incremental</a:t>
              </a:r>
              <a:endParaRPr lang="zh-CN" altLang="en-US" sz="1400" dirty="0"/>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t>Agile</a:t>
              </a:r>
              <a:endParaRPr lang="zh-CN" altLang="en-US" sz="1400"/>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阶段分明、顺序执行、没有重叠</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r>
              <a:rPr lang="en-US" altLang="zh-CN" dirty="0"/>
              <a:t>/</a:t>
            </a:r>
            <a:r>
              <a:rPr lang="zh-CN" altLang="en-US" dirty="0"/>
              <a:t>返工</a:t>
            </a:r>
            <a:endParaRPr lang="en-US" altLang="zh-CN" dirty="0"/>
          </a:p>
          <a:p>
            <a:pPr lvl="1"/>
            <a:endParaRPr lang="en-US" altLang="zh-CN" dirty="0"/>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t>System design</a:t>
              </a:r>
              <a:endParaRPr lang="zh-CN" altLang="en-US"/>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t>Implementation</a:t>
              </a:r>
              <a:endParaRPr lang="zh-CN" altLang="en-US"/>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t>Integration &amp; Test</a:t>
              </a:r>
              <a:endParaRPr lang="zh-CN" altLang="en-US"/>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t>Deployment </a:t>
              </a:r>
              <a:endParaRPr lang="zh-CN" altLang="en-US"/>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t>Maintenance</a:t>
              </a:r>
              <a:endParaRPr lang="zh-CN" altLang="en-US"/>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4133004840"/>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测试目的</a:t>
                      </a: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tx1"/>
                          </a:solidFill>
                        </a:rPr>
                        <a:t>测试计划</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tx1"/>
                          </a:solidFill>
                        </a:rPr>
                        <a:t>测试执行</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695998"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2807166592"/>
              </p:ext>
            </p:extLst>
          </p:nvPr>
        </p:nvGraphicFramePr>
        <p:xfrm>
          <a:off x="695325" y="2255520"/>
          <a:ext cx="10801350" cy="213360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迭代 </a:t>
                      </a:r>
                      <a:r>
                        <a:rPr lang="en-US" sz="1400" dirty="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增量 </a:t>
                      </a:r>
                      <a:r>
                        <a:rPr lang="en-US" sz="1400" dirty="0">
                          <a:solidFill>
                            <a:schemeClr val="bg1"/>
                          </a:solidFill>
                        </a:rPr>
                        <a:t>Increment</a:t>
                      </a:r>
                      <a:r>
                        <a:rPr lang="en-US" altLang="zh-CN" sz="1400" dirty="0">
                          <a:solidFill>
                            <a:schemeClr val="bg1"/>
                          </a:solidFill>
                        </a:rPr>
                        <a:t>al</a:t>
                      </a:r>
                      <a:endParaRPr 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7242012"/>
                  </a:ext>
                </a:extLst>
              </a:tr>
              <a:tr h="0">
                <a:tc>
                  <a:txBody>
                    <a:bodyPr/>
                    <a:lstStyle/>
                    <a:p>
                      <a:pPr algn="l">
                        <a:buNone/>
                      </a:pPr>
                      <a:r>
                        <a:rPr lang="zh-CN" altLang="en-US" sz="1400" dirty="0">
                          <a:solidFill>
                            <a:schemeClr val="tx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重复 </a:t>
                      </a:r>
                      <a:r>
                        <a:rPr lang="en-US" altLang="zh-CN" sz="1400" dirty="0">
                          <a:solidFill>
                            <a:schemeClr val="tx1"/>
                          </a:solidFill>
                        </a:rPr>
                        <a:t>(</a:t>
                      </a:r>
                      <a:r>
                        <a:rPr lang="en-US" sz="1400" dirty="0">
                          <a:solidFill>
                            <a:schemeClr val="tx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增加 </a:t>
                      </a:r>
                      <a:r>
                        <a:rPr lang="en-US" altLang="zh-CN" sz="1400">
                          <a:solidFill>
                            <a:schemeClr val="tx1"/>
                          </a:solidFill>
                        </a:rPr>
                        <a:t>(</a:t>
                      </a:r>
                      <a:r>
                        <a:rPr lang="en-US" sz="1400">
                          <a:solidFill>
                            <a:schemeClr val="tx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400">
                          <a:solidFill>
                            <a:schemeClr val="tx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质量 </a:t>
                      </a:r>
                      <a:r>
                        <a:rPr lang="en-US" altLang="zh-CN" sz="1400" dirty="0">
                          <a:solidFill>
                            <a:schemeClr val="tx1"/>
                          </a:solidFill>
                        </a:rPr>
                        <a:t>(</a:t>
                      </a:r>
                      <a:r>
                        <a:rPr lang="en-US" sz="1400" dirty="0">
                          <a:solidFill>
                            <a:schemeClr val="tx1"/>
                          </a:solidFill>
                        </a:rPr>
                        <a:t>Quality)：</a:t>
                      </a:r>
                      <a:r>
                        <a:rPr lang="zh-CN" altLang="en-US" sz="1400" dirty="0">
                          <a:solidFill>
                            <a:schemeClr val="tx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范围 </a:t>
                      </a:r>
                      <a:r>
                        <a:rPr lang="en-US" altLang="zh-CN" sz="1400">
                          <a:solidFill>
                            <a:schemeClr val="tx1"/>
                          </a:solidFill>
                        </a:rPr>
                        <a:t>(</a:t>
                      </a:r>
                      <a:r>
                        <a:rPr lang="en-US" sz="1400">
                          <a:solidFill>
                            <a:schemeClr val="tx1"/>
                          </a:solidFill>
                        </a:rPr>
                        <a:t>Scope)：</a:t>
                      </a:r>
                      <a:r>
                        <a:rPr lang="zh-CN" altLang="en-US" sz="1400">
                          <a:solidFill>
                            <a:schemeClr val="tx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400">
                          <a:solidFill>
                            <a:schemeClr val="tx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400">
                          <a:solidFill>
                            <a:schemeClr val="tx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400">
                          <a:solidFill>
                            <a:schemeClr val="tx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哇，这个功能比上次快了很多</a:t>
                      </a:r>
                      <a:r>
                        <a:rPr lang="en-US" altLang="zh-CN" sz="1400">
                          <a:solidFill>
                            <a:schemeClr val="tx1"/>
                          </a:solidFill>
                        </a:rPr>
                        <a:t>/</a:t>
                      </a:r>
                      <a:r>
                        <a:rPr lang="zh-CN" altLang="en-US" sz="1400">
                          <a:solidFill>
                            <a:schemeClr val="tx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400">
                          <a:solidFill>
                            <a:schemeClr val="tx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tx1"/>
                          </a:solidFill>
                        </a:rPr>
                        <a:t>Iterate (</a:t>
                      </a:r>
                      <a:r>
                        <a:rPr lang="zh-CN" altLang="en-US" sz="1400">
                          <a:solidFill>
                            <a:schemeClr val="tx1"/>
                          </a:solidFill>
                        </a:rPr>
                        <a:t>重做</a:t>
                      </a:r>
                      <a:r>
                        <a:rPr lang="en-US" altLang="zh-CN" sz="14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tx1"/>
                          </a:solidFill>
                        </a:rPr>
                        <a:t>Increment (</a:t>
                      </a:r>
                      <a:r>
                        <a:rPr lang="zh-CN" altLang="en-US" sz="1400" dirty="0">
                          <a:solidFill>
                            <a:schemeClr val="tx1"/>
                          </a:solidFill>
                        </a:rPr>
                        <a:t>增长</a:t>
                      </a:r>
                      <a:r>
                        <a:rPr lang="en-US" altLang="zh-CN" sz="14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726230725"/>
              </p:ext>
            </p:extLst>
          </p:nvPr>
        </p:nvGraphicFramePr>
        <p:xfrm>
          <a:off x="695325" y="4252595"/>
          <a:ext cx="10801350" cy="204216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400" dirty="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节奏</a:t>
                      </a:r>
                      <a:r>
                        <a:rPr lang="en-US" altLang="zh-CN" sz="1400" dirty="0">
                          <a:solidFill>
                            <a:schemeClr val="bg1"/>
                          </a:solidFill>
                        </a:rPr>
                        <a:t>/</a:t>
                      </a:r>
                      <a:r>
                        <a:rPr lang="zh-CN" altLang="en-US" sz="1400" dirty="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49275536"/>
                  </a:ext>
                </a:extLst>
              </a:tr>
              <a:tr h="200694">
                <a:tc>
                  <a:txBody>
                    <a:bodyPr/>
                    <a:lstStyle/>
                    <a:p>
                      <a:pPr algn="l">
                        <a:buNone/>
                      </a:pPr>
                      <a:r>
                        <a:rPr lang="en-US" sz="1400" dirty="0"/>
                        <a:t>Scrum </a:t>
                      </a:r>
                      <a:r>
                        <a:rPr lang="zh-CN" altLang="en-US" sz="1400" dirty="0"/>
                        <a:t>敏捷</a:t>
                      </a:r>
                      <a:endParaRPr 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固定 </a:t>
                      </a:r>
                      <a:r>
                        <a:rPr lang="en-US" sz="1400"/>
                        <a:t>Sprint (2-4</a:t>
                      </a:r>
                      <a:r>
                        <a:rPr lang="zh-CN" altLang="en-US" sz="1400"/>
                        <a:t>周</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严格 </a:t>
                      </a:r>
                      <a:r>
                        <a:rPr lang="en-US" altLang="zh-CN" sz="1400"/>
                        <a:t>(</a:t>
                      </a:r>
                      <a:r>
                        <a:rPr lang="en-US" sz="1400"/>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400"/>
                        <a:t>Kanban </a:t>
                      </a:r>
                      <a:r>
                        <a:rPr lang="zh-CN" altLang="en-US" sz="1400"/>
                        <a:t>看板</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持续流动 </a:t>
                      </a:r>
                      <a:r>
                        <a:rPr lang="en-US" altLang="zh-CN" sz="1400"/>
                        <a:t>(</a:t>
                      </a:r>
                      <a:r>
                        <a:rPr lang="zh-CN" altLang="en-US" sz="1400"/>
                        <a:t>无固定周期</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无特定角色</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400"/>
                        <a:t>XP </a:t>
                      </a:r>
                      <a:r>
                        <a:rPr lang="zh-CN" altLang="en-US" sz="1400"/>
                        <a:t>极限编程</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通常配合 </a:t>
                      </a:r>
                      <a:r>
                        <a:rPr lang="en-US" sz="1400"/>
                        <a:t>Scrum </a:t>
                      </a:r>
                      <a:r>
                        <a:rPr lang="zh-CN" altLang="en-US" sz="1400"/>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强调结对</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400"/>
                        <a:t>FDD </a:t>
                      </a:r>
                      <a:r>
                        <a:rPr lang="zh-CN" altLang="en-US" sz="1400"/>
                        <a:t>特性驱动</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较正式 </a:t>
                      </a:r>
                      <a:r>
                        <a:rPr lang="en-US" altLang="zh-CN" sz="1400"/>
                        <a:t>(</a:t>
                      </a:r>
                      <a:r>
                        <a:rPr lang="zh-CN" altLang="en-US" sz="1400"/>
                        <a:t>首席程序员等</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400"/>
                        <a:t>Crystal </a:t>
                      </a:r>
                      <a:r>
                        <a:rPr lang="zh-CN" altLang="en-US" sz="1400"/>
                        <a:t>水晶</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2321497576"/>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400" dirty="0">
                          <a:solidFill>
                            <a:schemeClr val="bg1"/>
                          </a:solidFill>
                        </a:rPr>
                        <a:t>Column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Icon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Description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Role</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161160263"/>
                  </a:ext>
                </a:extLst>
              </a:tr>
              <a:tr h="857250">
                <a:tc>
                  <a:txBody>
                    <a:bodyPr/>
                    <a:lstStyle/>
                    <a:p>
                      <a:pPr>
                        <a:buNone/>
                      </a:pPr>
                      <a:r>
                        <a:rPr lang="en-US" sz="1400"/>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尚未开始的工作项（如用户故事、</a:t>
                      </a:r>
                      <a:r>
                        <a:rPr lang="en-US" altLang="zh-CN" sz="1400"/>
                        <a:t>Bug</a:t>
                      </a:r>
                      <a:r>
                        <a:rPr lang="zh-CN" altLang="en-US" sz="1400"/>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400"/>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400"/>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架构</a:t>
                      </a:r>
                      <a:r>
                        <a:rPr lang="en-US" altLang="zh-CN" sz="1400"/>
                        <a:t>/</a:t>
                      </a:r>
                      <a:r>
                        <a:rPr lang="zh-CN" altLang="en-US" sz="1400"/>
                        <a:t>界面</a:t>
                      </a:r>
                      <a:r>
                        <a:rPr lang="en-US" altLang="zh-CN" sz="1400"/>
                        <a:t>/</a:t>
                      </a:r>
                      <a:r>
                        <a:rPr lang="zh-CN" altLang="en-US" sz="1400"/>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400"/>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核心价值创造环节，通常 </a:t>
                      </a:r>
                      <a:r>
                        <a:rPr lang="en-US" altLang="zh-CN" sz="1400"/>
                        <a:t>WIP </a:t>
                      </a:r>
                      <a:r>
                        <a:rPr lang="zh-CN" altLang="en-US" sz="1400"/>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400"/>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a:t>QA </a:t>
                      </a:r>
                      <a:r>
                        <a:rPr lang="zh-CN" altLang="en-US" sz="1400"/>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400"/>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用户</a:t>
                      </a:r>
                      <a:r>
                        <a:rPr lang="en-US" altLang="zh-CN" sz="1400"/>
                        <a:t>/</a:t>
                      </a:r>
                      <a:r>
                        <a:rPr lang="en-US" sz="1400"/>
                        <a:t>PO </a:t>
                      </a:r>
                      <a:r>
                        <a:rPr lang="zh-CN" altLang="en-US" sz="1400"/>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400"/>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自动或手动部署到预发</a:t>
                      </a:r>
                      <a:r>
                        <a:rPr lang="en-US" altLang="zh-CN" sz="1400"/>
                        <a:t>/</a:t>
                      </a:r>
                      <a:r>
                        <a:rPr lang="zh-CN" altLang="en-US" sz="1400"/>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400"/>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价值交付终点，也是 </a:t>
                      </a:r>
                      <a:r>
                        <a:rPr lang="en-US" altLang="zh-CN" sz="1400" dirty="0"/>
                        <a:t>Outcome </a:t>
                      </a:r>
                      <a:r>
                        <a:rPr lang="zh-CN" altLang="en-US" sz="1400" dirty="0"/>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dirty="0">
                <a:solidFill>
                  <a:srgbClr val="00B0F0"/>
                </a:solidFill>
              </a:rPr>
              <a:t>&lt;</a:t>
            </a:r>
            <a:r>
              <a:rPr lang="zh-CN" altLang="en-US" sz="2400" dirty="0">
                <a:solidFill>
                  <a:srgbClr val="00B0F0"/>
                </a:solidFill>
              </a:rPr>
              <a:t>动作</a:t>
            </a:r>
            <a:r>
              <a:rPr lang="en-US" altLang="zh-CN" sz="2400" dirty="0">
                <a:solidFill>
                  <a:srgbClr val="00B0F0"/>
                </a:solidFill>
              </a:rPr>
              <a:t>&gt; + &lt;</a:t>
            </a:r>
            <a:r>
              <a:rPr lang="zh-CN" altLang="en-US" sz="2400" dirty="0">
                <a:solidFill>
                  <a:srgbClr val="00B0F0"/>
                </a:solidFill>
              </a:rPr>
              <a:t>结果</a:t>
            </a:r>
            <a:r>
              <a:rPr lang="en-US" altLang="zh-CN" sz="2400" dirty="0">
                <a:solidFill>
                  <a:srgbClr val="00B0F0"/>
                </a:solidFill>
              </a:rPr>
              <a:t>&gt; + &lt;</a:t>
            </a:r>
            <a:r>
              <a:rPr lang="zh-CN" altLang="en-US" sz="2400" dirty="0">
                <a:solidFill>
                  <a:srgbClr val="00B0F0"/>
                </a:solidFill>
              </a:rPr>
              <a:t>对象</a:t>
            </a:r>
            <a:r>
              <a:rPr lang="en-US" altLang="zh-CN" sz="2400" dirty="0">
                <a:solidFill>
                  <a:srgbClr val="00B0F0"/>
                </a:solidFill>
              </a:rPr>
              <a:t>&gt;</a:t>
            </a:r>
            <a:br>
              <a:rPr lang="zh-CN" altLang="en-US" sz="2400" dirty="0">
                <a:solidFill>
                  <a:srgbClr val="00B0F0"/>
                </a:solidFill>
              </a:rPr>
            </a:br>
            <a:r>
              <a:rPr lang="en-US" altLang="zh-CN" sz="2400" dirty="0">
                <a:solidFill>
                  <a:srgbClr val="00B0F0"/>
                </a:solidFill>
              </a:rPr>
              <a:t>(Verb-Result-Object)</a:t>
            </a:r>
            <a:endParaRPr lang="zh-CN" altLang="en-US" sz="2400" dirty="0">
              <a:solidFill>
                <a:srgbClr val="00B0F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1399584669"/>
              </p:ext>
            </p:extLst>
          </p:nvPr>
        </p:nvGraphicFramePr>
        <p:xfrm>
          <a:off x="695325" y="2423160"/>
          <a:ext cx="10801350" cy="182880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400" dirty="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98881430"/>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编写登录界面的 </a:t>
                      </a:r>
                      <a:r>
                        <a:rPr lang="en-US" altLang="zh-CN" sz="1400"/>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验证 </a:t>
                      </a:r>
                      <a:r>
                        <a:rPr lang="en-US" altLang="zh-CN" sz="1400"/>
                        <a:t>(</a:t>
                      </a:r>
                      <a:r>
                        <a:rPr lang="zh-CN" altLang="en-US" sz="1400"/>
                        <a:t>动作</a:t>
                      </a:r>
                      <a:r>
                        <a:rPr lang="en-US" altLang="zh-CN" sz="1400"/>
                        <a:t>) </a:t>
                      </a:r>
                      <a:r>
                        <a:rPr lang="zh-CN" altLang="en-US" sz="1400"/>
                        <a:t>用户输入的密码 </a:t>
                      </a:r>
                      <a:r>
                        <a:rPr lang="en-US" altLang="zh-CN" sz="1400"/>
                        <a:t>(</a:t>
                      </a:r>
                      <a:r>
                        <a:rPr lang="zh-CN" altLang="en-US" sz="1400"/>
                        <a:t>结果</a:t>
                      </a:r>
                      <a:r>
                        <a:rPr lang="en-US" altLang="zh-CN" sz="1400"/>
                        <a:t>/</a:t>
                      </a:r>
                      <a:r>
                        <a:rPr lang="zh-CN" altLang="en-US" sz="1400"/>
                        <a:t>对象</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锁定 </a:t>
                      </a:r>
                      <a:r>
                        <a:rPr lang="en-US" altLang="zh-CN" sz="1400"/>
                        <a:t>(</a:t>
                      </a:r>
                      <a:r>
                        <a:rPr lang="zh-CN" altLang="en-US" sz="1400"/>
                        <a:t>动作</a:t>
                      </a:r>
                      <a:r>
                        <a:rPr lang="en-US" altLang="zh-CN" sz="1400"/>
                        <a:t>) </a:t>
                      </a:r>
                      <a:r>
                        <a:rPr lang="zh-CN" altLang="en-US" sz="1400"/>
                        <a:t>账户在 </a:t>
                      </a:r>
                      <a:r>
                        <a:rPr lang="en-US" altLang="zh-CN" sz="1400"/>
                        <a:t>(</a:t>
                      </a:r>
                      <a:r>
                        <a:rPr lang="zh-CN" altLang="en-US" sz="1400"/>
                        <a:t>结果</a:t>
                      </a:r>
                      <a:r>
                        <a:rPr lang="en-US" altLang="zh-CN" sz="1400"/>
                        <a:t>) 5 </a:t>
                      </a:r>
                      <a:r>
                        <a:rPr lang="zh-CN" altLang="en-US" sz="1400"/>
                        <a:t>次失败尝试后 </a:t>
                      </a:r>
                      <a:r>
                        <a:rPr lang="en-US" altLang="zh-CN" sz="1400"/>
                        <a:t>(</a:t>
                      </a:r>
                      <a:r>
                        <a:rPr lang="zh-CN" altLang="en-US" sz="1400"/>
                        <a:t>对象</a:t>
                      </a:r>
                      <a:r>
                        <a:rPr lang="en-US" altLang="zh-CN" sz="1400"/>
                        <a:t>/</a:t>
                      </a:r>
                      <a:r>
                        <a:rPr lang="zh-CN" altLang="en-US" sz="1400"/>
                        <a:t>条件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生成 </a:t>
                      </a:r>
                      <a:r>
                        <a:rPr lang="en-US" altLang="zh-CN" sz="1400"/>
                        <a:t>(</a:t>
                      </a:r>
                      <a:r>
                        <a:rPr lang="zh-CN" altLang="en-US" sz="1400"/>
                        <a:t>动作</a:t>
                      </a:r>
                      <a:r>
                        <a:rPr lang="en-US" altLang="zh-CN" sz="1400"/>
                        <a:t>) </a:t>
                      </a:r>
                      <a:r>
                        <a:rPr lang="zh-CN" altLang="en-US" sz="1400"/>
                        <a:t>临时登录会话令牌 </a:t>
                      </a:r>
                      <a:r>
                        <a:rPr lang="en-US" altLang="zh-CN" sz="1400"/>
                        <a:t>(</a:t>
                      </a:r>
                      <a:r>
                        <a:rPr lang="zh-CN" altLang="en-US" sz="1400"/>
                        <a:t>结果</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3095439939"/>
              </p:ext>
            </p:extLst>
          </p:nvPr>
        </p:nvGraphicFramePr>
        <p:xfrm>
          <a:off x="695326" y="2987380"/>
          <a:ext cx="10801348" cy="300257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400" dirty="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关键性 </a:t>
                      </a:r>
                      <a:r>
                        <a:rPr lang="en-US" sz="1400" dirty="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6257271"/>
                  </a:ext>
                </a:extLst>
              </a:tr>
              <a:tr h="480873">
                <a:tc>
                  <a:txBody>
                    <a:bodyPr/>
                    <a:lstStyle/>
                    <a:p>
                      <a:pPr algn="l">
                        <a:buNone/>
                      </a:pPr>
                      <a:r>
                        <a:rPr lang="en-US" sz="1400"/>
                        <a:t>Crystal Clear</a:t>
                      </a:r>
                      <a:br>
                        <a:rPr lang="en-US" sz="1400"/>
                      </a:br>
                      <a:r>
                        <a:rPr lang="zh-CN" altLang="en-US" sz="1400"/>
                        <a:t>透明水晶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 ~ 8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舒适型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最轻量级。几乎不需要文档，靠面对面沟通</a:t>
                      </a:r>
                      <a:endParaRPr lang="en-US" altLang="zh-CN" sz="1400"/>
                    </a:p>
                    <a:p>
                      <a:pPr algn="l">
                        <a:buNone/>
                      </a:pPr>
                      <a:r>
                        <a:rPr lang="zh-CN" altLang="en-US" sz="1400"/>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400"/>
                        <a:t>Crystal Yellow</a:t>
                      </a:r>
                      <a:br>
                        <a:rPr lang="en-US" sz="1400"/>
                      </a:br>
                      <a:r>
                        <a:rPr lang="zh-CN" altLang="en-US" sz="1400"/>
                        <a:t>黄水晶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10 ~ 20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 </a:t>
                      </a:r>
                      <a:r>
                        <a:rPr lang="en-US" altLang="zh-CN" sz="1400"/>
                        <a:t>(</a:t>
                      </a:r>
                      <a:r>
                        <a:rPr lang="zh-CN" altLang="en-US" sz="1400"/>
                        <a:t>重要型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需要少量的文档和定期的里程碑检查</a:t>
                      </a:r>
                      <a:endParaRPr lang="en-US" altLang="zh-CN" sz="1400"/>
                    </a:p>
                    <a:p>
                      <a:pPr algn="l">
                        <a:buNone/>
                      </a:pPr>
                      <a:r>
                        <a:rPr lang="zh-CN" altLang="en-US" sz="1400"/>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400"/>
                        <a:t>Crystal Orange</a:t>
                      </a:r>
                      <a:br>
                        <a:rPr lang="en-US" sz="1400"/>
                      </a:br>
                      <a:r>
                        <a:rPr lang="zh-CN" altLang="en-US" sz="1400"/>
                        <a:t>橙水晶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20 ~ 50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 </a:t>
                      </a:r>
                      <a:r>
                        <a:rPr lang="en-US" altLang="zh-CN" sz="1400"/>
                        <a:t>(</a:t>
                      </a:r>
                      <a:r>
                        <a:rPr lang="zh-CN" altLang="en-US" sz="1400"/>
                        <a:t>关键型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需要更正式的架构设计、详细的文档和严格的测试</a:t>
                      </a:r>
                      <a:endParaRPr lang="en-US" altLang="zh-CN" sz="1400"/>
                    </a:p>
                    <a:p>
                      <a:pPr algn="l">
                        <a:buNone/>
                      </a:pPr>
                      <a:r>
                        <a:rPr lang="zh-CN" altLang="en-US" sz="1400"/>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400"/>
                        <a:t>Crystal Red</a:t>
                      </a:r>
                      <a:br>
                        <a:rPr lang="en-US" sz="1400"/>
                      </a:br>
                      <a:r>
                        <a:rPr lang="zh-CN" altLang="en-US" sz="1400"/>
                        <a:t>红水晶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50 ~ 100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生命攸关</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非常严格，接近传统瀑布模型的严谨性，但保留敏捷迭代</a:t>
                      </a:r>
                      <a:endParaRPr lang="en-US" altLang="zh-CN" sz="1400"/>
                    </a:p>
                    <a:p>
                      <a:pPr algn="l">
                        <a:buNone/>
                      </a:pPr>
                      <a:r>
                        <a:rPr lang="zh-CN" altLang="en-US" sz="1400"/>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还有 </a:t>
                      </a:r>
                      <a:r>
                        <a:rPr lang="en-US" altLang="zh-CN" sz="1400" dirty="0"/>
                        <a:t>Diamond (</a:t>
                      </a:r>
                      <a:r>
                        <a:rPr lang="zh-CN" altLang="en-US" sz="1400" dirty="0"/>
                        <a:t>钻石</a:t>
                      </a:r>
                      <a:r>
                        <a:rPr lang="en-US" altLang="zh-CN" sz="1400" dirty="0"/>
                        <a:t>) </a:t>
                      </a:r>
                      <a:r>
                        <a:rPr lang="zh-CN" altLang="en-US" sz="1400" dirty="0"/>
                        <a:t>等更重的变体</a:t>
                      </a:r>
                      <a:endParaRPr lang="en-US" altLang="zh-CN" sz="1400" dirty="0"/>
                    </a:p>
                    <a:p>
                      <a:pPr algn="l">
                        <a:buNone/>
                      </a:pPr>
                      <a:r>
                        <a:rPr lang="zh-CN" altLang="en-US" sz="1400" dirty="0"/>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1235338980"/>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XP</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Crystal</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632227031"/>
                  </a:ext>
                </a:extLst>
              </a:tr>
              <a:tr h="640080">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流程框架 </a:t>
                      </a:r>
                      <a:r>
                        <a:rPr lang="en-US" altLang="zh-CN" sz="1400"/>
                        <a:t>(</a:t>
                      </a:r>
                      <a:r>
                        <a:rPr lang="zh-CN" altLang="en-US" sz="1400"/>
                        <a:t>角色、会议、工件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工程实践 </a:t>
                      </a:r>
                      <a:r>
                        <a:rPr lang="en-US" altLang="zh-CN" sz="1400"/>
                        <a:t>(</a:t>
                      </a:r>
                      <a:r>
                        <a:rPr lang="zh-CN" altLang="en-US" sz="1400"/>
                        <a:t>结对编程、</a:t>
                      </a:r>
                      <a:r>
                        <a:rPr lang="en-US" altLang="zh-CN" sz="1400"/>
                        <a:t>TDD</a:t>
                      </a:r>
                      <a:r>
                        <a:rPr lang="zh-CN" altLang="en-US" sz="1400"/>
                        <a:t>、重构</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 </a:t>
                      </a:r>
                      <a:r>
                        <a:rPr lang="en-US" altLang="zh-CN" sz="1400"/>
                        <a:t>(</a:t>
                      </a:r>
                      <a:r>
                        <a:rPr lang="zh-CN" altLang="en-US" sz="1400"/>
                        <a:t>根据情境调整</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400"/>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中等 </a:t>
                      </a:r>
                      <a:r>
                        <a:rPr lang="en-US" altLang="zh-CN" sz="1400"/>
                        <a:t>(</a:t>
                      </a:r>
                      <a:r>
                        <a:rPr lang="zh-CN" altLang="en-US" sz="1400"/>
                        <a:t>规则相对固定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必须遵守严格的技术实践</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没有固定规则，按需定制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400"/>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400"/>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适中 </a:t>
                      </a:r>
                      <a:r>
                        <a:rPr lang="en-US" altLang="zh-CN" sz="1400"/>
                        <a:t>(</a:t>
                      </a:r>
                      <a:r>
                        <a:rPr lang="en-US" sz="1400"/>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代码即文档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动态调整 </a:t>
                      </a:r>
                      <a:r>
                        <a:rPr lang="en-US" altLang="zh-CN" sz="1400"/>
                        <a:t>(Clear </a:t>
                      </a:r>
                      <a:r>
                        <a:rPr lang="zh-CN" altLang="en-US" sz="1400"/>
                        <a:t>几乎无文档，</a:t>
                      </a:r>
                      <a:r>
                        <a:rPr lang="en-US" altLang="zh-CN" sz="1400"/>
                        <a:t>Red </a:t>
                      </a:r>
                      <a:r>
                        <a:rPr lang="zh-CN" altLang="en-US" sz="1400"/>
                        <a:t>大量文档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400"/>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framework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visible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frequently and diligently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deviate outside acceptable limits</a:t>
            </a:r>
          </a:p>
          <a:p>
            <a:pPr lvl="1"/>
            <a:r>
              <a:rPr lang="en-US" altLang="zh-CN" dirty="0"/>
              <a:t>Case2</a:t>
            </a:r>
            <a:r>
              <a:rPr lang="zh-CN" altLang="en-US" dirty="0"/>
              <a:t>：</a:t>
            </a:r>
            <a:r>
              <a:rPr lang="en-US" altLang="zh-CN" dirty="0"/>
              <a:t>the resulting product is unacceptable</a:t>
            </a:r>
          </a:p>
          <a:p>
            <a:pPr lvl="1"/>
            <a:r>
              <a:rPr lang="en-US" altLang="zh-CN" dirty="0"/>
              <a:t>Case3</a:t>
            </a:r>
            <a:r>
              <a:rPr lang="zh-CN" altLang="en-US" dirty="0"/>
              <a:t>：</a:t>
            </a:r>
            <a:r>
              <a:rPr lang="en-US" altLang="zh-CN" dirty="0"/>
              <a:t>expected to adapt the moment it learns anything new through inspection</a:t>
            </a:r>
          </a:p>
          <a:p>
            <a:pPr lvl="1"/>
            <a:r>
              <a:rPr lang="en-US" altLang="zh-CN" dirty="0"/>
              <a:t>becomes more difficult when the people involved are not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9" name="内容占位符 8">
            <a:extLst>
              <a:ext uri="{FF2B5EF4-FFF2-40B4-BE49-F238E27FC236}">
                <a16:creationId xmlns:a16="http://schemas.microsoft.com/office/drawing/2014/main" id="{A23C3B99-CAF5-6029-433F-44B4D272855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所有与过程、工作、进展和挑战相关的信息必须对团队和干系人清晰可见</a:t>
              </a:r>
            </a:p>
            <a:p>
              <a:pPr marL="285750" indent="-285750" algn="just">
                <a:buFont typeface="Arial" panose="020B0604020202020204" pitchFamily="34" charset="0"/>
                <a:buChar char="•"/>
              </a:pPr>
              <a:r>
                <a:rPr lang="zh-CN" altLang="en-US" sz="1600"/>
                <a:t>工作项（如 </a:t>
              </a:r>
              <a:r>
                <a:rPr lang="en-US" altLang="zh-CN" sz="1600"/>
                <a:t>Product Backlog</a:t>
              </a:r>
              <a:r>
                <a:rPr lang="zh-CN" altLang="en-US" sz="1600"/>
                <a:t>）的内容、状态和优先级必须公开</a:t>
              </a:r>
            </a:p>
            <a:p>
              <a:pPr marL="285750" indent="-285750" algn="just">
                <a:buFont typeface="Arial" panose="020B0604020202020204" pitchFamily="34" charset="0"/>
                <a:buChar char="•"/>
              </a:pPr>
              <a:r>
                <a:rPr lang="zh-CN" altLang="en-US" sz="1600"/>
                <a:t>团队使用统一的术语（如完成定义 </a:t>
              </a:r>
              <a:r>
                <a:rPr lang="en-US" altLang="zh-CN" sz="1600"/>
                <a:t>- Definition of Done</a:t>
              </a:r>
              <a:r>
                <a:rPr lang="zh-CN" altLang="en-US" sz="1600"/>
                <a:t>）</a:t>
              </a:r>
            </a:p>
            <a:p>
              <a:pPr marL="285750" indent="-285750" algn="just">
                <a:buFont typeface="Arial" panose="020B0604020202020204" pitchFamily="34" charset="0"/>
                <a:buChar char="•"/>
              </a:pPr>
              <a:r>
                <a:rPr lang="zh-CN" altLang="en-US" sz="1600"/>
                <a:t>进度通过可视化工具（如 </a:t>
              </a:r>
              <a:r>
                <a:rPr lang="en-US" altLang="zh-CN" sz="1600"/>
                <a:t>Sprint Burndown Chart</a:t>
              </a:r>
              <a:r>
                <a:rPr lang="zh-CN" altLang="en-US" sz="1600"/>
                <a:t>、看板）展示</a:t>
              </a:r>
            </a:p>
            <a:p>
              <a:pPr marL="285750" indent="-285750" algn="just">
                <a:buFont typeface="Arial" panose="020B0604020202020204" pitchFamily="34" charset="0"/>
                <a:buChar char="•"/>
              </a:pPr>
              <a:r>
                <a:rPr lang="zh-CN" altLang="en-US" sz="1600"/>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基于检视结果，团队必须迅速调整行为、计划或方法</a:t>
              </a:r>
            </a:p>
            <a:p>
              <a:pPr marL="285750" indent="-285750" algn="just">
                <a:buFont typeface="Arial" panose="020B0604020202020204" pitchFamily="34" charset="0"/>
                <a:buChar char="•"/>
              </a:pPr>
              <a:r>
                <a:rPr lang="zh-CN" altLang="en-US" sz="1600"/>
                <a:t>如果发现产品方向偏离，可在下个 </a:t>
              </a:r>
              <a:r>
                <a:rPr lang="en-US" altLang="zh-CN" sz="1600"/>
                <a:t>Sprint </a:t>
              </a:r>
              <a:r>
                <a:rPr lang="zh-CN" altLang="en-US" sz="1600"/>
                <a:t>调整 </a:t>
              </a:r>
              <a:r>
                <a:rPr lang="en-US" altLang="zh-CN" sz="1600"/>
                <a:t>Backlog</a:t>
              </a:r>
              <a:endParaRPr lang="zh-CN" altLang="en-US" sz="1600"/>
            </a:p>
            <a:p>
              <a:pPr marL="285750" indent="-285750" algn="just">
                <a:buFont typeface="Arial" panose="020B0604020202020204" pitchFamily="34" charset="0"/>
                <a:buChar char="•"/>
              </a:pPr>
              <a:r>
                <a:rPr lang="zh-CN" altLang="en-US" sz="1600"/>
                <a:t>如果流程效率低，可在 </a:t>
              </a:r>
              <a:r>
                <a:rPr lang="en-US" altLang="zh-CN" sz="1600"/>
                <a:t>Retrospective </a:t>
              </a:r>
              <a:r>
                <a:rPr lang="zh-CN" altLang="en-US" sz="1600"/>
                <a:t>后改进工作方式</a:t>
              </a:r>
            </a:p>
            <a:p>
              <a:pPr marL="285750" indent="-285750" algn="just">
                <a:buFont typeface="Arial" panose="020B0604020202020204" pitchFamily="34" charset="0"/>
                <a:buChar char="•"/>
              </a:pPr>
              <a:r>
                <a:rPr lang="zh-CN" altLang="en-US" sz="1600"/>
                <a:t>适应必须在可接受的时间窗口内发生（通常在下一个 </a:t>
              </a:r>
              <a:r>
                <a:rPr lang="en-US" altLang="zh-CN" sz="1600"/>
                <a:t>Sprint </a:t>
              </a:r>
              <a:r>
                <a:rPr lang="zh-CN" altLang="en-US" sz="1600"/>
                <a:t>开始前）</a:t>
              </a:r>
            </a:p>
            <a:p>
              <a:pPr marL="285750" indent="-285750" algn="just">
                <a:buFont typeface="Arial" panose="020B0604020202020204" pitchFamily="34" charset="0"/>
                <a:buChar char="•"/>
              </a:pPr>
              <a:r>
                <a:rPr lang="zh-CN" altLang="en-US" sz="1600"/>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t>Scrum </a:t>
              </a:r>
              <a:r>
                <a:rPr lang="zh-CN" altLang="en-US" sz="1600"/>
                <a:t>团队定期检查产品、过程和计划，以识别偏差或改进机会</a:t>
              </a:r>
            </a:p>
            <a:p>
              <a:pPr marL="285750" indent="-285750" algn="just">
                <a:buFont typeface="Arial" panose="020B0604020202020204" pitchFamily="34" charset="0"/>
                <a:buChar char="•"/>
              </a:pPr>
              <a:r>
                <a:rPr lang="zh-CN" altLang="en-US" sz="1600"/>
                <a:t>在固定时间点进行：</a:t>
              </a:r>
            </a:p>
            <a:p>
              <a:pPr marL="285750" indent="-285750" algn="just">
                <a:buFont typeface="Arial" panose="020B0604020202020204" pitchFamily="34" charset="0"/>
                <a:buChar char="•"/>
              </a:pPr>
              <a:r>
                <a:rPr lang="en-US" altLang="zh-CN" sz="1600"/>
                <a:t>Daily Scrum</a:t>
              </a:r>
              <a:r>
                <a:rPr lang="zh-CN" altLang="en-US" sz="1600"/>
                <a:t>：每日检视进度与障碍</a:t>
              </a:r>
            </a:p>
            <a:p>
              <a:pPr marL="285750" indent="-285750" algn="just">
                <a:buFont typeface="Arial" panose="020B0604020202020204" pitchFamily="34" charset="0"/>
                <a:buChar char="•"/>
              </a:pPr>
              <a:r>
                <a:rPr lang="en-US" altLang="zh-CN" sz="1600"/>
                <a:t>Sprint Review</a:t>
              </a:r>
              <a:r>
                <a:rPr lang="zh-CN" altLang="en-US" sz="1600"/>
                <a:t>：检视可交付成果是否满足目标</a:t>
              </a:r>
            </a:p>
            <a:p>
              <a:pPr marL="285750" indent="-285750" algn="just">
                <a:buFont typeface="Arial" panose="020B0604020202020204" pitchFamily="34" charset="0"/>
                <a:buChar char="•"/>
              </a:pPr>
              <a:r>
                <a:rPr lang="en-US" altLang="zh-CN" sz="1600"/>
                <a:t>Sprint Retrospective</a:t>
              </a:r>
              <a:r>
                <a:rPr lang="zh-CN" altLang="en-US" sz="1600"/>
                <a:t>：检视流程与协作方式</a:t>
              </a:r>
            </a:p>
            <a:p>
              <a:pPr marL="285750" indent="-285750" algn="just">
                <a:buFont typeface="Arial" panose="020B0604020202020204" pitchFamily="34" charset="0"/>
                <a:buChar char="•"/>
              </a:pPr>
              <a:r>
                <a:rPr lang="zh-CN" altLang="en-US" sz="1600"/>
                <a:t>检视必须及时（不能等到项目结束），且不影响正常工作流</a:t>
              </a:r>
            </a:p>
            <a:p>
              <a:pPr marL="285750" indent="-285750" algn="just">
                <a:buFont typeface="Arial" panose="020B0604020202020204" pitchFamily="34" charset="0"/>
                <a:buChar char="•"/>
              </a:pPr>
              <a:r>
                <a:rPr lang="zh-CN" altLang="en-US" sz="1600"/>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a:t>2.6.2 </a:t>
            </a:r>
            <a:r>
              <a:rPr lang="zh-CN" altLang="en-US"/>
              <a:t>体系</a:t>
            </a:r>
          </a:p>
        </p:txBody>
      </p:sp>
      <p:sp>
        <p:nvSpPr>
          <p:cNvPr id="6" name="内容占位符 5">
            <a:extLst>
              <a:ext uri="{FF2B5EF4-FFF2-40B4-BE49-F238E27FC236}">
                <a16:creationId xmlns:a16="http://schemas.microsoft.com/office/drawing/2014/main" id="{B0E9FE06-6944-4C48-74FE-E10F4D876405}"/>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78934852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Items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96229957"/>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承诺 </a:t>
                      </a:r>
                      <a:r>
                        <a:rPr lang="en-US" altLang="zh-CN" sz="1600" dirty="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专注 </a:t>
                      </a:r>
                      <a:r>
                        <a:rPr lang="en-US" altLang="zh-CN" sz="1600" dirty="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开放</a:t>
                      </a:r>
                      <a:r>
                        <a:rPr lang="en-US" altLang="zh-CN" sz="1600" dirty="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尊重</a:t>
                      </a:r>
                      <a:r>
                        <a:rPr lang="en-US" altLang="zh-CN" sz="1600" dirty="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勇气</a:t>
                      </a:r>
                      <a:r>
                        <a:rPr lang="en-US" altLang="zh-CN" sz="1600" dirty="0"/>
                        <a:t> Courage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团队 </a:t>
                      </a:r>
                      <a:r>
                        <a:rPr lang="en-US" altLang="zh-CN" sz="1600"/>
                        <a:t>Team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开发者 </a:t>
                      </a:r>
                      <a:r>
                        <a:rPr lang="en-US" altLang="zh-CN" sz="160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产品负责人 </a:t>
                      </a:r>
                      <a:r>
                        <a:rPr lang="en-US" altLang="zh-CN" sz="160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敏捷教练 </a:t>
                      </a:r>
                      <a:r>
                        <a:rPr lang="en-US" altLang="zh-CN" sz="1600"/>
                        <a:t>Scrum Master</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事件 </a:t>
                      </a:r>
                      <a:r>
                        <a:rPr lang="en-US" altLang="zh-CN" sz="1600"/>
                        <a:t>Events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 </a:t>
                      </a:r>
                      <a:r>
                        <a:rPr lang="en-US" altLang="zh-CN" sz="1600"/>
                        <a:t>The Sprint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冲刺规划 </a:t>
                      </a:r>
                      <a:r>
                        <a:rPr lang="en-US" altLang="zh-CN" sz="1600"/>
                        <a:t>Sprint Planning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每日站会 </a:t>
                      </a:r>
                      <a:r>
                        <a:rPr lang="en-US" altLang="zh-CN" sz="1600"/>
                        <a:t>Daily Scrum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冲刺评审 </a:t>
                      </a:r>
                      <a:r>
                        <a:rPr lang="en-US" altLang="zh-CN" sz="1600"/>
                        <a:t>Sprint Review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冲刺回顾 </a:t>
                      </a:r>
                      <a:r>
                        <a:rPr lang="en-US" altLang="zh-CN" sz="1600"/>
                        <a:t>Sprint Retrospective </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工件 </a:t>
                      </a:r>
                      <a:r>
                        <a:rPr lang="en-US" altLang="zh-CN" sz="1600"/>
                        <a:t>Aircrafts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产品待办事项 </a:t>
                      </a:r>
                      <a:r>
                        <a:rPr lang="en-US" altLang="zh-CN" sz="1600" dirty="0"/>
                        <a:t>Product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迭代待办列表 </a:t>
                      </a:r>
                      <a:r>
                        <a:rPr lang="en-US" altLang="zh-CN" sz="1600" dirty="0"/>
                        <a:t>Sprint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增加 </a:t>
                      </a:r>
                      <a:r>
                        <a:rPr lang="en-US" altLang="zh-CN" sz="1600" dirty="0"/>
                        <a:t>Increment </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05196" y="5825192"/>
            <a:ext cx="2129109" cy="369332"/>
          </a:xfrm>
          <a:prstGeom prst="rect">
            <a:avLst/>
          </a:prstGeom>
          <a:noFill/>
        </p:spPr>
        <p:txBody>
          <a:bodyPr wrap="none" rtlCol="0">
            <a:spAutoFit/>
          </a:bodyPr>
          <a:lstStyle/>
          <a:p>
            <a:pPr algn="ctr"/>
            <a:r>
              <a:rPr lang="en-US" altLang="zh-CN"/>
              <a:t>Product Backlog</a:t>
            </a:r>
            <a:endParaRPr lang="zh-CN" altLang="en-US"/>
          </a:p>
        </p:txBody>
      </p:sp>
      <p:sp>
        <p:nvSpPr>
          <p:cNvPr id="16" name="文本框 15">
            <a:extLst>
              <a:ext uri="{FF2B5EF4-FFF2-40B4-BE49-F238E27FC236}">
                <a16:creationId xmlns:a16="http://schemas.microsoft.com/office/drawing/2014/main" id="{4262DDDD-FE14-AFB9-5B56-9B47A1F90D75}"/>
              </a:ext>
            </a:extLst>
          </p:cNvPr>
          <p:cNvSpPr txBox="1"/>
          <p:nvPr/>
        </p:nvSpPr>
        <p:spPr>
          <a:xfrm>
            <a:off x="3094375" y="5825192"/>
            <a:ext cx="1895071" cy="369332"/>
          </a:xfrm>
          <a:prstGeom prst="rect">
            <a:avLst/>
          </a:prstGeom>
          <a:noFill/>
        </p:spPr>
        <p:txBody>
          <a:bodyPr wrap="none" rtlCol="0">
            <a:spAutoFit/>
          </a:bodyPr>
          <a:lstStyle/>
          <a:p>
            <a:pPr algn="ctr"/>
            <a:r>
              <a:rPr lang="en-US" altLang="zh-CN"/>
              <a:t>Sprint Backlog</a:t>
            </a:r>
            <a:endParaRPr lang="zh-CN" altLang="en-US"/>
          </a:p>
        </p:txBody>
      </p:sp>
      <p:sp>
        <p:nvSpPr>
          <p:cNvPr id="19" name="文本框 18">
            <a:extLst>
              <a:ext uri="{FF2B5EF4-FFF2-40B4-BE49-F238E27FC236}">
                <a16:creationId xmlns:a16="http://schemas.microsoft.com/office/drawing/2014/main" id="{51C05E4B-16AF-EB18-51CD-5143A0C4944C}"/>
              </a:ext>
            </a:extLst>
          </p:cNvPr>
          <p:cNvSpPr txBox="1"/>
          <p:nvPr/>
        </p:nvSpPr>
        <p:spPr>
          <a:xfrm>
            <a:off x="7539040" y="5825192"/>
            <a:ext cx="1404552" cy="369332"/>
          </a:xfrm>
          <a:prstGeom prst="rect">
            <a:avLst/>
          </a:prstGeom>
          <a:noFill/>
        </p:spPr>
        <p:txBody>
          <a:bodyPr wrap="none" rtlCol="0">
            <a:spAutoFit/>
          </a:bodyPr>
          <a:lstStyle/>
          <a:p>
            <a:pPr algn="ctr"/>
            <a:r>
              <a:rPr lang="en-US" altLang="zh-CN"/>
              <a:t>Increment</a:t>
            </a:r>
            <a:endParaRPr lang="zh-CN" altLang="en-US"/>
          </a:p>
        </p:txBody>
      </p:sp>
      <p:sp>
        <p:nvSpPr>
          <p:cNvPr id="28" name="文本框 27">
            <a:extLst>
              <a:ext uri="{FF2B5EF4-FFF2-40B4-BE49-F238E27FC236}">
                <a16:creationId xmlns:a16="http://schemas.microsoft.com/office/drawing/2014/main" id="{5EA054E3-2D8B-30EB-1FB9-D427AB4834B5}"/>
              </a:ext>
            </a:extLst>
          </p:cNvPr>
          <p:cNvSpPr txBox="1"/>
          <p:nvPr/>
        </p:nvSpPr>
        <p:spPr>
          <a:xfrm>
            <a:off x="1886265" y="4433319"/>
            <a:ext cx="1992854" cy="369332"/>
          </a:xfrm>
          <a:prstGeom prst="rect">
            <a:avLst/>
          </a:prstGeom>
          <a:noFill/>
        </p:spPr>
        <p:txBody>
          <a:bodyPr wrap="none" rtlCol="0">
            <a:spAutoFit/>
          </a:bodyPr>
          <a:lstStyle/>
          <a:p>
            <a:pPr algn="ctr"/>
            <a:r>
              <a:rPr lang="en-US" altLang="zh-CN"/>
              <a:t>Sprint planning</a:t>
            </a:r>
            <a:endParaRPr lang="zh-CN" altLang="en-US"/>
          </a:p>
        </p:txBody>
      </p:sp>
      <p:sp>
        <p:nvSpPr>
          <p:cNvPr id="29" name="文本框 28">
            <a:extLst>
              <a:ext uri="{FF2B5EF4-FFF2-40B4-BE49-F238E27FC236}">
                <a16:creationId xmlns:a16="http://schemas.microsoft.com/office/drawing/2014/main" id="{A99EDA19-CDB9-E837-B15A-D53478C112FE}"/>
              </a:ext>
            </a:extLst>
          </p:cNvPr>
          <p:cNvSpPr txBox="1"/>
          <p:nvPr/>
        </p:nvSpPr>
        <p:spPr>
          <a:xfrm>
            <a:off x="9153193" y="5320601"/>
            <a:ext cx="1021434" cy="369332"/>
          </a:xfrm>
          <a:prstGeom prst="rect">
            <a:avLst/>
          </a:prstGeom>
          <a:noFill/>
        </p:spPr>
        <p:txBody>
          <a:bodyPr wrap="none" rtlCol="0">
            <a:spAutoFit/>
          </a:bodyPr>
          <a:lstStyle/>
          <a:p>
            <a:pPr algn="ctr"/>
            <a:r>
              <a:rPr lang="en-US" altLang="zh-CN"/>
              <a:t>Review</a:t>
            </a:r>
            <a:endParaRPr lang="zh-CN" altLang="en-US"/>
          </a:p>
        </p:txBody>
      </p:sp>
      <p:sp>
        <p:nvSpPr>
          <p:cNvPr id="54" name="文本框 53">
            <a:extLst>
              <a:ext uri="{FF2B5EF4-FFF2-40B4-BE49-F238E27FC236}">
                <a16:creationId xmlns:a16="http://schemas.microsoft.com/office/drawing/2014/main" id="{8CB15623-04C7-DD26-E5DC-1D79846BF18D}"/>
              </a:ext>
            </a:extLst>
          </p:cNvPr>
          <p:cNvSpPr txBox="1"/>
          <p:nvPr/>
        </p:nvSpPr>
        <p:spPr>
          <a:xfrm>
            <a:off x="5046578" y="3507896"/>
            <a:ext cx="1622560" cy="646331"/>
          </a:xfrm>
          <a:prstGeom prst="rect">
            <a:avLst/>
          </a:prstGeom>
          <a:noFill/>
        </p:spPr>
        <p:txBody>
          <a:bodyPr wrap="none" rtlCol="0">
            <a:spAutoFit/>
          </a:bodyPr>
          <a:lstStyle/>
          <a:p>
            <a:pPr algn="ctr"/>
            <a:r>
              <a:rPr lang="en-US" altLang="zh-CN"/>
              <a:t>Sprint</a:t>
            </a:r>
          </a:p>
          <a:p>
            <a:pPr algn="ctr"/>
            <a:r>
              <a:rPr lang="en-US" altLang="zh-CN"/>
              <a:t>2 to 4 weeks</a:t>
            </a:r>
            <a:endParaRPr lang="zh-CN" altLang="en-US"/>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52431" y="2514197"/>
            <a:ext cx="862737" cy="369332"/>
          </a:xfrm>
          <a:prstGeom prst="rect">
            <a:avLst/>
          </a:prstGeom>
          <a:noFill/>
        </p:spPr>
        <p:txBody>
          <a:bodyPr wrap="none" rtlCol="0">
            <a:spAutoFit/>
          </a:bodyPr>
          <a:lstStyle/>
          <a:p>
            <a:pPr algn="ctr"/>
            <a:r>
              <a:rPr lang="en-US" altLang="zh-CN"/>
              <a:t>15min</a:t>
            </a:r>
            <a:endParaRPr lang="zh-CN" altLang="en-US"/>
          </a:p>
        </p:txBody>
      </p:sp>
      <p:sp>
        <p:nvSpPr>
          <p:cNvPr id="17" name="文本框 16">
            <a:extLst>
              <a:ext uri="{FF2B5EF4-FFF2-40B4-BE49-F238E27FC236}">
                <a16:creationId xmlns:a16="http://schemas.microsoft.com/office/drawing/2014/main" id="{563A674A-A145-FECB-1FF2-11714DBBF3F7}"/>
              </a:ext>
            </a:extLst>
          </p:cNvPr>
          <p:cNvSpPr txBox="1"/>
          <p:nvPr/>
        </p:nvSpPr>
        <p:spPr>
          <a:xfrm>
            <a:off x="10389416" y="5320601"/>
            <a:ext cx="1779654" cy="369332"/>
          </a:xfrm>
          <a:prstGeom prst="rect">
            <a:avLst/>
          </a:prstGeom>
          <a:noFill/>
        </p:spPr>
        <p:txBody>
          <a:bodyPr wrap="none" rtlCol="0">
            <a:spAutoFit/>
          </a:bodyPr>
          <a:lstStyle/>
          <a:p>
            <a:pPr algn="ctr"/>
            <a:r>
              <a:rPr lang="en-US" altLang="zh-CN"/>
              <a:t>Retrospective</a:t>
            </a:r>
            <a:endParaRPr lang="zh-CN" altLang="en-US"/>
          </a:p>
        </p:txBody>
      </p:sp>
      <p:sp>
        <p:nvSpPr>
          <p:cNvPr id="32" name="文本框 31">
            <a:extLst>
              <a:ext uri="{FF2B5EF4-FFF2-40B4-BE49-F238E27FC236}">
                <a16:creationId xmlns:a16="http://schemas.microsoft.com/office/drawing/2014/main" id="{95F543A5-685E-23F0-388A-B0E3AC76F149}"/>
              </a:ext>
            </a:extLst>
          </p:cNvPr>
          <p:cNvSpPr txBox="1"/>
          <p:nvPr/>
        </p:nvSpPr>
        <p:spPr>
          <a:xfrm>
            <a:off x="5205552" y="1734851"/>
            <a:ext cx="1558440" cy="369332"/>
          </a:xfrm>
          <a:prstGeom prst="rect">
            <a:avLst/>
          </a:prstGeom>
          <a:noFill/>
        </p:spPr>
        <p:txBody>
          <a:bodyPr wrap="none" rtlCol="0">
            <a:spAutoFit/>
          </a:bodyPr>
          <a:lstStyle/>
          <a:p>
            <a:pPr algn="ctr"/>
            <a:r>
              <a:rPr lang="en-US" altLang="zh-CN"/>
              <a:t>Daily scrum</a:t>
            </a:r>
            <a:endParaRPr lang="zh-CN" altLang="en-US"/>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175716" y="2297887"/>
            <a:ext cx="1011815" cy="369332"/>
          </a:xfrm>
          <a:prstGeom prst="rect">
            <a:avLst/>
          </a:prstGeom>
          <a:noFill/>
        </p:spPr>
        <p:txBody>
          <a:bodyPr wrap="none" rtlCol="0">
            <a:spAutoFit/>
          </a:bodyPr>
          <a:lstStyle/>
          <a:p>
            <a:pPr algn="ctr"/>
            <a:r>
              <a:rPr lang="en-US" altLang="zh-CN"/>
              <a:t>SM/PM</a:t>
            </a:r>
            <a:endParaRPr lang="zh-CN" altLang="en-US"/>
          </a:p>
        </p:txBody>
      </p:sp>
      <p:sp>
        <p:nvSpPr>
          <p:cNvPr id="51" name="文本框 50">
            <a:extLst>
              <a:ext uri="{FF2B5EF4-FFF2-40B4-BE49-F238E27FC236}">
                <a16:creationId xmlns:a16="http://schemas.microsoft.com/office/drawing/2014/main" id="{A29F0030-8404-5B6F-5078-F5171BA0A0BA}"/>
              </a:ext>
            </a:extLst>
          </p:cNvPr>
          <p:cNvSpPr txBox="1"/>
          <p:nvPr/>
        </p:nvSpPr>
        <p:spPr>
          <a:xfrm>
            <a:off x="319055" y="5368433"/>
            <a:ext cx="543740" cy="369332"/>
          </a:xfrm>
          <a:prstGeom prst="rect">
            <a:avLst/>
          </a:prstGeom>
          <a:noFill/>
        </p:spPr>
        <p:txBody>
          <a:bodyPr wrap="none" rtlCol="0">
            <a:spAutoFit/>
          </a:bodyPr>
          <a:lstStyle/>
          <a:p>
            <a:pPr algn="ctr"/>
            <a:r>
              <a:rPr lang="en-US" altLang="zh-CN"/>
              <a:t>PO</a:t>
            </a:r>
            <a:endParaRPr lang="zh-CN" altLang="en-US"/>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09237" y="5092484"/>
            <a:ext cx="1375698" cy="369332"/>
          </a:xfrm>
          <a:prstGeom prst="rect">
            <a:avLst/>
          </a:prstGeom>
          <a:noFill/>
        </p:spPr>
        <p:txBody>
          <a:bodyPr wrap="none" rtlCol="0">
            <a:spAutoFit/>
          </a:bodyPr>
          <a:lstStyle/>
          <a:p>
            <a:pPr algn="ctr"/>
            <a:r>
              <a:rPr lang="en-US" altLang="zh-CN"/>
              <a:t>Developer</a:t>
            </a:r>
            <a:endParaRPr lang="zh-CN" altLang="en-US"/>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07903" y="2909736"/>
              <a:ext cx="1774845" cy="646331"/>
            </a:xfrm>
            <a:prstGeom prst="rect">
              <a:avLst/>
            </a:prstGeom>
            <a:noFill/>
          </p:spPr>
          <p:txBody>
            <a:bodyPr wrap="none" rtlCol="0">
              <a:spAutoFit/>
            </a:bodyPr>
            <a:lstStyle/>
            <a:p>
              <a:pPr algn="ctr"/>
              <a:r>
                <a:rPr lang="en-US" altLang="zh-CN"/>
                <a:t>Commitment</a:t>
              </a:r>
            </a:p>
            <a:p>
              <a:pPr algn="ctr"/>
              <a:r>
                <a:rPr lang="zh-CN" altLang="en-US"/>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1</a:t>
              </a:r>
              <a:endParaRPr lang="zh-CN" altLang="en-US"/>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59148" y="2909736"/>
              <a:ext cx="872355" cy="646331"/>
            </a:xfrm>
            <a:prstGeom prst="rect">
              <a:avLst/>
            </a:prstGeom>
            <a:noFill/>
          </p:spPr>
          <p:txBody>
            <a:bodyPr wrap="none" rtlCol="0">
              <a:spAutoFit/>
            </a:bodyPr>
            <a:lstStyle/>
            <a:p>
              <a:pPr algn="ctr"/>
              <a:r>
                <a:rPr lang="en-US" altLang="zh-CN"/>
                <a:t>Focus</a:t>
              </a:r>
            </a:p>
            <a:p>
              <a:pPr algn="ctr"/>
              <a:r>
                <a:rPr lang="zh-CN" altLang="en-US"/>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2</a:t>
              </a:r>
              <a:endParaRPr lang="zh-CN" altLang="en-US"/>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20301" y="2909736"/>
              <a:ext cx="1350050" cy="646331"/>
            </a:xfrm>
            <a:prstGeom prst="rect">
              <a:avLst/>
            </a:prstGeom>
            <a:noFill/>
          </p:spPr>
          <p:txBody>
            <a:bodyPr wrap="none" rtlCol="0">
              <a:spAutoFit/>
            </a:bodyPr>
            <a:lstStyle/>
            <a:p>
              <a:pPr algn="ctr"/>
              <a:r>
                <a:rPr lang="en-US" altLang="zh-CN"/>
                <a:t>Openness</a:t>
              </a:r>
            </a:p>
            <a:p>
              <a:pPr algn="ctr"/>
              <a:r>
                <a:rPr lang="zh-CN" altLang="en-US"/>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3</a:t>
              </a:r>
              <a:endParaRPr lang="zh-CN" altLang="en-US"/>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34114" y="2909736"/>
              <a:ext cx="1122422" cy="646331"/>
            </a:xfrm>
            <a:prstGeom prst="rect">
              <a:avLst/>
            </a:prstGeom>
            <a:noFill/>
          </p:spPr>
          <p:txBody>
            <a:bodyPr wrap="none" rtlCol="0">
              <a:spAutoFit/>
            </a:bodyPr>
            <a:lstStyle/>
            <a:p>
              <a:pPr algn="ctr"/>
              <a:r>
                <a:rPr lang="en-US" altLang="zh-CN"/>
                <a:t>Respect</a:t>
              </a:r>
            </a:p>
            <a:p>
              <a:pPr algn="ctr"/>
              <a:r>
                <a:rPr lang="zh-CN" altLang="en-US"/>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4</a:t>
              </a:r>
              <a:endParaRPr lang="zh-CN" altLang="en-US"/>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06061" y="2909736"/>
              <a:ext cx="1178528" cy="646331"/>
            </a:xfrm>
            <a:prstGeom prst="rect">
              <a:avLst/>
            </a:prstGeom>
            <a:noFill/>
          </p:spPr>
          <p:txBody>
            <a:bodyPr wrap="none" rtlCol="0">
              <a:spAutoFit/>
            </a:bodyPr>
            <a:lstStyle/>
            <a:p>
              <a:pPr algn="ctr"/>
              <a:r>
                <a:rPr lang="en-US" altLang="zh-CN"/>
                <a:t>Courage</a:t>
              </a:r>
              <a:endParaRPr lang="zh-CN" altLang="en-US"/>
            </a:p>
            <a:p>
              <a:pPr algn="ctr"/>
              <a:r>
                <a:rPr lang="zh-CN" altLang="en-US"/>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5</a:t>
              </a:r>
              <a:endParaRPr lang="zh-CN" altLang="en-US"/>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695998"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695998"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00B0F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t>- </a:t>
            </a:r>
            <a:r>
              <a:rPr lang="zh-CN" altLang="en-US"/>
              <a:t>服务 </a:t>
            </a:r>
            <a:r>
              <a:rPr lang="en-US" altLang="zh-CN"/>
              <a:t>Scrum Team</a:t>
            </a:r>
            <a:endParaRPr lang="zh-CN" altLang="en-US"/>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t>- </a:t>
            </a:r>
            <a:r>
              <a:rPr lang="zh-CN" altLang="en-US"/>
              <a:t>服务 </a:t>
            </a:r>
            <a:r>
              <a:rPr lang="en-US" altLang="zh-CN" dirty="0"/>
              <a:t>Product Owner</a:t>
            </a:r>
            <a:endParaRPr lang="zh-CN" altLang="en-US" dirty="0"/>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enact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t>- </a:t>
            </a:r>
            <a:r>
              <a:rPr lang="zh-CN" altLang="en-US"/>
              <a:t>服务 </a:t>
            </a:r>
            <a:r>
              <a:rPr lang="en-US" altLang="zh-CN" dirty="0"/>
              <a:t>organization</a:t>
            </a:r>
            <a:endParaRPr lang="zh-CN" altLang="en-US" dirty="0"/>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116BFEF-FC7D-0BB1-8D19-2FAF78636823}"/>
              </a:ext>
            </a:extLst>
          </p:cNvPr>
          <p:cNvSpPr txBox="1"/>
          <p:nvPr/>
        </p:nvSpPr>
        <p:spPr>
          <a:xfrm>
            <a:off x="3866864" y="3136612"/>
            <a:ext cx="4458272" cy="584775"/>
          </a:xfrm>
          <a:prstGeom prst="rect">
            <a:avLst/>
          </a:prstGeom>
          <a:noFill/>
        </p:spPr>
        <p:txBody>
          <a:bodyPr wrap="none" rtlCol="0">
            <a:spAutoFit/>
          </a:bodyPr>
          <a:lstStyle/>
          <a:p>
            <a:pPr algn="l"/>
            <a:r>
              <a:rPr lang="en-US" altLang="zh-CN" sz="1600" dirty="0"/>
              <a:t>PO</a:t>
            </a:r>
            <a:r>
              <a:rPr lang="zh-CN" altLang="en-US" sz="1600" dirty="0"/>
              <a:t>：只对产品的“内容”和“价值”负责。</a:t>
            </a:r>
          </a:p>
          <a:p>
            <a:pPr algn="l"/>
            <a:r>
              <a:rPr lang="en-US" altLang="zh-CN" sz="1600" dirty="0"/>
              <a:t>PM</a:t>
            </a:r>
            <a:r>
              <a:rPr lang="zh-CN" altLang="en-US" sz="1600" dirty="0"/>
              <a:t>：只对项目的“进度”、“资源”和“流程”负责。</a:t>
            </a:r>
          </a:p>
        </p:txBody>
      </p:sp>
    </p:spTree>
    <p:extLst>
      <p:ext uri="{BB962C8B-B14F-4D97-AF65-F5344CB8AC3E}">
        <p14:creationId xmlns:p14="http://schemas.microsoft.com/office/powerpoint/2010/main" val="23546640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t>形成</a:t>
            </a:r>
            <a:endParaRPr lang="en-US" altLang="zh-CN"/>
          </a:p>
          <a:p>
            <a:r>
              <a:rPr lang="en-US" altLang="zh-CN"/>
              <a:t>Forming</a:t>
            </a:r>
            <a:endParaRPr lang="zh-CN" altLang="en-US"/>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t>指导</a:t>
            </a:r>
            <a:endParaRPr lang="en-US" altLang="zh-CN"/>
          </a:p>
          <a:p>
            <a:r>
              <a:rPr lang="en-US" altLang="zh-CN"/>
              <a:t>Guiding</a:t>
            </a: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t>震荡</a:t>
            </a:r>
            <a:endParaRPr lang="en-US" altLang="zh-CN"/>
          </a:p>
          <a:p>
            <a:r>
              <a:rPr lang="en-US" altLang="zh-CN"/>
              <a:t>Storming</a:t>
            </a:r>
            <a:endParaRPr lang="zh-CN" altLang="en-US"/>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t>教练</a:t>
            </a:r>
            <a:endParaRPr lang="en-US" altLang="zh-CN"/>
          </a:p>
          <a:p>
            <a:r>
              <a:rPr lang="en-US" altLang="zh-CN"/>
              <a:t>Coaching</a:t>
            </a: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t>规范</a:t>
            </a:r>
            <a:endParaRPr lang="en-US" altLang="zh-CN"/>
          </a:p>
          <a:p>
            <a:r>
              <a:rPr lang="en-US" altLang="zh-CN"/>
              <a:t>Norming</a:t>
            </a:r>
            <a:endParaRPr lang="zh-CN" altLang="en-US"/>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t>参与</a:t>
            </a:r>
            <a:endParaRPr lang="en-US" altLang="zh-CN"/>
          </a:p>
          <a:p>
            <a:r>
              <a:rPr lang="en-US" altLang="zh-CN"/>
              <a:t>Participating </a:t>
            </a: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t>成熟</a:t>
            </a:r>
            <a:endParaRPr lang="en-US" altLang="zh-CN"/>
          </a:p>
          <a:p>
            <a:r>
              <a:rPr lang="en-US" altLang="zh-CN"/>
              <a:t>Performing</a:t>
            </a:r>
            <a:endParaRPr lang="zh-CN" altLang="en-US"/>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t>授权</a:t>
            </a:r>
            <a:endParaRPr lang="en-US" altLang="zh-CN"/>
          </a:p>
          <a:p>
            <a:r>
              <a:rPr lang="en-US" altLang="zh-CN"/>
              <a:t>Empowering</a:t>
            </a: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t>解散</a:t>
            </a:r>
            <a:endParaRPr lang="en-US" altLang="zh-CN"/>
          </a:p>
          <a:p>
            <a:r>
              <a:rPr lang="en-US" altLang="zh-CN"/>
              <a:t>Adjourning</a:t>
            </a:r>
            <a:endParaRPr lang="zh-CN" altLang="en-US"/>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Sprint</a:t>
            </a:r>
            <a:endParaRPr lang="zh-CN" altLang="en-US" sz="16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冲刺</a:t>
            </a:r>
            <a:endParaRPr lang="en-US" altLang="zh-CN" sz="1600"/>
          </a:p>
          <a:p>
            <a:pPr marL="0" lvl="0" indent="0" algn="l" defTabSz="711200">
              <a:lnSpc>
                <a:spcPct val="90000"/>
              </a:lnSpc>
              <a:spcBef>
                <a:spcPct val="0"/>
              </a:spcBef>
              <a:spcAft>
                <a:spcPct val="35000"/>
              </a:spcAft>
              <a:buNone/>
            </a:pPr>
            <a:r>
              <a:rPr lang="zh-CN" altLang="en-US" sz="1600"/>
              <a:t>容器</a:t>
            </a:r>
            <a:endParaRPr lang="en-US" altLang="zh-CN" sz="1600"/>
          </a:p>
          <a:p>
            <a:pPr marL="0" lvl="0" indent="0" algn="l" defTabSz="711200">
              <a:lnSpc>
                <a:spcPct val="90000"/>
              </a:lnSpc>
              <a:spcBef>
                <a:spcPct val="0"/>
              </a:spcBef>
              <a:spcAft>
                <a:spcPct val="35000"/>
              </a:spcAft>
              <a:buNone/>
            </a:pPr>
            <a:r>
              <a:rPr lang="zh-CN" altLang="en-US" sz="1600"/>
              <a:t>时间盒 </a:t>
            </a:r>
            <a:r>
              <a:rPr lang="en-US" altLang="zh-CN" sz="1600"/>
              <a:t>Time-box</a:t>
            </a:r>
          </a:p>
          <a:p>
            <a:pPr defTabSz="711200">
              <a:lnSpc>
                <a:spcPct val="90000"/>
              </a:lnSpc>
              <a:spcBef>
                <a:spcPct val="0"/>
              </a:spcBef>
              <a:spcAft>
                <a:spcPct val="35000"/>
              </a:spcAft>
            </a:pPr>
            <a:r>
              <a:rPr lang="en-US" altLang="zh-CN" sz="1600"/>
              <a:t>PO </a:t>
            </a:r>
            <a:r>
              <a:rPr lang="zh-CN" altLang="en-US" sz="1600"/>
              <a:t>可以取消冲刺</a:t>
            </a:r>
          </a:p>
          <a:p>
            <a:pPr marL="0" lvl="0" indent="0" algn="l" defTabSz="711200">
              <a:lnSpc>
                <a:spcPct val="90000"/>
              </a:lnSpc>
              <a:spcBef>
                <a:spcPct val="0"/>
              </a:spcBef>
              <a:spcAft>
                <a:spcPct val="35000"/>
              </a:spcAft>
              <a:buNone/>
            </a:pPr>
            <a:r>
              <a:rPr lang="en-US" altLang="zh-CN" sz="1600"/>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Spring Planning</a:t>
            </a:r>
            <a:endParaRPr lang="zh-CN" altLang="en-US" sz="16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规划</a:t>
            </a:r>
            <a:endParaRPr lang="en-US" altLang="zh-CN" sz="1600"/>
          </a:p>
          <a:p>
            <a:pPr marL="0" lvl="0" indent="0" algn="l" defTabSz="711200">
              <a:lnSpc>
                <a:spcPct val="90000"/>
              </a:lnSpc>
              <a:spcBef>
                <a:spcPct val="0"/>
              </a:spcBef>
              <a:spcAft>
                <a:spcPct val="35000"/>
              </a:spcAft>
              <a:buNone/>
            </a:pPr>
            <a:r>
              <a:rPr lang="zh-CN" altLang="en-US" sz="1600"/>
              <a:t>会议</a:t>
            </a:r>
            <a:endParaRPr lang="en-US" altLang="zh-CN" sz="1600"/>
          </a:p>
          <a:p>
            <a:pPr lvl="0" defTabSz="711200">
              <a:lnSpc>
                <a:spcPct val="90000"/>
              </a:lnSpc>
              <a:spcBef>
                <a:spcPct val="0"/>
              </a:spcBef>
              <a:spcAft>
                <a:spcPct val="35000"/>
              </a:spcAft>
            </a:pPr>
            <a:r>
              <a:rPr lang="zh-CN" altLang="en-US" sz="1600"/>
              <a:t>第一个事件</a:t>
            </a:r>
            <a:endParaRPr lang="en-US" altLang="zh-CN" sz="1600"/>
          </a:p>
          <a:p>
            <a:pPr lvl="0" defTabSz="711200">
              <a:lnSpc>
                <a:spcPct val="90000"/>
              </a:lnSpc>
              <a:spcBef>
                <a:spcPct val="0"/>
              </a:spcBef>
              <a:spcAft>
                <a:spcPct val="35000"/>
              </a:spcAft>
            </a:pPr>
            <a:r>
              <a:rPr lang="en-US" altLang="zh-CN" sz="1600"/>
              <a:t>Why </a:t>
            </a:r>
            <a:r>
              <a:rPr lang="zh-CN" altLang="en-US" sz="1600"/>
              <a:t>为什么</a:t>
            </a:r>
            <a:endParaRPr lang="en-US" altLang="zh-CN" sz="1600"/>
          </a:p>
          <a:p>
            <a:pPr lvl="0" defTabSz="711200">
              <a:lnSpc>
                <a:spcPct val="90000"/>
              </a:lnSpc>
              <a:spcBef>
                <a:spcPct val="0"/>
              </a:spcBef>
              <a:spcAft>
                <a:spcPct val="35000"/>
              </a:spcAft>
            </a:pPr>
            <a:r>
              <a:rPr lang="en-US" altLang="zh-CN" sz="1600"/>
              <a:t>What </a:t>
            </a:r>
            <a:r>
              <a:rPr lang="zh-CN" altLang="en-US" sz="1600"/>
              <a:t>做什么</a:t>
            </a:r>
            <a:endParaRPr lang="en-US" altLang="zh-CN" sz="1600"/>
          </a:p>
          <a:p>
            <a:pPr lvl="0" defTabSz="711200">
              <a:lnSpc>
                <a:spcPct val="90000"/>
              </a:lnSpc>
              <a:spcBef>
                <a:spcPct val="0"/>
              </a:spcBef>
              <a:spcAft>
                <a:spcPct val="35000"/>
              </a:spcAft>
            </a:pPr>
            <a:r>
              <a:rPr lang="en-US" altLang="zh-CN" sz="1600"/>
              <a:t>How </a:t>
            </a:r>
            <a:r>
              <a:rPr lang="zh-CN" altLang="en-US" sz="1600"/>
              <a:t>如何做</a:t>
            </a:r>
            <a:endParaRPr lang="en-US" altLang="zh-CN" sz="1600"/>
          </a:p>
          <a:p>
            <a:pPr marL="0" lvl="0" indent="0" algn="l" defTabSz="711200">
              <a:lnSpc>
                <a:spcPct val="90000"/>
              </a:lnSpc>
              <a:spcBef>
                <a:spcPct val="0"/>
              </a:spcBef>
              <a:spcAft>
                <a:spcPct val="35000"/>
              </a:spcAft>
              <a:buNone/>
            </a:pPr>
            <a:r>
              <a:rPr lang="en-US" altLang="zh-CN" sz="1600"/>
              <a:t>8h</a:t>
            </a:r>
          </a:p>
          <a:p>
            <a:pPr marL="0" lvl="0" indent="0" algn="l" defTabSz="711200">
              <a:lnSpc>
                <a:spcPct val="90000"/>
              </a:lnSpc>
              <a:spcBef>
                <a:spcPct val="0"/>
              </a:spcBef>
              <a:spcAft>
                <a:spcPct val="35000"/>
              </a:spcAft>
              <a:buNone/>
            </a:pPr>
            <a:endParaRPr lang="en-US" altLang="zh-CN" sz="1600"/>
          </a:p>
          <a:p>
            <a:pPr marL="0" lvl="0" indent="0" algn="l" defTabSz="711200">
              <a:lnSpc>
                <a:spcPct val="90000"/>
              </a:lnSpc>
              <a:spcBef>
                <a:spcPct val="0"/>
              </a:spcBef>
              <a:spcAft>
                <a:spcPct val="35000"/>
              </a:spcAft>
              <a:buNone/>
            </a:pPr>
            <a:endParaRPr lang="zh-CN" altLang="en-US" sz="1600"/>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Daily Scrum</a:t>
            </a:r>
            <a:endParaRPr lang="zh-CN" altLang="en-US" sz="16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每日站会</a:t>
            </a:r>
            <a:endParaRPr lang="en-US" altLang="zh-CN" sz="1600"/>
          </a:p>
          <a:p>
            <a:pPr lvl="0" defTabSz="711200">
              <a:lnSpc>
                <a:spcPct val="90000"/>
              </a:lnSpc>
              <a:spcBef>
                <a:spcPct val="0"/>
              </a:spcBef>
              <a:spcAft>
                <a:spcPct val="35000"/>
              </a:spcAft>
            </a:pPr>
            <a:r>
              <a:rPr lang="zh-CN" altLang="en-US" sz="1600"/>
              <a:t>固定时间和地点</a:t>
            </a:r>
            <a:endParaRPr lang="en-US" altLang="zh-CN" sz="1600"/>
          </a:p>
          <a:p>
            <a:pPr lvl="0" defTabSz="711200">
              <a:lnSpc>
                <a:spcPct val="90000"/>
              </a:lnSpc>
              <a:spcBef>
                <a:spcPct val="0"/>
              </a:spcBef>
              <a:spcAft>
                <a:spcPct val="35000"/>
              </a:spcAft>
            </a:pPr>
            <a:r>
              <a:rPr lang="zh-CN" altLang="en-US" sz="1600"/>
              <a:t>检查进度</a:t>
            </a:r>
            <a:endParaRPr lang="en-US" altLang="zh-CN" sz="1600"/>
          </a:p>
          <a:p>
            <a:pPr lvl="0" defTabSz="711200">
              <a:lnSpc>
                <a:spcPct val="90000"/>
              </a:lnSpc>
              <a:spcBef>
                <a:spcPct val="0"/>
              </a:spcBef>
              <a:spcAft>
                <a:spcPct val="35000"/>
              </a:spcAft>
            </a:pPr>
            <a:r>
              <a:rPr lang="zh-CN" altLang="en-US" sz="1600"/>
              <a:t>同步信息</a:t>
            </a:r>
            <a:endParaRPr lang="en-US" altLang="zh-CN" sz="1600"/>
          </a:p>
          <a:p>
            <a:pPr lvl="0" defTabSz="711200">
              <a:lnSpc>
                <a:spcPct val="90000"/>
              </a:lnSpc>
              <a:spcBef>
                <a:spcPct val="0"/>
              </a:spcBef>
              <a:spcAft>
                <a:spcPct val="35000"/>
              </a:spcAft>
            </a:pPr>
            <a:r>
              <a:rPr lang="zh-CN" altLang="en-US" sz="1600"/>
              <a:t>调整计划及工作</a:t>
            </a:r>
          </a:p>
          <a:p>
            <a:pPr marL="0" lvl="0" indent="0" algn="l" defTabSz="711200">
              <a:lnSpc>
                <a:spcPct val="90000"/>
              </a:lnSpc>
              <a:spcBef>
                <a:spcPct val="0"/>
              </a:spcBef>
              <a:spcAft>
                <a:spcPct val="35000"/>
              </a:spcAft>
              <a:buNone/>
            </a:pPr>
            <a:r>
              <a:rPr lang="en-US" altLang="zh-CN" sz="1600"/>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Review</a:t>
            </a:r>
            <a:endParaRPr lang="zh-CN" altLang="en-US" sz="16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评审</a:t>
            </a:r>
            <a:endParaRPr lang="en-US" altLang="zh-CN" sz="1600"/>
          </a:p>
          <a:p>
            <a:pPr marL="0" lvl="0" indent="0" algn="l" defTabSz="711200">
              <a:lnSpc>
                <a:spcPct val="90000"/>
              </a:lnSpc>
              <a:spcBef>
                <a:spcPct val="0"/>
              </a:spcBef>
              <a:spcAft>
                <a:spcPct val="35000"/>
              </a:spcAft>
              <a:buNone/>
            </a:pPr>
            <a:r>
              <a:rPr lang="zh-CN" altLang="en-US" sz="1600"/>
              <a:t>监视冲刺成果</a:t>
            </a:r>
            <a:endParaRPr lang="en-US" altLang="zh-CN" sz="1600"/>
          </a:p>
          <a:p>
            <a:pPr marL="0" lvl="0" indent="0" algn="l" defTabSz="711200">
              <a:lnSpc>
                <a:spcPct val="90000"/>
              </a:lnSpc>
              <a:spcBef>
                <a:spcPct val="0"/>
              </a:spcBef>
              <a:spcAft>
                <a:spcPct val="35000"/>
              </a:spcAft>
              <a:buNone/>
            </a:pPr>
            <a:r>
              <a:rPr lang="zh-CN" altLang="en-US" sz="1600"/>
              <a:t>搜集反馈</a:t>
            </a:r>
            <a:endParaRPr lang="en-US" altLang="zh-CN" sz="1600"/>
          </a:p>
          <a:p>
            <a:pPr marL="0" lvl="0" indent="0" algn="l" defTabSz="711200">
              <a:lnSpc>
                <a:spcPct val="90000"/>
              </a:lnSpc>
              <a:spcBef>
                <a:spcPct val="0"/>
              </a:spcBef>
              <a:spcAft>
                <a:spcPct val="35000"/>
              </a:spcAft>
              <a:buNone/>
            </a:pPr>
            <a:r>
              <a:rPr lang="zh-CN" altLang="en-US" sz="1600"/>
              <a:t>调整方向</a:t>
            </a:r>
            <a:endParaRPr lang="en-US" altLang="zh-CN" sz="1600"/>
          </a:p>
          <a:p>
            <a:pPr marL="0" lvl="0" indent="0" algn="l" defTabSz="711200">
              <a:lnSpc>
                <a:spcPct val="90000"/>
              </a:lnSpc>
              <a:spcBef>
                <a:spcPct val="0"/>
              </a:spcBef>
              <a:spcAft>
                <a:spcPct val="35000"/>
              </a:spcAft>
              <a:buNone/>
            </a:pPr>
            <a:r>
              <a:rPr lang="zh-CN" altLang="en-US" sz="1600"/>
              <a:t>促进协作和透明</a:t>
            </a:r>
            <a:endParaRPr lang="en-US" altLang="zh-CN" sz="1600"/>
          </a:p>
          <a:p>
            <a:pPr defTabSz="711200">
              <a:lnSpc>
                <a:spcPct val="90000"/>
              </a:lnSpc>
              <a:spcBef>
                <a:spcPct val="0"/>
              </a:spcBef>
              <a:spcAft>
                <a:spcPct val="35000"/>
              </a:spcAft>
            </a:pPr>
            <a:r>
              <a:rPr lang="zh-CN" altLang="en-US" sz="1600"/>
              <a:t>非仅仅展示</a:t>
            </a:r>
          </a:p>
          <a:p>
            <a:pPr marL="0" lvl="0" indent="0" algn="l" defTabSz="711200">
              <a:lnSpc>
                <a:spcPct val="90000"/>
              </a:lnSpc>
              <a:spcBef>
                <a:spcPct val="0"/>
              </a:spcBef>
              <a:spcAft>
                <a:spcPct val="35000"/>
              </a:spcAft>
              <a:buNone/>
            </a:pPr>
            <a:r>
              <a:rPr lang="en-US" altLang="zh-CN" sz="1600"/>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Retrospective</a:t>
            </a:r>
            <a:endParaRPr lang="zh-CN" altLang="en-US" sz="16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回顾</a:t>
            </a:r>
            <a:endParaRPr lang="en-US" altLang="zh-CN" sz="1600"/>
          </a:p>
          <a:p>
            <a:pPr lvl="0" defTabSz="711200">
              <a:lnSpc>
                <a:spcPct val="90000"/>
              </a:lnSpc>
              <a:spcBef>
                <a:spcPct val="0"/>
              </a:spcBef>
              <a:spcAft>
                <a:spcPct val="35000"/>
              </a:spcAft>
            </a:pPr>
            <a:r>
              <a:rPr lang="zh-CN" altLang="en-US" sz="1600"/>
              <a:t>最后一个事件</a:t>
            </a:r>
            <a:endParaRPr lang="en-US" altLang="zh-CN" sz="1600"/>
          </a:p>
          <a:p>
            <a:pPr lvl="0" defTabSz="711200">
              <a:lnSpc>
                <a:spcPct val="90000"/>
              </a:lnSpc>
              <a:spcBef>
                <a:spcPct val="0"/>
              </a:spcBef>
              <a:spcAft>
                <a:spcPct val="35000"/>
              </a:spcAft>
            </a:pPr>
            <a:r>
              <a:rPr lang="zh-CN" altLang="en-US" sz="1600"/>
              <a:t>监视整个 </a:t>
            </a:r>
            <a:r>
              <a:rPr lang="en-US" altLang="zh-CN" sz="1600"/>
              <a:t>Sprint</a:t>
            </a:r>
          </a:p>
          <a:p>
            <a:pPr lvl="0" defTabSz="711200">
              <a:lnSpc>
                <a:spcPct val="90000"/>
              </a:lnSpc>
              <a:spcBef>
                <a:spcPct val="0"/>
              </a:spcBef>
              <a:spcAft>
                <a:spcPct val="35000"/>
              </a:spcAft>
            </a:pPr>
            <a:r>
              <a:rPr lang="zh-CN" altLang="en-US" sz="1600"/>
              <a:t>仅团队成员参加</a:t>
            </a:r>
            <a:endParaRPr lang="en-US" altLang="zh-CN" sz="1600"/>
          </a:p>
          <a:p>
            <a:pPr marL="0" lvl="0" indent="0" algn="l" defTabSz="711200">
              <a:lnSpc>
                <a:spcPct val="90000"/>
              </a:lnSpc>
              <a:spcBef>
                <a:spcPct val="0"/>
              </a:spcBef>
              <a:spcAft>
                <a:spcPct val="35000"/>
              </a:spcAft>
              <a:buNone/>
            </a:pPr>
            <a:r>
              <a:rPr lang="en-US" altLang="zh-CN" sz="1600"/>
              <a:t>3h</a:t>
            </a:r>
          </a:p>
        </p:txBody>
      </p:sp>
    </p:spTree>
    <p:extLst>
      <p:ext uri="{BB962C8B-B14F-4D97-AF65-F5344CB8AC3E}">
        <p14:creationId xmlns:p14="http://schemas.microsoft.com/office/powerpoint/2010/main" val="25963249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695998"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695998"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695998"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695998"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695998"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3491237136"/>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1071127" cy="307777"/>
          </a:xfrm>
          <a:prstGeom prst="rect">
            <a:avLst/>
          </a:prstGeom>
          <a:noFill/>
        </p:spPr>
        <p:txBody>
          <a:bodyPr wrap="none" rtlCol="0">
            <a:spAutoFit/>
          </a:bodyPr>
          <a:lstStyle/>
          <a:p>
            <a:r>
              <a:rPr lang="en-US" altLang="zh-CN" sz="1400"/>
              <a:t>To do lists</a:t>
            </a:r>
            <a:endParaRPr lang="zh-CN" altLang="en-US" sz="1400"/>
          </a:p>
        </p:txBody>
      </p:sp>
    </p:spTree>
    <p:extLst>
      <p:ext uri="{BB962C8B-B14F-4D97-AF65-F5344CB8AC3E}">
        <p14:creationId xmlns:p14="http://schemas.microsoft.com/office/powerpoint/2010/main" val="17538250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695998"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a:no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t>PO </a:t>
            </a:r>
            <a:r>
              <a:rPr lang="zh-CN" altLang="en-US" sz="1400"/>
              <a:t>列举 </a:t>
            </a:r>
            <a:r>
              <a:rPr lang="en-US" altLang="zh-CN" sz="1400"/>
              <a:t>items</a:t>
            </a:r>
            <a:endParaRPr lang="zh-CN" altLang="en-US" sz="1400"/>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a:noFill/>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t>Developer </a:t>
            </a:r>
            <a:r>
              <a:rPr lang="zh-CN" altLang="en-US" sz="1400"/>
              <a:t>决定 </a:t>
            </a:r>
            <a:r>
              <a:rPr lang="en-US" altLang="zh-CN" sz="1400"/>
              <a:t>size</a:t>
            </a:r>
            <a:endParaRPr lang="zh-CN" altLang="en-US" sz="1400"/>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a:no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t>PO </a:t>
            </a:r>
            <a:r>
              <a:rPr lang="zh-CN" altLang="en-US" sz="1400"/>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t>Backlog</a:t>
            </a:r>
            <a:endParaRPr lang="zh-CN" altLang="en-US" sz="1400"/>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t>Battle</a:t>
            </a:r>
            <a:endParaRPr lang="zh-CN" altLang="en-US" sz="1400"/>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t>SM</a:t>
            </a:r>
            <a:endParaRPr lang="zh-CN" altLang="en-US" sz="1400"/>
          </a:p>
        </p:txBody>
      </p:sp>
    </p:spTree>
    <p:extLst>
      <p:ext uri="{BB962C8B-B14F-4D97-AF65-F5344CB8AC3E}">
        <p14:creationId xmlns:p14="http://schemas.microsoft.com/office/powerpoint/2010/main" val="29053490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695998"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695998"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695998"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506185088"/>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9365441"/>
                  </a:ext>
                </a:extLst>
              </a:tr>
              <a:tr h="0">
                <a:tc>
                  <a:txBody>
                    <a:bodyPr/>
                    <a:lstStyle/>
                    <a:p>
                      <a:pPr>
                        <a:buNone/>
                      </a:pPr>
                      <a:r>
                        <a:rPr lang="zh-CN" altLang="en-US" sz="1600"/>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产品经理 </a:t>
                      </a:r>
                      <a:r>
                        <a:rPr lang="en-US" altLang="zh-CN" sz="1600"/>
                        <a:t>/ </a:t>
                      </a:r>
                      <a:r>
                        <a:rPr lang="en-US" sz="1600"/>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持续添加</a:t>
                      </a:r>
                      <a:r>
                        <a:rPr lang="en-US" altLang="zh-CN" sz="1600"/>
                        <a:t>/</a:t>
                      </a:r>
                      <a:r>
                        <a:rPr lang="zh-CN" altLang="en-US" sz="1600"/>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3729097699"/>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特性 </a:t>
                      </a:r>
                      <a:r>
                        <a:rPr lang="en-US" sz="1600" dirty="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增量 </a:t>
                      </a:r>
                      <a:r>
                        <a:rPr lang="en-US" sz="1600" dirty="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62318852"/>
                  </a:ext>
                </a:extLst>
              </a:tr>
              <a:tr h="0">
                <a:tc>
                  <a:txBody>
                    <a:bodyPr/>
                    <a:lstStyle/>
                    <a:p>
                      <a:pPr algn="l">
                        <a:buNone/>
                      </a:pPr>
                      <a:r>
                        <a:rPr lang="zh-CN" altLang="en-US" sz="160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业务</a:t>
                      </a:r>
                      <a:r>
                        <a:rPr lang="en-US" altLang="zh-CN" sz="1600"/>
                        <a:t>/</a:t>
                      </a:r>
                      <a:r>
                        <a:rPr lang="zh-CN" altLang="en-US" sz="1600"/>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产品</a:t>
                      </a:r>
                      <a:r>
                        <a:rPr lang="en-US" altLang="zh-CN" sz="1600"/>
                        <a:t>/</a:t>
                      </a:r>
                      <a:r>
                        <a:rPr lang="zh-CN" altLang="en-US" sz="1600"/>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代码 </a:t>
                      </a:r>
                      <a:r>
                        <a:rPr lang="en-US" altLang="zh-CN" sz="1600"/>
                        <a:t>+ </a:t>
                      </a:r>
                      <a:r>
                        <a:rPr lang="zh-CN" altLang="en-US" sz="1600"/>
                        <a:t>测试 </a:t>
                      </a:r>
                      <a:r>
                        <a:rPr lang="en-US" altLang="zh-CN" sz="1600"/>
                        <a:t>+ </a:t>
                      </a:r>
                      <a:r>
                        <a:rPr lang="zh-CN" altLang="en-US" sz="1600"/>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所有已完成的特性 </a:t>
                      </a:r>
                      <a:r>
                        <a:rPr lang="en-US" altLang="zh-CN" sz="1600"/>
                        <a:t>+ </a:t>
                      </a:r>
                      <a:r>
                        <a:rPr lang="zh-CN" altLang="en-US" sz="1600"/>
                        <a:t>旧功能 </a:t>
                      </a:r>
                      <a:r>
                        <a:rPr lang="en-US" altLang="zh-CN" sz="1600"/>
                        <a:t>+ </a:t>
                      </a:r>
                      <a:r>
                        <a:rPr lang="zh-CN" altLang="en-US" sz="1600"/>
                        <a:t>修复的</a:t>
                      </a:r>
                      <a:r>
                        <a:rPr lang="en-US" altLang="zh-CN" sz="1600"/>
                        <a:t>Bug + </a:t>
                      </a:r>
                      <a:r>
                        <a:rPr lang="zh-CN" altLang="en-US" sz="1600"/>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强累积（</a:t>
                      </a:r>
                      <a:r>
                        <a:rPr lang="en-US" sz="1600"/>
                        <a:t>Increment 2 = Increment 1 + </a:t>
                      </a:r>
                      <a:r>
                        <a:rPr lang="zh-CN" altLang="en-US" sz="1600"/>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较大（通常是一个迭代</a:t>
                      </a:r>
                      <a:r>
                        <a:rPr lang="en-US" altLang="zh-CN" sz="1600"/>
                        <a:t>/Sprint</a:t>
                      </a:r>
                      <a:r>
                        <a:rPr lang="zh-CN" altLang="en-US" sz="1600"/>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t>FDD</a:t>
                      </a:r>
                      <a:r>
                        <a:rPr lang="zh-CN" altLang="en-US" sz="1600"/>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FDD</a:t>
                      </a:r>
                      <a:r>
                        <a:rPr lang="zh-CN" altLang="en-US" sz="1600"/>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FDD</a:t>
                      </a:r>
                      <a:r>
                        <a:rPr lang="zh-CN" altLang="en-US" sz="1600" dirty="0"/>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3041"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a:ln>
            <a:solidFill>
              <a:schemeClr val="tx1"/>
            </a:solidFill>
          </a:ln>
        </p:spPr>
        <p:txBody>
          <a:bodyPr wrap="none" rtlCol="0">
            <a:spAutoFit/>
          </a:bodyPr>
          <a:lstStyle/>
          <a:p>
            <a:pPr algn="ctr"/>
            <a:r>
              <a:rPr lang="en-US" altLang="zh-CN" sz="1600" dirty="0"/>
              <a:t>SOW</a:t>
            </a:r>
            <a:endParaRPr lang="zh-CN" altLang="en-US" sz="1600" dirty="0"/>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1" y="2991985"/>
            <a:ext cx="587019" cy="338554"/>
          </a:xfrm>
          <a:prstGeom prst="rect">
            <a:avLst/>
          </a:prstGeom>
          <a:noFill/>
          <a:ln>
            <a:solidFill>
              <a:schemeClr val="tx1"/>
            </a:solidFill>
          </a:ln>
        </p:spPr>
        <p:txBody>
          <a:bodyPr wrap="none" rtlCol="0">
            <a:spAutoFit/>
          </a:bodyPr>
          <a:lstStyle/>
          <a:p>
            <a:pPr algn="ctr"/>
            <a:r>
              <a:rPr lang="en-US" altLang="zh-CN" sz="1600" dirty="0"/>
              <a:t>SRS</a:t>
            </a:r>
            <a:endParaRPr lang="zh-CN" altLang="en-US" sz="1600" dirty="0"/>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a:ln>
            <a:solidFill>
              <a:schemeClr val="tx1"/>
            </a:solidFill>
          </a:ln>
        </p:spPr>
        <p:txBody>
          <a:bodyPr wrap="none" rtlCol="0">
            <a:spAutoFit/>
          </a:bodyPr>
          <a:lstStyle/>
          <a:p>
            <a:pPr algn="ctr"/>
            <a:r>
              <a:rPr lang="en-US" altLang="zh-CN" sz="1600" dirty="0"/>
              <a:t>WBS</a:t>
            </a:r>
            <a:endParaRPr lang="zh-CN" altLang="en-US" sz="1600" dirty="0"/>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a:ln>
            <a:solidFill>
              <a:schemeClr val="tx1"/>
            </a:solidFill>
          </a:ln>
        </p:spPr>
        <p:txBody>
          <a:bodyPr wrap="none" rtlCol="0">
            <a:spAutoFit/>
          </a:bodyPr>
          <a:lstStyle/>
          <a:p>
            <a:pPr algn="ctr"/>
            <a:r>
              <a:rPr lang="en-US" altLang="zh-CN" sz="1600" dirty="0"/>
              <a:t>Package</a:t>
            </a:r>
            <a:endParaRPr lang="zh-CN" altLang="en-US" sz="1600" dirty="0"/>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a:off x="6096001" y="2795061"/>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1" y="3330539"/>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a:ln>
            <a:solidFill>
              <a:schemeClr val="tx1"/>
            </a:solidFill>
          </a:ln>
        </p:spPr>
        <p:txBody>
          <a:bodyPr wrap="none" rtlCol="0">
            <a:spAutoFit/>
          </a:bodyPr>
          <a:lstStyle/>
          <a:p>
            <a:r>
              <a:rPr lang="zh-CN" altLang="en-US" sz="1600" dirty="0"/>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a:ln>
            <a:solidFill>
              <a:schemeClr val="tx1"/>
            </a:solidFill>
          </a:ln>
        </p:spPr>
        <p:txBody>
          <a:bodyPr wrap="none" rtlCol="0">
            <a:spAutoFit/>
          </a:bodyPr>
          <a:lstStyle/>
          <a:p>
            <a:r>
              <a:rPr lang="zh-CN" altLang="en-US" sz="1600" dirty="0"/>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a:ln>
            <a:solidFill>
              <a:schemeClr val="tx1"/>
            </a:solidFill>
          </a:ln>
        </p:spPr>
        <p:txBody>
          <a:bodyPr wrap="none" rtlCol="0">
            <a:spAutoFit/>
          </a:bodyPr>
          <a:lstStyle/>
          <a:p>
            <a:r>
              <a:rPr lang="zh-CN" altLang="en-US" sz="1600" dirty="0"/>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a:ln>
            <a:solidFill>
              <a:schemeClr val="tx1"/>
            </a:solidFill>
          </a:ln>
        </p:spPr>
        <p:txBody>
          <a:bodyPr wrap="none" rtlCol="0">
            <a:spAutoFit/>
          </a:bodyPr>
          <a:lstStyle/>
          <a:p>
            <a:r>
              <a:rPr lang="zh-CN" altLang="en-US" sz="1600" dirty="0"/>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695998"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1301352438"/>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dirty="0">
                          <a:solidFill>
                            <a:schemeClr val="bg1"/>
                          </a:solidFill>
                        </a:rPr>
                        <a:t>Rank</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Average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04703908"/>
                  </a:ext>
                </a:extLst>
              </a:tr>
              <a:tr h="0">
                <a:tc>
                  <a:txBody>
                    <a:bodyPr/>
                    <a:lstStyle/>
                    <a:p>
                      <a:pPr algn="ctr">
                        <a:buNone/>
                      </a:pPr>
                      <a:r>
                        <a:rPr lang="en-US" altLang="zh-CN" sz="1600"/>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695998"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695998"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dirty="0"/>
              <a:t>背景：某电商公司计划开发一键退货功能。</a:t>
            </a:r>
          </a:p>
          <a:p>
            <a:r>
              <a:rPr lang="zh-CN" altLang="en-US" dirty="0"/>
              <a:t>描述</a:t>
            </a:r>
            <a:r>
              <a:rPr lang="en-US" altLang="zh-CN" dirty="0"/>
              <a:t>1</a:t>
            </a:r>
            <a:r>
              <a:rPr lang="zh-CN" altLang="en-US" dirty="0"/>
              <a:t>：为了降低客服人力成本（预计减少</a:t>
            </a:r>
            <a:r>
              <a:rPr lang="en-US" altLang="zh-CN" dirty="0"/>
              <a:t>30%</a:t>
            </a:r>
            <a:r>
              <a:rPr lang="zh-CN" altLang="en-US" dirty="0"/>
              <a:t>），并提升客户复购率，公司决定优化售后流程</a:t>
            </a:r>
            <a:br>
              <a:rPr lang="zh-CN" altLang="en-US" dirty="0"/>
            </a:br>
            <a:endParaRPr lang="en-US" altLang="zh-CN" dirty="0"/>
          </a:p>
          <a:p>
            <a:r>
              <a:rPr lang="zh-CN" altLang="en-US" dirty="0"/>
              <a:t>描述</a:t>
            </a:r>
            <a:r>
              <a:rPr lang="en-US" altLang="zh-CN" dirty="0"/>
              <a:t>2</a:t>
            </a:r>
            <a:r>
              <a:rPr lang="zh-CN" altLang="en-US" dirty="0"/>
              <a:t>：用户反馈希望在收到商品不满意时，不用打电话给客服解释半天，只需要在手机上点一下，快递员就能上门取件，马上退钱</a:t>
            </a:r>
            <a:endParaRPr lang="en-US" altLang="zh-CN" dirty="0"/>
          </a:p>
          <a:p>
            <a:br>
              <a:rPr lang="zh-CN" altLang="en-US" dirty="0"/>
            </a:br>
            <a:r>
              <a:rPr lang="zh-CN" altLang="en-US" dirty="0"/>
              <a:t>描述</a:t>
            </a:r>
            <a:r>
              <a:rPr lang="en-US" altLang="zh-CN" dirty="0"/>
              <a:t>3</a:t>
            </a:r>
            <a:r>
              <a:rPr lang="zh-CN" altLang="en-US" dirty="0"/>
              <a:t>：系统开发人员设计方案：当用户点击申请退货按钮且订单状态为已签收未满</a:t>
            </a:r>
            <a:r>
              <a:rPr lang="en-US" altLang="zh-CN" dirty="0"/>
              <a:t>7</a:t>
            </a:r>
            <a:r>
              <a:rPr lang="zh-CN" altLang="en-US" dirty="0"/>
              <a:t>天时，系统应自动调用物流接口生成取件码，并在数据库中将该订单状态更新为退货中，同时触发财务系统原路退款</a:t>
            </a:r>
            <a:br>
              <a:rPr lang="zh-CN" altLang="en-US" dirty="0"/>
            </a:br>
            <a:endParaRPr lang="en-US" altLang="zh-CN" dirty="0"/>
          </a:p>
          <a:p>
            <a:r>
              <a:rPr lang="zh-CN" altLang="en-US" dirty="0"/>
              <a:t>以上描述分别属于哪类需求？</a:t>
            </a:r>
            <a:endParaRPr lang="en-US" altLang="zh-CN" dirty="0"/>
          </a:p>
          <a:p>
            <a:br>
              <a:rPr lang="zh-CN" altLang="en-US" dirty="0"/>
            </a:br>
            <a:r>
              <a:rPr lang="en-US" altLang="zh-CN" dirty="0"/>
              <a:t>A. </a:t>
            </a:r>
            <a:r>
              <a:rPr lang="zh-CN" altLang="en-US" dirty="0"/>
              <a:t>业务需求</a:t>
            </a:r>
            <a:br>
              <a:rPr lang="zh-CN" altLang="en-US" dirty="0"/>
            </a:br>
            <a:r>
              <a:rPr lang="en-US" altLang="zh-CN" dirty="0"/>
              <a:t>B. </a:t>
            </a:r>
            <a:r>
              <a:rPr lang="zh-CN" altLang="en-US" dirty="0"/>
              <a:t>用户需求</a:t>
            </a:r>
            <a:br>
              <a:rPr lang="zh-CN" altLang="en-US" dirty="0"/>
            </a:br>
            <a:r>
              <a:rPr lang="en-US" altLang="zh-CN" dirty="0"/>
              <a:t>C. </a:t>
            </a:r>
            <a:r>
              <a:rPr lang="zh-CN" altLang="en-US" dirty="0"/>
              <a:t>功能需求</a:t>
            </a:r>
            <a:br>
              <a:rPr lang="zh-CN" altLang="en-US" dirty="0"/>
            </a:br>
            <a:r>
              <a:rPr lang="en-US" altLang="zh-CN" dirty="0"/>
              <a:t>D. </a:t>
            </a:r>
            <a:r>
              <a:rPr lang="zh-CN" altLang="en-US" dirty="0"/>
              <a:t>战略目标</a:t>
            </a:r>
          </a:p>
        </p:txBody>
      </p:sp>
    </p:spTree>
    <p:extLst>
      <p:ext uri="{BB962C8B-B14F-4D97-AF65-F5344CB8AC3E}">
        <p14:creationId xmlns:p14="http://schemas.microsoft.com/office/powerpoint/2010/main" val="24436467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695998"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
        <p:nvSpPr>
          <p:cNvPr id="11" name="矩形: 圆角 10">
            <a:extLst>
              <a:ext uri="{FF2B5EF4-FFF2-40B4-BE49-F238E27FC236}">
                <a16:creationId xmlns:a16="http://schemas.microsoft.com/office/drawing/2014/main" id="{2CAD1AB7-6284-F323-27D3-37F654FC67D8}"/>
              </a:ext>
            </a:extLst>
          </p:cNvPr>
          <p:cNvSpPr/>
          <p:nvPr/>
        </p:nvSpPr>
        <p:spPr>
          <a:xfrm>
            <a:off x="411618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633827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6338274" y="312400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4116184" y="3118465"/>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6338274" y="4575231"/>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5916184" y="2346942"/>
            <a:ext cx="4220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7238274" y="2562942"/>
            <a:ext cx="0" cy="561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5916184" y="3334465"/>
            <a:ext cx="422090" cy="55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3395663" y="1796644"/>
            <a:ext cx="5400675" cy="216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3395663" y="4251231"/>
            <a:ext cx="5400675" cy="108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3395663" y="3573307"/>
            <a:ext cx="902811" cy="307777"/>
          </a:xfrm>
          <a:prstGeom prst="rect">
            <a:avLst/>
          </a:prstGeom>
          <a:noFill/>
          <a:ln>
            <a:noFill/>
          </a:ln>
        </p:spPr>
        <p:txBody>
          <a:bodyPr wrap="none" rtlCol="0">
            <a:spAutoFit/>
          </a:bodyPr>
          <a:lstStyle/>
          <a:p>
            <a:r>
              <a:rPr lang="zh-CN" altLang="en-US" sz="1400" dirty="0">
                <a:solidFill>
                  <a:sysClr val="windowText" lastClr="0000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3395663" y="4251231"/>
            <a:ext cx="902811" cy="307777"/>
          </a:xfrm>
          <a:prstGeom prst="rect">
            <a:avLst/>
          </a:prstGeom>
          <a:noFill/>
          <a:ln>
            <a:noFill/>
          </a:ln>
        </p:spPr>
        <p:txBody>
          <a:bodyPr wrap="none" rtlCol="0">
            <a:spAutoFit/>
          </a:bodyPr>
          <a:lstStyle/>
          <a:p>
            <a:r>
              <a:rPr lang="zh-CN" altLang="en-US" sz="1400">
                <a:solidFill>
                  <a:sysClr val="windowText" lastClr="000000"/>
                </a:solidFill>
              </a:rPr>
              <a:t>需求变更</a:t>
            </a:r>
          </a:p>
        </p:txBody>
      </p:sp>
    </p:spTree>
    <p:extLst>
      <p:ext uri="{BB962C8B-B14F-4D97-AF65-F5344CB8AC3E}">
        <p14:creationId xmlns:p14="http://schemas.microsoft.com/office/powerpoint/2010/main" val="65638254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695998"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695998"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695998"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1784694756"/>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dirty="0">
                          <a:solidFill>
                            <a:schemeClr val="tx1"/>
                          </a:solidFill>
                        </a:rPr>
                        <a:t>Software Requirement Specification</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dirty="0">
                          <a:solidFill>
                            <a:schemeClr val="tx1"/>
                          </a:solidFill>
                        </a:rPr>
                        <a:t>1. </a:t>
                      </a:r>
                      <a:r>
                        <a:rPr lang="zh-CN" altLang="en-US" dirty="0">
                          <a:solidFill>
                            <a:schemeClr val="tx1"/>
                          </a:solidFill>
                        </a:rPr>
                        <a:t>引言</a:t>
                      </a:r>
                    </a:p>
                    <a:p>
                      <a:r>
                        <a:rPr lang="zh-CN" altLang="en-US" dirty="0">
                          <a:solidFill>
                            <a:schemeClr val="tx1"/>
                          </a:solidFill>
                        </a:rPr>
                        <a:t>目的、范围、术语定义、参考文献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tx1"/>
                          </a:solidFill>
                        </a:rPr>
                        <a:t>2. </a:t>
                      </a:r>
                      <a:r>
                        <a:rPr lang="zh-CN" altLang="en-US">
                          <a:solidFill>
                            <a:schemeClr val="tx1"/>
                          </a:solidFill>
                        </a:rPr>
                        <a:t>总体描述</a:t>
                      </a:r>
                    </a:p>
                    <a:p>
                      <a:r>
                        <a:rPr lang="zh-CN" altLang="en-US">
                          <a:solidFill>
                            <a:schemeClr val="tx1"/>
                          </a:solidFill>
                        </a:rPr>
                        <a:t>产品愿景、用户特征、运行环境、假设与依赖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tx1"/>
                          </a:solidFill>
                        </a:rPr>
                        <a:t>3. </a:t>
                      </a:r>
                      <a:r>
                        <a:rPr lang="zh-CN" altLang="en-US">
                          <a:solidFill>
                            <a:schemeClr val="tx1"/>
                          </a:solidFill>
                        </a:rPr>
                        <a:t>功能需求</a:t>
                      </a:r>
                    </a:p>
                    <a:p>
                      <a:r>
                        <a:rPr lang="zh-CN" altLang="en-US">
                          <a:solidFill>
                            <a:schemeClr val="tx1"/>
                          </a:solidFill>
                        </a:rPr>
                        <a:t>按模块划分，每个功能包含： * 功能编号 * 功能名称 * 描述 * 输入</a:t>
                      </a:r>
                      <a:r>
                        <a:rPr lang="en-US" altLang="zh-CN">
                          <a:solidFill>
                            <a:schemeClr val="tx1"/>
                          </a:solidFill>
                        </a:rPr>
                        <a:t>/</a:t>
                      </a:r>
                      <a:r>
                        <a:rPr lang="zh-CN" altLang="en-US">
                          <a:solidFill>
                            <a:schemeClr val="tx1"/>
                          </a:solidFill>
                        </a:rPr>
                        <a:t>输出 * 处理逻辑 * 异常处理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tx1"/>
                          </a:solidFill>
                        </a:rPr>
                        <a:t>4. </a:t>
                      </a:r>
                      <a:r>
                        <a:rPr lang="zh-CN" altLang="en-US">
                          <a:solidFill>
                            <a:schemeClr val="tx1"/>
                          </a:solidFill>
                        </a:rPr>
                        <a:t>非功能需求</a:t>
                      </a:r>
                    </a:p>
                    <a:p>
                      <a:r>
                        <a:rPr lang="zh-CN" altLang="en-US">
                          <a:solidFill>
                            <a:schemeClr val="tx1"/>
                          </a:solidFill>
                        </a:rPr>
                        <a:t>性能、安全性、可用性、兼容性、可维护性等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tx1"/>
                          </a:solidFill>
                        </a:rPr>
                        <a:t>5. </a:t>
                      </a:r>
                      <a:r>
                        <a:rPr lang="zh-CN" altLang="en-US">
                          <a:solidFill>
                            <a:schemeClr val="tx1"/>
                          </a:solidFill>
                        </a:rPr>
                        <a:t>数据需求</a:t>
                      </a:r>
                    </a:p>
                    <a:p>
                      <a:r>
                        <a:rPr lang="zh-CN" altLang="en-US">
                          <a:solidFill>
                            <a:schemeClr val="tx1"/>
                          </a:solidFill>
                        </a:rPr>
                        <a:t>数据字典、</a:t>
                      </a:r>
                      <a:r>
                        <a:rPr lang="en-US" altLang="zh-CN">
                          <a:solidFill>
                            <a:schemeClr val="tx1"/>
                          </a:solidFill>
                        </a:rPr>
                        <a:t>E-R </a:t>
                      </a:r>
                      <a:r>
                        <a:rPr lang="zh-CN" altLang="en-US">
                          <a:solidFill>
                            <a:schemeClr val="tx1"/>
                          </a:solidFill>
                        </a:rPr>
                        <a:t>图、数据流图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tx1"/>
                          </a:solidFill>
                        </a:rPr>
                        <a:t>6. </a:t>
                      </a:r>
                      <a:r>
                        <a:rPr lang="zh-CN" altLang="en-US">
                          <a:solidFill>
                            <a:schemeClr val="tx1"/>
                          </a:solidFill>
                        </a:rPr>
                        <a:t>接口需求</a:t>
                      </a:r>
                    </a:p>
                    <a:p>
                      <a:r>
                        <a:rPr lang="zh-CN" altLang="en-US">
                          <a:solidFill>
                            <a:schemeClr val="tx1"/>
                          </a:solidFill>
                        </a:rPr>
                        <a:t>外部系统接口、硬件接口、通信协议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solidFill>
                            <a:schemeClr val="tx1"/>
                          </a:solidFill>
                        </a:rPr>
                        <a:t>7. </a:t>
                      </a:r>
                      <a:r>
                        <a:rPr lang="zh-CN" altLang="en-US" dirty="0">
                          <a:solidFill>
                            <a:schemeClr val="tx1"/>
                          </a:solidFill>
                        </a:rPr>
                        <a:t>附录</a:t>
                      </a:r>
                      <a:endParaRPr lang="en-US" altLang="zh-CN" dirty="0">
                        <a:solidFill>
                          <a:schemeClr val="tx1"/>
                        </a:solidFill>
                      </a:endParaRPr>
                    </a:p>
                    <a:p>
                      <a:r>
                        <a:rPr lang="zh-CN" altLang="en-US" dirty="0">
                          <a:solidFill>
                            <a:schemeClr val="tx1"/>
                          </a:solidFill>
                        </a:rPr>
                        <a:t>用例图、活动图、原型截图、会议纪要等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695998"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77886901"/>
              </p:ext>
            </p:extLst>
          </p:nvPr>
        </p:nvGraphicFramePr>
        <p:xfrm>
          <a:off x="695325" y="863600"/>
          <a:ext cx="10800675" cy="4608186"/>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dirty="0">
                          <a:solidFill>
                            <a:schemeClr val="bg1"/>
                          </a:solidFill>
                        </a:rPr>
                        <a:t>Aspect</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Tools</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335777"/>
                  </a:ext>
                </a:extLst>
              </a:tr>
              <a:tr h="129354">
                <a:tc>
                  <a:txBody>
                    <a:bodyPr/>
                    <a:lstStyle/>
                    <a:p>
                      <a:pPr>
                        <a:buNone/>
                      </a:pPr>
                      <a:r>
                        <a:rPr lang="zh-CN" altLang="en-US" sz="1600"/>
                        <a:t>正确性 </a:t>
                      </a:r>
                      <a:r>
                        <a:rPr lang="en-US" sz="1600"/>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用户访谈确认、业务流程图比对</a:t>
                      </a:r>
                      <a:br>
                        <a:rPr lang="zh-CN" altLang="en-US" sz="1600"/>
                      </a:br>
                      <a:r>
                        <a:rPr lang="zh-CN" altLang="en-US" sz="1600"/>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t>完整性 </a:t>
                      </a:r>
                      <a:r>
                        <a:rPr lang="en-US" sz="1600"/>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a:t>
                      </a:r>
                      <a:r>
                        <a:rPr lang="en-US" altLang="zh-CN" sz="1600"/>
                        <a:t>RTM</a:t>
                      </a:r>
                      <a:r>
                        <a:rPr lang="zh-CN" altLang="en-US" sz="1600"/>
                        <a:t>、用例全覆盖检查</a:t>
                      </a:r>
                      <a:br>
                        <a:rPr lang="zh-CN" altLang="en-US" sz="1600"/>
                      </a:br>
                      <a:r>
                        <a:rPr lang="en-US" altLang="zh-CN" sz="1600"/>
                        <a:t>FURPS+ </a:t>
                      </a:r>
                      <a:r>
                        <a:rPr lang="zh-CN" altLang="en-US" sz="1600"/>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t>一致性 </a:t>
                      </a:r>
                      <a:r>
                        <a:rPr lang="en-US" sz="1600"/>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需求交叉审查、术语表（</a:t>
                      </a:r>
                      <a:r>
                        <a:rPr lang="en-US" altLang="zh-CN" sz="1600"/>
                        <a:t>Glossary</a:t>
                      </a:r>
                      <a:r>
                        <a:rPr lang="zh-CN" altLang="en-US" sz="1600"/>
                        <a:t>）</a:t>
                      </a:r>
                      <a:br>
                        <a:rPr lang="zh-CN" altLang="en-US" sz="1600"/>
                      </a:br>
                      <a:r>
                        <a:rPr lang="zh-CN" altLang="en-US" sz="1600"/>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t>可行性 </a:t>
                      </a:r>
                      <a:r>
                        <a:rPr lang="en-US" sz="1600"/>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技术上能否实现？成本</a:t>
                      </a:r>
                      <a:r>
                        <a:rPr lang="en-US" altLang="zh-CN" sz="1600" dirty="0"/>
                        <a:t>/</a:t>
                      </a:r>
                      <a:r>
                        <a:rPr lang="zh-CN" altLang="en-US" sz="1600" dirty="0"/>
                        <a:t>时间是否可控？避免“为了开发而开发”</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技术预研（</a:t>
                      </a:r>
                      <a:r>
                        <a:rPr lang="en-US" altLang="zh-CN" sz="1600"/>
                        <a:t>PoC</a:t>
                      </a:r>
                      <a:r>
                        <a:rPr lang="zh-CN" altLang="en-US" sz="1600"/>
                        <a:t>）、架构师评估</a:t>
                      </a:r>
                      <a:br>
                        <a:rPr lang="zh-CN" altLang="en-US" sz="1600"/>
                      </a:br>
                      <a:r>
                        <a:rPr lang="en-US" altLang="zh-CN" sz="1600"/>
                        <a:t>ROI </a:t>
                      </a:r>
                      <a:r>
                        <a:rPr lang="zh-CN" altLang="en-US" sz="1600"/>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t>必要性 </a:t>
                      </a:r>
                      <a:r>
                        <a:rPr lang="en-US" sz="1600"/>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该需求是否真正影响核心价值？是否属于 </a:t>
                      </a:r>
                      <a:r>
                        <a:rPr lang="en-US" altLang="zh-CN" sz="1600"/>
                        <a:t>MVP </a:t>
                      </a:r>
                      <a:r>
                        <a:rPr lang="zh-CN" altLang="en-US" sz="1600"/>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t>MoSCoW</a:t>
                      </a:r>
                      <a:r>
                        <a:rPr lang="en-US" sz="1600"/>
                        <a:t> </a:t>
                      </a:r>
                      <a:r>
                        <a:rPr lang="zh-CN" altLang="en-US" sz="1600"/>
                        <a:t>优先级排序、</a:t>
                      </a:r>
                      <a:r>
                        <a:rPr lang="en-US" sz="1600"/>
                        <a:t>Kano </a:t>
                      </a:r>
                      <a:r>
                        <a:rPr lang="zh-CN" altLang="en-US" sz="1600"/>
                        <a:t>模型分析</a:t>
                      </a:r>
                      <a:br>
                        <a:rPr lang="zh-CN" altLang="en-US" sz="1600"/>
                      </a:br>
                      <a:r>
                        <a:rPr lang="zh-CN" altLang="en-US" sz="1600"/>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t>可检验性 </a:t>
                      </a:r>
                      <a:r>
                        <a:rPr lang="en-US" sz="1600"/>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Acceptance Criteria </a:t>
                      </a:r>
                      <a:r>
                        <a:rPr lang="zh-CN" altLang="en-US" sz="1600"/>
                        <a:t>编写、</a:t>
                      </a:r>
                      <a:r>
                        <a:rPr lang="en-US" sz="1600"/>
                        <a:t>Gherkin </a:t>
                      </a:r>
                      <a:r>
                        <a:rPr lang="zh-CN" altLang="en-US" sz="1600"/>
                        <a:t>语法</a:t>
                      </a:r>
                      <a:br>
                        <a:rPr lang="en-US" sz="1600"/>
                      </a:br>
                      <a:r>
                        <a:rPr lang="zh-CN" altLang="en-US" sz="1600"/>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t>可跟踪性 </a:t>
                      </a:r>
                      <a:r>
                        <a:rPr lang="en-US" sz="1600"/>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需求能否溯源，并向下关联设计、代码、测试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 </a:t>
                      </a:r>
                      <a:r>
                        <a:rPr lang="en-US" sz="1600"/>
                        <a:t>RTM</a:t>
                      </a:r>
                      <a:r>
                        <a:rPr lang="zh-CN" altLang="en-US" sz="1600"/>
                        <a:t>、</a:t>
                      </a:r>
                      <a:r>
                        <a:rPr lang="en-US" altLang="zh-CN" sz="1600"/>
                        <a:t>Jira/TAPD </a:t>
                      </a:r>
                      <a:r>
                        <a:rPr lang="zh-CN" altLang="en-US" sz="1600"/>
                        <a:t>等工具链路</a:t>
                      </a:r>
                      <a:br>
                        <a:rPr lang="en-US" sz="1600"/>
                      </a:br>
                      <a:r>
                        <a:rPr lang="en-US" sz="1600"/>
                        <a:t>Git/GitHub </a:t>
                      </a:r>
                      <a:r>
                        <a:rPr lang="zh-CN" altLang="en-US" sz="1600"/>
                        <a:t>版本控制 </a:t>
                      </a:r>
                      <a:r>
                        <a:rPr lang="en-US" altLang="zh-CN" sz="1600"/>
                        <a:t>+ </a:t>
                      </a:r>
                      <a:r>
                        <a:rPr lang="en-US" sz="1600"/>
                        <a:t>Commit Message </a:t>
                      </a:r>
                      <a:r>
                        <a:rPr lang="zh-CN" altLang="en-US" sz="1600"/>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t>签字确认 </a:t>
                      </a:r>
                      <a:r>
                        <a:rPr lang="en-US" sz="1600"/>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电子签名系统、会议评审纪要 </a:t>
                      </a:r>
                      <a:r>
                        <a:rPr lang="en-US" altLang="zh-CN" sz="1600" dirty="0"/>
                        <a:t>+ </a:t>
                      </a:r>
                      <a:r>
                        <a:rPr lang="zh-CN" altLang="en-US" sz="1600" dirty="0"/>
                        <a:t>邮件确认</a:t>
                      </a:r>
                      <a:br>
                        <a:rPr lang="zh-CN" altLang="en-US" sz="1600" dirty="0"/>
                      </a:br>
                      <a:r>
                        <a:rPr lang="zh-CN" altLang="en-US" sz="1600" dirty="0"/>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695998"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客观存在：对事务的认知由浅入深、逐步深入、逐步明晰</a:t>
            </a:r>
            <a:endParaRPr lang="en-US" altLang="zh-CN" dirty="0"/>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a:t>
            </a:r>
            <a:r>
              <a:rPr lang="en-US" altLang="zh-CN" sz="1400">
                <a:solidFill>
                  <a:sysClr val="windowText" lastClr="000000"/>
                </a:solidFill>
              </a:rPr>
              <a:t>UML</a:t>
            </a:r>
            <a:endParaRPr lang="zh-CN" altLang="en-US" sz="1400">
              <a:solidFill>
                <a:sysClr val="windowText" lastClr="000000"/>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系统流程图 </a:t>
            </a:r>
            <a:r>
              <a:rPr lang="en-US" altLang="zh-CN" sz="1400">
                <a:solidFill>
                  <a:sysClr val="windowText" lastClr="000000"/>
                </a:solidFill>
              </a:rPr>
              <a:t>System Flowchart</a:t>
            </a:r>
            <a:endParaRPr lang="zh-CN" altLang="en-US" sz="1400">
              <a:solidFill>
                <a:sysClr val="windowText" lastClr="000000"/>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数据流 </a:t>
            </a:r>
            <a:r>
              <a:rPr lang="en-US" altLang="zh-CN" sz="1400">
                <a:solidFill>
                  <a:sysClr val="windowText" lastClr="000000"/>
                </a:solidFill>
              </a:rPr>
              <a:t>Data Flow Diagram</a:t>
            </a:r>
            <a:endParaRPr lang="zh-CN" altLang="en-US" sz="1400">
              <a:solidFill>
                <a:sysClr val="windowText" lastClr="000000"/>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a:ln>
            <a:solidFill>
              <a:schemeClr val="tx1"/>
            </a:solidFill>
          </a:ln>
        </p:spPr>
        <p:txBody>
          <a:bodyPr wrap="none" rtlCol="0">
            <a:spAutoFit/>
          </a:bodyPr>
          <a:lstStyle/>
          <a:p>
            <a:r>
              <a:rPr lang="zh-CN" altLang="en-US" sz="1400">
                <a:solidFill>
                  <a:sysClr val="windowText" lastClr="000000"/>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用例图 </a:t>
            </a:r>
            <a:r>
              <a:rPr lang="en-US" altLang="zh-CN" sz="1400">
                <a:solidFill>
                  <a:sysClr val="windowText" lastClr="000000"/>
                </a:solidFill>
              </a:rPr>
              <a:t>Use Case</a:t>
            </a:r>
            <a:endParaRPr lang="zh-CN" altLang="en-US" sz="1400">
              <a:solidFill>
                <a:sysClr val="windowText" lastClr="000000"/>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活动图 </a:t>
            </a:r>
            <a:r>
              <a:rPr lang="en-US" altLang="zh-CN" sz="1400">
                <a:solidFill>
                  <a:sysClr val="windowText" lastClr="000000"/>
                </a:solidFill>
              </a:rPr>
              <a:t>Activity</a:t>
            </a:r>
            <a:endParaRPr lang="zh-CN" altLang="en-US" sz="1400">
              <a:solidFill>
                <a:sysClr val="windowText" lastClr="000000"/>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902811" cy="307777"/>
          </a:xfrm>
          <a:prstGeom prst="rect">
            <a:avLst/>
          </a:prstGeom>
          <a:noFill/>
          <a:ln>
            <a:noFill/>
          </a:ln>
        </p:spPr>
        <p:txBody>
          <a:bodyPr wrap="none" rtlCol="0">
            <a:spAutoFit/>
          </a:bodyPr>
          <a:lstStyle/>
          <a:p>
            <a:pPr algn="l"/>
            <a:r>
              <a:rPr lang="zh-CN" altLang="en-US" sz="1400" dirty="0">
                <a:solidFill>
                  <a:sysClr val="windowText" lastClr="0000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902811" cy="307777"/>
          </a:xfrm>
          <a:prstGeom prst="rect">
            <a:avLst/>
          </a:prstGeom>
          <a:noFill/>
          <a:ln>
            <a:noFill/>
          </a:ln>
        </p:spPr>
        <p:txBody>
          <a:bodyPr wrap="none" rtlCol="0">
            <a:spAutoFit/>
          </a:bodyPr>
          <a:lstStyle/>
          <a:p>
            <a:pPr algn="l"/>
            <a:r>
              <a:rPr lang="zh-CN" altLang="en-US" sz="1400">
                <a:solidFill>
                  <a:sysClr val="windowText" lastClr="0000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序列图 </a:t>
            </a:r>
            <a:r>
              <a:rPr lang="en-US" altLang="zh-CN" sz="1400">
                <a:solidFill>
                  <a:sysClr val="windowText" lastClr="000000"/>
                </a:solidFill>
              </a:rPr>
              <a:t>Sequence</a:t>
            </a:r>
            <a:endParaRPr lang="zh-CN" altLang="en-US" sz="1400">
              <a:solidFill>
                <a:sysClr val="windowText" lastClr="000000"/>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状态图 </a:t>
            </a:r>
            <a:r>
              <a:rPr lang="en-US" altLang="zh-CN" sz="1400">
                <a:solidFill>
                  <a:sysClr val="windowText" lastClr="000000"/>
                </a:solidFill>
              </a:rPr>
              <a:t>State Machine</a:t>
            </a:r>
            <a:endParaRPr lang="zh-CN" altLang="en-US" sz="1400">
              <a:solidFill>
                <a:sysClr val="windowText" lastClr="000000"/>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影响地图 </a:t>
            </a:r>
            <a:r>
              <a:rPr lang="en-US" altLang="zh-CN" sz="1400">
                <a:solidFill>
                  <a:sysClr val="windowText" lastClr="000000"/>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需求池 </a:t>
            </a:r>
            <a:r>
              <a:rPr lang="en-US" altLang="zh-CN" sz="1400">
                <a:solidFill>
                  <a:sysClr val="windowText" lastClr="000000"/>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用户故事地图 </a:t>
            </a:r>
            <a:r>
              <a:rPr lang="en-US" altLang="zh-CN" sz="1400">
                <a:solidFill>
                  <a:sysClr val="windowText" lastClr="000000"/>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用户故事编写 </a:t>
            </a:r>
            <a:r>
              <a:rPr lang="en-US" altLang="zh-CN" sz="1400">
                <a:solidFill>
                  <a:sysClr val="windowText" lastClr="000000"/>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INVEST </a:t>
            </a:r>
            <a:r>
              <a:rPr lang="zh-CN" altLang="en-US" sz="1400">
                <a:solidFill>
                  <a:sysClr val="windowText" lastClr="000000"/>
                </a:solidFill>
              </a:rPr>
              <a:t>原则</a:t>
            </a:r>
            <a:endParaRPr lang="en-US" altLang="zh-CN" sz="1400">
              <a:solidFill>
                <a:sysClr val="windowText" lastClr="000000"/>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行为驱动开发 </a:t>
            </a:r>
            <a:r>
              <a:rPr lang="en-US" altLang="zh-CN" sz="1400">
                <a:solidFill>
                  <a:sysClr val="windowText" lastClr="000000"/>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 …</a:t>
            </a:r>
            <a:endParaRPr lang="zh-CN" altLang="en-US" sz="1400">
              <a:solidFill>
                <a:sysClr val="windowText" lastClr="000000"/>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695998"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Start </a:t>
            </a:r>
            <a:endParaRPr lang="zh-CN" altLang="en-US" sz="1400">
              <a:solidFill>
                <a:schemeClr val="tx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Decide</a:t>
            </a:r>
            <a:endParaRPr lang="zh-CN" altLang="en-US" sz="1400">
              <a:solidFill>
                <a:schemeClr val="tx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695998"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a:ln>
            <a:solidFill>
              <a:schemeClr val="tx1"/>
            </a:solidFill>
          </a:ln>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9538813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695998"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3543421943"/>
              </p:ext>
            </p:extLst>
          </p:nvPr>
        </p:nvGraphicFramePr>
        <p:xfrm>
          <a:off x="696000" y="1515786"/>
          <a:ext cx="10800000" cy="3341560"/>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400" dirty="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7441994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定义符</a:t>
                      </a:r>
                    </a:p>
                  </a:txBody>
                  <a:tcPr marL="72009" marR="72009" marT="36004" marB="36004" anchor="ctr">
                    <a:lnL>
                      <a:noFill/>
                    </a:lnL>
                    <a:lnR>
                      <a:noFill/>
                    </a:lnR>
                    <a:lnT>
                      <a:noFill/>
                    </a:lnT>
                    <a:lnB>
                      <a:noFill/>
                    </a:lnB>
                    <a:noFill/>
                  </a:tcPr>
                </a:tc>
                <a:tc>
                  <a:txBody>
                    <a:bodyPr/>
                    <a:lstStyle/>
                    <a:p>
                      <a:pPr algn="l">
                        <a:buNone/>
                      </a:pPr>
                      <a:r>
                        <a:rPr lang="zh-CN" altLang="en-US" sz="1400"/>
                        <a:t>由</a:t>
                      </a:r>
                      <a:r>
                        <a:rPr lang="en-US" altLang="zh-CN" sz="1400"/>
                        <a:t>……</a:t>
                      </a:r>
                      <a:r>
                        <a:rPr lang="zh-CN" altLang="en-US" sz="1400"/>
                        <a:t>组成</a:t>
                      </a:r>
                    </a:p>
                  </a:txBody>
                  <a:tcPr marL="72009" marR="72009" marT="36004" marB="36004" anchor="ctr">
                    <a:lnL>
                      <a:noFill/>
                    </a:lnL>
                    <a:lnR>
                      <a:noFill/>
                    </a:lnR>
                    <a:lnT>
                      <a:noFill/>
                    </a:lnT>
                    <a:lnB>
                      <a:noFill/>
                    </a:lnB>
                    <a:noFill/>
                  </a:tcPr>
                </a:tc>
                <a:tc>
                  <a:txBody>
                    <a:bodyPr/>
                    <a:lstStyle/>
                    <a:p>
                      <a:pPr algn="l">
                        <a:buNone/>
                      </a:pPr>
                      <a:r>
                        <a:rPr lang="zh-CN" altLang="en-US" sz="1400"/>
                        <a:t>订单 </a:t>
                      </a:r>
                      <a:r>
                        <a:rPr lang="en-US" altLang="zh-CN" sz="1400"/>
                        <a:t>= </a:t>
                      </a:r>
                      <a:r>
                        <a:rPr lang="zh-CN" altLang="en-US" sz="1400"/>
                        <a:t>订单</a:t>
                      </a:r>
                      <a:r>
                        <a:rPr lang="en-US" altLang="zh-CN" sz="1400"/>
                        <a:t>ID + </a:t>
                      </a:r>
                      <a:r>
                        <a:rPr lang="zh-CN" altLang="en-US" sz="1400"/>
                        <a:t>客户名 </a:t>
                      </a:r>
                      <a:r>
                        <a:rPr lang="en-US" altLang="zh-CN" sz="1400"/>
                        <a:t>+ {</a:t>
                      </a:r>
                      <a:r>
                        <a:rPr lang="zh-CN" altLang="en-US" sz="1400"/>
                        <a:t>商品</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连接符</a:t>
                      </a:r>
                    </a:p>
                  </a:txBody>
                  <a:tcPr marL="72009" marR="72009" marT="36004" marB="36004" anchor="ctr">
                    <a:lnL>
                      <a:noFill/>
                    </a:lnL>
                    <a:lnR>
                      <a:noFill/>
                    </a:lnR>
                    <a:lnT>
                      <a:noFill/>
                    </a:lnT>
                    <a:lnB>
                      <a:noFill/>
                    </a:lnB>
                    <a:noFill/>
                  </a:tcPr>
                </a:tc>
                <a:tc>
                  <a:txBody>
                    <a:bodyPr/>
                    <a:lstStyle/>
                    <a:p>
                      <a:pPr algn="l">
                        <a:buNone/>
                      </a:pPr>
                      <a:r>
                        <a:rPr lang="zh-CN" altLang="en-US" sz="1400"/>
                        <a:t>和 </a:t>
                      </a:r>
                      <a:r>
                        <a:rPr lang="en-US" altLang="zh-CN" sz="1400"/>
                        <a:t>/ </a:t>
                      </a:r>
                      <a:r>
                        <a:rPr lang="zh-CN" altLang="en-US" sz="1400"/>
                        <a:t>与</a:t>
                      </a:r>
                    </a:p>
                  </a:txBody>
                  <a:tcPr marL="72009" marR="72009" marT="36004" marB="36004" anchor="ctr">
                    <a:lnL>
                      <a:noFill/>
                    </a:lnL>
                    <a:lnR>
                      <a:noFill/>
                    </a:lnR>
                    <a:lnT>
                      <a:noFill/>
                    </a:lnT>
                    <a:lnB>
                      <a:noFill/>
                    </a:lnB>
                    <a:noFill/>
                  </a:tcPr>
                </a:tc>
                <a:tc>
                  <a:txBody>
                    <a:bodyPr/>
                    <a:lstStyle/>
                    <a:p>
                      <a:pPr algn="l">
                        <a:buNone/>
                      </a:pPr>
                      <a:r>
                        <a:rPr lang="zh-CN" altLang="en-US" sz="1400"/>
                        <a:t>地址 </a:t>
                      </a:r>
                      <a:r>
                        <a:rPr lang="en-US" altLang="zh-CN" sz="1400"/>
                        <a:t>= </a:t>
                      </a:r>
                      <a:r>
                        <a:rPr lang="zh-CN" altLang="en-US" sz="1400"/>
                        <a:t>省 </a:t>
                      </a:r>
                      <a:r>
                        <a:rPr lang="en-US" altLang="zh-CN" sz="1400"/>
                        <a:t>+ </a:t>
                      </a:r>
                      <a:r>
                        <a:rPr lang="zh-CN" altLang="en-US" sz="1400"/>
                        <a:t>市 </a:t>
                      </a:r>
                      <a:r>
                        <a:rPr lang="en-US" altLang="zh-CN" sz="1400"/>
                        <a:t>+ </a:t>
                      </a:r>
                      <a:r>
                        <a:rPr lang="zh-CN" altLang="en-US" sz="1400"/>
                        <a:t>区</a:t>
                      </a:r>
                    </a:p>
                  </a:txBody>
                  <a:tcPr marL="72009" marR="72009" marT="36004" marB="36004" anchor="ctr">
                    <a:lnL>
                      <a:noFill/>
                    </a:lnL>
                    <a:lnR>
                      <a:noFill/>
                    </a:lnR>
                    <a:lnT>
                      <a:noFill/>
                    </a:lnT>
                    <a:lnB>
                      <a:noFill/>
                    </a:lnB>
                    <a:noFill/>
                  </a:tcPr>
                </a:tc>
                <a:tc>
                  <a:txBody>
                    <a:bodyPr/>
                    <a:lstStyle/>
                    <a:p>
                      <a:pPr algn="l">
                        <a:buNone/>
                      </a:pPr>
                      <a:r>
                        <a:rPr lang="zh-CN" altLang="en-US" sz="1400"/>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选择符</a:t>
                      </a:r>
                    </a:p>
                  </a:txBody>
                  <a:tcPr marL="72009" marR="72009" marT="36004" marB="36004" anchor="ctr">
                    <a:lnL>
                      <a:noFill/>
                    </a:lnL>
                    <a:lnR>
                      <a:noFill/>
                    </a:lnR>
                    <a:lnT>
                      <a:noFill/>
                    </a:lnT>
                    <a:lnB>
                      <a:noFill/>
                    </a:lnB>
                    <a:noFill/>
                  </a:tcPr>
                </a:tc>
                <a:tc>
                  <a:txBody>
                    <a:bodyPr/>
                    <a:lstStyle/>
                    <a:p>
                      <a:pPr algn="l">
                        <a:buNone/>
                      </a:pPr>
                      <a:r>
                        <a:rPr lang="zh-CN" altLang="en-US" sz="1400"/>
                        <a:t>或 </a:t>
                      </a:r>
                      <a:r>
                        <a:rPr lang="en-US" altLang="zh-CN" sz="1400"/>
                        <a:t>/ </a:t>
                      </a:r>
                      <a:r>
                        <a:rPr lang="zh-CN" altLang="en-US" sz="1400"/>
                        <a:t>互斥</a:t>
                      </a:r>
                    </a:p>
                  </a:txBody>
                  <a:tcPr marL="72009" marR="72009" marT="36004" marB="36004" anchor="ctr">
                    <a:lnL>
                      <a:noFill/>
                    </a:lnL>
                    <a:lnR>
                      <a:noFill/>
                    </a:lnR>
                    <a:lnT>
                      <a:noFill/>
                    </a:lnT>
                    <a:lnB>
                      <a:noFill/>
                    </a:lnB>
                    <a:noFill/>
                  </a:tcPr>
                </a:tc>
                <a:tc>
                  <a:txBody>
                    <a:bodyPr/>
                    <a:lstStyle/>
                    <a:p>
                      <a:pPr algn="l">
                        <a:buNone/>
                      </a:pPr>
                      <a:r>
                        <a:rPr lang="zh-CN" altLang="en-US" sz="1400"/>
                        <a:t>支付方式 </a:t>
                      </a:r>
                      <a:r>
                        <a:rPr lang="en-US" altLang="zh-CN" sz="1400"/>
                        <a:t>= [</a:t>
                      </a:r>
                      <a:r>
                        <a:rPr lang="zh-CN" altLang="en-US" sz="1400"/>
                        <a:t>支付宝 </a:t>
                      </a:r>
                      <a:r>
                        <a:rPr lang="en-US" altLang="zh-CN" sz="1400"/>
                        <a:t>| </a:t>
                      </a:r>
                      <a:r>
                        <a:rPr lang="zh-CN" altLang="en-US" sz="1400"/>
                        <a:t>微信</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可选符</a:t>
                      </a:r>
                    </a:p>
                  </a:txBody>
                  <a:tcPr marL="72009" marR="72009" marT="36004" marB="36004" anchor="ctr">
                    <a:lnL>
                      <a:noFill/>
                    </a:lnL>
                    <a:lnR>
                      <a:noFill/>
                    </a:lnR>
                    <a:lnT>
                      <a:noFill/>
                    </a:lnT>
                    <a:lnB>
                      <a:noFill/>
                    </a:lnB>
                    <a:noFill/>
                  </a:tcPr>
                </a:tc>
                <a:tc>
                  <a:txBody>
                    <a:bodyPr/>
                    <a:lstStyle/>
                    <a:p>
                      <a:pPr algn="l">
                        <a:buNone/>
                      </a:pPr>
                      <a:r>
                        <a:rPr lang="zh-CN" altLang="en-US" sz="1400"/>
                        <a:t>可选</a:t>
                      </a:r>
                    </a:p>
                  </a:txBody>
                  <a:tcPr marL="72009" marR="72009" marT="36004" marB="36004" anchor="ctr">
                    <a:lnL>
                      <a:noFill/>
                    </a:lnL>
                    <a:lnR>
                      <a:noFill/>
                    </a:lnR>
                    <a:lnT>
                      <a:noFill/>
                    </a:lnT>
                    <a:lnB>
                      <a:noFill/>
                    </a:lnB>
                    <a:noFill/>
                  </a:tcPr>
                </a:tc>
                <a:tc>
                  <a:txBody>
                    <a:bodyPr/>
                    <a:lstStyle/>
                    <a:p>
                      <a:pPr algn="l">
                        <a:buNone/>
                      </a:pPr>
                      <a:r>
                        <a:rPr lang="zh-CN" altLang="en-US" sz="1400"/>
                        <a:t>电话 </a:t>
                      </a:r>
                      <a:r>
                        <a:rPr lang="en-US" altLang="zh-CN" sz="1400"/>
                        <a:t>=(</a:t>
                      </a:r>
                      <a:r>
                        <a:rPr lang="zh-CN" altLang="en-US" sz="1400"/>
                        <a:t>区号</a:t>
                      </a:r>
                      <a:r>
                        <a:rPr lang="en-US" altLang="zh-CN" sz="1400"/>
                        <a:t>) + </a:t>
                      </a:r>
                      <a:r>
                        <a:rPr lang="zh-CN" altLang="en-US" sz="1400"/>
                        <a:t>号码</a:t>
                      </a:r>
                    </a:p>
                  </a:txBody>
                  <a:tcPr marL="72009" marR="72009" marT="36004" marB="36004" anchor="ctr">
                    <a:lnL>
                      <a:noFill/>
                    </a:lnL>
                    <a:lnR>
                      <a:noFill/>
                    </a:lnR>
                    <a:lnT>
                      <a:noFill/>
                    </a:lnT>
                    <a:lnB>
                      <a:noFill/>
                    </a:lnB>
                    <a:noFill/>
                  </a:tcPr>
                </a:tc>
                <a:tc>
                  <a:txBody>
                    <a:bodyPr/>
                    <a:lstStyle/>
                    <a:p>
                      <a:pPr algn="l">
                        <a:buNone/>
                      </a:pPr>
                      <a:r>
                        <a:rPr lang="zh-CN" altLang="en-US" sz="1400"/>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重复符</a:t>
                      </a:r>
                    </a:p>
                  </a:txBody>
                  <a:tcPr marL="72009" marR="72009" marT="36004" marB="36004" anchor="ctr">
                    <a:lnL>
                      <a:noFill/>
                    </a:lnL>
                    <a:lnR>
                      <a:noFill/>
                    </a:lnR>
                    <a:lnT>
                      <a:noFill/>
                    </a:lnT>
                    <a:lnB>
                      <a:noFill/>
                    </a:lnB>
                    <a:noFill/>
                  </a:tcPr>
                </a:tc>
                <a:tc>
                  <a:txBody>
                    <a:bodyPr/>
                    <a:lstStyle/>
                    <a:p>
                      <a:pPr algn="l">
                        <a:buNone/>
                      </a:pPr>
                      <a:r>
                        <a:rPr lang="zh-CN" altLang="en-US" sz="1400"/>
                        <a:t>重复</a:t>
                      </a:r>
                    </a:p>
                  </a:txBody>
                  <a:tcPr marL="72009" marR="72009" marT="36004" marB="36004" anchor="ctr">
                    <a:lnL>
                      <a:noFill/>
                    </a:lnL>
                    <a:lnR>
                      <a:noFill/>
                    </a:lnR>
                    <a:lnT>
                      <a:noFill/>
                    </a:lnT>
                    <a:lnB>
                      <a:noFill/>
                    </a:lnB>
                    <a:noFill/>
                  </a:tcPr>
                </a:tc>
                <a:tc>
                  <a:txBody>
                    <a:bodyPr/>
                    <a:lstStyle/>
                    <a:p>
                      <a:pPr algn="l">
                        <a:buNone/>
                      </a:pPr>
                      <a:r>
                        <a:rPr lang="zh-CN" altLang="en-US" sz="1400"/>
                        <a:t>订单明细 </a:t>
                      </a:r>
                      <a:r>
                        <a:rPr lang="en-US" altLang="zh-CN" sz="1400"/>
                        <a:t>= {</a:t>
                      </a:r>
                      <a:r>
                        <a:rPr lang="zh-CN" altLang="en-US" sz="1400"/>
                        <a:t>商品信息</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表示花括号内的元素可以重复出现（</a:t>
                      </a:r>
                      <a:r>
                        <a:rPr lang="en-US" altLang="zh-CN" sz="1400"/>
                        <a:t>0</a:t>
                      </a:r>
                      <a:r>
                        <a:rPr lang="zh-CN" altLang="en-US" sz="1400"/>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400"/>
                        <a:t>{ }n</a:t>
                      </a:r>
                    </a:p>
                  </a:txBody>
                  <a:tcPr marL="72009" marR="72009" marT="36004" marB="36004" anchor="ctr">
                    <a:lnL>
                      <a:noFill/>
                    </a:lnL>
                    <a:lnR>
                      <a:noFill/>
                    </a:lnR>
                    <a:lnT>
                      <a:noFill/>
                    </a:lnT>
                    <a:lnB>
                      <a:noFill/>
                    </a:lnB>
                    <a:noFill/>
                  </a:tcPr>
                </a:tc>
                <a:tc>
                  <a:txBody>
                    <a:bodyPr/>
                    <a:lstStyle/>
                    <a:p>
                      <a:pPr algn="l">
                        <a:buNone/>
                      </a:pPr>
                      <a:r>
                        <a:rPr lang="zh-CN" altLang="en-US" sz="1400"/>
                        <a:t>限定重复符</a:t>
                      </a:r>
                    </a:p>
                  </a:txBody>
                  <a:tcPr marL="72009" marR="72009" marT="36004" marB="36004" anchor="ctr">
                    <a:lnL>
                      <a:noFill/>
                    </a:lnL>
                    <a:lnR>
                      <a:noFill/>
                    </a:lnR>
                    <a:lnT>
                      <a:noFill/>
                    </a:lnT>
                    <a:lnB>
                      <a:noFill/>
                    </a:lnB>
                    <a:noFill/>
                  </a:tcPr>
                </a:tc>
                <a:tc>
                  <a:txBody>
                    <a:bodyPr/>
                    <a:lstStyle/>
                    <a:p>
                      <a:pPr algn="l">
                        <a:buNone/>
                      </a:pPr>
                      <a:r>
                        <a:rPr lang="zh-CN" altLang="en-US" sz="1400"/>
                        <a:t>固定次数重复</a:t>
                      </a:r>
                    </a:p>
                  </a:txBody>
                  <a:tcPr marL="72009" marR="72009" marT="36004" marB="36004" anchor="ctr">
                    <a:lnL>
                      <a:noFill/>
                    </a:lnL>
                    <a:lnR>
                      <a:noFill/>
                    </a:lnR>
                    <a:lnT>
                      <a:noFill/>
                    </a:lnT>
                    <a:lnB>
                      <a:noFill/>
                    </a:lnB>
                    <a:noFill/>
                  </a:tcPr>
                </a:tc>
                <a:tc>
                  <a:txBody>
                    <a:bodyPr/>
                    <a:lstStyle/>
                    <a:p>
                      <a:pPr algn="l">
                        <a:buNone/>
                      </a:pPr>
                      <a:r>
                        <a:rPr lang="zh-CN" altLang="en-US" sz="1400"/>
                        <a:t>坐标 </a:t>
                      </a:r>
                      <a:r>
                        <a:rPr lang="en-US" altLang="zh-CN" sz="1400"/>
                        <a:t>= {</a:t>
                      </a:r>
                      <a:r>
                        <a:rPr lang="zh-CN" altLang="en-US" sz="1400"/>
                        <a:t>数字</a:t>
                      </a:r>
                      <a:r>
                        <a:rPr lang="en-US" altLang="zh-CN" sz="1400"/>
                        <a:t>}2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表示花括号内的元素必须重复 </a:t>
                      </a:r>
                      <a:r>
                        <a:rPr lang="en-US" altLang="zh-CN" sz="1400"/>
                        <a:t>n </a:t>
                      </a:r>
                      <a:r>
                        <a:rPr lang="zh-CN" altLang="en-US" sz="1400"/>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400"/>
                        <a:t>{ }</a:t>
                      </a:r>
                      <a:r>
                        <a:rPr lang="en-US" sz="1400" err="1"/>
                        <a:t>m,n</a:t>
                      </a:r>
                      <a:endParaRPr lang="en-US" sz="1400"/>
                    </a:p>
                  </a:txBody>
                  <a:tcPr marL="72009" marR="72009" marT="36004" marB="36004" anchor="ctr">
                    <a:lnL>
                      <a:noFill/>
                    </a:lnL>
                    <a:lnR>
                      <a:noFill/>
                    </a:lnR>
                    <a:lnT>
                      <a:noFill/>
                    </a:lnT>
                    <a:lnB>
                      <a:noFill/>
                    </a:lnB>
                    <a:noFill/>
                  </a:tcPr>
                </a:tc>
                <a:tc>
                  <a:txBody>
                    <a:bodyPr/>
                    <a:lstStyle/>
                    <a:p>
                      <a:pPr algn="l">
                        <a:buNone/>
                      </a:pPr>
                      <a:r>
                        <a:rPr lang="zh-CN" altLang="en-US" sz="1400"/>
                        <a:t>范围重复符</a:t>
                      </a:r>
                    </a:p>
                  </a:txBody>
                  <a:tcPr marL="72009" marR="72009" marT="36004" marB="36004" anchor="ctr">
                    <a:lnL>
                      <a:noFill/>
                    </a:lnL>
                    <a:lnR>
                      <a:noFill/>
                    </a:lnR>
                    <a:lnT>
                      <a:noFill/>
                    </a:lnT>
                    <a:lnB>
                      <a:noFill/>
                    </a:lnB>
                    <a:noFill/>
                  </a:tcPr>
                </a:tc>
                <a:tc>
                  <a:txBody>
                    <a:bodyPr/>
                    <a:lstStyle/>
                    <a:p>
                      <a:pPr algn="l">
                        <a:buNone/>
                      </a:pPr>
                      <a:r>
                        <a:rPr lang="zh-CN" altLang="en-US" sz="1400"/>
                        <a:t>范围重复</a:t>
                      </a:r>
                    </a:p>
                  </a:txBody>
                  <a:tcPr marL="72009" marR="72009" marT="36004" marB="36004" anchor="ctr">
                    <a:lnL>
                      <a:noFill/>
                    </a:lnL>
                    <a:lnR>
                      <a:noFill/>
                    </a:lnR>
                    <a:lnT>
                      <a:noFill/>
                    </a:lnT>
                    <a:lnB>
                      <a:noFill/>
                    </a:lnB>
                    <a:noFill/>
                  </a:tcPr>
                </a:tc>
                <a:tc>
                  <a:txBody>
                    <a:bodyPr/>
                    <a:lstStyle/>
                    <a:p>
                      <a:pPr algn="l">
                        <a:buNone/>
                      </a:pPr>
                      <a:r>
                        <a:rPr lang="zh-CN" altLang="en-US" sz="1400"/>
                        <a:t>密码 </a:t>
                      </a:r>
                      <a:r>
                        <a:rPr lang="en-US" altLang="zh-CN" sz="1400"/>
                        <a:t>= {</a:t>
                      </a:r>
                      <a:r>
                        <a:rPr lang="zh-CN" altLang="en-US" sz="1400"/>
                        <a:t>字母或数字</a:t>
                      </a:r>
                      <a:r>
                        <a:rPr lang="en-US" altLang="zh-CN" sz="1400"/>
                        <a:t>}6,12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表示花括号内的元素重复次数在 </a:t>
                      </a:r>
                      <a:r>
                        <a:rPr lang="en-US" altLang="zh-CN" sz="1400"/>
                        <a:t>m </a:t>
                      </a:r>
                      <a:r>
                        <a:rPr lang="zh-CN" altLang="en-US" sz="1400"/>
                        <a:t>到 </a:t>
                      </a:r>
                      <a:r>
                        <a:rPr lang="en-US" altLang="zh-CN" sz="1400"/>
                        <a:t>n </a:t>
                      </a:r>
                      <a:r>
                        <a:rPr lang="zh-CN" altLang="en-US" sz="1400"/>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省略符</a:t>
                      </a:r>
                    </a:p>
                  </a:txBody>
                  <a:tcPr marL="72009" marR="72009" marT="36004" marB="36004" anchor="ctr">
                    <a:lnL>
                      <a:noFill/>
                    </a:lnL>
                    <a:lnR>
                      <a:noFill/>
                    </a:lnR>
                    <a:lnT>
                      <a:noFill/>
                    </a:lnT>
                    <a:lnB>
                      <a:noFill/>
                    </a:lnB>
                    <a:noFill/>
                  </a:tcPr>
                </a:tc>
                <a:tc>
                  <a:txBody>
                    <a:bodyPr/>
                    <a:lstStyle/>
                    <a:p>
                      <a:pPr algn="l">
                        <a:buNone/>
                      </a:pPr>
                      <a:r>
                        <a:rPr lang="zh-CN" altLang="en-US" sz="1400"/>
                        <a:t>范围</a:t>
                      </a:r>
                    </a:p>
                  </a:txBody>
                  <a:tcPr marL="72009" marR="72009" marT="36004" marB="36004" anchor="ctr">
                    <a:lnL>
                      <a:noFill/>
                    </a:lnL>
                    <a:lnR>
                      <a:noFill/>
                    </a:lnR>
                    <a:lnT>
                      <a:noFill/>
                    </a:lnT>
                    <a:lnB>
                      <a:noFill/>
                    </a:lnB>
                    <a:noFill/>
                  </a:tcPr>
                </a:tc>
                <a:tc>
                  <a:txBody>
                    <a:bodyPr/>
                    <a:lstStyle/>
                    <a:p>
                      <a:pPr algn="l">
                        <a:buNone/>
                      </a:pPr>
                      <a:r>
                        <a:rPr lang="zh-CN" altLang="en-US" sz="1400"/>
                        <a:t>年龄 </a:t>
                      </a:r>
                      <a:r>
                        <a:rPr lang="en-US" altLang="zh-CN" sz="1400"/>
                        <a:t>= 0…150</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dirty="0"/>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695998"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695998"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dirty="0">
                <a:hlinkClick r:id="rId3"/>
              </a:rPr>
              <a:t>影响地图 </a:t>
            </a:r>
            <a:r>
              <a:rPr lang="en-US" altLang="zh-CN" dirty="0">
                <a:hlinkClick r:id="rId3"/>
              </a:rPr>
              <a:t>Impact Mapping</a:t>
            </a:r>
            <a:endParaRPr lang="en-US" altLang="zh-CN" dirty="0"/>
          </a:p>
          <a:p>
            <a:r>
              <a:rPr lang="zh-CN" altLang="en-US" dirty="0"/>
              <a:t>从“业务目标”出发，逆向推导出“应该做什么功能</a:t>
            </a:r>
            <a:endParaRPr lang="en-US" altLang="zh-CN" dirty="0"/>
          </a:p>
          <a:p>
            <a:r>
              <a:rPr lang="zh-CN" altLang="en-US" dirty="0"/>
              <a:t>从一个明确的业务目标出发，通过识别关键角色、期望的行为改变（影响），最终推导出具体的交付物</a:t>
            </a:r>
            <a:endParaRPr lang="en-US" altLang="zh-CN" dirty="0"/>
          </a:p>
          <a:p>
            <a:pPr lvl="1"/>
            <a:r>
              <a:rPr lang="zh-CN" altLang="en-US" dirty="0"/>
              <a:t>为什么做？（业务目标）</a:t>
            </a:r>
          </a:p>
          <a:p>
            <a:pPr lvl="1"/>
            <a:r>
              <a:rPr lang="zh-CN" altLang="en-US" dirty="0"/>
              <a:t>为谁做？（受影响的角色）</a:t>
            </a:r>
          </a:p>
          <a:p>
            <a:pPr lvl="1"/>
            <a:r>
              <a:rPr lang="zh-CN" altLang="en-US" dirty="0"/>
              <a:t>如何影响他们？（行为改变</a:t>
            </a:r>
            <a:r>
              <a:rPr lang="en-US" altLang="zh-CN" dirty="0"/>
              <a:t>/</a:t>
            </a:r>
            <a:r>
              <a:rPr lang="zh-CN" altLang="en-US" dirty="0"/>
              <a:t>影响）</a:t>
            </a:r>
          </a:p>
          <a:p>
            <a:pPr lvl="1"/>
            <a:r>
              <a:rPr lang="zh-CN" altLang="en-US" dirty="0"/>
              <a:t>做什么来实现？（具体功能项）</a:t>
            </a:r>
          </a:p>
          <a:p>
            <a:endParaRPr lang="zh-CN" altLang="en-US" dirty="0"/>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Goal</a:t>
            </a:r>
            <a:endParaRPr lang="zh-CN" altLang="en-US" sz="1600"/>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Delivery</a:t>
            </a:r>
            <a:endParaRPr lang="zh-CN" altLang="en-US" sz="1600"/>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662361" cy="338554"/>
          </a:xfrm>
          <a:prstGeom prst="rect">
            <a:avLst/>
          </a:prstGeom>
          <a:noFill/>
          <a:ln>
            <a:noFill/>
          </a:ln>
        </p:spPr>
        <p:txBody>
          <a:bodyPr wrap="none" rtlCol="0">
            <a:spAutoFit/>
          </a:bodyPr>
          <a:lstStyle/>
          <a:p>
            <a:r>
              <a:rPr lang="en-US" altLang="zh-CN" sz="1600"/>
              <a:t>Why</a:t>
            </a:r>
            <a:endParaRPr lang="zh-CN" altLang="en-US" sz="1600"/>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925253" cy="338554"/>
          </a:xfrm>
          <a:prstGeom prst="rect">
            <a:avLst/>
          </a:prstGeom>
          <a:noFill/>
          <a:ln>
            <a:noFill/>
          </a:ln>
        </p:spPr>
        <p:txBody>
          <a:bodyPr wrap="none" rtlCol="0">
            <a:spAutoFit/>
          </a:bodyPr>
          <a:lstStyle/>
          <a:p>
            <a:r>
              <a:rPr lang="en-US" altLang="zh-CN" sz="1600"/>
              <a:t>Impact</a:t>
            </a:r>
            <a:endParaRPr lang="zh-CN" altLang="en-US" sz="1600"/>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679994" cy="338554"/>
          </a:xfrm>
          <a:prstGeom prst="rect">
            <a:avLst/>
          </a:prstGeom>
          <a:noFill/>
          <a:ln>
            <a:noFill/>
          </a:ln>
        </p:spPr>
        <p:txBody>
          <a:bodyPr wrap="none" rtlCol="0">
            <a:spAutoFit/>
          </a:bodyPr>
          <a:lstStyle/>
          <a:p>
            <a:r>
              <a:rPr lang="en-US" altLang="zh-CN" sz="1600"/>
              <a:t>Who</a:t>
            </a:r>
            <a:endParaRPr lang="zh-CN" altLang="en-US" sz="1600"/>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660758" cy="338554"/>
          </a:xfrm>
          <a:prstGeom prst="rect">
            <a:avLst/>
          </a:prstGeom>
          <a:noFill/>
          <a:ln>
            <a:noFill/>
          </a:ln>
        </p:spPr>
        <p:txBody>
          <a:bodyPr wrap="none" rtlCol="0">
            <a:spAutoFit/>
          </a:bodyPr>
          <a:lstStyle/>
          <a:p>
            <a:r>
              <a:rPr lang="en-US" altLang="zh-CN" sz="1600"/>
              <a:t>How</a:t>
            </a:r>
            <a:endParaRPr lang="zh-CN" altLang="en-US" sz="1600"/>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756938" cy="338554"/>
          </a:xfrm>
          <a:prstGeom prst="rect">
            <a:avLst/>
          </a:prstGeom>
          <a:noFill/>
          <a:ln>
            <a:noFill/>
          </a:ln>
        </p:spPr>
        <p:txBody>
          <a:bodyPr wrap="none" rtlCol="0">
            <a:spAutoFit/>
          </a:bodyPr>
          <a:lstStyle/>
          <a:p>
            <a:r>
              <a:rPr lang="en-US" altLang="zh-CN" sz="1600"/>
              <a:t>What</a:t>
            </a:r>
            <a:endParaRPr lang="zh-CN" altLang="en-US" sz="1600"/>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740908" cy="338554"/>
          </a:xfrm>
          <a:prstGeom prst="rect">
            <a:avLst/>
          </a:prstGeom>
          <a:noFill/>
          <a:ln>
            <a:noFill/>
          </a:ln>
        </p:spPr>
        <p:txBody>
          <a:bodyPr wrap="none" rtlCol="0">
            <a:spAutoFit/>
          </a:bodyPr>
          <a:lstStyle/>
          <a:p>
            <a:r>
              <a:rPr lang="en-US" altLang="zh-CN" sz="1600"/>
              <a:t>Actor</a:t>
            </a:r>
            <a:endParaRPr lang="zh-CN" altLang="en-US" sz="1600"/>
          </a:p>
        </p:txBody>
      </p:sp>
    </p:spTree>
    <p:extLst>
      <p:ext uri="{BB962C8B-B14F-4D97-AF65-F5344CB8AC3E}">
        <p14:creationId xmlns:p14="http://schemas.microsoft.com/office/powerpoint/2010/main" val="136726951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24497991"/>
              </p:ext>
            </p:extLst>
          </p:nvPr>
        </p:nvGraphicFramePr>
        <p:xfrm>
          <a:off x="1302775" y="467360"/>
          <a:ext cx="9586450" cy="489204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central of an impact map answers the most important question: Why are we doing this? This is the goal we are trying to achieve.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1600" dirty="0"/>
                        <a:t>Actors</a:t>
                      </a:r>
                    </a:p>
                    <a:p>
                      <a:pPr algn="just" fontAlgn="base"/>
                      <a:r>
                        <a:rPr lang="en-US" altLang="zh-CN" sz="1600" dirty="0"/>
                        <a:t>The first branch of an impact map provides answers to the following questions: Who can produce the desired effect? Who can obstruct it? Who are the consumers or users of our product? Who will be impacted by it? These are the actors who can influence the outcome.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1600"/>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second branch level of an impact map sets the actors in the perspective of our business goal. It answers the following questions: How should our actors’ behaviors change? How can they help us to achieve the goal? How can they obstruct or prevent us from succeeding? These are the impacts that we’re trying to create.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dirty="0"/>
                        <a:t>Once we have the first three questions answered, we can talk about scope. The third branch level of an impact map answers the following question: What can we do, as an organization or a delivery team, to support the required impacts? These are the deliverables, software features and organizational activities.</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561345043"/>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solidFill>
                            <a:schemeClr val="bg1"/>
                          </a:solidFill>
                        </a:rPr>
                        <a:t>交付物</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作用机制</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预期效果</a:t>
                      </a:r>
                    </a:p>
                  </a:txBody>
                  <a:tcPr anchor="ctr">
                    <a:lnL>
                      <a:noFill/>
                    </a:lnL>
                    <a:lnR>
                      <a:noFill/>
                    </a:lnR>
                    <a:lnT>
                      <a:noFill/>
                    </a:lnT>
                    <a:lnB>
                      <a:noFill/>
                    </a:lnB>
                    <a:solidFill>
                      <a:srgbClr val="00B0F0"/>
                    </a:solidFill>
                  </a:tcPr>
                </a:tc>
                <a:extLst>
                  <a:ext uri="{0D108BD9-81ED-4DB2-BD59-A6C34878D82A}">
                    <a16:rowId xmlns:a16="http://schemas.microsoft.com/office/drawing/2014/main" val="2072298893"/>
                  </a:ext>
                </a:extLst>
              </a:tr>
              <a:tr h="161559">
                <a:tc>
                  <a:txBody>
                    <a:bodyPr/>
                    <a:lstStyle/>
                    <a:p>
                      <a:pPr>
                        <a:buNone/>
                      </a:pPr>
                      <a:r>
                        <a:rPr lang="en-US" sz="1600"/>
                        <a:t>Push updates on the app</a:t>
                      </a:r>
                      <a:br>
                        <a:rPr lang="en-US" sz="1600"/>
                      </a:br>
                      <a:r>
                        <a:rPr lang="en-US" sz="1600" err="1"/>
                        <a:t>App</a:t>
                      </a:r>
                      <a:r>
                        <a:rPr lang="en-US" sz="1600"/>
                        <a:t> </a:t>
                      </a:r>
                      <a:r>
                        <a:rPr lang="zh-CN" altLang="en-US" sz="1600"/>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主动提醒用户有新内容</a:t>
                      </a:r>
                      <a:r>
                        <a:rPr lang="en-US" altLang="zh-CN" sz="1600"/>
                        <a:t>/</a:t>
                      </a:r>
                      <a:r>
                        <a:rPr lang="zh-CN" altLang="en-US" sz="1600"/>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提高日活</a:t>
                      </a:r>
                      <a:r>
                        <a:rPr lang="en-US" altLang="zh-CN" sz="1600"/>
                        <a:t>/</a:t>
                      </a:r>
                      <a:r>
                        <a:rPr lang="zh-CN" altLang="en-US" sz="1600"/>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t>Special offers every month</a:t>
                      </a:r>
                      <a:br>
                        <a:rPr lang="en-US" sz="1600"/>
                      </a:br>
                      <a:r>
                        <a:rPr lang="zh-CN" altLang="en-US" sz="1600"/>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t>Better layout when browsing events</a:t>
                      </a:r>
                      <a:br>
                        <a:rPr lang="en-US" sz="1600"/>
                      </a:br>
                      <a:r>
                        <a:rPr lang="zh-CN" altLang="en-US" sz="1600"/>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间接支持“</a:t>
                      </a:r>
                      <a:r>
                        <a:rPr lang="en-US" sz="1600" dirty="0"/>
                        <a:t>Stay longer”</a:t>
                      </a:r>
                      <a:r>
                        <a:rPr lang="zh-CN" altLang="en-US" sz="1600" dirty="0"/>
                        <a:t>和“</a:t>
                      </a:r>
                      <a:r>
                        <a:rPr lang="en-US" sz="1600" dirty="0"/>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695998"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695998"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695998"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1897314"/>
          </a:xfrm>
          <a:prstGeom prst="rect">
            <a:avLst/>
          </a:prstGeom>
          <a:noFill/>
        </p:spPr>
        <p:txBody>
          <a:bodyPr wrap="square" rtlCol="0">
            <a:spAutoFit/>
          </a:bodyPr>
          <a:lstStyle/>
          <a:p>
            <a:pPr marL="0" lvl="1">
              <a:lnSpc>
                <a:spcPct val="150000"/>
              </a:lnSpc>
            </a:pPr>
            <a:r>
              <a:rPr lang="en-US" altLang="zh-CN" sz="1600" dirty="0"/>
              <a:t>AS A {user | persona | system},</a:t>
            </a:r>
          </a:p>
          <a:p>
            <a:pPr marL="0" lvl="1">
              <a:lnSpc>
                <a:spcPct val="150000"/>
              </a:lnSpc>
            </a:pPr>
            <a:r>
              <a:rPr lang="en-US" altLang="zh-CN" sz="1600" dirty="0"/>
              <a:t>[INSTEAD OF {current condition}]</a:t>
            </a:r>
          </a:p>
          <a:p>
            <a:pPr marL="0" lvl="1">
              <a:lnSpc>
                <a:spcPct val="150000"/>
              </a:lnSpc>
            </a:pPr>
            <a:r>
              <a:rPr lang="en-US" altLang="zh-CN" sz="1600" dirty="0"/>
              <a:t>I WANT TO {action} [IN {mode} TIME | IN {differentiating performance units} TO {utility performance units}</a:t>
            </a:r>
          </a:p>
          <a:p>
            <a:pPr marL="0" lvl="1">
              <a:lnSpc>
                <a:spcPct val="150000"/>
              </a:lnSpc>
            </a:pPr>
            <a:r>
              <a:rPr lang="en-US" altLang="zh-CN" sz="1600" dirty="0"/>
              <a:t>[SO THAT {value or justification}]</a:t>
            </a:r>
          </a:p>
          <a:p>
            <a:pPr marL="0" lvl="1">
              <a:lnSpc>
                <a:spcPct val="150000"/>
              </a:lnSpc>
            </a:pPr>
            <a:r>
              <a:rPr lang="en-US" altLang="zh-CN" sz="1600" dirty="0"/>
              <a:t>[NO LATER THAN {best by date}]</a:t>
            </a:r>
            <a:endParaRPr lang="zh-CN" altLang="en-US" sz="1600" dirty="0"/>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38382590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tx1"/>
                          </a:solidFill>
                        </a:rPr>
                        <a:t>Story name</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Story ID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tx1"/>
                          </a:solidFill>
                        </a:rPr>
                        <a:t>As a …</a:t>
                      </a:r>
                    </a:p>
                    <a:p>
                      <a:pPr>
                        <a:lnSpc>
                          <a:spcPct val="100000"/>
                        </a:lnSpc>
                      </a:pPr>
                      <a:r>
                        <a:rPr lang="en-US" altLang="zh-CN" sz="1600">
                          <a:solidFill>
                            <a:schemeClr val="tx1"/>
                          </a:solidFill>
                        </a:rPr>
                        <a:t>I want to…</a:t>
                      </a:r>
                    </a:p>
                    <a:p>
                      <a:pPr>
                        <a:lnSpc>
                          <a:spcPct val="100000"/>
                        </a:lnSpc>
                      </a:pPr>
                      <a:r>
                        <a:rPr lang="en-US" altLang="zh-CN" sz="1600">
                          <a:solidFill>
                            <a:schemeClr val="tx1"/>
                          </a:solidFill>
                        </a:rPr>
                        <a:t>So that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tx1"/>
                          </a:solidFill>
                        </a:rPr>
                        <a:t>Priorities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High 1 2 3 4 5 low</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Iteration number</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tx1"/>
                          </a:solidFill>
                        </a:rPr>
                        <a:t>Date started</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Date</a:t>
                      </a:r>
                      <a:r>
                        <a:rPr lang="zh-CN" altLang="en-US" sz="1600">
                          <a:solidFill>
                            <a:schemeClr val="tx1"/>
                          </a:solidFill>
                        </a:rPr>
                        <a:t> </a:t>
                      </a:r>
                      <a:r>
                        <a:rPr lang="en-US" altLang="zh-CN" sz="1600">
                          <a:solidFill>
                            <a:schemeClr val="tx1"/>
                          </a:solidFill>
                        </a:rPr>
                        <a:t>finished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1402904062"/>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tx1"/>
                          </a:solidFill>
                        </a:rPr>
                        <a:t>Acceptance Criteria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tx1"/>
                          </a:solidFill>
                        </a:rPr>
                        <a:t>Notes: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1146560797"/>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t>优先级</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角色</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用户故事 </a:t>
                      </a:r>
                      <a:r>
                        <a:rPr lang="en-US" sz="1600"/>
                        <a:t>User Story</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验收标准示例 </a:t>
                      </a:r>
                      <a:r>
                        <a:rPr lang="en-US" sz="1600"/>
                        <a:t>Acceptance Criteria</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t>作为 购物者</a:t>
                      </a:r>
                      <a:br>
                        <a:rPr lang="zh-CN" altLang="en-US" sz="1600" dirty="0"/>
                      </a:br>
                      <a:r>
                        <a:rPr lang="zh-CN" altLang="en-US" sz="1600" dirty="0"/>
                        <a:t>我想要 通过关键词搜索商品</a:t>
                      </a:r>
                      <a:br>
                        <a:rPr lang="zh-CN" altLang="en-US" sz="1600" dirty="0"/>
                      </a:br>
                      <a:r>
                        <a:rPr lang="zh-CN" altLang="en-US" sz="1600" dirty="0"/>
                        <a:t>以便 快速找到我感兴趣的具体产品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支持模糊匹配</a:t>
                      </a:r>
                      <a:br>
                        <a:rPr lang="zh-CN" altLang="en-US" sz="1600"/>
                      </a:br>
                      <a:r>
                        <a:rPr lang="en-US" altLang="zh-CN" sz="1600"/>
                        <a:t>2. </a:t>
                      </a:r>
                      <a:r>
                        <a:rPr lang="zh-CN" altLang="en-US" sz="1600"/>
                        <a:t>无结果时显示推荐商品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查看商品的详细图片和描述</a:t>
                      </a:r>
                      <a:br>
                        <a:rPr lang="zh-CN" altLang="en-US" sz="1600"/>
                      </a:br>
                      <a:r>
                        <a:rPr lang="zh-CN" altLang="en-US" sz="1600"/>
                        <a:t>以便 了解产品的具体规格和外观</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图片支持放大查看</a:t>
                      </a:r>
                      <a:br>
                        <a:rPr lang="zh-CN" altLang="en-US" sz="1600"/>
                      </a:br>
                      <a:r>
                        <a:rPr lang="en-US" altLang="zh-CN" sz="1600"/>
                        <a:t>2. </a:t>
                      </a:r>
                      <a:r>
                        <a:rPr lang="zh-CN" altLang="en-US" sz="1600"/>
                        <a:t>显示库存状态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t>P1 (</a:t>
                      </a:r>
                      <a:r>
                        <a:rPr lang="zh-CN" altLang="en-US" sz="1600"/>
                        <a:t>中</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按价格或销量对搜索结果排序</a:t>
                      </a:r>
                      <a:br>
                        <a:rPr lang="zh-CN" altLang="en-US" sz="1600"/>
                      </a:br>
                      <a:r>
                        <a:rPr lang="zh-CN" altLang="en-US" sz="1600"/>
                        <a:t>以便 筛选出性价比最高或最热门的商品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支持升序</a:t>
                      </a:r>
                      <a:r>
                        <a:rPr lang="en-US" altLang="zh-CN" sz="1600"/>
                        <a:t>/</a:t>
                      </a:r>
                      <a:r>
                        <a:rPr lang="zh-CN" altLang="en-US" sz="1600"/>
                        <a:t>降序切换</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t>P2 (</a:t>
                      </a:r>
                      <a:r>
                        <a:rPr lang="zh-CN" altLang="en-US" sz="1600"/>
                        <a:t>低</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查看其他用户的商品评价</a:t>
                      </a:r>
                      <a:br>
                        <a:rPr lang="zh-CN" altLang="en-US" sz="1600"/>
                      </a:br>
                      <a:r>
                        <a:rPr lang="zh-CN" altLang="en-US" sz="1600"/>
                        <a:t>以便 辅助我做出购买决策</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1. </a:t>
                      </a:r>
                      <a:r>
                        <a:rPr lang="zh-CN" altLang="en-US" sz="1600" dirty="0"/>
                        <a:t>显示评分星级</a:t>
                      </a:r>
                      <a:br>
                        <a:rPr lang="zh-CN" altLang="en-US" sz="1600" dirty="0"/>
                      </a:br>
                      <a:r>
                        <a:rPr lang="en-US" altLang="zh-CN" sz="1600" dirty="0"/>
                        <a:t>2. </a:t>
                      </a:r>
                      <a:r>
                        <a:rPr lang="zh-CN" altLang="en-US" sz="1600" dirty="0"/>
                        <a:t>支持查看带图评价</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2022122595"/>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t>优先级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角色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用户故事 </a:t>
                      </a:r>
                      <a:r>
                        <a:rPr lang="en-US" sz="1600" dirty="0"/>
                        <a:t>User Story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验收标准示例 </a:t>
                      </a:r>
                      <a:r>
                        <a:rPr lang="en-US" sz="1600"/>
                        <a:t>Acceptance Criteria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作为 购物者</a:t>
                      </a:r>
                      <a:br>
                        <a:rPr lang="zh-CN" altLang="en-US" sz="1600" dirty="0"/>
                      </a:br>
                      <a:r>
                        <a:rPr lang="zh-CN" altLang="en-US" sz="1600" dirty="0"/>
                        <a:t>我想要 选择商品的颜色、尺寸等规格</a:t>
                      </a:r>
                      <a:br>
                        <a:rPr lang="zh-CN" altLang="en-US" sz="1600" dirty="0"/>
                      </a:br>
                      <a:r>
                        <a:rPr lang="zh-CN" altLang="en-US" sz="1600" dirty="0"/>
                        <a:t>以便 确保买到符合我需求的款式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缺货规格置灰不可选</a:t>
                      </a:r>
                      <a:br>
                        <a:rPr lang="zh-CN" altLang="en-US" sz="1600"/>
                      </a:br>
                      <a:r>
                        <a:rPr lang="en-US" altLang="zh-CN" sz="1600"/>
                        <a:t>2. </a:t>
                      </a:r>
                      <a:r>
                        <a:rPr lang="zh-CN" altLang="en-US" sz="1600"/>
                        <a:t>选择不同规格价格自动更新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3634368"/>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设定购买数量并添加到购物车</a:t>
                      </a:r>
                      <a:br>
                        <a:rPr lang="zh-CN" altLang="en-US" sz="1600"/>
                      </a:br>
                      <a:r>
                        <a:rPr lang="zh-CN" altLang="en-US" sz="1600"/>
                        <a:t>以便 暂存商品，稍后统一结算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数量不能超过库存上限</a:t>
                      </a:r>
                      <a:br>
                        <a:rPr lang="zh-CN" altLang="en-US" sz="1600"/>
                      </a:br>
                      <a:r>
                        <a:rPr lang="en-US" altLang="zh-CN" sz="1600"/>
                        <a:t>2. </a:t>
                      </a:r>
                      <a:r>
                        <a:rPr lang="zh-CN" altLang="en-US" sz="1600"/>
                        <a:t>添加成功后有明确提示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583758"/>
                  </a:ext>
                </a:extLst>
              </a:tr>
              <a:tr h="457609">
                <a:tc>
                  <a:txBody>
                    <a:bodyPr/>
                    <a:lstStyle/>
                    <a:p>
                      <a:pPr algn="l">
                        <a:buNone/>
                      </a:pPr>
                      <a:r>
                        <a:rPr lang="en-US" sz="1600"/>
                        <a:t>P1 (</a:t>
                      </a:r>
                      <a:r>
                        <a:rPr lang="zh-CN" altLang="en-US" sz="1600"/>
                        <a:t>中</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在购物车修改已选商品数量或删除商品</a:t>
                      </a:r>
                      <a:br>
                        <a:rPr lang="zh-CN" altLang="en-US" sz="1600"/>
                      </a:br>
                      <a:r>
                        <a:rPr lang="zh-CN" altLang="en-US" sz="1600"/>
                        <a:t>以便 调整我的购买计划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t>1. </a:t>
                      </a:r>
                      <a:r>
                        <a:rPr lang="zh-CN" altLang="en-US" sz="1600" dirty="0"/>
                        <a:t>删除需二次确认</a:t>
                      </a:r>
                      <a:br>
                        <a:rPr lang="zh-CN" altLang="en-US" sz="1600" dirty="0"/>
                      </a:br>
                      <a:r>
                        <a:rPr lang="en-US" altLang="zh-CN" sz="1600" dirty="0"/>
                        <a:t>2. </a:t>
                      </a:r>
                      <a:r>
                        <a:rPr lang="zh-CN" altLang="en-US" sz="1600" dirty="0"/>
                        <a:t>总价随数量实时计算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pPr lvl="1"/>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r>
              <a:rPr lang="zh-CN" altLang="en-US" dirty="0"/>
              <a:t>实现</a:t>
            </a:r>
            <a:endParaRPr lang="en-US" altLang="zh-CN" dirty="0"/>
          </a:p>
          <a:p>
            <a:pPr lvl="1"/>
            <a:r>
              <a:rPr lang="zh-CN" altLang="en-US" dirty="0"/>
              <a:t>用户活动 </a:t>
            </a:r>
            <a:r>
              <a:rPr lang="en-US" altLang="zh-CN" dirty="0"/>
              <a:t>User activities</a:t>
            </a:r>
            <a:r>
              <a:rPr lang="zh-CN" altLang="en-US" dirty="0"/>
              <a:t>：高层级的用户目标或阶段，如注册、浏览商品、下单</a:t>
            </a:r>
          </a:p>
          <a:p>
            <a:pPr lvl="1"/>
            <a:r>
              <a:rPr lang="zh-CN" altLang="en-US" dirty="0"/>
              <a:t>用户任务 </a:t>
            </a:r>
            <a:r>
              <a:rPr lang="en-US" altLang="zh-CN" dirty="0"/>
              <a:t>User task</a:t>
            </a:r>
            <a:r>
              <a:rPr lang="zh-CN" altLang="en-US" dirty="0"/>
              <a:t>：完成该活动所需的具体操作步骤</a:t>
            </a:r>
          </a:p>
          <a:p>
            <a:pPr lvl="1"/>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pPr lvl="1"/>
            <a:r>
              <a:rPr lang="zh-CN" altLang="en-US" dirty="0"/>
              <a:t>强烈建议指定具体的用户</a:t>
            </a:r>
            <a:r>
              <a:rPr lang="en-US" altLang="zh-CN" dirty="0"/>
              <a:t>*</a:t>
            </a:r>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4" y="1897920"/>
            <a:ext cx="1433405" cy="307777"/>
          </a:xfrm>
          <a:prstGeom prst="rect">
            <a:avLst/>
          </a:prstGeom>
          <a:noFill/>
        </p:spPr>
        <p:txBody>
          <a:bodyPr wrap="none" rtlCol="0">
            <a:spAutoFit/>
          </a:bodyPr>
          <a:lstStyle/>
          <a:p>
            <a:pPr algn="r"/>
            <a:r>
              <a:rPr lang="en-US" altLang="zh-CN" sz="1400"/>
              <a:t>User activities</a:t>
            </a:r>
            <a:endParaRPr lang="zh-CN" altLang="en-US" sz="1400"/>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5" y="2335455"/>
            <a:ext cx="1016624" cy="307777"/>
          </a:xfrm>
          <a:prstGeom prst="rect">
            <a:avLst/>
          </a:prstGeom>
          <a:noFill/>
        </p:spPr>
        <p:txBody>
          <a:bodyPr wrap="none" rtlCol="0">
            <a:spAutoFit/>
          </a:bodyPr>
          <a:lstStyle/>
          <a:p>
            <a:pPr algn="r"/>
            <a:r>
              <a:rPr lang="en-US" altLang="zh-CN" sz="1400"/>
              <a:t>User task</a:t>
            </a:r>
            <a:endParaRPr lang="zh-CN" altLang="en-US" sz="1400"/>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t>Features</a:t>
            </a:r>
            <a:endParaRPr lang="zh-CN" altLang="en-US" sz="1400"/>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695998"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39080774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dirty="0">
                          <a:solidFill>
                            <a:schemeClr val="tx1"/>
                          </a:solidFill>
                        </a:rPr>
                        <a:t>Independent</a:t>
                      </a:r>
                    </a:p>
                    <a:p>
                      <a:pPr algn="l"/>
                      <a:r>
                        <a:rPr lang="zh-CN" altLang="en-US" sz="1600" b="0" dirty="0">
                          <a:solidFill>
                            <a:schemeClr val="tx1"/>
                          </a:solidFill>
                        </a:rPr>
                        <a:t>独立的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dirty="0">
                          <a:solidFill>
                            <a:schemeClr val="tx1"/>
                          </a:solidFill>
                        </a:rPr>
                        <a:t>Negotiable</a:t>
                      </a:r>
                    </a:p>
                    <a:p>
                      <a:pPr algn="l"/>
                      <a:r>
                        <a:rPr lang="zh-CN" altLang="en-US" sz="1600" b="0" dirty="0">
                          <a:solidFill>
                            <a:schemeClr val="tx1"/>
                          </a:solidFill>
                        </a:rPr>
                        <a:t>可协商的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有价值的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可估算的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411507156"/>
              </p:ext>
            </p:extLst>
          </p:nvPr>
        </p:nvGraphicFramePr>
        <p:xfrm>
          <a:off x="695325" y="3461683"/>
          <a:ext cx="10801350" cy="207264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sz="1600" dirty="0">
                          <a:solidFill>
                            <a:schemeClr val="bg1"/>
                          </a:solidFill>
                        </a:rPr>
                        <a:t>Role</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370110509"/>
                  </a:ext>
                </a:extLst>
              </a:tr>
              <a:tr h="0">
                <a:tc>
                  <a:txBody>
                    <a:bodyPr/>
                    <a:lstStyle/>
                    <a:p>
                      <a:pPr>
                        <a:buNone/>
                      </a:pPr>
                      <a:r>
                        <a:rPr lang="en-US" sz="1600"/>
                        <a:t>Customer / Business</a:t>
                      </a:r>
                    </a:p>
                    <a:p>
                      <a:pPr>
                        <a:buNone/>
                      </a:pPr>
                      <a:r>
                        <a:rPr lang="zh-CN" altLang="en-US" sz="1600"/>
                        <a:t>客户 </a:t>
                      </a:r>
                      <a:r>
                        <a:rPr lang="en-US" altLang="zh-CN" sz="1600"/>
                        <a:t>/ </a:t>
                      </a:r>
                      <a:r>
                        <a:rPr lang="zh-CN" altLang="en-US" sz="1600"/>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sz="1600"/>
                        <a:t>Developer</a:t>
                      </a:r>
                    </a:p>
                    <a:p>
                      <a:pPr>
                        <a:buNone/>
                      </a:pPr>
                      <a:r>
                        <a:rPr lang="zh-CN" altLang="en-US" sz="1600"/>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sz="1600"/>
                        <a:t>Tester / QA</a:t>
                      </a:r>
                    </a:p>
                    <a:p>
                      <a:pPr>
                        <a:buNone/>
                      </a:pPr>
                      <a:r>
                        <a:rPr lang="zh-CN" altLang="en-US" sz="1600"/>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2938305" cy="2160000"/>
            <a:chOff x="2383606" y="1597622"/>
            <a:chExt cx="2938305"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2938305" cy="2015936"/>
            </a:xfrm>
            <a:prstGeom prst="rect">
              <a:avLst/>
            </a:prstGeom>
            <a:noFill/>
          </p:spPr>
          <p:txBody>
            <a:bodyPr wrap="none" rtlCol="0">
              <a:spAutoFit/>
            </a:bodyPr>
            <a:lstStyle/>
            <a:p>
              <a:pPr marL="360000" algn="l">
                <a:spcAft>
                  <a:spcPts val="600"/>
                </a:spcAft>
              </a:pPr>
              <a:r>
                <a:rPr lang="en-US" altLang="zh-CN" sz="1600"/>
                <a:t>Scenario: [ description ]</a:t>
              </a:r>
              <a:endParaRPr lang="zh-CN" altLang="en-US" sz="1600"/>
            </a:p>
            <a:p>
              <a:pPr marL="720000">
                <a:spcAft>
                  <a:spcPts val="600"/>
                </a:spcAft>
              </a:pPr>
              <a:r>
                <a:rPr lang="en-US" altLang="zh-CN" sz="1600"/>
                <a:t>Given [ context ] </a:t>
              </a:r>
            </a:p>
            <a:p>
              <a:pPr marL="1080000">
                <a:spcAft>
                  <a:spcPts val="600"/>
                </a:spcAft>
              </a:pPr>
              <a:r>
                <a:rPr lang="en-US" altLang="zh-CN" sz="1600"/>
                <a:t>and [context ]</a:t>
              </a:r>
            </a:p>
            <a:p>
              <a:pPr marL="720000" algn="l">
                <a:spcAft>
                  <a:spcPts val="600"/>
                </a:spcAft>
              </a:pPr>
              <a:r>
                <a:rPr lang="en-US" altLang="zh-CN" sz="1600"/>
                <a:t>When [ event ]</a:t>
              </a:r>
              <a:endParaRPr lang="zh-CN" altLang="en-US" sz="1600"/>
            </a:p>
            <a:p>
              <a:pPr marL="720000" algn="l">
                <a:spcAft>
                  <a:spcPts val="600"/>
                </a:spcAft>
              </a:pPr>
              <a:r>
                <a:rPr lang="en-US" altLang="zh-CN" sz="1600"/>
                <a:t>Then [ result ]</a:t>
              </a:r>
            </a:p>
            <a:p>
              <a:pPr marL="1080000">
                <a:spcAft>
                  <a:spcPts val="600"/>
                </a:spcAft>
              </a:pPr>
              <a:r>
                <a:rPr lang="en-US" altLang="zh-CN" sz="1600"/>
                <a:t>And [ result ]</a:t>
              </a:r>
              <a:endParaRPr lang="zh-CN" altLang="en-US" sz="1600"/>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601260"/>
          </a:xfrm>
          <a:prstGeom prst="rect">
            <a:avLst/>
          </a:prstGeom>
          <a:noFill/>
        </p:spPr>
        <p:txBody>
          <a:bodyPr wrap="none" rtlCol="0">
            <a:spAutoFit/>
          </a:bodyPr>
          <a:lstStyle/>
          <a:p>
            <a:pPr algn="l">
              <a:spcAft>
                <a:spcPts val="600"/>
              </a:spcAft>
            </a:pPr>
            <a:r>
              <a:rPr lang="en-US" altLang="zh-CN" sz="1600"/>
              <a:t>Feature: </a:t>
            </a:r>
            <a:r>
              <a:rPr lang="zh-CN" altLang="en-US" sz="1600"/>
              <a:t>用户登录功能</a:t>
            </a:r>
          </a:p>
          <a:p>
            <a:pPr marL="360000" algn="l">
              <a:spcAft>
                <a:spcPts val="600"/>
              </a:spcAft>
            </a:pPr>
            <a:r>
              <a:rPr lang="zh-CN" altLang="en-US" sz="1600"/>
              <a:t>作为注册用户</a:t>
            </a:r>
          </a:p>
          <a:p>
            <a:pPr marL="360000" algn="l">
              <a:spcAft>
                <a:spcPts val="600"/>
              </a:spcAft>
            </a:pPr>
            <a:r>
              <a:rPr lang="zh-CN" altLang="en-US" sz="1600"/>
              <a:t>我希望能够使用邮箱和密码登录系统</a:t>
            </a:r>
          </a:p>
          <a:p>
            <a:pPr marL="360000" algn="l">
              <a:spcAft>
                <a:spcPts val="600"/>
              </a:spcAft>
            </a:pPr>
            <a:r>
              <a:rPr lang="zh-CN" altLang="en-US" sz="1600"/>
              <a:t>以便访问我的个人账户</a:t>
            </a:r>
          </a:p>
          <a:p>
            <a:pPr marL="360000" algn="l">
              <a:spcAft>
                <a:spcPts val="600"/>
              </a:spcAft>
            </a:pPr>
            <a:endParaRPr lang="zh-CN" altLang="en-US" sz="1600"/>
          </a:p>
          <a:p>
            <a:pPr marL="360000" algn="l">
              <a:spcAft>
                <a:spcPts val="600"/>
              </a:spcAft>
            </a:pPr>
            <a:r>
              <a:rPr lang="en-US" altLang="zh-CN" sz="1600"/>
              <a:t>Scenario: </a:t>
            </a:r>
            <a:r>
              <a:rPr lang="zh-CN" altLang="en-US" sz="1600"/>
              <a:t>成功登录</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我在登录页面输入正确的邮箱和密码</a:t>
            </a:r>
          </a:p>
          <a:p>
            <a:pPr marL="720000" algn="l">
              <a:spcAft>
                <a:spcPts val="600"/>
              </a:spcAft>
            </a:pPr>
            <a:r>
              <a:rPr lang="en-US" altLang="zh-CN" sz="1600"/>
              <a:t>Then </a:t>
            </a:r>
            <a:r>
              <a:rPr lang="zh-CN" altLang="en-US" sz="1600"/>
              <a:t>我应该看到欢迎页面，并显示“欢迎回来，</a:t>
            </a:r>
            <a:r>
              <a:rPr lang="en-US" altLang="zh-CN" sz="1600"/>
              <a:t>user</a:t>
            </a:r>
            <a:r>
              <a:rPr lang="zh-CN" altLang="en-US" sz="1600"/>
              <a:t>！”</a:t>
            </a:r>
          </a:p>
          <a:p>
            <a:pPr marL="360000" algn="l">
              <a:spcAft>
                <a:spcPts val="600"/>
              </a:spcAft>
            </a:pPr>
            <a:endParaRPr lang="zh-CN" altLang="en-US" sz="1600"/>
          </a:p>
          <a:p>
            <a:pPr marL="360000" algn="l">
              <a:spcAft>
                <a:spcPts val="600"/>
              </a:spcAft>
            </a:pPr>
            <a:r>
              <a:rPr lang="zh-CN" altLang="en-US" sz="1600"/>
              <a:t> </a:t>
            </a:r>
            <a:r>
              <a:rPr lang="en-US" altLang="zh-CN" sz="1600"/>
              <a:t>Scenario: </a:t>
            </a:r>
            <a:r>
              <a:rPr lang="zh-CN" altLang="en-US" sz="1600"/>
              <a:t>密码错误时登录失败</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我在登录页面输入错误的密码 </a:t>
            </a:r>
            <a:r>
              <a:rPr lang="en-US" altLang="zh-CN" sz="1600"/>
              <a:t>"wrong"</a:t>
            </a:r>
          </a:p>
          <a:p>
            <a:pPr marL="720000" algn="l">
              <a:spcAft>
                <a:spcPts val="600"/>
              </a:spcAft>
            </a:pPr>
            <a:r>
              <a:rPr lang="en-US" altLang="zh-CN" sz="1600"/>
              <a:t>Then </a:t>
            </a:r>
            <a:r>
              <a:rPr lang="zh-CN" altLang="en-US" sz="1600"/>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7896714" cy="1323439"/>
          </a:xfrm>
          <a:prstGeom prst="rect">
            <a:avLst/>
          </a:prstGeom>
          <a:noFill/>
        </p:spPr>
        <p:txBody>
          <a:bodyPr wrap="none" rtlCol="0">
            <a:spAutoFit/>
          </a:bodyPr>
          <a:lstStyle/>
          <a:p>
            <a:pPr>
              <a:buNone/>
            </a:pPr>
            <a:r>
              <a:rPr lang="en-US" altLang="zh-CN" sz="1600"/>
              <a:t>Sc</a:t>
            </a:r>
            <a:r>
              <a:rPr lang="az-Cyrl-AZ" altLang="zh-CN" sz="1600"/>
              <a:t>е</a:t>
            </a:r>
            <a:r>
              <a:rPr lang="en-US" altLang="zh-CN" sz="1600" dirty="0"/>
              <a:t>nario 1</a:t>
            </a:r>
            <a:r>
              <a:rPr lang="en-US" altLang="zh-CN" sz="1600"/>
              <a:t>: Succ</a:t>
            </a:r>
            <a:r>
              <a:rPr lang="az-Cyrl-AZ" altLang="zh-CN" sz="1600"/>
              <a:t>е</a:t>
            </a:r>
            <a:r>
              <a:rPr lang="en-US" altLang="zh-CN" sz="1600"/>
              <a:t>ssful</a:t>
            </a:r>
            <a:r>
              <a:rPr lang="en-US" altLang="zh-CN" sz="1600" dirty="0"/>
              <a:t> Login</a:t>
            </a:r>
          </a:p>
          <a:p>
            <a:pPr>
              <a:buNone/>
            </a:pPr>
            <a:r>
              <a:rPr lang="en-US" altLang="zh-CN" sz="1600"/>
              <a:t>Giv</a:t>
            </a:r>
            <a:r>
              <a:rPr lang="az-Cyrl-AZ" altLang="zh-CN" sz="1600"/>
              <a:t>е</a:t>
            </a:r>
            <a:r>
              <a:rPr lang="en-US" altLang="zh-CN" sz="1600" dirty="0"/>
              <a:t>n that </a:t>
            </a:r>
            <a:r>
              <a:rPr lang="en-US" altLang="zh-CN" sz="1600"/>
              <a:t>the us</a:t>
            </a:r>
            <a:r>
              <a:rPr lang="az-Cyrl-AZ" altLang="zh-CN" sz="1600"/>
              <a:t>е</a:t>
            </a:r>
            <a:r>
              <a:rPr lang="en-US" altLang="zh-CN" sz="1600" dirty="0"/>
              <a:t>r is on the login </a:t>
            </a:r>
            <a:r>
              <a:rPr lang="en-US" altLang="zh-CN" sz="1600"/>
              <a:t>form pag</a:t>
            </a:r>
            <a:r>
              <a:rPr lang="az-Cyrl-AZ" altLang="zh-CN" sz="1600" dirty="0"/>
              <a:t>е,</a:t>
            </a:r>
          </a:p>
          <a:p>
            <a:pPr>
              <a:buNone/>
            </a:pPr>
            <a:r>
              <a:rPr lang="en-US" altLang="zh-CN" sz="1600" dirty="0"/>
              <a:t>And </a:t>
            </a:r>
            <a:r>
              <a:rPr lang="en-US" altLang="zh-CN" sz="1600"/>
              <a:t>the 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dirty="0"/>
              <a:t>d a </a:t>
            </a:r>
            <a:r>
              <a:rPr lang="en-US" altLang="zh-CN" sz="1600"/>
              <a:t>valid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llo123",</a:t>
            </a:r>
          </a:p>
          <a:p>
            <a:pPr>
              <a:buNone/>
            </a:pPr>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pPr>
              <a:buNone/>
            </a:pPr>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succ</a:t>
            </a:r>
            <a:r>
              <a:rPr lang="az-Cyrl-AZ" altLang="zh-CN" sz="1600"/>
              <a:t>е</a:t>
            </a:r>
            <a:r>
              <a:rPr lang="en-US" altLang="zh-CN" sz="1600"/>
              <a:t>ssfully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hom</a:t>
            </a:r>
            <a:r>
              <a:rPr lang="az-Cyrl-AZ" altLang="zh-CN" sz="1600"/>
              <a:t>е</a:t>
            </a:r>
            <a:r>
              <a:rPr lang="en-US" altLang="zh-CN" sz="1600"/>
              <a:t>pag</a:t>
            </a:r>
            <a:r>
              <a:rPr lang="az-Cyrl-AZ" altLang="zh-CN" sz="1600" dirty="0"/>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5707012" cy="1569660"/>
          </a:xfrm>
          <a:prstGeom prst="rect">
            <a:avLst/>
          </a:prstGeom>
          <a:noFill/>
        </p:spPr>
        <p:txBody>
          <a:bodyPr wrap="none" rtlCol="0">
            <a:spAutoFit/>
          </a:bodyPr>
          <a:lstStyle/>
          <a:p>
            <a:r>
              <a:rPr lang="en-US" altLang="zh-CN" sz="1600"/>
              <a:t>Sc</a:t>
            </a:r>
            <a:r>
              <a:rPr lang="az-Cyrl-AZ" altLang="zh-CN" sz="1600"/>
              <a:t>е</a:t>
            </a:r>
            <a:r>
              <a:rPr lang="en-US" altLang="zh-CN" sz="1600" dirty="0"/>
              <a:t>nario 2: Forgot Password</a:t>
            </a:r>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a:t>
            </a:r>
            <a:r>
              <a:rPr lang="en-US" altLang="zh-CN" sz="1600"/>
              <a:t>on th</a:t>
            </a:r>
            <a:r>
              <a:rPr lang="az-Cyrl-AZ" altLang="zh-CN" sz="1600"/>
              <a:t>е </a:t>
            </a:r>
            <a:r>
              <a:rPr lang="en-US" altLang="zh-CN" sz="1600"/>
              <a:t>login pag</a:t>
            </a:r>
            <a:r>
              <a:rPr lang="az-Cyrl-AZ" altLang="zh-CN" sz="1600" dirty="0"/>
              <a:t>е,</a:t>
            </a:r>
          </a:p>
          <a:p>
            <a:r>
              <a:rPr lang="en-US" altLang="zh-CN" sz="1600"/>
              <a:t>And th</a:t>
            </a:r>
            <a:r>
              <a:rPr lang="az-Cyrl-AZ" altLang="zh-CN" sz="1600"/>
              <a:t>е </a:t>
            </a:r>
            <a:r>
              <a:rPr lang="en-US" altLang="zh-CN" sz="1600"/>
              <a:t>us</a:t>
            </a:r>
            <a:r>
              <a:rPr lang="az-Cyrl-AZ" altLang="zh-CN" sz="1600"/>
              <a:t>е</a:t>
            </a:r>
            <a:r>
              <a:rPr lang="en-US" altLang="zh-CN" sz="1600"/>
              <a:t>r </a:t>
            </a:r>
            <a:r>
              <a:rPr lang="az-Cyrl-AZ" altLang="zh-CN" sz="1600"/>
              <a:t>е</a:t>
            </a:r>
            <a:r>
              <a:rPr lang="en-US" altLang="zh-CN" sz="1600"/>
              <a:t>nt</a:t>
            </a:r>
            <a:r>
              <a:rPr lang="az-Cyrl-AZ" altLang="zh-CN" sz="1600"/>
              <a:t>е</a:t>
            </a:r>
            <a:r>
              <a:rPr lang="en-US" altLang="zh-CN" sz="1600"/>
              <a:t>rs th</a:t>
            </a:r>
            <a:r>
              <a:rPr lang="az-Cyrl-AZ" altLang="zh-CN" sz="1600"/>
              <a:t>е</a:t>
            </a:r>
            <a:r>
              <a:rPr lang="en-US" altLang="zh-CN" sz="1600"/>
              <a:t>ir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Forgot Password" link,</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r</a:t>
            </a:r>
            <a:r>
              <a:rPr lang="az-Cyrl-AZ" altLang="zh-CN" sz="1600"/>
              <a:t>е</a:t>
            </a:r>
            <a:r>
              <a:rPr lang="en-US" altLang="zh-CN" sz="1600"/>
              <a:t>s</a:t>
            </a:r>
            <a:r>
              <a:rPr lang="az-Cyrl-AZ" altLang="zh-CN" sz="1600"/>
              <a:t>е</a:t>
            </a:r>
            <a:r>
              <a:rPr lang="en-US" altLang="zh-CN" sz="1600" dirty="0"/>
              <a:t>t </a:t>
            </a:r>
            <a:r>
              <a:rPr lang="en-US" altLang="zh-CN" sz="1600"/>
              <a:t>password pag</a:t>
            </a:r>
            <a:r>
              <a:rPr lang="az-Cyrl-AZ" altLang="zh-CN" sz="1600" dirty="0"/>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8573181" cy="1846659"/>
          </a:xfrm>
          <a:prstGeom prst="rect">
            <a:avLst/>
          </a:prstGeom>
          <a:noFill/>
        </p:spPr>
        <p:txBody>
          <a:bodyPr wrap="none" rtlCol="0">
            <a:spAutoFit/>
          </a:bodyPr>
          <a:lstStyle/>
          <a:p>
            <a:r>
              <a:rPr lang="en-US" altLang="zh-CN" sz="1600"/>
              <a:t>Sc</a:t>
            </a:r>
            <a:r>
              <a:rPr lang="az-Cyrl-AZ" altLang="zh-CN" sz="1600"/>
              <a:t>е</a:t>
            </a:r>
            <a:r>
              <a:rPr lang="en-US" altLang="zh-CN" sz="1600" dirty="0"/>
              <a:t>nario 3</a:t>
            </a:r>
            <a:r>
              <a:rPr lang="en-US" altLang="zh-CN" sz="1600"/>
              <a:t>: Incorr</a:t>
            </a:r>
            <a:r>
              <a:rPr lang="az-Cyrl-AZ" altLang="zh-CN" sz="1600"/>
              <a:t>е</a:t>
            </a:r>
            <a:r>
              <a:rPr lang="en-US" altLang="zh-CN" sz="1600"/>
              <a:t>ct</a:t>
            </a:r>
            <a:r>
              <a:rPr lang="en-US" altLang="zh-CN" sz="1600" dirty="0"/>
              <a:t> </a:t>
            </a:r>
            <a:r>
              <a:rPr lang="en-US" altLang="zh-CN" sz="1600"/>
              <a:t>Login Cr</a:t>
            </a:r>
            <a:r>
              <a:rPr lang="az-Cyrl-AZ" altLang="zh-CN" sz="1600"/>
              <a:t>е</a:t>
            </a:r>
            <a:r>
              <a:rPr lang="en-US" altLang="zh-CN" sz="1600"/>
              <a:t>d</a:t>
            </a:r>
            <a:r>
              <a:rPr lang="az-Cyrl-AZ" altLang="zh-CN" sz="1600"/>
              <a:t>е</a:t>
            </a:r>
            <a:r>
              <a:rPr lang="en-US" altLang="zh-CN" sz="1600"/>
              <a:t>ntials</a:t>
            </a:r>
            <a:endParaRPr lang="en-US" altLang="zh-CN" sz="1600" dirty="0"/>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on </a:t>
            </a:r>
            <a:r>
              <a:rPr lang="en-US" altLang="zh-CN" sz="1600"/>
              <a:t>a pag</a:t>
            </a:r>
            <a:r>
              <a:rPr lang="az-Cyrl-AZ" altLang="zh-CN" sz="1600"/>
              <a:t>е </a:t>
            </a:r>
            <a:r>
              <a:rPr lang="en-US" altLang="zh-CN" sz="1600" dirty="0"/>
              <a:t>with </a:t>
            </a:r>
            <a:r>
              <a:rPr lang="en-US" altLang="zh-CN" sz="1600"/>
              <a:t>login fi</a:t>
            </a:r>
            <a:r>
              <a:rPr lang="az-Cyrl-AZ" altLang="zh-CN" sz="1600"/>
              <a:t>е</a:t>
            </a:r>
            <a:r>
              <a:rPr lang="en-US" altLang="zh-CN" sz="1600"/>
              <a:t>lds</a:t>
            </a:r>
            <a:r>
              <a:rPr lang="en-US" altLang="zh-CN" sz="1600" dirty="0"/>
              <a:t>,</a:t>
            </a:r>
          </a:p>
          <a:p>
            <a:r>
              <a:rPr lang="en-US" altLang="zh-CN" sz="1600"/>
              <a:t>And th</a:t>
            </a:r>
            <a:r>
              <a:rPr lang="az-Cyrl-AZ" altLang="zh-CN" sz="1600"/>
              <a:t>е </a:t>
            </a:r>
            <a:r>
              <a:rPr lang="en-US" altLang="zh-CN" sz="1600"/>
              <a:t>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a:t>d th</a:t>
            </a:r>
            <a:r>
              <a:rPr lang="az-Cyrl-AZ" altLang="zh-CN" sz="1600"/>
              <a:t>е </a:t>
            </a:r>
            <a:r>
              <a:rPr lang="en-US" altLang="zh-CN" sz="1600"/>
              <a:t>incorr</a:t>
            </a:r>
            <a:r>
              <a:rPr lang="az-Cyrl-AZ" altLang="zh-CN" sz="1600"/>
              <a:t>е</a:t>
            </a:r>
            <a:r>
              <a:rPr lang="en-US" altLang="zh-CN" sz="1600"/>
              <a:t>ct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llo321",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dirty="0"/>
              <a:t>login </a:t>
            </a:r>
            <a:r>
              <a:rPr lang="en-US" altLang="zh-CN" sz="1600"/>
              <a:t>form r</a:t>
            </a:r>
            <a:r>
              <a:rPr lang="az-Cyrl-AZ" altLang="zh-CN" sz="1600"/>
              <a:t>е</a:t>
            </a:r>
            <a:r>
              <a:rPr lang="en-US" altLang="zh-CN" sz="1600"/>
              <a:t>app</a:t>
            </a:r>
            <a:r>
              <a:rPr lang="az-Cyrl-AZ" altLang="zh-CN" sz="1600"/>
              <a:t>е</a:t>
            </a:r>
            <a:r>
              <a:rPr lang="en-US" altLang="zh-CN" sz="1600"/>
              <a:t>ars</a:t>
            </a:r>
            <a:r>
              <a:rPr lang="en-US" altLang="zh-CN" sz="1600" dirty="0"/>
              <a:t> </a:t>
            </a:r>
            <a:r>
              <a:rPr lang="en-US" altLang="zh-CN" sz="1600"/>
              <a:t>with th</a:t>
            </a:r>
            <a:r>
              <a:rPr lang="az-Cyrl-AZ" altLang="zh-CN" sz="1600"/>
              <a:t>е </a:t>
            </a:r>
            <a:r>
              <a:rPr lang="en-US" altLang="zh-CN" sz="1600"/>
              <a:t>us</a:t>
            </a:r>
            <a:r>
              <a:rPr lang="az-Cyrl-AZ" altLang="zh-CN" sz="1600"/>
              <a:t>е</a:t>
            </a:r>
            <a:r>
              <a:rPr lang="en-US" altLang="zh-CN" sz="1600"/>
              <a:t>rnam</a:t>
            </a:r>
            <a:r>
              <a:rPr lang="az-Cyrl-AZ" altLang="zh-CN" sz="1600"/>
              <a:t>е </a:t>
            </a:r>
            <a:r>
              <a:rPr lang="en-US" altLang="zh-CN" sz="1600"/>
              <a:t>still fill</a:t>
            </a:r>
            <a:r>
              <a:rPr lang="az-Cyrl-AZ" altLang="zh-CN" sz="1600"/>
              <a:t>е</a:t>
            </a:r>
            <a:r>
              <a:rPr lang="en-US" altLang="zh-CN" sz="1600" dirty="0"/>
              <a:t>d in and displays an </a:t>
            </a:r>
          </a:p>
          <a:p>
            <a:r>
              <a:rPr lang="az-Cyrl-AZ" altLang="zh-CN" sz="1600"/>
              <a:t>е</a:t>
            </a:r>
            <a:r>
              <a:rPr lang="en-US" altLang="zh-CN" sz="1600"/>
              <a:t>rror m</a:t>
            </a:r>
            <a:r>
              <a:rPr lang="az-Cyrl-AZ" altLang="zh-CN" sz="1600"/>
              <a:t>е</a:t>
            </a:r>
            <a:r>
              <a:rPr lang="en-US" altLang="zh-CN" sz="1600"/>
              <a:t>ssag</a:t>
            </a:r>
            <a:r>
              <a:rPr lang="az-Cyrl-AZ" altLang="zh-CN" sz="1600" dirty="0"/>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2781622159"/>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dirty="0">
                          <a:solidFill>
                            <a:schemeClr val="bg1"/>
                          </a:solidFill>
                        </a:rPr>
                        <a:t>维度</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TDD (Test-Driven Development)</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BDD (Behavior-Driven Development)</a:t>
                      </a:r>
                    </a:p>
                  </a:txBody>
                  <a:tcPr anchor="ctr">
                    <a:lnL>
                      <a:noFill/>
                    </a:lnL>
                    <a:lnR>
                      <a:noFill/>
                    </a:lnR>
                    <a:lnT>
                      <a:noFill/>
                    </a:lnT>
                    <a:lnB>
                      <a:noFill/>
                    </a:lnB>
                    <a:solidFill>
                      <a:srgbClr val="00B0F0"/>
                    </a:solidFill>
                  </a:tcPr>
                </a:tc>
                <a:extLst>
                  <a:ext uri="{0D108BD9-81ED-4DB2-BD59-A6C34878D82A}">
                    <a16:rowId xmlns:a16="http://schemas.microsoft.com/office/drawing/2014/main" val="3878949231"/>
                  </a:ext>
                </a:extLst>
              </a:tr>
              <a:tr h="162339">
                <a:tc>
                  <a:txBody>
                    <a:bodyPr/>
                    <a:lstStyle/>
                    <a:p>
                      <a:pPr>
                        <a:buNone/>
                      </a:pPr>
                      <a:r>
                        <a:rPr lang="zh-CN" altLang="en-US" sz="1600"/>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用户行为 </a:t>
                      </a:r>
                      <a:r>
                        <a:rPr lang="en-US" altLang="zh-CN" sz="1600"/>
                        <a:t>/ </a:t>
                      </a:r>
                      <a:r>
                        <a:rPr lang="zh-CN" altLang="en-US" sz="1600"/>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单个单元测试（</a:t>
                      </a:r>
                      <a:r>
                        <a:rPr lang="en-US" sz="1600" dirty="0"/>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验收测试 </a:t>
                      </a:r>
                      <a:r>
                        <a:rPr lang="en-US" altLang="zh-CN" sz="1600"/>
                        <a:t>/ </a:t>
                      </a:r>
                      <a:r>
                        <a:rPr lang="zh-CN" altLang="en-US" sz="1600"/>
                        <a:t>集成测试（</a:t>
                      </a:r>
                      <a:r>
                        <a:rPr lang="en-US" sz="1600"/>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编程语言（</a:t>
                      </a:r>
                      <a:r>
                        <a:rPr lang="en-US" sz="1600"/>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自然语言（</a:t>
                      </a:r>
                      <a:r>
                        <a:rPr lang="en-US" sz="1600"/>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开发者 </a:t>
                      </a:r>
                      <a:r>
                        <a:rPr lang="en-US" altLang="zh-CN" sz="1600"/>
                        <a:t>+ </a:t>
                      </a:r>
                      <a:r>
                        <a:rPr lang="zh-CN" altLang="en-US" sz="1600"/>
                        <a:t>测试 </a:t>
                      </a:r>
                      <a:r>
                        <a:rPr lang="en-US" altLang="zh-CN" sz="1600"/>
                        <a:t>+ </a:t>
                      </a:r>
                      <a:r>
                        <a:rPr lang="zh-CN" altLang="en-US" sz="1600"/>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test_add_two_numbers()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Scenario: User logs in successfully</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5998"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695998"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695998"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System </a:t>
            </a:r>
            <a:r>
              <a:rPr lang="en-US" altLang="zh-CN" sz="1400" dirty="0">
                <a:solidFill>
                  <a:schemeClr val="tx1"/>
                </a:solidFill>
              </a:rPr>
              <a:t>1</a:t>
            </a:r>
            <a:endParaRPr lang="zh-CN" altLang="en-US" sz="1400" dirty="0">
              <a:solidFill>
                <a:schemeClr val="tx1"/>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1.1</a:t>
            </a:r>
            <a:endParaRPr lang="zh-CN" altLang="en-US" sz="1400" dirty="0">
              <a:solidFill>
                <a:schemeClr val="tx1"/>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1.2</a:t>
            </a:r>
            <a:endParaRPr lang="zh-CN" altLang="en-US" sz="1400" dirty="0">
              <a:solidFill>
                <a:schemeClr val="tx1"/>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1.3</a:t>
            </a:r>
            <a:endParaRPr lang="zh-CN" altLang="en-US" sz="1400" dirty="0">
              <a:solidFill>
                <a:schemeClr val="tx1"/>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1.1.1</a:t>
            </a:r>
            <a:endParaRPr lang="zh-CN" altLang="en-US" sz="1400" dirty="0">
              <a:solidFill>
                <a:schemeClr val="tx1"/>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1.1.2</a:t>
            </a:r>
            <a:endParaRPr lang="zh-CN" altLang="en-US" sz="1400" dirty="0">
              <a:solidFill>
                <a:schemeClr val="tx1"/>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1.1.3</a:t>
            </a:r>
            <a:endParaRPr lang="zh-CN" altLang="en-US" sz="1400" dirty="0">
              <a:solidFill>
                <a:schemeClr val="tx1"/>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1.2.1</a:t>
            </a:r>
            <a:endParaRPr lang="zh-CN" altLang="en-US" sz="1400" dirty="0">
              <a:solidFill>
                <a:schemeClr val="tx1"/>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1.2.2</a:t>
            </a:r>
            <a:endParaRPr lang="zh-CN" altLang="en-US" sz="1400" dirty="0">
              <a:solidFill>
                <a:schemeClr val="tx1"/>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1.3.1</a:t>
            </a:r>
            <a:endParaRPr lang="zh-CN" altLang="en-US" sz="1400" dirty="0">
              <a:solidFill>
                <a:schemeClr val="tx1"/>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1.3.2</a:t>
            </a:r>
            <a:endParaRPr lang="zh-CN" altLang="en-US" sz="1400" dirty="0">
              <a:solidFill>
                <a:schemeClr val="tx1"/>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1.3.3</a:t>
            </a:r>
            <a:endParaRPr lang="zh-CN" altLang="en-US" sz="1400" dirty="0">
              <a:solidFill>
                <a:schemeClr val="tx1"/>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695998"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2060203250"/>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b="0" dirty="0">
                          <a:solidFill>
                            <a:schemeClr val="tx1"/>
                          </a:solidFill>
                        </a:rPr>
                        <a:t>[Word]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目录</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[PPT]</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组织结构图</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695998"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67221760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rgbClr val="00B0F0"/>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rgbClr val="00B0F0"/>
                    </a:solidFill>
                  </a:tcPr>
                </a:tc>
                <a:extLst>
                  <a:ext uri="{0D108BD9-81ED-4DB2-BD59-A6C34878D82A}">
                    <a16:rowId xmlns:a16="http://schemas.microsoft.com/office/drawing/2014/main" val="2925805395"/>
                  </a:ext>
                </a:extLst>
              </a:tr>
              <a:tr h="0">
                <a:tc>
                  <a:txBody>
                    <a:bodyPr/>
                    <a:lstStyle/>
                    <a:p>
                      <a:pPr algn="ctr">
                        <a:buNone/>
                      </a:pPr>
                      <a:r>
                        <a:rPr lang="en-US" sz="1600" dirty="0"/>
                        <a:t>WBS </a:t>
                      </a:r>
                      <a:r>
                        <a:rPr lang="zh-CN" altLang="en-US" sz="1600" dirty="0"/>
                        <a:t>编码</a:t>
                      </a:r>
                    </a:p>
                  </a:txBody>
                  <a:tcPr anchor="ctr">
                    <a:lnL>
                      <a:noFill/>
                    </a:lnL>
                    <a:lnR>
                      <a:noFill/>
                    </a:lnR>
                    <a:lnT>
                      <a:noFill/>
                    </a:lnT>
                    <a:lnB>
                      <a:noFill/>
                    </a:lnB>
                    <a:noFill/>
                  </a:tcPr>
                </a:tc>
                <a:tc>
                  <a:txBody>
                    <a:bodyPr/>
                    <a:lstStyle/>
                    <a:p>
                      <a:pPr algn="l">
                        <a:buNone/>
                      </a:pPr>
                      <a:r>
                        <a:rPr lang="en-US" altLang="zh-CN" sz="1600"/>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ctr">
                        <a:buNone/>
                      </a:pPr>
                      <a:r>
                        <a:rPr lang="zh-CN" altLang="en-US" sz="1600" dirty="0"/>
                        <a:t>工作包名称</a:t>
                      </a:r>
                    </a:p>
                  </a:txBody>
                  <a:tcPr anchor="ctr">
                    <a:lnL>
                      <a:noFill/>
                    </a:lnL>
                    <a:lnR>
                      <a:noFill/>
                    </a:lnR>
                    <a:lnT>
                      <a:noFill/>
                    </a:lnT>
                    <a:lnB>
                      <a:noFill/>
                    </a:lnB>
                    <a:noFill/>
                  </a:tcPr>
                </a:tc>
                <a:tc>
                  <a:txBody>
                    <a:bodyPr/>
                    <a:lstStyle/>
                    <a:p>
                      <a:pPr algn="l">
                        <a:buNone/>
                      </a:pPr>
                      <a:r>
                        <a:rPr lang="zh-CN" altLang="en-US" sz="1600"/>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ctr">
                        <a:buNone/>
                      </a:pPr>
                      <a:r>
                        <a:rPr lang="zh-CN" altLang="en-US" sz="1600" dirty="0"/>
                        <a:t>负责人</a:t>
                      </a:r>
                    </a:p>
                  </a:txBody>
                  <a:tcPr anchor="ctr">
                    <a:lnL>
                      <a:noFill/>
                    </a:lnL>
                    <a:lnR>
                      <a:noFill/>
                    </a:lnR>
                    <a:lnT>
                      <a:noFill/>
                    </a:lnT>
                    <a:lnB>
                      <a:noFill/>
                    </a:lnB>
                    <a:noFill/>
                  </a:tcPr>
                </a:tc>
                <a:tc>
                  <a:txBody>
                    <a:bodyPr/>
                    <a:lstStyle/>
                    <a:p>
                      <a:pPr algn="l">
                        <a:buNone/>
                      </a:pPr>
                      <a:r>
                        <a:rPr lang="zh-CN" altLang="en-US" sz="1600" dirty="0"/>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ctr">
                        <a:buNone/>
                      </a:pPr>
                      <a:r>
                        <a:rPr lang="zh-CN" altLang="en-US" sz="1600" dirty="0"/>
                        <a:t>工作描述</a:t>
                      </a:r>
                    </a:p>
                  </a:txBody>
                  <a:tcPr anchor="ctr">
                    <a:lnL>
                      <a:noFill/>
                    </a:lnL>
                    <a:lnR>
                      <a:noFill/>
                    </a:lnR>
                    <a:lnT>
                      <a:noFill/>
                    </a:lnT>
                    <a:lnB>
                      <a:noFill/>
                    </a:lnB>
                    <a:noFill/>
                  </a:tcPr>
                </a:tc>
                <a:tc>
                  <a:txBody>
                    <a:bodyPr/>
                    <a:lstStyle/>
                    <a:p>
                      <a:pPr algn="l">
                        <a:buNone/>
                      </a:pPr>
                      <a:r>
                        <a:rPr lang="zh-CN" altLang="en-US" sz="1600" dirty="0"/>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ctr">
                        <a:buNone/>
                      </a:pPr>
                      <a:r>
                        <a:rPr lang="zh-CN" altLang="en-US" sz="1600" dirty="0"/>
                        <a:t>可交付成果</a:t>
                      </a:r>
                    </a:p>
                  </a:txBody>
                  <a:tcPr anchor="ctr">
                    <a:lnL>
                      <a:noFill/>
                    </a:lnL>
                    <a:lnR>
                      <a:noFill/>
                    </a:lnR>
                    <a:lnT>
                      <a:noFill/>
                    </a:lnT>
                    <a:lnB>
                      <a:noFill/>
                    </a:lnB>
                    <a:noFill/>
                  </a:tcPr>
                </a:tc>
                <a:tc>
                  <a:txBody>
                    <a:bodyPr/>
                    <a:lstStyle/>
                    <a:p>
                      <a:pPr algn="l">
                        <a:buNone/>
                      </a:pPr>
                      <a:r>
                        <a:rPr lang="en-US" altLang="zh-CN" sz="1600"/>
                        <a:t>1. </a:t>
                      </a:r>
                      <a:r>
                        <a:rPr lang="zh-CN" altLang="en-US" sz="1600"/>
                        <a:t>采购清单确认表</a:t>
                      </a:r>
                      <a:br>
                        <a:rPr lang="zh-CN" altLang="en-US" sz="1600"/>
                      </a:br>
                      <a:r>
                        <a:rPr lang="en-US" altLang="zh-CN" sz="1600"/>
                        <a:t>2. </a:t>
                      </a:r>
                      <a:r>
                        <a:rPr lang="zh-CN" altLang="en-US" sz="1600"/>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ctr">
                        <a:buNone/>
                      </a:pPr>
                      <a:r>
                        <a:rPr lang="zh-CN" altLang="en-US" sz="1600" dirty="0"/>
                        <a:t>前置任务</a:t>
                      </a:r>
                    </a:p>
                  </a:txBody>
                  <a:tcPr anchor="ctr">
                    <a:lnL>
                      <a:noFill/>
                    </a:lnL>
                    <a:lnR>
                      <a:noFill/>
                    </a:lnR>
                    <a:lnT>
                      <a:noFill/>
                    </a:lnT>
                    <a:lnB>
                      <a:noFill/>
                    </a:lnB>
                    <a:noFill/>
                  </a:tcPr>
                </a:tc>
                <a:tc>
                  <a:txBody>
                    <a:bodyPr/>
                    <a:lstStyle/>
                    <a:p>
                      <a:pPr algn="l">
                        <a:buNone/>
                      </a:pPr>
                      <a:r>
                        <a:rPr lang="en-US" altLang="zh-CN" sz="1600"/>
                        <a:t>1.2.1 </a:t>
                      </a:r>
                      <a:r>
                        <a:rPr lang="zh-CN" altLang="en-US" sz="1600"/>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ctr">
                        <a:buNone/>
                      </a:pPr>
                      <a:r>
                        <a:rPr lang="zh-CN" altLang="en-US" sz="1600" dirty="0"/>
                        <a:t>时间要求</a:t>
                      </a:r>
                    </a:p>
                  </a:txBody>
                  <a:tcPr anchor="ctr">
                    <a:lnL>
                      <a:noFill/>
                    </a:lnL>
                    <a:lnR>
                      <a:noFill/>
                    </a:lnR>
                    <a:lnT>
                      <a:noFill/>
                    </a:lnT>
                    <a:lnB>
                      <a:noFill/>
                    </a:lnB>
                    <a:noFill/>
                  </a:tcPr>
                </a:tc>
                <a:tc>
                  <a:txBody>
                    <a:bodyPr/>
                    <a:lstStyle/>
                    <a:p>
                      <a:pPr algn="l">
                        <a:buNone/>
                      </a:pPr>
                      <a:r>
                        <a:rPr lang="zh-CN" altLang="en-US" sz="1600"/>
                        <a:t>必须在 </a:t>
                      </a:r>
                      <a:r>
                        <a:rPr lang="en-US" altLang="zh-CN" sz="1600"/>
                        <a:t>12</a:t>
                      </a:r>
                      <a:r>
                        <a:rPr lang="zh-CN" altLang="en-US" sz="1600"/>
                        <a:t>月</a:t>
                      </a:r>
                      <a:r>
                        <a:rPr lang="en-US" altLang="zh-CN" sz="1600"/>
                        <a:t>25</a:t>
                      </a:r>
                      <a:r>
                        <a:rPr lang="zh-CN" altLang="en-US" sz="1600"/>
                        <a:t>日 </a:t>
                      </a:r>
                      <a:r>
                        <a:rPr lang="en-US" altLang="zh-CN" sz="1600"/>
                        <a:t>14:00 </a:t>
                      </a:r>
                      <a:r>
                        <a:rPr lang="zh-CN" altLang="en-US" sz="1600"/>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ctr">
                        <a:buNone/>
                      </a:pPr>
                      <a:r>
                        <a:rPr lang="zh-CN" altLang="en-US" sz="1600" dirty="0"/>
                        <a:t>成本预算</a:t>
                      </a:r>
                    </a:p>
                  </a:txBody>
                  <a:tcPr anchor="ctr">
                    <a:lnL>
                      <a:noFill/>
                    </a:lnL>
                    <a:lnR>
                      <a:noFill/>
                    </a:lnR>
                    <a:lnT>
                      <a:noFill/>
                    </a:lnT>
                    <a:lnB>
                      <a:noFill/>
                    </a:lnB>
                    <a:noFill/>
                  </a:tcPr>
                </a:tc>
                <a:tc>
                  <a:txBody>
                    <a:bodyPr/>
                    <a:lstStyle/>
                    <a:p>
                      <a:pPr algn="l">
                        <a:buNone/>
                      </a:pPr>
                      <a:r>
                        <a:rPr lang="en-US" altLang="zh-CN" sz="1600"/>
                        <a:t>2,000 - 2,500 </a:t>
                      </a:r>
                      <a:r>
                        <a:rPr lang="zh-CN" altLang="en-US" sz="1600"/>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ctr">
                        <a:buNone/>
                      </a:pPr>
                      <a:r>
                        <a:rPr lang="zh-CN" altLang="en-US" sz="1600" dirty="0"/>
                        <a:t>质量</a:t>
                      </a:r>
                      <a:r>
                        <a:rPr lang="en-US" altLang="zh-CN" sz="1600" dirty="0"/>
                        <a:t>/</a:t>
                      </a:r>
                      <a:r>
                        <a:rPr lang="zh-CN" altLang="en-US" sz="1600" dirty="0"/>
                        <a:t>要求</a:t>
                      </a:r>
                    </a:p>
                  </a:txBody>
                  <a:tcPr anchor="ctr">
                    <a:lnL>
                      <a:noFill/>
                    </a:lnL>
                    <a:lnR>
                      <a:noFill/>
                    </a:lnR>
                    <a:lnT>
                      <a:noFill/>
                    </a:lnT>
                    <a:lnB>
                      <a:noFill/>
                    </a:lnB>
                    <a:noFill/>
                  </a:tcPr>
                </a:tc>
                <a:tc>
                  <a:txBody>
                    <a:bodyPr/>
                    <a:lstStyle/>
                    <a:p>
                      <a:pPr algn="l">
                        <a:buNone/>
                      </a:pPr>
                      <a:r>
                        <a:rPr lang="zh-CN" altLang="en-US" sz="1600" dirty="0"/>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695998"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695998"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Epic</a:t>
              </a:r>
              <a:endParaRPr lang="zh-CN" altLang="en-US" sz="1600" kern="1200" dirty="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695998"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323439"/>
          </a:xfrm>
          <a:prstGeom prst="rect">
            <a:avLst/>
          </a:prstGeom>
          <a:noFill/>
        </p:spPr>
        <p:txBody>
          <a:bodyPr wrap="square" rtlCol="0">
            <a:spAutoFit/>
          </a:bodyPr>
          <a:lstStyle/>
          <a:p>
            <a:r>
              <a:rPr lang="en-US" altLang="zh-CN" sz="1600" dirty="0"/>
              <a:t>Epic</a:t>
            </a:r>
          </a:p>
          <a:p>
            <a:r>
              <a:rPr lang="en-US" altLang="zh-CN" sz="1600" dirty="0"/>
              <a:t>As a busy executive,</a:t>
            </a:r>
            <a:br>
              <a:rPr lang="en-US" altLang="zh-CN" sz="1600" dirty="0"/>
            </a:br>
            <a:r>
              <a:rPr lang="en-US" altLang="zh-CN" sz="1600" dirty="0"/>
              <a:t>I want to be able to save favorites on my mobile weather application</a:t>
            </a:r>
            <a:br>
              <a:rPr lang="en-US" altLang="zh-CN" sz="1600" dirty="0"/>
            </a:br>
            <a:r>
              <a:rPr lang="en-US" altLang="zh-CN" sz="1600" dirty="0"/>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077218"/>
          </a:xfrm>
          <a:prstGeom prst="rect">
            <a:avLst/>
          </a:prstGeom>
          <a:noFill/>
        </p:spPr>
        <p:txBody>
          <a:bodyPr wrap="square" rtlCol="0">
            <a:spAutoFit/>
          </a:bodyPr>
          <a:lstStyle/>
          <a:p>
            <a:r>
              <a:rPr lang="en-US" altLang="zh-CN" sz="1600"/>
              <a:t>Break down story 1</a:t>
            </a:r>
          </a:p>
          <a:p>
            <a:r>
              <a:rPr lang="en-US" altLang="zh-CN" sz="1600"/>
              <a:t>As a busy executive,</a:t>
            </a:r>
            <a:br>
              <a:rPr lang="en-US" altLang="zh-CN" sz="1600"/>
            </a:br>
            <a:r>
              <a:rPr lang="en-US" altLang="zh-CN" sz="1600"/>
              <a:t>I want to be able to save a search location to my list of favorites from my mobile device</a:t>
            </a:r>
            <a:br>
              <a:rPr lang="en-US" altLang="zh-CN" sz="1600"/>
            </a:br>
            <a:r>
              <a:rPr lang="en-US" altLang="zh-CN" sz="1600"/>
              <a:t>So that I can reuse that search on future visits.</a:t>
            </a:r>
            <a:endParaRPr lang="zh-CN" altLang="en-US" sz="1600"/>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077218"/>
          </a:xfrm>
          <a:prstGeom prst="rect">
            <a:avLst/>
          </a:prstGeom>
          <a:noFill/>
        </p:spPr>
        <p:txBody>
          <a:bodyPr wrap="square" rtlCol="0">
            <a:spAutoFit/>
          </a:bodyPr>
          <a:lstStyle/>
          <a:p>
            <a:r>
              <a:rPr lang="en-US" altLang="zh-CN" sz="1600" dirty="0"/>
              <a:t>Break down story 2</a:t>
            </a:r>
          </a:p>
          <a:p>
            <a:r>
              <a:rPr lang="en-US" altLang="zh-CN" sz="1600" dirty="0"/>
              <a:t>As a busy executive,</a:t>
            </a:r>
            <a:br>
              <a:rPr lang="en-US" altLang="zh-CN" sz="1600" dirty="0"/>
            </a:br>
            <a:r>
              <a:rPr lang="en-US" altLang="zh-CN" sz="1600" dirty="0"/>
              <a:t>I want to be able to name my saved searches from my mobile device</a:t>
            </a:r>
            <a:br>
              <a:rPr lang="en-US" altLang="zh-CN" sz="1600" dirty="0"/>
            </a:br>
            <a:r>
              <a:rPr lang="en-US" altLang="zh-CN" sz="1600" dirty="0"/>
              <a:t>so that I know how to access each saved search in the future.</a:t>
            </a:r>
            <a:endParaRPr lang="zh-CN" altLang="en-US" sz="1600" dirty="0"/>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323439"/>
          </a:xfrm>
          <a:prstGeom prst="rect">
            <a:avLst/>
          </a:prstGeom>
          <a:noFill/>
        </p:spPr>
        <p:txBody>
          <a:bodyPr wrap="square" rtlCol="0">
            <a:spAutoFit/>
          </a:bodyPr>
          <a:lstStyle/>
          <a:p>
            <a:r>
              <a:rPr lang="en-US" altLang="zh-CN" sz="1600" dirty="0"/>
              <a:t>Break down story 3</a:t>
            </a:r>
          </a:p>
          <a:p>
            <a:r>
              <a:rPr lang="en-US" altLang="zh-CN" sz="1600" dirty="0"/>
              <a:t>As a busy executive,</a:t>
            </a:r>
            <a:br>
              <a:rPr lang="en-US" altLang="zh-CN" sz="1600" dirty="0"/>
            </a:br>
            <a:r>
              <a:rPr lang="en-US" altLang="zh-CN" sz="1600" dirty="0"/>
              <a:t>I want the name of my saved searches to default to the city name, unless I choose to manually override it</a:t>
            </a:r>
            <a:br>
              <a:rPr lang="en-US" altLang="zh-CN" sz="1600" dirty="0"/>
            </a:br>
            <a:r>
              <a:rPr lang="en-US" altLang="zh-CN" sz="1600" dirty="0"/>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569660"/>
          </a:xfrm>
          <a:prstGeom prst="rect">
            <a:avLst/>
          </a:prstGeom>
          <a:noFill/>
        </p:spPr>
        <p:txBody>
          <a:bodyPr wrap="square" rtlCol="0">
            <a:spAutoFit/>
          </a:bodyPr>
          <a:lstStyle/>
          <a:p>
            <a:r>
              <a:rPr lang="en-US" altLang="zh-CN" sz="1600"/>
              <a:t>Break down story 4</a:t>
            </a:r>
          </a:p>
          <a:p>
            <a:r>
              <a:rPr lang="en-US" altLang="zh-CN" sz="1600"/>
              <a:t>As a busy executive,</a:t>
            </a:r>
            <a:br>
              <a:rPr lang="en-US" altLang="zh-CN" sz="1600"/>
            </a:br>
            <a:r>
              <a:rPr lang="en-US" altLang="zh-CN" sz="1600"/>
              <a:t>I want my “saved favorites” option on the user interface to be presented on a mobile device near the “search location”</a:t>
            </a:r>
            <a:br>
              <a:rPr lang="en-US" altLang="zh-CN" sz="1600"/>
            </a:br>
            <a:r>
              <a:rPr lang="en-US" altLang="zh-CN" sz="1600"/>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031325"/>
          </a:xfrm>
          <a:prstGeom prst="rect">
            <a:avLst/>
          </a:prstGeom>
          <a:noFill/>
        </p:spPr>
        <p:txBody>
          <a:bodyPr wrap="square" rtlCol="0">
            <a:spAutoFit/>
          </a:bodyPr>
          <a:lstStyle/>
          <a:p>
            <a:pPr>
              <a:spcAft>
                <a:spcPts val="1200"/>
              </a:spcAft>
            </a:pPr>
            <a:r>
              <a:rPr lang="en-US" altLang="zh-CN" sz="1600" dirty="0"/>
              <a:t>Acceptance Criteria</a:t>
            </a:r>
          </a:p>
          <a:p>
            <a:pPr marL="342900" indent="-342900">
              <a:spcAft>
                <a:spcPts val="1200"/>
              </a:spcAft>
              <a:buFont typeface="+mj-lt"/>
              <a:buAutoNum type="arabicPeriod"/>
            </a:pPr>
            <a:r>
              <a:rPr lang="en-US" altLang="zh-CN" sz="1600" dirty="0"/>
              <a:t>Acceptance Criteria is simply a high-level acceptance test that will be true after the agile user story is complete.</a:t>
            </a:r>
          </a:p>
          <a:p>
            <a:pPr marL="342900" indent="-342900">
              <a:spcAft>
                <a:spcPts val="1200"/>
              </a:spcAft>
              <a:buFont typeface="+mj-lt"/>
              <a:buAutoNum type="arabicPeriod"/>
            </a:pPr>
            <a:r>
              <a:rPr lang="en-US" altLang="zh-CN" sz="1600" dirty="0"/>
              <a:t>Normally written on the back of the story card.</a:t>
            </a:r>
          </a:p>
          <a:p>
            <a:pPr marL="342900" indent="-342900">
              <a:spcAft>
                <a:spcPts val="1200"/>
              </a:spcAft>
              <a:buFont typeface="+mj-lt"/>
              <a:buAutoNum type="arabicPeriod"/>
            </a:pPr>
            <a:r>
              <a:rPr lang="en-US" altLang="zh-CN" sz="1600" dirty="0"/>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210862" cy="338554"/>
          </a:xfrm>
          <a:prstGeom prst="rect">
            <a:avLst/>
          </a:prstGeom>
          <a:noFill/>
        </p:spPr>
        <p:txBody>
          <a:bodyPr wrap="none" rtlCol="0">
            <a:spAutoFit/>
          </a:bodyPr>
          <a:lstStyle/>
          <a:p>
            <a:r>
              <a:rPr lang="zh-CN" altLang="en-US" sz="1600" dirty="0"/>
              <a:t>课后</a:t>
            </a:r>
            <a:r>
              <a:rPr lang="zh-CN" altLang="en-US" sz="1600"/>
              <a:t>思考 </a:t>
            </a:r>
            <a:r>
              <a:rPr lang="en-US" altLang="zh-CN" sz="1600" dirty="0"/>
              <a:t>Homework</a:t>
            </a:r>
            <a:endParaRPr lang="zh-CN" altLang="en-US" sz="1600" dirty="0"/>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6407523" cy="338554"/>
          </a:xfrm>
          <a:prstGeom prst="rect">
            <a:avLst/>
          </a:prstGeom>
          <a:noFill/>
        </p:spPr>
        <p:txBody>
          <a:bodyPr wrap="none" rtlCol="0">
            <a:spAutoFit/>
          </a:bodyPr>
          <a:lstStyle/>
          <a:p>
            <a:r>
              <a:rPr lang="zh-CN" altLang="en-US" sz="1600" dirty="0"/>
              <a:t>举例并</a:t>
            </a:r>
            <a:r>
              <a:rPr lang="zh-CN" altLang="en-US" sz="1600"/>
              <a:t>分析：</a:t>
            </a:r>
            <a:r>
              <a:rPr lang="en-US" altLang="zh-CN" sz="1600"/>
              <a:t>SOW</a:t>
            </a:r>
            <a:r>
              <a:rPr lang="zh-CN" altLang="en-US" sz="1600"/>
              <a:t>、</a:t>
            </a:r>
            <a:r>
              <a:rPr lang="en-US" altLang="zh-CN" sz="1600"/>
              <a:t>SRS</a:t>
            </a:r>
            <a:r>
              <a:rPr lang="zh-CN" altLang="en-US" sz="1600"/>
              <a:t>、</a:t>
            </a:r>
            <a:r>
              <a:rPr lang="en-US" altLang="zh-CN" sz="1600"/>
              <a:t>WBS</a:t>
            </a:r>
            <a:r>
              <a:rPr lang="zh-CN" altLang="en-US" sz="1600"/>
              <a:t>、</a:t>
            </a:r>
            <a:r>
              <a:rPr lang="en-US" altLang="zh-CN" sz="1600" dirty="0"/>
              <a:t>Package </a:t>
            </a:r>
            <a:r>
              <a:rPr lang="zh-CN" altLang="en-US" sz="1600"/>
              <a:t>和 </a:t>
            </a:r>
            <a:r>
              <a:rPr lang="en-US" altLang="zh-CN" sz="1600" dirty="0"/>
              <a:t>Dictionary </a:t>
            </a:r>
            <a:r>
              <a:rPr lang="zh-CN" altLang="en-US" sz="1600" dirty="0"/>
              <a:t>的关系</a:t>
            </a:r>
          </a:p>
        </p:txBody>
      </p:sp>
    </p:spTree>
    <p:extLst>
      <p:ext uri="{BB962C8B-B14F-4D97-AF65-F5344CB8AC3E}">
        <p14:creationId xmlns:p14="http://schemas.microsoft.com/office/powerpoint/2010/main" val="104812516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ysClr val="windowText" lastClr="000000"/>
                </a:solidFill>
              </a:rPr>
              <a:t>乱</a:t>
            </a:r>
            <a:r>
              <a:rPr lang="zh-CN" altLang="en-US" sz="1600" dirty="0">
                <a:solidFill>
                  <a:sysClr val="windowText" lastClr="000000"/>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ysClr val="windowText" lastClr="000000"/>
                </a:solidFill>
              </a:rPr>
              <a:t>愁</a:t>
            </a:r>
            <a:r>
              <a:rPr lang="zh-CN" altLang="en-US" sz="1600" dirty="0">
                <a:solidFill>
                  <a:sysClr val="windowText" lastClr="000000"/>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ysClr val="windowText" lastClr="000000"/>
                </a:solidFill>
              </a:rPr>
              <a:t>难</a:t>
            </a:r>
            <a:r>
              <a:rPr lang="zh-CN" altLang="en-US" sz="1600" dirty="0">
                <a:solidFill>
                  <a:sysClr val="windowText" lastClr="000000"/>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ysClr val="windowText" lastClr="000000"/>
                </a:solidFill>
              </a:rPr>
              <a:t>扯</a:t>
            </a:r>
            <a:r>
              <a:rPr lang="zh-CN" altLang="en-US" sz="1600" dirty="0">
                <a:solidFill>
                  <a:sysClr val="windowText" lastClr="000000"/>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rgbClr val="2E75B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695998" y="360000"/>
            <a:ext cx="6375921" cy="429413"/>
          </a:xfrm>
        </p:spPr>
        <p:txBody>
          <a:bodyPr/>
          <a:lstStyle/>
          <a:p>
            <a:r>
              <a:rPr lang="en-US" altLang="zh-CN" sz="2000" dirty="0"/>
              <a:t>6.1.2 </a:t>
            </a:r>
            <a:r>
              <a:rPr lang="zh-CN" altLang="en-US" sz="2000"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sz="1800"/>
              <a:t>工作量</a:t>
            </a:r>
            <a:endParaRPr lang="en-US" altLang="zh-CN" sz="1800" dirty="0"/>
          </a:p>
          <a:p>
            <a:r>
              <a:rPr lang="zh-CN" altLang="en-US" sz="1800"/>
              <a:t>规模</a:t>
            </a:r>
            <a:endParaRPr lang="en-US" altLang="zh-CN" sz="1800" dirty="0"/>
          </a:p>
          <a:p>
            <a:r>
              <a:rPr lang="zh-CN" altLang="en-US" sz="1800"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79296"/>
            <a:ext cx="4424080" cy="307777"/>
          </a:xfrm>
        </p:spPr>
        <p:txBody>
          <a:bodyPr/>
          <a:lstStyle/>
          <a:p>
            <a:r>
              <a:rPr lang="en-US" altLang="zh-CN" sz="1400"/>
              <a:t>Unit</a:t>
            </a:r>
            <a:endParaRPr lang="zh-CN" altLang="en-US" sz="1400"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1541241420"/>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dirty="0">
                          <a:solidFill>
                            <a:sysClr val="windowText" lastClr="000000"/>
                          </a:solidFill>
                        </a:rPr>
                        <a:t>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dirty="0">
                          <a:solidFill>
                            <a:sysClr val="windowText" lastClr="000000"/>
                          </a:solidFill>
                        </a:rPr>
                        <a:t>工作量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规模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代码行 </a:t>
                      </a:r>
                      <a:r>
                        <a:rPr lang="en-US" altLang="zh-CN" sz="1600" dirty="0">
                          <a:solidFill>
                            <a:sysClr val="windowText" lastClr="000000"/>
                          </a:solidFill>
                        </a:rPr>
                        <a:t>LOC</a:t>
                      </a:r>
                    </a:p>
                    <a:p>
                      <a:pPr algn="l"/>
                      <a:r>
                        <a:rPr lang="en-US" altLang="zh-CN" sz="1600" dirty="0">
                          <a:solidFill>
                            <a:sysClr val="windowText" lastClr="000000"/>
                          </a:solidFill>
                        </a:rPr>
                        <a:t>Line of Code</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功能点</a:t>
                      </a:r>
                      <a:r>
                        <a:rPr lang="en-US" altLang="zh-CN" sz="1600" dirty="0">
                          <a:solidFill>
                            <a:sysClr val="windowText" lastClr="000000"/>
                          </a:solidFill>
                        </a:rPr>
                        <a:t>FP</a:t>
                      </a:r>
                      <a:r>
                        <a:rPr lang="zh-CN" altLang="en-US" sz="1600" dirty="0">
                          <a:solidFill>
                            <a:sysClr val="windowText" lastClr="000000"/>
                          </a:solidFill>
                        </a:rPr>
                        <a:t> </a:t>
                      </a:r>
                      <a:r>
                        <a:rPr lang="en-US" altLang="zh-CN" sz="1600" dirty="0">
                          <a:solidFill>
                            <a:sysClr val="windowText" lastClr="000000"/>
                          </a:solidFill>
                        </a:rPr>
                        <a:t>Function Point</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t>人天：做</a:t>
            </a:r>
            <a:r>
              <a:rPr lang="zh-CN" altLang="en-US" sz="1600"/>
              <a:t>多久？</a:t>
            </a:r>
            <a:endParaRPr lang="en-US" altLang="zh-CN" sz="1600" dirty="0"/>
          </a:p>
          <a:p>
            <a:pPr algn="l"/>
            <a:r>
              <a:rPr lang="zh-CN" altLang="en-US" sz="1600" dirty="0"/>
              <a:t>人月：做多久？</a:t>
            </a:r>
          </a:p>
        </p:txBody>
      </p:sp>
    </p:spTree>
    <p:extLst>
      <p:ext uri="{BB962C8B-B14F-4D97-AF65-F5344CB8AC3E}">
        <p14:creationId xmlns:p14="http://schemas.microsoft.com/office/powerpoint/2010/main" val="388413536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695998"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a:ln>
            <a:noFill/>
          </a:ln>
        </p:spPr>
        <p:txBody>
          <a:bodyPr wrap="none" rtlCol="0">
            <a:spAutoFit/>
          </a:bodyPr>
          <a:lstStyle/>
          <a:p>
            <a:pPr algn="l"/>
            <a:r>
              <a:rPr lang="zh-CN" altLang="en-US" sz="1600" dirty="0">
                <a:solidFill>
                  <a:sysClr val="windowText" lastClr="000000"/>
                </a:solidFill>
              </a:rPr>
              <a:t>为完成特定项目而直接投入的人力成本</a:t>
            </a:r>
            <a:endParaRPr lang="en-US" altLang="zh-CN" sz="1600" dirty="0">
              <a:solidFill>
                <a:sysClr val="windowText" lastClr="000000"/>
              </a:solidFill>
            </a:endParaRPr>
          </a:p>
          <a:p>
            <a:pPr algn="l"/>
            <a:r>
              <a:rPr lang="zh-CN" altLang="en-US" sz="1600" dirty="0">
                <a:solidFill>
                  <a:sysClr val="windowText" lastClr="000000"/>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a:ln>
            <a:noFill/>
          </a:ln>
        </p:spPr>
        <p:txBody>
          <a:bodyPr wrap="none" rtlCol="0">
            <a:spAutoFit/>
          </a:bodyPr>
          <a:lstStyle/>
          <a:p>
            <a:pPr algn="l"/>
            <a:r>
              <a:rPr lang="zh-CN" altLang="en-US" sz="1600" dirty="0">
                <a:solidFill>
                  <a:sysClr val="windowText" lastClr="000000"/>
                </a:solidFill>
              </a:rPr>
              <a:t>非特定项目，服务于整体</a:t>
            </a:r>
            <a:endParaRPr lang="en-US" altLang="zh-CN" sz="1600" dirty="0">
              <a:solidFill>
                <a:sysClr val="windowText" lastClr="000000"/>
              </a:solidFill>
            </a:endParaRPr>
          </a:p>
          <a:p>
            <a:pPr algn="l"/>
            <a:r>
              <a:rPr lang="zh-CN" altLang="en-US" sz="1600" dirty="0">
                <a:solidFill>
                  <a:sysClr val="windowText" lastClr="000000"/>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a:ln>
            <a:noFill/>
          </a:ln>
        </p:spPr>
        <p:txBody>
          <a:bodyPr wrap="none" rtlCol="0">
            <a:spAutoFit/>
          </a:bodyPr>
          <a:lstStyle/>
          <a:p>
            <a:pPr algn="l"/>
            <a:r>
              <a:rPr lang="zh-CN" altLang="en-US" sz="1600" dirty="0">
                <a:solidFill>
                  <a:sysClr val="windowText" lastClr="000000"/>
                </a:solidFill>
              </a:rPr>
              <a:t>服务于特定项目</a:t>
            </a:r>
            <a:endParaRPr lang="en-US" altLang="zh-CN" sz="1600" dirty="0">
              <a:solidFill>
                <a:sysClr val="windowText" lastClr="000000"/>
              </a:solidFill>
            </a:endParaRPr>
          </a:p>
          <a:p>
            <a:pPr algn="l"/>
            <a:r>
              <a:rPr lang="zh-CN" altLang="en-US" sz="1600" dirty="0">
                <a:solidFill>
                  <a:sysClr val="windowText" lastClr="000000"/>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a:ln>
            <a:noFill/>
          </a:ln>
        </p:spPr>
        <p:txBody>
          <a:bodyPr wrap="none" rtlCol="0">
            <a:spAutoFit/>
          </a:bodyPr>
          <a:lstStyle/>
          <a:p>
            <a:pPr algn="l"/>
            <a:r>
              <a:rPr lang="zh-CN" altLang="en-US" sz="1600" dirty="0">
                <a:solidFill>
                  <a:sysClr val="windowText" lastClr="000000"/>
                </a:solidFill>
              </a:rPr>
              <a:t>为支持多个项目或整个组织运营而产生的共同人力成本</a:t>
            </a:r>
            <a:endParaRPr lang="en-US" altLang="zh-CN" sz="1600" dirty="0">
              <a:solidFill>
                <a:sysClr val="windowText" lastClr="000000"/>
              </a:solidFill>
            </a:endParaRPr>
          </a:p>
          <a:p>
            <a:pPr algn="l"/>
            <a:r>
              <a:rPr lang="zh-CN" altLang="en-US" sz="1600" dirty="0">
                <a:solidFill>
                  <a:sysClr val="windowText" lastClr="000000"/>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t>判断 </a:t>
            </a:r>
            <a:r>
              <a:rPr lang="en-US" altLang="zh-CN" sz="2000" dirty="0"/>
              <a:t>True or False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174106521"/>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dirty="0">
                          <a:solidFill>
                            <a:schemeClr val="bg1"/>
                          </a:solidFill>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89251913"/>
                  </a:ext>
                </a:extLst>
              </a:tr>
              <a:tr h="145599">
                <a:tc>
                  <a:txBody>
                    <a:bodyPr/>
                    <a:lstStyle/>
                    <a:p>
                      <a:r>
                        <a:rPr lang="zh-CN" altLang="en-US" sz="1600" dirty="0">
                          <a:solidFill>
                            <a:sysClr val="windowText" lastClr="000000"/>
                          </a:solidFill>
                        </a:rPr>
                        <a:t>固定成本</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Fixed Costs</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租金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可变成本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Variable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外聘</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dirty="0">
                          <a:solidFill>
                            <a:sysClr val="windowText" lastClr="000000"/>
                          </a:solidFill>
                        </a:rPr>
                        <a:t>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专有</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dirty="0">
                          <a:solidFill>
                            <a:sysClr val="windowText" lastClr="000000"/>
                          </a:solidFill>
                        </a:rPr>
                        <a:t>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Indirect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分摊</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机会成本 </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Opportunity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决策</a:t>
                      </a:r>
                      <a:r>
                        <a:rPr lang="en-US" altLang="zh-CN" sz="1600" dirty="0">
                          <a:solidFill>
                            <a:sysClr val="windowText" lastClr="000000"/>
                          </a:solidFill>
                        </a:rPr>
                        <a:t>A?B?</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沉没成本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Sunk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已发生</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t>思考 </a:t>
            </a:r>
            <a:r>
              <a:rPr lang="en-US" altLang="zh-CN" sz="2000" dirty="0"/>
              <a:t>Thinking</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t>你花 </a:t>
            </a:r>
            <a:r>
              <a:rPr lang="en-US" altLang="zh-CN" dirty="0"/>
              <a:t>50</a:t>
            </a:r>
            <a:r>
              <a:rPr lang="zh-CN" altLang="en-US" dirty="0"/>
              <a:t>元 买了一张电影票，进场看了</a:t>
            </a:r>
            <a:r>
              <a:rPr lang="en-US" altLang="zh-CN" dirty="0"/>
              <a:t>20</a:t>
            </a:r>
            <a:r>
              <a:rPr lang="zh-CN" altLang="en-US" dirty="0"/>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695998" y="360000"/>
            <a:ext cx="6375921" cy="429413"/>
          </a:xfrm>
        </p:spPr>
        <p:txBody>
          <a:bodyPr/>
          <a:lstStyle/>
          <a:p>
            <a:r>
              <a:rPr lang="en-US" altLang="zh-CN" dirty="0"/>
              <a:t>6.1.4 </a:t>
            </a:r>
            <a:r>
              <a:rPr lang="zh-CN" altLang="en-US" dirty="0"/>
              <a:t>成本估算过程</a:t>
            </a:r>
          </a:p>
        </p:txBody>
      </p:sp>
      <p:sp>
        <p:nvSpPr>
          <p:cNvPr id="6" name="内容占位符 5">
            <a:extLst>
              <a:ext uri="{FF2B5EF4-FFF2-40B4-BE49-F238E27FC236}">
                <a16:creationId xmlns:a16="http://schemas.microsoft.com/office/drawing/2014/main" id="{42E378B1-2ED9-1233-9F31-49D0A982F31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695998" y="360000"/>
            <a:ext cx="6375921" cy="429413"/>
          </a:xfrm>
        </p:spPr>
        <p:txBody>
          <a:bodyPr/>
          <a:lstStyle/>
          <a:p>
            <a:r>
              <a:rPr lang="en-US" altLang="zh-CN" dirty="0"/>
              <a:t>6.2 </a:t>
            </a:r>
            <a:r>
              <a:rPr lang="zh-CN" altLang="en-US" dirty="0"/>
              <a:t>传统项目成本估算方法</a:t>
            </a:r>
          </a:p>
        </p:txBody>
      </p:sp>
      <p:sp>
        <p:nvSpPr>
          <p:cNvPr id="6" name="内容占位符 5">
            <a:extLst>
              <a:ext uri="{FF2B5EF4-FFF2-40B4-BE49-F238E27FC236}">
                <a16:creationId xmlns:a16="http://schemas.microsoft.com/office/drawing/2014/main" id="{647318B9-2601-F1A7-4476-0E399CA0E45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1056462004"/>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9677568"/>
                  </a:ext>
                </a:extLst>
              </a:tr>
              <a:tr h="220656">
                <a:tc>
                  <a:txBody>
                    <a:bodyPr/>
                    <a:lstStyle/>
                    <a:p>
                      <a:pPr>
                        <a:buNone/>
                      </a:pPr>
                      <a:r>
                        <a:rPr lang="zh-CN" altLang="en-US" sz="1600" dirty="0"/>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LOC</a:t>
                      </a:r>
                      <a:r>
                        <a:rPr lang="zh-CN" altLang="en-US" sz="1600" dirty="0"/>
                        <a:t>；</a:t>
                      </a:r>
                      <a:r>
                        <a:rPr lang="en-US" altLang="zh-CN" sz="1600" dirty="0"/>
                        <a:t>Line of Code</a:t>
                      </a:r>
                      <a:r>
                        <a:rPr lang="zh-CN" altLang="en-US" sz="1600" dirty="0"/>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FP</a:t>
                      </a:r>
                      <a:r>
                        <a:rPr lang="zh-CN" altLang="en-US" sz="1600" dirty="0"/>
                        <a:t>；</a:t>
                      </a:r>
                      <a:r>
                        <a:rPr lang="en-US" altLang="zh-CN" sz="1600" dirty="0"/>
                        <a:t>Function Point</a:t>
                      </a:r>
                      <a:r>
                        <a:rPr lang="zh-CN" altLang="en-US" sz="1600" dirty="0"/>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UCP</a:t>
                      </a:r>
                      <a:r>
                        <a:rPr lang="zh-CN" altLang="en-US" sz="1600" dirty="0"/>
                        <a:t>；</a:t>
                      </a:r>
                      <a:r>
                        <a:rPr lang="en-US" altLang="zh-CN" sz="1600" dirty="0"/>
                        <a:t>User Case Point</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Analogy Estimation</a:t>
                      </a:r>
                      <a:r>
                        <a:rPr lang="zh-CN" altLang="en-US" sz="1600" dirty="0"/>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先估算每个工作包或活动的成本</a:t>
                      </a:r>
                      <a:r>
                        <a:rPr lang="en-US" altLang="zh-CN" sz="1600" dirty="0"/>
                        <a:t>/</a:t>
                      </a:r>
                      <a:r>
                        <a:rPr lang="zh-CN" altLang="en-US" sz="1600" dirty="0"/>
                        <a:t>工期，再汇总到更高层级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比较多种技术或方案的成本</a:t>
                      </a:r>
                      <a:r>
                        <a:rPr lang="en-US" altLang="zh-CN" sz="1600" dirty="0"/>
                        <a:t>/</a:t>
                      </a:r>
                      <a:r>
                        <a:rPr lang="zh-CN" altLang="en-US" sz="1600" dirty="0"/>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dirty="0"/>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使用乐观</a:t>
                      </a:r>
                      <a:r>
                        <a:rPr lang="en-US" altLang="zh-CN" sz="1600" dirty="0"/>
                        <a:t>O</a:t>
                      </a:r>
                      <a:r>
                        <a:rPr lang="zh-CN" altLang="en-US" sz="1600" dirty="0"/>
                        <a:t>、最可能</a:t>
                      </a:r>
                      <a:r>
                        <a:rPr lang="en-US" altLang="zh-CN" sz="1600" dirty="0"/>
                        <a:t>M</a:t>
                      </a:r>
                      <a:r>
                        <a:rPr lang="zh-CN" altLang="en-US" sz="1600" dirty="0"/>
                        <a:t>、悲观</a:t>
                      </a:r>
                      <a:r>
                        <a:rPr lang="en-US" altLang="zh-CN" sz="1600" dirty="0"/>
                        <a:t>P</a:t>
                      </a:r>
                      <a:r>
                        <a:rPr lang="zh-CN" altLang="en-US" sz="1600" dirty="0"/>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695998"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normAutofit/>
          </a:bodyPr>
          <a:lstStyle/>
          <a:p>
            <a:r>
              <a:rPr lang="zh-CN" altLang="en-US" dirty="0"/>
              <a:t>功能点：数据功能和事务功能，共</a:t>
            </a:r>
            <a:r>
              <a:rPr lang="en-US" altLang="zh-CN" dirty="0"/>
              <a:t>5</a:t>
            </a:r>
            <a:r>
              <a:rPr lang="zh-CN" altLang="en-US" dirty="0"/>
              <a:t>类组件</a:t>
            </a:r>
          </a:p>
        </p:txBody>
      </p:sp>
      <p:sp>
        <p:nvSpPr>
          <p:cNvPr id="5" name="矩形 4">
            <a:extLst>
              <a:ext uri="{FF2B5EF4-FFF2-40B4-BE49-F238E27FC236}">
                <a16:creationId xmlns:a16="http://schemas.microsoft.com/office/drawing/2014/main" id="{B1834B05-A36B-61EB-5B1E-904F87122C29}"/>
              </a:ext>
            </a:extLst>
          </p:cNvPr>
          <p:cNvSpPr/>
          <p:nvPr/>
        </p:nvSpPr>
        <p:spPr>
          <a:xfrm>
            <a:off x="4095948" y="2407059"/>
            <a:ext cx="2880000" cy="999793"/>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ysClr val="windowText" lastClr="000000"/>
                </a:solidFill>
              </a:rPr>
              <a:t>System</a:t>
            </a:r>
            <a:endParaRPr lang="zh-CN" altLang="en-US" sz="1400" dirty="0">
              <a:solidFill>
                <a:sysClr val="windowText" lastClr="000000"/>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4995948" y="1492661"/>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070850" y="2690646"/>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43702" y="2396339"/>
            <a:ext cx="359393" cy="307777"/>
          </a:xfrm>
          <a:prstGeom prst="rect">
            <a:avLst/>
          </a:prstGeom>
          <a:noFill/>
          <a:ln>
            <a:noFill/>
          </a:ln>
        </p:spPr>
        <p:txBody>
          <a:bodyPr wrap="none" rtlCol="0">
            <a:spAutoFit/>
          </a:bodyPr>
          <a:lstStyle/>
          <a:p>
            <a:pPr algn="ctr"/>
            <a:r>
              <a:rPr lang="en-US" altLang="zh-CN" sz="1400" dirty="0">
                <a:solidFill>
                  <a:sysClr val="windowText" lastClr="000000"/>
                </a:solidFill>
              </a:rPr>
              <a:t>EI</a:t>
            </a:r>
            <a:endParaRPr lang="zh-CN" altLang="en-US" sz="1400" dirty="0">
              <a:solidFill>
                <a:sysClr val="windowText" lastClr="000000"/>
              </a:solidFill>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395612" y="3067515"/>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EO</a:t>
            </a:r>
            <a:endParaRPr lang="zh-CN" altLang="en-US" sz="1400" dirty="0">
              <a:solidFill>
                <a:sysClr val="windowText" lastClr="000000"/>
              </a:solidFill>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4933619" y="1996892"/>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535948" y="1925280"/>
            <a:ext cx="0" cy="48177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455948" y="2799107"/>
            <a:ext cx="2160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Interior logical file</a:t>
            </a:r>
            <a:endParaRPr lang="zh-CN" altLang="en-US" sz="1400" dirty="0">
              <a:solidFill>
                <a:sysClr val="windowText" lastClr="000000"/>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7961150" y="2690955"/>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External interface file</a:t>
            </a:r>
            <a:endParaRPr lang="zh-CN" altLang="en-US" sz="1400" dirty="0">
              <a:solidFill>
                <a:sysClr val="windowText" lastClr="000000"/>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255920" y="2396338"/>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38101" y="3067514"/>
            <a:ext cx="691215" cy="307777"/>
          </a:xfrm>
          <a:prstGeom prst="rect">
            <a:avLst/>
          </a:prstGeom>
          <a:noFill/>
          <a:ln>
            <a:noFill/>
          </a:ln>
        </p:spPr>
        <p:txBody>
          <a:bodyPr wrap="none" rtlCol="0">
            <a:spAutoFit/>
          </a:bodyPr>
          <a:lstStyle/>
          <a:p>
            <a:pPr algn="ctr"/>
            <a:r>
              <a:rPr lang="en-US" altLang="zh-CN" sz="1400" dirty="0">
                <a:solidFill>
                  <a:sysClr val="windowText" lastClr="000000"/>
                </a:solidFill>
              </a:rPr>
              <a:t>EI/EO</a:t>
            </a:r>
            <a:endParaRPr lang="zh-CN" altLang="en-US" sz="1400" dirty="0">
              <a:solidFill>
                <a:sysClr val="windowText" lastClr="000000"/>
              </a:solidFill>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150850" y="2906956"/>
            <a:ext cx="94509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6975948" y="2906955"/>
            <a:ext cx="985202" cy="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1444472897"/>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EI</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600" dirty="0">
                          <a:solidFill>
                            <a:schemeClr val="bg1"/>
                          </a:solidFill>
                        </a:rPr>
                        <a:t>外部输入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External Inputs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EO</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外部输出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Outputs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EQ</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外部查询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Inquiry</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dirty="0">
                          <a:solidFill>
                            <a:schemeClr val="tx1"/>
                          </a:solidFill>
                        </a:rPr>
                        <a:t>ILF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内部逻辑文件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Internal Logical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dirty="0">
                          <a:solidFill>
                            <a:schemeClr val="tx1"/>
                          </a:solidFill>
                        </a:rPr>
                        <a:t>EIF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外部接口文件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Interface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695998"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uFill>
                  <a:solidFill>
                    <a:srgbClr val="FFFF00"/>
                  </a:solidFill>
                </a:uFill>
              </a:rPr>
              <a:t>IFPUG </a:t>
            </a:r>
            <a:r>
              <a:rPr lang="zh-CN" altLang="en-US" u="heavy" dirty="0">
                <a:uFill>
                  <a:solidFill>
                    <a:srgbClr val="FFFF00"/>
                  </a:solidFill>
                </a:uFill>
              </a:rPr>
              <a:t>计算过程</a:t>
            </a:r>
            <a:endParaRPr lang="zh-CN" altLang="en-US"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 </m:t>
                      </m:r>
                    </m:oMath>
                  </m:oMathPara>
                </a14:m>
                <a:endParaRPr lang="zh-CN" altLang="en-US" sz="2000" dirty="0">
                  <a:solidFill>
                    <a:schemeClr val="tx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tx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t>1. UFC </a:t>
            </a:r>
            <a:r>
              <a:rPr lang="zh-CN" altLang="en-US" sz="1600" dirty="0"/>
              <a:t>计数</a:t>
            </a:r>
            <a:endParaRPr lang="en-US" altLang="zh-CN" sz="1600" dirty="0"/>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t>2. UFC </a:t>
            </a:r>
            <a:r>
              <a:rPr lang="zh-CN" altLang="en-US" sz="1600" dirty="0"/>
              <a:t>定级：高中低</a:t>
            </a:r>
            <a:endParaRPr lang="en-US" altLang="zh-CN" sz="1600" dirty="0"/>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t>3. TCF </a:t>
            </a:r>
            <a:r>
              <a:rPr lang="zh-CN" altLang="en-US" sz="1600" dirty="0"/>
              <a:t>调整</a:t>
            </a:r>
            <a:endParaRPr lang="en-US" altLang="zh-CN" sz="1600" dirty="0"/>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t>4. </a:t>
            </a:r>
            <a:r>
              <a:rPr lang="zh-CN" altLang="en-US" sz="1600" dirty="0"/>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t>(F</a:t>
            </a:r>
            <a:r>
              <a:rPr lang="zh-CN" altLang="en-US" sz="1400" i="1" dirty="0"/>
              <a:t>是每个通用系统特性的影响程度</a:t>
            </a:r>
            <a:r>
              <a:rPr lang="en-US" altLang="zh-CN" sz="1400" i="1" dirty="0"/>
              <a:t>)</a:t>
            </a:r>
            <a:endParaRPr lang="zh-CN" altLang="en-US" sz="1400" i="1" dirty="0"/>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728446005"/>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dirty="0"/>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3070619063"/>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dirty="0">
                          <a:solidFill>
                            <a:schemeClr val="tx1"/>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t>假设所有的技术复杂度因子均为</a:t>
            </a:r>
            <a:r>
              <a:rPr lang="en-US" altLang="zh-CN" sz="1600" dirty="0"/>
              <a:t>3</a:t>
            </a:r>
            <a:r>
              <a:rPr lang="zh-CN" altLang="en-US" sz="1600" dirty="0"/>
              <a:t>，求 </a:t>
            </a:r>
            <a:r>
              <a:rPr lang="en-US" altLang="zh-CN" sz="1600" dirty="0"/>
              <a:t>FP</a:t>
            </a:r>
            <a:endParaRPr lang="zh-CN" altLang="en-US" sz="1600" dirty="0"/>
          </a:p>
        </p:txBody>
      </p:sp>
    </p:spTree>
    <p:extLst>
      <p:ext uri="{BB962C8B-B14F-4D97-AF65-F5344CB8AC3E}">
        <p14:creationId xmlns:p14="http://schemas.microsoft.com/office/powerpoint/2010/main" val="419652643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70929671"/>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dirty="0">
                          <a:solidFill>
                            <a:sysClr val="windowText" lastClr="000000"/>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dirty="0">
                          <a:solidFill>
                            <a:sysClr val="windowText" lastClr="000000"/>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6</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dirty="0">
                          <a:solidFill>
                            <a:sysClr val="windowText" lastClr="000000"/>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dirty="0">
                          <a:solidFill>
                            <a:sysClr val="windowText" lastClr="000000"/>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4</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dirty="0">
                          <a:solidFill>
                            <a:sysClr val="windowText" lastClr="000000"/>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5</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dirty="0">
                          <a:solidFill>
                            <a:sysClr val="windowText" lastClr="000000"/>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9</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22334870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2319958279"/>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r>
                        <a:rPr lang="en-US" altLang="zh-CN" sz="2000" b="0" i="1" smtClean="0">
                          <a:solidFill>
                            <a:schemeClr val="tx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tx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3171332256"/>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695998"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695998"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29117891"/>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400" b="0" dirty="0">
                          <a:solidFill>
                            <a:schemeClr val="tx1"/>
                          </a:solidFill>
                        </a:rPr>
                        <a:t>IFPUG</a:t>
                      </a:r>
                      <a:endParaRPr lang="zh-CN" alt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b="0" dirty="0">
                          <a:solidFill>
                            <a:schemeClr val="tx1"/>
                          </a:solidFill>
                        </a:rPr>
                        <a:t>传统权威，适合成熟项目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400" dirty="0">
                          <a:solidFill>
                            <a:schemeClr val="tx1"/>
                          </a:solidFill>
                        </a:rPr>
                        <a:t>NESMA</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400" dirty="0">
                          <a:solidFill>
                            <a:schemeClr val="tx1"/>
                          </a:solidFill>
                        </a:rPr>
                        <a:t>IFPUG </a:t>
                      </a:r>
                      <a:r>
                        <a:rPr lang="zh-CN" altLang="en-US" sz="1400" dirty="0">
                          <a:solidFill>
                            <a:schemeClr val="tx1"/>
                          </a:solidFill>
                        </a:rPr>
                        <a:t>的轻量版，适合快速估算</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400" dirty="0">
                          <a:solidFill>
                            <a:schemeClr val="tx1"/>
                          </a:solidFill>
                        </a:rPr>
                        <a:t>COSMIC</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现代通用型，适合复杂或非传统软件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695998" y="360000"/>
            <a:ext cx="6375921" cy="429413"/>
          </a:xfrm>
        </p:spPr>
        <p:txBody>
          <a:bodyPr/>
          <a:lstStyle/>
          <a:p>
            <a:r>
              <a:rPr lang="en-US" altLang="zh-CN" dirty="0">
                <a:solidFill>
                  <a:schemeClr val="tx1"/>
                </a:solidFill>
              </a:rPr>
              <a:t>6.2.3 </a:t>
            </a:r>
            <a:r>
              <a:rPr lang="zh-CN" altLang="en-US" dirty="0">
                <a:solidFill>
                  <a:schemeClr val="tx1"/>
                </a:solidFill>
              </a:rPr>
              <a:t>用例点估算</a:t>
            </a:r>
            <a:r>
              <a:rPr lang="en-US" altLang="zh-CN" dirty="0">
                <a:solidFill>
                  <a:schemeClr val="tx1"/>
                </a:solidFill>
              </a:rPr>
              <a:t> </a:t>
            </a:r>
            <a:endParaRPr lang="zh-CN" altLang="en-US" dirty="0">
              <a:solidFill>
                <a:schemeClr val="tx1"/>
              </a:solidFill>
            </a:endParaRPr>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077527391"/>
              </p:ext>
            </p:extLst>
          </p:nvPr>
        </p:nvGraphicFramePr>
        <p:xfrm>
          <a:off x="1956000" y="2390457"/>
          <a:ext cx="8280000" cy="2133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40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2482248223"/>
                  </a:ext>
                </a:extLst>
              </a:tr>
              <a:tr h="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UAW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未调整的角色加权，</a:t>
                      </a:r>
                      <a:r>
                        <a:rPr lang="en-US" altLang="zh-CN" sz="1400" dirty="0">
                          <a:solidFill>
                            <a:schemeClr val="tx1"/>
                          </a:solidFill>
                        </a:rPr>
                        <a:t>Unadjusted Actor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400" dirty="0">
                          <a:solidFill>
                            <a:schemeClr val="tx1"/>
                          </a:solidFill>
                        </a:rPr>
                        <a:t>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未调整的用例加权，</a:t>
                      </a:r>
                      <a:r>
                        <a:rPr lang="en-US" altLang="zh-CN" sz="1400" dirty="0">
                          <a:solidFill>
                            <a:schemeClr val="tx1"/>
                          </a:solidFill>
                        </a:rPr>
                        <a:t>Unadjusted Use Case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400" dirty="0">
                          <a:solidFill>
                            <a:schemeClr val="tx1"/>
                          </a:solidFill>
                        </a:rPr>
                        <a:t>3</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未调整的用例点，</a:t>
                      </a:r>
                      <a:r>
                        <a:rPr lang="en-US" altLang="zh-CN" sz="1400" dirty="0">
                          <a:solidFill>
                            <a:schemeClr val="tx1"/>
                          </a:solidFill>
                        </a:rPr>
                        <a:t>Unadjusted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TEF</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技术因子和环境因子，</a:t>
                      </a:r>
                      <a:r>
                        <a:rPr lang="en-US" altLang="zh-CN" sz="1400" dirty="0">
                          <a:solidFill>
                            <a:schemeClr val="tx1"/>
                          </a:solidFill>
                        </a:rPr>
                        <a:t>Technical and Environment Fator</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400" dirty="0">
                          <a:solidFill>
                            <a:schemeClr val="tx1"/>
                          </a:solidFill>
                        </a:rPr>
                        <a:t>5</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调整后的用例点</a:t>
                      </a:r>
                      <a:r>
                        <a:rPr lang="en-US" altLang="zh-CN" sz="1400" dirty="0">
                          <a:solidFill>
                            <a:schemeClr val="tx1"/>
                          </a:solidFill>
                        </a:rPr>
                        <a:t>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Effort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工作量，配合生成因子 </a:t>
                      </a:r>
                      <a:r>
                        <a:rPr lang="en-US" altLang="zh-CN" sz="1400" dirty="0">
                          <a:solidFill>
                            <a:schemeClr val="tx1"/>
                          </a:solidFill>
                        </a:rPr>
                        <a:t>Productivity Factor </a:t>
                      </a:r>
                      <a:r>
                        <a:rPr lang="zh-CN" altLang="en-US" sz="1400" dirty="0">
                          <a:solidFill>
                            <a:schemeClr val="tx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3588144480"/>
              </p:ext>
            </p:extLst>
          </p:nvPr>
        </p:nvGraphicFramePr>
        <p:xfrm>
          <a:off x="3216000" y="1406013"/>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UAW </a:t>
                      </a:r>
                      <a:r>
                        <a:rPr lang="zh-CN" altLang="en-US" sz="1400" dirty="0">
                          <a:solidFill>
                            <a:schemeClr val="tx1"/>
                          </a:solidFill>
                        </a:rPr>
                        <a:t>未调整的角色加权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UAW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2138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3478440427"/>
              </p:ext>
            </p:extLst>
          </p:nvPr>
        </p:nvGraphicFramePr>
        <p:xfrm>
          <a:off x="3216000" y="3741175"/>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2. UUCW </a:t>
                      </a:r>
                      <a:r>
                        <a:rPr lang="zh-CN" altLang="en-US" sz="1400" dirty="0">
                          <a:solidFill>
                            <a:schemeClr val="tx1"/>
                          </a:solidFill>
                        </a:rPr>
                        <a:t>未调整的用例加权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UUCW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3172074306"/>
              </p:ext>
            </p:extLst>
          </p:nvPr>
        </p:nvGraphicFramePr>
        <p:xfrm>
          <a:off x="3216000" y="727586"/>
          <a:ext cx="3960000" cy="1219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3. UUCP </a:t>
                      </a:r>
                      <a:r>
                        <a:rPr lang="zh-CN" altLang="en-US" sz="1400" dirty="0">
                          <a:solidFill>
                            <a:schemeClr val="tx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400" dirty="0">
                          <a:solidFill>
                            <a:schemeClr val="tx1"/>
                          </a:solidFill>
                        </a:rPr>
                        <a:t>UUCP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861163460"/>
              </p:ext>
            </p:extLst>
          </p:nvPr>
        </p:nvGraphicFramePr>
        <p:xfrm>
          <a:off x="3216000" y="3598524"/>
          <a:ext cx="5112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5. UCP </a:t>
                      </a:r>
                      <a:r>
                        <a:rPr lang="zh-CN" altLang="en-US" sz="1400" dirty="0">
                          <a:solidFill>
                            <a:schemeClr val="tx1"/>
                          </a:solidFill>
                        </a:rPr>
                        <a:t>用例点</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400" dirty="0">
                          <a:solidFill>
                            <a:schemeClr val="tx1"/>
                          </a:solidFill>
                        </a:rPr>
                        <a:t>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TCF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1313479599"/>
              </p:ext>
            </p:extLst>
          </p:nvPr>
        </p:nvGraphicFramePr>
        <p:xfrm>
          <a:off x="3216000" y="4866354"/>
          <a:ext cx="3960000" cy="609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6.  Effort </a:t>
                      </a:r>
                      <a:r>
                        <a:rPr lang="zh-CN" altLang="en-US" sz="1400" dirty="0">
                          <a:solidFill>
                            <a:schemeClr val="tx1"/>
                          </a:solidFill>
                        </a:rPr>
                        <a:t>工作量</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400" dirty="0">
                          <a:solidFill>
                            <a:schemeClr val="tx1"/>
                          </a:solidFill>
                        </a:rPr>
                        <a:t>工作量</a:t>
                      </a:r>
                      <a:r>
                        <a:rPr lang="en-US" altLang="zh-CN" sz="1400" dirty="0">
                          <a:solidFill>
                            <a:schemeClr val="tx1"/>
                          </a:solidFill>
                        </a:rPr>
                        <a:t>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PF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2250508116"/>
              </p:ext>
            </p:extLst>
          </p:nvPr>
        </p:nvGraphicFramePr>
        <p:xfrm>
          <a:off x="3216000" y="2330695"/>
          <a:ext cx="5400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4. TEF </a:t>
                      </a:r>
                      <a:r>
                        <a:rPr lang="zh-CN" altLang="en-US" sz="1400" dirty="0">
                          <a:solidFill>
                            <a:schemeClr val="tx1"/>
                          </a:solidFill>
                        </a:rPr>
                        <a:t>技术因子和环境因子</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400" dirty="0">
                          <a:solidFill>
                            <a:schemeClr val="tx1"/>
                          </a:solidFill>
                        </a:rPr>
                        <a:t>TCF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695998"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695998"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1688918190"/>
              </p:ext>
            </p:extLst>
          </p:nvPr>
        </p:nvGraphicFramePr>
        <p:xfrm>
          <a:off x="1956000" y="2135953"/>
          <a:ext cx="8280000" cy="234225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400" dirty="0"/>
                        <a:t>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人力配置</a:t>
                      </a:r>
                      <a:r>
                        <a:rPr lang="en-US" altLang="zh-CN" sz="1400" dirty="0"/>
                        <a:t>(</a:t>
                      </a:r>
                      <a:r>
                        <a:rPr lang="en-US" sz="1400" dirty="0"/>
                        <a:t>M:D:Q:S)</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时间 </a:t>
                      </a:r>
                      <a:r>
                        <a:rPr lang="en-US" altLang="zh-CN" sz="1400" dirty="0"/>
                        <a:t>(</a:t>
                      </a:r>
                      <a:r>
                        <a:rPr lang="zh-CN" altLang="en-US" sz="1400" dirty="0"/>
                        <a:t>月</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成本 </a:t>
                      </a:r>
                      <a:r>
                        <a:rPr lang="en-US" altLang="zh-CN" sz="1400" dirty="0"/>
                        <a:t>(</a:t>
                      </a:r>
                      <a:r>
                        <a:rPr lang="zh-CN" altLang="en-US" sz="1400" dirty="0"/>
                        <a:t>万</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合计</a:t>
                      </a:r>
                      <a:r>
                        <a:rPr lang="en-US" altLang="zh-CN" sz="1400" dirty="0"/>
                        <a:t>/</a:t>
                      </a:r>
                      <a:r>
                        <a:rPr lang="zh-CN" altLang="en-US" sz="1400" dirty="0"/>
                        <a:t>万</a:t>
                      </a:r>
                      <a:endParaRPr lang="en-US" altLang="zh-CN"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400" dirty="0"/>
                        <a:t>项目准备阶段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M:2/D:8/Q:1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0.5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16.5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buNone/>
                      </a:pPr>
                      <a:r>
                        <a:rPr lang="en-US" altLang="zh-CN" sz="1400" dirty="0"/>
                        <a:t>145.5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400" dirty="0"/>
                        <a:t>项目设计阶段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a:t>M:2/D:8/Q:2/S:1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39</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400" dirty="0"/>
                        <a:t>基础模块开发</a:t>
                      </a:r>
                    </a:p>
                    <a:p>
                      <a:pPr marL="171450" indent="-171450" algn="l">
                        <a:buFont typeface="Arial" panose="020B0604020202020204" pitchFamily="34" charset="0"/>
                        <a:buChar char="•"/>
                      </a:pPr>
                      <a:r>
                        <a:rPr lang="zh-CN" altLang="en-US" sz="1400" dirty="0"/>
                        <a:t>公共控制子系统</a:t>
                      </a:r>
                    </a:p>
                    <a:p>
                      <a:pPr marL="171450" indent="-171450" algn="l">
                        <a:buFont typeface="Arial" panose="020B0604020202020204" pitchFamily="34" charset="0"/>
                        <a:buChar char="•"/>
                      </a:pPr>
                      <a:r>
                        <a:rPr lang="zh-CN" altLang="en-US" sz="1400" dirty="0"/>
                        <a:t>中央会计子系统</a:t>
                      </a:r>
                    </a:p>
                    <a:p>
                      <a:pPr marL="171450" indent="-171450" algn="l">
                        <a:buFont typeface="Arial" panose="020B0604020202020204" pitchFamily="34" charset="0"/>
                        <a:buChar char="•"/>
                      </a:pPr>
                      <a:r>
                        <a:rPr lang="zh-CN" altLang="en-US" sz="1400" dirty="0"/>
                        <a:t>客户信息子系统</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M:2/D:15/Q:2/S:1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90</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400" dirty="0"/>
                        <a:t>…</a:t>
                      </a:r>
                      <a:endParaRPr lang="zh-CN" altLang="en-US"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400" dirty="0"/>
                        <a:t>总计</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4">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t>M: Manager</a:t>
            </a:r>
          </a:p>
          <a:p>
            <a:pPr algn="r"/>
            <a:r>
              <a:rPr lang="en-US" altLang="zh-CN" sz="1400" dirty="0"/>
              <a:t>D: Developer</a:t>
            </a:r>
          </a:p>
          <a:p>
            <a:pPr algn="r"/>
            <a:r>
              <a:rPr lang="en-US" altLang="zh-CN" sz="1400" dirty="0"/>
              <a:t>Q: Quality Assurance</a:t>
            </a:r>
          </a:p>
          <a:p>
            <a:pPr algn="r"/>
            <a:r>
              <a:rPr lang="en-US" altLang="zh-CN" sz="1400" dirty="0"/>
              <a:t>S: System Architect / Senior</a:t>
            </a:r>
            <a:endParaRPr lang="zh-CN" altLang="en-US" sz="1400" dirty="0"/>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695998"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242031699"/>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tx1"/>
                          </a:solidFill>
                        </a:rPr>
                        <a:t>三角分布</a:t>
                      </a:r>
                      <a:endParaRPr lang="zh-CN" altLang="en-US"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pl-PL" altLang="zh-CN" sz="2400" b="0" baseline="-25000" dirty="0">
                          <a:solidFill>
                            <a:schemeClr val="tx1"/>
                          </a:solidFill>
                        </a:rPr>
                        <a:t>E</a:t>
                      </a:r>
                      <a:r>
                        <a:rPr lang="pl-PL"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M</a:t>
                      </a:r>
                      <a:r>
                        <a:rPr lang="pl-PL" altLang="zh-CN" sz="2400" b="0" dirty="0">
                          <a:solidFill>
                            <a:schemeClr val="tx1"/>
                          </a:solidFill>
                        </a:rPr>
                        <a:t> </a:t>
                      </a:r>
                      <a:r>
                        <a:rPr lang="zh-CN" altLang="en-US" sz="2400" b="0" dirty="0">
                          <a:solidFill>
                            <a:schemeClr val="tx1"/>
                          </a:solidFill>
                        </a:rPr>
                        <a:t> </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P</a:t>
                      </a:r>
                      <a:r>
                        <a:rPr lang="pl-PL" altLang="zh-CN" sz="2400" b="0" dirty="0">
                          <a:solidFill>
                            <a:schemeClr val="tx1"/>
                          </a:solidFill>
                        </a:rPr>
                        <a:t>) / 3</a:t>
                      </a:r>
                      <a:endParaRPr lang="zh-CN" altLang="en-US" sz="2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tx1"/>
                          </a:solidFill>
                        </a:rPr>
                        <a:t>贝塔分布</a:t>
                      </a:r>
                      <a:endParaRPr lang="zh-CN" altLang="en-US"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en-US" altLang="zh-CN" sz="2400" b="0" baseline="-25000" dirty="0">
                          <a:solidFill>
                            <a:schemeClr val="tx1"/>
                          </a:solidFill>
                        </a:rPr>
                        <a:t>E</a:t>
                      </a:r>
                      <a:r>
                        <a:rPr lang="en-US"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en-US" altLang="zh-CN" sz="2400" b="0" dirty="0">
                          <a:solidFill>
                            <a:schemeClr val="tx1"/>
                          </a:solidFill>
                        </a:rPr>
                        <a:t> + 4 C</a:t>
                      </a:r>
                      <a:r>
                        <a:rPr lang="en-US" altLang="zh-CN" sz="2400" b="0" baseline="-25000" dirty="0">
                          <a:solidFill>
                            <a:schemeClr val="tx1"/>
                          </a:solidFill>
                        </a:rPr>
                        <a:t>M</a:t>
                      </a:r>
                      <a:r>
                        <a:rPr lang="en-US" altLang="zh-CN" sz="2400" b="0" dirty="0">
                          <a:solidFill>
                            <a:schemeClr val="tx1"/>
                          </a:solidFill>
                        </a:rPr>
                        <a:t> + C</a:t>
                      </a:r>
                      <a:r>
                        <a:rPr lang="en-US" altLang="zh-CN" sz="2400" b="0" baseline="-25000" dirty="0">
                          <a:solidFill>
                            <a:schemeClr val="tx1"/>
                          </a:solidFill>
                        </a:rPr>
                        <a:t>P</a:t>
                      </a:r>
                      <a:r>
                        <a:rPr lang="en-US" altLang="zh-CN" sz="2400" b="0" dirty="0">
                          <a:solidFill>
                            <a:schemeClr val="tx1"/>
                          </a:solidFill>
                        </a:rPr>
                        <a:t>) / 6</a:t>
                      </a:r>
                      <a:endParaRPr lang="zh-CN" altLang="en-US" sz="2400"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695998"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2174285130"/>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Round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400" dirty="0"/>
                        <a:t>专家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CO</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CM</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CP</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400" dirty="0"/>
                        <a:t>专家</a:t>
                      </a:r>
                      <a:r>
                        <a:rPr lang="en-US" altLang="zh-C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3779920"/>
                  </a:ext>
                </a:extLst>
              </a:tr>
              <a:tr h="365760">
                <a:tc>
                  <a:txBody>
                    <a:bodyPr/>
                    <a:lstStyle/>
                    <a:p>
                      <a:pPr algn="l">
                        <a:buNone/>
                      </a:pPr>
                      <a:r>
                        <a:rPr lang="zh-CN" altLang="en-US" sz="1400"/>
                        <a:t>专家</a:t>
                      </a:r>
                      <a:r>
                        <a:rPr lang="en-US" altLang="zh-CN" sz="140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900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5151521"/>
                  </a:ext>
                </a:extLst>
              </a:tr>
              <a:tr h="365760">
                <a:tc>
                  <a:txBody>
                    <a:bodyPr/>
                    <a:lstStyle/>
                    <a:p>
                      <a:pPr algn="l">
                        <a:buNone/>
                      </a:pPr>
                      <a:r>
                        <a:rPr lang="zh-CN" altLang="en-US" sz="1400"/>
                        <a:t>专家</a:t>
                      </a:r>
                      <a:r>
                        <a:rPr lang="en-US" altLang="zh-CN" sz="140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695998"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695998"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10666141"/>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sz="140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40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30495986"/>
                  </a:ext>
                </a:extLst>
              </a:tr>
              <a:tr h="370840">
                <a:tc>
                  <a:txBody>
                    <a:bodyPr/>
                    <a:lstStyle/>
                    <a:p>
                      <a:r>
                        <a:rPr lang="en-US" altLang="zh-CN" sz="1400" dirty="0">
                          <a:solidFill>
                            <a:schemeClr val="tx1"/>
                          </a:solidFill>
                        </a:rPr>
                        <a:t>Fibonacci</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0 1 2 3 5 8 13</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sz="1400" dirty="0">
                          <a:solidFill>
                            <a:schemeClr val="tx1"/>
                          </a:solidFill>
                        </a:rPr>
                        <a:t>2n</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0 1 2 4 8 16 32 64 128 256 512</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Start </a:t>
            </a:r>
            <a:endParaRPr lang="zh-CN" altLang="en-US" sz="1400" dirty="0">
              <a:solidFill>
                <a:schemeClr val="tx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选择预估为</a:t>
            </a:r>
            <a:r>
              <a:rPr lang="en-US" altLang="zh-CN" sz="1400" dirty="0">
                <a:solidFill>
                  <a:schemeClr val="tx1"/>
                </a:solidFill>
              </a:rPr>
              <a:t>3</a:t>
            </a:r>
            <a:r>
              <a:rPr lang="zh-CN" altLang="en-US" sz="1400" dirty="0">
                <a:solidFill>
                  <a:schemeClr val="tx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5</a:t>
            </a:r>
            <a:endParaRPr lang="zh-CN" altLang="en-US" sz="1400" dirty="0">
              <a:solidFill>
                <a:schemeClr val="tx1"/>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a:ln>
            <a:noFill/>
          </a:ln>
        </p:spPr>
        <p:txBody>
          <a:bodyPr wrap="none" rtlCol="0">
            <a:spAutoFit/>
          </a:bodyPr>
          <a:lstStyle/>
          <a:p>
            <a:pPr algn="l"/>
            <a:r>
              <a:rPr lang="zh-CN" altLang="en-US" sz="1400" dirty="0"/>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a:ln>
            <a:noFill/>
          </a:ln>
        </p:spPr>
        <p:txBody>
          <a:bodyPr wrap="none" rtlCol="0">
            <a:spAutoFit/>
          </a:bodyPr>
          <a:lstStyle/>
          <a:p>
            <a:pPr algn="l"/>
            <a:r>
              <a:rPr lang="zh-CN" altLang="en-US" sz="1400" dirty="0"/>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13</a:t>
            </a:r>
            <a:endParaRPr lang="zh-CN" altLang="en-US" sz="1400" dirty="0">
              <a:solidFill>
                <a:schemeClr val="tx1"/>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a:ln>
            <a:noFill/>
          </a:ln>
        </p:spPr>
        <p:txBody>
          <a:bodyPr wrap="none" rtlCol="0">
            <a:spAutoFit/>
          </a:bodyPr>
          <a:lstStyle/>
          <a:p>
            <a:pPr algn="l"/>
            <a:r>
              <a:rPr lang="zh-CN" altLang="en-US" sz="1400" dirty="0"/>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0</a:t>
            </a:r>
            <a:endParaRPr lang="zh-CN" altLang="en-US" sz="1400" dirty="0">
              <a:solidFill>
                <a:schemeClr val="tx1"/>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a:ln>
            <a:noFill/>
          </a:ln>
        </p:spPr>
        <p:txBody>
          <a:bodyPr wrap="none" rtlCol="0">
            <a:spAutoFit/>
          </a:bodyPr>
          <a:lstStyle/>
          <a:p>
            <a:pPr algn="l"/>
            <a:r>
              <a:rPr lang="zh-CN" altLang="en-US" sz="1400" dirty="0"/>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a:ln>
            <a:noFill/>
          </a:ln>
        </p:spPr>
        <p:txBody>
          <a:bodyPr vert="eaVert" wrap="none" rtlCol="0">
            <a:spAutoFit/>
          </a:bodyPr>
          <a:lstStyle/>
          <a:p>
            <a:pPr algn="l"/>
            <a:r>
              <a:rPr lang="zh-CN" altLang="en-US" sz="1400" dirty="0"/>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a:ln>
            <a:noFill/>
          </a:ln>
        </p:spPr>
        <p:txBody>
          <a:bodyPr wrap="none" rtlCol="0">
            <a:spAutoFit/>
          </a:bodyPr>
          <a:lstStyle/>
          <a:p>
            <a:pPr algn="l"/>
            <a:r>
              <a:rPr lang="zh-CN" altLang="en-US" sz="1400" dirty="0"/>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8</a:t>
            </a:r>
            <a:endParaRPr lang="zh-CN" altLang="en-US" sz="1400" dirty="0">
              <a:solidFill>
                <a:schemeClr val="tx1"/>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a:ln>
            <a:noFill/>
          </a:ln>
        </p:spPr>
        <p:txBody>
          <a:bodyPr wrap="none" rtlCol="0">
            <a:spAutoFit/>
          </a:bodyPr>
          <a:lstStyle/>
          <a:p>
            <a:pPr algn="l"/>
            <a:r>
              <a:rPr lang="zh-CN" altLang="en-US" sz="1400" dirty="0"/>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t>假设某项目的注册功能为 </a:t>
            </a:r>
            <a:r>
              <a:rPr lang="en-US" altLang="zh-CN" dirty="0"/>
              <a:t>3 </a:t>
            </a:r>
            <a:r>
              <a:rPr lang="zh-CN" altLang="en-US" dirty="0"/>
              <a:t>个 </a:t>
            </a:r>
            <a:r>
              <a:rPr lang="en-US" altLang="zh-CN" dirty="0"/>
              <a:t>story points</a:t>
            </a:r>
            <a:r>
              <a:rPr lang="zh-CN" altLang="en-US" dirty="0"/>
              <a:t>；其中成绩录入工作量比注册功能工作量略多，如果采用 </a:t>
            </a:r>
            <a:r>
              <a:rPr lang="en-US" altLang="zh-CN" dirty="0"/>
              <a:t>Fibonacci </a:t>
            </a:r>
            <a:r>
              <a:rPr lang="zh-CN" altLang="en-US" dirty="0"/>
              <a:t>等级标准估算的话</a:t>
            </a:r>
            <a:r>
              <a:rPr lang="en-US" altLang="zh-CN" dirty="0"/>
              <a:t>,</a:t>
            </a:r>
            <a:r>
              <a:rPr lang="zh-CN" altLang="en-US" dirty="0"/>
              <a:t>，成绩录入功能的估算值是</a:t>
            </a:r>
            <a:r>
              <a:rPr lang="en-US" altLang="zh-CN" dirty="0"/>
              <a:t>( )</a:t>
            </a:r>
          </a:p>
          <a:p>
            <a:pPr>
              <a:spcAft>
                <a:spcPts val="600"/>
              </a:spcAft>
            </a:pPr>
            <a:r>
              <a:rPr lang="en-US" altLang="zh-CN" dirty="0"/>
              <a:t>A. 5 </a:t>
            </a:r>
            <a:r>
              <a:rPr lang="zh-CN" altLang="en-US" dirty="0"/>
              <a:t>个 </a:t>
            </a:r>
            <a:r>
              <a:rPr lang="en-US" altLang="zh-CN" dirty="0"/>
              <a:t>story points</a:t>
            </a:r>
          </a:p>
          <a:p>
            <a:pPr>
              <a:spcAft>
                <a:spcPts val="600"/>
              </a:spcAft>
            </a:pPr>
            <a:r>
              <a:rPr lang="en-US" altLang="zh-CN" dirty="0"/>
              <a:t>B. 4 </a:t>
            </a:r>
            <a:r>
              <a:rPr lang="zh-CN" altLang="en-US" dirty="0"/>
              <a:t>个 </a:t>
            </a:r>
            <a:r>
              <a:rPr lang="en-US" altLang="zh-CN" dirty="0"/>
              <a:t>story points</a:t>
            </a:r>
          </a:p>
          <a:p>
            <a:pPr>
              <a:spcAft>
                <a:spcPts val="600"/>
              </a:spcAft>
            </a:pPr>
            <a:r>
              <a:rPr lang="en-US" altLang="zh-CN" dirty="0"/>
              <a:t>C. 6 </a:t>
            </a:r>
            <a:r>
              <a:rPr lang="zh-CN" altLang="en-US" dirty="0"/>
              <a:t>个 </a:t>
            </a:r>
            <a:r>
              <a:rPr lang="en-US" altLang="zh-CN" dirty="0"/>
              <a:t>story points</a:t>
            </a:r>
          </a:p>
          <a:p>
            <a:pPr>
              <a:spcAft>
                <a:spcPts val="600"/>
              </a:spcAft>
            </a:pPr>
            <a:r>
              <a:rPr lang="en-US" altLang="zh-CN" dirty="0"/>
              <a:t>D. 7 </a:t>
            </a:r>
            <a:r>
              <a:rPr lang="zh-CN" altLang="en-US" dirty="0"/>
              <a:t>个 </a:t>
            </a:r>
            <a:r>
              <a:rPr lang="en-US" altLang="zh-CN" dirty="0"/>
              <a:t>story points </a:t>
            </a:r>
            <a:endParaRPr lang="zh-CN" altLang="en-US" dirty="0"/>
          </a:p>
        </p:txBody>
      </p:sp>
    </p:spTree>
    <p:extLst>
      <p:ext uri="{BB962C8B-B14F-4D97-AF65-F5344CB8AC3E}">
        <p14:creationId xmlns:p14="http://schemas.microsoft.com/office/powerpoint/2010/main" val="24382231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695998"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2434934804"/>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tx1"/>
                          </a:solidFill>
                        </a:rPr>
                        <a:t>XS</a:t>
                      </a:r>
                      <a:endParaRPr lang="en-US" sz="1600" dirty="0">
                        <a:solidFill>
                          <a:schemeClr val="tx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很小 </a:t>
                      </a:r>
                      <a:r>
                        <a:rPr lang="en-US" sz="1600" dirty="0">
                          <a:solidFill>
                            <a:schemeClr val="tx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8</a:t>
                      </a:r>
                      <a:r>
                        <a:rPr lang="zh-CN" altLang="en-US" sz="1600" dirty="0">
                          <a:solidFill>
                            <a:schemeClr val="tx1"/>
                          </a:solidFill>
                        </a:rPr>
                        <a:t>小时（</a:t>
                      </a:r>
                      <a:r>
                        <a:rPr lang="en-US" altLang="zh-CN" sz="1600" dirty="0">
                          <a:solidFill>
                            <a:schemeClr val="tx1"/>
                          </a:solidFill>
                        </a:rPr>
                        <a:t>1</a:t>
                      </a:r>
                      <a:r>
                        <a:rPr lang="zh-CN" altLang="en-US" sz="1600" dirty="0">
                          <a:solidFill>
                            <a:schemeClr val="tx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tx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较小 </a:t>
                      </a:r>
                      <a:r>
                        <a:rPr lang="en-US" sz="1600" dirty="0">
                          <a:solidFill>
                            <a:schemeClr val="tx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16</a:t>
                      </a:r>
                      <a:r>
                        <a:rPr lang="zh-CN" altLang="en-US" sz="1600" dirty="0">
                          <a:solidFill>
                            <a:schemeClr val="tx1"/>
                          </a:solidFill>
                        </a:rPr>
                        <a:t>小时（</a:t>
                      </a:r>
                      <a:r>
                        <a:rPr lang="en-US" altLang="zh-CN" sz="1600" dirty="0">
                          <a:solidFill>
                            <a:schemeClr val="tx1"/>
                          </a:solidFill>
                        </a:rPr>
                        <a:t>2</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tx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中等 </a:t>
                      </a:r>
                      <a:r>
                        <a:rPr lang="en-US" sz="1600" dirty="0">
                          <a:solidFill>
                            <a:schemeClr val="tx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24</a:t>
                      </a:r>
                      <a:r>
                        <a:rPr lang="zh-CN" altLang="en-US" sz="1600" dirty="0">
                          <a:solidFill>
                            <a:schemeClr val="tx1"/>
                          </a:solidFill>
                        </a:rPr>
                        <a:t>小时（</a:t>
                      </a:r>
                      <a:r>
                        <a:rPr lang="en-US" altLang="zh-CN" sz="1600" dirty="0">
                          <a:solidFill>
                            <a:schemeClr val="tx1"/>
                          </a:solidFill>
                        </a:rPr>
                        <a:t>3</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tx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较大 </a:t>
                      </a:r>
                      <a:r>
                        <a:rPr lang="en-US" sz="1600" dirty="0">
                          <a:solidFill>
                            <a:schemeClr val="tx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40</a:t>
                      </a:r>
                      <a:r>
                        <a:rPr lang="zh-CN" altLang="en-US" sz="1600" dirty="0">
                          <a:solidFill>
                            <a:schemeClr val="tx1"/>
                          </a:solidFill>
                        </a:rPr>
                        <a:t>小时（</a:t>
                      </a:r>
                      <a:r>
                        <a:rPr lang="en-US" altLang="zh-CN" sz="1600" dirty="0">
                          <a:solidFill>
                            <a:schemeClr val="tx1"/>
                          </a:solidFill>
                        </a:rPr>
                        <a:t>5</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tx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64</a:t>
                      </a:r>
                      <a:r>
                        <a:rPr lang="zh-CN" altLang="en-US" sz="1600" dirty="0">
                          <a:solidFill>
                            <a:schemeClr val="tx1"/>
                          </a:solidFill>
                        </a:rPr>
                        <a:t>小时以上（</a:t>
                      </a:r>
                      <a:r>
                        <a:rPr lang="en-US" altLang="zh-CN" sz="1600" dirty="0">
                          <a:solidFill>
                            <a:schemeClr val="tx1"/>
                          </a:solidFill>
                        </a:rPr>
                        <a:t>8</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tx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巨大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104</a:t>
                      </a:r>
                      <a:r>
                        <a:rPr lang="zh-CN" altLang="en-US" sz="1600" dirty="0">
                          <a:solidFill>
                            <a:schemeClr val="tx1"/>
                          </a:solidFill>
                        </a:rPr>
                        <a:t>小时以上（</a:t>
                      </a:r>
                      <a:r>
                        <a:rPr lang="en-US" altLang="zh-CN" sz="1600" dirty="0">
                          <a:solidFill>
                            <a:schemeClr val="tx1"/>
                          </a:solidFill>
                        </a:rPr>
                        <a:t>13</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1725632060"/>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chemeClr val="tx1"/>
                          </a:solidFill>
                        </a:rPr>
                        <a:t>Step 0 </a:t>
                      </a:r>
                      <a:r>
                        <a:rPr lang="zh-CN" altLang="en-US" sz="1600" dirty="0">
                          <a:solidFill>
                            <a:schemeClr val="tx1"/>
                          </a:solidFill>
                        </a:rPr>
                        <a:t>准备用户故事</a:t>
                      </a: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828542199"/>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chemeClr val="tx1"/>
                          </a:solidFill>
                        </a:rPr>
                        <a:t>Step 1 </a:t>
                      </a:r>
                      <a:r>
                        <a:rPr lang="zh-CN" altLang="en-US" sz="1600" dirty="0">
                          <a:solidFill>
                            <a:schemeClr val="tx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400" dirty="0">
                          <a:solidFill>
                            <a:schemeClr val="bg1"/>
                          </a:solidFill>
                        </a:rPr>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13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t>Standing-by Area</a:t>
            </a:r>
            <a:endParaRPr lang="zh-CN" altLang="en-US" sz="1400" dirty="0"/>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t>Story Area</a:t>
            </a:r>
            <a:endParaRPr lang="zh-CN" altLang="en-US" sz="1400" dirty="0"/>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t>Story Point Area</a:t>
            </a:r>
            <a:endParaRPr lang="zh-CN" altLang="en-US" sz="1400" dirty="0"/>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850029545"/>
              </p:ext>
            </p:extLst>
          </p:nvPr>
        </p:nvGraphicFramePr>
        <p:xfrm>
          <a:off x="2856000" y="2173200"/>
          <a:ext cx="756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t>Step 2 </a:t>
                      </a:r>
                      <a:r>
                        <a:rPr lang="zh-CN" altLang="en-US" sz="1600" dirty="0"/>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202401">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3286368575"/>
              </p:ext>
            </p:extLst>
          </p:nvPr>
        </p:nvGraphicFramePr>
        <p:xfrm>
          <a:off x="2856000" y="2173200"/>
          <a:ext cx="7560000" cy="33528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t>Step 3 </a:t>
                      </a:r>
                      <a:r>
                        <a:rPr lang="zh-CN" altLang="en-US" sz="1600" dirty="0"/>
                        <a:t>统计估算；每列的故事点</a:t>
                      </a:r>
                      <a:r>
                        <a:rPr lang="en-US" altLang="zh-CN" sz="1600" dirty="0"/>
                        <a:t>/</a:t>
                      </a:r>
                      <a:r>
                        <a:rPr lang="zh-CN" altLang="en-US" sz="1600" dirty="0"/>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t>1</a:t>
                      </a:r>
                      <a:r>
                        <a:rPr lang="en-US" altLang="zh-CN" sz="1600" dirty="0"/>
                        <a:t>×1=1</a:t>
                      </a: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t>2</a:t>
                      </a:r>
                      <a:r>
                        <a:rPr lang="en-US" altLang="zh-CN" sz="1600" dirty="0"/>
                        <a:t>×1=2</a:t>
                      </a:r>
                      <a:endParaRPr 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3×2=6</a:t>
                      </a:r>
                      <a:endParaRPr lang="zh-CN" alt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5×1=5</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8×2=16</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13×3=39</a:t>
                      </a: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t>Total = 69</a:t>
            </a:r>
            <a:endParaRPr lang="zh-CN" altLang="en-US" sz="1600" dirty="0"/>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t>Story 9</a:t>
              </a:r>
              <a:endParaRPr lang="zh-CN" altLang="en-US" sz="1400" dirty="0"/>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695998" y="360000"/>
            <a:ext cx="6375921" cy="429413"/>
          </a:xfrm>
        </p:spPr>
        <p:txBody>
          <a:bodyPr/>
          <a:lstStyle/>
          <a:p>
            <a:r>
              <a:rPr lang="en-US" altLang="zh-CN" dirty="0">
                <a:solidFill>
                  <a:schemeClr val="tx1"/>
                </a:solidFill>
              </a:rPr>
              <a:t>6.3.3 </a:t>
            </a:r>
            <a:r>
              <a:rPr lang="zh-CN" altLang="en-US" dirty="0">
                <a:solidFill>
                  <a:schemeClr val="tx1"/>
                </a:solidFill>
              </a:rPr>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extLst>
                    <a:ext uri="{A12FA001-AC4F-418D-AE19-62706E023703}">
                      <ahyp:hlinkClr xmlns:ahyp="http://schemas.microsoft.com/office/drawing/2018/hyperlinkcolor" val="tx"/>
                    </a:ext>
                  </a:extLst>
                </a:hlinkClick>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1</a:t>
            </a:r>
          </a:p>
          <a:p>
            <a:pPr algn="ctr"/>
            <a:endParaRPr lang="en-US" altLang="zh-CN" sz="1600" dirty="0">
              <a:solidFill>
                <a:schemeClr val="tx1"/>
              </a:solidFill>
            </a:endParaRPr>
          </a:p>
          <a:p>
            <a:pPr algn="ctr"/>
            <a:r>
              <a:rPr lang="en-US" altLang="zh-CN" sz="1600" dirty="0">
                <a:solidFill>
                  <a:schemeClr val="tx1"/>
                </a:solidFill>
              </a:rPr>
              <a:t>Distribute the Cards</a:t>
            </a:r>
            <a:endParaRPr lang="zh-CN" altLang="en-US" sz="1600" dirty="0">
              <a:solidFill>
                <a:schemeClr val="tx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2</a:t>
            </a:r>
          </a:p>
          <a:p>
            <a:pPr algn="ctr"/>
            <a:endParaRPr lang="en-US" altLang="zh-CN" sz="1600" dirty="0">
              <a:solidFill>
                <a:schemeClr val="tx1"/>
              </a:solidFill>
            </a:endParaRPr>
          </a:p>
          <a:p>
            <a:pPr algn="ctr"/>
            <a:r>
              <a:rPr lang="en-US" altLang="zh-CN" sz="1600" dirty="0">
                <a:solidFill>
                  <a:schemeClr val="tx1"/>
                </a:solidFill>
              </a:rPr>
              <a:t>Present the Story </a:t>
            </a:r>
            <a:endParaRPr lang="zh-CN" altLang="en-US" sz="1600" dirty="0">
              <a:solidFill>
                <a:schemeClr val="tx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3</a:t>
            </a:r>
          </a:p>
          <a:p>
            <a:pPr algn="ctr"/>
            <a:endParaRPr lang="en-US" altLang="zh-CN" sz="1600" dirty="0">
              <a:solidFill>
                <a:schemeClr val="tx1"/>
              </a:solidFill>
            </a:endParaRPr>
          </a:p>
          <a:p>
            <a:pPr algn="ctr"/>
            <a:r>
              <a:rPr lang="en-US" altLang="zh-CN" sz="1600" dirty="0">
                <a:solidFill>
                  <a:schemeClr val="tx1"/>
                </a:solidFill>
              </a:rPr>
              <a:t>Facilitate Discussion</a:t>
            </a:r>
            <a:endParaRPr lang="zh-CN" altLang="en-US" sz="1600" dirty="0">
              <a:solidFill>
                <a:schemeClr val="tx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4</a:t>
            </a:r>
          </a:p>
          <a:p>
            <a:pPr algn="ctr"/>
            <a:endParaRPr lang="en-US" altLang="zh-CN" sz="1600" dirty="0">
              <a:solidFill>
                <a:schemeClr val="tx1"/>
              </a:solidFill>
            </a:endParaRPr>
          </a:p>
          <a:p>
            <a:pPr algn="ctr"/>
            <a:r>
              <a:rPr lang="en-US" altLang="zh-CN" sz="1600" dirty="0">
                <a:solidFill>
                  <a:schemeClr val="tx1"/>
                </a:solidFill>
              </a:rPr>
              <a:t>Estimate and Disclose</a:t>
            </a:r>
            <a:endParaRPr lang="zh-CN" altLang="en-US" sz="1600" dirty="0">
              <a:solidFill>
                <a:schemeClr val="tx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5</a:t>
            </a:r>
          </a:p>
          <a:p>
            <a:pPr algn="ctr"/>
            <a:endParaRPr lang="en-US" altLang="zh-CN" sz="1600" dirty="0">
              <a:solidFill>
                <a:schemeClr val="tx1"/>
              </a:solidFill>
            </a:endParaRPr>
          </a:p>
          <a:p>
            <a:pPr algn="ctr"/>
            <a:r>
              <a:rPr lang="en-US" altLang="zh-CN" sz="1600" dirty="0">
                <a:solidFill>
                  <a:schemeClr val="tx1"/>
                </a:solidFill>
              </a:rPr>
              <a:t>Strive for Agreement</a:t>
            </a:r>
            <a:endParaRPr lang="zh-CN" altLang="en-US" sz="1600" dirty="0">
              <a:solidFill>
                <a:schemeClr val="tx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20199507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chemeClr val="tx1"/>
                          </a:solidFill>
                        </a:rPr>
                        <a:t>Case 1</a:t>
                      </a:r>
                      <a:r>
                        <a:rPr lang="zh-CN" altLang="en-US" sz="1600" dirty="0">
                          <a:solidFill>
                            <a:schemeClr val="tx1"/>
                          </a:solidFill>
                        </a:rPr>
                        <a:t>：估值分布位于 </a:t>
                      </a:r>
                      <a:r>
                        <a:rPr lang="en-US" altLang="zh-CN" sz="1600" dirty="0">
                          <a:solidFill>
                            <a:schemeClr val="tx1"/>
                          </a:solidFill>
                        </a:rPr>
                        <a:t>3 </a:t>
                      </a:r>
                      <a:r>
                        <a:rPr lang="zh-CN" altLang="en-US" sz="1600" dirty="0">
                          <a:solidFill>
                            <a:schemeClr val="tx1"/>
                          </a:solidFill>
                        </a:rPr>
                        <a:t>个连续区域，则取平均</a:t>
                      </a:r>
                      <a:endParaRPr lang="en-US" altLang="zh-CN" sz="1600" dirty="0">
                        <a:solidFill>
                          <a:schemeClr val="tx1"/>
                        </a:solidFill>
                      </a:endParaRPr>
                    </a:p>
                    <a:p>
                      <a:pPr algn="l">
                        <a:buNone/>
                      </a:pP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tx1"/>
                          </a:solidFill>
                        </a:rPr>
                        <a:t>(3+3+3+5+8)/5=4.4</a:t>
                      </a:r>
                      <a:r>
                        <a:rPr lang="zh-CN" altLang="en-US" sz="1600" dirty="0">
                          <a:solidFill>
                            <a:schemeClr val="tx1"/>
                          </a:solidFill>
                        </a:rPr>
                        <a:t>；取值 </a:t>
                      </a:r>
                      <a:r>
                        <a:rPr lang="en-US" altLang="zh-CN" sz="1600" dirty="0">
                          <a:solidFill>
                            <a:schemeClr val="tx1"/>
                          </a:solidFill>
                        </a:rPr>
                        <a:t>5</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361885392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chemeClr val="tx1"/>
                          </a:solidFill>
                        </a:rPr>
                        <a:t>Case 2</a:t>
                      </a:r>
                      <a:r>
                        <a:rPr lang="zh-CN" altLang="en-US" sz="1600" dirty="0">
                          <a:solidFill>
                            <a:schemeClr val="tx1"/>
                          </a:solidFill>
                        </a:rPr>
                        <a:t>：估值分布超过 </a:t>
                      </a:r>
                      <a:r>
                        <a:rPr lang="en-US" altLang="zh-CN" sz="1600" dirty="0">
                          <a:solidFill>
                            <a:schemeClr val="tx1"/>
                          </a:solidFill>
                        </a:rPr>
                        <a:t>3 </a:t>
                      </a:r>
                      <a:r>
                        <a:rPr lang="zh-CN" altLang="en-US" sz="1600" dirty="0">
                          <a:solidFill>
                            <a:schemeClr val="tx1"/>
                          </a:solidFill>
                        </a:rPr>
                        <a:t>个连续区域，最高估值和最低估值应说明原因并重新亮牌；最多可以重复 </a:t>
                      </a:r>
                      <a:r>
                        <a:rPr lang="en-US" altLang="zh-CN" sz="1600" dirty="0">
                          <a:solidFill>
                            <a:schemeClr val="tx1"/>
                          </a:solidFill>
                        </a:rPr>
                        <a:t>2 </a:t>
                      </a:r>
                      <a:r>
                        <a:rPr lang="zh-CN" altLang="en-US" sz="1600" dirty="0">
                          <a:solidFill>
                            <a:schemeClr val="tx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03729358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ysClr val="windowText" lastClr="000000"/>
                          </a:solidFill>
                        </a:rPr>
                        <a:t>Case 3</a:t>
                      </a:r>
                      <a:r>
                        <a:rPr lang="zh-CN" altLang="en-US" sz="1600" dirty="0">
                          <a:solidFill>
                            <a:sysClr val="windowText" lastClr="000000"/>
                          </a:solidFill>
                        </a:rPr>
                        <a:t>：第 </a:t>
                      </a:r>
                      <a:r>
                        <a:rPr lang="en-US" altLang="zh-CN" sz="1600" dirty="0">
                          <a:solidFill>
                            <a:sysClr val="windowText" lastClr="000000"/>
                          </a:solidFill>
                        </a:rPr>
                        <a:t>3 </a:t>
                      </a:r>
                      <a:r>
                        <a:rPr lang="zh-CN" altLang="en-US" sz="1600" dirty="0">
                          <a:solidFill>
                            <a:sysClr val="windowText" lastClr="000000"/>
                          </a:solidFill>
                        </a:rPr>
                        <a:t>次重复亮牌，估值分布依然超过 </a:t>
                      </a:r>
                      <a:r>
                        <a:rPr lang="en-US" altLang="zh-CN" sz="1600" dirty="0">
                          <a:solidFill>
                            <a:sysClr val="windowText" lastClr="000000"/>
                          </a:solidFill>
                        </a:rPr>
                        <a:t>3 </a:t>
                      </a:r>
                      <a:r>
                        <a:rPr lang="zh-CN" altLang="en-US" sz="1600" dirty="0">
                          <a:solidFill>
                            <a:sysClr val="windowText" lastClr="000000"/>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ysClr val="windowText" lastClr="000000"/>
                          </a:solidFill>
                        </a:rPr>
                        <a:t>Result</a:t>
                      </a:r>
                      <a:endParaRPr lang="en-US" sz="1600" dirty="0">
                        <a:solidFill>
                          <a:sysClr val="windowText" lastClr="00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(3+3+5)/3</a:t>
                      </a:r>
                      <a:r>
                        <a:rPr lang="zh-CN" altLang="en-US" sz="1600" dirty="0">
                          <a:solidFill>
                            <a:sysClr val="windowText" lastClr="000000"/>
                          </a:solidFill>
                        </a:rPr>
                        <a:t>≈</a:t>
                      </a:r>
                      <a:r>
                        <a:rPr lang="en-US" altLang="zh-CN" sz="1600" dirty="0">
                          <a:solidFill>
                            <a:sysClr val="windowText" lastClr="000000"/>
                          </a:solidFill>
                        </a:rPr>
                        <a:t>3.67</a:t>
                      </a:r>
                      <a:r>
                        <a:rPr lang="zh-CN" altLang="en-US" sz="1600" dirty="0">
                          <a:solidFill>
                            <a:sysClr val="windowText" lastClr="000000"/>
                          </a:solidFill>
                        </a:rPr>
                        <a:t>；取值 </a:t>
                      </a:r>
                      <a:r>
                        <a:rPr lang="en-US" altLang="zh-CN" sz="1600" dirty="0">
                          <a:solidFill>
                            <a:sysClr val="windowText" lastClr="0000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695998"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6" name="文本占位符 5">
            <a:extLst>
              <a:ext uri="{FF2B5EF4-FFF2-40B4-BE49-F238E27FC236}">
                <a16:creationId xmlns:a16="http://schemas.microsoft.com/office/drawing/2014/main" id="{3AA2AF2F-697F-C049-F4E1-F3B2D8878E0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t>在成本管理过程中，每个时间段中的各个工作单元的成本是</a:t>
            </a:r>
            <a:r>
              <a:rPr lang="en-US" altLang="zh-CN" dirty="0"/>
              <a:t>( )</a:t>
            </a:r>
          </a:p>
          <a:p>
            <a:pPr>
              <a:spcAft>
                <a:spcPts val="600"/>
              </a:spcAft>
            </a:pPr>
            <a:r>
              <a:rPr lang="en-US" altLang="zh-CN" dirty="0"/>
              <a:t>A. </a:t>
            </a:r>
            <a:r>
              <a:rPr lang="zh-CN" altLang="en-US" dirty="0"/>
              <a:t>估算</a:t>
            </a:r>
            <a:endParaRPr lang="en-US" altLang="zh-CN" dirty="0"/>
          </a:p>
          <a:p>
            <a:pPr>
              <a:spcAft>
                <a:spcPts val="600"/>
              </a:spcAft>
            </a:pPr>
            <a:r>
              <a:rPr lang="en-US" altLang="zh-CN" dirty="0"/>
              <a:t>B. </a:t>
            </a:r>
            <a:r>
              <a:rPr lang="zh-CN" altLang="en-US" dirty="0"/>
              <a:t>预算</a:t>
            </a:r>
            <a:endParaRPr lang="en-US" altLang="zh-CN" dirty="0"/>
          </a:p>
          <a:p>
            <a:pPr>
              <a:spcAft>
                <a:spcPts val="600"/>
              </a:spcAft>
            </a:pPr>
            <a:r>
              <a:rPr lang="en-US" altLang="zh-CN" dirty="0"/>
              <a:t>C. </a:t>
            </a:r>
            <a:r>
              <a:rPr lang="zh-CN" altLang="en-US" dirty="0"/>
              <a:t>直接成本</a:t>
            </a:r>
            <a:endParaRPr lang="en-US" altLang="zh-CN" dirty="0"/>
          </a:p>
          <a:p>
            <a:pPr>
              <a:spcAft>
                <a:spcPts val="600"/>
              </a:spcAft>
            </a:pPr>
            <a:r>
              <a:rPr lang="en-US" altLang="zh-CN" dirty="0"/>
              <a:t>D. </a:t>
            </a:r>
            <a:r>
              <a:rPr lang="zh-CN" altLang="en-US" dirty="0"/>
              <a:t>间接成本</a:t>
            </a:r>
          </a:p>
        </p:txBody>
      </p:sp>
    </p:spTree>
    <p:extLst>
      <p:ext uri="{BB962C8B-B14F-4D97-AF65-F5344CB8AC3E}">
        <p14:creationId xmlns:p14="http://schemas.microsoft.com/office/powerpoint/2010/main" val="328730084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695998"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695998"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5" name="文本占位符 4">
            <a:extLst>
              <a:ext uri="{FF2B5EF4-FFF2-40B4-BE49-F238E27FC236}">
                <a16:creationId xmlns:a16="http://schemas.microsoft.com/office/drawing/2014/main" id="{D67F7DFB-F95C-284E-53B1-D876D5474BE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607146802"/>
              </p:ext>
            </p:extLst>
          </p:nvPr>
        </p:nvGraphicFramePr>
        <p:xfrm>
          <a:off x="892839" y="1920240"/>
          <a:ext cx="5040000" cy="274320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400" dirty="0"/>
                        <a:t>WBS</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总成本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 </a:t>
                      </a:r>
                      <a:r>
                        <a:rPr lang="zh-CN" altLang="en-US" sz="1400" dirty="0"/>
                        <a:t>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400" dirty="0"/>
                        <a:t>8</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1.1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1.2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2. </a:t>
                      </a:r>
                      <a:r>
                        <a:rPr lang="zh-CN" altLang="en-US" sz="1400" dirty="0"/>
                        <a:t>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400" dirty="0"/>
                        <a:t>6</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400" dirty="0"/>
                        <a:t>2.1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400" dirty="0"/>
                        <a:t>2.2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2.3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dirty="0"/>
                        <a:t>2</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1308094527"/>
              </p:ext>
            </p:extLst>
          </p:nvPr>
        </p:nvGraphicFramePr>
        <p:xfrm>
          <a:off x="8059161" y="1920240"/>
          <a:ext cx="3240000" cy="27432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400" dirty="0"/>
                        <a:t>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规划</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需求</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概要设计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详细设计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2</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测试</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验收</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t>项目成本预算</a:t>
            </a:r>
          </a:p>
        </p:txBody>
      </p:sp>
    </p:spTree>
    <p:extLst>
      <p:ext uri="{BB962C8B-B14F-4D97-AF65-F5344CB8AC3E}">
        <p14:creationId xmlns:p14="http://schemas.microsoft.com/office/powerpoint/2010/main" val="58923633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69080306"/>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2219ADF0-DBFF-D1FE-FF3F-5B79751D3D17}"/>
              </a:ext>
            </a:extLst>
          </p:cNvPr>
          <p:cNvSpPr>
            <a:spLocks noGrp="1"/>
          </p:cNvSpPr>
          <p:nvPr>
            <p:ph idx="1"/>
          </p:nvPr>
        </p:nvSpPr>
        <p:spPr/>
        <p:txBody>
          <a:bodyPr/>
          <a:lstStyle/>
          <a:p>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695998" y="360000"/>
            <a:ext cx="6375921" cy="429413"/>
          </a:xfrm>
        </p:spPr>
        <p:txBody>
          <a:bodyPr/>
          <a:lstStyle/>
          <a:p>
            <a:r>
              <a:rPr lang="zh-CN" altLang="en-US" dirty="0"/>
              <a:t>引言</a:t>
            </a:r>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spTree>
    <p:extLst>
      <p:ext uri="{BB962C8B-B14F-4D97-AF65-F5344CB8AC3E}">
        <p14:creationId xmlns:p14="http://schemas.microsoft.com/office/powerpoint/2010/main" val="192715710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695998"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7DA6773A-0420-19AD-2CE4-A0F2E8E75272}"/>
              </a:ext>
            </a:extLst>
          </p:cNvPr>
          <p:cNvSpPr>
            <a:spLocks noGrp="1"/>
          </p:cNvSpPr>
          <p:nvPr>
            <p:ph idx="1"/>
          </p:nvPr>
        </p:nvSpPr>
        <p:spPr/>
        <p:txBody>
          <a:bodyPr/>
          <a:lstStyle/>
          <a:p>
            <a:endParaRPr lang="zh-CN" altLang="en-US" dirty="0"/>
          </a:p>
        </p:txBody>
      </p:sp>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695998" y="360000"/>
            <a:ext cx="6375921" cy="429413"/>
          </a:xfrm>
        </p:spPr>
        <p:txBody>
          <a:bodyPr/>
          <a:lstStyle/>
          <a:p>
            <a:r>
              <a:rPr lang="zh-CN" altLang="en-US" dirty="0"/>
              <a:t>项目进度计划流程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695998"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695998"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9359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65361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363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357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3906778" y="2219879"/>
            <a:ext cx="818045" cy="12402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7256100" y="2430956"/>
            <a:ext cx="1240200" cy="81804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736000" y="424704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306828" y="2997873"/>
            <a:ext cx="818044" cy="20403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456000" y="3609001"/>
            <a:ext cx="2040300" cy="81804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655900" y="2430956"/>
            <a:ext cx="8802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stCxn id="2" idx="2"/>
            <a:endCxn id="11" idx="0"/>
          </p:cNvCxnSpPr>
          <p:nvPr/>
        </p:nvCxnSpPr>
        <p:spPr>
          <a:xfrm flipH="1">
            <a:off x="5295900" y="1252912"/>
            <a:ext cx="360000"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3730012"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7066636"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9926600"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1940031"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2581535" y="1834081"/>
            <a:ext cx="866972" cy="142998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stCxn id="6" idx="3"/>
            <a:endCxn id="10" idx="1"/>
          </p:cNvCxnSpPr>
          <p:nvPr/>
        </p:nvCxnSpPr>
        <p:spPr>
          <a:xfrm flipV="1">
            <a:off x="5519994" y="2115585"/>
            <a:ext cx="593321" cy="104697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2810590"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2121824" y="3520763"/>
            <a:ext cx="866973" cy="51055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a:endCxn id="6" idx="1"/>
          </p:cNvCxnSpPr>
          <p:nvPr/>
        </p:nvCxnSpPr>
        <p:spPr>
          <a:xfrm flipV="1">
            <a:off x="4090012" y="3162557"/>
            <a:ext cx="1069982"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3730012"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3170590" y="4209530"/>
            <a:ext cx="5594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159994" y="2442557"/>
            <a:ext cx="360000" cy="144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stCxn id="11" idx="3"/>
            <a:endCxn id="6" idx="1"/>
          </p:cNvCxnSpPr>
          <p:nvPr/>
        </p:nvCxnSpPr>
        <p:spPr>
          <a:xfrm>
            <a:off x="4090012" y="2115585"/>
            <a:ext cx="1069982" cy="104697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stCxn id="6" idx="3"/>
            <a:endCxn id="13" idx="1"/>
          </p:cNvCxnSpPr>
          <p:nvPr/>
        </p:nvCxnSpPr>
        <p:spPr>
          <a:xfrm>
            <a:off x="5519994"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stCxn id="12" idx="1"/>
            <a:endCxn id="10" idx="3"/>
          </p:cNvCxnSpPr>
          <p:nvPr/>
        </p:nvCxnSpPr>
        <p:spPr>
          <a:xfrm rot="10800000">
            <a:off x="6473316" y="2115585"/>
            <a:ext cx="593321" cy="1046972"/>
          </a:xfrm>
          <a:prstGeom prst="bentConnector3">
            <a:avLst>
              <a:gd name="adj1" fmla="val 50000"/>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a:endCxn id="12" idx="1"/>
          </p:cNvCxnSpPr>
          <p:nvPr/>
        </p:nvCxnSpPr>
        <p:spPr>
          <a:xfrm flipV="1">
            <a:off x="6473315"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8019957"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973278"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426636"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8379957"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9333278" y="3162557"/>
            <a:ext cx="5933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695998"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52"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79128" y="3706569"/>
            <a:ext cx="567783" cy="307777"/>
          </a:xfrm>
          <a:prstGeom prst="rect">
            <a:avLst/>
          </a:prstGeom>
          <a:noFill/>
        </p:spPr>
        <p:txBody>
          <a:bodyPr wrap="none" rtlCol="0">
            <a:spAutoFit/>
          </a:bodyPr>
          <a:lstStyle/>
          <a:p>
            <a:pPr algn="ctr"/>
            <a:r>
              <a:rPr lang="en-US" altLang="zh-CN" sz="14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99950" y="2891161"/>
            <a:ext cx="575799" cy="307777"/>
          </a:xfrm>
          <a:prstGeom prst="rect">
            <a:avLst/>
          </a:prstGeom>
          <a:noFill/>
        </p:spPr>
        <p:txBody>
          <a:bodyPr wrap="none" rtlCol="0">
            <a:spAutoFit/>
          </a:bodyPr>
          <a:lstStyle/>
          <a:p>
            <a:pPr algn="ctr"/>
            <a:r>
              <a:rPr lang="en-US" altLang="zh-CN" sz="14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99933" y="3706569"/>
            <a:ext cx="625492" cy="307777"/>
          </a:xfrm>
          <a:prstGeom prst="rect">
            <a:avLst/>
          </a:prstGeom>
          <a:noFill/>
        </p:spPr>
        <p:txBody>
          <a:bodyPr wrap="none" rtlCol="0">
            <a:spAutoFit/>
          </a:bodyPr>
          <a:lstStyle/>
          <a:p>
            <a:pPr algn="ctr"/>
            <a:r>
              <a:rPr lang="en-US" altLang="zh-CN" sz="14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4018351" y="2891161"/>
            <a:ext cx="638315" cy="307777"/>
          </a:xfrm>
          <a:prstGeom prst="rect">
            <a:avLst/>
          </a:prstGeom>
          <a:noFill/>
        </p:spPr>
        <p:txBody>
          <a:bodyPr wrap="none" rtlCol="0">
            <a:spAutoFit/>
          </a:bodyPr>
          <a:lstStyle/>
          <a:p>
            <a:pPr algn="ctr"/>
            <a:r>
              <a:rPr lang="en-US" altLang="zh-CN" sz="14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70433" y="3706569"/>
            <a:ext cx="583814" cy="307777"/>
          </a:xfrm>
          <a:prstGeom prst="rect">
            <a:avLst/>
          </a:prstGeom>
          <a:noFill/>
        </p:spPr>
        <p:txBody>
          <a:bodyPr wrap="none" rtlCol="0">
            <a:spAutoFit/>
          </a:bodyPr>
          <a:lstStyle/>
          <a:p>
            <a:pPr algn="ctr"/>
            <a:r>
              <a:rPr lang="en-US" altLang="zh-CN" sz="14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73621" y="2891161"/>
            <a:ext cx="627095" cy="307777"/>
          </a:xfrm>
          <a:prstGeom prst="rect">
            <a:avLst/>
          </a:prstGeom>
          <a:noFill/>
        </p:spPr>
        <p:txBody>
          <a:bodyPr wrap="none" rtlCol="0">
            <a:spAutoFit/>
          </a:bodyPr>
          <a:lstStyle/>
          <a:p>
            <a:pPr algn="ctr"/>
            <a:r>
              <a:rPr lang="en-US" altLang="zh-CN" sz="14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425702" y="3706569"/>
            <a:ext cx="572593" cy="307777"/>
          </a:xfrm>
          <a:prstGeom prst="rect">
            <a:avLst/>
          </a:prstGeom>
          <a:noFill/>
        </p:spPr>
        <p:txBody>
          <a:bodyPr wrap="none" rtlCol="0">
            <a:spAutoFit/>
          </a:bodyPr>
          <a:lstStyle/>
          <a:p>
            <a:pPr algn="ctr"/>
            <a:r>
              <a:rPr lang="en-US" altLang="zh-CN" sz="14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70525" y="2891161"/>
            <a:ext cx="609461" cy="307777"/>
          </a:xfrm>
          <a:prstGeom prst="rect">
            <a:avLst/>
          </a:prstGeom>
          <a:noFill/>
        </p:spPr>
        <p:txBody>
          <a:bodyPr wrap="none" rtlCol="0">
            <a:spAutoFit/>
          </a:bodyPr>
          <a:lstStyle/>
          <a:p>
            <a:pPr algn="ctr"/>
            <a:r>
              <a:rPr lang="en-US" altLang="zh-CN" sz="14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39215" y="3706569"/>
            <a:ext cx="609461" cy="307777"/>
          </a:xfrm>
          <a:prstGeom prst="rect">
            <a:avLst/>
          </a:prstGeom>
          <a:noFill/>
        </p:spPr>
        <p:txBody>
          <a:bodyPr wrap="none" rtlCol="0">
            <a:spAutoFit/>
          </a:bodyPr>
          <a:lstStyle/>
          <a:p>
            <a:pPr algn="ctr"/>
            <a:r>
              <a:rPr lang="en-US" altLang="zh-CN" sz="14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502757" y="3706569"/>
            <a:ext cx="611065" cy="307777"/>
          </a:xfrm>
          <a:prstGeom prst="rect">
            <a:avLst/>
          </a:prstGeom>
          <a:noFill/>
        </p:spPr>
        <p:txBody>
          <a:bodyPr wrap="none" rtlCol="0">
            <a:spAutoFit/>
          </a:bodyPr>
          <a:lstStyle/>
          <a:p>
            <a:pPr algn="ctr"/>
            <a:r>
              <a:rPr lang="en-US" altLang="zh-CN" sz="14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523226" y="2891161"/>
            <a:ext cx="611065" cy="307777"/>
          </a:xfrm>
          <a:prstGeom prst="rect">
            <a:avLst/>
          </a:prstGeom>
          <a:noFill/>
        </p:spPr>
        <p:txBody>
          <a:bodyPr wrap="none" rtlCol="0">
            <a:spAutoFit/>
          </a:bodyPr>
          <a:lstStyle/>
          <a:p>
            <a:pPr algn="ctr"/>
            <a:r>
              <a:rPr lang="en-US" altLang="zh-CN" sz="14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cxnSp>
        <p:nvCxnSpPr>
          <p:cNvPr id="5" name="直接箭头连接符 4">
            <a:extLst>
              <a:ext uri="{FF2B5EF4-FFF2-40B4-BE49-F238E27FC236}">
                <a16:creationId xmlns:a16="http://schemas.microsoft.com/office/drawing/2014/main" id="{5D82AACB-4F27-34B1-FFBD-C5CDCDA28F2F}"/>
              </a:ext>
            </a:extLst>
          </p:cNvPr>
          <p:cNvCxnSpPr>
            <a:stCxn id="10" idx="0"/>
            <a:endCxn id="55" idx="4"/>
          </p:cNvCxnSpPr>
          <p:nvPr/>
        </p:nvCxnSpPr>
        <p:spPr>
          <a:xfrm flipV="1">
            <a:off x="771199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CC851E42-CBD9-1E05-BC1D-983829652028}"/>
              </a:ext>
            </a:extLst>
          </p:cNvPr>
          <p:cNvCxnSpPr>
            <a:stCxn id="74" idx="0"/>
            <a:endCxn id="78" idx="4"/>
          </p:cNvCxnSpPr>
          <p:nvPr/>
        </p:nvCxnSpPr>
        <p:spPr>
          <a:xfrm flipV="1">
            <a:off x="9808284" y="2773546"/>
            <a:ext cx="3"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139F295-B858-4774-A0CE-995BA036C579}"/>
              </a:ext>
            </a:extLst>
          </p:cNvPr>
          <p:cNvCxnSpPr>
            <a:stCxn id="9" idx="0"/>
            <a:endCxn id="57" idx="4"/>
          </p:cNvCxnSpPr>
          <p:nvPr/>
        </p:nvCxnSpPr>
        <p:spPr>
          <a:xfrm flipV="1">
            <a:off x="5462335" y="2773546"/>
            <a:ext cx="2"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BB7C929-7F0E-2455-CC62-BDEF5EC9E2CE}"/>
              </a:ext>
            </a:extLst>
          </p:cNvPr>
          <p:cNvCxnSpPr>
            <a:stCxn id="8" idx="0"/>
            <a:endCxn id="54" idx="4"/>
          </p:cNvCxnSpPr>
          <p:nvPr/>
        </p:nvCxnSpPr>
        <p:spPr>
          <a:xfrm flipV="1">
            <a:off x="3212677" y="2773546"/>
            <a:ext cx="1"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7749B049-9DB9-EEBD-FD71-B4DBFF0C931F}"/>
              </a:ext>
            </a:extLst>
          </p:cNvPr>
          <p:cNvCxnSpPr>
            <a:stCxn id="7" idx="0"/>
            <a:endCxn id="53" idx="4"/>
          </p:cNvCxnSpPr>
          <p:nvPr/>
        </p:nvCxnSpPr>
        <p:spPr>
          <a:xfrm flipV="1">
            <a:off x="963019"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71B494BB-1EA4-9124-AEA1-5C89A9165FE1}"/>
              </a:ext>
            </a:extLst>
          </p:cNvPr>
          <p:cNvCxnSpPr>
            <a:stCxn id="11" idx="0"/>
            <a:endCxn id="56" idx="4"/>
          </p:cNvCxnSpPr>
          <p:nvPr/>
        </p:nvCxnSpPr>
        <p:spPr>
          <a:xfrm flipV="1">
            <a:off x="1144394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57D6FD08-AE4D-FAC5-B257-AE9DB05D8BFB}"/>
              </a:ext>
            </a:extLst>
          </p:cNvPr>
          <p:cNvCxnSpPr>
            <a:stCxn id="19" idx="4"/>
            <a:endCxn id="58" idx="0"/>
          </p:cNvCxnSpPr>
          <p:nvPr/>
        </p:nvCxnSpPr>
        <p:spPr>
          <a:xfrm>
            <a:off x="2087848"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526BE050-E00C-BCF4-0953-5CE2AC7D22BF}"/>
              </a:ext>
            </a:extLst>
          </p:cNvPr>
          <p:cNvCxnSpPr>
            <a:stCxn id="20" idx="4"/>
            <a:endCxn id="61" idx="0"/>
          </p:cNvCxnSpPr>
          <p:nvPr/>
        </p:nvCxnSpPr>
        <p:spPr>
          <a:xfrm>
            <a:off x="4337506" y="3699000"/>
            <a:ext cx="1"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D430FEFF-F5C0-410C-3A0F-7BCEBC82B141}"/>
              </a:ext>
            </a:extLst>
          </p:cNvPr>
          <p:cNvCxnSpPr>
            <a:stCxn id="21" idx="4"/>
            <a:endCxn id="59" idx="0"/>
          </p:cNvCxnSpPr>
          <p:nvPr/>
        </p:nvCxnSpPr>
        <p:spPr>
          <a:xfrm>
            <a:off x="658716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8701B554-99BB-6601-DD6E-E3C87C6125AC}"/>
              </a:ext>
            </a:extLst>
          </p:cNvPr>
          <p:cNvCxnSpPr>
            <a:stCxn id="79" idx="4"/>
            <a:endCxn id="83" idx="0"/>
          </p:cNvCxnSpPr>
          <p:nvPr/>
        </p:nvCxnSpPr>
        <p:spPr>
          <a:xfrm>
            <a:off x="882875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接箭头连接符 70">
            <a:extLst>
              <a:ext uri="{FF2B5EF4-FFF2-40B4-BE49-F238E27FC236}">
                <a16:creationId xmlns:a16="http://schemas.microsoft.com/office/drawing/2014/main" id="{C202D905-BA3C-D70A-92C6-AB9CB6BA6C6F}"/>
              </a:ext>
            </a:extLst>
          </p:cNvPr>
          <p:cNvCxnSpPr>
            <a:stCxn id="22" idx="4"/>
            <a:endCxn id="60" idx="0"/>
          </p:cNvCxnSpPr>
          <p:nvPr/>
        </p:nvCxnSpPr>
        <p:spPr>
          <a:xfrm>
            <a:off x="10675252"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031956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695998"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695998"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695998"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696000" y="864000"/>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69532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28" name="直接连接符 27">
            <a:extLst>
              <a:ext uri="{FF2B5EF4-FFF2-40B4-BE49-F238E27FC236}">
                <a16:creationId xmlns:a16="http://schemas.microsoft.com/office/drawing/2014/main" id="{9A5654D9-4253-7944-5D45-148E2E02B625}"/>
              </a:ext>
            </a:extLst>
          </p:cNvPr>
          <p:cNvCxnSpPr>
            <a:cxnSpLocks/>
            <a:endCxn id="8" idx="3"/>
          </p:cNvCxnSpPr>
          <p:nvPr/>
        </p:nvCxnSpPr>
        <p:spPr>
          <a:xfrm>
            <a:off x="141532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6F68FDD9-E2D5-B413-B7BC-6F1AB7082DD0}"/>
              </a:ext>
            </a:extLst>
          </p:cNvPr>
          <p:cNvCxnSpPr>
            <a:cxnSpLocks/>
            <a:endCxn id="9" idx="1"/>
          </p:cNvCxnSpPr>
          <p:nvPr/>
        </p:nvCxnSpPr>
        <p:spPr>
          <a:xfrm>
            <a:off x="2228882"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p:nvPr/>
        </p:nvCxnSpPr>
        <p:spPr>
          <a:xfrm>
            <a:off x="1415325" y="3850104"/>
            <a:ext cx="81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a:off x="7173244"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spTree>
    <p:extLst>
      <p:ext uri="{BB962C8B-B14F-4D97-AF65-F5344CB8AC3E}">
        <p14:creationId xmlns:p14="http://schemas.microsoft.com/office/powerpoint/2010/main" val="110000954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695998" y="360000"/>
            <a:ext cx="6375921" cy="429413"/>
          </a:xfrm>
        </p:spPr>
        <p:txBody>
          <a:bodyPr/>
          <a:lstStyle/>
          <a:p>
            <a:r>
              <a:rPr lang="en-US" altLang="zh-CN" dirty="0">
                <a:solidFill>
                  <a:schemeClr val="tx1"/>
                </a:solidFill>
              </a:rPr>
              <a:t>4. </a:t>
            </a:r>
            <a:r>
              <a:rPr lang="zh-CN" altLang="en-US" dirty="0">
                <a:solidFill>
                  <a:schemeClr val="tx1"/>
                </a:solidFill>
              </a:rPr>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6" name="文本占位符 5">
            <a:extLst>
              <a:ext uri="{FF2B5EF4-FFF2-40B4-BE49-F238E27FC236}">
                <a16:creationId xmlns:a16="http://schemas.microsoft.com/office/drawing/2014/main" id="{2B090E62-06EB-4342-F55A-E0309C30CE8D}"/>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965951"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695998"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6" name="文本占位符 5">
            <a:extLst>
              <a:ext uri="{FF2B5EF4-FFF2-40B4-BE49-F238E27FC236}">
                <a16:creationId xmlns:a16="http://schemas.microsoft.com/office/drawing/2014/main" id="{39D6B34D-9A85-564C-E8D5-607C5470D8A4}"/>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695998"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6" name="文本占位符 5">
            <a:extLst>
              <a:ext uri="{FF2B5EF4-FFF2-40B4-BE49-F238E27FC236}">
                <a16:creationId xmlns:a16="http://schemas.microsoft.com/office/drawing/2014/main" id="{C191BE14-06A0-01B2-4C48-FAB6333B55E0}"/>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807840"/>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5352779"/>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695998"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182129" y="1980096"/>
            <a:ext cx="3028393" cy="461665"/>
          </a:xfrm>
          <a:prstGeom prst="rect">
            <a:avLst/>
          </a:prstGeom>
          <a:noFill/>
        </p:spPr>
        <p:txBody>
          <a:bodyPr wrap="none" rtlCol="0">
            <a:spAutoFit/>
          </a:bodyPr>
          <a:lstStyle/>
          <a:p>
            <a:pPr algn="ctr"/>
            <a:r>
              <a:rPr lang="en-US" altLang="zh-CN" sz="2400" dirty="0"/>
              <a:t>E =</a:t>
            </a:r>
            <a:r>
              <a:rPr lang="zh-CN" altLang="en-US" sz="2400" dirty="0"/>
              <a:t>（</a:t>
            </a:r>
            <a:r>
              <a:rPr lang="en-US" altLang="zh-CN" sz="2400" dirty="0"/>
              <a:t>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2058577" cy="461665"/>
          </a:xfrm>
          <a:prstGeom prst="rect">
            <a:avLst/>
          </a:prstGeom>
          <a:noFill/>
        </p:spPr>
        <p:txBody>
          <a:bodyPr wrap="none" rtlCol="0">
            <a:spAutoFit/>
          </a:bodyPr>
          <a:lstStyle/>
          <a:p>
            <a:r>
              <a:rPr lang="en-US" altLang="zh-CN" sz="2400" dirty="0"/>
              <a:t>δ =</a:t>
            </a:r>
            <a:r>
              <a:rPr lang="zh-CN" altLang="en-US" sz="2400" dirty="0"/>
              <a:t>（</a:t>
            </a:r>
            <a:r>
              <a:rPr lang="en-US" altLang="zh-CN" sz="2400" dirty="0"/>
              <a:t>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2097788972"/>
              </p:ext>
            </p:extLst>
          </p:nvPr>
        </p:nvGraphicFramePr>
        <p:xfrm>
          <a:off x="3396000" y="30152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8373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13364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13364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13364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9235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9235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9235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spTree>
    <p:extLst>
      <p:ext uri="{BB962C8B-B14F-4D97-AF65-F5344CB8AC3E}">
        <p14:creationId xmlns:p14="http://schemas.microsoft.com/office/powerpoint/2010/main" val="12275924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a:t>
            </a:r>
            <a:r>
              <a:rPr lang="en-US" altLang="zh-CN" sz="1600" dirty="0"/>
              <a:t>PDM</a:t>
            </a:r>
            <a:r>
              <a:rPr lang="zh-CN" altLang="en-US" sz="1600" dirty="0"/>
              <a:t>网络图那么这个任务的历时估算介于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695998"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6" name="文本占位符 5">
            <a:extLst>
              <a:ext uri="{FF2B5EF4-FFF2-40B4-BE49-F238E27FC236}">
                <a16:creationId xmlns:a16="http://schemas.microsoft.com/office/drawing/2014/main" id="{338A0B60-9E3C-8B44-6A4C-E9A8DEAFD87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695998"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6" name="文本占位符 5">
            <a:extLst>
              <a:ext uri="{FF2B5EF4-FFF2-40B4-BE49-F238E27FC236}">
                <a16:creationId xmlns:a16="http://schemas.microsoft.com/office/drawing/2014/main" id="{CD287482-1C02-ADA0-322E-38218E40E0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695998"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6" name="文本占位符 5">
            <a:extLst>
              <a:ext uri="{FF2B5EF4-FFF2-40B4-BE49-F238E27FC236}">
                <a16:creationId xmlns:a16="http://schemas.microsoft.com/office/drawing/2014/main" id="{CA1D1CE1-FFD3-9BA1-7156-EDE0CADEFBB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a:ln>
            <a:noFill/>
          </a:ln>
        </p:spPr>
        <p:txBody>
          <a:bodyPr wrap="none" rtlCol="0">
            <a:spAutoFit/>
          </a:bodyPr>
          <a:lstStyle/>
          <a:p>
            <a:pPr algn="ctr"/>
            <a:r>
              <a:rPr lang="en-US" altLang="zh-CN" sz="1600" dirty="0"/>
              <a:t>E=1</a:t>
            </a:r>
            <a:endParaRPr lang="zh-CN" altLang="en-US" sz="1600" dirty="0"/>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a:ln>
            <a:noFill/>
          </a:ln>
        </p:spPr>
        <p:txBody>
          <a:bodyPr wrap="none" rtlCol="0">
            <a:spAutoFit/>
          </a:bodyPr>
          <a:lstStyle/>
          <a:p>
            <a:pPr algn="ctr"/>
            <a:r>
              <a:rPr lang="en-US" altLang="zh-CN" sz="1600" dirty="0"/>
              <a:t>A=2</a:t>
            </a:r>
            <a:endParaRPr lang="zh-CN" altLang="en-US" sz="1600" dirty="0"/>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a:ln>
            <a:noFill/>
          </a:ln>
        </p:spPr>
        <p:txBody>
          <a:bodyPr wrap="none" rtlCol="0">
            <a:spAutoFit/>
          </a:bodyPr>
          <a:lstStyle/>
          <a:p>
            <a:pPr algn="ctr"/>
            <a:r>
              <a:rPr lang="en-US" altLang="zh-CN" sz="1600" dirty="0"/>
              <a:t>B=5</a:t>
            </a:r>
            <a:endParaRPr lang="zh-CN" altLang="en-US" sz="1600" dirty="0"/>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a:ln>
            <a:noFill/>
          </a:ln>
        </p:spPr>
        <p:txBody>
          <a:bodyPr wrap="none" rtlCol="0">
            <a:spAutoFit/>
          </a:bodyPr>
          <a:lstStyle/>
          <a:p>
            <a:pPr algn="ctr"/>
            <a:r>
              <a:rPr lang="en-US" altLang="zh-CN" sz="1600" dirty="0"/>
              <a:t>F=2</a:t>
            </a:r>
            <a:endParaRPr lang="zh-CN" altLang="en-US" sz="1600" dirty="0"/>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a:ln>
            <a:noFill/>
          </a:ln>
        </p:spPr>
        <p:txBody>
          <a:bodyPr wrap="none" rtlCol="0">
            <a:spAutoFit/>
          </a:bodyPr>
          <a:lstStyle/>
          <a:p>
            <a:pPr algn="ctr"/>
            <a:r>
              <a:rPr lang="en-US" altLang="zh-CN" sz="1600" dirty="0"/>
              <a:t>C=2</a:t>
            </a:r>
            <a:endParaRPr lang="zh-CN" altLang="en-US" sz="1600" dirty="0"/>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a:ln>
            <a:noFill/>
          </a:ln>
        </p:spPr>
        <p:txBody>
          <a:bodyPr wrap="none" rtlCol="0">
            <a:spAutoFit/>
          </a:bodyPr>
          <a:lstStyle/>
          <a:p>
            <a:pPr algn="ctr"/>
            <a:r>
              <a:rPr lang="en-US" altLang="zh-CN" sz="1600" dirty="0"/>
              <a:t>D=7</a:t>
            </a:r>
            <a:endParaRPr lang="zh-CN" altLang="en-US" sz="1600" dirty="0"/>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2612024109"/>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长度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关键路径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1</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4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10</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800" b="0" dirty="0">
                          <a:solidFill>
                            <a:sysClr val="windowText" lastClr="000000"/>
                          </a:solidFill>
                        </a:rPr>
                        <a:t>×</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2</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5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952773187"/>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3614137052"/>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3050628055"/>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291635496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1184350676"/>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537312838"/>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4084081187"/>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133201264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8E8C59CB-6432-3D68-F31B-789D1340492C}"/>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695998"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695998"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2630846129"/>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Crash cost - Normal cost</a:t>
                      </a:r>
                      <a:endParaRPr lang="zh-CN" altLang="en-US" sz="1400" b="0" dirty="0">
                        <a:solidFill>
                          <a:schemeClr val="tx1"/>
                        </a:solidFill>
                      </a:endParaRP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Crash time - Normal time</a:t>
                      </a:r>
                      <a:endParaRPr lang="zh-CN" altLang="en-US" sz="1400" b="0" dirty="0">
                        <a:solidFill>
                          <a:schemeClr val="tx1"/>
                        </a:solidFill>
                      </a:endParaRPr>
                    </a:p>
                  </a:txBody>
                  <a:tcPr anchor="ctr">
                    <a:lnL w="381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695998"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695998"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7" name="文本占位符 6">
            <a:extLst>
              <a:ext uri="{FF2B5EF4-FFF2-40B4-BE49-F238E27FC236}">
                <a16:creationId xmlns:a16="http://schemas.microsoft.com/office/drawing/2014/main" id="{5854AD27-E697-966B-CB7D-90D37ABBFDC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1430910846"/>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420174860"/>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3386750266"/>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9981"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5788"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95489"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86069"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76648"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84859"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140470018"/>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58092"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960325707"/>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3440381590"/>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1884273032"/>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12216"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8023"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7724"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8304"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8883"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57094"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616917952"/>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30327"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4</a:t>
              </a:r>
              <a:endParaRPr lang="zh-CN" altLang="en-US" sz="14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23784" y="504591"/>
              <a:ext cx="304892" cy="307777"/>
            </a:xfrm>
            <a:prstGeom prst="rect">
              <a:avLst/>
            </a:prstGeom>
            <a:noFill/>
            <a:ln>
              <a:noFill/>
            </a:ln>
          </p:spPr>
          <p:txBody>
            <a:bodyPr wrap="none" rtlCol="0">
              <a:spAutoFit/>
            </a:bodyPr>
            <a:lstStyle/>
            <a:p>
              <a:pPr algn="ctr"/>
              <a:r>
                <a:rPr lang="en-US" altLang="zh-CN" sz="1400" dirty="0"/>
                <a:t>E</a:t>
              </a:r>
              <a:endParaRPr lang="zh-CN" altLang="en-US" sz="14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809356" y="1718599"/>
              <a:ext cx="333745" cy="307777"/>
            </a:xfrm>
            <a:prstGeom prst="rect">
              <a:avLst/>
            </a:prstGeom>
            <a:noFill/>
            <a:ln>
              <a:noFill/>
            </a:ln>
          </p:spPr>
          <p:txBody>
            <a:bodyPr wrap="none" rtlCol="0">
              <a:spAutoFit/>
            </a:bodyPr>
            <a:lstStyle/>
            <a:p>
              <a:pPr algn="ctr"/>
              <a:r>
                <a:rPr lang="en-US" altLang="zh-CN" sz="1400" dirty="0"/>
                <a:t>D</a:t>
              </a:r>
              <a:endParaRPr lang="zh-CN" altLang="en-US" sz="14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3</a:t>
              </a:r>
              <a:endParaRPr lang="zh-CN" altLang="en-US" sz="14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5003564" y="447441"/>
              <a:ext cx="312906" cy="307777"/>
            </a:xfrm>
            <a:prstGeom prst="rect">
              <a:avLst/>
            </a:prstGeom>
            <a:noFill/>
            <a:ln>
              <a:noFill/>
            </a:ln>
          </p:spPr>
          <p:txBody>
            <a:bodyPr wrap="none" rtlCol="0">
              <a:spAutoFit/>
            </a:bodyPr>
            <a:lstStyle/>
            <a:p>
              <a:pPr algn="ctr"/>
              <a:r>
                <a:rPr lang="en-US" altLang="zh-CN" sz="1400" dirty="0"/>
                <a:t>A</a:t>
              </a:r>
              <a:endParaRPr lang="zh-CN" altLang="en-US" sz="14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26694" y="1737649"/>
              <a:ext cx="314510" cy="307777"/>
            </a:xfrm>
            <a:prstGeom prst="rect">
              <a:avLst/>
            </a:prstGeom>
            <a:noFill/>
            <a:ln>
              <a:noFill/>
            </a:ln>
          </p:spPr>
          <p:txBody>
            <a:bodyPr wrap="none" rtlCol="0">
              <a:spAutoFit/>
            </a:bodyPr>
            <a:lstStyle/>
            <a:p>
              <a:pPr algn="ctr"/>
              <a:r>
                <a:rPr lang="en-US" altLang="zh-CN" sz="1400" dirty="0"/>
                <a:t>C</a:t>
              </a:r>
              <a:endParaRPr lang="zh-CN" altLang="en-US" sz="14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52229" y="666516"/>
              <a:ext cx="319318" cy="307777"/>
            </a:xfrm>
            <a:prstGeom prst="rect">
              <a:avLst/>
            </a:prstGeom>
            <a:noFill/>
            <a:ln>
              <a:noFill/>
            </a:ln>
          </p:spPr>
          <p:txBody>
            <a:bodyPr wrap="none" rtlCol="0">
              <a:spAutoFit/>
            </a:bodyPr>
            <a:lstStyle/>
            <a:p>
              <a:pPr algn="ctr"/>
              <a:r>
                <a:rPr lang="en-US" altLang="zh-CN" sz="1400" dirty="0"/>
                <a:t>B</a:t>
              </a:r>
              <a:endParaRPr lang="zh-CN" altLang="en-US" sz="14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4039797119"/>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695998"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7" name="文本占位符 6">
            <a:extLst>
              <a:ext uri="{FF2B5EF4-FFF2-40B4-BE49-F238E27FC236}">
                <a16:creationId xmlns:a16="http://schemas.microsoft.com/office/drawing/2014/main" id="{945BF2E1-955E-B968-F325-6D2E47C21C8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695998"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695998"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no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no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2334527719"/>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质检比 </a:t>
                      </a:r>
                      <a:r>
                        <a:rPr lang="en-US" altLang="zh-CN" sz="1600" b="0" dirty="0">
                          <a:solidFill>
                            <a:schemeClr val="tx1"/>
                          </a:solidFill>
                        </a:rPr>
                        <a:t>= </a:t>
                      </a:r>
                      <a:endParaRPr lang="zh-CN" altLang="en-US" sz="16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b="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solidFill>
                  <a:srgbClr val="2E75B6"/>
                </a:solidFill>
              </a:rPr>
              <a:t>1:10:100 </a:t>
            </a:r>
            <a:r>
              <a:rPr lang="zh-CN" altLang="en-US" sz="2800" dirty="0">
                <a:solidFill>
                  <a:srgbClr val="2E75B6"/>
                </a:solidFill>
              </a:rPr>
              <a:t>法则</a:t>
            </a:r>
          </a:p>
        </p:txBody>
      </p:sp>
    </p:spTree>
    <p:extLst>
      <p:ext uri="{BB962C8B-B14F-4D97-AF65-F5344CB8AC3E}">
        <p14:creationId xmlns:p14="http://schemas.microsoft.com/office/powerpoint/2010/main" val="367724098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695998"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695998"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695998" y="360000"/>
            <a:ext cx="6375921" cy="429413"/>
          </a:xfrm>
        </p:spPr>
        <p:txBody>
          <a:bodyPr/>
          <a:lstStyle/>
          <a:p>
            <a:r>
              <a:rPr lang="en-US" altLang="zh-CN" dirty="0"/>
              <a:t>1.3 </a:t>
            </a:r>
            <a:r>
              <a:rPr lang="zh-CN" altLang="en-US" dirty="0"/>
              <a:t>质量管理对象</a:t>
            </a:r>
          </a:p>
        </p:txBody>
      </p:sp>
      <p:sp>
        <p:nvSpPr>
          <p:cNvPr id="17" name="内容占位符 16">
            <a:extLst>
              <a:ext uri="{FF2B5EF4-FFF2-40B4-BE49-F238E27FC236}">
                <a16:creationId xmlns:a16="http://schemas.microsoft.com/office/drawing/2014/main" id="{A6CF8B59-A905-6FF3-18F0-728C7588FDD9}"/>
              </a:ext>
            </a:extLst>
          </p:cNvPr>
          <p:cNvSpPr>
            <a:spLocks noGrp="1"/>
          </p:cNvSpPr>
          <p:nvPr>
            <p:ph idx="1"/>
          </p:nvPr>
        </p:nvSpPr>
        <p:spPr/>
        <p:txBody>
          <a:bodyPr/>
          <a:lstStyle/>
          <a:p>
            <a:endParaRPr lang="zh-CN" altLang="en-US" dirty="0"/>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695998" y="360000"/>
            <a:ext cx="6375921" cy="429413"/>
          </a:xfrm>
        </p:spPr>
        <p:txBody>
          <a:bodyPr/>
          <a:lstStyle/>
          <a:p>
            <a:r>
              <a:rPr lang="en-US" altLang="zh-CN" dirty="0"/>
              <a:t>1.3 </a:t>
            </a:r>
            <a:r>
              <a:rPr lang="zh-CN" altLang="en-US" dirty="0"/>
              <a:t>质量管理对象</a:t>
            </a:r>
          </a:p>
        </p:txBody>
      </p:sp>
      <p:sp>
        <p:nvSpPr>
          <p:cNvPr id="7" name="内容占位符 6">
            <a:extLst>
              <a:ext uri="{FF2B5EF4-FFF2-40B4-BE49-F238E27FC236}">
                <a16:creationId xmlns:a16="http://schemas.microsoft.com/office/drawing/2014/main" id="{C5B1AE6E-1212-7F2F-CFD6-FF56AD17C62F}"/>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695998"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1437129454"/>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dirty="0">
                          <a:solidFill>
                            <a:schemeClr val="tx1"/>
                          </a:solidFill>
                        </a:rPr>
                        <a:t>可维护性 </a:t>
                      </a:r>
                      <a:r>
                        <a:rPr lang="en-US" sz="1600" dirty="0">
                          <a:solidFill>
                            <a:schemeClr val="tx1"/>
                          </a:solidFill>
                        </a:rPr>
                        <a:t>Maintainability</a:t>
                      </a:r>
                      <a:br>
                        <a:rPr lang="en-US" sz="1600" dirty="0">
                          <a:solidFill>
                            <a:schemeClr val="tx1"/>
                          </a:solidFill>
                        </a:rPr>
                      </a:br>
                      <a:r>
                        <a:rPr lang="zh-CN" altLang="en-US" sz="1600" dirty="0">
                          <a:solidFill>
                            <a:schemeClr val="tx1"/>
                          </a:solidFill>
                        </a:rPr>
                        <a:t>灵活性 </a:t>
                      </a:r>
                      <a:r>
                        <a:rPr lang="en-US" sz="1600" dirty="0">
                          <a:solidFill>
                            <a:schemeClr val="tx1"/>
                          </a:solidFill>
                        </a:rPr>
                        <a:t>Flexibility</a:t>
                      </a:r>
                      <a:br>
                        <a:rPr lang="en-US" sz="1600" dirty="0">
                          <a:solidFill>
                            <a:schemeClr val="tx1"/>
                          </a:solidFill>
                        </a:rPr>
                      </a:br>
                      <a:r>
                        <a:rPr lang="zh-CN" altLang="en-US" sz="1600" dirty="0">
                          <a:solidFill>
                            <a:schemeClr val="tx1"/>
                          </a:solidFill>
                        </a:rPr>
                        <a:t>可测试性 </a:t>
                      </a:r>
                      <a:r>
                        <a:rPr lang="en-US" sz="1600" dirty="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902811" cy="307777"/>
          </a:xfrm>
          <a:prstGeom prst="rect">
            <a:avLst/>
          </a:prstGeom>
          <a:noFill/>
          <a:ln>
            <a:noFill/>
          </a:ln>
        </p:spPr>
        <p:txBody>
          <a:bodyPr wrap="none" rtlCol="0">
            <a:spAutoFit/>
          </a:bodyPr>
          <a:lstStyle/>
          <a:p>
            <a:pPr algn="l"/>
            <a:r>
              <a:rPr lang="zh-CN" altLang="en-US" sz="14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082348" cy="307777"/>
          </a:xfrm>
          <a:prstGeom prst="rect">
            <a:avLst/>
          </a:prstGeom>
          <a:noFill/>
          <a:ln>
            <a:noFill/>
          </a:ln>
        </p:spPr>
        <p:txBody>
          <a:bodyPr wrap="none" rtlCol="0">
            <a:spAutoFit/>
          </a:bodyPr>
          <a:lstStyle/>
          <a:p>
            <a:pPr algn="l"/>
            <a:r>
              <a:rPr lang="zh-CN" altLang="en-US" sz="14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902811" cy="307777"/>
          </a:xfrm>
          <a:prstGeom prst="rect">
            <a:avLst/>
          </a:prstGeom>
          <a:noFill/>
          <a:ln>
            <a:noFill/>
          </a:ln>
        </p:spPr>
        <p:txBody>
          <a:bodyPr wrap="none" rtlCol="0">
            <a:spAutoFit/>
          </a:bodyPr>
          <a:lstStyle/>
          <a:p>
            <a:pPr algn="l"/>
            <a:r>
              <a:rPr lang="zh-CN" altLang="en-US" sz="14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695998" y="360000"/>
            <a:ext cx="6375921" cy="429413"/>
          </a:xfrm>
        </p:spPr>
        <p:txBody>
          <a:bodyPr/>
          <a:lstStyle/>
          <a:p>
            <a:r>
              <a:rPr lang="en-US" altLang="zh-CN" dirty="0"/>
              <a:t>3. </a:t>
            </a:r>
            <a:r>
              <a:rPr lang="zh-CN" altLang="en-US" dirty="0"/>
              <a:t>软件质量管理活动</a:t>
            </a:r>
          </a:p>
        </p:txBody>
      </p:sp>
      <p:sp>
        <p:nvSpPr>
          <p:cNvPr id="7" name="内容占位符 6">
            <a:extLst>
              <a:ext uri="{FF2B5EF4-FFF2-40B4-BE49-F238E27FC236}">
                <a16:creationId xmlns:a16="http://schemas.microsoft.com/office/drawing/2014/main" id="{8D897C33-83F9-84BB-9DEB-74045D3C1E33}"/>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A736058A-D61C-DE23-4F66-8C177442799F}"/>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695998"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695998"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695998"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solidFill>
                  <a:srgbClr val="2E75B6"/>
                </a:solidFill>
              </a:rPr>
              <a:t>QA</a:t>
            </a:r>
            <a:endParaRPr lang="zh-CN" altLang="en-US" sz="2800" dirty="0">
              <a:solidFill>
                <a:srgbClr val="2E75B6"/>
              </a:solidFill>
            </a:endParaRPr>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solidFill>
                  <a:srgbClr val="2E75B6"/>
                </a:solidFill>
              </a:rPr>
              <a:t>QC</a:t>
            </a:r>
            <a:endParaRPr lang="zh-CN" altLang="en-US" sz="2800" dirty="0">
              <a:solidFill>
                <a:srgbClr val="2E75B6"/>
              </a:solidFill>
            </a:endParaRPr>
          </a:p>
        </p:txBody>
      </p:sp>
    </p:spTree>
    <p:extLst>
      <p:ext uri="{BB962C8B-B14F-4D97-AF65-F5344CB8AC3E}">
        <p14:creationId xmlns:p14="http://schemas.microsoft.com/office/powerpoint/2010/main" val="1812812361"/>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695998"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7" name="文本占位符 6">
            <a:extLst>
              <a:ext uri="{FF2B5EF4-FFF2-40B4-BE49-F238E27FC236}">
                <a16:creationId xmlns:a16="http://schemas.microsoft.com/office/drawing/2014/main" id="{C5C5AB4F-C2EE-B7CC-D77E-81265DC4B63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695998"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6" name="文本占位符 5">
            <a:extLst>
              <a:ext uri="{FF2B5EF4-FFF2-40B4-BE49-F238E27FC236}">
                <a16:creationId xmlns:a16="http://schemas.microsoft.com/office/drawing/2014/main" id="{90C05809-2B3F-9129-2BB9-9103FCAFA9F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695998"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7" name="文本占位符 6">
            <a:extLst>
              <a:ext uri="{FF2B5EF4-FFF2-40B4-BE49-F238E27FC236}">
                <a16:creationId xmlns:a16="http://schemas.microsoft.com/office/drawing/2014/main" id="{DC0B951E-90A1-7A6B-E2EA-4F302A60CC8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695998"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6" name="文本占位符 5">
            <a:extLst>
              <a:ext uri="{FF2B5EF4-FFF2-40B4-BE49-F238E27FC236}">
                <a16:creationId xmlns:a16="http://schemas.microsoft.com/office/drawing/2014/main" id="{485B08BF-D373-DB05-C4AF-7BA9D68D1C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695998"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695998"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695998"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695998"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695998"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1930558282"/>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2636130649"/>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695998"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6" name="文本占位符 5">
            <a:extLst>
              <a:ext uri="{FF2B5EF4-FFF2-40B4-BE49-F238E27FC236}">
                <a16:creationId xmlns:a16="http://schemas.microsoft.com/office/drawing/2014/main" id="{C048C235-357C-3038-203C-BCCF9C70D90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695998"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6" name="文本占位符 5">
            <a:extLst>
              <a:ext uri="{FF2B5EF4-FFF2-40B4-BE49-F238E27FC236}">
                <a16:creationId xmlns:a16="http://schemas.microsoft.com/office/drawing/2014/main" id="{43DC4924-4274-FBD8-4F43-FBE548FE295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695998"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6" name="文本占位符 5">
            <a:extLst>
              <a:ext uri="{FF2B5EF4-FFF2-40B4-BE49-F238E27FC236}">
                <a16:creationId xmlns:a16="http://schemas.microsoft.com/office/drawing/2014/main" id="{3933CA79-1D4C-0BC6-7567-4462EDD024B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695998"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695998"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695998"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6" name="文本占位符 5">
            <a:extLst>
              <a:ext uri="{FF2B5EF4-FFF2-40B4-BE49-F238E27FC236}">
                <a16:creationId xmlns:a16="http://schemas.microsoft.com/office/drawing/2014/main" id="{DA27AD19-1D99-C22C-9905-72D439C6C5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2251498397"/>
              </p:ext>
            </p:extLst>
          </p:nvPr>
        </p:nvGraphicFramePr>
        <p:xfrm>
          <a:off x="1876425"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695998"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graphicFrame>
        <p:nvGraphicFramePr>
          <p:cNvPr id="5" name="内容占位符 8">
            <a:extLst>
              <a:ext uri="{FF2B5EF4-FFF2-40B4-BE49-F238E27FC236}">
                <a16:creationId xmlns:a16="http://schemas.microsoft.com/office/drawing/2014/main" id="{9BB90892-65AA-6768-B014-50A4020CFC60}"/>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69967317"/>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7803" y="4713024"/>
            <a:ext cx="540000" cy="540000"/>
          </a:xfrm>
          <a:prstGeom prst="rect">
            <a:avLst/>
          </a:prstGeom>
        </p:spPr>
      </p:pic>
      <p:cxnSp>
        <p:nvCxnSpPr>
          <p:cNvPr id="8" name="直接箭头连接符 7">
            <a:extLst>
              <a:ext uri="{FF2B5EF4-FFF2-40B4-BE49-F238E27FC236}">
                <a16:creationId xmlns:a16="http://schemas.microsoft.com/office/drawing/2014/main" id="{6CE7E648-3051-3063-7ADC-B7D8B5FE0BD0}"/>
              </a:ext>
            </a:extLst>
          </p:cNvPr>
          <p:cNvCxnSpPr/>
          <p:nvPr/>
        </p:nvCxnSpPr>
        <p:spPr>
          <a:xfrm>
            <a:off x="10533816"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C6F9363F-28FC-2E7C-C5DA-C8F2CDF4BDAE}"/>
              </a:ext>
            </a:extLst>
          </p:cNvPr>
          <p:cNvCxnSpPr>
            <a:cxnSpLocks/>
          </p:cNvCxnSpPr>
          <p:nvPr/>
        </p:nvCxnSpPr>
        <p:spPr>
          <a:xfrm flipV="1">
            <a:off x="10833998"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C993B81D-CE0E-1F5E-A7B9-B27C00661224}"/>
              </a:ext>
            </a:extLst>
          </p:cNvPr>
          <p:cNvCxnSpPr>
            <a:cxnSpLocks/>
            <a:stCxn id="16" idx="2"/>
          </p:cNvCxnSpPr>
          <p:nvPr/>
        </p:nvCxnSpPr>
        <p:spPr>
          <a:xfrm rot="16200000" flipH="1">
            <a:off x="4613122" y="-171319"/>
            <a:ext cx="3178197" cy="9023929"/>
          </a:xfrm>
          <a:prstGeom prst="bentConnector2">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009E0697-2AC4-FE19-78FB-38972B3215F4}"/>
              </a:ext>
            </a:extLst>
          </p:cNvPr>
          <p:cNvSpPr/>
          <p:nvPr/>
        </p:nvSpPr>
        <p:spPr>
          <a:xfrm>
            <a:off x="2721557" y="304356"/>
            <a:ext cx="982225" cy="25271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075609887"/>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695998"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695998"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a:t>
            </a:r>
            <a:r>
              <a:rPr lang="zh-CN" altLang="en-US" dirty="0">
                <a:solidFill>
                  <a:schemeClr val="accent2"/>
                </a:solidFill>
              </a:rPr>
              <a:t>配置项</a:t>
            </a:r>
            <a:r>
              <a:rPr lang="zh-CN" altLang="en-US" dirty="0"/>
              <a:t>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695998"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chemeClr val="bg1"/>
                </a:solidFill>
              </a:rPr>
              <a:t>SCI</a:t>
            </a:r>
            <a:endParaRPr lang="zh-CN" altLang="en-US" sz="2400" dirty="0">
              <a:solidFill>
                <a:schemeClr val="bg1"/>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695998" y="360000"/>
            <a:ext cx="6375921" cy="429413"/>
          </a:xfrm>
        </p:spPr>
        <p:txBody>
          <a:bodyPr/>
          <a:lstStyle/>
          <a:p>
            <a:r>
              <a:rPr lang="en-US" altLang="zh-CN" dirty="0"/>
              <a:t>1.3 </a:t>
            </a:r>
            <a:r>
              <a:rPr lang="zh-CN" altLang="en-US" dirty="0"/>
              <a:t>软件项目基线</a:t>
            </a:r>
          </a:p>
        </p:txBody>
      </p:sp>
      <p:sp>
        <p:nvSpPr>
          <p:cNvPr id="7" name="内容占位符 6">
            <a:extLst>
              <a:ext uri="{FF2B5EF4-FFF2-40B4-BE49-F238E27FC236}">
                <a16:creationId xmlns:a16="http://schemas.microsoft.com/office/drawing/2014/main" id="{5B7A431B-975A-A9E3-7BA7-283B0F5991AC}"/>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2922585033"/>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en-US" altLang="zh-CN" sz="1600" dirty="0">
                          <a:solidFill>
                            <a:schemeClr val="bg1"/>
                          </a:solidFill>
                        </a:rPr>
                        <a:t>Feature</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Tips</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695998"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产品经理 </a:t>
            </a:r>
            <a:r>
              <a:rPr lang="en-US" altLang="zh-CN" dirty="0"/>
              <a:t>a product manager/</a:t>
            </a:r>
            <a:r>
              <a:rPr lang="zh-CN" altLang="en-US" dirty="0"/>
              <a:t>做什么和为什么做</a:t>
            </a:r>
            <a:endParaRPr lang="en-US" altLang="zh-CN" dirty="0"/>
          </a:p>
          <a:p>
            <a:pPr lvl="1"/>
            <a:r>
              <a:rPr lang="zh-CN" altLang="en-US" dirty="0"/>
              <a:t>项目经理 </a:t>
            </a:r>
            <a:r>
              <a:rPr lang="en-US" altLang="zh-CN" dirty="0"/>
              <a:t>the project manager/</a:t>
            </a:r>
            <a:r>
              <a:rPr lang="zh-CN" altLang="en-US" dirty="0"/>
              <a:t>按时按质交付</a:t>
            </a:r>
            <a:endParaRPr lang="en-US" altLang="zh-CN" dirty="0"/>
          </a:p>
          <a:p>
            <a:pPr lvl="1"/>
            <a:r>
              <a:rPr lang="zh-CN" altLang="en-US" dirty="0"/>
              <a:t>开发经理 </a:t>
            </a:r>
            <a:r>
              <a:rPr lang="en-US" altLang="zh-CN" dirty="0"/>
              <a:t>the development manager/</a:t>
            </a:r>
            <a:r>
              <a:rPr lang="zh-CN" altLang="en-US" dirty="0"/>
              <a:t>怎么做和技术实现</a:t>
            </a:r>
            <a:endParaRPr lang="en-US" altLang="zh-CN" dirty="0"/>
          </a:p>
          <a:p>
            <a:pPr lvl="1"/>
            <a:r>
              <a:rPr lang="zh-CN" altLang="en-US" dirty="0"/>
              <a:t>测试经理 </a:t>
            </a:r>
            <a:r>
              <a:rPr lang="en-US" altLang="zh-CN" dirty="0"/>
              <a:t>a test manager/</a:t>
            </a:r>
            <a:r>
              <a:rPr lang="zh-CN" altLang="en-US" dirty="0"/>
              <a:t>质量把关</a:t>
            </a:r>
            <a:endParaRPr lang="en-US" altLang="zh-CN" dirty="0"/>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695998" y="360000"/>
            <a:ext cx="6375921" cy="429413"/>
          </a:xfrm>
        </p:spPr>
        <p:txBody>
          <a:bodyPr/>
          <a:lstStyle/>
          <a:p>
            <a:r>
              <a:rPr lang="en-US" altLang="zh-CN" dirty="0"/>
              <a:t>2. </a:t>
            </a:r>
            <a:r>
              <a:rPr lang="zh-CN" altLang="en-US" dirty="0"/>
              <a:t>配置管理过程</a:t>
            </a:r>
          </a:p>
        </p:txBody>
      </p:sp>
      <p:sp>
        <p:nvSpPr>
          <p:cNvPr id="6" name="内容占位符 5">
            <a:extLst>
              <a:ext uri="{FF2B5EF4-FFF2-40B4-BE49-F238E27FC236}">
                <a16:creationId xmlns:a16="http://schemas.microsoft.com/office/drawing/2014/main" id="{A5BB81B8-AAD8-882F-1ABA-F3BE276DC7EC}"/>
              </a:ext>
            </a:extLst>
          </p:cNvPr>
          <p:cNvSpPr>
            <a:spLocks noGrp="1"/>
          </p:cNvSpPr>
          <p:nvPr>
            <p:ph idx="1"/>
          </p:nvPr>
        </p:nvSpPr>
        <p:spPr>
          <a:xfrm>
            <a:off x="696000" y="864000"/>
            <a:ext cx="10800000" cy="5400000"/>
          </a:xfrm>
        </p:spPr>
        <p:txBody>
          <a:bodyPr/>
          <a:lstStyle/>
          <a:p>
            <a:endParaRPr lang="zh-CN" altLang="en-US" dirty="0"/>
          </a:p>
        </p:txBody>
      </p:sp>
      <p:sp>
        <p:nvSpPr>
          <p:cNvPr id="14" name="文本占位符 13">
            <a:extLst>
              <a:ext uri="{FF2B5EF4-FFF2-40B4-BE49-F238E27FC236}">
                <a16:creationId xmlns:a16="http://schemas.microsoft.com/office/drawing/2014/main" id="{7F912A19-543A-BA90-846A-12336A2E3848}"/>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rgbClr val="E4745C"/>
                </a:solidFill>
              </a:rPr>
              <a:t>06</a:t>
            </a:r>
            <a:endParaRPr lang="zh-CN" altLang="en-US" sz="2400" b="1" dirty="0">
              <a:solidFill>
                <a:srgbClr val="E4745C"/>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695998"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29" name="文本占位符 28">
            <a:extLst>
              <a:ext uri="{FF2B5EF4-FFF2-40B4-BE49-F238E27FC236}">
                <a16:creationId xmlns:a16="http://schemas.microsoft.com/office/drawing/2014/main" id="{66698798-00A0-7650-766C-7FCDE8FF351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695998"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 </a:t>
            </a:r>
            <a:r>
              <a:rPr lang="en-US" altLang="zh-CN" dirty="0"/>
              <a:t>Repository</a:t>
            </a:r>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6" name="文本占位符 5">
            <a:extLst>
              <a:ext uri="{FF2B5EF4-FFF2-40B4-BE49-F238E27FC236}">
                <a16:creationId xmlns:a16="http://schemas.microsoft.com/office/drawing/2014/main" id="{1EEC0DC4-7469-9642-6A65-2587E2B87D73}"/>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endParaRPr lang="en-US" altLang="zh-CN" dirty="0">
              <a:solidFill>
                <a:schemeClr val="tx1"/>
              </a:solidFill>
            </a:endParaRPr>
          </a:p>
          <a:p>
            <a:pPr algn="ctr"/>
            <a:r>
              <a:rPr lang="en-US" altLang="zh-CN" sz="1600" dirty="0">
                <a:solidFill>
                  <a:schemeClr val="tx1"/>
                </a:solidFill>
              </a:rPr>
              <a:t>Repository</a:t>
            </a:r>
            <a:endParaRPr lang="zh-CN" altLang="en-US" sz="1600" dirty="0">
              <a:solidFill>
                <a:schemeClr val="tx1"/>
              </a:solidFill>
            </a:endParaRP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r>
              <a:rPr lang="zh-CN" altLang="en-US" dirty="0"/>
              <a:t>评估变更影响</a:t>
            </a:r>
          </a:p>
          <a:p>
            <a:r>
              <a:rPr lang="zh-CN" altLang="en-US" dirty="0"/>
              <a:t>若批准，则执行变更并</a:t>
            </a:r>
            <a:r>
              <a:rPr lang="zh-CN" altLang="en-US" b="1" dirty="0"/>
              <a:t>发布通知</a:t>
            </a:r>
            <a:endParaRPr lang="en-US" altLang="zh-CN" b="1" dirty="0"/>
          </a:p>
          <a:p>
            <a:r>
              <a:rPr lang="zh-CN" altLang="en-US" dirty="0"/>
              <a:t>若拒绝，则通知申请人并归档</a:t>
            </a:r>
          </a:p>
          <a:p>
            <a:r>
              <a:rPr lang="zh-CN" altLang="en-US" dirty="0"/>
              <a:t>更新基线与文档，关闭变更请求，</a:t>
            </a:r>
            <a:r>
              <a:rPr lang="zh-CN" altLang="en-US" b="1" dirty="0"/>
              <a:t>发布通知</a:t>
            </a:r>
          </a:p>
          <a:p>
            <a:endParaRPr lang="zh-CN" altLang="en-US" dirty="0"/>
          </a:p>
        </p:txBody>
      </p:sp>
      <p:sp>
        <p:nvSpPr>
          <p:cNvPr id="21" name="文本占位符 20">
            <a:extLst>
              <a:ext uri="{FF2B5EF4-FFF2-40B4-BE49-F238E27FC236}">
                <a16:creationId xmlns:a16="http://schemas.microsoft.com/office/drawing/2014/main" id="{F1418901-39A9-98ED-1CE4-0F0AD3A846C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970ED0-22B2-3400-6954-209776C689ED}"/>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7" name="文本占位符 6">
            <a:extLst>
              <a:ext uri="{FF2B5EF4-FFF2-40B4-BE49-F238E27FC236}">
                <a16:creationId xmlns:a16="http://schemas.microsoft.com/office/drawing/2014/main" id="{3DD8E055-E543-B5E3-9C95-CEEAEAEA5A17}"/>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E54C586E-FFA5-9B2B-6F65-8AE1724330FD}"/>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申请</a:t>
            </a:r>
          </a:p>
        </p:txBody>
      </p:sp>
      <p:sp>
        <p:nvSpPr>
          <p:cNvPr id="10" name="MH_Other_1">
            <a:extLst>
              <a:ext uri="{FF2B5EF4-FFF2-40B4-BE49-F238E27FC236}">
                <a16:creationId xmlns:a16="http://schemas.microsoft.com/office/drawing/2014/main" id="{6AC9808D-AA56-8EB0-8015-87AAD2D5BD36}"/>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1CC96631-3D9D-F396-52A6-B04FE99533B7}"/>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127D48FD-48E8-C5D9-E085-F66C0D0E59A2}"/>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01</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84B1A9E3-ADD7-2B05-4CEF-DAEF277379BE}"/>
              </a:ext>
            </a:extLst>
          </p:cNvPr>
          <p:cNvSpPr txBox="1"/>
          <p:nvPr/>
        </p:nvSpPr>
        <p:spPr>
          <a:xfrm>
            <a:off x="1593248" y="1474559"/>
            <a:ext cx="4525598" cy="584775"/>
          </a:xfrm>
          <a:prstGeom prst="rect">
            <a:avLst/>
          </a:prstGeom>
          <a:noFill/>
        </p:spPr>
        <p:txBody>
          <a:bodyPr wrap="none" rtlCol="0">
            <a:spAutoFit/>
          </a:bodyPr>
          <a:lstStyle/>
          <a:p>
            <a:r>
              <a:rPr lang="zh-CN" altLang="en-US" sz="1600" dirty="0"/>
              <a:t>申请人填写</a:t>
            </a:r>
            <a:r>
              <a:rPr lang="en-US" altLang="zh-CN" sz="1600" dirty="0"/>
              <a:t>《</a:t>
            </a:r>
            <a:r>
              <a:rPr lang="zh-CN" altLang="en-US" sz="1600" dirty="0"/>
              <a:t>变更请求单</a:t>
            </a:r>
            <a:r>
              <a:rPr lang="en-US" altLang="zh-CN" sz="1600" dirty="0"/>
              <a:t>》</a:t>
            </a:r>
          </a:p>
          <a:p>
            <a:r>
              <a:rPr lang="zh-CN" altLang="en-US" sz="1600" dirty="0"/>
              <a:t>必须明确“为什么要变”、“变什么”、“不变的后果”</a:t>
            </a:r>
          </a:p>
        </p:txBody>
      </p:sp>
      <p:sp>
        <p:nvSpPr>
          <p:cNvPr id="15" name="MH_SubTitle_1">
            <a:extLst>
              <a:ext uri="{FF2B5EF4-FFF2-40B4-BE49-F238E27FC236}">
                <a16:creationId xmlns:a16="http://schemas.microsoft.com/office/drawing/2014/main" id="{6E444DE2-F630-EB3D-86D4-7713DC67A79F}"/>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评估</a:t>
            </a:r>
          </a:p>
        </p:txBody>
      </p:sp>
      <p:sp>
        <p:nvSpPr>
          <p:cNvPr id="16" name="MH_Other_1">
            <a:extLst>
              <a:ext uri="{FF2B5EF4-FFF2-40B4-BE49-F238E27FC236}">
                <a16:creationId xmlns:a16="http://schemas.microsoft.com/office/drawing/2014/main" id="{60B8A251-C7AD-0F4F-A12C-55B38E238103}"/>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F46CEC91-0B3B-94C6-FB7A-0E0A56055EAA}"/>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09E7F881-407F-3C40-F8A8-89577531C8B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02</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290A4C03-F640-9B71-37AF-47D3F652B707}"/>
              </a:ext>
            </a:extLst>
          </p:cNvPr>
          <p:cNvSpPr txBox="1"/>
          <p:nvPr/>
        </p:nvSpPr>
        <p:spPr>
          <a:xfrm>
            <a:off x="2328000" y="3194236"/>
            <a:ext cx="3877985" cy="584775"/>
          </a:xfrm>
          <a:prstGeom prst="rect">
            <a:avLst/>
          </a:prstGeom>
          <a:noFill/>
        </p:spPr>
        <p:txBody>
          <a:bodyPr wrap="none" rtlCol="0">
            <a:spAutoFit/>
          </a:bodyPr>
          <a:lstStyle/>
          <a:p>
            <a:r>
              <a:rPr lang="en-US" altLang="zh-CN" sz="1600" dirty="0"/>
              <a:t>CCB </a:t>
            </a:r>
            <a:r>
              <a:rPr lang="zh-CN" altLang="en-US" sz="1600" dirty="0"/>
              <a:t>召开会议。</a:t>
            </a:r>
          </a:p>
          <a:p>
            <a:r>
              <a:rPr lang="zh-CN" altLang="en-US" sz="1600" dirty="0"/>
              <a:t>内容：分析技术可行性、成本、进度影响</a:t>
            </a:r>
          </a:p>
        </p:txBody>
      </p:sp>
      <p:sp>
        <p:nvSpPr>
          <p:cNvPr id="20" name="MH_SubTitle_1">
            <a:extLst>
              <a:ext uri="{FF2B5EF4-FFF2-40B4-BE49-F238E27FC236}">
                <a16:creationId xmlns:a16="http://schemas.microsoft.com/office/drawing/2014/main" id="{BC45BA34-99A2-1BCD-EB31-F3D634BF2727}"/>
              </a:ext>
            </a:extLst>
          </p:cNvPr>
          <p:cNvSpPr>
            <a:spLocks noChangeArrowheads="1"/>
          </p:cNvSpPr>
          <p:nvPr/>
        </p:nvSpPr>
        <p:spPr bwMode="auto">
          <a:xfrm>
            <a:off x="3105422" y="4611449"/>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决策与通知</a:t>
            </a:r>
          </a:p>
        </p:txBody>
      </p:sp>
      <p:sp>
        <p:nvSpPr>
          <p:cNvPr id="21" name="MH_Other_1">
            <a:extLst>
              <a:ext uri="{FF2B5EF4-FFF2-40B4-BE49-F238E27FC236}">
                <a16:creationId xmlns:a16="http://schemas.microsoft.com/office/drawing/2014/main" id="{1A63D934-06FB-9F08-B7A0-88BDF3D8BA1B}"/>
              </a:ext>
            </a:extLst>
          </p:cNvPr>
          <p:cNvSpPr/>
          <p:nvPr/>
        </p:nvSpPr>
        <p:spPr>
          <a:xfrm>
            <a:off x="2937432" y="4365913"/>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22" name="MH_Other_2">
            <a:extLst>
              <a:ext uri="{FF2B5EF4-FFF2-40B4-BE49-F238E27FC236}">
                <a16:creationId xmlns:a16="http://schemas.microsoft.com/office/drawing/2014/main" id="{16CB1CEC-A8DB-10C0-CA5C-9EC2D882FC94}"/>
              </a:ext>
            </a:extLst>
          </p:cNvPr>
          <p:cNvCxnSpPr>
            <a:cxnSpLocks noChangeShapeType="1"/>
          </p:cNvCxnSpPr>
          <p:nvPr/>
        </p:nvCxnSpPr>
        <p:spPr bwMode="auto">
          <a:xfrm flipV="1">
            <a:off x="3105422" y="4949368"/>
            <a:ext cx="8352000" cy="635"/>
          </a:xfrm>
          <a:prstGeom prst="line">
            <a:avLst/>
          </a:prstGeom>
          <a:noFill/>
          <a:ln w="19050" algn="ctr">
            <a:solidFill>
              <a:srgbClr val="BFBFBF"/>
            </a:solidFill>
            <a:prstDash val="sysDash"/>
            <a:miter lim="800000"/>
          </a:ln>
        </p:spPr>
      </p:cxnSp>
      <p:sp>
        <p:nvSpPr>
          <p:cNvPr id="23" name="MH_Other_3">
            <a:extLst>
              <a:ext uri="{FF2B5EF4-FFF2-40B4-BE49-F238E27FC236}">
                <a16:creationId xmlns:a16="http://schemas.microsoft.com/office/drawing/2014/main" id="{F5B74529-3D6C-5CEF-FC53-C15D1BBC5371}"/>
              </a:ext>
            </a:extLst>
          </p:cNvPr>
          <p:cNvSpPr txBox="1">
            <a:spLocks noChangeArrowheads="1"/>
          </p:cNvSpPr>
          <p:nvPr/>
        </p:nvSpPr>
        <p:spPr bwMode="auto">
          <a:xfrm>
            <a:off x="2200355" y="4383375"/>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03</a:t>
            </a:r>
            <a:endParaRPr lang="zh-CN" altLang="en-US" sz="4800" b="1" dirty="0">
              <a:solidFill>
                <a:srgbClr val="E05F73"/>
              </a:solidFill>
              <a:ea typeface="幼圆" panose="02010509060101010101" pitchFamily="49" charset="-122"/>
            </a:endParaRPr>
          </a:p>
        </p:txBody>
      </p:sp>
      <p:sp>
        <p:nvSpPr>
          <p:cNvPr id="24" name="文本框 23">
            <a:extLst>
              <a:ext uri="{FF2B5EF4-FFF2-40B4-BE49-F238E27FC236}">
                <a16:creationId xmlns:a16="http://schemas.microsoft.com/office/drawing/2014/main" id="{4D7DE840-3423-F7B2-701B-226ADB13028A}"/>
              </a:ext>
            </a:extLst>
          </p:cNvPr>
          <p:cNvSpPr txBox="1"/>
          <p:nvPr/>
        </p:nvSpPr>
        <p:spPr>
          <a:xfrm>
            <a:off x="3105422" y="4949368"/>
            <a:ext cx="5408853" cy="584775"/>
          </a:xfrm>
          <a:prstGeom prst="rect">
            <a:avLst/>
          </a:prstGeom>
          <a:noFill/>
        </p:spPr>
        <p:txBody>
          <a:bodyPr wrap="none" rtlCol="0">
            <a:spAutoFit/>
          </a:bodyPr>
          <a:lstStyle/>
          <a:p>
            <a:r>
              <a:rPr lang="en-US" altLang="zh-CN" sz="1600" dirty="0"/>
              <a:t>CCB </a:t>
            </a:r>
            <a:r>
              <a:rPr lang="zh-CN" altLang="en-US" sz="1600" dirty="0"/>
              <a:t>驳回。通知申请人，说明理由，流程结束，单据归档</a:t>
            </a:r>
            <a:endParaRPr lang="en-US" altLang="zh-CN" sz="1600" dirty="0"/>
          </a:p>
          <a:p>
            <a:r>
              <a:rPr lang="en-US" altLang="zh-CN" sz="1600" dirty="0"/>
              <a:t>CCB </a:t>
            </a:r>
            <a:r>
              <a:rPr lang="zh-CN" altLang="en-US" sz="1600" dirty="0"/>
              <a:t>签字批准。通知申请人、受影响的相关方</a:t>
            </a:r>
          </a:p>
        </p:txBody>
      </p:sp>
    </p:spTree>
    <p:extLst>
      <p:ext uri="{BB962C8B-B14F-4D97-AF65-F5344CB8AC3E}">
        <p14:creationId xmlns:p14="http://schemas.microsoft.com/office/powerpoint/2010/main" val="417245150"/>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64BC-F659-5A68-3264-22F553482D3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174C4C-DC52-BD59-E743-54BF85769EB6}"/>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7" name="文本占位符 6">
            <a:extLst>
              <a:ext uri="{FF2B5EF4-FFF2-40B4-BE49-F238E27FC236}">
                <a16:creationId xmlns:a16="http://schemas.microsoft.com/office/drawing/2014/main" id="{C65F2B98-B297-0C83-B0D6-E30EBE770144}"/>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3A254024-2505-ED4B-C0EC-F1D892841589}"/>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600" dirty="0">
                <a:solidFill>
                  <a:srgbClr val="E05F73"/>
                </a:solidFill>
              </a:rPr>
              <a:t>实施</a:t>
            </a:r>
          </a:p>
        </p:txBody>
      </p:sp>
      <p:sp>
        <p:nvSpPr>
          <p:cNvPr id="10" name="MH_Other_1">
            <a:extLst>
              <a:ext uri="{FF2B5EF4-FFF2-40B4-BE49-F238E27FC236}">
                <a16:creationId xmlns:a16="http://schemas.microsoft.com/office/drawing/2014/main" id="{EDAD35DA-9CC1-A3C4-5AF2-E4B8F1C3EF88}"/>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70E9B25F-FBA8-A9ED-1BC9-BDB0DABC7EFE}"/>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EF8B1283-EA45-3486-9724-7430A272EBF3}"/>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04</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A847FC7E-F3EE-8136-1AA2-81A6149809DD}"/>
              </a:ext>
            </a:extLst>
          </p:cNvPr>
          <p:cNvSpPr txBox="1"/>
          <p:nvPr/>
        </p:nvSpPr>
        <p:spPr>
          <a:xfrm>
            <a:off x="1593248" y="1474559"/>
            <a:ext cx="4682692" cy="1077218"/>
          </a:xfrm>
          <a:prstGeom prst="rect">
            <a:avLst/>
          </a:prstGeom>
          <a:noFill/>
        </p:spPr>
        <p:txBody>
          <a:bodyPr wrap="none" rtlCol="0">
            <a:spAutoFit/>
          </a:bodyPr>
          <a:lstStyle/>
          <a:p>
            <a:r>
              <a:rPr lang="zh-CN" altLang="en-US" sz="1600" dirty="0"/>
              <a:t>出库：从配置库检出基线</a:t>
            </a:r>
          </a:p>
          <a:p>
            <a:r>
              <a:rPr lang="zh-CN" altLang="en-US" sz="1600" dirty="0"/>
              <a:t>修改：执行变更（代码</a:t>
            </a:r>
            <a:r>
              <a:rPr lang="en-US" altLang="zh-CN" sz="1600" dirty="0"/>
              <a:t>/</a:t>
            </a:r>
            <a:r>
              <a:rPr lang="zh-CN" altLang="en-US" sz="1600" dirty="0"/>
              <a:t>文档修改）</a:t>
            </a:r>
          </a:p>
          <a:p>
            <a:r>
              <a:rPr lang="zh-CN" altLang="en-US" sz="1600" dirty="0"/>
              <a:t>验证：单元测试、集成测试</a:t>
            </a:r>
          </a:p>
          <a:p>
            <a:r>
              <a:rPr lang="zh-CN" altLang="en-US" sz="1600" dirty="0"/>
              <a:t>入库：提交修改，生成新的版本号（如 </a:t>
            </a:r>
            <a:r>
              <a:rPr lang="en-US" altLang="zh-CN" sz="1600" dirty="0"/>
              <a:t>1.0 -&gt; 1.1</a:t>
            </a:r>
            <a:r>
              <a:rPr lang="zh-CN" altLang="en-US" sz="1600" dirty="0"/>
              <a:t>）</a:t>
            </a:r>
          </a:p>
        </p:txBody>
      </p:sp>
      <p:sp>
        <p:nvSpPr>
          <p:cNvPr id="15" name="MH_SubTitle_1">
            <a:extLst>
              <a:ext uri="{FF2B5EF4-FFF2-40B4-BE49-F238E27FC236}">
                <a16:creationId xmlns:a16="http://schemas.microsoft.com/office/drawing/2014/main" id="{DDB99318-E776-6438-5A66-79EA3CF29E60}"/>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验证与关闭</a:t>
            </a:r>
          </a:p>
        </p:txBody>
      </p:sp>
      <p:sp>
        <p:nvSpPr>
          <p:cNvPr id="16" name="MH_Other_1">
            <a:extLst>
              <a:ext uri="{FF2B5EF4-FFF2-40B4-BE49-F238E27FC236}">
                <a16:creationId xmlns:a16="http://schemas.microsoft.com/office/drawing/2014/main" id="{766B72E2-E208-BB74-A9F4-AFFF1BE2343C}"/>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675B05E4-4D4F-EBF7-9B20-4B11FCDC909D}"/>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80F83661-F396-B9A1-CDDF-5B3953FA381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05</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F4BFC221-4A09-D03F-1D38-3C83DAB019EA}"/>
              </a:ext>
            </a:extLst>
          </p:cNvPr>
          <p:cNvSpPr txBox="1"/>
          <p:nvPr/>
        </p:nvSpPr>
        <p:spPr>
          <a:xfrm>
            <a:off x="2328000" y="3194236"/>
            <a:ext cx="4567276" cy="1077218"/>
          </a:xfrm>
          <a:prstGeom prst="rect">
            <a:avLst/>
          </a:prstGeom>
          <a:noFill/>
        </p:spPr>
        <p:txBody>
          <a:bodyPr wrap="none" rtlCol="0">
            <a:spAutoFit/>
          </a:bodyPr>
          <a:lstStyle/>
          <a:p>
            <a:r>
              <a:rPr lang="zh-CN" altLang="en-US" sz="1600" dirty="0"/>
              <a:t>审计：</a:t>
            </a:r>
            <a:r>
              <a:rPr lang="en-US" altLang="zh-CN" sz="1600" dirty="0"/>
              <a:t>CMO </a:t>
            </a:r>
            <a:r>
              <a:rPr lang="zh-CN" altLang="en-US" sz="1600" dirty="0"/>
              <a:t>检查过程是否合规</a:t>
            </a:r>
          </a:p>
          <a:p>
            <a:r>
              <a:rPr lang="zh-CN" altLang="en-US" sz="1600" dirty="0"/>
              <a:t>更新基线：正式确立新版本为基线</a:t>
            </a:r>
          </a:p>
          <a:p>
            <a:r>
              <a:rPr lang="zh-CN" altLang="en-US" sz="1600" dirty="0"/>
              <a:t>关闭请求：在系统中将变更单状态改为“已关闭”</a:t>
            </a:r>
          </a:p>
          <a:p>
            <a:r>
              <a:rPr lang="zh-CN" altLang="en-US" sz="1600" dirty="0"/>
              <a:t>发布通知：向全体项目组成员发布公告</a:t>
            </a:r>
          </a:p>
        </p:txBody>
      </p:sp>
    </p:spTree>
    <p:extLst>
      <p:ext uri="{BB962C8B-B14F-4D97-AF65-F5344CB8AC3E}">
        <p14:creationId xmlns:p14="http://schemas.microsoft.com/office/powerpoint/2010/main" val="247087329"/>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167966316"/>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695998"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p:txBody>
          <a:bodyPr/>
          <a:lstStyle/>
          <a:p>
            <a:r>
              <a:rPr lang="zh-CN" altLang="en-US" dirty="0"/>
              <a:t>对配置管理的产品和过程审计</a:t>
            </a:r>
            <a:endParaRPr lang="en-US" altLang="zh-CN" dirty="0"/>
          </a:p>
          <a:p>
            <a:r>
              <a:rPr lang="zh-CN" altLang="en-US" dirty="0"/>
              <a:t>包括：</a:t>
            </a:r>
            <a:endParaRPr lang="en-US" altLang="zh-CN" dirty="0"/>
          </a:p>
          <a:p>
            <a:pPr lvl="1"/>
            <a:r>
              <a:rPr lang="zh-CN" altLang="en-US" dirty="0"/>
              <a:t>活动审计：确保所有配置管理活动遵循已批准的配置管理方针和规程</a:t>
            </a:r>
            <a:r>
              <a:rPr lang="en-US" altLang="zh-CN" dirty="0"/>
              <a:t>/</a:t>
            </a:r>
            <a:r>
              <a:rPr lang="zh-CN" altLang="en-US" dirty="0">
                <a:solidFill>
                  <a:srgbClr val="E05F73"/>
                </a:solidFill>
              </a:rPr>
              <a:t>正确的做</a:t>
            </a:r>
            <a:endParaRPr lang="en-US" altLang="zh-CN" dirty="0">
              <a:solidFill>
                <a:srgbClr val="E05F73"/>
              </a:solidFill>
            </a:endParaRPr>
          </a:p>
          <a:p>
            <a:pPr lvl="1"/>
            <a:r>
              <a:rPr lang="zh-CN" altLang="en-US" dirty="0"/>
              <a:t>基线审计：确保基线的配置项正确的构造并实现，且满足功能要求</a:t>
            </a:r>
            <a:r>
              <a:rPr lang="en-US" altLang="zh-CN" dirty="0"/>
              <a:t>/</a:t>
            </a:r>
            <a:r>
              <a:rPr lang="zh-CN" altLang="en-US" dirty="0">
                <a:solidFill>
                  <a:srgbClr val="E05F73"/>
                </a:solidFill>
              </a:rPr>
              <a:t>做的正确</a:t>
            </a:r>
            <a:endParaRPr lang="en-US" altLang="zh-CN" dirty="0">
              <a:solidFill>
                <a:srgbClr val="E05F73"/>
              </a:solidFill>
            </a:endParaRPr>
          </a:p>
          <a:p>
            <a:r>
              <a:rPr lang="zh-CN" altLang="en-US" dirty="0"/>
              <a:t>确保某一变更已被实现</a:t>
            </a:r>
            <a:endParaRPr lang="en-US" altLang="zh-CN" dirty="0"/>
          </a:p>
          <a:p>
            <a:r>
              <a:rPr lang="zh-CN" altLang="en-US" dirty="0"/>
              <a:t>是技术复审的一部分</a:t>
            </a:r>
          </a:p>
        </p:txBody>
      </p:sp>
      <p:sp>
        <p:nvSpPr>
          <p:cNvPr id="7" name="文本占位符 6">
            <a:extLst>
              <a:ext uri="{FF2B5EF4-FFF2-40B4-BE49-F238E27FC236}">
                <a16:creationId xmlns:a16="http://schemas.microsoft.com/office/drawing/2014/main" id="{9E63BF95-4D6A-6EDB-F86C-2D01880C3646}"/>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5466559" y="3689579"/>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5466559" y="5454940"/>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4325985" y="4284259"/>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4922932" y="3740632"/>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4922932" y="5091312"/>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695998"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34" name="文本占位符 33">
            <a:extLst>
              <a:ext uri="{FF2B5EF4-FFF2-40B4-BE49-F238E27FC236}">
                <a16:creationId xmlns:a16="http://schemas.microsoft.com/office/drawing/2014/main" id="{59B57C4E-102C-83D3-E648-A211F42E289D}"/>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695998" y="360000"/>
            <a:ext cx="6375921" cy="429413"/>
          </a:xfrm>
        </p:spPr>
        <p:txBody>
          <a:bodyPr/>
          <a:lstStyle/>
          <a:p>
            <a:r>
              <a:rPr lang="en-US" altLang="zh-CN"/>
              <a:t>2.6 </a:t>
            </a:r>
            <a:r>
              <a:rPr lang="zh-CN" altLang="en-US"/>
              <a:t>配置管理计划</a:t>
            </a:r>
            <a:endParaRPr lang="zh-CN" altLang="en-US" dirty="0"/>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a:t>是项目计划的一部分</a:t>
            </a:r>
            <a:endParaRPr lang="en-US" altLang="zh-CN"/>
          </a:p>
          <a:p>
            <a:r>
              <a:rPr lang="zh-CN" altLang="en-US"/>
              <a:t>用以确定软件配置管理的解决方案</a:t>
            </a:r>
            <a:endParaRPr lang="en-US" altLang="zh-CN"/>
          </a:p>
          <a:p>
            <a:r>
              <a:rPr lang="zh-CN" altLang="en-US"/>
              <a:t>制订：</a:t>
            </a:r>
            <a:endParaRPr lang="en-US" altLang="zh-CN"/>
          </a:p>
          <a:p>
            <a:pPr lvl="1"/>
            <a:r>
              <a:rPr lang="zh-CN" altLang="en-US"/>
              <a:t>由项目经理 </a:t>
            </a:r>
            <a:r>
              <a:rPr lang="en-US" altLang="zh-CN"/>
              <a:t>PM </a:t>
            </a:r>
            <a:r>
              <a:rPr lang="zh-CN" altLang="en-US"/>
              <a:t>确定</a:t>
            </a:r>
            <a:r>
              <a:rPr lang="zh-CN" altLang="en-US">
                <a:solidFill>
                  <a:schemeClr val="accent2"/>
                </a:solidFill>
              </a:rPr>
              <a:t>配置管理者 </a:t>
            </a:r>
            <a:r>
              <a:rPr lang="en-US" altLang="zh-CN">
                <a:solidFill>
                  <a:schemeClr val="accent2"/>
                </a:solidFill>
              </a:rPr>
              <a:t>CMO (Configuration Management Officer)</a:t>
            </a:r>
            <a:r>
              <a:rPr lang="zh-CN" altLang="en-US"/>
              <a:t>负责制订</a:t>
            </a:r>
            <a:endParaRPr lang="en-US" altLang="zh-CN"/>
          </a:p>
          <a:p>
            <a:r>
              <a:rPr lang="zh-CN" altLang="en-US"/>
              <a:t>资源支撑</a:t>
            </a:r>
            <a:endParaRPr lang="en-US" altLang="zh-CN"/>
          </a:p>
          <a:p>
            <a:pPr lvl="1"/>
            <a:r>
              <a:rPr lang="zh-CN" altLang="en-US"/>
              <a:t>人力资源</a:t>
            </a:r>
            <a:endParaRPr lang="en-US" altLang="zh-CN"/>
          </a:p>
          <a:p>
            <a:pPr lvl="1"/>
            <a:r>
              <a:rPr lang="zh-CN" altLang="en-US"/>
              <a:t>工具</a:t>
            </a:r>
            <a:endParaRPr lang="en-US" altLang="zh-CN"/>
          </a:p>
          <a:p>
            <a:endParaRPr lang="zh-CN" altLang="en-US" dirty="0"/>
          </a:p>
        </p:txBody>
      </p:sp>
      <p:sp>
        <p:nvSpPr>
          <p:cNvPr id="7" name="文本占位符 6">
            <a:extLst>
              <a:ext uri="{FF2B5EF4-FFF2-40B4-BE49-F238E27FC236}">
                <a16:creationId xmlns:a16="http://schemas.microsoft.com/office/drawing/2014/main" id="{15CF0C12-68B6-5639-4289-22D2BE48480C}"/>
              </a:ext>
            </a:extLst>
          </p:cNvPr>
          <p:cNvSpPr>
            <a:spLocks noGrp="1"/>
          </p:cNvSpPr>
          <p:nvPr>
            <p:ph type="body" sz="quarter" idx="10"/>
          </p:nvPr>
        </p:nvSpPr>
        <p:spPr/>
        <p:txBody>
          <a:bodyPr/>
          <a:lstStyle/>
          <a:p>
            <a:endParaRPr lang="zh-CN" altLang="en-US"/>
          </a:p>
        </p:txBody>
      </p:sp>
      <p:grpSp>
        <p:nvGrpSpPr>
          <p:cNvPr id="3" name="组合 2">
            <a:extLst>
              <a:ext uri="{FF2B5EF4-FFF2-40B4-BE49-F238E27FC236}">
                <a16:creationId xmlns:a16="http://schemas.microsoft.com/office/drawing/2014/main" id="{71530DE5-5535-7FB7-0221-6DB90BA63C10}"/>
              </a:ext>
            </a:extLst>
          </p:cNvPr>
          <p:cNvGrpSpPr/>
          <p:nvPr/>
        </p:nvGrpSpPr>
        <p:grpSpPr>
          <a:xfrm>
            <a:off x="1957242" y="3355032"/>
            <a:ext cx="8277517" cy="1872144"/>
            <a:chOff x="1597024" y="3355032"/>
            <a:chExt cx="8277517" cy="1872144"/>
          </a:xfrm>
        </p:grpSpPr>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4835782" y="3355032"/>
              <a:ext cx="1800000" cy="432000"/>
            </a:xfrm>
            <a:prstGeom prst="rect">
              <a:avLst/>
            </a:prstGeom>
            <a:noFill/>
            <a:ln w="12700">
              <a:solidFill>
                <a:schemeClr val="tx1"/>
              </a:solid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j-ea"/>
                  <a:ea typeface="+mj-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1597024" y="4651175"/>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3756196" y="4651175"/>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5915368" y="4651176"/>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074541" y="4651176"/>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stCxn id="8" idx="2"/>
              <a:endCxn id="9" idx="0"/>
            </p:cNvCxnSpPr>
            <p:nvPr/>
          </p:nvCxnSpPr>
          <p:spPr>
            <a:xfrm rot="5400000">
              <a:off x="3684332" y="2599724"/>
              <a:ext cx="864143" cy="3238758"/>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stCxn id="8" idx="2"/>
              <a:endCxn id="12" idx="0"/>
            </p:cNvCxnSpPr>
            <p:nvPr/>
          </p:nvCxnSpPr>
          <p:spPr>
            <a:xfrm rot="16200000" flipH="1">
              <a:off x="6923089" y="2599724"/>
              <a:ext cx="864144" cy="323875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stCxn id="8" idx="2"/>
              <a:endCxn id="10" idx="0"/>
            </p:cNvCxnSpPr>
            <p:nvPr/>
          </p:nvCxnSpPr>
          <p:spPr>
            <a:xfrm rot="5400000">
              <a:off x="4763918" y="3679310"/>
              <a:ext cx="864143" cy="107958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stCxn id="8" idx="2"/>
              <a:endCxn id="11" idx="0"/>
            </p:cNvCxnSpPr>
            <p:nvPr/>
          </p:nvCxnSpPr>
          <p:spPr>
            <a:xfrm rot="16200000" flipH="1">
              <a:off x="5843503" y="3679311"/>
              <a:ext cx="864144" cy="107958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0080229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911A0E-50E3-E6BB-8B1A-2FBCBCE9DB1F}"/>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112B0476-6827-5E69-BD3E-5F7FB3A8E866}"/>
              </a:ext>
            </a:extLst>
          </p:cNvPr>
          <p:cNvSpPr>
            <a:spLocks noGrp="1"/>
          </p:cNvSpPr>
          <p:nvPr>
            <p:ph idx="1"/>
          </p:nvPr>
        </p:nvSpPr>
        <p:spPr>
          <a:xfrm>
            <a:off x="696000" y="864000"/>
            <a:ext cx="10800000" cy="5400000"/>
          </a:xfrm>
        </p:spPr>
        <p:txBody>
          <a:bodyPr>
            <a:normAutofit/>
          </a:bodyPr>
          <a:lstStyle/>
          <a:p>
            <a:r>
              <a:rPr lang="zh-CN" altLang="en-US" dirty="0"/>
              <a:t>阶段一：规划与定义（</a:t>
            </a:r>
            <a:r>
              <a:rPr lang="en-US" altLang="zh-CN" dirty="0"/>
              <a:t>Plan &amp; Define</a:t>
            </a:r>
            <a:r>
              <a:rPr lang="zh-CN" altLang="en-US" dirty="0"/>
              <a:t>）</a:t>
            </a:r>
          </a:p>
          <a:p>
            <a:r>
              <a:rPr lang="zh-CN" altLang="en-US" dirty="0"/>
              <a:t>配置管理的起点，由</a:t>
            </a:r>
            <a:r>
              <a:rPr lang="en-US" altLang="zh-CN" dirty="0"/>
              <a:t>PM</a:t>
            </a:r>
            <a:r>
              <a:rPr lang="zh-CN" altLang="en-US" dirty="0"/>
              <a:t>和</a:t>
            </a:r>
            <a:r>
              <a:rPr lang="en-US" altLang="zh-CN" dirty="0"/>
              <a:t>CMO</a:t>
            </a:r>
            <a:r>
              <a:rPr lang="zh-CN" altLang="en-US" dirty="0"/>
              <a:t>主导</a:t>
            </a:r>
          </a:p>
          <a:p>
            <a:r>
              <a:rPr lang="en-US" altLang="zh-CN" dirty="0"/>
              <a:t>PM</a:t>
            </a:r>
            <a:r>
              <a:rPr lang="zh-CN" altLang="en-US" dirty="0"/>
              <a:t>：负责制定整体的项目管理计划，其中包含对配置管理的需求和目标。</a:t>
            </a:r>
          </a:p>
          <a:p>
            <a:r>
              <a:rPr lang="en-US" altLang="zh-CN" dirty="0"/>
              <a:t>CMO</a:t>
            </a:r>
            <a:r>
              <a:rPr lang="zh-CN" altLang="en-US" dirty="0"/>
              <a:t>：根据</a:t>
            </a:r>
            <a:r>
              <a:rPr lang="en-US" altLang="zh-CN" dirty="0"/>
              <a:t>PM</a:t>
            </a:r>
            <a:r>
              <a:rPr lang="zh-CN" altLang="en-US" dirty="0"/>
              <a:t>的要求，制定详细的</a:t>
            </a:r>
            <a:r>
              <a:rPr lang="en-US" altLang="zh-CN" dirty="0"/>
              <a:t>《</a:t>
            </a:r>
            <a:r>
              <a:rPr lang="zh-CN" altLang="en-US" dirty="0"/>
              <a:t>配置管理计划</a:t>
            </a:r>
            <a:r>
              <a:rPr lang="en-US" altLang="zh-CN" dirty="0"/>
              <a:t>》</a:t>
            </a:r>
            <a:r>
              <a:rPr lang="zh-CN" altLang="en-US" dirty="0"/>
              <a:t>。明确：</a:t>
            </a:r>
          </a:p>
          <a:p>
            <a:pPr lvl="1"/>
            <a:r>
              <a:rPr lang="zh-CN" altLang="en-US" dirty="0"/>
              <a:t>配置项 </a:t>
            </a:r>
            <a:r>
              <a:rPr lang="en-US" altLang="zh-CN" dirty="0"/>
              <a:t>CI </a:t>
            </a:r>
            <a:r>
              <a:rPr lang="zh-CN" altLang="en-US" dirty="0"/>
              <a:t>的识别：哪些东西需要被管理？（代码、文档、脚本、环境配置等）</a:t>
            </a:r>
          </a:p>
          <a:p>
            <a:pPr lvl="1"/>
            <a:r>
              <a:rPr lang="zh-CN" altLang="en-US" dirty="0"/>
              <a:t>配置库 </a:t>
            </a:r>
            <a:r>
              <a:rPr lang="en-US" altLang="zh-CN" dirty="0"/>
              <a:t>Repository </a:t>
            </a:r>
            <a:r>
              <a:rPr lang="zh-CN" altLang="en-US" dirty="0"/>
              <a:t>的结构：如何组织这些</a:t>
            </a:r>
            <a:r>
              <a:rPr lang="en-US" altLang="zh-CN" dirty="0"/>
              <a:t>CI</a:t>
            </a:r>
            <a:r>
              <a:rPr lang="zh-CN" altLang="en-US" dirty="0"/>
              <a:t>？（目录结构、分支策略）</a:t>
            </a:r>
          </a:p>
          <a:p>
            <a:pPr lvl="1"/>
            <a:r>
              <a:rPr lang="zh-CN" altLang="en-US" dirty="0"/>
              <a:t>基线策略：在哪些里程碑 </a:t>
            </a:r>
            <a:r>
              <a:rPr lang="en-US" altLang="zh-CN" dirty="0"/>
              <a:t>Milestone</a:t>
            </a:r>
            <a:r>
              <a:rPr lang="zh-CN" altLang="en-US" dirty="0"/>
              <a:t> 需要建立基线？</a:t>
            </a:r>
          </a:p>
          <a:p>
            <a:pPr lvl="1"/>
            <a:r>
              <a:rPr lang="zh-CN" altLang="en-US" dirty="0"/>
              <a:t>工具 </a:t>
            </a:r>
            <a:r>
              <a:rPr lang="en-US" altLang="zh-CN" dirty="0"/>
              <a:t>Tool </a:t>
            </a:r>
            <a:r>
              <a:rPr lang="zh-CN" altLang="en-US" dirty="0"/>
              <a:t>的选择：使用什么工具来管理？（</a:t>
            </a:r>
            <a:r>
              <a:rPr lang="en-US" altLang="zh-CN" dirty="0"/>
              <a:t>Git, SVN, Jira, Jenkins</a:t>
            </a:r>
            <a:r>
              <a:rPr lang="zh-CN" altLang="en-US" dirty="0"/>
              <a:t>等）</a:t>
            </a:r>
          </a:p>
          <a:p>
            <a:r>
              <a:rPr lang="zh-CN" altLang="en-US" dirty="0"/>
              <a:t>输出：</a:t>
            </a:r>
            <a:r>
              <a:rPr lang="en-US" altLang="zh-CN" dirty="0"/>
              <a:t>《</a:t>
            </a:r>
            <a:r>
              <a:rPr lang="zh-CN" altLang="en-US" dirty="0"/>
              <a:t>配置管理计划</a:t>
            </a:r>
            <a:r>
              <a:rPr lang="en-US" altLang="zh-CN" dirty="0"/>
              <a:t>》</a:t>
            </a:r>
            <a:endParaRPr lang="zh-CN" altLang="en-US" dirty="0"/>
          </a:p>
        </p:txBody>
      </p:sp>
      <p:sp>
        <p:nvSpPr>
          <p:cNvPr id="14" name="文本占位符 13">
            <a:extLst>
              <a:ext uri="{FF2B5EF4-FFF2-40B4-BE49-F238E27FC236}">
                <a16:creationId xmlns:a16="http://schemas.microsoft.com/office/drawing/2014/main" id="{9253FB88-FBBF-A1E7-89CA-84F1F526556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68066887"/>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98110-EE86-21D7-7D29-52BE463EC9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EE05FA-D176-EEC5-0B64-3DD859787E7B}"/>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3AD86224-AF1E-CF8D-B0BC-6CEBA3669AB4}"/>
              </a:ext>
            </a:extLst>
          </p:cNvPr>
          <p:cNvSpPr>
            <a:spLocks noGrp="1"/>
          </p:cNvSpPr>
          <p:nvPr>
            <p:ph idx="1"/>
          </p:nvPr>
        </p:nvSpPr>
        <p:spPr>
          <a:xfrm>
            <a:off x="696000" y="864000"/>
            <a:ext cx="10800000" cy="5400000"/>
          </a:xfrm>
        </p:spPr>
        <p:txBody>
          <a:bodyPr>
            <a:normAutofit/>
          </a:bodyPr>
          <a:lstStyle/>
          <a:p>
            <a:r>
              <a:rPr lang="zh-CN" altLang="en-US" dirty="0"/>
              <a:t>阶段二：执行与监控（</a:t>
            </a:r>
            <a:r>
              <a:rPr lang="en-US" altLang="zh-CN" dirty="0"/>
              <a:t>Execute &amp; Monitor</a:t>
            </a:r>
            <a:r>
              <a:rPr lang="zh-CN" altLang="en-US" dirty="0"/>
              <a:t>）</a:t>
            </a:r>
          </a:p>
          <a:p>
            <a:r>
              <a:rPr lang="zh-CN" altLang="en-US" dirty="0"/>
              <a:t>日常开发活动，由</a:t>
            </a:r>
            <a:r>
              <a:rPr lang="en-US" altLang="zh-CN" dirty="0"/>
              <a:t>Developers</a:t>
            </a:r>
            <a:r>
              <a:rPr lang="zh-CN" altLang="en-US" dirty="0"/>
              <a:t>和</a:t>
            </a:r>
            <a:r>
              <a:rPr lang="en-US" altLang="zh-CN" dirty="0"/>
              <a:t>CMO</a:t>
            </a:r>
            <a:r>
              <a:rPr lang="zh-CN" altLang="en-US" dirty="0"/>
              <a:t>共同完成。</a:t>
            </a:r>
          </a:p>
          <a:p>
            <a:r>
              <a:rPr lang="en-US" altLang="zh-CN" dirty="0"/>
              <a:t>Developer</a:t>
            </a:r>
            <a:r>
              <a:rPr lang="zh-CN" altLang="en-US" dirty="0"/>
              <a:t>：</a:t>
            </a:r>
          </a:p>
          <a:p>
            <a:pPr lvl="1"/>
            <a:r>
              <a:rPr lang="zh-CN" altLang="en-US" dirty="0"/>
              <a:t>根据</a:t>
            </a:r>
            <a:r>
              <a:rPr lang="en-US" altLang="zh-CN" dirty="0"/>
              <a:t>《</a:t>
            </a:r>
            <a:r>
              <a:rPr lang="zh-CN" altLang="en-US" dirty="0"/>
              <a:t>配置管理计划</a:t>
            </a:r>
            <a:r>
              <a:rPr lang="en-US" altLang="zh-CN" dirty="0"/>
              <a:t>》</a:t>
            </a:r>
            <a:r>
              <a:rPr lang="zh-CN" altLang="en-US" dirty="0"/>
              <a:t>，在配置库 </a:t>
            </a:r>
            <a:r>
              <a:rPr lang="en-US" altLang="zh-CN" dirty="0"/>
              <a:t>Repository</a:t>
            </a:r>
            <a:r>
              <a:rPr lang="zh-CN" altLang="en-US" dirty="0"/>
              <a:t> 中进行日常的检出 </a:t>
            </a:r>
            <a:r>
              <a:rPr lang="en-US" altLang="zh-CN" dirty="0"/>
              <a:t>Checkout</a:t>
            </a:r>
            <a:r>
              <a:rPr lang="zh-CN" altLang="en-US" dirty="0"/>
              <a:t>、修改、提交 </a:t>
            </a:r>
            <a:r>
              <a:rPr lang="en-US" altLang="zh-CN" dirty="0"/>
              <a:t>Commit</a:t>
            </a:r>
            <a:r>
              <a:rPr lang="zh-CN" altLang="en-US" dirty="0"/>
              <a:t>操作</a:t>
            </a:r>
          </a:p>
          <a:p>
            <a:pPr lvl="1"/>
            <a:r>
              <a:rPr lang="zh-CN" altLang="en-US" dirty="0"/>
              <a:t>每次提交都应关联到一个具体的任务或缺陷，确保可追溯性</a:t>
            </a:r>
          </a:p>
          <a:p>
            <a:r>
              <a:rPr lang="en-US" altLang="zh-CN" dirty="0"/>
              <a:t>CM</a:t>
            </a:r>
            <a:r>
              <a:rPr lang="zh-CN" altLang="en-US" dirty="0"/>
              <a:t>：</a:t>
            </a:r>
          </a:p>
          <a:p>
            <a:pPr lvl="1"/>
            <a:r>
              <a:rPr lang="zh-CN" altLang="en-US" dirty="0"/>
              <a:t>工具维护：确保配置库的稳定、安全和高效运行</a:t>
            </a:r>
          </a:p>
          <a:p>
            <a:pPr lvl="1"/>
            <a:r>
              <a:rPr lang="zh-CN" altLang="en-US" dirty="0"/>
              <a:t>状态报告：定期生成</a:t>
            </a:r>
            <a:r>
              <a:rPr lang="en-US" altLang="zh-CN" dirty="0"/>
              <a:t>《</a:t>
            </a:r>
            <a:r>
              <a:rPr lang="zh-CN" altLang="en-US" dirty="0"/>
              <a:t>配置状态报告</a:t>
            </a:r>
            <a:r>
              <a:rPr lang="en-US" altLang="zh-CN" dirty="0"/>
              <a:t>》</a:t>
            </a:r>
            <a:r>
              <a:rPr lang="zh-CN" altLang="en-US" dirty="0"/>
              <a:t>，记录所有</a:t>
            </a:r>
            <a:r>
              <a:rPr lang="en-US" altLang="zh-CN" dirty="0"/>
              <a:t>CI</a:t>
            </a:r>
            <a:r>
              <a:rPr lang="zh-CN" altLang="en-US" dirty="0"/>
              <a:t>的变更历史、当前状态、基线版本等</a:t>
            </a:r>
          </a:p>
          <a:p>
            <a:pPr lvl="1"/>
            <a:r>
              <a:rPr lang="zh-CN" altLang="en-US" dirty="0"/>
              <a:t>审计：定期进行配置审计，确保实际交付物与配置库中的记录一致</a:t>
            </a:r>
          </a:p>
          <a:p>
            <a:r>
              <a:rPr lang="zh-CN" altLang="en-US" dirty="0"/>
              <a:t>输出：</a:t>
            </a:r>
            <a:r>
              <a:rPr lang="en-US" altLang="zh-CN" dirty="0"/>
              <a:t>《</a:t>
            </a:r>
            <a:r>
              <a:rPr lang="zh-CN" altLang="en-US" dirty="0"/>
              <a:t>配置状态报告</a:t>
            </a:r>
            <a:r>
              <a:rPr lang="en-US" altLang="zh-CN" dirty="0"/>
              <a:t>》</a:t>
            </a:r>
            <a:r>
              <a:rPr lang="zh-CN" altLang="en-US" dirty="0"/>
              <a:t>、配置库中的变更历史</a:t>
            </a:r>
          </a:p>
          <a:p>
            <a:endParaRPr lang="zh-CN" altLang="en-US" dirty="0"/>
          </a:p>
        </p:txBody>
      </p:sp>
      <p:sp>
        <p:nvSpPr>
          <p:cNvPr id="10" name="文本占位符 9">
            <a:extLst>
              <a:ext uri="{FF2B5EF4-FFF2-40B4-BE49-F238E27FC236}">
                <a16:creationId xmlns:a16="http://schemas.microsoft.com/office/drawing/2014/main" id="{9039D8DD-49A1-706F-F289-8129D62D62E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58693758"/>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9F5C-64B0-8213-826C-784A487C1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48E0F70-150B-73AE-F1FD-FDB06494516B}"/>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48A2B55B-58A0-33F0-3DB6-71C0C1BD9A52}"/>
              </a:ext>
            </a:extLst>
          </p:cNvPr>
          <p:cNvSpPr>
            <a:spLocks noGrp="1"/>
          </p:cNvSpPr>
          <p:nvPr>
            <p:ph idx="1"/>
          </p:nvPr>
        </p:nvSpPr>
        <p:spPr>
          <a:xfrm>
            <a:off x="696000" y="864000"/>
            <a:ext cx="10800000" cy="5400000"/>
          </a:xfrm>
        </p:spPr>
        <p:txBody>
          <a:bodyPr>
            <a:normAutofit/>
          </a:bodyPr>
          <a:lstStyle/>
          <a:p>
            <a:r>
              <a:rPr lang="zh-CN" altLang="en-US" dirty="0"/>
              <a:t>阶段三：评审与批准（</a:t>
            </a:r>
            <a:r>
              <a:rPr lang="en-US" altLang="zh-CN" dirty="0"/>
              <a:t>Review &amp; Approve</a:t>
            </a:r>
            <a:r>
              <a:rPr lang="zh-CN" altLang="en-US" dirty="0"/>
              <a:t>）</a:t>
            </a:r>
          </a:p>
          <a:p>
            <a:r>
              <a:rPr lang="zh-CN" altLang="en-US" dirty="0"/>
              <a:t>决策点，由</a:t>
            </a:r>
            <a:r>
              <a:rPr lang="en-US" altLang="zh-CN" dirty="0"/>
              <a:t>CCB</a:t>
            </a:r>
            <a:r>
              <a:rPr lang="zh-CN" altLang="en-US" dirty="0"/>
              <a:t>主导</a:t>
            </a:r>
          </a:p>
          <a:p>
            <a:r>
              <a:rPr lang="en-US" altLang="zh-CN" dirty="0"/>
              <a:t>CCB</a:t>
            </a:r>
            <a:r>
              <a:rPr lang="zh-CN" altLang="en-US" dirty="0"/>
              <a:t>：</a:t>
            </a:r>
          </a:p>
          <a:p>
            <a:pPr lvl="1"/>
            <a:r>
              <a:rPr lang="zh-CN" altLang="en-US" dirty="0"/>
              <a:t>基线评审：在项目达到预设的里程碑 </a:t>
            </a:r>
            <a:r>
              <a:rPr lang="en-US" altLang="zh-CN" dirty="0"/>
              <a:t>Milestone</a:t>
            </a:r>
            <a:r>
              <a:rPr lang="zh-CN" altLang="en-US" dirty="0"/>
              <a:t> 时，</a:t>
            </a:r>
            <a:r>
              <a:rPr lang="en-US" altLang="zh-CN" dirty="0"/>
              <a:t>CCB</a:t>
            </a:r>
            <a:r>
              <a:rPr lang="zh-CN" altLang="en-US" dirty="0"/>
              <a:t>会组织评审会议，对当前的配置项集合进行审查。</a:t>
            </a:r>
          </a:p>
          <a:p>
            <a:pPr lvl="1"/>
            <a:r>
              <a:rPr lang="zh-CN" altLang="en-US" dirty="0"/>
              <a:t>变更控制：对于任何需要修改已建立基线的请求，</a:t>
            </a:r>
            <a:r>
              <a:rPr lang="en-US" altLang="zh-CN" dirty="0"/>
              <a:t>CCB</a:t>
            </a:r>
            <a:r>
              <a:rPr lang="zh-CN" altLang="en-US" dirty="0"/>
              <a:t>负责评估其影响、批准或拒绝</a:t>
            </a:r>
          </a:p>
          <a:p>
            <a:pPr lvl="1"/>
            <a:r>
              <a:rPr lang="zh-CN" altLang="en-US" dirty="0"/>
              <a:t>批准基线：一旦评审通过，</a:t>
            </a:r>
            <a:r>
              <a:rPr lang="en-US" altLang="zh-CN" dirty="0"/>
              <a:t>CCB</a:t>
            </a:r>
            <a:r>
              <a:rPr lang="zh-CN" altLang="en-US" dirty="0"/>
              <a:t>正式批准建立新的基线</a:t>
            </a:r>
          </a:p>
          <a:p>
            <a:r>
              <a:rPr lang="zh-CN" altLang="en-US" dirty="0"/>
              <a:t>输出：基线批准决议</a:t>
            </a:r>
          </a:p>
          <a:p>
            <a:endParaRPr lang="zh-CN" altLang="en-US" dirty="0"/>
          </a:p>
        </p:txBody>
      </p:sp>
      <p:sp>
        <p:nvSpPr>
          <p:cNvPr id="10" name="文本占位符 9">
            <a:extLst>
              <a:ext uri="{FF2B5EF4-FFF2-40B4-BE49-F238E27FC236}">
                <a16:creationId xmlns:a16="http://schemas.microsoft.com/office/drawing/2014/main" id="{99003CDF-0F9B-2CAB-24D6-441496B2BC6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236127"/>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B7F12-F13A-015F-9BFE-F42FF30A49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3179C-E7A0-5109-D997-CBAE788E85A1}"/>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E427B1BF-1B1A-0B94-1E95-F537CF89A17A}"/>
              </a:ext>
            </a:extLst>
          </p:cNvPr>
          <p:cNvSpPr>
            <a:spLocks noGrp="1"/>
          </p:cNvSpPr>
          <p:nvPr>
            <p:ph idx="1"/>
          </p:nvPr>
        </p:nvSpPr>
        <p:spPr>
          <a:xfrm>
            <a:off x="696000" y="864000"/>
            <a:ext cx="10800000" cy="5400000"/>
          </a:xfrm>
        </p:spPr>
        <p:txBody>
          <a:bodyPr>
            <a:normAutofit/>
          </a:bodyPr>
          <a:lstStyle/>
          <a:p>
            <a:r>
              <a:rPr lang="zh-CN" altLang="en-US" dirty="0"/>
              <a:t>阶段四：基线建立与发布 </a:t>
            </a:r>
            <a:r>
              <a:rPr lang="en-US" altLang="zh-CN" dirty="0"/>
              <a:t>Baseline &amp; Release</a:t>
            </a:r>
            <a:endParaRPr lang="zh-CN" altLang="en-US" dirty="0"/>
          </a:p>
          <a:p>
            <a:r>
              <a:rPr lang="zh-CN" altLang="en-US" dirty="0"/>
              <a:t>流程的终点，也是新循环的起点，由</a:t>
            </a:r>
            <a:r>
              <a:rPr lang="en-US" altLang="zh-CN" dirty="0"/>
              <a:t>CMO</a:t>
            </a:r>
            <a:r>
              <a:rPr lang="zh-CN" altLang="en-US" dirty="0"/>
              <a:t>执行</a:t>
            </a:r>
          </a:p>
          <a:p>
            <a:r>
              <a:rPr lang="en-US" altLang="zh-CN" dirty="0"/>
              <a:t>CMO</a:t>
            </a:r>
            <a:r>
              <a:rPr lang="zh-CN" altLang="en-US" dirty="0"/>
              <a:t>：</a:t>
            </a:r>
          </a:p>
          <a:p>
            <a:pPr lvl="1"/>
            <a:r>
              <a:rPr lang="zh-CN" altLang="en-US" dirty="0"/>
              <a:t>建立基线：根据</a:t>
            </a:r>
            <a:r>
              <a:rPr lang="en-US" altLang="zh-CN" dirty="0"/>
              <a:t>CCB</a:t>
            </a:r>
            <a:r>
              <a:rPr lang="zh-CN" altLang="en-US" dirty="0"/>
              <a:t>的批准，在配置库中对当前的</a:t>
            </a:r>
            <a:r>
              <a:rPr lang="en-US" altLang="zh-CN" dirty="0"/>
              <a:t>CI</a:t>
            </a:r>
            <a:r>
              <a:rPr lang="zh-CN" altLang="en-US" dirty="0"/>
              <a:t>集合打上正式的基线标签 </a:t>
            </a:r>
            <a:r>
              <a:rPr lang="en-US" altLang="zh-CN" dirty="0"/>
              <a:t>Tag</a:t>
            </a:r>
            <a:r>
              <a:rPr lang="zh-CN" altLang="en-US" dirty="0"/>
              <a:t>，并锁定其权限，使其成为“只读”状态。</a:t>
            </a:r>
          </a:p>
          <a:p>
            <a:pPr lvl="1"/>
            <a:r>
              <a:rPr lang="zh-CN" altLang="en-US" dirty="0"/>
              <a:t>发布：将基线版本打包，发布给测试团队、运维团队或客户</a:t>
            </a:r>
          </a:p>
          <a:p>
            <a:r>
              <a:rPr lang="zh-CN" altLang="en-US" dirty="0"/>
              <a:t>输出：正式的基线版本</a:t>
            </a:r>
          </a:p>
          <a:p>
            <a:endParaRPr lang="zh-CN" altLang="en-US" dirty="0"/>
          </a:p>
        </p:txBody>
      </p:sp>
      <p:sp>
        <p:nvSpPr>
          <p:cNvPr id="13" name="文本占位符 12">
            <a:extLst>
              <a:ext uri="{FF2B5EF4-FFF2-40B4-BE49-F238E27FC236}">
                <a16:creationId xmlns:a16="http://schemas.microsoft.com/office/drawing/2014/main" id="{5737D91B-080F-AEA3-4C47-3BB2C6A0BE8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63403638"/>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EE955E-5858-797E-6D8B-4947A30FB51B}"/>
              </a:ext>
            </a:extLst>
          </p:cNvPr>
          <p:cNvSpPr>
            <a:spLocks noGrp="1"/>
          </p:cNvSpPr>
          <p:nvPr>
            <p:ph type="title"/>
          </p:nvPr>
        </p:nvSpPr>
        <p:spPr/>
        <p:txBody>
          <a:bodyPr/>
          <a:lstStyle/>
          <a:p>
            <a:r>
              <a:rPr lang="zh-CN" altLang="en-US" dirty="0"/>
              <a:t>变更过程小结</a:t>
            </a:r>
          </a:p>
        </p:txBody>
      </p:sp>
      <p:sp>
        <p:nvSpPr>
          <p:cNvPr id="3" name="内容占位符 2">
            <a:extLst>
              <a:ext uri="{FF2B5EF4-FFF2-40B4-BE49-F238E27FC236}">
                <a16:creationId xmlns:a16="http://schemas.microsoft.com/office/drawing/2014/main" id="{E5319B90-F7E3-249E-7E2D-8492B1046DBF}"/>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7BA1873-786C-343F-B195-44DEF719865C}"/>
              </a:ext>
            </a:extLst>
          </p:cNvPr>
          <p:cNvSpPr>
            <a:spLocks noGrp="1"/>
          </p:cNvSpPr>
          <p:nvPr>
            <p:ph type="body" sz="quarter" idx="10"/>
          </p:nvPr>
        </p:nvSpPr>
        <p:spPr/>
        <p:txBody>
          <a:bodyPr/>
          <a:lstStyle/>
          <a:p>
            <a:endParaRPr lang="zh-CN" altLang="en-US"/>
          </a:p>
        </p:txBody>
      </p:sp>
      <p:grpSp>
        <p:nvGrpSpPr>
          <p:cNvPr id="18" name="组合 17">
            <a:extLst>
              <a:ext uri="{FF2B5EF4-FFF2-40B4-BE49-F238E27FC236}">
                <a16:creationId xmlns:a16="http://schemas.microsoft.com/office/drawing/2014/main" id="{95287DF9-3B3E-EDB8-9700-7EC29D1CD42E}"/>
              </a:ext>
            </a:extLst>
          </p:cNvPr>
          <p:cNvGrpSpPr/>
          <p:nvPr/>
        </p:nvGrpSpPr>
        <p:grpSpPr>
          <a:xfrm>
            <a:off x="2404986" y="1769884"/>
            <a:ext cx="7382028" cy="4224116"/>
            <a:chOff x="2035792" y="1769884"/>
            <a:chExt cx="7382028" cy="4224116"/>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752431" y="1769884"/>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035792"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3897438"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5880656"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7783638"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700041" y="1293636"/>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573962" y="1100352"/>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630864" y="2224459"/>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622471" y="2051843"/>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3814521" y="4213531"/>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145889" y="4213531"/>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477257" y="4213531"/>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4808625" y="4213531"/>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139992" y="4213531"/>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3974135" y="3534228"/>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636870" y="3514595"/>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020572" y="4213531"/>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313840" y="4213531"/>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607108" y="4213531"/>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6900376" y="4213531"/>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068770" y="3645644"/>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508672" y="3626012"/>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293560B5-667E-B7A7-F773-401BDCB40C6E}"/>
                </a:ext>
              </a:extLst>
            </p:cNvPr>
            <p:cNvSpPr txBox="1"/>
            <p:nvPr/>
          </p:nvSpPr>
          <p:spPr>
            <a:xfrm>
              <a:off x="7700721" y="4213531"/>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6" name="文本框 5">
              <a:extLst>
                <a:ext uri="{FF2B5EF4-FFF2-40B4-BE49-F238E27FC236}">
                  <a16:creationId xmlns:a16="http://schemas.microsoft.com/office/drawing/2014/main" id="{B094AA16-5CA6-6A5B-5799-F650D98AC58C}"/>
                </a:ext>
              </a:extLst>
            </p:cNvPr>
            <p:cNvSpPr txBox="1"/>
            <p:nvPr/>
          </p:nvSpPr>
          <p:spPr>
            <a:xfrm>
              <a:off x="8032089" y="4213531"/>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7" name="文本框 6">
              <a:extLst>
                <a:ext uri="{FF2B5EF4-FFF2-40B4-BE49-F238E27FC236}">
                  <a16:creationId xmlns:a16="http://schemas.microsoft.com/office/drawing/2014/main" id="{CE6CD43D-BE96-EBCF-2C48-8BD015570639}"/>
                </a:ext>
              </a:extLst>
            </p:cNvPr>
            <p:cNvSpPr txBox="1"/>
            <p:nvPr/>
          </p:nvSpPr>
          <p:spPr>
            <a:xfrm>
              <a:off x="8363457" y="4213531"/>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13" name="文本框 12">
              <a:extLst>
                <a:ext uri="{FF2B5EF4-FFF2-40B4-BE49-F238E27FC236}">
                  <a16:creationId xmlns:a16="http://schemas.microsoft.com/office/drawing/2014/main" id="{EA65B8CC-F165-D95A-5EBC-71FB67EF377D}"/>
                </a:ext>
              </a:extLst>
            </p:cNvPr>
            <p:cNvSpPr txBox="1"/>
            <p:nvPr/>
          </p:nvSpPr>
          <p:spPr>
            <a:xfrm>
              <a:off x="8694825" y="4213531"/>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14" name="文本框 13">
              <a:extLst>
                <a:ext uri="{FF2B5EF4-FFF2-40B4-BE49-F238E27FC236}">
                  <a16:creationId xmlns:a16="http://schemas.microsoft.com/office/drawing/2014/main" id="{6E803047-0510-1B20-BBB4-6B32E0A1D8DD}"/>
                </a:ext>
              </a:extLst>
            </p:cNvPr>
            <p:cNvSpPr txBox="1"/>
            <p:nvPr/>
          </p:nvSpPr>
          <p:spPr>
            <a:xfrm>
              <a:off x="9026192" y="4213531"/>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5" name="连接符: 肘形 14">
              <a:extLst>
                <a:ext uri="{FF2B5EF4-FFF2-40B4-BE49-F238E27FC236}">
                  <a16:creationId xmlns:a16="http://schemas.microsoft.com/office/drawing/2014/main" id="{4CCFC0F9-F2EA-BE5B-ED4B-EECBECE76C80}"/>
                </a:ext>
              </a:extLst>
            </p:cNvPr>
            <p:cNvCxnSpPr>
              <a:stCxn id="12" idx="2"/>
              <a:endCxn id="5" idx="0"/>
            </p:cNvCxnSpPr>
            <p:nvPr/>
          </p:nvCxnSpPr>
          <p:spPr>
            <a:xfrm rot="5400000">
              <a:off x="7860336" y="3534228"/>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8405662F-C5DA-8C87-A8C1-AF1DF56B62EA}"/>
                </a:ext>
              </a:extLst>
            </p:cNvPr>
            <p:cNvCxnSpPr>
              <a:stCxn id="12" idx="2"/>
              <a:endCxn id="14" idx="0"/>
            </p:cNvCxnSpPr>
            <p:nvPr/>
          </p:nvCxnSpPr>
          <p:spPr>
            <a:xfrm rot="16200000" flipH="1">
              <a:off x="8523071" y="3514595"/>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450968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206328331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B3336B-2187-CB9D-3F97-FE6492A18AED}"/>
              </a:ext>
            </a:extLst>
          </p:cNvPr>
          <p:cNvSpPr>
            <a:spLocks noGrp="1"/>
          </p:cNvSpPr>
          <p:nvPr>
            <p:ph type="title"/>
          </p:nvPr>
        </p:nvSpPr>
        <p:spPr>
          <a:xfrm>
            <a:off x="695998" y="360000"/>
            <a:ext cx="6375921" cy="429413"/>
          </a:xfrm>
        </p:spPr>
        <p:txBody>
          <a:bodyPr/>
          <a:lstStyle/>
          <a:p>
            <a:r>
              <a:rPr lang="en-US" altLang="zh-CN" dirty="0"/>
              <a:t>3. </a:t>
            </a:r>
            <a:r>
              <a:rPr lang="zh-CN" altLang="en-US" dirty="0"/>
              <a:t>敏捷项目的配置管理</a:t>
            </a:r>
          </a:p>
        </p:txBody>
      </p:sp>
      <p:sp>
        <p:nvSpPr>
          <p:cNvPr id="6" name="内容占位符 5">
            <a:extLst>
              <a:ext uri="{FF2B5EF4-FFF2-40B4-BE49-F238E27FC236}">
                <a16:creationId xmlns:a16="http://schemas.microsoft.com/office/drawing/2014/main" id="{471DD1D4-6F3C-5BB0-FD84-6506D81A7ABB}"/>
              </a:ext>
            </a:extLst>
          </p:cNvPr>
          <p:cNvSpPr>
            <a:spLocks noGrp="1"/>
          </p:cNvSpPr>
          <p:nvPr>
            <p:ph idx="1"/>
          </p:nvPr>
        </p:nvSpPr>
        <p:spPr>
          <a:xfrm>
            <a:off x="696000" y="864000"/>
            <a:ext cx="10800000" cy="5400000"/>
          </a:xfrm>
        </p:spPr>
        <p:txBody>
          <a:bodyPr/>
          <a:lstStyle/>
          <a:p>
            <a:r>
              <a:rPr lang="zh-CN" altLang="en-US" dirty="0"/>
              <a:t>持续交付</a:t>
            </a:r>
            <a:endParaRPr lang="en-US" altLang="zh-CN" dirty="0"/>
          </a:p>
          <a:p>
            <a:r>
              <a:rPr lang="zh-CN" altLang="en-US" dirty="0"/>
              <a:t>配置管理重要性及全面性</a:t>
            </a:r>
            <a:endParaRPr lang="en-US" altLang="zh-CN" dirty="0"/>
          </a:p>
          <a:p>
            <a:pPr lvl="1"/>
            <a:r>
              <a:rPr lang="zh-CN" altLang="en-US" dirty="0"/>
              <a:t>代码：源代码、测试代码、数据库脚本、部署脚本、依赖库文件</a:t>
            </a:r>
            <a:endParaRPr lang="en-US" altLang="zh-CN" dirty="0"/>
          </a:p>
          <a:p>
            <a:pPr lvl="1"/>
            <a:r>
              <a:rPr lang="zh-CN" altLang="en-US" dirty="0"/>
              <a:t>环境</a:t>
            </a:r>
            <a:endParaRPr lang="en-US" altLang="zh-CN" dirty="0"/>
          </a:p>
          <a:p>
            <a:pPr lvl="1"/>
            <a:r>
              <a:rPr lang="zh-CN" altLang="en-US" dirty="0"/>
              <a:t>应用</a:t>
            </a:r>
          </a:p>
        </p:txBody>
      </p:sp>
      <p:sp>
        <p:nvSpPr>
          <p:cNvPr id="10" name="文本占位符 9">
            <a:extLst>
              <a:ext uri="{FF2B5EF4-FFF2-40B4-BE49-F238E27FC236}">
                <a16:creationId xmlns:a16="http://schemas.microsoft.com/office/drawing/2014/main" id="{7869B37A-4347-C416-9E7F-B93ED4E388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45313609"/>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695998" y="360000"/>
            <a:ext cx="6375921" cy="429413"/>
          </a:xfrm>
        </p:spPr>
        <p:txBody>
          <a:bodyPr/>
          <a:lstStyle/>
          <a:p>
            <a:r>
              <a:rPr lang="en-US" altLang="zh-CN" dirty="0"/>
              <a:t>3.1 </a:t>
            </a:r>
            <a:r>
              <a:rPr lang="zh-CN" altLang="zh-CN" dirty="0"/>
              <a:t>基于分支的开发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开发都在分支上提交</a:t>
            </a:r>
            <a:endParaRPr lang="en-US" altLang="zh-CN" dirty="0"/>
          </a:p>
          <a:p>
            <a:r>
              <a:rPr lang="zh-CN" altLang="zh-CN" dirty="0"/>
              <a:t>可能有多个分支</a:t>
            </a:r>
            <a:endParaRPr lang="en-US" altLang="zh-CN" dirty="0"/>
          </a:p>
          <a:p>
            <a:r>
              <a:rPr lang="zh-CN" altLang="zh-CN" dirty="0"/>
              <a:t>直到</a:t>
            </a:r>
            <a:r>
              <a:rPr lang="zh-CN" altLang="zh-CN" b="1" dirty="0">
                <a:solidFill>
                  <a:srgbClr val="E4745C"/>
                </a:solidFill>
              </a:rPr>
              <a:t>快要</a:t>
            </a:r>
            <a:r>
              <a:rPr lang="zh-CN" altLang="zh-CN" dirty="0"/>
              <a:t>上线时甚至上线后才合并到主干</a:t>
            </a:r>
            <a:endParaRPr lang="en-US" altLang="zh-CN" dirty="0"/>
          </a:p>
          <a:p>
            <a:r>
              <a:rPr lang="zh-CN" altLang="en-US" dirty="0"/>
              <a:t>分支是</a:t>
            </a:r>
            <a:r>
              <a:rPr lang="zh-CN" altLang="en-US" b="1" dirty="0">
                <a:solidFill>
                  <a:srgbClr val="E4745C"/>
                </a:solidFill>
              </a:rPr>
              <a:t>长期</a:t>
            </a:r>
            <a:r>
              <a:rPr lang="zh-CN" altLang="en-US" dirty="0"/>
              <a:t>存在</a:t>
            </a:r>
            <a:endParaRPr lang="en-US" altLang="zh-CN" dirty="0"/>
          </a:p>
          <a:p>
            <a:r>
              <a:rPr lang="zh-CN" altLang="en-US" dirty="0"/>
              <a:t>可以</a:t>
            </a:r>
            <a:r>
              <a:rPr lang="zh-CN" altLang="zh-CN" dirty="0"/>
              <a:t>并行</a:t>
            </a:r>
            <a:r>
              <a:rPr lang="zh-CN" altLang="en-US" dirty="0"/>
              <a:t>开发</a:t>
            </a:r>
            <a:endParaRPr lang="en-US" altLang="zh-CN" dirty="0"/>
          </a:p>
          <a:p>
            <a:r>
              <a:rPr lang="zh-CN" altLang="en-US" dirty="0"/>
              <a:t>焦点：冲突解决</a:t>
            </a:r>
            <a:endParaRPr lang="zh-CN" altLang="zh-CN" dirty="0"/>
          </a:p>
          <a:p>
            <a:endParaRPr lang="zh-CN" altLang="en-US" dirty="0"/>
          </a:p>
        </p:txBody>
      </p:sp>
      <p:sp>
        <p:nvSpPr>
          <p:cNvPr id="16" name="文本占位符 15">
            <a:extLst>
              <a:ext uri="{FF2B5EF4-FFF2-40B4-BE49-F238E27FC236}">
                <a16:creationId xmlns:a16="http://schemas.microsoft.com/office/drawing/2014/main" id="{B6BB5DB5-148D-7BA8-5E03-02F02A6D8CB5}"/>
              </a:ext>
            </a:extLst>
          </p:cNvPr>
          <p:cNvSpPr>
            <a:spLocks noGrp="1"/>
          </p:cNvSpPr>
          <p:nvPr>
            <p:ph type="body" sz="quarter" idx="10"/>
          </p:nvPr>
        </p:nvSpPr>
        <p:spPr>
          <a:xfrm>
            <a:off x="7071919" y="448519"/>
            <a:ext cx="4424080" cy="338554"/>
          </a:xfrm>
        </p:spPr>
        <p:txBody>
          <a:bodyPr/>
          <a:lstStyle/>
          <a:p>
            <a:r>
              <a:rPr lang="en-US" altLang="zh-CN" dirty="0"/>
              <a:t>Branch</a:t>
            </a:r>
            <a:endParaRPr lang="zh-CN" altLang="en-US" dirty="0"/>
          </a:p>
        </p:txBody>
      </p:sp>
    </p:spTree>
    <p:extLst>
      <p:ext uri="{BB962C8B-B14F-4D97-AF65-F5344CB8AC3E}">
        <p14:creationId xmlns:p14="http://schemas.microsoft.com/office/powerpoint/2010/main" val="132482970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695998" y="360000"/>
            <a:ext cx="6375921" cy="429413"/>
          </a:xfrm>
        </p:spPr>
        <p:txBody>
          <a:bodyPr/>
          <a:lstStyle/>
          <a:p>
            <a:r>
              <a:rPr lang="en-US" altLang="zh-CN" dirty="0"/>
              <a:t>3.2 </a:t>
            </a:r>
            <a:r>
              <a:rPr lang="zh-CN" altLang="zh-CN" dirty="0"/>
              <a:t>基于主干的开发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所有提交到主干上</a:t>
            </a:r>
            <a:endParaRPr lang="en-US" altLang="zh-CN" dirty="0"/>
          </a:p>
          <a:p>
            <a:r>
              <a:rPr lang="zh-CN" altLang="zh-CN" dirty="0"/>
              <a:t>提交后自动触发持续集成进行验证和快速反馈</a:t>
            </a:r>
            <a:endParaRPr lang="en-US" altLang="zh-CN" dirty="0"/>
          </a:p>
          <a:p>
            <a:r>
              <a:rPr lang="zh-CN" altLang="en-US" dirty="0"/>
              <a:t>分支是</a:t>
            </a:r>
            <a:r>
              <a:rPr lang="zh-CN" altLang="en-US" b="1" dirty="0">
                <a:solidFill>
                  <a:srgbClr val="E4745C"/>
                </a:solidFill>
              </a:rPr>
              <a:t>短期</a:t>
            </a:r>
            <a:r>
              <a:rPr lang="zh-CN" altLang="en-US" dirty="0"/>
              <a:t>存在</a:t>
            </a:r>
            <a:endParaRPr lang="zh-CN" altLang="zh-CN" dirty="0"/>
          </a:p>
          <a:p>
            <a:r>
              <a:rPr lang="zh-CN" altLang="en-US" dirty="0"/>
              <a:t>敏捷开发的</a:t>
            </a:r>
            <a:r>
              <a:rPr lang="zh-CN" altLang="zh-CN" dirty="0"/>
              <a:t>持续交付</a:t>
            </a:r>
            <a:r>
              <a:rPr lang="zh-CN" altLang="en-US" dirty="0"/>
              <a:t>特点</a:t>
            </a:r>
            <a:r>
              <a:rPr lang="zh-CN" altLang="zh-CN" dirty="0"/>
              <a:t>更倾向使用基于主干的开发模式</a:t>
            </a:r>
          </a:p>
          <a:p>
            <a:endParaRPr lang="zh-CN" altLang="en-US" dirty="0"/>
          </a:p>
        </p:txBody>
      </p:sp>
      <p:sp>
        <p:nvSpPr>
          <p:cNvPr id="13" name="文本占位符 12">
            <a:extLst>
              <a:ext uri="{FF2B5EF4-FFF2-40B4-BE49-F238E27FC236}">
                <a16:creationId xmlns:a16="http://schemas.microsoft.com/office/drawing/2014/main" id="{1B16F70F-D6AA-7119-239B-0E391A794B81}"/>
              </a:ext>
            </a:extLst>
          </p:cNvPr>
          <p:cNvSpPr>
            <a:spLocks noGrp="1"/>
          </p:cNvSpPr>
          <p:nvPr>
            <p:ph type="body" sz="quarter" idx="10"/>
          </p:nvPr>
        </p:nvSpPr>
        <p:spPr>
          <a:xfrm>
            <a:off x="7071919" y="448519"/>
            <a:ext cx="4424080" cy="338554"/>
          </a:xfrm>
        </p:spPr>
        <p:txBody>
          <a:bodyPr/>
          <a:lstStyle/>
          <a:p>
            <a:r>
              <a:rPr lang="en-US" altLang="zh-CN" dirty="0"/>
              <a:t>Master</a:t>
            </a:r>
            <a:endParaRPr lang="zh-CN" altLang="en-US" dirty="0"/>
          </a:p>
        </p:txBody>
      </p:sp>
    </p:spTree>
    <p:extLst>
      <p:ext uri="{BB962C8B-B14F-4D97-AF65-F5344CB8AC3E}">
        <p14:creationId xmlns:p14="http://schemas.microsoft.com/office/powerpoint/2010/main" val="429218423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3E8C249D-FD46-B6DC-2B89-298E15CC9B15}"/>
              </a:ext>
            </a:extLst>
          </p:cNvPr>
          <p:cNvGraphicFramePr>
            <a:graphicFrameLocks noGrp="1"/>
          </p:cNvGraphicFramePr>
          <p:nvPr>
            <p:extLst>
              <p:ext uri="{D42A27DB-BD31-4B8C-83A1-F6EECF244321}">
                <p14:modId xmlns:p14="http://schemas.microsoft.com/office/powerpoint/2010/main" val="2043498038"/>
              </p:ext>
            </p:extLst>
          </p:nvPr>
        </p:nvGraphicFramePr>
        <p:xfrm>
          <a:off x="1722511" y="1269999"/>
          <a:ext cx="8746977" cy="4110624"/>
        </p:xfrm>
        <a:graphic>
          <a:graphicData uri="http://schemas.openxmlformats.org/drawingml/2006/table">
            <a:tbl>
              <a:tblPr/>
              <a:tblGrid>
                <a:gridCol w="1664670">
                  <a:extLst>
                    <a:ext uri="{9D8B030D-6E8A-4147-A177-3AD203B41FA5}">
                      <a16:colId xmlns:a16="http://schemas.microsoft.com/office/drawing/2014/main" val="2323369812"/>
                    </a:ext>
                  </a:extLst>
                </a:gridCol>
                <a:gridCol w="3766453">
                  <a:extLst>
                    <a:ext uri="{9D8B030D-6E8A-4147-A177-3AD203B41FA5}">
                      <a16:colId xmlns:a16="http://schemas.microsoft.com/office/drawing/2014/main" val="2011408167"/>
                    </a:ext>
                  </a:extLst>
                </a:gridCol>
                <a:gridCol w="3315854">
                  <a:extLst>
                    <a:ext uri="{9D8B030D-6E8A-4147-A177-3AD203B41FA5}">
                      <a16:colId xmlns:a16="http://schemas.microsoft.com/office/drawing/2014/main" val="1357919481"/>
                    </a:ext>
                  </a:extLst>
                </a:gridCol>
              </a:tblGrid>
              <a:tr h="129762">
                <a:tc>
                  <a:txBody>
                    <a:bodyPr/>
                    <a:lstStyle/>
                    <a:p>
                      <a:pPr algn="ctr">
                        <a:buNone/>
                      </a:pPr>
                      <a:r>
                        <a:rPr lang="zh-CN" altLang="en-US" sz="1600" dirty="0">
                          <a:solidFill>
                            <a:schemeClr val="bg1"/>
                          </a:solidFill>
                          <a:latin typeface="+mj-ea"/>
                          <a:ea typeface="+mj-ea"/>
                        </a:rPr>
                        <a:t>对比维度</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基于分支的开发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基于主干的开发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44487943"/>
                  </a:ext>
                </a:extLst>
              </a:tr>
              <a:tr h="225370">
                <a:tc>
                  <a:txBody>
                    <a:bodyPr/>
                    <a:lstStyle/>
                    <a:p>
                      <a:pPr algn="ctr">
                        <a:buNone/>
                      </a:pPr>
                      <a:r>
                        <a:rPr lang="zh-CN" altLang="en-US" sz="1600" dirty="0"/>
                        <a:t>核心策略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隔离开发</a:t>
                      </a:r>
                      <a:r>
                        <a:rPr lang="zh-CN" altLang="en-US" sz="1600" dirty="0"/>
                        <a:t>：通过长期分支将新功能与主干隔离开，直到功能完成</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持续集成</a:t>
                      </a:r>
                      <a:r>
                        <a:rPr lang="zh-CN" altLang="en-US" sz="1600" dirty="0"/>
                        <a:t>：所有开发者频繁地向主干提交代码，保持主干始终可发布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3301592"/>
                  </a:ext>
                </a:extLst>
              </a:tr>
              <a:tr h="129762">
                <a:tc>
                  <a:txBody>
                    <a:bodyPr/>
                    <a:lstStyle/>
                    <a:p>
                      <a:pPr algn="ctr">
                        <a:buNone/>
                      </a:pPr>
                      <a:r>
                        <a:rPr lang="zh-CN" altLang="en-US" sz="1600"/>
                        <a:t>分支生命周期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长期</a:t>
                      </a:r>
                      <a:r>
                        <a:rPr lang="zh-CN" altLang="en-US" sz="1600" dirty="0"/>
                        <a:t> </a:t>
                      </a:r>
                      <a:r>
                        <a:rPr lang="en-US" altLang="zh-CN" sz="1600" dirty="0"/>
                        <a:t>(</a:t>
                      </a:r>
                      <a:r>
                        <a:rPr lang="zh-CN" altLang="en-US" sz="1600" dirty="0"/>
                        <a:t>几天、几周甚至几个月</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极短</a:t>
                      </a:r>
                      <a:r>
                        <a:rPr lang="zh-CN" altLang="en-US" sz="1600" dirty="0"/>
                        <a:t> </a:t>
                      </a:r>
                      <a:r>
                        <a:rPr lang="en-US" altLang="zh-CN" sz="1600" dirty="0"/>
                        <a:t>(</a:t>
                      </a:r>
                      <a:r>
                        <a:rPr lang="zh-CN" altLang="en-US" sz="1600" dirty="0"/>
                        <a:t>几小时，通常不超过 </a:t>
                      </a:r>
                      <a:r>
                        <a:rPr lang="en-US" altLang="zh-CN" sz="1600" dirty="0"/>
                        <a:t>1-2 </a:t>
                      </a:r>
                      <a:r>
                        <a:rPr lang="zh-CN" altLang="en-US" sz="1600" dirty="0"/>
                        <a:t>天</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1383092"/>
                  </a:ext>
                </a:extLst>
              </a:tr>
              <a:tr h="225370">
                <a:tc>
                  <a:txBody>
                    <a:bodyPr/>
                    <a:lstStyle/>
                    <a:p>
                      <a:pPr algn="ctr">
                        <a:buNone/>
                      </a:pPr>
                      <a:r>
                        <a:rPr lang="zh-CN" altLang="en-US" sz="1600" dirty="0"/>
                        <a:t>代码集成频率</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低频</a:t>
                      </a:r>
                      <a:r>
                        <a:rPr lang="zh-CN" altLang="en-US" sz="1600" dirty="0"/>
                        <a:t>：功能开发完毕后一次性合并，容易产生巨大的合并冲突（“合并地狱”）</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高频</a:t>
                      </a:r>
                      <a:r>
                        <a:rPr lang="zh-CN" altLang="en-US" sz="1600" dirty="0"/>
                        <a:t>：每天多次集成，冲突微小且容易解决</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010921"/>
                  </a:ext>
                </a:extLst>
              </a:tr>
              <a:tr h="225370">
                <a:tc>
                  <a:txBody>
                    <a:bodyPr/>
                    <a:lstStyle/>
                    <a:p>
                      <a:pPr algn="ctr">
                        <a:buNone/>
                      </a:pPr>
                      <a:r>
                        <a:rPr lang="zh-CN" altLang="en-US" sz="1600" dirty="0"/>
                        <a:t>发布节奏</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按需发布</a:t>
                      </a:r>
                      <a:r>
                        <a:rPr lang="zh-CN" altLang="en-US" sz="1600" dirty="0"/>
                        <a:t>：通常与版本周期绑定，适合传统的瀑布式发布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随时发布</a:t>
                      </a:r>
                      <a:r>
                        <a:rPr lang="zh-CN" altLang="en-US" sz="1600" dirty="0"/>
                        <a:t>：主干代码时刻处于“可发布状态”，适合 </a:t>
                      </a:r>
                      <a:r>
                        <a:rPr lang="en-US" altLang="zh-CN" sz="1600" dirty="0"/>
                        <a:t>CI/CD </a:t>
                      </a:r>
                      <a:r>
                        <a:rPr lang="zh-CN" altLang="en-US" sz="1600" dirty="0"/>
                        <a:t>和 </a:t>
                      </a:r>
                      <a:r>
                        <a:rPr lang="en-US" altLang="zh-CN" sz="1600" dirty="0"/>
                        <a:t>DevOps</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7706"/>
                  </a:ext>
                </a:extLst>
              </a:tr>
              <a:tr h="225370">
                <a:tc>
                  <a:txBody>
                    <a:bodyPr/>
                    <a:lstStyle/>
                    <a:p>
                      <a:pPr algn="ctr">
                        <a:buNone/>
                      </a:pPr>
                      <a:r>
                        <a:rPr lang="zh-CN" altLang="en-US" sz="1600" dirty="0"/>
                        <a:t>未完成功能处理</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代码隐藏</a:t>
                      </a:r>
                      <a:r>
                        <a:rPr lang="zh-CN" altLang="en-US" sz="1600" dirty="0"/>
                        <a:t>：未完成代码保留在分支中，不合并到主干</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特性开关</a:t>
                      </a:r>
                      <a:r>
                        <a:rPr lang="zh-CN" altLang="en-US" sz="1600" dirty="0"/>
                        <a:t>：代码合并到主干，但通过“开关”控制对用户不可见</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3609462"/>
                  </a:ext>
                </a:extLst>
              </a:tr>
              <a:tr h="225370">
                <a:tc>
                  <a:txBody>
                    <a:bodyPr/>
                    <a:lstStyle/>
                    <a:p>
                      <a:pPr algn="ctr">
                        <a:buNone/>
                      </a:pPr>
                      <a:r>
                        <a:rPr lang="zh-CN" altLang="en-US" sz="1600" dirty="0"/>
                        <a:t>团队文化要求</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相对较低</a:t>
                      </a:r>
                      <a:r>
                        <a:rPr lang="zh-CN" altLang="en-US" sz="1600" dirty="0"/>
                        <a:t>：允许开发者在自己的分支上“闭关修炼”</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极高</a:t>
                      </a:r>
                      <a:r>
                        <a:rPr lang="zh-CN" altLang="en-US" sz="1600" dirty="0"/>
                        <a:t>：要求全员自律、代码审查严格、自动化测试覆盖率极高</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0346568"/>
                  </a:ext>
                </a:extLst>
              </a:tr>
              <a:tr h="225370">
                <a:tc>
                  <a:txBody>
                    <a:bodyPr/>
                    <a:lstStyle/>
                    <a:p>
                      <a:pPr algn="ctr">
                        <a:buNone/>
                      </a:pPr>
                      <a:r>
                        <a:rPr lang="zh-CN" altLang="en-US" sz="1600" dirty="0"/>
                        <a:t>主要风险</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集成风险高</a:t>
                      </a:r>
                      <a:r>
                        <a:rPr lang="zh-CN" altLang="en-US" sz="1600" dirty="0"/>
                        <a:t>：合并时容易出现大量冲突和功能破坏，导致上线延期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主干稳定性风险</a:t>
                      </a:r>
                      <a:r>
                        <a:rPr lang="zh-CN" altLang="en-US" sz="1600" dirty="0"/>
                        <a:t>：一旦有人提交了坏代码，可能导致整个团队停工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8663376"/>
                  </a:ext>
                </a:extLst>
              </a:tr>
            </a:tbl>
          </a:graphicData>
        </a:graphic>
      </p:graphicFrame>
    </p:spTree>
    <p:extLst>
      <p:ext uri="{BB962C8B-B14F-4D97-AF65-F5344CB8AC3E}">
        <p14:creationId xmlns:p14="http://schemas.microsoft.com/office/powerpoint/2010/main" val="1438759756"/>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4B0448-7B6F-75DB-5D22-9FE71606914B}"/>
              </a:ext>
            </a:extLst>
          </p:cNvPr>
          <p:cNvSpPr>
            <a:spLocks noGrp="1"/>
          </p:cNvSpPr>
          <p:nvPr>
            <p:ph type="title"/>
          </p:nvPr>
        </p:nvSpPr>
        <p:spPr>
          <a:xfrm>
            <a:off x="695998" y="360000"/>
            <a:ext cx="6375921" cy="429413"/>
          </a:xfrm>
        </p:spPr>
        <p:txBody>
          <a:bodyPr/>
          <a:lstStyle/>
          <a:p>
            <a:r>
              <a:rPr lang="en-US" altLang="zh-CN" dirty="0"/>
              <a:t>4. </a:t>
            </a:r>
            <a:r>
              <a:rPr lang="zh-CN" altLang="en-US" dirty="0"/>
              <a:t>配置管理工具及其应用实例</a:t>
            </a:r>
          </a:p>
        </p:txBody>
      </p:sp>
      <p:sp>
        <p:nvSpPr>
          <p:cNvPr id="6" name="内容占位符 5">
            <a:extLst>
              <a:ext uri="{FF2B5EF4-FFF2-40B4-BE49-F238E27FC236}">
                <a16:creationId xmlns:a16="http://schemas.microsoft.com/office/drawing/2014/main" id="{852DEB6D-4EA3-70CB-04C9-ACD1A97B9F5E}"/>
              </a:ext>
            </a:extLst>
          </p:cNvPr>
          <p:cNvSpPr>
            <a:spLocks noGrp="1"/>
          </p:cNvSpPr>
          <p:nvPr>
            <p:ph idx="1"/>
          </p:nvPr>
        </p:nvSpPr>
        <p:spPr>
          <a:xfrm>
            <a:off x="696000" y="864000"/>
            <a:ext cx="10800000" cy="5400000"/>
          </a:xfrm>
        </p:spPr>
        <p:txBody>
          <a:bodyPr/>
          <a:lstStyle/>
          <a:p>
            <a:r>
              <a:rPr lang="en-US" altLang="zh-CN" dirty="0">
                <a:hlinkClick r:id="rId2">
                  <a:extLst>
                    <a:ext uri="{A12FA001-AC4F-418D-AE19-62706E023703}">
                      <ahyp:hlinkClr xmlns:ahyp="http://schemas.microsoft.com/office/drawing/2018/hyperlinkcolor" val="tx"/>
                    </a:ext>
                  </a:extLst>
                </a:hlinkClick>
              </a:rPr>
              <a:t>Git</a:t>
            </a:r>
            <a:endParaRPr lang="en-US" altLang="zh-CN" dirty="0"/>
          </a:p>
          <a:p>
            <a:r>
              <a:rPr lang="en-US" altLang="zh-CN" dirty="0">
                <a:hlinkClick r:id="rId3">
                  <a:extLst>
                    <a:ext uri="{A12FA001-AC4F-418D-AE19-62706E023703}">
                      <ahyp:hlinkClr xmlns:ahyp="http://schemas.microsoft.com/office/drawing/2018/hyperlinkcolor" val="tx"/>
                    </a:ext>
                  </a:extLst>
                </a:hlinkClick>
              </a:rPr>
              <a:t>GitHub</a:t>
            </a:r>
            <a:endParaRPr lang="en-US" altLang="zh-CN" dirty="0"/>
          </a:p>
          <a:p>
            <a:r>
              <a:rPr lang="en-US" altLang="zh-CN" dirty="0" err="1">
                <a:hlinkClick r:id="rId4">
                  <a:extLst>
                    <a:ext uri="{A12FA001-AC4F-418D-AE19-62706E023703}">
                      <ahyp:hlinkClr xmlns:ahyp="http://schemas.microsoft.com/office/drawing/2018/hyperlinkcolor" val="tx"/>
                    </a:ext>
                  </a:extLst>
                </a:hlinkClick>
              </a:rPr>
              <a:t>Gitee</a:t>
            </a:r>
            <a:endParaRPr lang="en-US" altLang="zh-CN" dirty="0"/>
          </a:p>
          <a:p>
            <a:endParaRPr lang="zh-CN" altLang="en-US" dirty="0"/>
          </a:p>
        </p:txBody>
      </p:sp>
      <p:sp>
        <p:nvSpPr>
          <p:cNvPr id="22" name="文本占位符 21">
            <a:extLst>
              <a:ext uri="{FF2B5EF4-FFF2-40B4-BE49-F238E27FC236}">
                <a16:creationId xmlns:a16="http://schemas.microsoft.com/office/drawing/2014/main" id="{B4ACDBBF-C1E9-85E5-C570-370BCE30DD7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739685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5998" y="360000"/>
            <a:ext cx="6375921" cy="429413"/>
          </a:xfrm>
        </p:spPr>
        <p:txBody>
          <a:bodyPr>
            <a:normAutofit/>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6000" y="864000"/>
            <a:ext cx="10800000" cy="5400000"/>
          </a:xfrm>
        </p:spPr>
        <p:txBody>
          <a:bodyPr/>
          <a:lstStyle/>
          <a:p>
            <a:r>
              <a:rPr lang="zh-CN" altLang="en-US"/>
              <a:t>塔克曼 </a:t>
            </a:r>
            <a:r>
              <a:rPr lang="en-US" altLang="zh-CN"/>
              <a:t>Bruce Tuckman </a:t>
            </a:r>
            <a:r>
              <a:rPr lang="zh-CN" altLang="en-US"/>
              <a:t>于</a:t>
            </a:r>
            <a:r>
              <a:rPr lang="en-US" altLang="zh-CN"/>
              <a:t>1965</a:t>
            </a:r>
            <a:r>
              <a:rPr lang="zh-CN" altLang="en-US"/>
              <a:t>年提出</a:t>
            </a:r>
          </a:p>
        </p:txBody>
      </p:sp>
      <p:sp>
        <p:nvSpPr>
          <p:cNvPr id="8" name="文本占位符 7">
            <a:extLst>
              <a:ext uri="{FF2B5EF4-FFF2-40B4-BE49-F238E27FC236}">
                <a16:creationId xmlns:a16="http://schemas.microsoft.com/office/drawing/2014/main" id="{BDEDD34D-8897-79BD-8008-7D17CCC9E31C}"/>
              </a:ext>
            </a:extLst>
          </p:cNvPr>
          <p:cNvSpPr>
            <a:spLocks noGrp="1"/>
          </p:cNvSpPr>
          <p:nvPr>
            <p:ph type="body" sz="quarter" idx="10"/>
          </p:nvPr>
        </p:nvSpPr>
        <p:spPr/>
        <p:txBody>
          <a:bodyPr/>
          <a:lstStyle/>
          <a:p>
            <a:endParaRPr lang="zh-CN" altLang="en-US"/>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3954028449"/>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94107049"/>
                  </a:ext>
                </a:extLst>
              </a:tr>
              <a:tr h="0">
                <a:tc>
                  <a:txBody>
                    <a:bodyPr/>
                    <a:lstStyle/>
                    <a:p>
                      <a:pPr>
                        <a:buNone/>
                      </a:pPr>
                      <a:r>
                        <a:rPr lang="en-US">
                          <a:solidFill>
                            <a:schemeClr val="bg1"/>
                          </a:solidFill>
                        </a:rPr>
                        <a:t>Forming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形成期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10982016"/>
                  </a:ext>
                </a:extLst>
              </a:tr>
              <a:tr h="0">
                <a:tc>
                  <a:txBody>
                    <a:bodyPr/>
                    <a:lstStyle/>
                    <a:p>
                      <a:pPr>
                        <a:buNone/>
                      </a:pPr>
                      <a:r>
                        <a:rPr lang="en-US">
                          <a:solidFill>
                            <a:schemeClr val="bg1"/>
                          </a:solidFill>
                        </a:rPr>
                        <a:t>Storming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震荡期或磨合期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7801575"/>
                  </a:ext>
                </a:extLst>
              </a:tr>
              <a:tr h="0">
                <a:tc>
                  <a:txBody>
                    <a:bodyPr/>
                    <a:lstStyle/>
                    <a:p>
                      <a:pPr>
                        <a:buNone/>
                      </a:pPr>
                      <a:r>
                        <a:rPr lang="en-US">
                          <a:solidFill>
                            <a:schemeClr val="bg1"/>
                          </a:solidFill>
                        </a:rPr>
                        <a:t>Norming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规范期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702055"/>
                  </a:ext>
                </a:extLst>
              </a:tr>
              <a:tr h="0">
                <a:tc>
                  <a:txBody>
                    <a:bodyPr/>
                    <a:lstStyle/>
                    <a:p>
                      <a:pPr>
                        <a:buNone/>
                      </a:pPr>
                      <a:r>
                        <a:rPr lang="en-US">
                          <a:solidFill>
                            <a:schemeClr val="bg1"/>
                          </a:solidFill>
                        </a:rPr>
                        <a:t>Performing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表现期 </a:t>
                      </a:r>
                      <a:r>
                        <a:rPr lang="en-US" altLang="zh-CN">
                          <a:solidFill>
                            <a:schemeClr val="bg1"/>
                          </a:solidFill>
                        </a:rPr>
                        <a:t>/ </a:t>
                      </a:r>
                      <a:r>
                        <a:rPr lang="zh-CN" altLang="en-US">
                          <a:solidFill>
                            <a:schemeClr val="bg1"/>
                          </a:solidFill>
                        </a:rPr>
                        <a:t>执行期 </a:t>
                      </a:r>
                      <a:r>
                        <a:rPr lang="en-US" altLang="zh-CN">
                          <a:solidFill>
                            <a:schemeClr val="bg1"/>
                          </a:solidFill>
                        </a:rPr>
                        <a:t>/ </a:t>
                      </a:r>
                      <a:r>
                        <a:rPr lang="zh-CN" altLang="en-US">
                          <a:solidFill>
                            <a:schemeClr val="bg1"/>
                          </a:solidFill>
                        </a:rPr>
                        <a:t>高绩效期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7711081"/>
                  </a:ext>
                </a:extLst>
              </a:tr>
              <a:tr h="0">
                <a:tc>
                  <a:txBody>
                    <a:bodyPr/>
                    <a:lstStyle/>
                    <a:p>
                      <a:pPr>
                        <a:buNone/>
                      </a:pPr>
                      <a:r>
                        <a:rPr lang="en-US">
                          <a:solidFill>
                            <a:schemeClr val="bg1"/>
                          </a:solidFill>
                        </a:rPr>
                        <a:t>Adjourning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dirty="0">
                          <a:solidFill>
                            <a:schemeClr val="bg1"/>
                          </a:solidFill>
                        </a:rPr>
                        <a:t>结束期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5998" y="360000"/>
            <a:ext cx="6375921" cy="429413"/>
          </a:xfrm>
        </p:spPr>
        <p:txBody>
          <a:bodyPr/>
          <a:lstStyle/>
          <a:p>
            <a:r>
              <a:rPr lang="en-US" altLang="zh-CN" dirty="0"/>
              <a:t>10.1 </a:t>
            </a:r>
            <a:r>
              <a:rPr lang="zh-CN" altLang="en-US" dirty="0"/>
              <a:t>组织结构</a:t>
            </a:r>
          </a:p>
        </p:txBody>
      </p:sp>
      <p:sp>
        <p:nvSpPr>
          <p:cNvPr id="3" name="内容占位符 2">
            <a:extLst>
              <a:ext uri="{FF2B5EF4-FFF2-40B4-BE49-F238E27FC236}">
                <a16:creationId xmlns:a16="http://schemas.microsoft.com/office/drawing/2014/main" id="{C5D46B04-D343-7D9C-6916-882C59A13FCE}"/>
              </a:ext>
            </a:extLst>
          </p:cNvPr>
          <p:cNvSpPr>
            <a:spLocks noGrp="1"/>
          </p:cNvSpPr>
          <p:nvPr>
            <p:ph idx="1"/>
          </p:nvPr>
        </p:nvSpPr>
        <p:spPr>
          <a:xfrm>
            <a:off x="696000" y="864000"/>
            <a:ext cx="10800000" cy="5400000"/>
          </a:xfrm>
        </p:spPr>
        <p:txBody>
          <a:bodyPr/>
          <a:lstStyle/>
          <a:p>
            <a:r>
              <a:rPr lang="zh-CN" altLang="en-US" dirty="0"/>
              <a:t>职能型</a:t>
            </a:r>
            <a:endParaRPr lang="en-US" altLang="zh-CN" dirty="0"/>
          </a:p>
          <a:p>
            <a:r>
              <a:rPr lang="zh-CN" altLang="en-US" dirty="0"/>
              <a:t>项目型</a:t>
            </a:r>
            <a:endParaRPr lang="en-US" altLang="zh-CN" dirty="0"/>
          </a:p>
          <a:p>
            <a:r>
              <a:rPr lang="zh-CN" altLang="en-US" dirty="0"/>
              <a:t>矩阵型</a:t>
            </a:r>
          </a:p>
        </p:txBody>
      </p:sp>
      <p:sp>
        <p:nvSpPr>
          <p:cNvPr id="7" name="文本占位符 6">
            <a:extLst>
              <a:ext uri="{FF2B5EF4-FFF2-40B4-BE49-F238E27FC236}">
                <a16:creationId xmlns:a16="http://schemas.microsoft.com/office/drawing/2014/main" id="{1A28BC2C-8310-E053-5669-5BCA948EC34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54238074"/>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6375921" cy="429413"/>
          </a:xfrm>
        </p:spPr>
        <p:txBody>
          <a:bodyPr>
            <a:normAutofit/>
          </a:bodyPr>
          <a:lstStyle/>
          <a:p>
            <a:r>
              <a:rPr lang="zh-CN" altLang="en-US"/>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864000"/>
            <a:ext cx="10800000" cy="5400000"/>
          </a:xfrm>
        </p:spPr>
        <p:txBody>
          <a:bodyPr/>
          <a:lstStyle/>
          <a:p>
            <a:r>
              <a:rPr lang="zh-CN" altLang="en-US"/>
              <a:t>编制</a:t>
            </a:r>
            <a:endParaRPr lang="en-US" altLang="zh-CN"/>
          </a:p>
          <a:p>
            <a:r>
              <a:rPr lang="zh-CN" altLang="en-US"/>
              <a:t>组建</a:t>
            </a:r>
            <a:endParaRPr lang="en-US" altLang="zh-CN"/>
          </a:p>
          <a:p>
            <a:r>
              <a:rPr lang="zh-CN" altLang="en-US"/>
              <a:t>建设</a:t>
            </a:r>
            <a:endParaRPr lang="en-US" altLang="zh-CN"/>
          </a:p>
          <a:p>
            <a:r>
              <a:rPr lang="zh-CN" altLang="en-US"/>
              <a:t>管理</a:t>
            </a:r>
          </a:p>
        </p:txBody>
      </p:sp>
      <p:sp>
        <p:nvSpPr>
          <p:cNvPr id="7" name="文本占位符 6">
            <a:extLst>
              <a:ext uri="{FF2B5EF4-FFF2-40B4-BE49-F238E27FC236}">
                <a16:creationId xmlns:a16="http://schemas.microsoft.com/office/drawing/2014/main" id="{936AF3C6-2127-7EC5-72D0-C15D49D16FE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4B5D9F-3E7B-DE0F-1D53-6B071AF9BC72}"/>
              </a:ext>
            </a:extLst>
          </p:cNvPr>
          <p:cNvSpPr>
            <a:spLocks noGrp="1"/>
          </p:cNvSpPr>
          <p:nvPr>
            <p:ph type="title"/>
          </p:nvPr>
        </p:nvSpPr>
        <p:spPr>
          <a:xfrm>
            <a:off x="695998" y="360000"/>
            <a:ext cx="6375921" cy="429413"/>
          </a:xfrm>
          <a:ln>
            <a:solidFill>
              <a:schemeClr val="tx1"/>
            </a:solidFill>
          </a:ln>
        </p:spPr>
        <p:txBody>
          <a:bodyPr/>
          <a:lstStyle/>
          <a:p>
            <a:r>
              <a:rPr lang="en-US" altLang="zh-CN" dirty="0"/>
              <a:t>10.1.1 </a:t>
            </a:r>
            <a:r>
              <a:rPr lang="zh-CN" altLang="en-US" dirty="0"/>
              <a:t>职能型</a:t>
            </a:r>
          </a:p>
        </p:txBody>
      </p:sp>
      <p:sp>
        <p:nvSpPr>
          <p:cNvPr id="71" name="内容占位符 70">
            <a:extLst>
              <a:ext uri="{FF2B5EF4-FFF2-40B4-BE49-F238E27FC236}">
                <a16:creationId xmlns:a16="http://schemas.microsoft.com/office/drawing/2014/main" id="{D596A279-5920-13A8-2A61-4A134C511DA3}"/>
              </a:ext>
            </a:extLst>
          </p:cNvPr>
          <p:cNvSpPr>
            <a:spLocks noGrp="1"/>
          </p:cNvSpPr>
          <p:nvPr>
            <p:ph idx="1"/>
          </p:nvPr>
        </p:nvSpPr>
        <p:spPr/>
        <p:txBody>
          <a:bodyPr/>
          <a:lstStyle/>
          <a:p>
            <a:endParaRPr lang="zh-CN" altLang="en-US" dirty="0"/>
          </a:p>
        </p:txBody>
      </p:sp>
      <p:sp>
        <p:nvSpPr>
          <p:cNvPr id="72" name="文本占位符 71">
            <a:extLst>
              <a:ext uri="{FF2B5EF4-FFF2-40B4-BE49-F238E27FC236}">
                <a16:creationId xmlns:a16="http://schemas.microsoft.com/office/drawing/2014/main" id="{0917FF48-6985-4FE4-F954-394F61E0D728}"/>
              </a:ext>
            </a:extLst>
          </p:cNvPr>
          <p:cNvSpPr>
            <a:spLocks noGrp="1"/>
          </p:cNvSpPr>
          <p:nvPr>
            <p:ph type="body" sz="quarter" idx="10"/>
          </p:nvPr>
        </p:nvSpPr>
        <p:spPr/>
        <p:txBody>
          <a:bodyPr/>
          <a:lstStyle/>
          <a:p>
            <a:endParaRPr lang="zh-CN" altLang="en-US"/>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1311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2261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832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831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143251"/>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143251"/>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2981325"/>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2691479"/>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3429001"/>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3905775"/>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4392074"/>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2691479"/>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3429001"/>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3905775"/>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4392074"/>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906829" y="1893485"/>
            <a:ext cx="6376989" cy="943999"/>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431790" y="1714506"/>
            <a:ext cx="800219" cy="276999"/>
          </a:xfrm>
          <a:prstGeom prst="rect">
            <a:avLst/>
          </a:prstGeom>
          <a:ln>
            <a:noFill/>
          </a:ln>
        </p:spPr>
        <p:txBody>
          <a:bodyPr wrap="none" rtlCol="0">
            <a:spAutoFit/>
          </a:bodyPr>
          <a:lstStyle/>
          <a:p>
            <a:pPr algn="l"/>
            <a:r>
              <a:rPr lang="zh-CN" altLang="en-US" sz="1200" dirty="0"/>
              <a:t>项目协调</a:t>
            </a:r>
          </a:p>
        </p:txBody>
      </p:sp>
    </p:spTree>
    <p:extLst>
      <p:ext uri="{BB962C8B-B14F-4D97-AF65-F5344CB8AC3E}">
        <p14:creationId xmlns:p14="http://schemas.microsoft.com/office/powerpoint/2010/main" val="2138612083"/>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5998" y="360000"/>
            <a:ext cx="6375921" cy="429413"/>
          </a:xfrm>
        </p:spPr>
        <p:txBody>
          <a:bodyPr/>
          <a:lstStyle/>
          <a:p>
            <a:r>
              <a:rPr lang="en-US" altLang="zh-CN" dirty="0"/>
              <a:t>10.1.2 </a:t>
            </a:r>
            <a:r>
              <a:rPr lang="zh-CN" altLang="en-US" dirty="0"/>
              <a:t>项目型</a:t>
            </a:r>
          </a:p>
        </p:txBody>
      </p:sp>
      <p:sp>
        <p:nvSpPr>
          <p:cNvPr id="47" name="内容占位符 46">
            <a:extLst>
              <a:ext uri="{FF2B5EF4-FFF2-40B4-BE49-F238E27FC236}">
                <a16:creationId xmlns:a16="http://schemas.microsoft.com/office/drawing/2014/main" id="{08D72426-579B-21AD-5F9F-C09E9C896885}"/>
              </a:ext>
            </a:extLst>
          </p:cNvPr>
          <p:cNvSpPr>
            <a:spLocks noGrp="1"/>
          </p:cNvSpPr>
          <p:nvPr>
            <p:ph idx="1"/>
          </p:nvPr>
        </p:nvSpPr>
        <p:spPr/>
        <p:txBody>
          <a:bodyPr/>
          <a:lstStyle/>
          <a:p>
            <a:endParaRPr lang="zh-CN" altLang="en-US"/>
          </a:p>
        </p:txBody>
      </p:sp>
      <p:sp>
        <p:nvSpPr>
          <p:cNvPr id="48" name="文本占位符 47">
            <a:extLst>
              <a:ext uri="{FF2B5EF4-FFF2-40B4-BE49-F238E27FC236}">
                <a16:creationId xmlns:a16="http://schemas.microsoft.com/office/drawing/2014/main" id="{C616916F-AD14-6135-C920-774601A5EC6D}"/>
              </a:ext>
            </a:extLst>
          </p:cNvPr>
          <p:cNvSpPr>
            <a:spLocks noGrp="1"/>
          </p:cNvSpPr>
          <p:nvPr>
            <p:ph type="body" sz="quarter" idx="10"/>
          </p:nvPr>
        </p:nvSpPr>
        <p:spPr/>
        <p:txBody>
          <a:bodyPr/>
          <a:lstStyle/>
          <a:p>
            <a:endParaRPr lang="zh-CN" altLang="en-US"/>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311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261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34194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39057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4392073"/>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832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831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143251"/>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143251"/>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2981325"/>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2691479"/>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3429001"/>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3905775"/>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4392074"/>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2691479"/>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3429001"/>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3905775"/>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4392074"/>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906829" y="1893485"/>
            <a:ext cx="1749171" cy="358339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317123"/>
            <a:ext cx="800219" cy="276999"/>
          </a:xfrm>
          <a:prstGeom prst="rect">
            <a:avLst/>
          </a:prstGeom>
          <a:ln>
            <a:noFill/>
          </a:ln>
        </p:spPr>
        <p:txBody>
          <a:bodyPr wrap="none" rtlCol="0">
            <a:spAutoFit/>
          </a:bodyPr>
          <a:lstStyle/>
          <a:p>
            <a:pPr algn="l"/>
            <a:r>
              <a:rPr lang="zh-CN" altLang="en-US" sz="1200" dirty="0"/>
              <a:t>项目协调</a:t>
            </a:r>
          </a:p>
        </p:txBody>
      </p:sp>
    </p:spTree>
    <p:extLst>
      <p:ext uri="{BB962C8B-B14F-4D97-AF65-F5344CB8AC3E}">
        <p14:creationId xmlns:p14="http://schemas.microsoft.com/office/powerpoint/2010/main" val="3545863951"/>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a:xfrm>
            <a:off x="695998" y="360000"/>
            <a:ext cx="6375921" cy="429413"/>
          </a:xfrm>
        </p:spPr>
        <p:txBody>
          <a:bodyPr/>
          <a:lstStyle/>
          <a:p>
            <a:r>
              <a:rPr lang="en-US" altLang="zh-CN" dirty="0"/>
              <a:t>10.1.3 </a:t>
            </a:r>
            <a:r>
              <a:rPr lang="zh-CN" altLang="en-US" dirty="0"/>
              <a:t>矩阵型</a:t>
            </a:r>
          </a:p>
        </p:txBody>
      </p:sp>
      <p:sp>
        <p:nvSpPr>
          <p:cNvPr id="58" name="内容占位符 57">
            <a:extLst>
              <a:ext uri="{FF2B5EF4-FFF2-40B4-BE49-F238E27FC236}">
                <a16:creationId xmlns:a16="http://schemas.microsoft.com/office/drawing/2014/main" id="{8E84B5B7-32BC-B033-7698-E4D9C98A1F7F}"/>
              </a:ext>
            </a:extLst>
          </p:cNvPr>
          <p:cNvSpPr>
            <a:spLocks noGrp="1"/>
          </p:cNvSpPr>
          <p:nvPr>
            <p:ph idx="1"/>
          </p:nvPr>
        </p:nvSpPr>
        <p:spPr/>
        <p:txBody>
          <a:bodyPr/>
          <a:lstStyle/>
          <a:p>
            <a:endParaRPr lang="zh-CN" altLang="en-US" dirty="0"/>
          </a:p>
        </p:txBody>
      </p:sp>
      <p:sp>
        <p:nvSpPr>
          <p:cNvPr id="59" name="文本占位符 58">
            <a:extLst>
              <a:ext uri="{FF2B5EF4-FFF2-40B4-BE49-F238E27FC236}">
                <a16:creationId xmlns:a16="http://schemas.microsoft.com/office/drawing/2014/main" id="{62DD7835-D665-4D5F-56E7-B5270C98E37C}"/>
              </a:ext>
            </a:extLst>
          </p:cNvPr>
          <p:cNvSpPr>
            <a:spLocks noGrp="1"/>
          </p:cNvSpPr>
          <p:nvPr>
            <p:ph type="body" sz="quarter" idx="10"/>
          </p:nvPr>
        </p:nvSpPr>
        <p:spPr/>
        <p:txBody>
          <a:bodyPr/>
          <a:lstStyle/>
          <a:p>
            <a:endParaRPr lang="zh-CN" altLang="en-US"/>
          </a:p>
        </p:txBody>
      </p:sp>
      <p:sp>
        <p:nvSpPr>
          <p:cNvPr id="5"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311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261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7"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8"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259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9"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2915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3569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224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2914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3568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223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4878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2914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3568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223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4878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21" name="连接符: 肘形 20">
            <a:extLst>
              <a:ext uri="{FF2B5EF4-FFF2-40B4-BE49-F238E27FC236}">
                <a16:creationId xmlns:a16="http://schemas.microsoft.com/office/drawing/2014/main" id="{43A50330-120C-458C-6243-9CDF77942FD8}"/>
              </a:ext>
            </a:extLst>
          </p:cNvPr>
          <p:cNvCxnSpPr>
            <a:stCxn id="5" idx="2"/>
            <a:endCxn id="6" idx="0"/>
          </p:cNvCxnSpPr>
          <p:nvPr/>
        </p:nvCxnSpPr>
        <p:spPr>
          <a:xfrm rot="5400000">
            <a:off x="4666803" y="832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0451F27E-FFD2-D517-1A6A-D88B24637111}"/>
              </a:ext>
            </a:extLst>
          </p:cNvPr>
          <p:cNvCxnSpPr>
            <a:stCxn id="8" idx="0"/>
            <a:endCxn id="5" idx="2"/>
          </p:cNvCxnSpPr>
          <p:nvPr/>
        </p:nvCxnSpPr>
        <p:spPr>
          <a:xfrm rot="16200000" flipV="1">
            <a:off x="7007761" y="831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DD496D05-9FB1-3C92-35A9-BE9CE53736F2}"/>
              </a:ext>
            </a:extLst>
          </p:cNvPr>
          <p:cNvSpPr/>
          <p:nvPr/>
        </p:nvSpPr>
        <p:spPr>
          <a:xfrm>
            <a:off x="3035999" y="4783198"/>
            <a:ext cx="6365175" cy="646051"/>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61E69225-BA15-DBA8-B477-CF32AF6CB1A5}"/>
              </a:ext>
            </a:extLst>
          </p:cNvPr>
          <p:cNvSpPr txBox="1"/>
          <p:nvPr/>
        </p:nvSpPr>
        <p:spPr>
          <a:xfrm>
            <a:off x="7173189" y="5267605"/>
            <a:ext cx="800219" cy="276999"/>
          </a:xfrm>
          <a:prstGeom prst="rect">
            <a:avLst/>
          </a:prstGeom>
          <a:ln>
            <a:noFill/>
          </a:ln>
        </p:spPr>
        <p:txBody>
          <a:bodyPr wrap="none" rtlCol="0">
            <a:spAutoFit/>
          </a:bodyPr>
          <a:lstStyle/>
          <a:p>
            <a:pPr algn="l"/>
            <a:r>
              <a:rPr lang="zh-CN" altLang="en-US" sz="1200" dirty="0"/>
              <a:t>项目协调</a:t>
            </a:r>
          </a:p>
        </p:txBody>
      </p:sp>
      <p:grpSp>
        <p:nvGrpSpPr>
          <p:cNvPr id="43" name="组合 42">
            <a:extLst>
              <a:ext uri="{FF2B5EF4-FFF2-40B4-BE49-F238E27FC236}">
                <a16:creationId xmlns:a16="http://schemas.microsoft.com/office/drawing/2014/main" id="{8B48E2A6-4327-D052-C7E8-EF739DAAD528}"/>
              </a:ext>
            </a:extLst>
          </p:cNvPr>
          <p:cNvGrpSpPr/>
          <p:nvPr/>
        </p:nvGrpSpPr>
        <p:grpSpPr>
          <a:xfrm>
            <a:off x="3200400" y="2691478"/>
            <a:ext cx="555601" cy="2402893"/>
            <a:chOff x="3200400" y="2691478"/>
            <a:chExt cx="555601" cy="2402893"/>
          </a:xfrm>
        </p:grpSpPr>
        <p:cxnSp>
          <p:nvCxnSpPr>
            <p:cNvPr id="23" name="连接符: 肘形 22">
              <a:extLst>
                <a:ext uri="{FF2B5EF4-FFF2-40B4-BE49-F238E27FC236}">
                  <a16:creationId xmlns:a16="http://schemas.microsoft.com/office/drawing/2014/main" id="{BE1FF242-7214-E7F5-BAA7-927BAB3A6814}"/>
                </a:ext>
              </a:extLst>
            </p:cNvPr>
            <p:cNvCxnSpPr>
              <a:cxnSpLocks/>
              <a:endCxn id="1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3A772101-E51C-A772-39A8-52DC88FC4ED2}"/>
                </a:ext>
              </a:extLst>
            </p:cNvPr>
            <p:cNvCxnSpPr>
              <a:stCxn id="1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BF0B2BC3-39C5-7153-7450-F41CD1C21DAB}"/>
                </a:ext>
              </a:extLst>
            </p:cNvPr>
            <p:cNvCxnSpPr>
              <a:stCxn id="1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连接符: 肘形 40">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DBE3CC5E-9FF8-EFAF-FC20-566A1F572265}"/>
              </a:ext>
            </a:extLst>
          </p:cNvPr>
          <p:cNvGrpSpPr/>
          <p:nvPr/>
        </p:nvGrpSpPr>
        <p:grpSpPr>
          <a:xfrm>
            <a:off x="5540397" y="2691478"/>
            <a:ext cx="555601" cy="2402893"/>
            <a:chOff x="3200400" y="2691478"/>
            <a:chExt cx="555601" cy="2402893"/>
          </a:xfrm>
        </p:grpSpPr>
        <p:cxnSp>
          <p:nvCxnSpPr>
            <p:cNvPr id="45" name="连接符: 肘形 44">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连接符: 肘形 47">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50" name="连接符: 肘形 49">
            <a:extLst>
              <a:ext uri="{FF2B5EF4-FFF2-40B4-BE49-F238E27FC236}">
                <a16:creationId xmlns:a16="http://schemas.microsoft.com/office/drawing/2014/main" id="{0509027E-9BCB-0F30-6369-4D6C2A3FBA8F}"/>
              </a:ext>
            </a:extLst>
          </p:cNvPr>
          <p:cNvCxnSpPr>
            <a:cxnSpLocks/>
          </p:cNvCxnSpPr>
          <p:nvPr/>
        </p:nvCxnSpPr>
        <p:spPr>
          <a:xfrm rot="16200000" flipH="1">
            <a:off x="6768953" y="3802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E432753D-9F7E-53E0-14AA-856A96081B20}"/>
              </a:ext>
            </a:extLst>
          </p:cNvPr>
          <p:cNvCxnSpPr/>
          <p:nvPr/>
        </p:nvCxnSpPr>
        <p:spPr>
          <a:xfrm rot="10800000">
            <a:off x="7880399"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5A280BF-CE01-CB9D-61AD-8558118FBC01}"/>
              </a:ext>
            </a:extLst>
          </p:cNvPr>
          <p:cNvCxnSpPr/>
          <p:nvPr/>
        </p:nvCxnSpPr>
        <p:spPr>
          <a:xfrm rot="10800000">
            <a:off x="7880403"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CA7048B6-B650-7734-30F1-96D582660BF4}"/>
              </a:ext>
            </a:extLst>
          </p:cNvPr>
          <p:cNvCxnSpPr>
            <a:cxnSpLocks/>
          </p:cNvCxnSpPr>
          <p:nvPr/>
        </p:nvCxnSpPr>
        <p:spPr>
          <a:xfrm rot="10800000">
            <a:off x="7880401"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6375921" cy="429413"/>
          </a:xfrm>
        </p:spPr>
        <p:txBody>
          <a:bodyPr>
            <a:normAutofit/>
          </a:bodyPr>
          <a:lstStyle/>
          <a:p>
            <a:r>
              <a:rPr lang="zh-CN" altLang="en-US" dirty="0"/>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3786013843"/>
              </p:ext>
            </p:extLst>
          </p:nvPr>
        </p:nvGraphicFramePr>
        <p:xfrm>
          <a:off x="695325" y="8636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a:solidFill>
                            <a:schemeClr val="tx1"/>
                          </a:solidFill>
                        </a:rPr>
                        <a:t>人员</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
        <p:nvSpPr>
          <p:cNvPr id="7" name="文本占位符 6">
            <a:extLst>
              <a:ext uri="{FF2B5EF4-FFF2-40B4-BE49-F238E27FC236}">
                <a16:creationId xmlns:a16="http://schemas.microsoft.com/office/drawing/2014/main" id="{1D537230-714B-2361-0AA2-371D5FDABB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6375921" cy="429413"/>
          </a:xfrm>
        </p:spPr>
        <p:txBody>
          <a:bodyPr>
            <a:normAutofit/>
          </a:bodyPr>
          <a:lstStyle/>
          <a:p>
            <a:r>
              <a:rPr lang="zh-CN" altLang="en-US"/>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3632111278"/>
              </p:ext>
            </p:extLst>
          </p:nvPr>
        </p:nvGraphicFramePr>
        <p:xfrm>
          <a:off x="695325" y="863600"/>
          <a:ext cx="10801350" cy="201168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5" name="文本占位符 4">
            <a:extLst>
              <a:ext uri="{FF2B5EF4-FFF2-40B4-BE49-F238E27FC236}">
                <a16:creationId xmlns:a16="http://schemas.microsoft.com/office/drawing/2014/main" id="{674FACED-28F6-F8E7-AF00-422A85B8378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6375921" cy="429413"/>
          </a:xfrm>
        </p:spPr>
        <p:txBody>
          <a:bodyPr>
            <a:normAutofit/>
          </a:bodyPr>
          <a:lstStyle/>
          <a:p>
            <a:r>
              <a:rPr lang="zh-CN" altLang="en-US"/>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1141621603"/>
              </p:ext>
            </p:extLst>
          </p:nvPr>
        </p:nvGraphicFramePr>
        <p:xfrm>
          <a:off x="695325" y="863600"/>
          <a:ext cx="10801350" cy="201168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sz="1600" dirty="0">
                          <a:solidFill>
                            <a:schemeClr val="bg1"/>
                          </a:solidFill>
                        </a:rPr>
                        <a:t>层次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名称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典型表现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201168794"/>
                  </a:ext>
                </a:extLst>
              </a:tr>
              <a:tr h="0">
                <a:tc>
                  <a:txBody>
                    <a:bodyPr/>
                    <a:lstStyle/>
                    <a:p>
                      <a:pPr>
                        <a:buNone/>
                      </a:pPr>
                      <a:r>
                        <a:rPr lang="en-US" altLang="zh-CN" sz="1600"/>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生理需求（</a:t>
                      </a:r>
                      <a:r>
                        <a:rPr lang="en-US" altLang="zh-CN" sz="1600" dirty="0"/>
                        <a:t>Physiological</a:t>
                      </a:r>
                      <a:r>
                        <a:rPr lang="en-US" sz="16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饮食、睡眠、休息等基本生存需求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90555722"/>
                  </a:ext>
                </a:extLst>
              </a:tr>
              <a:tr h="0">
                <a:tc>
                  <a:txBody>
                    <a:bodyPr/>
                    <a:lstStyle/>
                    <a:p>
                      <a:pPr>
                        <a:buNone/>
                      </a:pPr>
                      <a:r>
                        <a:rPr lang="en-US" altLang="zh-CN" sz="1600"/>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安全需求（</a:t>
                      </a:r>
                      <a:r>
                        <a:rPr lang="en-US" altLang="zh-CN" sz="1600"/>
                        <a:t>Safety</a:t>
                      </a:r>
                      <a:r>
                        <a:rPr lang="en-US" sz="160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工作稳定、健康保障、职业安全等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1442999"/>
                  </a:ext>
                </a:extLst>
              </a:tr>
              <a:tr h="0">
                <a:tc>
                  <a:txBody>
                    <a:bodyPr/>
                    <a:lstStyle/>
                    <a:p>
                      <a:pPr>
                        <a:buNone/>
                      </a:pPr>
                      <a:r>
                        <a:rPr lang="en-US" altLang="zh-CN" sz="1600"/>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社会交往需求（</a:t>
                      </a:r>
                      <a:r>
                        <a:rPr lang="en-US" sz="1600"/>
                        <a:t>Love/Belonging）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友谊、爱情、团队归属、被接纳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03633182"/>
                  </a:ext>
                </a:extLst>
              </a:tr>
              <a:tr h="0">
                <a:tc>
                  <a:txBody>
                    <a:bodyPr/>
                    <a:lstStyle/>
                    <a:p>
                      <a:pPr>
                        <a:buNone/>
                      </a:pPr>
                      <a:r>
                        <a:rPr lang="en-US" altLang="zh-CN" sz="1600"/>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自尊需求（</a:t>
                      </a:r>
                      <a:r>
                        <a:rPr lang="en-US" sz="1600" dirty="0"/>
                        <a:t>Esteem）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获得尊重、认可、成就感、地位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7657656"/>
                  </a:ext>
                </a:extLst>
              </a:tr>
              <a:tr h="0">
                <a:tc>
                  <a:txBody>
                    <a:bodyPr/>
                    <a:lstStyle/>
                    <a:p>
                      <a:pPr>
                        <a:buNone/>
                      </a:pPr>
                      <a:r>
                        <a:rPr lang="en-US" altLang="zh-CN" sz="1600"/>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自我实现（</a:t>
                      </a:r>
                      <a:r>
                        <a:rPr lang="en-US" sz="1600"/>
                        <a:t>Self-actualization）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实现潜能、追求理想、创造性发挥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90960172"/>
                  </a:ext>
                </a:extLst>
              </a:tr>
            </a:tbl>
          </a:graphicData>
        </a:graphic>
      </p:graphicFrame>
      <p:sp>
        <p:nvSpPr>
          <p:cNvPr id="4" name="文本占位符 3">
            <a:extLst>
              <a:ext uri="{FF2B5EF4-FFF2-40B4-BE49-F238E27FC236}">
                <a16:creationId xmlns:a16="http://schemas.microsoft.com/office/drawing/2014/main" id="{67CE476D-A8A8-EC44-5DF6-8E6078287E94}"/>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1602973102"/>
              </p:ext>
            </p:extLst>
          </p:nvPr>
        </p:nvGraphicFramePr>
        <p:xfrm>
          <a:off x="3883958" y="3311750"/>
          <a:ext cx="4328775" cy="28858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6375921" cy="429413"/>
          </a:xfrm>
        </p:spPr>
        <p:txBody>
          <a:bodyPr>
            <a:normAutofit/>
          </a:bodyPr>
          <a:lstStyle/>
          <a:p>
            <a:r>
              <a:rPr lang="zh-CN" altLang="en-US"/>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864000"/>
            <a:ext cx="10800000" cy="5400000"/>
          </a:xfrm>
        </p:spPr>
        <p:txBody>
          <a:bodyPr>
            <a:normAutofit fontScale="92500" lnSpcReduction="10000"/>
          </a:bodyPr>
          <a:lstStyle/>
          <a:p>
            <a:r>
              <a:rPr lang="zh-CN" altLang="en-US" dirty="0"/>
              <a:t>由美国心理学家弗雷德里克</a:t>
            </a:r>
            <a:r>
              <a:rPr lang="en-US" altLang="zh-CN" dirty="0"/>
              <a:t>·</a:t>
            </a:r>
            <a:r>
              <a:rPr lang="zh-CN" altLang="en-US" dirty="0"/>
              <a:t>赫茨伯格（</a:t>
            </a:r>
            <a:r>
              <a:rPr lang="en-US" altLang="zh-CN" dirty="0"/>
              <a:t>Frederick Herzberg</a:t>
            </a:r>
            <a:r>
              <a:rPr lang="zh-CN" altLang="en-US" dirty="0"/>
              <a:t>）于</a:t>
            </a:r>
            <a:r>
              <a:rPr lang="en-US" altLang="zh-CN" dirty="0"/>
              <a:t>20</a:t>
            </a:r>
            <a:r>
              <a:rPr lang="zh-CN" altLang="en-US" dirty="0"/>
              <a:t>世纪</a:t>
            </a:r>
            <a:r>
              <a:rPr lang="en-US" altLang="zh-CN" dirty="0"/>
              <a:t>50</a:t>
            </a:r>
            <a:r>
              <a:rPr lang="zh-CN" altLang="en-US" dirty="0"/>
              <a:t>年代末提出的一种关于工作动机和员工满意度的重要理论</a:t>
            </a:r>
            <a:endParaRPr lang="en-US" altLang="zh-CN" dirty="0"/>
          </a:p>
          <a:p>
            <a:r>
              <a:rPr lang="zh-CN" altLang="en-US" dirty="0"/>
              <a:t>激励因素 </a:t>
            </a:r>
            <a:r>
              <a:rPr lang="en-US" altLang="zh-CN" dirty="0"/>
              <a:t>Motivators</a:t>
            </a:r>
            <a:r>
              <a:rPr lang="zh-CN" altLang="en-US" dirty="0"/>
              <a:t> </a:t>
            </a:r>
            <a:r>
              <a:rPr lang="en-US" altLang="zh-CN" dirty="0"/>
              <a:t>- </a:t>
            </a:r>
            <a:r>
              <a:rPr lang="zh-CN" altLang="en-US" dirty="0"/>
              <a:t>提升积极性</a:t>
            </a:r>
          </a:p>
          <a:p>
            <a:pPr lvl="1"/>
            <a:r>
              <a:rPr lang="zh-CN" altLang="en-US" dirty="0"/>
              <a:t>成就感（</a:t>
            </a:r>
            <a:r>
              <a:rPr lang="en-US" altLang="zh-CN" dirty="0"/>
              <a:t>Achievement</a:t>
            </a:r>
            <a:r>
              <a:rPr lang="zh-CN" altLang="en-US" dirty="0"/>
              <a:t>）</a:t>
            </a:r>
          </a:p>
          <a:p>
            <a:pPr lvl="1"/>
            <a:r>
              <a:rPr lang="zh-CN" altLang="en-US" dirty="0"/>
              <a:t>认可</a:t>
            </a:r>
            <a:r>
              <a:rPr lang="en-US" altLang="zh-CN" dirty="0"/>
              <a:t>/</a:t>
            </a:r>
            <a:r>
              <a:rPr lang="zh-CN" altLang="en-US" dirty="0"/>
              <a:t>赞赏（</a:t>
            </a:r>
            <a:r>
              <a:rPr lang="en-US" altLang="zh-CN" dirty="0"/>
              <a:t>Recognition</a:t>
            </a:r>
            <a:r>
              <a:rPr lang="zh-CN" altLang="en-US" dirty="0"/>
              <a:t>）</a:t>
            </a:r>
          </a:p>
          <a:p>
            <a:pPr lvl="1"/>
            <a:r>
              <a:rPr lang="zh-CN" altLang="en-US" dirty="0"/>
              <a:t>工作本身（</a:t>
            </a:r>
            <a:r>
              <a:rPr lang="en-US" altLang="zh-CN" dirty="0"/>
              <a:t>The work itself</a:t>
            </a:r>
            <a:r>
              <a:rPr lang="zh-CN" altLang="en-US" dirty="0"/>
              <a:t>）</a:t>
            </a:r>
          </a:p>
          <a:p>
            <a:pPr lvl="1"/>
            <a:r>
              <a:rPr lang="zh-CN" altLang="en-US" dirty="0"/>
              <a:t>责任感（</a:t>
            </a:r>
            <a:r>
              <a:rPr lang="en-US" altLang="zh-CN" dirty="0"/>
              <a:t>Responsibility</a:t>
            </a:r>
            <a:r>
              <a:rPr lang="zh-CN" altLang="en-US" dirty="0"/>
              <a:t>）</a:t>
            </a:r>
          </a:p>
          <a:p>
            <a:pPr lvl="1"/>
            <a:r>
              <a:rPr lang="zh-CN" altLang="en-US" dirty="0"/>
              <a:t>晋升机会（</a:t>
            </a:r>
            <a:r>
              <a:rPr lang="en-US" altLang="zh-CN" dirty="0"/>
              <a:t>Advancement</a:t>
            </a:r>
            <a:r>
              <a:rPr lang="zh-CN" altLang="en-US" dirty="0"/>
              <a:t>）</a:t>
            </a:r>
          </a:p>
          <a:p>
            <a:pPr lvl="1"/>
            <a:r>
              <a:rPr lang="zh-CN" altLang="en-US" dirty="0"/>
              <a:t>成长与发展（</a:t>
            </a:r>
            <a:r>
              <a:rPr lang="en-US" altLang="zh-CN" dirty="0"/>
              <a:t>Growth</a:t>
            </a:r>
            <a:r>
              <a:rPr lang="zh-CN" altLang="en-US" dirty="0"/>
              <a:t>）</a:t>
            </a:r>
            <a:endParaRPr lang="en-US" altLang="zh-CN" dirty="0"/>
          </a:p>
          <a:p>
            <a:r>
              <a:rPr lang="zh-CN" altLang="en-US" dirty="0"/>
              <a:t>保健因素 </a:t>
            </a:r>
            <a:r>
              <a:rPr lang="en-US" altLang="zh-CN" dirty="0"/>
              <a:t>Hygiene Factors</a:t>
            </a:r>
            <a:r>
              <a:rPr lang="zh-CN" altLang="en-US" dirty="0"/>
              <a:t> </a:t>
            </a:r>
            <a:r>
              <a:rPr lang="en-US" altLang="zh-CN" dirty="0"/>
              <a:t>-</a:t>
            </a:r>
            <a:r>
              <a:rPr lang="zh-CN" altLang="en-US" dirty="0"/>
              <a:t> 避免不满</a:t>
            </a:r>
          </a:p>
          <a:p>
            <a:pPr lvl="1"/>
            <a:r>
              <a:rPr lang="zh-CN" altLang="en-US" dirty="0"/>
              <a:t>公司政策与管理（</a:t>
            </a:r>
            <a:r>
              <a:rPr lang="en-US" altLang="zh-CN" dirty="0"/>
              <a:t>Company policy</a:t>
            </a:r>
            <a:r>
              <a:rPr lang="zh-CN" altLang="en-US" dirty="0"/>
              <a:t>）</a:t>
            </a:r>
          </a:p>
          <a:p>
            <a:pPr lvl="1"/>
            <a:r>
              <a:rPr lang="zh-CN" altLang="en-US" dirty="0"/>
              <a:t>监督方式（</a:t>
            </a:r>
            <a:r>
              <a:rPr lang="en-US" altLang="zh-CN" dirty="0"/>
              <a:t>Supervision</a:t>
            </a:r>
            <a:r>
              <a:rPr lang="zh-CN" altLang="en-US" dirty="0"/>
              <a:t>）</a:t>
            </a:r>
          </a:p>
          <a:p>
            <a:pPr lvl="1"/>
            <a:r>
              <a:rPr lang="zh-CN" altLang="en-US" dirty="0"/>
              <a:t>工作条件（</a:t>
            </a:r>
            <a:r>
              <a:rPr lang="en-US" altLang="zh-CN" dirty="0"/>
              <a:t>Working conditions</a:t>
            </a:r>
            <a:r>
              <a:rPr lang="zh-CN" altLang="en-US" dirty="0"/>
              <a:t>）</a:t>
            </a:r>
          </a:p>
          <a:p>
            <a:pPr lvl="1"/>
            <a:r>
              <a:rPr lang="zh-CN" altLang="en-US" dirty="0"/>
              <a:t>薪资待遇（</a:t>
            </a:r>
            <a:r>
              <a:rPr lang="en-US" altLang="zh-CN" dirty="0"/>
              <a:t>Salary</a:t>
            </a:r>
            <a:r>
              <a:rPr lang="zh-CN" altLang="en-US" dirty="0"/>
              <a:t>）</a:t>
            </a:r>
          </a:p>
          <a:p>
            <a:pPr lvl="1"/>
            <a:r>
              <a:rPr lang="zh-CN" altLang="en-US" dirty="0"/>
              <a:t>同事关系（</a:t>
            </a:r>
            <a:r>
              <a:rPr lang="en-US" altLang="zh-CN" dirty="0"/>
              <a:t>Interpersonal relations</a:t>
            </a:r>
            <a:r>
              <a:rPr lang="zh-CN" altLang="en-US" dirty="0"/>
              <a:t>）</a:t>
            </a:r>
          </a:p>
          <a:p>
            <a:pPr lvl="1"/>
            <a:r>
              <a:rPr lang="zh-CN" altLang="en-US" dirty="0"/>
              <a:t>地位（</a:t>
            </a:r>
            <a:r>
              <a:rPr lang="en-US" altLang="zh-CN" dirty="0"/>
              <a:t>Status</a:t>
            </a:r>
            <a:r>
              <a:rPr lang="zh-CN" altLang="en-US" dirty="0"/>
              <a:t>）</a:t>
            </a:r>
          </a:p>
          <a:p>
            <a:pPr lvl="1"/>
            <a:r>
              <a:rPr lang="zh-CN" altLang="en-US" dirty="0"/>
              <a:t>工作安全感（</a:t>
            </a:r>
            <a:r>
              <a:rPr lang="en-US" altLang="zh-CN" dirty="0"/>
              <a:t>Job security</a:t>
            </a:r>
            <a:r>
              <a:rPr lang="zh-CN" altLang="en-US" dirty="0"/>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a:xfrm>
            <a:off x="7071919" y="448519"/>
            <a:ext cx="4424080" cy="338554"/>
          </a:xfrm>
        </p:spPr>
        <p:txBody>
          <a:bodyPr/>
          <a:lstStyle/>
          <a:p>
            <a:r>
              <a:rPr lang="en-US" altLang="zh-CN"/>
              <a:t>Herzberg's Motivation-Hygiene Theory</a:t>
            </a:r>
          </a:p>
        </p:txBody>
      </p:sp>
    </p:spTree>
    <p:extLst>
      <p:ext uri="{BB962C8B-B14F-4D97-AF65-F5344CB8AC3E}">
        <p14:creationId xmlns:p14="http://schemas.microsoft.com/office/powerpoint/2010/main" val="2786837647"/>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normAutofit/>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干系人管理</a:t>
            </a:r>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864000"/>
            <a:ext cx="10800000" cy="5400000"/>
          </a:xfrm>
        </p:spPr>
        <p:txBody>
          <a:bodyPr/>
          <a:lstStyle/>
          <a:p>
            <a:r>
              <a:rPr lang="zh-CN" altLang="en-US"/>
              <a:t>典型流程：</a:t>
            </a:r>
          </a:p>
          <a:p>
            <a:pPr lvl="1"/>
            <a:r>
              <a:rPr lang="zh-CN" altLang="en-US"/>
              <a:t>识别干系人 </a:t>
            </a:r>
            <a:r>
              <a:rPr lang="en-US" altLang="zh-CN"/>
              <a:t>Identify Stakeholders</a:t>
            </a:r>
            <a:r>
              <a:rPr lang="zh-CN" altLang="en-US"/>
              <a:t> </a:t>
            </a:r>
            <a:r>
              <a:rPr lang="en-US" altLang="zh-CN"/>
              <a:t>-</a:t>
            </a:r>
            <a:r>
              <a:rPr lang="zh-CN" altLang="en-US"/>
              <a:t> 找出谁是干系人，并收集基本信息（如姓名、角色、部门）</a:t>
            </a:r>
          </a:p>
          <a:p>
            <a:pPr lvl="1"/>
            <a:r>
              <a:rPr lang="zh-CN" altLang="en-US"/>
              <a:t>评估干系人 </a:t>
            </a:r>
            <a:r>
              <a:rPr lang="en-US" altLang="zh-CN"/>
              <a:t>Analyze Stakeholders</a:t>
            </a:r>
            <a:r>
              <a:rPr lang="zh-CN" altLang="en-US"/>
              <a:t> </a:t>
            </a:r>
            <a:r>
              <a:rPr lang="en-US" altLang="zh-CN"/>
              <a:t>-</a:t>
            </a:r>
            <a:r>
              <a:rPr lang="zh-CN" altLang="en-US"/>
              <a:t> 分析他们的诉求、期望、影响力、权力等</a:t>
            </a:r>
          </a:p>
          <a:p>
            <a:pPr lvl="1"/>
            <a:r>
              <a:rPr lang="zh-CN" altLang="en-US"/>
              <a:t>对干系人分类 </a:t>
            </a:r>
            <a:r>
              <a:rPr lang="en-US" altLang="zh-CN"/>
              <a:t>Categorize Stakeholders</a:t>
            </a:r>
            <a:r>
              <a:rPr lang="zh-CN" altLang="en-US"/>
              <a:t> </a:t>
            </a:r>
            <a:r>
              <a:rPr lang="en-US" altLang="zh-CN"/>
              <a:t>-</a:t>
            </a:r>
            <a:r>
              <a:rPr lang="zh-CN" altLang="en-US"/>
              <a:t> 使用方格模型（如权利</a:t>
            </a:r>
            <a:r>
              <a:rPr lang="en-US" altLang="zh-CN"/>
              <a:t>/</a:t>
            </a:r>
            <a:r>
              <a:rPr lang="zh-CN" altLang="en-US"/>
              <a:t>利益方格）进行归类</a:t>
            </a:r>
          </a:p>
          <a:p>
            <a:pPr lvl="1"/>
            <a:r>
              <a:rPr lang="zh-CN" altLang="en-US"/>
              <a:t>制定干系人管理计划 </a:t>
            </a:r>
            <a:r>
              <a:rPr lang="en-US" altLang="zh-CN"/>
              <a:t>Develop Stakeholder Management Plan</a:t>
            </a:r>
            <a:r>
              <a:rPr lang="zh-CN" altLang="en-US"/>
              <a:t> </a:t>
            </a:r>
            <a:r>
              <a:rPr lang="en-US" altLang="zh-CN"/>
              <a:t>-</a:t>
            </a:r>
            <a:r>
              <a:rPr lang="zh-CN" altLang="en-US"/>
              <a:t> 根据分类结果，制定沟通策略、管理方式等</a:t>
            </a:r>
          </a:p>
          <a:p>
            <a:pPr lvl="1"/>
            <a:endParaRPr lang="zh-CN" altLang="en-US"/>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a:xfrm>
            <a:off x="7071919" y="448519"/>
            <a:ext cx="4424080" cy="338554"/>
          </a:xfrm>
        </p:spPr>
        <p:txBody>
          <a:bodyPr/>
          <a:lstStyle/>
          <a:p>
            <a:r>
              <a:rPr lang="en-US" altLang="zh-CN"/>
              <a:t>Stakeholders Mgt</a:t>
            </a:r>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1864168905"/>
              </p:ext>
            </p:extLst>
          </p:nvPr>
        </p:nvGraphicFramePr>
        <p:xfrm>
          <a:off x="695325" y="4363200"/>
          <a:ext cx="10800674" cy="16764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sz="1600" dirty="0">
                          <a:solidFill>
                            <a:schemeClr val="bg1"/>
                          </a:solidFill>
                        </a:rPr>
                        <a:t>输入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952262433"/>
                  </a:ext>
                </a:extLst>
              </a:tr>
              <a:tr h="0">
                <a:tc>
                  <a:txBody>
                    <a:bodyPr/>
                    <a:lstStyle/>
                    <a:p>
                      <a:pPr>
                        <a:buNone/>
                      </a:pPr>
                      <a:r>
                        <a:rPr lang="zh-CN" altLang="en-US" sz="1600"/>
                        <a:t>项目章程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包含高层级干系人信息，如发起人、客户等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99531260"/>
                  </a:ext>
                </a:extLst>
              </a:tr>
              <a:tr h="0">
                <a:tc>
                  <a:txBody>
                    <a:bodyPr/>
                    <a:lstStyle/>
                    <a:p>
                      <a:pPr>
                        <a:buNone/>
                      </a:pPr>
                      <a:r>
                        <a:rPr lang="zh-CN" altLang="en-US" sz="1600"/>
                        <a:t>采购文件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如合同、招标书，涉及供应商、承包商等外部干系人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49295670"/>
                  </a:ext>
                </a:extLst>
              </a:tr>
              <a:tr h="0">
                <a:tc>
                  <a:txBody>
                    <a:bodyPr/>
                    <a:lstStyle/>
                    <a:p>
                      <a:pPr>
                        <a:buNone/>
                      </a:pPr>
                      <a:r>
                        <a:rPr lang="zh-CN" altLang="en-US" sz="1600"/>
                        <a:t>干系人记录模板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组织内部使用的标准化表格，用于记录干系人信息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74221116"/>
                  </a:ext>
                </a:extLst>
              </a:tr>
              <a:tr h="0">
                <a:tc>
                  <a:txBody>
                    <a:bodyPr/>
                    <a:lstStyle/>
                    <a:p>
                      <a:pPr>
                        <a:buNone/>
                      </a:pPr>
                      <a:r>
                        <a:rPr lang="zh-CN" altLang="en-US" sz="1600"/>
                        <a:t>组织过程资产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包括以往项目的干系人清单、模板、经验教训等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凸显模型</a:t>
            </a:r>
          </a:p>
        </p:txBody>
      </p:sp>
      <p:sp>
        <p:nvSpPr>
          <p:cNvPr id="11" name="内容占位符 10">
            <a:extLst>
              <a:ext uri="{FF2B5EF4-FFF2-40B4-BE49-F238E27FC236}">
                <a16:creationId xmlns:a16="http://schemas.microsoft.com/office/drawing/2014/main" id="{5FCBD2F9-26DB-147E-6D5D-BE6690069D19}"/>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a:xfrm>
            <a:off x="7071919" y="448519"/>
            <a:ext cx="4424080" cy="338554"/>
          </a:xfrm>
        </p:spPr>
        <p:txBody>
          <a:bodyPr/>
          <a:lstStyle/>
          <a:p>
            <a:r>
              <a:rPr lang="en-US" altLang="zh-CN"/>
              <a:t>Salience Model</a:t>
            </a:r>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extLst>
              <p:ext uri="{D42A27DB-BD31-4B8C-83A1-F6EECF244321}">
                <p14:modId xmlns:p14="http://schemas.microsoft.com/office/powerpoint/2010/main" val="2386720302"/>
              </p:ext>
            </p:extLst>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dirty="0">
                          <a:solidFill>
                            <a:schemeClr val="bg1"/>
                          </a:solidFill>
                        </a:rPr>
                        <a:t>维度</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dirty="0"/>
                        <a:t>权力 </a:t>
                      </a:r>
                      <a:r>
                        <a:rPr lang="en-US" sz="1600" dirty="0"/>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是否有能力影响项目决策或资源分配？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a:t>合法性 </a:t>
                      </a:r>
                      <a:r>
                        <a:rPr lang="en-US" sz="1600"/>
                        <a:t>Legitimacy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其参与是否符合规则、道德或社会期望？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a:t>紧迫性 </a:t>
                      </a:r>
                      <a:r>
                        <a:rPr lang="en-US" sz="1600"/>
                        <a:t>Urgency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是否需要立即响应？是否有时间压力？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干系人</a:t>
            </a:r>
          </a:p>
        </p:txBody>
      </p:sp>
      <p:sp>
        <p:nvSpPr>
          <p:cNvPr id="11" name="内容占位符 10">
            <a:extLst>
              <a:ext uri="{FF2B5EF4-FFF2-40B4-BE49-F238E27FC236}">
                <a16:creationId xmlns:a16="http://schemas.microsoft.com/office/drawing/2014/main" id="{30811D1D-8F59-EFDB-585A-5F80D1102811}"/>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a:xfrm>
            <a:off x="7071919" y="448519"/>
            <a:ext cx="4424080" cy="338554"/>
          </a:xfrm>
        </p:spPr>
        <p:txBody>
          <a:bodyPr/>
          <a:lstStyle/>
          <a:p>
            <a:r>
              <a:rPr lang="en-US" altLang="zh-CN"/>
              <a:t>Stakeholders</a:t>
            </a:r>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extLst>
              <p:ext uri="{D42A27DB-BD31-4B8C-83A1-F6EECF244321}">
                <p14:modId xmlns:p14="http://schemas.microsoft.com/office/powerpoint/2010/main" val="1672971408"/>
              </p:ext>
            </p:extLst>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a:t>1</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Dormant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潜伏型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有权力但不主动，合法且非紧急。可暂时忽略，但需监控</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a:t>2</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Discretionary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随意型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无权力，但合法且紧急。例如：临时求助的同事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a:t>3</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Demanding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娇情型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有权、合法但不紧急。喜欢提要求，但不会立刻施压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a:t>4</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Dominant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权贵型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有权、合法、但不紧急。典型如高层领导、董事会成员</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a:t>5</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Dangerous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危险型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有权、不合法、但紧急。可能违法或破坏项目，需警惕</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a:t>6</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Dependent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从众型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无权、不合法、也不紧急。依赖他人支持，影响力小</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a:t>7</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Definitive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统治型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干系人 </a:t>
            </a:r>
            <a:r>
              <a:rPr lang="en-US" altLang="zh-CN" dirty="0"/>
              <a:t>Stakeholders</a:t>
            </a:r>
            <a:endParaRPr lang="zh-CN" altLang="en-US" dirty="0"/>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864000"/>
            <a:ext cx="10800000" cy="5400000"/>
          </a:xfrm>
        </p:spPr>
        <p:txBody>
          <a:bodyPr/>
          <a:lstStyle/>
          <a:p>
            <a:r>
              <a:rPr lang="zh-CN" altLang="en-US" dirty="0"/>
              <a:t>利益方格 </a:t>
            </a:r>
            <a:r>
              <a:rPr lang="en-US" altLang="zh-CN" dirty="0"/>
              <a:t>Power/Interest Grid</a:t>
            </a:r>
            <a:endParaRPr lang="zh-CN" altLang="en-US" dirty="0"/>
          </a:p>
        </p:txBody>
      </p:sp>
      <p:sp>
        <p:nvSpPr>
          <p:cNvPr id="19" name="文本占位符 18">
            <a:extLst>
              <a:ext uri="{FF2B5EF4-FFF2-40B4-BE49-F238E27FC236}">
                <a16:creationId xmlns:a16="http://schemas.microsoft.com/office/drawing/2014/main" id="{DA99450A-2EEF-4016-4102-D6B3DC53C6A3}"/>
              </a:ext>
            </a:extLst>
          </p:cNvPr>
          <p:cNvSpPr>
            <a:spLocks noGrp="1"/>
          </p:cNvSpPr>
          <p:nvPr>
            <p:ph type="body" sz="quarter" idx="10"/>
          </p:nvPr>
        </p:nvSpPr>
        <p:spPr/>
        <p:txBody>
          <a:bodyPr/>
          <a:lstStyle/>
          <a:p>
            <a:endParaRPr lang="zh-CN" altLang="en-US"/>
          </a:p>
        </p:txBody>
      </p:sp>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569539905"/>
              </p:ext>
            </p:extLst>
          </p:nvPr>
        </p:nvGraphicFramePr>
        <p:xfrm>
          <a:off x="695324" y="4587600"/>
          <a:ext cx="10800001" cy="16764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sz="1600" dirty="0">
                          <a:solidFill>
                            <a:schemeClr val="bg1"/>
                          </a:solidFill>
                        </a:rPr>
                        <a:t>权力 </a:t>
                      </a:r>
                      <a:r>
                        <a:rPr lang="en-US" sz="1600" dirty="0">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利益 </a:t>
                      </a:r>
                      <a:r>
                        <a:rPr lang="en-US" sz="1600" dirty="0">
                          <a:solidFill>
                            <a:schemeClr val="bg1"/>
                          </a:solidFill>
                        </a:rPr>
                        <a:t>Interest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管理策略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809978989"/>
                  </a:ext>
                </a:extLst>
              </a:tr>
              <a:tr h="0">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重点管理 </a:t>
                      </a:r>
                      <a:r>
                        <a:rPr lang="en-US" sz="1600"/>
                        <a:t>Manage closely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66278497"/>
                  </a:ext>
                </a:extLst>
              </a:tr>
              <a:tr h="0">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监督 </a:t>
                      </a:r>
                      <a:r>
                        <a:rPr lang="en-US" sz="1600"/>
                        <a:t>Keep satisfied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12310039"/>
                  </a:ext>
                </a:extLst>
              </a:tr>
              <a:tr h="0">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随时告知 </a:t>
                      </a:r>
                      <a:r>
                        <a:rPr lang="en-US" sz="1600"/>
                        <a:t>Keep informed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6962581"/>
                  </a:ext>
                </a:extLst>
              </a:tr>
              <a:tr h="0">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令其满意 </a:t>
                      </a:r>
                      <a:r>
                        <a:rPr lang="en-US" sz="1600" dirty="0"/>
                        <a:t>Minimal effort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85854794"/>
                  </a:ext>
                </a:extLst>
              </a:tr>
            </a:tbl>
          </a:graphicData>
        </a:graphic>
      </p:graphicFrame>
      <p:cxnSp>
        <p:nvCxnSpPr>
          <p:cNvPr id="4" name="直接箭头连接符 3">
            <a:extLst>
              <a:ext uri="{FF2B5EF4-FFF2-40B4-BE49-F238E27FC236}">
                <a16:creationId xmlns:a16="http://schemas.microsoft.com/office/drawing/2014/main" id="{39481349-8490-A2DA-9A1B-D2F70F0477CE}"/>
              </a:ext>
            </a:extLst>
          </p:cNvPr>
          <p:cNvCxnSpPr>
            <a:cxnSpLocks/>
          </p:cNvCxnSpPr>
          <p:nvPr/>
        </p:nvCxnSpPr>
        <p:spPr>
          <a:xfrm>
            <a:off x="4041971" y="3710400"/>
            <a:ext cx="43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6B1F59A-3C7E-C9AD-059D-C314BE1AEE4F}"/>
              </a:ext>
            </a:extLst>
          </p:cNvPr>
          <p:cNvCxnSpPr>
            <a:cxnSpLocks/>
          </p:cNvCxnSpPr>
          <p:nvPr/>
        </p:nvCxnSpPr>
        <p:spPr>
          <a:xfrm flipV="1">
            <a:off x="4248160" y="1720238"/>
            <a:ext cx="0" cy="216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69982F2B-0E5F-87F6-4ADC-F9913B4C4F54}"/>
              </a:ext>
            </a:extLst>
          </p:cNvPr>
          <p:cNvGraphicFramePr>
            <a:graphicFrameLocks noGrp="1"/>
          </p:cNvGraphicFramePr>
          <p:nvPr>
            <p:extLst>
              <p:ext uri="{D42A27DB-BD31-4B8C-83A1-F6EECF244321}">
                <p14:modId xmlns:p14="http://schemas.microsoft.com/office/powerpoint/2010/main" val="1338029397"/>
              </p:ext>
            </p:extLst>
          </p:nvPr>
        </p:nvGraphicFramePr>
        <p:xfrm>
          <a:off x="4248160" y="2270400"/>
          <a:ext cx="3600000" cy="144000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1578455872"/>
                    </a:ext>
                  </a:extLst>
                </a:gridCol>
                <a:gridCol w="1800000">
                  <a:extLst>
                    <a:ext uri="{9D8B030D-6E8A-4147-A177-3AD203B41FA5}">
                      <a16:colId xmlns:a16="http://schemas.microsoft.com/office/drawing/2014/main" val="1102437032"/>
                    </a:ext>
                  </a:extLst>
                </a:gridCol>
              </a:tblGrid>
              <a:tr h="720000">
                <a:tc>
                  <a:txBody>
                    <a:bodyPr/>
                    <a:lstStyle/>
                    <a:p>
                      <a:pPr algn="ctr"/>
                      <a:r>
                        <a:rPr lang="zh-CN" altLang="en-US" sz="1400" b="0" dirty="0">
                          <a:solidFill>
                            <a:schemeClr val="tx1"/>
                          </a:solidFill>
                        </a:rPr>
                        <a:t>令其满意</a:t>
                      </a:r>
                      <a:r>
                        <a:rPr lang="en-US" altLang="zh-CN" sz="1400" b="0" dirty="0">
                          <a:solidFill>
                            <a:schemeClr val="tx1"/>
                          </a:solidFill>
                        </a:rPr>
                        <a:t>A</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zh-CN" altLang="en-US" sz="1400" b="0" dirty="0">
                          <a:solidFill>
                            <a:schemeClr val="tx1"/>
                          </a:solidFill>
                        </a:rPr>
                        <a:t>重点管理</a:t>
                      </a:r>
                      <a:r>
                        <a:rPr lang="en-US" altLang="zh-CN" sz="1400" b="0" dirty="0">
                          <a:solidFill>
                            <a:schemeClr val="tx1"/>
                          </a:solidFill>
                        </a:rPr>
                        <a:t>B</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739899098"/>
                  </a:ext>
                </a:extLst>
              </a:tr>
              <a:tr h="720000">
                <a:tc>
                  <a:txBody>
                    <a:bodyPr/>
                    <a:lstStyle/>
                    <a:p>
                      <a:pPr algn="ctr"/>
                      <a:r>
                        <a:rPr lang="zh-CN" altLang="en-US" sz="1400" b="0" dirty="0">
                          <a:solidFill>
                            <a:schemeClr val="tx1"/>
                          </a:solidFill>
                        </a:rPr>
                        <a:t>监督</a:t>
                      </a:r>
                      <a:r>
                        <a:rPr lang="en-US" altLang="zh-CN" sz="1400" b="0" dirty="0">
                          <a:solidFill>
                            <a:schemeClr val="tx1"/>
                          </a:solidFill>
                        </a:rPr>
                        <a:t>D</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zh-CN" altLang="en-US" sz="1400" b="0" dirty="0">
                          <a:solidFill>
                            <a:schemeClr val="tx1"/>
                          </a:solidFill>
                        </a:rPr>
                        <a:t>随时告知</a:t>
                      </a:r>
                      <a:r>
                        <a:rPr lang="en-US" altLang="zh-CN" sz="1400" b="0" dirty="0">
                          <a:solidFill>
                            <a:schemeClr val="tx1"/>
                          </a:solidFill>
                        </a:rPr>
                        <a:t>C</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AFD0A5D4-E26D-9533-1E70-C0D8A9F2771B}"/>
              </a:ext>
            </a:extLst>
          </p:cNvPr>
          <p:cNvSpPr txBox="1"/>
          <p:nvPr/>
        </p:nvSpPr>
        <p:spPr>
          <a:xfrm>
            <a:off x="3914736" y="1720238"/>
            <a:ext cx="338554" cy="276999"/>
          </a:xfrm>
          <a:prstGeom prst="rect">
            <a:avLst/>
          </a:prstGeom>
          <a:noFill/>
        </p:spPr>
        <p:txBody>
          <a:bodyPr wrap="none" rtlCol="0">
            <a:spAutoFit/>
          </a:bodyPr>
          <a:lstStyle/>
          <a:p>
            <a:pPr algn="ctr"/>
            <a:r>
              <a:rPr lang="zh-CN" altLang="en-US" sz="1200" dirty="0"/>
              <a:t>高</a:t>
            </a:r>
          </a:p>
        </p:txBody>
      </p:sp>
      <p:sp>
        <p:nvSpPr>
          <p:cNvPr id="11" name="文本框 10">
            <a:extLst>
              <a:ext uri="{FF2B5EF4-FFF2-40B4-BE49-F238E27FC236}">
                <a16:creationId xmlns:a16="http://schemas.microsoft.com/office/drawing/2014/main" id="{92E240DC-FDBE-046A-A240-D2BCC102079A}"/>
              </a:ext>
            </a:extLst>
          </p:cNvPr>
          <p:cNvSpPr txBox="1"/>
          <p:nvPr/>
        </p:nvSpPr>
        <p:spPr>
          <a:xfrm>
            <a:off x="3914736" y="3473365"/>
            <a:ext cx="338554" cy="276999"/>
          </a:xfrm>
          <a:prstGeom prst="rect">
            <a:avLst/>
          </a:prstGeom>
          <a:noFill/>
        </p:spPr>
        <p:txBody>
          <a:bodyPr wrap="none" rtlCol="0">
            <a:spAutoFit/>
          </a:bodyPr>
          <a:lstStyle/>
          <a:p>
            <a:pPr algn="ctr"/>
            <a:r>
              <a:rPr lang="zh-CN" altLang="en-US" sz="1200" dirty="0"/>
              <a:t>低</a:t>
            </a:r>
          </a:p>
        </p:txBody>
      </p:sp>
      <p:sp>
        <p:nvSpPr>
          <p:cNvPr id="12" name="文本框 11">
            <a:extLst>
              <a:ext uri="{FF2B5EF4-FFF2-40B4-BE49-F238E27FC236}">
                <a16:creationId xmlns:a16="http://schemas.microsoft.com/office/drawing/2014/main" id="{98EE3C10-94B9-DD91-6E5B-FFF429A82092}"/>
              </a:ext>
            </a:extLst>
          </p:cNvPr>
          <p:cNvSpPr txBox="1"/>
          <p:nvPr/>
        </p:nvSpPr>
        <p:spPr>
          <a:xfrm>
            <a:off x="7860984" y="3702162"/>
            <a:ext cx="338554" cy="276999"/>
          </a:xfrm>
          <a:prstGeom prst="rect">
            <a:avLst/>
          </a:prstGeom>
          <a:noFill/>
        </p:spPr>
        <p:txBody>
          <a:bodyPr wrap="none" rtlCol="0">
            <a:spAutoFit/>
          </a:bodyPr>
          <a:lstStyle/>
          <a:p>
            <a:pPr algn="ctr"/>
            <a:r>
              <a:rPr lang="zh-CN" altLang="en-US" sz="1200" dirty="0"/>
              <a:t>高</a:t>
            </a:r>
          </a:p>
        </p:txBody>
      </p:sp>
      <p:sp>
        <p:nvSpPr>
          <p:cNvPr id="14" name="文本框 13">
            <a:extLst>
              <a:ext uri="{FF2B5EF4-FFF2-40B4-BE49-F238E27FC236}">
                <a16:creationId xmlns:a16="http://schemas.microsoft.com/office/drawing/2014/main" id="{45452086-07FE-56F4-786A-68F2646AEAE6}"/>
              </a:ext>
            </a:extLst>
          </p:cNvPr>
          <p:cNvSpPr txBox="1"/>
          <p:nvPr/>
        </p:nvSpPr>
        <p:spPr>
          <a:xfrm>
            <a:off x="4260984" y="3702162"/>
            <a:ext cx="338554" cy="276999"/>
          </a:xfrm>
          <a:prstGeom prst="rect">
            <a:avLst/>
          </a:prstGeom>
          <a:noFill/>
        </p:spPr>
        <p:txBody>
          <a:bodyPr wrap="none" rtlCol="0">
            <a:spAutoFit/>
          </a:bodyPr>
          <a:lstStyle/>
          <a:p>
            <a:pPr algn="ctr"/>
            <a:r>
              <a:rPr lang="zh-CN" altLang="en-US" sz="1200" dirty="0"/>
              <a:t>低</a:t>
            </a:r>
          </a:p>
        </p:txBody>
      </p:sp>
      <p:sp>
        <p:nvSpPr>
          <p:cNvPr id="15" name="文本框 14">
            <a:extLst>
              <a:ext uri="{FF2B5EF4-FFF2-40B4-BE49-F238E27FC236}">
                <a16:creationId xmlns:a16="http://schemas.microsoft.com/office/drawing/2014/main" id="{B669A458-7B96-1CF4-A4E6-1F842BA5CCF6}"/>
              </a:ext>
            </a:extLst>
          </p:cNvPr>
          <p:cNvSpPr txBox="1"/>
          <p:nvPr/>
        </p:nvSpPr>
        <p:spPr>
          <a:xfrm>
            <a:off x="3914736" y="2550635"/>
            <a:ext cx="369332" cy="400110"/>
          </a:xfrm>
          <a:prstGeom prst="rect">
            <a:avLst/>
          </a:prstGeom>
          <a:noFill/>
        </p:spPr>
        <p:txBody>
          <a:bodyPr vert="eaVert" wrap="none" rtlCol="0">
            <a:spAutoFit/>
          </a:bodyPr>
          <a:lstStyle/>
          <a:p>
            <a:pPr algn="ctr"/>
            <a:r>
              <a:rPr lang="zh-CN" altLang="en-US" sz="1200" dirty="0"/>
              <a:t>权力</a:t>
            </a:r>
          </a:p>
        </p:txBody>
      </p:sp>
      <p:sp>
        <p:nvSpPr>
          <p:cNvPr id="16" name="文本框 15">
            <a:extLst>
              <a:ext uri="{FF2B5EF4-FFF2-40B4-BE49-F238E27FC236}">
                <a16:creationId xmlns:a16="http://schemas.microsoft.com/office/drawing/2014/main" id="{CF8D1BFE-5F26-CDA9-4C51-ACB3052E9776}"/>
              </a:ext>
            </a:extLst>
          </p:cNvPr>
          <p:cNvSpPr txBox="1"/>
          <p:nvPr/>
        </p:nvSpPr>
        <p:spPr>
          <a:xfrm>
            <a:off x="5984040" y="3702162"/>
            <a:ext cx="492443" cy="276999"/>
          </a:xfrm>
          <a:prstGeom prst="rect">
            <a:avLst/>
          </a:prstGeom>
          <a:noFill/>
        </p:spPr>
        <p:txBody>
          <a:bodyPr wrap="none" rtlCol="0">
            <a:spAutoFit/>
          </a:bodyPr>
          <a:lstStyle/>
          <a:p>
            <a:pPr algn="ctr"/>
            <a:r>
              <a:rPr lang="zh-CN" altLang="en-US" sz="1200" dirty="0"/>
              <a:t>利益</a:t>
            </a:r>
          </a:p>
        </p:txBody>
      </p:sp>
    </p:spTree>
    <p:extLst>
      <p:ext uri="{BB962C8B-B14F-4D97-AF65-F5344CB8AC3E}">
        <p14:creationId xmlns:p14="http://schemas.microsoft.com/office/powerpoint/2010/main" val="4076603631"/>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695998" y="360000"/>
            <a:ext cx="6375921" cy="429413"/>
          </a:xfrm>
        </p:spPr>
        <p:txBody>
          <a:bodyPr/>
          <a:lstStyle/>
          <a:p>
            <a:r>
              <a:rPr lang="en-US" altLang="zh-CN" dirty="0"/>
              <a:t>10.4 </a:t>
            </a:r>
            <a:r>
              <a:rPr lang="zh-CN" altLang="en-US" dirty="0"/>
              <a:t>沟通管理</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a:t>规划管理过程</a:t>
            </a:r>
            <a:endParaRPr lang="en-US" altLang="zh-CN"/>
          </a:p>
          <a:p>
            <a:r>
              <a:rPr lang="zh-CN" altLang="en-US"/>
              <a:t>管理沟通</a:t>
            </a:r>
            <a:endParaRPr lang="en-US" altLang="zh-CN"/>
          </a:p>
          <a:p>
            <a:r>
              <a:rPr lang="zh-CN" altLang="en-US"/>
              <a:t>控制管理过程</a:t>
            </a:r>
            <a:endParaRPr lang="en-US" altLang="zh-CN"/>
          </a:p>
          <a:p>
            <a:pPr lvl="1"/>
            <a:r>
              <a:rPr lang="zh-CN" altLang="en-US"/>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3676273746"/>
              </p:ext>
            </p:extLst>
          </p:nvPr>
        </p:nvGraphicFramePr>
        <p:xfrm>
          <a:off x="695325" y="3540240"/>
          <a:ext cx="10801350" cy="1676400"/>
        </p:xfrm>
        <a:graphic>
          <a:graphicData uri="http://schemas.openxmlformats.org/drawingml/2006/table">
            <a:tbl>
              <a:tblPr/>
              <a:tblGrid>
                <a:gridCol w="2254063">
                  <a:extLst>
                    <a:ext uri="{9D8B030D-6E8A-4147-A177-3AD203B41FA5}">
                      <a16:colId xmlns:a16="http://schemas.microsoft.com/office/drawing/2014/main" val="4038116095"/>
                    </a:ext>
                  </a:extLst>
                </a:gridCol>
                <a:gridCol w="5405718">
                  <a:extLst>
                    <a:ext uri="{9D8B030D-6E8A-4147-A177-3AD203B41FA5}">
                      <a16:colId xmlns:a16="http://schemas.microsoft.com/office/drawing/2014/main" val="2845909379"/>
                    </a:ext>
                  </a:extLst>
                </a:gridCol>
                <a:gridCol w="3141569">
                  <a:extLst>
                    <a:ext uri="{9D8B030D-6E8A-4147-A177-3AD203B41FA5}">
                      <a16:colId xmlns:a16="http://schemas.microsoft.com/office/drawing/2014/main" val="2152632391"/>
                    </a:ext>
                  </a:extLst>
                </a:gridCol>
              </a:tblGrid>
              <a:tr h="0">
                <a:tc>
                  <a:txBody>
                    <a:bodyPr/>
                    <a:lstStyle/>
                    <a:p>
                      <a:pPr>
                        <a:buNone/>
                      </a:pPr>
                      <a:r>
                        <a:rPr lang="zh-CN" altLang="en-US" sz="1600" dirty="0">
                          <a:solidFill>
                            <a:schemeClr val="bg1"/>
                          </a:solidFill>
                        </a:rPr>
                        <a:t>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894886506"/>
                  </a:ext>
                </a:extLst>
              </a:tr>
              <a:tr h="0">
                <a:tc>
                  <a:txBody>
                    <a:bodyPr/>
                    <a:lstStyle/>
                    <a:p>
                      <a:pPr>
                        <a:buNone/>
                      </a:pPr>
                      <a:r>
                        <a:rPr lang="en-US" sz="1600" dirty="0"/>
                        <a:t>A. </a:t>
                      </a:r>
                      <a:r>
                        <a:rPr lang="zh-CN" altLang="en-US" sz="1600" dirty="0"/>
                        <a:t>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通过组织结构、书面文件、会议等正规渠道进行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规范、有记录、可控性强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95844813"/>
                  </a:ext>
                </a:extLst>
              </a:tr>
              <a:tr h="0">
                <a:tc>
                  <a:txBody>
                    <a:bodyPr/>
                    <a:lstStyle/>
                    <a:p>
                      <a:pPr>
                        <a:buNone/>
                      </a:pPr>
                      <a:r>
                        <a:rPr lang="en-US" sz="1600"/>
                        <a:t>B. </a:t>
                      </a:r>
                      <a:r>
                        <a:rPr lang="zh-CN" altLang="en-US" sz="1600"/>
                        <a:t>非正式沟通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口头交流、闲聊、社交互动等非官方形式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灵活、快速、但可能失真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65573547"/>
                  </a:ext>
                </a:extLst>
              </a:tr>
              <a:tr h="0">
                <a:tc>
                  <a:txBody>
                    <a:bodyPr/>
                    <a:lstStyle/>
                    <a:p>
                      <a:pPr>
                        <a:buNone/>
                      </a:pPr>
                      <a:r>
                        <a:rPr lang="en-US" sz="1600"/>
                        <a:t>C. </a:t>
                      </a:r>
                      <a:r>
                        <a:rPr lang="zh-CN" altLang="en-US" sz="1600"/>
                        <a:t>垂直沟通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上下级之间的沟通（如项目经理与下属）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权责明确，流程清晰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7305166"/>
                  </a:ext>
                </a:extLst>
              </a:tr>
              <a:tr h="0">
                <a:tc>
                  <a:txBody>
                    <a:bodyPr/>
                    <a:lstStyle/>
                    <a:p>
                      <a:pPr>
                        <a:buNone/>
                      </a:pPr>
                      <a:r>
                        <a:rPr lang="en-US" sz="1600"/>
                        <a:t>D. </a:t>
                      </a:r>
                      <a:r>
                        <a:rPr lang="zh-CN" altLang="en-US" sz="1600"/>
                        <a:t>水平沟通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同级之间或跨部门之间的沟通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协调难度大，易受多方影响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695998" y="360000"/>
            <a:ext cx="6375921" cy="429413"/>
          </a:xfrm>
        </p:spPr>
        <p:txBody>
          <a:bodyPr/>
          <a:lstStyle/>
          <a:p>
            <a:r>
              <a:rPr lang="zh-CN" altLang="en-US"/>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864000"/>
            <a:ext cx="10800000" cy="5400000"/>
          </a:xfrm>
        </p:spPr>
        <p:txBody>
          <a:bodyPr/>
          <a:lstStyle/>
          <a:p>
            <a:r>
              <a:rPr lang="zh-CN" altLang="zh-CN"/>
              <a:t>风险是对潜在的、未来可能发生损害的一种度量</a:t>
            </a:r>
            <a:endParaRPr lang="en-US" altLang="zh-CN"/>
          </a:p>
          <a:p>
            <a:r>
              <a:rPr lang="zh-CN" altLang="zh-CN"/>
              <a:t>软件风险对软件开发过程及软件产品本身可能造成的伤害或损失。</a:t>
            </a:r>
            <a:endParaRPr lang="zh-CN" altLang="en-US"/>
          </a:p>
          <a:p>
            <a:endParaRPr lang="zh-CN" altLang="en-US"/>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Tree>
    <p:extLst>
      <p:ext uri="{BB962C8B-B14F-4D97-AF65-F5344CB8AC3E}">
        <p14:creationId xmlns:p14="http://schemas.microsoft.com/office/powerpoint/2010/main" val="2873615642"/>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6" name="文本占位符 5">
            <a:extLst>
              <a:ext uri="{FF2B5EF4-FFF2-40B4-BE49-F238E27FC236}">
                <a16:creationId xmlns:a16="http://schemas.microsoft.com/office/drawing/2014/main" id="{C9F4455D-53A4-CEA3-06E2-521FF7D9389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6375921" cy="429413"/>
          </a:xfrm>
        </p:spPr>
        <p:txBody>
          <a:bodyPr>
            <a:normAutofit/>
          </a:bodyPr>
          <a:lstStyle/>
          <a:p>
            <a:r>
              <a:rPr lang="zh-CN" altLang="en-US"/>
              <a:t>风险类型</a:t>
            </a:r>
          </a:p>
        </p:txBody>
      </p:sp>
      <p:sp>
        <p:nvSpPr>
          <p:cNvPr id="6" name="内容占位符 5">
            <a:extLst>
              <a:ext uri="{FF2B5EF4-FFF2-40B4-BE49-F238E27FC236}">
                <a16:creationId xmlns:a16="http://schemas.microsoft.com/office/drawing/2014/main" id="{E5F36971-7BA2-7CA3-5197-772B9249EF85}"/>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已知风险 </a:t>
            </a:r>
            <a:r>
              <a:rPr lang="en-US" altLang="zh-CN">
                <a:solidFill>
                  <a:schemeClr val="tx1"/>
                </a:solidFill>
              </a:rPr>
              <a:t>Known known</a:t>
            </a:r>
          </a:p>
          <a:p>
            <a:r>
              <a:rPr lang="zh-CN" altLang="en-US">
                <a:solidFill>
                  <a:schemeClr val="tx1"/>
                </a:solidFill>
              </a:rPr>
              <a:t>可预测风险 </a:t>
            </a:r>
            <a:r>
              <a:rPr lang="en-US" altLang="zh-CN">
                <a:solidFill>
                  <a:schemeClr val="tx1"/>
                </a:solidFill>
              </a:rPr>
              <a:t>Known unknown </a:t>
            </a:r>
          </a:p>
          <a:p>
            <a:r>
              <a:rPr lang="zh-CN" altLang="en-US">
                <a:solidFill>
                  <a:schemeClr val="tx1"/>
                </a:solidFill>
              </a:rPr>
              <a:t>不可预测风险 </a:t>
            </a:r>
            <a:r>
              <a:rPr lang="en-US" altLang="zh-CN">
                <a:solidFill>
                  <a:schemeClr val="tx1"/>
                </a:solidFill>
              </a:rPr>
              <a:t>unknown unknown</a:t>
            </a:r>
            <a:endParaRPr lang="zh-CN" altLang="en-US">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a:t>范围角度</a:t>
            </a:r>
          </a:p>
        </p:txBody>
      </p:sp>
    </p:spTree>
    <p:extLst>
      <p:ext uri="{BB962C8B-B14F-4D97-AF65-F5344CB8AC3E}">
        <p14:creationId xmlns:p14="http://schemas.microsoft.com/office/powerpoint/2010/main" val="3069181260"/>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a:xfrm>
            <a:off x="695998" y="360000"/>
            <a:ext cx="6375921" cy="429413"/>
          </a:xfrm>
        </p:spPr>
        <p:txBody>
          <a:bodyPr/>
          <a:lstStyle/>
          <a:p>
            <a:r>
              <a:rPr lang="zh-CN" altLang="en-US"/>
              <a:t>风险</a:t>
            </a:r>
            <a:r>
              <a:rPr lang="en-US" altLang="zh-CN"/>
              <a:t>3</a:t>
            </a:r>
            <a:r>
              <a:rPr lang="zh-CN" altLang="en-US"/>
              <a:t>个要素</a:t>
            </a:r>
          </a:p>
        </p:txBody>
      </p:sp>
      <p:sp>
        <p:nvSpPr>
          <p:cNvPr id="8" name="内容占位符 7">
            <a:extLst>
              <a:ext uri="{FF2B5EF4-FFF2-40B4-BE49-F238E27FC236}">
                <a16:creationId xmlns:a16="http://schemas.microsoft.com/office/drawing/2014/main" id="{699CF5DC-ED46-89DB-1D78-92990C95C2F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5998" y="360000"/>
            <a:ext cx="6375921" cy="429413"/>
          </a:xfrm>
        </p:spPr>
        <p:txBody>
          <a:bodyPr/>
          <a:lstStyle/>
          <a:p>
            <a:r>
              <a:rPr lang="zh-CN" altLang="en-US"/>
              <a:t>风险</a:t>
            </a:r>
            <a:r>
              <a:rPr lang="en-US" altLang="zh-CN"/>
              <a:t>4</a:t>
            </a:r>
            <a:r>
              <a:rPr lang="zh-CN" altLang="en-US"/>
              <a:t>个过程</a:t>
            </a:r>
          </a:p>
        </p:txBody>
      </p:sp>
      <p:sp>
        <p:nvSpPr>
          <p:cNvPr id="11" name="内容占位符 10">
            <a:extLst>
              <a:ext uri="{FF2B5EF4-FFF2-40B4-BE49-F238E27FC236}">
                <a16:creationId xmlns:a16="http://schemas.microsoft.com/office/drawing/2014/main" id="{BD0FC86F-14C4-1268-E080-D08CA43B4C4D}"/>
              </a:ext>
            </a:extLst>
          </p:cNvPr>
          <p:cNvSpPr>
            <a:spLocks noGrp="1"/>
          </p:cNvSpPr>
          <p:nvPr>
            <p:ph idx="1"/>
          </p:nvPr>
        </p:nvSpPr>
        <p:spPr/>
        <p:txBody>
          <a:bodyPr/>
          <a:lstStyle/>
          <a:p>
            <a:endParaRPr lang="zh-CN" altLang="en-US"/>
          </a:p>
        </p:txBody>
      </p:sp>
      <p:sp>
        <p:nvSpPr>
          <p:cNvPr id="13" name="文本占位符 12">
            <a:extLst>
              <a:ext uri="{FF2B5EF4-FFF2-40B4-BE49-F238E27FC236}">
                <a16:creationId xmlns:a16="http://schemas.microsoft.com/office/drawing/2014/main" id="{25040921-FD0B-4AFD-223C-3C58082D5EDA}"/>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432000"/>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432000"/>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432000"/>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432000"/>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517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518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519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695998"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3509121705"/>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Weaknesses（</a:t>
                      </a:r>
                      <a:r>
                        <a:rPr lang="zh-CN" altLang="en-US" sz="160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7" name="文本占位符 6">
            <a:extLst>
              <a:ext uri="{FF2B5EF4-FFF2-40B4-BE49-F238E27FC236}">
                <a16:creationId xmlns:a16="http://schemas.microsoft.com/office/drawing/2014/main" id="{71F2B2A5-F9E3-760D-FA6B-C348F24B63E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695998"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7" name="文本占位符 6">
            <a:extLst>
              <a:ext uri="{FF2B5EF4-FFF2-40B4-BE49-F238E27FC236}">
                <a16:creationId xmlns:a16="http://schemas.microsoft.com/office/drawing/2014/main" id="{29BEB318-1127-079C-B4BB-7EAF5E3013A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695998"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7" name="文本占位符 6">
            <a:extLst>
              <a:ext uri="{FF2B5EF4-FFF2-40B4-BE49-F238E27FC236}">
                <a16:creationId xmlns:a16="http://schemas.microsoft.com/office/drawing/2014/main" id="{B3103E6E-989B-8A55-A3CB-B44091D9DAB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7" name="文本占位符 6">
            <a:extLst>
              <a:ext uri="{FF2B5EF4-FFF2-40B4-BE49-F238E27FC236}">
                <a16:creationId xmlns:a16="http://schemas.microsoft.com/office/drawing/2014/main" id="{5E9BC3DE-F851-6F38-E885-A3B6683F3820}"/>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D50B9D-C555-7037-DA5D-9B0DFAE84301}"/>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5" name="文本占位符 4">
            <a:extLst>
              <a:ext uri="{FF2B5EF4-FFF2-40B4-BE49-F238E27FC236}">
                <a16:creationId xmlns:a16="http://schemas.microsoft.com/office/drawing/2014/main" id="{E9606405-4F2C-A1EF-E2F2-0D0DCFEDF6C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5998" y="360000"/>
            <a:ext cx="6375921" cy="429413"/>
          </a:xfrm>
        </p:spPr>
        <p:txBody>
          <a:bodyPr>
            <a:normAutofit/>
          </a:bodyPr>
          <a:lstStyle/>
          <a:p>
            <a:r>
              <a:rPr lang="zh-CN" altLang="en-US"/>
              <a:t>约束</a:t>
            </a:r>
          </a:p>
        </p:txBody>
      </p:sp>
      <p:sp>
        <p:nvSpPr>
          <p:cNvPr id="8" name="内容占位符 7">
            <a:extLst>
              <a:ext uri="{FF2B5EF4-FFF2-40B4-BE49-F238E27FC236}">
                <a16:creationId xmlns:a16="http://schemas.microsoft.com/office/drawing/2014/main" id="{4B0104DF-24E5-6DFC-DB47-D1535D174FB9}"/>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6" name="文本占位符 5">
            <a:extLst>
              <a:ext uri="{FF2B5EF4-FFF2-40B4-BE49-F238E27FC236}">
                <a16:creationId xmlns:a16="http://schemas.microsoft.com/office/drawing/2014/main" id="{36253503-D8F7-6D57-7DA3-3A8AE74CB32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6" name="文本占位符 5">
            <a:extLst>
              <a:ext uri="{FF2B5EF4-FFF2-40B4-BE49-F238E27FC236}">
                <a16:creationId xmlns:a16="http://schemas.microsoft.com/office/drawing/2014/main" id="{B1EDC7E2-75F7-5240-9406-FF668970F90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695998" y="360000"/>
            <a:ext cx="6375921" cy="429413"/>
          </a:xfrm>
        </p:spPr>
        <p:txBody>
          <a:bodyPr/>
          <a:lstStyle/>
          <a:p>
            <a:r>
              <a:rPr lang="zh-CN" altLang="en-US"/>
              <a:t>项目结束</a:t>
            </a:r>
          </a:p>
        </p:txBody>
      </p:sp>
      <p:sp>
        <p:nvSpPr>
          <p:cNvPr id="28" name="内容占位符 27">
            <a:extLst>
              <a:ext uri="{FF2B5EF4-FFF2-40B4-BE49-F238E27FC236}">
                <a16:creationId xmlns:a16="http://schemas.microsoft.com/office/drawing/2014/main" id="{3F538195-CB8D-C427-EFEE-5239428FA4B0}"/>
              </a:ext>
            </a:extLst>
          </p:cNvPr>
          <p:cNvSpPr>
            <a:spLocks noGrp="1"/>
          </p:cNvSpPr>
          <p:nvPr>
            <p:ph idx="1"/>
          </p:nvPr>
        </p:nvSpPr>
        <p:spPr/>
        <p:txBody>
          <a:bodyPr/>
          <a:lstStyle/>
          <a:p>
            <a:endParaRPr lang="zh-CN" altLang="en-US"/>
          </a:p>
        </p:txBody>
      </p:sp>
      <p:sp>
        <p:nvSpPr>
          <p:cNvPr id="29" name="文本占位符 28">
            <a:extLst>
              <a:ext uri="{FF2B5EF4-FFF2-40B4-BE49-F238E27FC236}">
                <a16:creationId xmlns:a16="http://schemas.microsoft.com/office/drawing/2014/main" id="{59A20F13-D5D2-94DE-920E-31C93E9BD532}"/>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695998"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6" name="文本占位符 5">
            <a:extLst>
              <a:ext uri="{FF2B5EF4-FFF2-40B4-BE49-F238E27FC236}">
                <a16:creationId xmlns:a16="http://schemas.microsoft.com/office/drawing/2014/main" id="{C17BB2DF-A5CD-50FB-FBA9-F7801238CBD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695998"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17" name="文本占位符 16">
            <a:extLst>
              <a:ext uri="{FF2B5EF4-FFF2-40B4-BE49-F238E27FC236}">
                <a16:creationId xmlns:a16="http://schemas.microsoft.com/office/drawing/2014/main" id="{615F2577-F17A-01B1-6C72-CE28C08CC1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695998"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10" name="文本占位符 9">
            <a:extLst>
              <a:ext uri="{FF2B5EF4-FFF2-40B4-BE49-F238E27FC236}">
                <a16:creationId xmlns:a16="http://schemas.microsoft.com/office/drawing/2014/main" id="{8EE67194-6B96-3015-FABB-950F180B82F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695998"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11" name="文本占位符 10">
            <a:extLst>
              <a:ext uri="{FF2B5EF4-FFF2-40B4-BE49-F238E27FC236}">
                <a16:creationId xmlns:a16="http://schemas.microsoft.com/office/drawing/2014/main" id="{6ECEED88-5AAD-FD38-4056-887FC292853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7" name="文本占位符 6">
            <a:extLst>
              <a:ext uri="{FF2B5EF4-FFF2-40B4-BE49-F238E27FC236}">
                <a16:creationId xmlns:a16="http://schemas.microsoft.com/office/drawing/2014/main" id="{B78BE216-E909-FBA3-C72B-FC25F1D453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32017</TotalTime>
  <Words>37819</Words>
  <Application>Microsoft Office PowerPoint</Application>
  <PresentationFormat>宽屏</PresentationFormat>
  <Paragraphs>6958</Paragraphs>
  <Slides>439</Slides>
  <Notes>186</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439</vt:i4>
      </vt:variant>
    </vt:vector>
  </HeadingPairs>
  <TitlesOfParts>
    <vt:vector size="448" baseType="lpstr">
      <vt:lpstr>Montserrat</vt:lpstr>
      <vt:lpstr>Roboto Mono</vt:lpstr>
      <vt:lpstr>Arial</vt:lpstr>
      <vt:lpstr>Wingdings</vt:lpstr>
      <vt:lpstr>Calibri</vt:lpstr>
      <vt:lpstr>等线</vt:lpstr>
      <vt:lpstr>幼圆</vt:lpstr>
      <vt:lpstr>Cambria Math</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PowerPoint 演示文稿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变化原因</vt:lpstr>
      <vt:lpstr>PowerPoint 演示文稿</vt:lpstr>
      <vt:lpstr>PowerPoint 演示文稿</vt:lpstr>
      <vt:lpstr>PowerPoint 演示文稿</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2.2 配置管理环境建立</vt:lpstr>
      <vt:lpstr>PowerPoint 演示文稿</vt:lpstr>
      <vt:lpstr>2.3 基线变更管理</vt:lpstr>
      <vt:lpstr>2.3 基线变更管理</vt:lpstr>
      <vt:lpstr>2.3 基线变更管理</vt:lpstr>
      <vt:lpstr>PowerPoint 演示文稿</vt:lpstr>
      <vt:lpstr>2.4 配置审计</vt:lpstr>
      <vt:lpstr>2.5 配置状态统计</vt:lpstr>
      <vt:lpstr>2.6 配置管理计划</vt:lpstr>
      <vt:lpstr>配置过程小结</vt:lpstr>
      <vt:lpstr>配置过程小结</vt:lpstr>
      <vt:lpstr>配置过程小结</vt:lpstr>
      <vt:lpstr>配置过程小结</vt:lpstr>
      <vt:lpstr>变更过程小结</vt:lpstr>
      <vt:lpstr>PowerPoint 演示文稿</vt:lpstr>
      <vt:lpstr>3. 敏捷项目的配置管理</vt:lpstr>
      <vt:lpstr>3.1 基于分支的开发</vt:lpstr>
      <vt:lpstr>3.2 基于主干的开发</vt:lpstr>
      <vt:lpstr>PowerPoint 演示文稿</vt:lpstr>
      <vt:lpstr>4. 配置管理工具及其应用实例</vt:lpstr>
      <vt:lpstr>软件项目团队计划</vt:lpstr>
      <vt:lpstr>PowerPoint 演示文稿</vt:lpstr>
      <vt:lpstr>团队发展四阶段</vt:lpstr>
      <vt:lpstr>10.1 组织结构</vt:lpstr>
      <vt:lpstr>人力资源管理</vt:lpstr>
      <vt:lpstr>10.1.1 职能型</vt:lpstr>
      <vt:lpstr>10.1.2 项目型</vt:lpstr>
      <vt:lpstr>10.1.3 矩阵型</vt:lpstr>
      <vt:lpstr>责任分配矩阵</vt:lpstr>
      <vt:lpstr>冲突解决</vt:lpstr>
      <vt:lpstr>马斯洛需要层次理论</vt:lpstr>
      <vt:lpstr>赫茨伯格双因素激励理论</vt:lpstr>
      <vt:lpstr>PowerPoint 演示文稿</vt:lpstr>
      <vt:lpstr>10.3 干系人管理</vt:lpstr>
      <vt:lpstr>10.3 凸显模型</vt:lpstr>
      <vt:lpstr>10.3 干系人</vt:lpstr>
      <vt:lpstr>10.3 干系人 Stakeholders</vt:lpstr>
      <vt:lpstr>10.4 沟通管理</vt:lpstr>
      <vt:lpstr>软件项目风险计划</vt:lpstr>
      <vt:lpstr>PowerPoint 演示文稿</vt:lpstr>
      <vt:lpstr>风险定义</vt:lpstr>
      <vt:lpstr>风险曝光度 Risk Exposure</vt:lpstr>
      <vt:lpstr>PowerPoint 演示文稿</vt:lpstr>
      <vt:lpstr>风险类型</vt:lpstr>
      <vt:lpstr>风险3个要素</vt:lpstr>
      <vt:lpstr>风险4个过程</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2961</cp:revision>
  <dcterms:created xsi:type="dcterms:W3CDTF">2026-01-24T11:12:04Z</dcterms:created>
  <dcterms:modified xsi:type="dcterms:W3CDTF">2026-05-10T13:44:36Z</dcterms:modified>
</cp:coreProperties>
</file>