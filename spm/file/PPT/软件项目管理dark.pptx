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32"/>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57" r:id="rId123"/>
    <p:sldId id="656" r:id="rId124"/>
    <p:sldId id="603" r:id="rId125"/>
    <p:sldId id="602" r:id="rId126"/>
    <p:sldId id="605" r:id="rId127"/>
    <p:sldId id="619" r:id="rId128"/>
    <p:sldId id="618" r:id="rId129"/>
    <p:sldId id="622" r:id="rId130"/>
    <p:sldId id="620" r:id="rId131"/>
    <p:sldId id="621" r:id="rId132"/>
    <p:sldId id="623" r:id="rId133"/>
    <p:sldId id="606" r:id="rId134"/>
    <p:sldId id="607" r:id="rId135"/>
    <p:sldId id="628" r:id="rId136"/>
    <p:sldId id="639" r:id="rId137"/>
    <p:sldId id="627" r:id="rId138"/>
    <p:sldId id="641" r:id="rId139"/>
    <p:sldId id="642" r:id="rId140"/>
    <p:sldId id="640" r:id="rId141"/>
    <p:sldId id="610" r:id="rId142"/>
    <p:sldId id="634" r:id="rId143"/>
    <p:sldId id="631" r:id="rId144"/>
    <p:sldId id="632" r:id="rId145"/>
    <p:sldId id="612" r:id="rId146"/>
    <p:sldId id="644" r:id="rId147"/>
    <p:sldId id="614" r:id="rId148"/>
    <p:sldId id="635" r:id="rId149"/>
    <p:sldId id="629" r:id="rId150"/>
    <p:sldId id="630" r:id="rId151"/>
    <p:sldId id="613" r:id="rId152"/>
    <p:sldId id="617" r:id="rId153"/>
    <p:sldId id="633" r:id="rId154"/>
    <p:sldId id="615" r:id="rId155"/>
    <p:sldId id="616" r:id="rId156"/>
    <p:sldId id="638" r:id="rId157"/>
    <p:sldId id="637" r:id="rId158"/>
    <p:sldId id="645" r:id="rId159"/>
    <p:sldId id="646" r:id="rId160"/>
    <p:sldId id="647" r:id="rId161"/>
    <p:sldId id="636" r:id="rId162"/>
    <p:sldId id="299" r:id="rId163"/>
    <p:sldId id="300" r:id="rId164"/>
    <p:sldId id="301" r:id="rId165"/>
    <p:sldId id="294" r:id="rId166"/>
    <p:sldId id="569" r:id="rId167"/>
    <p:sldId id="649" r:id="rId168"/>
    <p:sldId id="570" r:id="rId169"/>
    <p:sldId id="648" r:id="rId170"/>
    <p:sldId id="650" r:id="rId171"/>
    <p:sldId id="572" r:id="rId172"/>
    <p:sldId id="654" r:id="rId173"/>
    <p:sldId id="652" r:id="rId174"/>
    <p:sldId id="653" r:id="rId175"/>
    <p:sldId id="573" r:id="rId176"/>
    <p:sldId id="574" r:id="rId177"/>
    <p:sldId id="575" r:id="rId178"/>
    <p:sldId id="576" r:id="rId179"/>
    <p:sldId id="655" r:id="rId180"/>
    <p:sldId id="579" r:id="rId181"/>
    <p:sldId id="651" r:id="rId182"/>
    <p:sldId id="445" r:id="rId183"/>
    <p:sldId id="536" r:id="rId184"/>
    <p:sldId id="679" r:id="rId185"/>
    <p:sldId id="658" r:id="rId186"/>
    <p:sldId id="447" r:id="rId187"/>
    <p:sldId id="677" r:id="rId188"/>
    <p:sldId id="443" r:id="rId189"/>
    <p:sldId id="702" r:id="rId190"/>
    <p:sldId id="680" r:id="rId191"/>
    <p:sldId id="705" r:id="rId192"/>
    <p:sldId id="678" r:id="rId193"/>
    <p:sldId id="670" r:id="rId194"/>
    <p:sldId id="672" r:id="rId195"/>
    <p:sldId id="673" r:id="rId196"/>
    <p:sldId id="674" r:id="rId197"/>
    <p:sldId id="681" r:id="rId198"/>
    <p:sldId id="682" r:id="rId199"/>
    <p:sldId id="659" r:id="rId200"/>
    <p:sldId id="668" r:id="rId201"/>
    <p:sldId id="683" r:id="rId202"/>
    <p:sldId id="684" r:id="rId203"/>
    <p:sldId id="685" r:id="rId204"/>
    <p:sldId id="686" r:id="rId205"/>
    <p:sldId id="660" r:id="rId206"/>
    <p:sldId id="661" r:id="rId207"/>
    <p:sldId id="662" r:id="rId208"/>
    <p:sldId id="675" r:id="rId209"/>
    <p:sldId id="688" r:id="rId210"/>
    <p:sldId id="689" r:id="rId211"/>
    <p:sldId id="663" r:id="rId212"/>
    <p:sldId id="676" r:id="rId213"/>
    <p:sldId id="687" r:id="rId214"/>
    <p:sldId id="664" r:id="rId215"/>
    <p:sldId id="665" r:id="rId216"/>
    <p:sldId id="667" r:id="rId217"/>
    <p:sldId id="666" r:id="rId218"/>
    <p:sldId id="669" r:id="rId219"/>
    <p:sldId id="690" r:id="rId220"/>
    <p:sldId id="692" r:id="rId221"/>
    <p:sldId id="691" r:id="rId222"/>
    <p:sldId id="703" r:id="rId223"/>
    <p:sldId id="693" r:id="rId224"/>
    <p:sldId id="671" r:id="rId225"/>
    <p:sldId id="706" r:id="rId226"/>
    <p:sldId id="694" r:id="rId227"/>
    <p:sldId id="707" r:id="rId228"/>
    <p:sldId id="696" r:id="rId229"/>
    <p:sldId id="698" r:id="rId230"/>
    <p:sldId id="695" r:id="rId231"/>
    <p:sldId id="697" r:id="rId232"/>
    <p:sldId id="448" r:id="rId233"/>
    <p:sldId id="704" r:id="rId234"/>
    <p:sldId id="699" r:id="rId235"/>
    <p:sldId id="449" r:id="rId236"/>
    <p:sldId id="700" r:id="rId237"/>
    <p:sldId id="701" r:id="rId238"/>
    <p:sldId id="274" r:id="rId239"/>
    <p:sldId id="535" r:id="rId240"/>
    <p:sldId id="742" r:id="rId241"/>
    <p:sldId id="708" r:id="rId242"/>
    <p:sldId id="419" r:id="rId243"/>
    <p:sldId id="421" r:id="rId244"/>
    <p:sldId id="267" r:id="rId245"/>
    <p:sldId id="710" r:id="rId246"/>
    <p:sldId id="715" r:id="rId247"/>
    <p:sldId id="422" r:id="rId248"/>
    <p:sldId id="716" r:id="rId249"/>
    <p:sldId id="719" r:id="rId250"/>
    <p:sldId id="718" r:id="rId251"/>
    <p:sldId id="423" r:id="rId252"/>
    <p:sldId id="720" r:id="rId253"/>
    <p:sldId id="717" r:id="rId254"/>
    <p:sldId id="747" r:id="rId255"/>
    <p:sldId id="711" r:id="rId256"/>
    <p:sldId id="722" r:id="rId257"/>
    <p:sldId id="721" r:id="rId258"/>
    <p:sldId id="723" r:id="rId259"/>
    <p:sldId id="712" r:id="rId260"/>
    <p:sldId id="713" r:id="rId261"/>
    <p:sldId id="714" r:id="rId262"/>
    <p:sldId id="748" r:id="rId263"/>
    <p:sldId id="420" r:id="rId264"/>
    <p:sldId id="724" r:id="rId265"/>
    <p:sldId id="436" r:id="rId266"/>
    <p:sldId id="725" r:id="rId267"/>
    <p:sldId id="726" r:id="rId268"/>
    <p:sldId id="727" r:id="rId269"/>
    <p:sldId id="728" r:id="rId270"/>
    <p:sldId id="731" r:id="rId271"/>
    <p:sldId id="741" r:id="rId272"/>
    <p:sldId id="730" r:id="rId273"/>
    <p:sldId id="729" r:id="rId274"/>
    <p:sldId id="709" r:id="rId275"/>
    <p:sldId id="440" r:id="rId276"/>
    <p:sldId id="732" r:id="rId277"/>
    <p:sldId id="734" r:id="rId278"/>
    <p:sldId id="442" r:id="rId279"/>
    <p:sldId id="733" r:id="rId280"/>
    <p:sldId id="735" r:id="rId281"/>
    <p:sldId id="794" r:id="rId282"/>
    <p:sldId id="429" r:id="rId283"/>
    <p:sldId id="428" r:id="rId284"/>
    <p:sldId id="430" r:id="rId285"/>
    <p:sldId id="437" r:id="rId286"/>
    <p:sldId id="740" r:id="rId287"/>
    <p:sldId id="736" r:id="rId288"/>
    <p:sldId id="737" r:id="rId289"/>
    <p:sldId id="738" r:id="rId290"/>
    <p:sldId id="743" r:id="rId291"/>
    <p:sldId id="745" r:id="rId292"/>
    <p:sldId id="744" r:id="rId293"/>
    <p:sldId id="746" r:id="rId294"/>
    <p:sldId id="427" r:id="rId295"/>
    <p:sldId id="439" r:id="rId296"/>
    <p:sldId id="441" r:id="rId297"/>
    <p:sldId id="275" r:id="rId298"/>
    <p:sldId id="529" r:id="rId299"/>
    <p:sldId id="760" r:id="rId300"/>
    <p:sldId id="754" r:id="rId301"/>
    <p:sldId id="792" r:id="rId302"/>
    <p:sldId id="761" r:id="rId303"/>
    <p:sldId id="762" r:id="rId304"/>
    <p:sldId id="763" r:id="rId305"/>
    <p:sldId id="753" r:id="rId306"/>
    <p:sldId id="764" r:id="rId307"/>
    <p:sldId id="750" r:id="rId308"/>
    <p:sldId id="765" r:id="rId309"/>
    <p:sldId id="766" r:id="rId310"/>
    <p:sldId id="789" r:id="rId311"/>
    <p:sldId id="767" r:id="rId312"/>
    <p:sldId id="752" r:id="rId313"/>
    <p:sldId id="432" r:id="rId314"/>
    <p:sldId id="755" r:id="rId315"/>
    <p:sldId id="790" r:id="rId316"/>
    <p:sldId id="756" r:id="rId317"/>
    <p:sldId id="758" r:id="rId318"/>
    <p:sldId id="757" r:id="rId319"/>
    <p:sldId id="791" r:id="rId320"/>
    <p:sldId id="759" r:id="rId321"/>
    <p:sldId id="793" r:id="rId322"/>
    <p:sldId id="770" r:id="rId323"/>
    <p:sldId id="771" r:id="rId324"/>
    <p:sldId id="453" r:id="rId325"/>
    <p:sldId id="773" r:id="rId326"/>
    <p:sldId id="787" r:id="rId327"/>
    <p:sldId id="774" r:id="rId328"/>
    <p:sldId id="786" r:id="rId329"/>
    <p:sldId id="785" r:id="rId330"/>
    <p:sldId id="775" r:id="rId331"/>
    <p:sldId id="783" r:id="rId332"/>
    <p:sldId id="784" r:id="rId333"/>
    <p:sldId id="776" r:id="rId334"/>
    <p:sldId id="780" r:id="rId335"/>
    <p:sldId id="781" r:id="rId336"/>
    <p:sldId id="782" r:id="rId337"/>
    <p:sldId id="777" r:id="rId338"/>
    <p:sldId id="788" r:id="rId339"/>
    <p:sldId id="778" r:id="rId340"/>
    <p:sldId id="779" r:id="rId341"/>
    <p:sldId id="768" r:id="rId342"/>
    <p:sldId id="769" r:id="rId343"/>
    <p:sldId id="796" r:id="rId344"/>
    <p:sldId id="772" r:id="rId345"/>
    <p:sldId id="795" r:id="rId346"/>
    <p:sldId id="452" r:id="rId347"/>
    <p:sldId id="276" r:id="rId348"/>
    <p:sldId id="525" r:id="rId349"/>
    <p:sldId id="815" r:id="rId350"/>
    <p:sldId id="526" r:id="rId351"/>
    <p:sldId id="527" r:id="rId352"/>
    <p:sldId id="522" r:id="rId353"/>
    <p:sldId id="802" r:id="rId354"/>
    <p:sldId id="467" r:id="rId355"/>
    <p:sldId id="524" r:id="rId356"/>
    <p:sldId id="810" r:id="rId357"/>
    <p:sldId id="626" r:id="rId358"/>
    <p:sldId id="811" r:id="rId359"/>
    <p:sldId id="528" r:id="rId360"/>
    <p:sldId id="803" r:id="rId361"/>
    <p:sldId id="466" r:id="rId362"/>
    <p:sldId id="812" r:id="rId363"/>
    <p:sldId id="804" r:id="rId364"/>
    <p:sldId id="470" r:id="rId365"/>
    <p:sldId id="805" r:id="rId366"/>
    <p:sldId id="624" r:id="rId367"/>
    <p:sldId id="813" r:id="rId368"/>
    <p:sldId id="814" r:id="rId369"/>
    <p:sldId id="806" r:id="rId370"/>
    <p:sldId id="807" r:id="rId371"/>
    <p:sldId id="808" r:id="rId372"/>
    <p:sldId id="809" r:id="rId373"/>
    <p:sldId id="469" r:id="rId374"/>
    <p:sldId id="277" r:id="rId375"/>
    <p:sldId id="530" r:id="rId376"/>
    <p:sldId id="313" r:id="rId377"/>
    <p:sldId id="798" r:id="rId378"/>
    <p:sldId id="454" r:id="rId379"/>
    <p:sldId id="799" r:id="rId380"/>
    <p:sldId id="800" r:id="rId381"/>
    <p:sldId id="801" r:id="rId382"/>
    <p:sldId id="455" r:id="rId383"/>
    <p:sldId id="457" r:id="rId384"/>
    <p:sldId id="458" r:id="rId385"/>
    <p:sldId id="459" r:id="rId386"/>
    <p:sldId id="456" r:id="rId387"/>
    <p:sldId id="263" r:id="rId388"/>
    <p:sldId id="264" r:id="rId389"/>
    <p:sldId id="265" r:id="rId390"/>
    <p:sldId id="461" r:id="rId391"/>
    <p:sldId id="460" r:id="rId392"/>
    <p:sldId id="278" r:id="rId393"/>
    <p:sldId id="531" r:id="rId394"/>
    <p:sldId id="390" r:id="rId395"/>
    <p:sldId id="435" r:id="rId396"/>
    <p:sldId id="431" r:id="rId397"/>
    <p:sldId id="391" r:id="rId398"/>
    <p:sldId id="388" r:id="rId399"/>
    <p:sldId id="389" r:id="rId400"/>
    <p:sldId id="471" r:id="rId401"/>
    <p:sldId id="279" r:id="rId402"/>
    <p:sldId id="532" r:id="rId403"/>
    <p:sldId id="463" r:id="rId404"/>
    <p:sldId id="393" r:id="rId405"/>
    <p:sldId id="392" r:id="rId406"/>
    <p:sldId id="462" r:id="rId407"/>
    <p:sldId id="394" r:id="rId408"/>
    <p:sldId id="395" r:id="rId409"/>
    <p:sldId id="396" r:id="rId410"/>
    <p:sldId id="397" r:id="rId411"/>
    <p:sldId id="398" r:id="rId412"/>
    <p:sldId id="464" r:id="rId413"/>
    <p:sldId id="465" r:id="rId414"/>
    <p:sldId id="280" r:id="rId415"/>
    <p:sldId id="533" r:id="rId416"/>
    <p:sldId id="399" r:id="rId417"/>
    <p:sldId id="287" r:id="rId418"/>
    <p:sldId id="288" r:id="rId419"/>
    <p:sldId id="289" r:id="rId420"/>
    <p:sldId id="290" r:id="rId421"/>
    <p:sldId id="281" r:id="rId422"/>
    <p:sldId id="534" r:id="rId423"/>
    <p:sldId id="400" r:id="rId424"/>
    <p:sldId id="402" r:id="rId425"/>
    <p:sldId id="401" r:id="rId426"/>
    <p:sldId id="412" r:id="rId427"/>
    <p:sldId id="472" r:id="rId428"/>
    <p:sldId id="473" r:id="rId429"/>
    <p:sldId id="474" r:id="rId430"/>
    <p:sldId id="367" r:id="rId431"/>
  </p:sldIdLst>
  <p:sldSz cx="12192000" cy="6858000"/>
  <p:notesSz cx="6858000" cy="9144000"/>
  <p:embeddedFontLst>
    <p:embeddedFont>
      <p:font typeface="等线" panose="02010600030101010101" pitchFamily="2" charset="-122"/>
      <p:regular r:id="rId433"/>
      <p:bold r:id="rId434"/>
    </p:embeddedFont>
    <p:embeddedFont>
      <p:font typeface="Cambria Math" panose="02040503050406030204" pitchFamily="18" charset="0"/>
      <p:regular r:id="rId435"/>
    </p:embeddedFont>
    <p:embeddedFont>
      <p:font typeface="Montserrat" panose="00000500000000000000" pitchFamily="2" charset="0"/>
      <p:regular r:id="rId436"/>
    </p:embeddedFont>
    <p:embeddedFont>
      <p:font typeface="Roboto Mono" pitchFamily="2" charset="0"/>
      <p:regular r:id="rId437"/>
      <p:bold r:id="rId438"/>
    </p:embeddedFont>
    <p:embeddedFont>
      <p:font typeface="Roboto Mono Light" pitchFamily="2" charset="0"/>
      <p:regular r:id="rId43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5F73"/>
    <a:srgbClr val="FDBCA8"/>
    <a:srgbClr val="6DB6E6"/>
    <a:srgbClr val="E4745C"/>
    <a:srgbClr val="2E75B6"/>
    <a:srgbClr val="6CCA94"/>
    <a:srgbClr val="001F3F"/>
    <a:srgbClr val="E7886E"/>
    <a:srgbClr val="F6BA4F"/>
    <a:srgbClr val="6D96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4675" autoAdjust="0"/>
  </p:normalViewPr>
  <p:slideViewPr>
    <p:cSldViewPr snapToGrid="0">
      <p:cViewPr varScale="1">
        <p:scale>
          <a:sx n="107" d="100"/>
          <a:sy n="107" d="100"/>
        </p:scale>
        <p:origin x="714" y="10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font" Target="fonts/font1.fntdata"/><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tableStyles" Target="tableStyles.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font" Target="fonts/font3.fntdata"/><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font" Target="fonts/font5.fntdata"/><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font" Target="fonts/font7.fntdata"/><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430" Type="http://schemas.openxmlformats.org/officeDocument/2006/relationships/slide" Target="slides/slide429.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slide" Target="slides/slide352.xml"/><Relationship Id="rId374" Type="http://schemas.openxmlformats.org/officeDocument/2006/relationships/slide" Target="slides/slide373.xml"/><Relationship Id="rId395" Type="http://schemas.openxmlformats.org/officeDocument/2006/relationships/slide" Target="slides/slide394.xml"/><Relationship Id="rId409" Type="http://schemas.openxmlformats.org/officeDocument/2006/relationships/slide" Target="slides/slide408.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420" Type="http://schemas.openxmlformats.org/officeDocument/2006/relationships/slide" Target="slides/slide419.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41" Type="http://schemas.openxmlformats.org/officeDocument/2006/relationships/presProps" Target="presProp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364" Type="http://schemas.openxmlformats.org/officeDocument/2006/relationships/slide" Target="slides/slide363.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385" Type="http://schemas.openxmlformats.org/officeDocument/2006/relationships/slide" Target="slides/slide384.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410" Type="http://schemas.openxmlformats.org/officeDocument/2006/relationships/slide" Target="slides/slide409.xml"/><Relationship Id="rId431" Type="http://schemas.openxmlformats.org/officeDocument/2006/relationships/slide" Target="slides/slide430.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slide" Target="slides/slide353.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75" Type="http://schemas.openxmlformats.org/officeDocument/2006/relationships/slide" Target="slides/slide374.xml"/><Relationship Id="rId396" Type="http://schemas.openxmlformats.org/officeDocument/2006/relationships/slide" Target="slides/slide395.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400" Type="http://schemas.openxmlformats.org/officeDocument/2006/relationships/slide" Target="slides/slide399.xml"/><Relationship Id="rId421" Type="http://schemas.openxmlformats.org/officeDocument/2006/relationships/slide" Target="slides/slide420.xml"/><Relationship Id="rId442" Type="http://schemas.openxmlformats.org/officeDocument/2006/relationships/viewProps" Target="viewProps.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365" Type="http://schemas.openxmlformats.org/officeDocument/2006/relationships/slide" Target="slides/slide364.xml"/><Relationship Id="rId386" Type="http://schemas.openxmlformats.org/officeDocument/2006/relationships/slide" Target="slides/slide385.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notesMaster" Target="notesMasters/notesMaster1.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theme" Target="theme/theme1.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font" Target="fonts/font2.fntdata"/><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font" Target="fonts/font4.fntdata"/><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font" Target="fonts/font6.fntdata"/><Relationship Id="rId242" Type="http://schemas.openxmlformats.org/officeDocument/2006/relationships/slide" Target="slides/slide241.xml"/><Relationship Id="rId284" Type="http://schemas.openxmlformats.org/officeDocument/2006/relationships/slide" Target="slides/slide283.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commentAuthors" Target="commentAuthors.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28575" cap="rnd">
              <a:solidFill>
                <a:schemeClr val="accent2"/>
              </a:solidFill>
              <a:round/>
            </a:ln>
            <a:effectLst/>
          </c:spPr>
          <c:marker>
            <c:symbol val="triangle"/>
            <c:size val="10"/>
            <c:spPr>
              <a:solidFill>
                <a:srgbClr val="FFFF00"/>
              </a:solidFill>
              <a:ln w="9525">
                <a:noFill/>
              </a:ln>
              <a:effectLst/>
            </c:spPr>
          </c:marker>
          <c:dLbls>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marker val="1"/>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noFill/>
            <a:round/>
          </a:ln>
          <a:effectLst/>
        </c:spPr>
        <c:txPr>
          <a:bodyPr rot="0" spcFirstLastPara="1" vertOverflow="ellipsis" vert="wordArtVertRtl" wrap="square" anchor="ctr" anchorCtr="1"/>
          <a:lstStyle/>
          <a:p>
            <a:pPr>
              <a:defRPr sz="1400" b="0" i="0" u="none" strike="noStrike" kern="1200" baseline="0">
                <a:solidFill>
                  <a:schemeClr val="bg1"/>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bg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solidFill>
                <a:schemeClr val="bg1"/>
              </a:solidFill>
            </a:rPr>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solidFill>
                <a:schemeClr val="bg1"/>
              </a:solidFill>
            </a:rPr>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solidFill>
                <a:schemeClr val="bg1"/>
              </a:solidFill>
            </a:rPr>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solidFill>
                <a:schemeClr val="bg1"/>
              </a:solidFill>
            </a:rPr>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solidFill>
                <a:schemeClr val="bg1"/>
              </a:solidFill>
            </a:rPr>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1731510" y="0"/>
          <a:ext cx="865755" cy="57717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solidFill>
                <a:schemeClr val="bg1"/>
              </a:solidFill>
            </a:rPr>
            <a:t>自我实现</a:t>
          </a:r>
        </a:p>
      </dsp:txBody>
      <dsp:txXfrm>
        <a:off x="1731510" y="0"/>
        <a:ext cx="865755" cy="577170"/>
      </dsp:txXfrm>
    </dsp:sp>
    <dsp:sp modelId="{2F299D70-5224-4C9C-9CB1-AFD882711B69}">
      <dsp:nvSpPr>
        <dsp:cNvPr id="0" name=""/>
        <dsp:cNvSpPr/>
      </dsp:nvSpPr>
      <dsp:spPr>
        <a:xfrm>
          <a:off x="1298632" y="577170"/>
          <a:ext cx="1731510" cy="57717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自尊</a:t>
          </a:r>
        </a:p>
      </dsp:txBody>
      <dsp:txXfrm>
        <a:off x="1601646" y="577170"/>
        <a:ext cx="1125481" cy="577170"/>
      </dsp:txXfrm>
    </dsp:sp>
    <dsp:sp modelId="{76D34559-A530-45C2-A0B6-720AD4C0207E}">
      <dsp:nvSpPr>
        <dsp:cNvPr id="0" name=""/>
        <dsp:cNvSpPr/>
      </dsp:nvSpPr>
      <dsp:spPr>
        <a:xfrm>
          <a:off x="865755" y="1154340"/>
          <a:ext cx="2597265" cy="57717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社会交往</a:t>
          </a:r>
        </a:p>
      </dsp:txBody>
      <dsp:txXfrm>
        <a:off x="1320276" y="1154340"/>
        <a:ext cx="1688222" cy="577170"/>
      </dsp:txXfrm>
    </dsp:sp>
    <dsp:sp modelId="{8F6F6EB1-74EE-4946-86A7-A5F9FCDABEE5}">
      <dsp:nvSpPr>
        <dsp:cNvPr id="0" name=""/>
        <dsp:cNvSpPr/>
      </dsp:nvSpPr>
      <dsp:spPr>
        <a:xfrm>
          <a:off x="432877" y="1731510"/>
          <a:ext cx="3463020" cy="57717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安全</a:t>
          </a:r>
        </a:p>
      </dsp:txBody>
      <dsp:txXfrm>
        <a:off x="1038905" y="1731510"/>
        <a:ext cx="2250963" cy="577170"/>
      </dsp:txXfrm>
    </dsp:sp>
    <dsp:sp modelId="{50DFD313-CB4A-4B94-8CDD-8D2917A17D7E}">
      <dsp:nvSpPr>
        <dsp:cNvPr id="0" name=""/>
        <dsp:cNvSpPr/>
      </dsp:nvSpPr>
      <dsp:spPr>
        <a:xfrm>
          <a:off x="0" y="2308680"/>
          <a:ext cx="4328775" cy="57717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生理</a:t>
          </a:r>
        </a:p>
      </dsp:txBody>
      <dsp:txXfrm>
        <a:off x="757535" y="2308680"/>
        <a:ext cx="2813703" cy="57717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a:latin typeface="Montserrat" panose="00000500000000000000" pitchFamily="2" charset="0"/>
              <a:ea typeface="微软雅黑 Light" panose="020B0502040204020203" pitchFamily="34" charset="-122"/>
            </a:rPr>
            <a:t>工料合同</a:t>
          </a:r>
          <a:r>
            <a:rPr lang="en-US" sz="2000" kern="1200" baseline="0">
              <a:latin typeface="Montserrat" panose="00000500000000000000" pitchFamily="2" charset="0"/>
              <a:ea typeface="微软雅黑 Light" panose="020B0502040204020203" pitchFamily="34" charset="-122"/>
            </a:rPr>
            <a:t> (T&amp;M)</a:t>
          </a:r>
          <a:endParaRPr lang="zh-CN" altLang="en-US" sz="2000" kern="1200" baseline="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0.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6.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5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8.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84.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4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Developing</a:t>
            </a:r>
            <a:r>
              <a:rPr lang="zh-CN" altLang="en-US"/>
              <a:t>：有发展和变化的意思。不单单是制定</a:t>
            </a:r>
            <a:endParaRPr lang="en-US" altLang="zh-CN"/>
          </a:p>
          <a:p>
            <a:r>
              <a:rPr lang="zh-CN" altLang="en-US"/>
              <a:t>自己理解产品目标，转化为</a:t>
            </a:r>
            <a:r>
              <a:rPr lang="en-US" altLang="zh-CN"/>
              <a:t>backlog</a:t>
            </a:r>
            <a:r>
              <a:rPr lang="zh-CN" altLang="en-US"/>
              <a:t>并保证团队能理解</a:t>
            </a:r>
            <a:endParaRPr lang="en-US" altLang="zh-CN"/>
          </a:p>
          <a:p>
            <a:r>
              <a:rPr lang="en-US" altLang="zh-CN"/>
              <a:t>123</a:t>
            </a:r>
            <a:r>
              <a:rPr lang="zh-CN" altLang="en-US"/>
              <a:t>是动作，是因</a:t>
            </a:r>
            <a:endParaRPr lang="en-US" altLang="zh-CN"/>
          </a:p>
          <a:p>
            <a:r>
              <a:rPr lang="en-US" altLang="zh-CN"/>
              <a:t>4</a:t>
            </a:r>
            <a:r>
              <a:rPr lang="zh-CN" altLang="en-US"/>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151</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185</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194</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196</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203</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210</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213</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219</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222</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224</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233</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239</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244</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247</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252</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258</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260</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264</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269</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271</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275</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277</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285</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288</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292</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294</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299</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302</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308</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313</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315</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317</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凤姐再美，没不过范冰冰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320</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326</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331</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337</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343</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345</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350</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356</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359</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368</a:t>
            </a:fld>
            <a:endParaRPr lang="zh-CN" altLang="en-US"/>
          </a:p>
        </p:txBody>
      </p:sp>
    </p:spTree>
    <p:extLst>
      <p:ext uri="{BB962C8B-B14F-4D97-AF65-F5344CB8AC3E}">
        <p14:creationId xmlns:p14="http://schemas.microsoft.com/office/powerpoint/2010/main" val="154866116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376</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378</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384</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399</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406</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accent5">
                    <a:lumMod val="75000"/>
                  </a:schemeClr>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accent5">
                    <a:lumMod val="7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6375921" cy="429413"/>
          </a:xfrm>
        </p:spPr>
        <p:txBody>
          <a:bodyPr>
            <a:noAutofit/>
          </a:bodyPr>
          <a:lstStyle>
            <a:lvl1pPr>
              <a:defRPr>
                <a:solidFill>
                  <a:schemeClr val="accent5">
                    <a:lumMod val="75000"/>
                  </a:schemeClr>
                </a:solidFill>
              </a:defRPr>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a:solidFill>
                  <a:schemeClr val="accent5">
                    <a:lumMod val="75000"/>
                  </a:schemeClr>
                </a:solidFill>
              </a:defRPr>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accent5">
              <a:lumMod val="75000"/>
            </a:schemeClr>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347.xml"/><Relationship Id="rId13" Type="http://schemas.openxmlformats.org/officeDocument/2006/relationships/slide" Target="slide414.xml"/><Relationship Id="rId3" Type="http://schemas.openxmlformats.org/officeDocument/2006/relationships/slide" Target="slide41.xml"/><Relationship Id="rId7" Type="http://schemas.openxmlformats.org/officeDocument/2006/relationships/slide" Target="slide297.xml"/><Relationship Id="rId12" Type="http://schemas.openxmlformats.org/officeDocument/2006/relationships/slide" Target="slide401.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38.xml"/><Relationship Id="rId11" Type="http://schemas.openxmlformats.org/officeDocument/2006/relationships/slide" Target="slide421.xml"/><Relationship Id="rId5" Type="http://schemas.openxmlformats.org/officeDocument/2006/relationships/slide" Target="slide182.xml"/><Relationship Id="rId10" Type="http://schemas.openxmlformats.org/officeDocument/2006/relationships/slide" Target="slide392.xml"/><Relationship Id="rId4" Type="http://schemas.openxmlformats.org/officeDocument/2006/relationships/slide" Target="slide120.xml"/><Relationship Id="rId9" Type="http://schemas.openxmlformats.org/officeDocument/2006/relationships/slide" Target="slide37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image" Target="../media/image38.png"/><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09.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17.xml"/><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hyperlink" Target="https://planningpokeronline.com/" TargetMode="External"/><Relationship Id="rId7" Type="http://schemas.openxmlformats.org/officeDocument/2006/relationships/image" Target="../media/image47.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46.svg"/><Relationship Id="rId5" Type="http://schemas.openxmlformats.org/officeDocument/2006/relationships/image" Target="../media/image45.svg"/><Relationship Id="rId4" Type="http://schemas.openxmlformats.org/officeDocument/2006/relationships/image" Target="../media/image44.svg"/></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image" Target="../media/image61.png"/><Relationship Id="rId3" Type="http://schemas.openxmlformats.org/officeDocument/2006/relationships/image" Target="../media/image51.svg"/><Relationship Id="rId7" Type="http://schemas.openxmlformats.org/officeDocument/2006/relationships/image" Target="../media/image55.png"/><Relationship Id="rId12" Type="http://schemas.openxmlformats.org/officeDocument/2006/relationships/image" Target="../media/image60.png"/><Relationship Id="rId2" Type="http://schemas.openxmlformats.org/officeDocument/2006/relationships/image" Target="../media/image50.svg"/><Relationship Id="rId16" Type="http://schemas.openxmlformats.org/officeDocument/2006/relationships/image" Target="../media/image64.png"/><Relationship Id="rId1" Type="http://schemas.openxmlformats.org/officeDocument/2006/relationships/slideLayout" Target="../slideLayouts/slideLayout5.xml"/><Relationship Id="rId6" Type="http://schemas.openxmlformats.org/officeDocument/2006/relationships/image" Target="../media/image54.png"/><Relationship Id="rId11" Type="http://schemas.openxmlformats.org/officeDocument/2006/relationships/image" Target="../media/image59.png"/><Relationship Id="rId5" Type="http://schemas.openxmlformats.org/officeDocument/2006/relationships/image" Target="../media/image53.png"/><Relationship Id="rId15" Type="http://schemas.openxmlformats.org/officeDocument/2006/relationships/image" Target="../media/image63.png"/><Relationship Id="rId10" Type="http://schemas.openxmlformats.org/officeDocument/2006/relationships/image" Target="../media/image58.png"/><Relationship Id="rId4" Type="http://schemas.openxmlformats.org/officeDocument/2006/relationships/image" Target="../media/image52.svg"/><Relationship Id="rId9" Type="http://schemas.openxmlformats.org/officeDocument/2006/relationships/image" Target="../media/image57.jpg"/><Relationship Id="rId14" Type="http://schemas.openxmlformats.org/officeDocument/2006/relationships/image" Target="../media/image62.svg"/></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5.xml"/></Relationships>
</file>

<file path=ppt/slides/_rels/slide265.xml.rels><?xml version="1.0" encoding="UTF-8" standalone="yes"?>
<Relationships xmlns="http://schemas.openxmlformats.org/package/2006/relationships"><Relationship Id="rId3" Type="http://schemas.openxmlformats.org/officeDocument/2006/relationships/image" Target="../media/image65.svg"/><Relationship Id="rId7" Type="http://schemas.openxmlformats.org/officeDocument/2006/relationships/image" Target="../media/image69.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svg"/><Relationship Id="rId4" Type="http://schemas.openxmlformats.org/officeDocument/2006/relationships/image" Target="../media/image66.sv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5.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5.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image" Target="../media/image70.svg"/><Relationship Id="rId1" Type="http://schemas.openxmlformats.org/officeDocument/2006/relationships/slideLayout" Target="../slideLayouts/slideLayout5.xml"/><Relationship Id="rId6" Type="http://schemas.openxmlformats.org/officeDocument/2006/relationships/image" Target="../media/image74.svg"/><Relationship Id="rId5" Type="http://schemas.openxmlformats.org/officeDocument/2006/relationships/image" Target="../media/image73.svg"/><Relationship Id="rId4" Type="http://schemas.openxmlformats.org/officeDocument/2006/relationships/image" Target="../media/image72.svg"/></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5.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5.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5.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5.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0.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5.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5.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5.xml"/><Relationship Id="rId4" Type="http://schemas.openxmlformats.org/officeDocument/2006/relationships/image" Target="../media/image75.png"/></Relationships>
</file>

<file path=ppt/slides/_rels/slide332.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5.xml"/><Relationship Id="rId4" Type="http://schemas.openxmlformats.org/officeDocument/2006/relationships/image" Target="../media/image76.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5.xml"/></Relationships>
</file>

<file path=ppt/slides/_rels/slide335.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5.xml"/></Relationships>
</file>

<file path=ppt/slides/_rels/slide336.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5.xml"/></Relationships>
</file>

<file path=ppt/slides/_rels/slide337.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5.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5.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9.xml.rels><?xml version="1.0" encoding="UTF-8" standalone="yes"?>
<Relationships xmlns="http://schemas.openxmlformats.org/package/2006/relationships"><Relationship Id="rId8" Type="http://schemas.openxmlformats.org/officeDocument/2006/relationships/image" Target="../media/image83.svg"/><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image" Target="../media/image77.svg"/><Relationship Id="rId1" Type="http://schemas.openxmlformats.org/officeDocument/2006/relationships/slideLayout" Target="../slideLayouts/slideLayout5.xml"/><Relationship Id="rId6" Type="http://schemas.openxmlformats.org/officeDocument/2006/relationships/image" Target="../media/image81.svg"/><Relationship Id="rId5" Type="http://schemas.openxmlformats.org/officeDocument/2006/relationships/image" Target="../media/image80.svg"/><Relationship Id="rId10" Type="http://schemas.openxmlformats.org/officeDocument/2006/relationships/image" Target="../media/image85.svg"/><Relationship Id="rId4" Type="http://schemas.openxmlformats.org/officeDocument/2006/relationships/image" Target="../media/image79.svg"/><Relationship Id="rId9" Type="http://schemas.openxmlformats.org/officeDocument/2006/relationships/image" Target="../media/image84.svg"/></Relationships>
</file>

<file path=ppt/slides/_rels/slide35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6.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357.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9.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8.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4.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2" Type="http://schemas.openxmlformats.org/officeDocument/2006/relationships/image" Target="../media/image86.svg"/><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4.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78.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4.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0.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4.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3.xml.rels><?xml version="1.0" encoding="UTF-8" standalone="yes"?>
<Relationships xmlns="http://schemas.openxmlformats.org/package/2006/relationships"><Relationship Id="rId2" Type="http://schemas.openxmlformats.org/officeDocument/2006/relationships/image" Target="../media/image88.svg"/><Relationship Id="rId1" Type="http://schemas.openxmlformats.org/officeDocument/2006/relationships/slideLayout" Target="../slideLayouts/slideLayout5.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6.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82.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7.xml.rels><?xml version="1.0" encoding="UTF-8" standalone="yes"?>
<Relationships xmlns="http://schemas.openxmlformats.org/package/2006/relationships"><Relationship Id="rId8" Type="http://schemas.openxmlformats.org/officeDocument/2006/relationships/image" Target="../media/image90.svg"/><Relationship Id="rId3" Type="http://schemas.openxmlformats.org/officeDocument/2006/relationships/diagramLayout" Target="../diagrams/layout13.xml"/><Relationship Id="rId7" Type="http://schemas.openxmlformats.org/officeDocument/2006/relationships/image" Target="../media/image89.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image" Target="../media/image91.sv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a:t>特征 </a:t>
            </a:r>
            <a:r>
              <a:rPr lang="en-US" altLang="zh-CN"/>
              <a:t>Features</a:t>
            </a:r>
            <a:endParaRPr lang="zh-CN" altLang="en-US"/>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独特性 </a:t>
            </a:r>
            <a:r>
              <a:rPr lang="en-US" altLang="zh-CN">
                <a:solidFill>
                  <a:schemeClr val="tx1"/>
                </a:solidFill>
              </a:rPr>
              <a:t>Unique</a:t>
            </a:r>
            <a:endParaRPr lang="zh-CN" altLang="en-US">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资源约束性 </a:t>
            </a:r>
            <a:r>
              <a:rPr lang="en-US" altLang="zh-CN">
                <a:solidFill>
                  <a:schemeClr val="tx1"/>
                </a:solidFill>
              </a:rPr>
              <a:t>Constrain</a:t>
            </a:r>
            <a:endParaRPr lang="zh-CN" altLang="en-US">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092538486"/>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a:t>Item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dirty="0"/>
                        <a:t>English</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t>Chinese</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t>Description</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t>Relevant</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77113699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3276461264"/>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a:solidFill>
            <a:schemeClr val="bg1"/>
          </a:solidFill>
        </p:spPr>
        <p:txBody>
          <a:bodyPr>
            <a:normAutofit/>
          </a:bodyPr>
          <a:lstStyle/>
          <a:p>
            <a:r>
              <a:rPr lang="en-US" altLang="zh-CN"/>
              <a:t>3.1.1 </a:t>
            </a:r>
            <a:r>
              <a:rPr lang="zh-CN" altLang="en-US"/>
              <a:t>五大标准过程组</a:t>
            </a:r>
          </a:p>
        </p:txBody>
      </p:sp>
      <p:sp>
        <p:nvSpPr>
          <p:cNvPr id="9" name="内容占位符 8">
            <a:extLst>
              <a:ext uri="{FF2B5EF4-FFF2-40B4-BE49-F238E27FC236}">
                <a16:creationId xmlns:a16="http://schemas.microsoft.com/office/drawing/2014/main" id="{0D432F06-BB11-9A68-A959-20B1EFD588EC}"/>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1466506327"/>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a:t>Description</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a:t>Process</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161092599"/>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2B858A74-FC20-DEDC-02BF-D9EF28BA025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B210171B-80B6-DD42-FFCC-BA8386595E1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a:t>项目在实现预期成果和价值方面的整体表现 </a:t>
            </a:r>
            <a:r>
              <a:rPr lang="en-US" altLang="zh-CN"/>
              <a:t>Performance</a:t>
            </a:r>
          </a:p>
          <a:p>
            <a:r>
              <a:rPr lang="zh-CN" altLang="en-US"/>
              <a:t>一组相互关联的项目活动，对于有效交付项目成果至关重要</a:t>
            </a:r>
            <a:endParaRPr lang="en-US" altLang="zh-CN"/>
          </a:p>
          <a:p>
            <a:r>
              <a:rPr lang="zh-CN" altLang="en-US"/>
              <a:t>同时发生、动态交织、需要持续关注</a:t>
            </a:r>
          </a:p>
          <a:p>
            <a:endParaRPr lang="en-US" altLang="zh-CN"/>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402176749"/>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a:t>Description</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1" name="内容占位符 10">
            <a:extLst>
              <a:ext uri="{FF2B5EF4-FFF2-40B4-BE49-F238E27FC236}">
                <a16:creationId xmlns:a16="http://schemas.microsoft.com/office/drawing/2014/main" id="{422A26C3-BC96-7479-A99E-B22282039C8D}"/>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6" name="文本占位符 5">
            <a:extLst>
              <a:ext uri="{FF2B5EF4-FFF2-40B4-BE49-F238E27FC236}">
                <a16:creationId xmlns:a16="http://schemas.microsoft.com/office/drawing/2014/main" id="{80F25E1D-A044-CC9C-93C7-886FD0AA210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2793857601"/>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a:t>Char</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400"/>
                        <a:t>English</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400"/>
                        <a:t>Chinese</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400"/>
                        <a:t>Description</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1" name="内容占位符 10">
            <a:extLst>
              <a:ext uri="{FF2B5EF4-FFF2-40B4-BE49-F238E27FC236}">
                <a16:creationId xmlns:a16="http://schemas.microsoft.com/office/drawing/2014/main" id="{C5A1D466-D586-FF84-3083-6FA5B2EF1421}"/>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899785762"/>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t>Values</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t>Description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4087705377"/>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sz="1400" dirty="0"/>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altLang="zh-CN" sz="1400" dirty="0"/>
                        <a:t>Chinese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sz="1400" dirty="0"/>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2941877860"/>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sz="1400" dirty="0"/>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altLang="zh-CN" sz="1400" dirty="0"/>
                        <a:t>Chinese </a:t>
                      </a:r>
                      <a:endParaRPr lang="zh-CN" alt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sz="1400" dirty="0"/>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700900518"/>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zh-CN" altLang="en-US" sz="1600" dirty="0"/>
                        <a:t>敏捷 </a:t>
                      </a:r>
                      <a:r>
                        <a:rPr lang="en-US" altLang="zh-CN" sz="1600" dirty="0"/>
                        <a:t>12 </a:t>
                      </a:r>
                      <a:r>
                        <a:rPr lang="zh-CN" altLang="en-US" sz="1600" dirty="0"/>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sz="1600" dirty="0"/>
                        <a:t>PMBOK 7 </a:t>
                      </a:r>
                      <a:r>
                        <a:rPr lang="zh-CN" altLang="en-US" sz="1600" dirty="0"/>
                        <a:t>的 </a:t>
                      </a:r>
                      <a:r>
                        <a:rPr lang="en-US" altLang="zh-CN" sz="1600" dirty="0"/>
                        <a:t>12 </a:t>
                      </a:r>
                      <a:r>
                        <a:rPr lang="zh-CN" altLang="en-US" sz="1600" dirty="0"/>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1184009309"/>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a:t>t</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Input</a:t>
                      </a:r>
                      <a:r>
                        <a:rPr lang="zh-CN" altLang="en-US" sz="1400"/>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Output</a:t>
                      </a:r>
                      <a:r>
                        <a:rPr lang="zh-CN" altLang="en-US" sz="1400"/>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Input-Output</a:t>
                      </a:r>
                      <a:r>
                        <a:rPr lang="zh-CN" altLang="en-US" sz="1400"/>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err="1"/>
                        <a:t>NPVt</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929549432"/>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a:t>t</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Input</a:t>
                      </a:r>
                      <a:r>
                        <a:rPr lang="zh-CN" altLang="en-US" sz="1400"/>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dirty="0"/>
                        <a:t>Output</a:t>
                      </a:r>
                      <a:r>
                        <a:rPr lang="zh-CN" altLang="en-US" sz="1400" dirty="0"/>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Input-Output</a:t>
                      </a:r>
                      <a:r>
                        <a:rPr lang="zh-CN" altLang="en-US" sz="1400"/>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err="1"/>
                        <a:t>NPVt</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21" name="内容占位符 20">
            <a:extLst>
              <a:ext uri="{FF2B5EF4-FFF2-40B4-BE49-F238E27FC236}">
                <a16:creationId xmlns:a16="http://schemas.microsoft.com/office/drawing/2014/main" id="{779B95AC-2B68-358B-E250-04F9AEC3000A}"/>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1" name="内容占位符 10">
            <a:extLst>
              <a:ext uri="{FF2B5EF4-FFF2-40B4-BE49-F238E27FC236}">
                <a16:creationId xmlns:a16="http://schemas.microsoft.com/office/drawing/2014/main" id="{45B7E7ED-BAB9-1C13-D7CD-F2BF2ED0F924}"/>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a:solidFill>
                            <a:schemeClr val="bg1"/>
                          </a:solidFill>
                        </a:rPr>
                        <a:t>Items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Sample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a:solidFill>
                            <a:schemeClr val="bg1"/>
                          </a:solidFill>
                        </a:rPr>
                        <a:t>技术风险 </a:t>
                      </a:r>
                      <a:r>
                        <a:rPr lang="en-US" altLang="zh-CN" sz="1600">
                          <a:solidFill>
                            <a:schemeClr val="bg1"/>
                          </a:solidFill>
                        </a:rPr>
                        <a:t>Technology</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尚未在大规模数据下验证，过渡依赖热门</a:t>
                      </a:r>
                      <a:r>
                        <a:rPr lang="en-US" altLang="zh-CN" sz="1600">
                          <a:solidFill>
                            <a:schemeClr val="bg1"/>
                          </a:solidFill>
                        </a:rPr>
                        <a:t>AI</a:t>
                      </a:r>
                      <a:r>
                        <a:rPr lang="zh-CN" altLang="en-US" sz="160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a:solidFill>
                            <a:schemeClr val="bg1"/>
                          </a:solidFill>
                        </a:rPr>
                        <a:t>市场</a:t>
                      </a:r>
                      <a:r>
                        <a:rPr lang="en-US" altLang="zh-CN" sz="1600">
                          <a:solidFill>
                            <a:schemeClr val="bg1"/>
                          </a:solidFill>
                        </a:rPr>
                        <a:t>/</a:t>
                      </a:r>
                      <a:r>
                        <a:rPr lang="zh-CN" altLang="en-US" sz="1600">
                          <a:solidFill>
                            <a:schemeClr val="bg1"/>
                          </a:solidFill>
                        </a:rPr>
                        <a:t>商业风险 </a:t>
                      </a:r>
                      <a:r>
                        <a:rPr lang="en-US" altLang="zh-CN" sz="1600">
                          <a:solidFill>
                            <a:schemeClr val="bg1"/>
                          </a:solidFill>
                        </a:rPr>
                        <a:t>Market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竞争对手可能在项目上线前</a:t>
                      </a:r>
                      <a:r>
                        <a:rPr lang="en-US" altLang="zh-CN" sz="1600">
                          <a:solidFill>
                            <a:schemeClr val="bg1"/>
                          </a:solidFill>
                        </a:rPr>
                        <a:t>3</a:t>
                      </a:r>
                      <a:r>
                        <a:rPr lang="zh-CN" altLang="en-US" sz="1600">
                          <a:solidFill>
                            <a:schemeClr val="bg1"/>
                          </a:solidFill>
                        </a:rPr>
                        <a:t>个月发布同类低价产品，导致市场份额预期下降</a:t>
                      </a:r>
                      <a:r>
                        <a:rPr lang="en-US" altLang="zh-CN" sz="1600">
                          <a:solidFill>
                            <a:schemeClr val="bg1"/>
                          </a:solidFill>
                        </a:rPr>
                        <a:t>50%</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bg1"/>
                          </a:solidFill>
                        </a:rPr>
                        <a:t>资源风险 </a:t>
                      </a:r>
                      <a:r>
                        <a:rPr lang="en-US" altLang="zh-CN" sz="1600">
                          <a:solidFill>
                            <a:schemeClr val="bg1"/>
                          </a:solidFill>
                        </a:rPr>
                        <a:t>Resource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bg1"/>
                          </a:solidFill>
                        </a:rPr>
                        <a:t>合规</a:t>
                      </a:r>
                      <a:r>
                        <a:rPr lang="en-US" altLang="zh-CN" sz="1600">
                          <a:solidFill>
                            <a:schemeClr val="bg1"/>
                          </a:solidFill>
                        </a:rPr>
                        <a:t>/</a:t>
                      </a:r>
                      <a:r>
                        <a:rPr lang="zh-CN" altLang="en-US" sz="1600">
                          <a:solidFill>
                            <a:schemeClr val="bg1"/>
                          </a:solidFill>
                        </a:rPr>
                        <a:t>法律风险 </a:t>
                      </a:r>
                      <a:r>
                        <a:rPr lang="en-US" altLang="zh-CN" sz="1600">
                          <a:solidFill>
                            <a:schemeClr val="bg1"/>
                          </a:solidFill>
                        </a:rPr>
                        <a:t>Compliance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bg1"/>
                          </a:solidFill>
                        </a:rPr>
                        <a:t>外部依赖风险 </a:t>
                      </a:r>
                      <a:r>
                        <a:rPr lang="en-US" altLang="zh-CN" sz="1600">
                          <a:solidFill>
                            <a:schemeClr val="bg1"/>
                          </a:solidFill>
                        </a:rPr>
                        <a:t>Dependence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项目依赖第三方供应商的</a:t>
                      </a:r>
                      <a:r>
                        <a:rPr lang="en-US" altLang="zh-CN" sz="1600">
                          <a:solidFill>
                            <a:schemeClr val="bg1"/>
                          </a:solidFill>
                        </a:rPr>
                        <a:t>API</a:t>
                      </a:r>
                      <a:r>
                        <a:rPr lang="zh-CN" altLang="en-US" sz="160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医疗项目未在预计时间内获得药监局</a:t>
                      </a:r>
                      <a:r>
                        <a:rPr lang="en-US" altLang="zh-CN" sz="1600">
                          <a:solidFill>
                            <a:schemeClr val="bg1"/>
                          </a:solidFill>
                        </a:rPr>
                        <a:t>(NMPA)</a:t>
                      </a:r>
                      <a:r>
                        <a:rPr lang="zh-CN" altLang="en-US" sz="160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假设条件 </a:t>
                      </a:r>
                      <a:r>
                        <a:rPr lang="en-US" sz="160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制约因素 </a:t>
                      </a:r>
                      <a:r>
                        <a:rPr lang="en-US" sz="160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会变成风险 </a:t>
                      </a:r>
                      <a:r>
                        <a:rPr lang="en-US" altLang="zh-CN" sz="1600">
                          <a:solidFill>
                            <a:schemeClr val="bg1"/>
                          </a:solidFill>
                        </a:rPr>
                        <a:t>(</a:t>
                      </a:r>
                      <a:r>
                        <a:rPr lang="en-US" sz="160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我们假定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我们必须</a:t>
                      </a:r>
                      <a:r>
                        <a:rPr lang="en-US" altLang="zh-CN" sz="1600">
                          <a:solidFill>
                            <a:schemeClr val="bg1"/>
                          </a:solidFill>
                        </a:rPr>
                        <a:t>...” / “</a:t>
                      </a:r>
                      <a:r>
                        <a:rPr lang="zh-CN" altLang="en-US" sz="1600">
                          <a:solidFill>
                            <a:schemeClr val="bg1"/>
                          </a:solidFill>
                        </a:rPr>
                        <a:t>不能超过</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a:solidFill>
                            <a:schemeClr val="bg1"/>
                          </a:solidFill>
                        </a:rPr>
                        <a:t>技术项目管理</a:t>
                      </a:r>
                      <a:endParaRPr lang="en-US" altLang="zh-CN" sz="1600">
                        <a:solidFill>
                          <a:schemeClr val="bg1"/>
                        </a:solidFill>
                      </a:endParaRPr>
                    </a:p>
                    <a:p>
                      <a:pPr>
                        <a:buNone/>
                      </a:pPr>
                      <a:r>
                        <a:rPr lang="en-US" altLang="zh-CN" sz="1600">
                          <a:solidFill>
                            <a:schemeClr val="bg1"/>
                          </a:solidFill>
                        </a:rPr>
                        <a:t>Technical Project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与项目、项目集和项目组合管理特定领域相关的知识、技能和行为</a:t>
                      </a:r>
                      <a:endParaRPr lang="en-US" altLang="zh-CN" sz="1600">
                        <a:solidFill>
                          <a:schemeClr val="bg1"/>
                        </a:solidFill>
                      </a:endParaRPr>
                    </a:p>
                    <a:p>
                      <a:pPr>
                        <a:buNone/>
                      </a:pPr>
                      <a:r>
                        <a:rPr lang="zh-CN" altLang="en-US" sz="1600">
                          <a:solidFill>
                            <a:schemeClr val="bg1"/>
                          </a:solidFill>
                        </a:rPr>
                        <a:t>即执行你岗位</a:t>
                      </a:r>
                      <a:r>
                        <a:rPr lang="en-US" altLang="zh-CN" sz="1600">
                          <a:solidFill>
                            <a:schemeClr val="bg1"/>
                          </a:solidFill>
                        </a:rPr>
                        <a:t>/</a:t>
                      </a:r>
                      <a:r>
                        <a:rPr lang="zh-CN" altLang="en-US" sz="160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a:solidFill>
                            <a:schemeClr val="bg1"/>
                          </a:solidFill>
                        </a:rPr>
                        <a:t>领导力</a:t>
                      </a:r>
                      <a:endParaRPr lang="en-US" altLang="zh-CN" sz="1600">
                        <a:solidFill>
                          <a:schemeClr val="bg1"/>
                        </a:solidFill>
                      </a:endParaRPr>
                    </a:p>
                    <a:p>
                      <a:pPr>
                        <a:buNone/>
                      </a:pPr>
                      <a:r>
                        <a:rPr lang="en-US" altLang="zh-CN" sz="1600">
                          <a:solidFill>
                            <a:schemeClr val="bg1"/>
                          </a:solidFill>
                        </a:rPr>
                        <a:t>Leadership</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涉及引导、激励和</a:t>
                      </a:r>
                      <a:r>
                        <a:rPr lang="en-US" altLang="zh-CN" sz="1600">
                          <a:solidFill>
                            <a:schemeClr val="bg1"/>
                          </a:solidFill>
                        </a:rPr>
                        <a:t>/</a:t>
                      </a:r>
                      <a:r>
                        <a:rPr lang="zh-CN" altLang="en-US" sz="160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bg1"/>
                          </a:solidFill>
                        </a:rPr>
                        <a:t>战略与商业管理</a:t>
                      </a:r>
                      <a:endParaRPr lang="en-US" altLang="zh-CN" sz="1600">
                        <a:solidFill>
                          <a:schemeClr val="bg1"/>
                        </a:solidFill>
                      </a:endParaRPr>
                    </a:p>
                    <a:p>
                      <a:pPr>
                        <a:buNone/>
                      </a:pPr>
                      <a:r>
                        <a:rPr lang="en-US" altLang="zh-CN" sz="1600">
                          <a:solidFill>
                            <a:schemeClr val="bg1"/>
                          </a:solidFill>
                        </a:rPr>
                        <a:t>Strategic and Business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对行业</a:t>
                      </a:r>
                      <a:r>
                        <a:rPr lang="en-US" altLang="zh-CN" sz="1600">
                          <a:solidFill>
                            <a:schemeClr val="bg1"/>
                          </a:solidFill>
                        </a:rPr>
                        <a:t>/</a:t>
                      </a:r>
                      <a:r>
                        <a:rPr lang="zh-CN" altLang="en-US" sz="160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a:solidFill>
                            <a:schemeClr val="bg1"/>
                          </a:solidFill>
                        </a:rPr>
                        <a:t>工作方式</a:t>
                      </a:r>
                      <a:endParaRPr lang="en-US" altLang="zh-CN" sz="1600">
                        <a:solidFill>
                          <a:schemeClr val="bg1"/>
                        </a:solidFill>
                      </a:endParaRPr>
                    </a:p>
                    <a:p>
                      <a:pPr>
                        <a:buNone/>
                      </a:pPr>
                      <a:r>
                        <a:rPr lang="en-US" altLang="zh-CN" sz="160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涵盖交付价值的方法、工具、技术和途径 </a:t>
                      </a:r>
                      <a:r>
                        <a:rPr lang="en-US" altLang="zh-CN" sz="1600">
                          <a:solidFill>
                            <a:schemeClr val="bg1"/>
                          </a:solidFill>
                        </a:rPr>
                        <a:t>- </a:t>
                      </a:r>
                      <a:r>
                        <a:rPr lang="zh-CN" altLang="en-US" sz="160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bg1"/>
                          </a:solidFill>
                        </a:rPr>
                        <a:t>能力技能</a:t>
                      </a:r>
                      <a:endParaRPr lang="en-US" altLang="zh-CN" sz="1600">
                        <a:solidFill>
                          <a:schemeClr val="bg1"/>
                        </a:solidFill>
                      </a:endParaRPr>
                    </a:p>
                    <a:p>
                      <a:pPr>
                        <a:buNone/>
                      </a:pPr>
                      <a:r>
                        <a:rPr lang="en-US" altLang="zh-CN" sz="160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指使个人能够影响、激励、协作和领导的人际能力</a:t>
                      </a:r>
                      <a:r>
                        <a:rPr lang="en-US" altLang="zh-CN" sz="1600">
                          <a:solidFill>
                            <a:schemeClr val="bg1"/>
                          </a:solidFill>
                        </a:rPr>
                        <a:t> - </a:t>
                      </a:r>
                      <a:r>
                        <a:rPr lang="zh-CN" altLang="en-US" sz="160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bg1"/>
                          </a:solidFill>
                        </a:rPr>
                        <a:t>商业洞察力</a:t>
                      </a:r>
                      <a:endParaRPr lang="en-US" altLang="zh-CN" sz="1600">
                        <a:solidFill>
                          <a:schemeClr val="bg1"/>
                        </a:solidFill>
                      </a:endParaRPr>
                    </a:p>
                    <a:p>
                      <a:pPr>
                        <a:buNone/>
                      </a:pPr>
                      <a:r>
                        <a:rPr lang="en-US" altLang="zh-CN" sz="160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Former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later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Technical Project Management</a:t>
                      </a:r>
                      <a:br>
                        <a:rPr lang="en-US" sz="1600">
                          <a:solidFill>
                            <a:schemeClr val="bg1"/>
                          </a:solidFill>
                        </a:rPr>
                      </a:br>
                      <a:r>
                        <a:rPr lang="zh-CN" altLang="en-US" sz="160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Ways of Working</a:t>
                      </a:r>
                      <a:br>
                        <a:rPr lang="en-US" sz="1600">
                          <a:solidFill>
                            <a:schemeClr val="bg1"/>
                          </a:solidFill>
                        </a:rPr>
                      </a:br>
                      <a:r>
                        <a:rPr lang="en-US" sz="1600" err="1">
                          <a:solidFill>
                            <a:schemeClr val="bg1"/>
                          </a:solidFill>
                        </a:rPr>
                        <a:t>工作方式</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Leadership</a:t>
                      </a:r>
                    </a:p>
                    <a:p>
                      <a:pPr>
                        <a:buNone/>
                      </a:pPr>
                      <a:r>
                        <a:rPr lang="zh-CN" altLang="en-US" sz="160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Power Skills</a:t>
                      </a:r>
                      <a:br>
                        <a:rPr lang="en-US" sz="1600">
                          <a:solidFill>
                            <a:schemeClr val="bg1"/>
                          </a:solidFill>
                        </a:rPr>
                      </a:br>
                      <a:r>
                        <a:rPr lang="zh-CN" altLang="en-US" sz="1600">
                          <a:solidFill>
                            <a:schemeClr val="bg1"/>
                          </a:solidFill>
                        </a:rPr>
                        <a:t>权力技能 </a:t>
                      </a:r>
                      <a:r>
                        <a:rPr lang="en-US" altLang="zh-CN" sz="1600">
                          <a:solidFill>
                            <a:schemeClr val="bg1"/>
                          </a:solidFill>
                        </a:rPr>
                        <a:t>/ </a:t>
                      </a:r>
                      <a:r>
                        <a:rPr lang="zh-CN" altLang="en-US" sz="160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Strategic and Business Management</a:t>
                      </a:r>
                      <a:br>
                        <a:rPr lang="en-US" sz="1600">
                          <a:solidFill>
                            <a:schemeClr val="bg1"/>
                          </a:solidFill>
                        </a:rPr>
                      </a:br>
                      <a:r>
                        <a:rPr lang="zh-CN" altLang="en-US" sz="160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Business Acumen</a:t>
                      </a:r>
                      <a:br>
                        <a:rPr lang="en-US" sz="1600">
                          <a:solidFill>
                            <a:schemeClr val="bg1"/>
                          </a:solidFill>
                        </a:rPr>
                      </a:br>
                      <a:r>
                        <a:rPr lang="zh-CN" altLang="en-US" sz="160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8" name="内容占位符 17">
            <a:extLst>
              <a:ext uri="{FF2B5EF4-FFF2-40B4-BE49-F238E27FC236}">
                <a16:creationId xmlns:a16="http://schemas.microsoft.com/office/drawing/2014/main" id="{98F4413D-643A-488B-5EBE-FFA2C7A0BD0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预测型 </a:t>
                      </a:r>
                      <a:r>
                        <a:rPr lang="en-US" sz="160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bg1"/>
                          </a:solidFill>
                        </a:rPr>
                        <a:t>迭代型 </a:t>
                      </a:r>
                      <a:r>
                        <a:rPr lang="en-US" sz="160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bg1"/>
                          </a:solidFill>
                        </a:rPr>
                        <a:t>增量型 </a:t>
                      </a:r>
                      <a:r>
                        <a:rPr lang="en-US" sz="160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bg1"/>
                          </a:solidFill>
                        </a:rPr>
                        <a:t>敏捷型 </a:t>
                      </a:r>
                      <a:r>
                        <a:rPr lang="en-US" sz="160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solidFill>
                    <a:schemeClr val="bg1"/>
                  </a:solidFill>
                </a:rPr>
                <a:t>Degree of Change</a:t>
              </a:r>
              <a:endParaRPr lang="zh-CN" altLang="en-US" sz="120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solidFill>
                    <a:schemeClr val="bg1"/>
                  </a:solidFill>
                </a:rPr>
                <a:t>Frequency of Delivery</a:t>
              </a:r>
              <a:endParaRPr lang="zh-CN" altLang="en-US" sz="120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solidFill>
                    <a:schemeClr val="bg1"/>
                  </a:solidFill>
                </a:rPr>
                <a:t>Predictive</a:t>
              </a:r>
              <a:endParaRPr lang="zh-CN" altLang="en-US" sz="140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solidFill>
                    <a:schemeClr val="bg1"/>
                  </a:solidFill>
                </a:rPr>
                <a:t>Iterative</a:t>
              </a:r>
              <a:endParaRPr lang="zh-CN" altLang="en-US" sz="140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a:solidFill>
                    <a:schemeClr val="bg1"/>
                  </a:solidFill>
                </a:rPr>
                <a:t>Incremental</a:t>
              </a:r>
              <a:endParaRPr lang="zh-CN" altLang="en-US" sz="140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solidFill>
                    <a:schemeClr val="bg1"/>
                  </a:solidFill>
                </a:rPr>
                <a:t>Agile</a:t>
              </a:r>
              <a:endParaRPr lang="zh-CN" altLang="en-US" sz="140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a:t>Waterfall Model</a:t>
            </a:r>
          </a:p>
          <a:p>
            <a:r>
              <a:rPr lang="en-US" altLang="zh-CN"/>
              <a:t>Winston Royce </a:t>
            </a:r>
            <a:r>
              <a:rPr lang="zh-CN" altLang="en-US"/>
              <a:t>于</a:t>
            </a:r>
            <a:r>
              <a:rPr lang="en-US" altLang="zh-CN"/>
              <a:t>1970</a:t>
            </a:r>
            <a:r>
              <a:rPr lang="zh-CN" altLang="en-US"/>
              <a:t>年提出</a:t>
            </a:r>
            <a:endParaRPr lang="en-US" altLang="zh-CN"/>
          </a:p>
          <a:p>
            <a:r>
              <a:rPr lang="zh-CN" altLang="en-US"/>
              <a:t>它将软件开发生命周期划分为若干线性阶段</a:t>
            </a:r>
            <a:endParaRPr lang="en-US" altLang="zh-CN"/>
          </a:p>
          <a:p>
            <a:r>
              <a:rPr lang="zh-CN" altLang="en-US"/>
              <a:t>每个阶段完成后才能进入下一个阶段</a:t>
            </a:r>
            <a:endParaRPr lang="en-US" altLang="zh-CN"/>
          </a:p>
          <a:p>
            <a:r>
              <a:rPr lang="zh-CN" altLang="en-US"/>
              <a:t>阶段分明、顺序执行、没有重叠</a:t>
            </a:r>
          </a:p>
          <a:p>
            <a:r>
              <a:rPr lang="zh-CN" altLang="en-US"/>
              <a:t>特点</a:t>
            </a:r>
          </a:p>
          <a:p>
            <a:pPr lvl="1"/>
            <a:r>
              <a:rPr lang="zh-CN" altLang="en-US"/>
              <a:t>各阶段严格顺序、不可回溯（理想情况下）</a:t>
            </a:r>
          </a:p>
          <a:p>
            <a:pPr lvl="1"/>
            <a:r>
              <a:rPr lang="zh-CN" altLang="en-US"/>
              <a:t>文档驱动，强调前期需求明确</a:t>
            </a:r>
          </a:p>
          <a:p>
            <a:pPr lvl="1"/>
            <a:r>
              <a:rPr lang="zh-CN" altLang="en-US"/>
              <a:t>测试集中在开发后期</a:t>
            </a:r>
          </a:p>
          <a:p>
            <a:pPr lvl="1"/>
            <a:r>
              <a:rPr lang="zh-CN" altLang="en-US"/>
              <a:t>不适合需求频繁变更的项目</a:t>
            </a:r>
            <a:r>
              <a:rPr lang="en-US" altLang="zh-CN"/>
              <a:t>/</a:t>
            </a:r>
            <a:r>
              <a:rPr lang="zh-CN" altLang="en-US"/>
              <a:t>返工</a:t>
            </a:r>
            <a:endParaRPr lang="en-US" altLang="zh-CN"/>
          </a:p>
          <a:p>
            <a:pPr lvl="1"/>
            <a:endParaRPr lang="en-US" altLang="zh-CN"/>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a:solidFill>
                    <a:schemeClr val="bg1"/>
                  </a:solidFill>
                </a:rPr>
                <a:t>Requirement gathering &amp; analysis</a:t>
              </a:r>
              <a:endParaRPr lang="zh-CN" altLang="en-US">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solidFill>
                    <a:schemeClr val="bg1"/>
                  </a:solidFill>
                </a:rPr>
                <a:t>System design</a:t>
              </a:r>
              <a:endParaRPr lang="zh-CN" altLang="en-US">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solidFill>
                    <a:schemeClr val="bg1"/>
                  </a:solidFill>
                </a:rPr>
                <a:t>Implementation</a:t>
              </a:r>
              <a:endParaRPr lang="zh-CN" altLang="en-US">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solidFill>
                    <a:schemeClr val="bg1"/>
                  </a:solidFill>
                </a:rPr>
                <a:t>Integration &amp; Test</a:t>
              </a:r>
              <a:endParaRPr lang="zh-CN" altLang="en-US">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solidFill>
                    <a:schemeClr val="bg1"/>
                  </a:solidFill>
                </a:rPr>
                <a:t>Deployment </a:t>
              </a:r>
              <a:endParaRPr lang="zh-CN" altLang="en-US">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solidFill>
                    <a:schemeClr val="bg1"/>
                  </a:solidFill>
                </a:rPr>
                <a:t>Maintenance</a:t>
              </a:r>
              <a:endParaRPr lang="zh-CN" altLang="en-US">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测试目的</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bg1"/>
                          </a:solidFill>
                        </a:rPr>
                        <a:t>测试计划</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bg1"/>
                          </a:solidFill>
                        </a:rPr>
                        <a:t>测试执行</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3535630502"/>
              </p:ext>
            </p:extLst>
          </p:nvPr>
        </p:nvGraphicFramePr>
        <p:xfrm>
          <a:off x="695325" y="2255520"/>
          <a:ext cx="10801350" cy="234696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迭代 </a:t>
                      </a:r>
                      <a:r>
                        <a:rPr lang="en-US" sz="160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r>
                        <a:rPr lang="en-US" altLang="zh-CN" sz="1600">
                          <a:solidFill>
                            <a:schemeClr val="bg1"/>
                          </a:solidFill>
                        </a:rPr>
                        <a:t>al</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600">
                          <a:solidFill>
                            <a:schemeClr val="bg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重复 </a:t>
                      </a:r>
                      <a:r>
                        <a:rPr lang="en-US" altLang="zh-CN" sz="1600">
                          <a:solidFill>
                            <a:schemeClr val="bg1"/>
                          </a:solidFill>
                        </a:rPr>
                        <a:t>(</a:t>
                      </a:r>
                      <a:r>
                        <a:rPr lang="en-US" sz="1600">
                          <a:solidFill>
                            <a:schemeClr val="bg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增加 </a:t>
                      </a:r>
                      <a:r>
                        <a:rPr lang="en-US" altLang="zh-CN" sz="1600">
                          <a:solidFill>
                            <a:schemeClr val="bg1"/>
                          </a:solidFill>
                        </a:rPr>
                        <a:t>(</a:t>
                      </a:r>
                      <a:r>
                        <a:rPr lang="en-US" sz="1600">
                          <a:solidFill>
                            <a:schemeClr val="bg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质量 </a:t>
                      </a:r>
                      <a:r>
                        <a:rPr lang="en-US" altLang="zh-CN" sz="1600">
                          <a:solidFill>
                            <a:schemeClr val="bg1"/>
                          </a:solidFill>
                        </a:rPr>
                        <a:t>(</a:t>
                      </a:r>
                      <a:r>
                        <a:rPr lang="en-US" sz="1600">
                          <a:solidFill>
                            <a:schemeClr val="bg1"/>
                          </a:solidFill>
                        </a:rPr>
                        <a:t>Quality)：</a:t>
                      </a:r>
                      <a:r>
                        <a:rPr lang="zh-CN" altLang="en-US" sz="1600">
                          <a:solidFill>
                            <a:schemeClr val="bg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范围 </a:t>
                      </a:r>
                      <a:r>
                        <a:rPr lang="en-US" altLang="zh-CN" sz="1600">
                          <a:solidFill>
                            <a:schemeClr val="bg1"/>
                          </a:solidFill>
                        </a:rPr>
                        <a:t>(</a:t>
                      </a:r>
                      <a:r>
                        <a:rPr lang="en-US" sz="1600">
                          <a:solidFill>
                            <a:schemeClr val="bg1"/>
                          </a:solidFill>
                        </a:rPr>
                        <a:t>Scope)：</a:t>
                      </a:r>
                      <a:r>
                        <a:rPr lang="zh-CN" altLang="en-US" sz="1600">
                          <a:solidFill>
                            <a:schemeClr val="bg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600">
                          <a:solidFill>
                            <a:schemeClr val="bg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600">
                          <a:solidFill>
                            <a:schemeClr val="bg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600">
                          <a:solidFill>
                            <a:schemeClr val="bg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哇，这个功能比上次快了很多</a:t>
                      </a:r>
                      <a:r>
                        <a:rPr lang="en-US" altLang="zh-CN" sz="1600">
                          <a:solidFill>
                            <a:schemeClr val="bg1"/>
                          </a:solidFill>
                        </a:rPr>
                        <a:t>/</a:t>
                      </a:r>
                      <a:r>
                        <a:rPr lang="zh-CN" altLang="en-US" sz="1600">
                          <a:solidFill>
                            <a:schemeClr val="bg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600">
                          <a:solidFill>
                            <a:schemeClr val="bg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Iterate (</a:t>
                      </a:r>
                      <a:r>
                        <a:rPr lang="zh-CN" altLang="en-US" sz="1600">
                          <a:solidFill>
                            <a:schemeClr val="bg1"/>
                          </a:solidFill>
                        </a:rPr>
                        <a:t>重做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Increment (</a:t>
                      </a:r>
                      <a:r>
                        <a:rPr lang="zh-CN" altLang="en-US" sz="1600">
                          <a:solidFill>
                            <a:schemeClr val="bg1"/>
                          </a:solidFill>
                        </a:rPr>
                        <a:t>增长</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041810840"/>
              </p:ext>
            </p:extLst>
          </p:nvPr>
        </p:nvGraphicFramePr>
        <p:xfrm>
          <a:off x="695325" y="4252595"/>
          <a:ext cx="10801350" cy="225552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60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节奏</a:t>
                      </a:r>
                      <a:r>
                        <a:rPr lang="en-US" altLang="zh-CN" sz="1600">
                          <a:solidFill>
                            <a:schemeClr val="bg1"/>
                          </a:solidFill>
                        </a:rPr>
                        <a:t>/</a:t>
                      </a:r>
                      <a:r>
                        <a:rPr lang="zh-CN" altLang="en-US" sz="160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600">
                          <a:solidFill>
                            <a:schemeClr val="bg1"/>
                          </a:solidFill>
                        </a:rPr>
                        <a:t>Scrum </a:t>
                      </a:r>
                      <a:r>
                        <a:rPr lang="zh-CN" altLang="en-US" sz="1600">
                          <a:solidFill>
                            <a:schemeClr val="bg1"/>
                          </a:solidFill>
                        </a:rPr>
                        <a:t>敏捷</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 </a:t>
                      </a:r>
                      <a:r>
                        <a:rPr lang="en-US" sz="1600">
                          <a:solidFill>
                            <a:schemeClr val="bg1"/>
                          </a:solidFill>
                        </a:rPr>
                        <a:t>Sprint (2-4</a:t>
                      </a:r>
                      <a:r>
                        <a:rPr lang="zh-CN" altLang="en-US" sz="1600">
                          <a:solidFill>
                            <a:schemeClr val="bg1"/>
                          </a:solidFill>
                        </a:rPr>
                        <a:t>周</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严格 </a:t>
                      </a:r>
                      <a:r>
                        <a:rPr lang="en-US" altLang="zh-CN" sz="1600">
                          <a:solidFill>
                            <a:schemeClr val="bg1"/>
                          </a:solidFill>
                        </a:rPr>
                        <a:t>(</a:t>
                      </a:r>
                      <a:r>
                        <a:rPr lang="en-US" sz="1600">
                          <a:solidFill>
                            <a:schemeClr val="bg1"/>
                          </a:solidFill>
                        </a:rPr>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600">
                          <a:solidFill>
                            <a:schemeClr val="bg1"/>
                          </a:solidFill>
                        </a:rPr>
                        <a:t>Kanban </a:t>
                      </a:r>
                      <a:r>
                        <a:rPr lang="zh-CN" altLang="en-US" sz="1600">
                          <a:solidFill>
                            <a:schemeClr val="bg1"/>
                          </a:solidFill>
                        </a:rPr>
                        <a:t>看板</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持续流动 </a:t>
                      </a:r>
                      <a:r>
                        <a:rPr lang="en-US" altLang="zh-CN" sz="1600">
                          <a:solidFill>
                            <a:schemeClr val="bg1"/>
                          </a:solidFill>
                        </a:rPr>
                        <a:t>(</a:t>
                      </a:r>
                      <a:r>
                        <a:rPr lang="zh-CN" altLang="en-US" sz="1600">
                          <a:solidFill>
                            <a:schemeClr val="bg1"/>
                          </a:solidFill>
                        </a:rPr>
                        <a:t>无固定周期</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无特定角色</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600">
                          <a:solidFill>
                            <a:schemeClr val="bg1"/>
                          </a:solidFill>
                        </a:rPr>
                        <a:t>XP </a:t>
                      </a:r>
                      <a:r>
                        <a:rPr lang="zh-CN" altLang="en-US" sz="1600">
                          <a:solidFill>
                            <a:schemeClr val="bg1"/>
                          </a:solidFill>
                        </a:rPr>
                        <a:t>极限编程</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通常配合 </a:t>
                      </a:r>
                      <a:r>
                        <a:rPr lang="en-US" sz="1600">
                          <a:solidFill>
                            <a:schemeClr val="bg1"/>
                          </a:solidFill>
                        </a:rPr>
                        <a:t>Scrum </a:t>
                      </a:r>
                      <a:r>
                        <a:rPr lang="zh-CN" altLang="en-US" sz="1600">
                          <a:solidFill>
                            <a:schemeClr val="bg1"/>
                          </a:solidFill>
                        </a:rPr>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强调结对</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600">
                          <a:solidFill>
                            <a:schemeClr val="bg1"/>
                          </a:solidFill>
                        </a:rPr>
                        <a:t>FDD </a:t>
                      </a:r>
                      <a:r>
                        <a:rPr lang="zh-CN" altLang="en-US" sz="1600">
                          <a:solidFill>
                            <a:schemeClr val="bg1"/>
                          </a:solidFill>
                        </a:rPr>
                        <a:t>特性驱动</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较正式 </a:t>
                      </a:r>
                      <a:r>
                        <a:rPr lang="en-US" altLang="zh-CN" sz="1600">
                          <a:solidFill>
                            <a:schemeClr val="bg1"/>
                          </a:solidFill>
                        </a:rPr>
                        <a:t>(</a:t>
                      </a:r>
                      <a:r>
                        <a:rPr lang="zh-CN" altLang="en-US" sz="1600">
                          <a:solidFill>
                            <a:schemeClr val="bg1"/>
                          </a:solidFill>
                        </a:rPr>
                        <a:t>首席程序员等</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600">
                          <a:solidFill>
                            <a:schemeClr val="bg1"/>
                          </a:solidFill>
                        </a:rPr>
                        <a:t>Crystal </a:t>
                      </a:r>
                      <a:r>
                        <a:rPr lang="zh-CN" altLang="en-US" sz="1600">
                          <a:solidFill>
                            <a:schemeClr val="bg1"/>
                          </a:solidFill>
                        </a:rPr>
                        <a:t>水晶</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a:t>2.5.4.2 </a:t>
            </a:r>
            <a:r>
              <a:rPr lang="zh-CN" altLang="en-US"/>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a:t>Kanban</a:t>
            </a:r>
            <a:endParaRPr lang="zh-CN" altLang="en-US"/>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991704868"/>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600">
                          <a:solidFill>
                            <a:schemeClr val="bg1"/>
                          </a:solidFill>
                        </a:rPr>
                        <a:t>Column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Icon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Role</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600">
                          <a:solidFill>
                            <a:schemeClr val="bg1"/>
                          </a:solidFill>
                        </a:rPr>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尚未开始的工作项（如用户故事、</a:t>
                      </a:r>
                      <a:r>
                        <a:rPr lang="en-US" altLang="zh-CN" sz="1600">
                          <a:solidFill>
                            <a:schemeClr val="bg1"/>
                          </a:solidFill>
                        </a:rPr>
                        <a:t>Bug</a:t>
                      </a:r>
                      <a:r>
                        <a:rPr lang="zh-CN" altLang="en-US" sz="1600">
                          <a:solidFill>
                            <a:schemeClr val="bg1"/>
                          </a:solidFill>
                        </a:rPr>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600">
                          <a:solidFill>
                            <a:schemeClr val="bg1"/>
                          </a:solidFill>
                        </a:rPr>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600">
                          <a:solidFill>
                            <a:schemeClr val="bg1"/>
                          </a:solidFill>
                        </a:rPr>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架构</a:t>
                      </a:r>
                      <a:r>
                        <a:rPr lang="en-US" altLang="zh-CN" sz="1600">
                          <a:solidFill>
                            <a:schemeClr val="bg1"/>
                          </a:solidFill>
                        </a:rPr>
                        <a:t>/</a:t>
                      </a:r>
                      <a:r>
                        <a:rPr lang="zh-CN" altLang="en-US" sz="1600">
                          <a:solidFill>
                            <a:schemeClr val="bg1"/>
                          </a:solidFill>
                        </a:rPr>
                        <a:t>界面</a:t>
                      </a:r>
                      <a:r>
                        <a:rPr lang="en-US" altLang="zh-CN" sz="1600">
                          <a:solidFill>
                            <a:schemeClr val="bg1"/>
                          </a:solidFill>
                        </a:rPr>
                        <a:t>/</a:t>
                      </a:r>
                      <a:r>
                        <a:rPr lang="zh-CN" altLang="en-US" sz="1600">
                          <a:solidFill>
                            <a:schemeClr val="bg1"/>
                          </a:solidFill>
                        </a:rPr>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600">
                          <a:solidFill>
                            <a:schemeClr val="bg1"/>
                          </a:solidFill>
                        </a:rPr>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核心价值创造环节，通常 </a:t>
                      </a:r>
                      <a:r>
                        <a:rPr lang="en-US" altLang="zh-CN" sz="1600">
                          <a:solidFill>
                            <a:schemeClr val="bg1"/>
                          </a:solidFill>
                        </a:rPr>
                        <a:t>WIP </a:t>
                      </a:r>
                      <a:r>
                        <a:rPr lang="zh-CN" altLang="en-US" sz="1600">
                          <a:solidFill>
                            <a:schemeClr val="bg1"/>
                          </a:solidFill>
                        </a:rPr>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600">
                          <a:solidFill>
                            <a:schemeClr val="bg1"/>
                          </a:solidFill>
                        </a:rPr>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a:solidFill>
                            <a:schemeClr val="bg1"/>
                          </a:solidFill>
                        </a:rPr>
                        <a:t>QA </a:t>
                      </a:r>
                      <a:r>
                        <a:rPr lang="zh-CN" altLang="en-US" sz="1600">
                          <a:solidFill>
                            <a:schemeClr val="bg1"/>
                          </a:solidFill>
                        </a:rPr>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600">
                          <a:solidFill>
                            <a:schemeClr val="bg1"/>
                          </a:solidFill>
                        </a:rPr>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用户</a:t>
                      </a:r>
                      <a:r>
                        <a:rPr lang="en-US" altLang="zh-CN" sz="1600">
                          <a:solidFill>
                            <a:schemeClr val="bg1"/>
                          </a:solidFill>
                        </a:rPr>
                        <a:t>/</a:t>
                      </a:r>
                      <a:r>
                        <a:rPr lang="en-US" sz="1600">
                          <a:solidFill>
                            <a:schemeClr val="bg1"/>
                          </a:solidFill>
                        </a:rPr>
                        <a:t>PO </a:t>
                      </a:r>
                      <a:r>
                        <a:rPr lang="zh-CN" altLang="en-US" sz="1600">
                          <a:solidFill>
                            <a:schemeClr val="bg1"/>
                          </a:solidFill>
                        </a:rPr>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600">
                          <a:solidFill>
                            <a:schemeClr val="bg1"/>
                          </a:solidFill>
                        </a:rPr>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自动或手动部署到预发</a:t>
                      </a:r>
                      <a:r>
                        <a:rPr lang="en-US" altLang="zh-CN" sz="1600">
                          <a:solidFill>
                            <a:schemeClr val="bg1"/>
                          </a:solidFill>
                        </a:rPr>
                        <a:t>/</a:t>
                      </a:r>
                      <a:r>
                        <a:rPr lang="zh-CN" altLang="en-US" sz="1600">
                          <a:solidFill>
                            <a:schemeClr val="bg1"/>
                          </a:solidFill>
                        </a:rPr>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600">
                          <a:solidFill>
                            <a:schemeClr val="bg1"/>
                          </a:solidFill>
                        </a:rPr>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价值交付终点，也是 </a:t>
                      </a:r>
                      <a:r>
                        <a:rPr lang="en-US" altLang="zh-CN" sz="1600">
                          <a:solidFill>
                            <a:schemeClr val="bg1"/>
                          </a:solidFill>
                        </a:rPr>
                        <a:t>Outcome </a:t>
                      </a:r>
                      <a:r>
                        <a:rPr lang="zh-CN" altLang="en-US" sz="1600">
                          <a:solidFill>
                            <a:schemeClr val="bg1"/>
                          </a:solidFill>
                        </a:rPr>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a:solidFill>
                  <a:srgbClr val="FFFF00"/>
                </a:solidFill>
              </a:rPr>
              <a:t>&lt;</a:t>
            </a:r>
            <a:r>
              <a:rPr lang="zh-CN" altLang="en-US" sz="2400">
                <a:solidFill>
                  <a:srgbClr val="FFFF00"/>
                </a:solidFill>
              </a:rPr>
              <a:t>动作</a:t>
            </a:r>
            <a:r>
              <a:rPr lang="en-US" altLang="zh-CN" sz="2400">
                <a:solidFill>
                  <a:srgbClr val="FFFF00"/>
                </a:solidFill>
              </a:rPr>
              <a:t>&gt; + &lt;</a:t>
            </a:r>
            <a:r>
              <a:rPr lang="zh-CN" altLang="en-US" sz="2400">
                <a:solidFill>
                  <a:srgbClr val="FFFF00"/>
                </a:solidFill>
              </a:rPr>
              <a:t>结果</a:t>
            </a:r>
            <a:r>
              <a:rPr lang="en-US" altLang="zh-CN" sz="2400">
                <a:solidFill>
                  <a:srgbClr val="FFFF00"/>
                </a:solidFill>
              </a:rPr>
              <a:t>&gt; + &lt;</a:t>
            </a:r>
            <a:r>
              <a:rPr lang="zh-CN" altLang="en-US" sz="2400">
                <a:solidFill>
                  <a:srgbClr val="FFFF00"/>
                </a:solidFill>
              </a:rPr>
              <a:t>对象</a:t>
            </a:r>
            <a:r>
              <a:rPr lang="en-US" altLang="zh-CN" sz="2400">
                <a:solidFill>
                  <a:srgbClr val="FFFF00"/>
                </a:solidFill>
              </a:rPr>
              <a:t>&gt;</a:t>
            </a:r>
            <a:br>
              <a:rPr lang="zh-CN" altLang="en-US" sz="2400">
                <a:solidFill>
                  <a:srgbClr val="FFFF00"/>
                </a:solidFill>
              </a:rPr>
            </a:br>
            <a:r>
              <a:rPr lang="en-US" altLang="zh-CN" sz="2400">
                <a:solidFill>
                  <a:srgbClr val="FFFF00"/>
                </a:solidFill>
              </a:rPr>
              <a:t>(Verb-Result-Object)</a:t>
            </a:r>
            <a:endParaRPr lang="zh-CN" altLang="en-US" sz="240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4101219854"/>
              </p:ext>
            </p:extLst>
          </p:nvPr>
        </p:nvGraphicFramePr>
        <p:xfrm>
          <a:off x="695325" y="2423160"/>
          <a:ext cx="10801350" cy="201168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60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编写登录界面的 </a:t>
                      </a:r>
                      <a:r>
                        <a:rPr lang="en-US" altLang="zh-CN" sz="1600">
                          <a:solidFill>
                            <a:schemeClr val="bg1"/>
                          </a:solidFill>
                        </a:rPr>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用户输入的密码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锁定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账户在 </a:t>
                      </a:r>
                      <a:r>
                        <a:rPr lang="en-US" altLang="zh-CN" sz="1600">
                          <a:solidFill>
                            <a:schemeClr val="bg1"/>
                          </a:solidFill>
                        </a:rPr>
                        <a:t>(</a:t>
                      </a:r>
                      <a:r>
                        <a:rPr lang="zh-CN" altLang="en-US" sz="1600">
                          <a:solidFill>
                            <a:schemeClr val="bg1"/>
                          </a:solidFill>
                        </a:rPr>
                        <a:t>结果</a:t>
                      </a:r>
                      <a:r>
                        <a:rPr lang="en-US" altLang="zh-CN" sz="1600">
                          <a:solidFill>
                            <a:schemeClr val="bg1"/>
                          </a:solidFill>
                        </a:rPr>
                        <a:t>) 5 </a:t>
                      </a:r>
                      <a:r>
                        <a:rPr lang="zh-CN" altLang="en-US" sz="1600">
                          <a:solidFill>
                            <a:schemeClr val="bg1"/>
                          </a:solidFill>
                        </a:rPr>
                        <a:t>次失败尝试后 </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r>
                        <a:rPr lang="zh-CN" altLang="en-US" sz="1600">
                          <a:solidFill>
                            <a:schemeClr val="bg1"/>
                          </a:solidFill>
                        </a:rPr>
                        <a:t>条件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生成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临时登录会话令牌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1388611509"/>
              </p:ext>
            </p:extLst>
          </p:nvPr>
        </p:nvGraphicFramePr>
        <p:xfrm>
          <a:off x="695326" y="2987380"/>
          <a:ext cx="10801348" cy="327689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60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关键性 </a:t>
                      </a:r>
                      <a:r>
                        <a:rPr lang="en-US" sz="160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600">
                          <a:solidFill>
                            <a:schemeClr val="bg1"/>
                          </a:solidFill>
                        </a:rPr>
                        <a:t>Crystal Clear</a:t>
                      </a:r>
                      <a:br>
                        <a:rPr lang="en-US" sz="1600">
                          <a:solidFill>
                            <a:schemeClr val="bg1"/>
                          </a:solidFill>
                        </a:rPr>
                      </a:br>
                      <a:r>
                        <a:rPr lang="zh-CN" altLang="en-US" sz="1600">
                          <a:solidFill>
                            <a:schemeClr val="bg1"/>
                          </a:solidFill>
                        </a:rPr>
                        <a:t>透明水晶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 8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舒适型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最轻量级。几乎不需要文档，靠面对面沟通</a:t>
                      </a:r>
                      <a:endParaRPr lang="en-US" altLang="zh-CN" sz="1600">
                        <a:solidFill>
                          <a:schemeClr val="bg1"/>
                        </a:solidFill>
                      </a:endParaRPr>
                    </a:p>
                    <a:p>
                      <a:pPr algn="l">
                        <a:buNone/>
                      </a:pPr>
                      <a:r>
                        <a:rPr lang="zh-CN" altLang="en-US" sz="1600">
                          <a:solidFill>
                            <a:schemeClr val="bg1"/>
                          </a:solidFill>
                        </a:rPr>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600">
                          <a:solidFill>
                            <a:schemeClr val="bg1"/>
                          </a:solidFill>
                        </a:rPr>
                        <a:t>Crystal Yellow</a:t>
                      </a:r>
                      <a:br>
                        <a:rPr lang="en-US" sz="1600">
                          <a:solidFill>
                            <a:schemeClr val="bg1"/>
                          </a:solidFill>
                        </a:rPr>
                      </a:br>
                      <a:r>
                        <a:rPr lang="zh-CN" altLang="en-US" sz="1600">
                          <a:solidFill>
                            <a:schemeClr val="bg1"/>
                          </a:solidFill>
                        </a:rPr>
                        <a:t>黄水晶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10 ~ 20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 </a:t>
                      </a:r>
                      <a:r>
                        <a:rPr lang="en-US" altLang="zh-CN" sz="1600">
                          <a:solidFill>
                            <a:schemeClr val="bg1"/>
                          </a:solidFill>
                        </a:rPr>
                        <a:t>(</a:t>
                      </a:r>
                      <a:r>
                        <a:rPr lang="zh-CN" altLang="en-US" sz="1600">
                          <a:solidFill>
                            <a:schemeClr val="bg1"/>
                          </a:solidFill>
                        </a:rPr>
                        <a:t>重要型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需要少量的文档和定期的里程碑检查</a:t>
                      </a:r>
                      <a:endParaRPr lang="en-US" altLang="zh-CN" sz="1600">
                        <a:solidFill>
                          <a:schemeClr val="bg1"/>
                        </a:solidFill>
                      </a:endParaRPr>
                    </a:p>
                    <a:p>
                      <a:pPr algn="l">
                        <a:buNone/>
                      </a:pPr>
                      <a:r>
                        <a:rPr lang="zh-CN" altLang="en-US" sz="1600">
                          <a:solidFill>
                            <a:schemeClr val="bg1"/>
                          </a:solidFill>
                        </a:rPr>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600">
                          <a:solidFill>
                            <a:schemeClr val="bg1"/>
                          </a:solidFill>
                        </a:rPr>
                        <a:t>Crystal Orange</a:t>
                      </a:r>
                      <a:br>
                        <a:rPr lang="en-US" sz="1600">
                          <a:solidFill>
                            <a:schemeClr val="bg1"/>
                          </a:solidFill>
                        </a:rPr>
                      </a:br>
                      <a:r>
                        <a:rPr lang="zh-CN" altLang="en-US" sz="1600">
                          <a:solidFill>
                            <a:schemeClr val="bg1"/>
                          </a:solidFill>
                        </a:rPr>
                        <a:t>橙水晶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20 ~ 50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 </a:t>
                      </a:r>
                      <a:r>
                        <a:rPr lang="en-US" altLang="zh-CN" sz="1600">
                          <a:solidFill>
                            <a:schemeClr val="bg1"/>
                          </a:solidFill>
                        </a:rPr>
                        <a:t>(</a:t>
                      </a:r>
                      <a:r>
                        <a:rPr lang="zh-CN" altLang="en-US" sz="1600">
                          <a:solidFill>
                            <a:schemeClr val="bg1"/>
                          </a:solidFill>
                        </a:rPr>
                        <a:t>关键型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需要更正式的架构设计、详细的文档和严格的测试</a:t>
                      </a:r>
                      <a:endParaRPr lang="en-US" altLang="zh-CN" sz="1600">
                        <a:solidFill>
                          <a:schemeClr val="bg1"/>
                        </a:solidFill>
                      </a:endParaRPr>
                    </a:p>
                    <a:p>
                      <a:pPr algn="l">
                        <a:buNone/>
                      </a:pPr>
                      <a:r>
                        <a:rPr lang="zh-CN" altLang="en-US" sz="1600">
                          <a:solidFill>
                            <a:schemeClr val="bg1"/>
                          </a:solidFill>
                        </a:rPr>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600">
                          <a:solidFill>
                            <a:schemeClr val="bg1"/>
                          </a:solidFill>
                        </a:rPr>
                        <a:t>Crystal Red</a:t>
                      </a:r>
                      <a:br>
                        <a:rPr lang="en-US" sz="1600">
                          <a:solidFill>
                            <a:schemeClr val="bg1"/>
                          </a:solidFill>
                        </a:rPr>
                      </a:br>
                      <a:r>
                        <a:rPr lang="zh-CN" altLang="en-US" sz="1600">
                          <a:solidFill>
                            <a:schemeClr val="bg1"/>
                          </a:solidFill>
                        </a:rPr>
                        <a:t>红水晶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50 ~ 100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生命攸关</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非常严格，接近传统瀑布模型的严谨性，但保留敏捷迭代</a:t>
                      </a:r>
                      <a:endParaRPr lang="en-US" altLang="zh-CN" sz="1600">
                        <a:solidFill>
                          <a:schemeClr val="bg1"/>
                        </a:solidFill>
                      </a:endParaRPr>
                    </a:p>
                    <a:p>
                      <a:pPr algn="l">
                        <a:buNone/>
                      </a:pPr>
                      <a:r>
                        <a:rPr lang="zh-CN" altLang="en-US" sz="1600">
                          <a:solidFill>
                            <a:schemeClr val="bg1"/>
                          </a:solidFill>
                        </a:rPr>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还有 </a:t>
                      </a:r>
                      <a:r>
                        <a:rPr lang="en-US" altLang="zh-CN" sz="1600">
                          <a:solidFill>
                            <a:schemeClr val="bg1"/>
                          </a:solidFill>
                        </a:rPr>
                        <a:t>Diamond (</a:t>
                      </a:r>
                      <a:r>
                        <a:rPr lang="zh-CN" altLang="en-US" sz="1600">
                          <a:solidFill>
                            <a:schemeClr val="bg1"/>
                          </a:solidFill>
                        </a:rPr>
                        <a:t>钻石</a:t>
                      </a:r>
                      <a:r>
                        <a:rPr lang="en-US" altLang="zh-CN" sz="1600">
                          <a:solidFill>
                            <a:schemeClr val="bg1"/>
                          </a:solidFill>
                        </a:rPr>
                        <a:t>) </a:t>
                      </a:r>
                      <a:r>
                        <a:rPr lang="zh-CN" altLang="en-US" sz="1600">
                          <a:solidFill>
                            <a:schemeClr val="bg1"/>
                          </a:solidFill>
                        </a:rPr>
                        <a:t>等更重的变体</a:t>
                      </a:r>
                      <a:endParaRPr lang="en-US" altLang="zh-CN" sz="1600">
                        <a:solidFill>
                          <a:schemeClr val="bg1"/>
                        </a:solidFill>
                      </a:endParaRPr>
                    </a:p>
                    <a:p>
                      <a:pPr algn="l">
                        <a:buNone/>
                      </a:pPr>
                      <a:r>
                        <a:rPr lang="zh-CN" altLang="en-US" sz="1600">
                          <a:solidFill>
                            <a:schemeClr val="bg1"/>
                          </a:solidFill>
                        </a:rPr>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806641664"/>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XP</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Crystal</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流程框架 </a:t>
                      </a:r>
                      <a:r>
                        <a:rPr lang="en-US" altLang="zh-CN" sz="1600">
                          <a:solidFill>
                            <a:schemeClr val="bg1"/>
                          </a:solidFill>
                        </a:rPr>
                        <a:t>(</a:t>
                      </a:r>
                      <a:r>
                        <a:rPr lang="zh-CN" altLang="en-US" sz="1600">
                          <a:solidFill>
                            <a:schemeClr val="bg1"/>
                          </a:solidFill>
                        </a:rPr>
                        <a:t>角色、会议、工件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工程实践 </a:t>
                      </a:r>
                      <a:r>
                        <a:rPr lang="en-US" altLang="zh-CN" sz="1600">
                          <a:solidFill>
                            <a:schemeClr val="bg1"/>
                          </a:solidFill>
                        </a:rPr>
                        <a:t>(</a:t>
                      </a:r>
                      <a:r>
                        <a:rPr lang="zh-CN" altLang="en-US" sz="1600">
                          <a:solidFill>
                            <a:schemeClr val="bg1"/>
                          </a:solidFill>
                        </a:rPr>
                        <a:t>结对编程、</a:t>
                      </a:r>
                      <a:r>
                        <a:rPr lang="en-US" altLang="zh-CN" sz="1600">
                          <a:solidFill>
                            <a:schemeClr val="bg1"/>
                          </a:solidFill>
                        </a:rPr>
                        <a:t>TDD</a:t>
                      </a:r>
                      <a:r>
                        <a:rPr lang="zh-CN" altLang="en-US" sz="1600">
                          <a:solidFill>
                            <a:schemeClr val="bg1"/>
                          </a:solidFill>
                        </a:rPr>
                        <a:t>、重构</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 </a:t>
                      </a:r>
                      <a:r>
                        <a:rPr lang="en-US" altLang="zh-CN" sz="1600">
                          <a:solidFill>
                            <a:schemeClr val="bg1"/>
                          </a:solidFill>
                        </a:rPr>
                        <a:t>(</a:t>
                      </a:r>
                      <a:r>
                        <a:rPr lang="zh-CN" altLang="en-US" sz="1600">
                          <a:solidFill>
                            <a:schemeClr val="bg1"/>
                          </a:solidFill>
                        </a:rPr>
                        <a:t>根据情境调整</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中等 </a:t>
                      </a:r>
                      <a:r>
                        <a:rPr lang="en-US" altLang="zh-CN" sz="1600">
                          <a:solidFill>
                            <a:schemeClr val="bg1"/>
                          </a:solidFill>
                        </a:rPr>
                        <a:t>(</a:t>
                      </a:r>
                      <a:r>
                        <a:rPr lang="zh-CN" altLang="en-US" sz="1600">
                          <a:solidFill>
                            <a:schemeClr val="bg1"/>
                          </a:solidFill>
                        </a:rPr>
                        <a:t>规则相对固定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必须遵守严格的技术实践</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没有固定规则，按需定制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600">
                          <a:solidFill>
                            <a:schemeClr val="bg1"/>
                          </a:solidFill>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600">
                          <a:solidFill>
                            <a:schemeClr val="bg1"/>
                          </a:solidFill>
                        </a:rPr>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适中 </a:t>
                      </a:r>
                      <a:r>
                        <a:rPr lang="en-US" altLang="zh-CN" sz="1600">
                          <a:solidFill>
                            <a:schemeClr val="bg1"/>
                          </a:solidFill>
                        </a:rPr>
                        <a:t>(</a:t>
                      </a:r>
                      <a:r>
                        <a:rPr lang="en-US" sz="1600">
                          <a:solidFill>
                            <a:schemeClr val="bg1"/>
                          </a:solidFill>
                        </a:rPr>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代码即文档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动态调整 </a:t>
                      </a:r>
                      <a:r>
                        <a:rPr lang="en-US" altLang="zh-CN" sz="1600">
                          <a:solidFill>
                            <a:schemeClr val="bg1"/>
                          </a:solidFill>
                        </a:rPr>
                        <a:t>(Clear </a:t>
                      </a:r>
                      <a:r>
                        <a:rPr lang="zh-CN" altLang="en-US" sz="1600">
                          <a:solidFill>
                            <a:schemeClr val="bg1"/>
                          </a:solidFill>
                        </a:rPr>
                        <a:t>几乎无文档，</a:t>
                      </a:r>
                      <a:r>
                        <a:rPr lang="en-US" altLang="zh-CN" sz="1600">
                          <a:solidFill>
                            <a:schemeClr val="bg1"/>
                          </a:solidFill>
                        </a:rPr>
                        <a:t>Red </a:t>
                      </a:r>
                      <a:r>
                        <a:rPr lang="zh-CN" altLang="en-US" sz="1600">
                          <a:solidFill>
                            <a:schemeClr val="bg1"/>
                          </a:solidFill>
                        </a:rPr>
                        <a:t>大量文档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600">
                          <a:solidFill>
                            <a:schemeClr val="bg1"/>
                          </a:solidFill>
                        </a:rPr>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a:hlinkClick r:id="rId3"/>
              </a:rPr>
              <a:t>https://scrumguides.org</a:t>
            </a:r>
            <a:r>
              <a:rPr lang="en-US" altLang="zh-CN"/>
              <a:t> </a:t>
            </a:r>
          </a:p>
          <a:p>
            <a:r>
              <a:rPr lang="en-US" altLang="zh-CN"/>
              <a:t>Scrum is a lightweight framework that helps people, teams and organizations generate value through adaptive solutions for complex problems. </a:t>
            </a:r>
            <a:endParaRPr lang="zh-CN" altLang="en-US"/>
          </a:p>
          <a:p>
            <a:endParaRPr lang="en-US" altLang="zh-CN"/>
          </a:p>
          <a:p>
            <a:r>
              <a:rPr lang="en-US" altLang="zh-CN"/>
              <a:t>Changing the core design or ideas of Scrum</a:t>
            </a:r>
          </a:p>
          <a:p>
            <a:r>
              <a:rPr lang="en-US" altLang="zh-CN"/>
              <a:t>leaving out elements</a:t>
            </a:r>
          </a:p>
          <a:p>
            <a:r>
              <a:rPr lang="en-US" altLang="zh-CN"/>
              <a:t>not following the rules of Scrum</a:t>
            </a:r>
          </a:p>
          <a:p>
            <a:endParaRPr lang="en-US" altLang="zh-CN"/>
          </a:p>
          <a:p>
            <a:r>
              <a:rPr lang="en-US" altLang="zh-CN"/>
              <a:t>covers up problems and limits the benefits of Scrum</a:t>
            </a:r>
          </a:p>
          <a:p>
            <a:r>
              <a:rPr lang="en-US" altLang="zh-CN"/>
              <a:t>potentially even rendering it useless.</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a:t>透明性 </a:t>
            </a:r>
            <a:r>
              <a:rPr lang="en-US" altLang="zh-CN"/>
              <a:t>Transparency</a:t>
            </a:r>
          </a:p>
          <a:p>
            <a:pPr lvl="1"/>
            <a:r>
              <a:rPr lang="en-US" altLang="zh-CN"/>
              <a:t>must be visible to those performing the work as well as those receiving the work</a:t>
            </a:r>
          </a:p>
          <a:p>
            <a:pPr lvl="1"/>
            <a:r>
              <a:rPr lang="en-US" altLang="zh-CN"/>
              <a:t>low transparency can lead to decisions that diminish value and increase risk</a:t>
            </a:r>
          </a:p>
          <a:p>
            <a:pPr lvl="1"/>
            <a:r>
              <a:rPr lang="en-US" altLang="zh-CN"/>
              <a:t>Inspection without transparency is misleading and wasteful.</a:t>
            </a:r>
          </a:p>
          <a:p>
            <a:r>
              <a:rPr lang="zh-CN" altLang="en-US"/>
              <a:t>检视 </a:t>
            </a:r>
            <a:r>
              <a:rPr lang="en-US" altLang="zh-CN"/>
              <a:t>Inspection</a:t>
            </a:r>
          </a:p>
          <a:p>
            <a:pPr lvl="1"/>
            <a:r>
              <a:rPr lang="en-US" altLang="zh-CN"/>
              <a:t>must be inspected frequently and diligently to detect potentially undesirable variances or problems</a:t>
            </a:r>
          </a:p>
          <a:p>
            <a:r>
              <a:rPr lang="zh-CN" altLang="en-US"/>
              <a:t>适应 </a:t>
            </a:r>
            <a:r>
              <a:rPr lang="en-US" altLang="zh-CN"/>
              <a:t>Adaptation</a:t>
            </a:r>
          </a:p>
          <a:p>
            <a:pPr lvl="1"/>
            <a:r>
              <a:rPr lang="en-US" altLang="zh-CN"/>
              <a:t>Case1</a:t>
            </a:r>
            <a:r>
              <a:rPr lang="zh-CN" altLang="en-US"/>
              <a:t>：</a:t>
            </a:r>
            <a:r>
              <a:rPr lang="en-US" altLang="zh-CN"/>
              <a:t>any aspects of a process deviate outside acceptable limits</a:t>
            </a:r>
          </a:p>
          <a:p>
            <a:pPr lvl="1"/>
            <a:r>
              <a:rPr lang="en-US" altLang="zh-CN"/>
              <a:t>Case2</a:t>
            </a:r>
            <a:r>
              <a:rPr lang="zh-CN" altLang="en-US"/>
              <a:t>：</a:t>
            </a:r>
            <a:r>
              <a:rPr lang="en-US" altLang="zh-CN"/>
              <a:t>the resulting product is unacceptable</a:t>
            </a:r>
          </a:p>
          <a:p>
            <a:pPr lvl="1"/>
            <a:r>
              <a:rPr lang="en-US" altLang="zh-CN"/>
              <a:t>Case3</a:t>
            </a:r>
            <a:r>
              <a:rPr lang="zh-CN" altLang="en-US"/>
              <a:t>：</a:t>
            </a:r>
            <a:r>
              <a:rPr lang="en-US" altLang="zh-CN"/>
              <a:t>expected to adapt the moment it learns anything new through inspection</a:t>
            </a:r>
          </a:p>
          <a:p>
            <a:pPr lvl="1"/>
            <a:r>
              <a:rPr lang="en-US" altLang="zh-CN"/>
              <a:t>becomes more difficult when the people involved are not empowered or self-managing</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9" name="内容占位符 8">
            <a:extLst>
              <a:ext uri="{FF2B5EF4-FFF2-40B4-BE49-F238E27FC236}">
                <a16:creationId xmlns:a16="http://schemas.microsoft.com/office/drawing/2014/main" id="{A23C3B99-CAF5-6029-433F-44B4D272855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所有与过程、工作、进展和挑战相关的信息必须对团队和干系人清晰可见</a:t>
              </a:r>
            </a:p>
            <a:p>
              <a:pPr marL="285750" indent="-285750" algn="just">
                <a:buFont typeface="Arial" panose="020B0604020202020204" pitchFamily="34" charset="0"/>
                <a:buChar char="•"/>
              </a:pPr>
              <a:r>
                <a:rPr lang="zh-CN" altLang="en-US" sz="1600">
                  <a:solidFill>
                    <a:schemeClr val="bg1"/>
                  </a:solidFill>
                </a:rPr>
                <a:t>工作项（如 </a:t>
              </a:r>
              <a:r>
                <a:rPr lang="en-US" altLang="zh-CN" sz="1600">
                  <a:solidFill>
                    <a:schemeClr val="bg1"/>
                  </a:solidFill>
                </a:rPr>
                <a:t>Product Backlog</a:t>
              </a:r>
              <a:r>
                <a:rPr lang="zh-CN" altLang="en-US" sz="1600">
                  <a:solidFill>
                    <a:schemeClr val="bg1"/>
                  </a:solidFill>
                </a:rPr>
                <a:t>）的内容、状态和优先级必须公开</a:t>
              </a:r>
            </a:p>
            <a:p>
              <a:pPr marL="285750" indent="-285750" algn="just">
                <a:buFont typeface="Arial" panose="020B0604020202020204" pitchFamily="34" charset="0"/>
                <a:buChar char="•"/>
              </a:pPr>
              <a:r>
                <a:rPr lang="zh-CN" altLang="en-US" sz="1600">
                  <a:solidFill>
                    <a:schemeClr val="bg1"/>
                  </a:solidFill>
                </a:rPr>
                <a:t>团队使用统一的术语（如完成定义 </a:t>
              </a:r>
              <a:r>
                <a:rPr lang="en-US" altLang="zh-CN" sz="1600">
                  <a:solidFill>
                    <a:schemeClr val="bg1"/>
                  </a:solidFill>
                </a:rPr>
                <a:t>- Definition of Done</a:t>
              </a:r>
              <a:r>
                <a:rPr lang="zh-CN" altLang="en-US" sz="1600">
                  <a:solidFill>
                    <a:schemeClr val="bg1"/>
                  </a:solidFill>
                </a:rPr>
                <a:t>）</a:t>
              </a:r>
            </a:p>
            <a:p>
              <a:pPr marL="285750" indent="-285750" algn="just">
                <a:buFont typeface="Arial" panose="020B0604020202020204" pitchFamily="34" charset="0"/>
                <a:buChar char="•"/>
              </a:pPr>
              <a:r>
                <a:rPr lang="zh-CN" altLang="en-US" sz="1600">
                  <a:solidFill>
                    <a:schemeClr val="bg1"/>
                  </a:solidFill>
                </a:rPr>
                <a:t>进度通过可视化工具（如 </a:t>
              </a:r>
              <a:r>
                <a:rPr lang="en-US" altLang="zh-CN" sz="1600">
                  <a:solidFill>
                    <a:schemeClr val="bg1"/>
                  </a:solidFill>
                </a:rPr>
                <a:t>Sprint Burndown Chart</a:t>
              </a:r>
              <a:r>
                <a:rPr lang="zh-CN" altLang="en-US" sz="1600">
                  <a:solidFill>
                    <a:schemeClr val="bg1"/>
                  </a:solidFill>
                </a:rPr>
                <a:t>、看板）展示</a:t>
              </a:r>
            </a:p>
            <a:p>
              <a:pPr marL="285750" indent="-285750" algn="just">
                <a:buFont typeface="Arial" panose="020B0604020202020204" pitchFamily="34" charset="0"/>
                <a:buChar char="•"/>
              </a:pPr>
              <a:r>
                <a:rPr lang="zh-CN" altLang="en-US" sz="1600">
                  <a:solidFill>
                    <a:schemeClr val="bg1"/>
                  </a:solidFill>
                </a:rPr>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基于检视结果，团队必须迅速调整行为、计划或方法</a:t>
              </a:r>
            </a:p>
            <a:p>
              <a:pPr marL="285750" indent="-285750" algn="just">
                <a:buFont typeface="Arial" panose="020B0604020202020204" pitchFamily="34" charset="0"/>
                <a:buChar char="•"/>
              </a:pPr>
              <a:r>
                <a:rPr lang="zh-CN" altLang="en-US" sz="1600">
                  <a:solidFill>
                    <a:schemeClr val="bg1"/>
                  </a:solidFill>
                </a:rPr>
                <a:t>如果发现产品方向偏离，可在下个 </a:t>
              </a:r>
              <a:r>
                <a:rPr lang="en-US" altLang="zh-CN" sz="1600">
                  <a:solidFill>
                    <a:schemeClr val="bg1"/>
                  </a:solidFill>
                </a:rPr>
                <a:t>Sprint </a:t>
              </a:r>
              <a:r>
                <a:rPr lang="zh-CN" altLang="en-US" sz="1600">
                  <a:solidFill>
                    <a:schemeClr val="bg1"/>
                  </a:solidFill>
                </a:rPr>
                <a:t>调整 </a:t>
              </a:r>
              <a:r>
                <a:rPr lang="en-US" altLang="zh-CN" sz="1600">
                  <a:solidFill>
                    <a:schemeClr val="bg1"/>
                  </a:solidFill>
                </a:rPr>
                <a:t>Backlog</a:t>
              </a:r>
              <a:endParaRPr lang="zh-CN" altLang="en-US" sz="1600">
                <a:solidFill>
                  <a:schemeClr val="bg1"/>
                </a:solidFill>
              </a:endParaRPr>
            </a:p>
            <a:p>
              <a:pPr marL="285750" indent="-285750" algn="just">
                <a:buFont typeface="Arial" panose="020B0604020202020204" pitchFamily="34" charset="0"/>
                <a:buChar char="•"/>
              </a:pPr>
              <a:r>
                <a:rPr lang="zh-CN" altLang="en-US" sz="1600">
                  <a:solidFill>
                    <a:schemeClr val="bg1"/>
                  </a:solidFill>
                </a:rPr>
                <a:t>如果流程效率低，可在 </a:t>
              </a:r>
              <a:r>
                <a:rPr lang="en-US" altLang="zh-CN" sz="1600">
                  <a:solidFill>
                    <a:schemeClr val="bg1"/>
                  </a:solidFill>
                </a:rPr>
                <a:t>Retrospective </a:t>
              </a:r>
              <a:r>
                <a:rPr lang="zh-CN" altLang="en-US" sz="1600">
                  <a:solidFill>
                    <a:schemeClr val="bg1"/>
                  </a:solidFill>
                </a:rPr>
                <a:t>后改进工作方式</a:t>
              </a:r>
            </a:p>
            <a:p>
              <a:pPr marL="285750" indent="-285750" algn="just">
                <a:buFont typeface="Arial" panose="020B0604020202020204" pitchFamily="34" charset="0"/>
                <a:buChar char="•"/>
              </a:pPr>
              <a:r>
                <a:rPr lang="zh-CN" altLang="en-US" sz="1600">
                  <a:solidFill>
                    <a:schemeClr val="bg1"/>
                  </a:solidFill>
                </a:rPr>
                <a:t>适应必须在可接受的时间窗口内发生（通常在下一个 </a:t>
              </a:r>
              <a:r>
                <a:rPr lang="en-US" altLang="zh-CN" sz="1600">
                  <a:solidFill>
                    <a:schemeClr val="bg1"/>
                  </a:solidFill>
                </a:rPr>
                <a:t>Sprint </a:t>
              </a:r>
              <a:r>
                <a:rPr lang="zh-CN" altLang="en-US" sz="1600">
                  <a:solidFill>
                    <a:schemeClr val="bg1"/>
                  </a:solidFill>
                </a:rPr>
                <a:t>开始前）</a:t>
              </a:r>
            </a:p>
            <a:p>
              <a:pPr marL="285750" indent="-285750" algn="just">
                <a:buFont typeface="Arial" panose="020B0604020202020204" pitchFamily="34" charset="0"/>
                <a:buChar char="•"/>
              </a:pPr>
              <a:r>
                <a:rPr lang="zh-CN" altLang="en-US" sz="1600">
                  <a:solidFill>
                    <a:schemeClr val="bg1"/>
                  </a:solidFill>
                </a:rPr>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solidFill>
                    <a:schemeClr val="bg1"/>
                  </a:solidFill>
                </a:rPr>
                <a:t>Scrum </a:t>
              </a:r>
              <a:r>
                <a:rPr lang="zh-CN" altLang="en-US" sz="1600">
                  <a:solidFill>
                    <a:schemeClr val="bg1"/>
                  </a:solidFill>
                </a:rPr>
                <a:t>团队定期检查产品、过程和计划，以识别偏差或改进机会</a:t>
              </a:r>
            </a:p>
            <a:p>
              <a:pPr marL="285750" indent="-285750" algn="just">
                <a:buFont typeface="Arial" panose="020B0604020202020204" pitchFamily="34" charset="0"/>
                <a:buChar char="•"/>
              </a:pPr>
              <a:r>
                <a:rPr lang="zh-CN" altLang="en-US" sz="1600">
                  <a:solidFill>
                    <a:schemeClr val="bg1"/>
                  </a:solidFill>
                </a:rPr>
                <a:t>在固定时间点进行：</a:t>
              </a:r>
            </a:p>
            <a:p>
              <a:pPr marL="285750" indent="-285750" algn="just">
                <a:buFont typeface="Arial" panose="020B0604020202020204" pitchFamily="34" charset="0"/>
                <a:buChar char="•"/>
              </a:pPr>
              <a:r>
                <a:rPr lang="en-US" altLang="zh-CN" sz="1600">
                  <a:solidFill>
                    <a:schemeClr val="bg1"/>
                  </a:solidFill>
                </a:rPr>
                <a:t>Daily Scrum</a:t>
              </a:r>
              <a:r>
                <a:rPr lang="zh-CN" altLang="en-US" sz="1600">
                  <a:solidFill>
                    <a:schemeClr val="bg1"/>
                  </a:solidFill>
                </a:rPr>
                <a:t>：每日检视进度与障碍</a:t>
              </a:r>
            </a:p>
            <a:p>
              <a:pPr marL="285750" indent="-285750" algn="just">
                <a:buFont typeface="Arial" panose="020B0604020202020204" pitchFamily="34" charset="0"/>
                <a:buChar char="•"/>
              </a:pPr>
              <a:r>
                <a:rPr lang="en-US" altLang="zh-CN" sz="1600">
                  <a:solidFill>
                    <a:schemeClr val="bg1"/>
                  </a:solidFill>
                </a:rPr>
                <a:t>Sprint Review</a:t>
              </a:r>
              <a:r>
                <a:rPr lang="zh-CN" altLang="en-US" sz="1600">
                  <a:solidFill>
                    <a:schemeClr val="bg1"/>
                  </a:solidFill>
                </a:rPr>
                <a:t>：检视可交付成果是否满足目标</a:t>
              </a:r>
            </a:p>
            <a:p>
              <a:pPr marL="285750" indent="-285750" algn="just">
                <a:buFont typeface="Arial" panose="020B0604020202020204" pitchFamily="34" charset="0"/>
                <a:buChar char="•"/>
              </a:pPr>
              <a:r>
                <a:rPr lang="en-US" altLang="zh-CN" sz="1600">
                  <a:solidFill>
                    <a:schemeClr val="bg1"/>
                  </a:solidFill>
                </a:rPr>
                <a:t>Sprint Retrospective</a:t>
              </a:r>
              <a:r>
                <a:rPr lang="zh-CN" altLang="en-US" sz="1600">
                  <a:solidFill>
                    <a:schemeClr val="bg1"/>
                  </a:solidFill>
                </a:rPr>
                <a:t>：检视流程与协作方式</a:t>
              </a:r>
            </a:p>
            <a:p>
              <a:pPr marL="285750" indent="-285750" algn="just">
                <a:buFont typeface="Arial" panose="020B0604020202020204" pitchFamily="34" charset="0"/>
                <a:buChar char="•"/>
              </a:pPr>
              <a:r>
                <a:rPr lang="zh-CN" altLang="en-US" sz="1600">
                  <a:solidFill>
                    <a:schemeClr val="bg1"/>
                  </a:solidFill>
                </a:rPr>
                <a:t>检视必须及时（不能等到项目结束），且不影响正常工作流</a:t>
              </a:r>
            </a:p>
            <a:p>
              <a:pPr marL="285750" indent="-285750" algn="just">
                <a:buFont typeface="Arial" panose="020B0604020202020204" pitchFamily="34" charset="0"/>
                <a:buChar char="•"/>
              </a:pPr>
              <a:r>
                <a:rPr lang="zh-CN" altLang="en-US" sz="1600">
                  <a:solidFill>
                    <a:schemeClr val="bg1"/>
                  </a:solidFill>
                </a:rPr>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6" name="内容占位符 5">
            <a:extLst>
              <a:ext uri="{FF2B5EF4-FFF2-40B4-BE49-F238E27FC236}">
                <a16:creationId xmlns:a16="http://schemas.microsoft.com/office/drawing/2014/main" id="{B0E9FE06-6944-4C48-74FE-E10F4D876405}"/>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67057156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Items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价值观 </a:t>
                      </a:r>
                      <a:r>
                        <a:rPr lang="en-US" altLang="zh-CN" sz="1600">
                          <a:solidFill>
                            <a:schemeClr val="bg1"/>
                          </a:solidFill>
                        </a:rPr>
                        <a:t>Values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承诺 </a:t>
                      </a:r>
                      <a:r>
                        <a:rPr lang="en-US" altLang="zh-CN" sz="1600">
                          <a:solidFill>
                            <a:schemeClr val="bg1"/>
                          </a:solidFill>
                        </a:rPr>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专注 </a:t>
                      </a:r>
                      <a:r>
                        <a:rPr lang="en-US" altLang="zh-CN" sz="1600">
                          <a:solidFill>
                            <a:schemeClr val="bg1"/>
                          </a:solidFill>
                        </a:rPr>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开放</a:t>
                      </a:r>
                      <a:r>
                        <a:rPr lang="en-US" altLang="zh-CN" sz="1600">
                          <a:solidFill>
                            <a:schemeClr val="bg1"/>
                          </a:solidFill>
                        </a:rPr>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尊重</a:t>
                      </a:r>
                      <a:r>
                        <a:rPr lang="en-US" altLang="zh-CN" sz="1600">
                          <a:solidFill>
                            <a:schemeClr val="bg1"/>
                          </a:solidFill>
                        </a:rPr>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勇气</a:t>
                      </a:r>
                      <a:r>
                        <a:rPr lang="en-US" altLang="zh-CN" sz="1600">
                          <a:solidFill>
                            <a:schemeClr val="bg1"/>
                          </a:solidFill>
                        </a:rPr>
                        <a:t> Courage</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团队 </a:t>
                      </a:r>
                      <a:r>
                        <a:rPr lang="en-US" altLang="zh-CN" sz="1600">
                          <a:solidFill>
                            <a:schemeClr val="bg1"/>
                          </a:solidFill>
                        </a:rPr>
                        <a:t>Team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开发者 </a:t>
                      </a:r>
                      <a:r>
                        <a:rPr lang="en-US" altLang="zh-CN" sz="1600">
                          <a:solidFill>
                            <a:schemeClr val="bg1"/>
                          </a:solidFill>
                        </a:rPr>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产品负责人 </a:t>
                      </a:r>
                      <a:r>
                        <a:rPr lang="en-US" altLang="zh-CN" sz="1600">
                          <a:solidFill>
                            <a:schemeClr val="bg1"/>
                          </a:solidFill>
                        </a:rPr>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敏捷教练 </a:t>
                      </a:r>
                      <a:r>
                        <a:rPr lang="en-US" altLang="zh-CN" sz="1600">
                          <a:solidFill>
                            <a:schemeClr val="bg1"/>
                          </a:solidFill>
                        </a:rPr>
                        <a:t>Scrum Master</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事件 </a:t>
                      </a:r>
                      <a:r>
                        <a:rPr lang="en-US" altLang="zh-CN" sz="1600">
                          <a:solidFill>
                            <a:schemeClr val="bg1"/>
                          </a:solidFill>
                        </a:rPr>
                        <a:t>Events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 </a:t>
                      </a:r>
                      <a:r>
                        <a:rPr lang="en-US" altLang="zh-CN" sz="1600" b="0" i="0" u="none" strike="noStrike" kern="1200">
                          <a:solidFill>
                            <a:schemeClr val="bg1"/>
                          </a:solidFill>
                          <a:effectLst/>
                          <a:latin typeface="+mn-lt"/>
                          <a:ea typeface="+mn-ea"/>
                          <a:cs typeface="+mn-cs"/>
                        </a:rPr>
                        <a:t>The Sprint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冲刺规划 </a:t>
                      </a:r>
                      <a:r>
                        <a:rPr lang="en-US" altLang="zh-CN" sz="1600" b="0" i="0" u="none" strike="noStrike" kern="1200">
                          <a:solidFill>
                            <a:schemeClr val="bg1"/>
                          </a:solidFill>
                          <a:effectLst/>
                          <a:latin typeface="+mn-lt"/>
                          <a:ea typeface="+mn-ea"/>
                          <a:cs typeface="+mn-cs"/>
                        </a:rPr>
                        <a:t>Sprint Planning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每日站会 </a:t>
                      </a:r>
                      <a:r>
                        <a:rPr lang="en-US" altLang="zh-CN" sz="1600" b="0" i="0" u="none" strike="noStrike" kern="1200">
                          <a:solidFill>
                            <a:schemeClr val="bg1"/>
                          </a:solidFill>
                          <a:effectLst/>
                          <a:latin typeface="+mn-lt"/>
                          <a:ea typeface="+mn-ea"/>
                          <a:cs typeface="+mn-cs"/>
                        </a:rPr>
                        <a:t>Daily Scrum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冲刺评审 </a:t>
                      </a:r>
                      <a:r>
                        <a:rPr lang="en-US" altLang="zh-CN" sz="1600" b="0" i="0" u="none" strike="noStrike" kern="1200">
                          <a:solidFill>
                            <a:schemeClr val="bg1"/>
                          </a:solidFill>
                          <a:effectLst/>
                          <a:latin typeface="+mn-lt"/>
                          <a:ea typeface="+mn-ea"/>
                          <a:cs typeface="+mn-cs"/>
                        </a:rPr>
                        <a:t>Sprint Review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冲刺回顾 </a:t>
                      </a:r>
                      <a:r>
                        <a:rPr lang="en-US" altLang="zh-CN" sz="1600" b="0" i="0" u="none" strike="noStrike" kern="1200">
                          <a:solidFill>
                            <a:schemeClr val="bg1"/>
                          </a:solidFill>
                          <a:effectLst/>
                          <a:latin typeface="+mn-lt"/>
                          <a:ea typeface="+mn-ea"/>
                          <a:cs typeface="+mn-cs"/>
                        </a:rPr>
                        <a:t>Sprint Retrospective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工件 </a:t>
                      </a:r>
                      <a:r>
                        <a:rPr lang="en-US" altLang="zh-CN" sz="1600">
                          <a:solidFill>
                            <a:schemeClr val="bg1"/>
                          </a:solidFill>
                        </a:rPr>
                        <a:t>Aircrafts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产品待办事项 </a:t>
                      </a:r>
                      <a:r>
                        <a:rPr lang="en-US" altLang="zh-CN" sz="1600" b="0" i="0" u="none" strike="noStrike" kern="1200">
                          <a:solidFill>
                            <a:schemeClr val="bg1"/>
                          </a:solidFill>
                          <a:effectLst/>
                          <a:latin typeface="+mn-lt"/>
                          <a:ea typeface="+mn-ea"/>
                          <a:cs typeface="+mn-cs"/>
                        </a:rPr>
                        <a:t>Product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迭代待办列表 </a:t>
                      </a:r>
                      <a:r>
                        <a:rPr lang="en-US" altLang="zh-CN" sz="1600" b="0" i="0" u="none" strike="noStrike" kern="1200">
                          <a:solidFill>
                            <a:schemeClr val="bg1"/>
                          </a:solidFill>
                          <a:effectLst/>
                          <a:latin typeface="+mn-lt"/>
                          <a:ea typeface="+mn-ea"/>
                          <a:cs typeface="+mn-cs"/>
                        </a:rPr>
                        <a:t>Sprint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增加 </a:t>
                      </a:r>
                      <a:r>
                        <a:rPr lang="en-US" altLang="zh-CN" sz="1600" b="0" i="0" u="none" strike="noStrike" kern="1200">
                          <a:solidFill>
                            <a:schemeClr val="bg1"/>
                          </a:solidFill>
                          <a:effectLst/>
                          <a:latin typeface="+mn-lt"/>
                          <a:ea typeface="+mn-ea"/>
                          <a:cs typeface="+mn-cs"/>
                        </a:rPr>
                        <a:t>Increment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513399" y="5825192"/>
            <a:ext cx="1912703" cy="338554"/>
          </a:xfrm>
          <a:prstGeom prst="rect">
            <a:avLst/>
          </a:prstGeom>
          <a:noFill/>
        </p:spPr>
        <p:txBody>
          <a:bodyPr wrap="none" rtlCol="0">
            <a:spAutoFit/>
          </a:bodyPr>
          <a:lstStyle/>
          <a:p>
            <a:pPr algn="ctr"/>
            <a:r>
              <a:rPr lang="en-US" altLang="zh-CN" sz="1600" u="sng">
                <a:solidFill>
                  <a:srgbClr val="FFFF00"/>
                </a:solidFill>
              </a:rPr>
              <a:t>Product Backlog</a:t>
            </a:r>
            <a:endParaRPr lang="zh-CN" altLang="en-US" sz="1600" u="sng">
              <a:solidFill>
                <a:srgbClr val="FFFF00"/>
              </a:solidFill>
            </a:endParaRPr>
          </a:p>
        </p:txBody>
      </p:sp>
      <p:sp>
        <p:nvSpPr>
          <p:cNvPr id="16" name="文本框 15">
            <a:extLst>
              <a:ext uri="{FF2B5EF4-FFF2-40B4-BE49-F238E27FC236}">
                <a16:creationId xmlns:a16="http://schemas.microsoft.com/office/drawing/2014/main" id="{4262DDDD-FE14-AFB9-5B56-9B47A1F90D75}"/>
              </a:ext>
            </a:extLst>
          </p:cNvPr>
          <p:cNvSpPr txBox="1"/>
          <p:nvPr/>
        </p:nvSpPr>
        <p:spPr>
          <a:xfrm>
            <a:off x="3189754" y="5825192"/>
            <a:ext cx="1704313" cy="338554"/>
          </a:xfrm>
          <a:prstGeom prst="rect">
            <a:avLst/>
          </a:prstGeom>
          <a:noFill/>
        </p:spPr>
        <p:txBody>
          <a:bodyPr wrap="none" rtlCol="0">
            <a:spAutoFit/>
          </a:bodyPr>
          <a:lstStyle/>
          <a:p>
            <a:pPr algn="ctr"/>
            <a:r>
              <a:rPr lang="en-US" altLang="zh-CN" sz="1600" u="sng">
                <a:solidFill>
                  <a:srgbClr val="FFFF00"/>
                </a:solidFill>
              </a:rPr>
              <a:t>Sprint Backlog</a:t>
            </a:r>
            <a:endParaRPr lang="zh-CN" altLang="en-US" sz="1600" u="sng">
              <a:solidFill>
                <a:srgbClr val="FFFF00"/>
              </a:solidFill>
            </a:endParaRPr>
          </a:p>
        </p:txBody>
      </p:sp>
      <p:sp>
        <p:nvSpPr>
          <p:cNvPr id="19" name="文本框 18">
            <a:extLst>
              <a:ext uri="{FF2B5EF4-FFF2-40B4-BE49-F238E27FC236}">
                <a16:creationId xmlns:a16="http://schemas.microsoft.com/office/drawing/2014/main" id="{51C05E4B-16AF-EB18-51CD-5143A0C4944C}"/>
              </a:ext>
            </a:extLst>
          </p:cNvPr>
          <p:cNvSpPr txBox="1"/>
          <p:nvPr/>
        </p:nvSpPr>
        <p:spPr>
          <a:xfrm>
            <a:off x="7605565" y="5825192"/>
            <a:ext cx="1271502" cy="338554"/>
          </a:xfrm>
          <a:prstGeom prst="rect">
            <a:avLst/>
          </a:prstGeom>
          <a:noFill/>
        </p:spPr>
        <p:txBody>
          <a:bodyPr wrap="none" rtlCol="0">
            <a:spAutoFit/>
          </a:bodyPr>
          <a:lstStyle/>
          <a:p>
            <a:pPr algn="ctr"/>
            <a:r>
              <a:rPr lang="en-US" altLang="zh-CN" sz="1600" u="sng">
                <a:solidFill>
                  <a:srgbClr val="FFFF00"/>
                </a:solidFill>
              </a:rPr>
              <a:t>Increment</a:t>
            </a:r>
            <a:endParaRPr lang="zh-CN" altLang="en-US" sz="1600" u="sng">
              <a:solidFill>
                <a:srgbClr val="FFFF00"/>
              </a:solidFill>
            </a:endParaRPr>
          </a:p>
        </p:txBody>
      </p:sp>
      <p:sp>
        <p:nvSpPr>
          <p:cNvPr id="28" name="文本框 27">
            <a:extLst>
              <a:ext uri="{FF2B5EF4-FFF2-40B4-BE49-F238E27FC236}">
                <a16:creationId xmlns:a16="http://schemas.microsoft.com/office/drawing/2014/main" id="{5EA054E3-2D8B-30EB-1FB9-D427AB4834B5}"/>
              </a:ext>
            </a:extLst>
          </p:cNvPr>
          <p:cNvSpPr txBox="1"/>
          <p:nvPr/>
        </p:nvSpPr>
        <p:spPr>
          <a:xfrm>
            <a:off x="2002483" y="4433319"/>
            <a:ext cx="1760417" cy="338554"/>
          </a:xfrm>
          <a:prstGeom prst="rect">
            <a:avLst/>
          </a:prstGeom>
          <a:noFill/>
        </p:spPr>
        <p:txBody>
          <a:bodyPr wrap="none" rtlCol="0">
            <a:spAutoFit/>
          </a:bodyPr>
          <a:lstStyle/>
          <a:p>
            <a:pPr algn="ctr"/>
            <a:r>
              <a:rPr lang="en-US" altLang="zh-CN" sz="1600" b="1">
                <a:solidFill>
                  <a:schemeClr val="bg1"/>
                </a:solidFill>
              </a:rPr>
              <a:t>Sprint planning</a:t>
            </a:r>
            <a:endParaRPr lang="zh-CN" altLang="en-US" sz="1600" b="1">
              <a:solidFill>
                <a:schemeClr val="bg1"/>
              </a:solidFill>
            </a:endParaRPr>
          </a:p>
        </p:txBody>
      </p:sp>
      <p:sp>
        <p:nvSpPr>
          <p:cNvPr id="29" name="文本框 28">
            <a:extLst>
              <a:ext uri="{FF2B5EF4-FFF2-40B4-BE49-F238E27FC236}">
                <a16:creationId xmlns:a16="http://schemas.microsoft.com/office/drawing/2014/main" id="{A99EDA19-CDB9-E837-B15A-D53478C112FE}"/>
              </a:ext>
            </a:extLst>
          </p:cNvPr>
          <p:cNvSpPr txBox="1"/>
          <p:nvPr/>
        </p:nvSpPr>
        <p:spPr>
          <a:xfrm>
            <a:off x="9200481" y="5320601"/>
            <a:ext cx="926857" cy="338554"/>
          </a:xfrm>
          <a:prstGeom prst="rect">
            <a:avLst/>
          </a:prstGeom>
          <a:noFill/>
        </p:spPr>
        <p:txBody>
          <a:bodyPr wrap="none" rtlCol="0">
            <a:spAutoFit/>
          </a:bodyPr>
          <a:lstStyle/>
          <a:p>
            <a:pPr algn="ctr"/>
            <a:r>
              <a:rPr lang="en-US" altLang="zh-CN" sz="1600" b="1">
                <a:solidFill>
                  <a:schemeClr val="bg1"/>
                </a:solidFill>
              </a:rPr>
              <a:t>Review</a:t>
            </a:r>
            <a:endParaRPr lang="zh-CN" altLang="en-US" sz="1600" b="1">
              <a:solidFill>
                <a:schemeClr val="bg1"/>
              </a:solidFill>
            </a:endParaRPr>
          </a:p>
        </p:txBody>
      </p:sp>
      <p:sp>
        <p:nvSpPr>
          <p:cNvPr id="54" name="文本框 53">
            <a:extLst>
              <a:ext uri="{FF2B5EF4-FFF2-40B4-BE49-F238E27FC236}">
                <a16:creationId xmlns:a16="http://schemas.microsoft.com/office/drawing/2014/main" id="{8CB15623-04C7-DD26-E5DC-1D79846BF18D}"/>
              </a:ext>
            </a:extLst>
          </p:cNvPr>
          <p:cNvSpPr txBox="1"/>
          <p:nvPr/>
        </p:nvSpPr>
        <p:spPr>
          <a:xfrm>
            <a:off x="5125125" y="3507896"/>
            <a:ext cx="1465466" cy="584775"/>
          </a:xfrm>
          <a:prstGeom prst="rect">
            <a:avLst/>
          </a:prstGeom>
          <a:noFill/>
        </p:spPr>
        <p:txBody>
          <a:bodyPr wrap="none" rtlCol="0">
            <a:spAutoFit/>
          </a:bodyPr>
          <a:lstStyle/>
          <a:p>
            <a:pPr algn="ctr"/>
            <a:r>
              <a:rPr lang="en-US" altLang="zh-CN" sz="1600" b="1">
                <a:solidFill>
                  <a:schemeClr val="bg1"/>
                </a:solidFill>
              </a:rPr>
              <a:t>Sprint</a:t>
            </a:r>
          </a:p>
          <a:p>
            <a:pPr algn="ctr"/>
            <a:r>
              <a:rPr lang="en-US" altLang="zh-CN" sz="1600">
                <a:solidFill>
                  <a:schemeClr val="bg1"/>
                </a:solidFill>
              </a:rPr>
              <a:t>2 to 4 weeks</a:t>
            </a:r>
            <a:endParaRPr lang="zh-CN" altLang="en-US" sz="1600">
              <a:solidFill>
                <a:schemeClr val="bg1"/>
              </a:solidFill>
            </a:endParaRPr>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90903" y="2514197"/>
            <a:ext cx="785793" cy="338554"/>
          </a:xfrm>
          <a:prstGeom prst="rect">
            <a:avLst/>
          </a:prstGeom>
          <a:noFill/>
        </p:spPr>
        <p:txBody>
          <a:bodyPr wrap="none" rtlCol="0">
            <a:spAutoFit/>
          </a:bodyPr>
          <a:lstStyle/>
          <a:p>
            <a:pPr algn="ctr"/>
            <a:r>
              <a:rPr lang="en-US" altLang="zh-CN" sz="1600">
                <a:solidFill>
                  <a:schemeClr val="bg1"/>
                </a:solidFill>
              </a:rPr>
              <a:t>15min</a:t>
            </a:r>
            <a:endParaRPr lang="zh-CN" altLang="en-US" sz="1600">
              <a:solidFill>
                <a:schemeClr val="bg1"/>
              </a:solidFill>
            </a:endParaRPr>
          </a:p>
        </p:txBody>
      </p:sp>
      <p:sp>
        <p:nvSpPr>
          <p:cNvPr id="17" name="文本框 16">
            <a:extLst>
              <a:ext uri="{FF2B5EF4-FFF2-40B4-BE49-F238E27FC236}">
                <a16:creationId xmlns:a16="http://schemas.microsoft.com/office/drawing/2014/main" id="{563A674A-A145-FECB-1FF2-11714DBBF3F7}"/>
              </a:ext>
            </a:extLst>
          </p:cNvPr>
          <p:cNvSpPr txBox="1"/>
          <p:nvPr/>
        </p:nvSpPr>
        <p:spPr>
          <a:xfrm>
            <a:off x="10478382" y="5320601"/>
            <a:ext cx="1601721" cy="338554"/>
          </a:xfrm>
          <a:prstGeom prst="rect">
            <a:avLst/>
          </a:prstGeom>
          <a:noFill/>
        </p:spPr>
        <p:txBody>
          <a:bodyPr wrap="none" rtlCol="0">
            <a:spAutoFit/>
          </a:bodyPr>
          <a:lstStyle/>
          <a:p>
            <a:pPr algn="ctr"/>
            <a:r>
              <a:rPr lang="en-US" altLang="zh-CN" sz="1600" b="1">
                <a:solidFill>
                  <a:schemeClr val="bg1"/>
                </a:solidFill>
              </a:rPr>
              <a:t>Retrospective</a:t>
            </a:r>
            <a:endParaRPr lang="zh-CN" altLang="en-US" sz="1600" b="1">
              <a:solidFill>
                <a:schemeClr val="bg1"/>
              </a:solidFill>
            </a:endParaRPr>
          </a:p>
        </p:txBody>
      </p:sp>
      <p:sp>
        <p:nvSpPr>
          <p:cNvPr id="32" name="文本框 31">
            <a:extLst>
              <a:ext uri="{FF2B5EF4-FFF2-40B4-BE49-F238E27FC236}">
                <a16:creationId xmlns:a16="http://schemas.microsoft.com/office/drawing/2014/main" id="{95F543A5-685E-23F0-388A-B0E3AC76F149}"/>
              </a:ext>
            </a:extLst>
          </p:cNvPr>
          <p:cNvSpPr txBox="1"/>
          <p:nvPr/>
        </p:nvSpPr>
        <p:spPr>
          <a:xfrm>
            <a:off x="5282496" y="1734851"/>
            <a:ext cx="1404552" cy="338554"/>
          </a:xfrm>
          <a:prstGeom prst="rect">
            <a:avLst/>
          </a:prstGeom>
          <a:noFill/>
        </p:spPr>
        <p:txBody>
          <a:bodyPr wrap="none" rtlCol="0">
            <a:spAutoFit/>
          </a:bodyPr>
          <a:lstStyle/>
          <a:p>
            <a:pPr algn="ctr"/>
            <a:r>
              <a:rPr lang="en-US" altLang="zh-CN" sz="1600" b="1">
                <a:solidFill>
                  <a:schemeClr val="bg1"/>
                </a:solidFill>
              </a:rPr>
              <a:t>Daily scrum</a:t>
            </a:r>
            <a:endParaRPr lang="zh-CN" altLang="en-US" sz="1600" b="1">
              <a:solidFill>
                <a:schemeClr val="bg1"/>
              </a:solidFill>
            </a:endParaRPr>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222202" y="2297887"/>
            <a:ext cx="918842" cy="338554"/>
          </a:xfrm>
          <a:prstGeom prst="rect">
            <a:avLst/>
          </a:prstGeom>
          <a:noFill/>
        </p:spPr>
        <p:txBody>
          <a:bodyPr wrap="none" rtlCol="0">
            <a:spAutoFit/>
          </a:bodyPr>
          <a:lstStyle/>
          <a:p>
            <a:pPr algn="ctr"/>
            <a:r>
              <a:rPr lang="en-US" altLang="zh-CN" sz="1600">
                <a:solidFill>
                  <a:schemeClr val="bg1"/>
                </a:solidFill>
              </a:rPr>
              <a:t>SM/PM</a:t>
            </a:r>
            <a:endParaRPr lang="zh-CN" altLang="en-US" sz="1600">
              <a:solidFill>
                <a:schemeClr val="bg1"/>
              </a:solidFill>
            </a:endParaRPr>
          </a:p>
        </p:txBody>
      </p:sp>
      <p:sp>
        <p:nvSpPr>
          <p:cNvPr id="51" name="文本框 50">
            <a:extLst>
              <a:ext uri="{FF2B5EF4-FFF2-40B4-BE49-F238E27FC236}">
                <a16:creationId xmlns:a16="http://schemas.microsoft.com/office/drawing/2014/main" id="{A29F0030-8404-5B6F-5078-F5171BA0A0BA}"/>
              </a:ext>
            </a:extLst>
          </p:cNvPr>
          <p:cNvSpPr txBox="1"/>
          <p:nvPr/>
        </p:nvSpPr>
        <p:spPr>
          <a:xfrm>
            <a:off x="339093" y="5368433"/>
            <a:ext cx="503664" cy="338554"/>
          </a:xfrm>
          <a:prstGeom prst="rect">
            <a:avLst/>
          </a:prstGeom>
          <a:noFill/>
        </p:spPr>
        <p:txBody>
          <a:bodyPr wrap="none" rtlCol="0">
            <a:spAutoFit/>
          </a:bodyPr>
          <a:lstStyle/>
          <a:p>
            <a:pPr algn="ctr"/>
            <a:r>
              <a:rPr lang="en-US" altLang="zh-CN" sz="1600">
                <a:solidFill>
                  <a:schemeClr val="bg1"/>
                </a:solidFill>
              </a:rPr>
              <a:t>PO</a:t>
            </a:r>
            <a:endParaRPr lang="zh-CN" altLang="en-US" sz="1600">
              <a:solidFill>
                <a:schemeClr val="bg1"/>
              </a:solidFill>
            </a:endParaRPr>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77365" y="5092484"/>
            <a:ext cx="1239442" cy="338554"/>
          </a:xfrm>
          <a:prstGeom prst="rect">
            <a:avLst/>
          </a:prstGeom>
          <a:noFill/>
        </p:spPr>
        <p:txBody>
          <a:bodyPr wrap="none" rtlCol="0">
            <a:spAutoFit/>
          </a:bodyPr>
          <a:lstStyle/>
          <a:p>
            <a:pPr algn="ctr"/>
            <a:r>
              <a:rPr lang="en-US" altLang="zh-CN" sz="1600">
                <a:solidFill>
                  <a:schemeClr val="bg1"/>
                </a:solidFill>
              </a:rPr>
              <a:t>Developer</a:t>
            </a:r>
            <a:endParaRPr lang="zh-CN" altLang="en-US" sz="1600">
              <a:solidFill>
                <a:schemeClr val="bg1"/>
              </a:solidFill>
            </a:endParaRPr>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b="1">
                  <a:solidFill>
                    <a:schemeClr val="bg1"/>
                  </a:solidFill>
                </a:rPr>
                <a:t>Commitment</a:t>
              </a:r>
            </a:p>
            <a:p>
              <a:pPr algn="ctr"/>
              <a:r>
                <a:rPr lang="zh-CN" altLang="en-US" sz="1600">
                  <a:solidFill>
                    <a:schemeClr val="bg1"/>
                  </a:solidFill>
                </a:rPr>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1</a:t>
              </a:r>
              <a:endParaRPr lang="zh-CN" altLang="en-US">
                <a:solidFill>
                  <a:schemeClr val="bg1"/>
                </a:solidFill>
              </a:endParaRPr>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b="1">
                  <a:solidFill>
                    <a:schemeClr val="bg1"/>
                  </a:solidFill>
                </a:rPr>
                <a:t>Focus</a:t>
              </a:r>
            </a:p>
            <a:p>
              <a:pPr algn="ctr"/>
              <a:r>
                <a:rPr lang="zh-CN" altLang="en-US" sz="1600">
                  <a:solidFill>
                    <a:schemeClr val="bg1"/>
                  </a:solidFill>
                </a:rPr>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2</a:t>
              </a:r>
              <a:endParaRPr lang="zh-CN" altLang="en-US">
                <a:solidFill>
                  <a:schemeClr val="bg1"/>
                </a:solidFill>
              </a:endParaRPr>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b="1">
                  <a:solidFill>
                    <a:schemeClr val="bg1"/>
                  </a:solidFill>
                </a:rPr>
                <a:t>Openness</a:t>
              </a:r>
            </a:p>
            <a:p>
              <a:pPr algn="ctr"/>
              <a:r>
                <a:rPr lang="zh-CN" altLang="en-US" sz="1600">
                  <a:solidFill>
                    <a:schemeClr val="bg1"/>
                  </a:solidFill>
                </a:rPr>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3</a:t>
              </a:r>
              <a:endParaRPr lang="zh-CN" altLang="en-US">
                <a:solidFill>
                  <a:schemeClr val="bg1"/>
                </a:solidFill>
              </a:endParaRPr>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b="1">
                  <a:solidFill>
                    <a:schemeClr val="bg1"/>
                  </a:solidFill>
                </a:rPr>
                <a:t>Respect</a:t>
              </a:r>
            </a:p>
            <a:p>
              <a:pPr algn="ctr"/>
              <a:r>
                <a:rPr lang="zh-CN" altLang="en-US" sz="1600">
                  <a:solidFill>
                    <a:schemeClr val="bg1"/>
                  </a:solidFill>
                </a:rPr>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4</a:t>
              </a:r>
              <a:endParaRPr lang="zh-CN" altLang="en-US">
                <a:solidFill>
                  <a:schemeClr val="bg1"/>
                </a:solidFill>
              </a:endParaRPr>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b="1">
                  <a:solidFill>
                    <a:schemeClr val="bg1"/>
                  </a:solidFill>
                </a:rPr>
                <a:t>Courage</a:t>
              </a:r>
              <a:endParaRPr lang="zh-CN" altLang="en-US" sz="1600" b="1">
                <a:solidFill>
                  <a:schemeClr val="bg1"/>
                </a:solidFill>
              </a:endParaRPr>
            </a:p>
            <a:p>
              <a:pPr algn="ctr"/>
              <a:r>
                <a:rPr lang="zh-CN" altLang="en-US" sz="1600">
                  <a:solidFill>
                    <a:schemeClr val="bg1"/>
                  </a:solidFill>
                </a:rPr>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5</a:t>
              </a:r>
              <a:endParaRPr lang="zh-CN" altLang="en-US">
                <a:solidFill>
                  <a:schemeClr val="bg1"/>
                </a:solidFill>
              </a:endParaRPr>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Scrum Team</a:t>
            </a:r>
            <a:endParaRPr lang="zh-CN" altLang="en-US">
              <a:solidFill>
                <a:schemeClr val="bg1"/>
              </a:solidFill>
            </a:endParaRPr>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Product Owner</a:t>
            </a:r>
            <a:endParaRPr lang="zh-CN" altLang="en-US">
              <a:solidFill>
                <a:schemeClr val="bg1"/>
              </a:solidFill>
            </a:endParaRPr>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带领、培训和作为教练辅导组织采纳 </a:t>
            </a:r>
            <a:r>
              <a:rPr lang="en-US" altLang="zh-CN"/>
              <a:t>Scrum </a:t>
            </a:r>
          </a:p>
          <a:p>
            <a:pPr lvl="1"/>
            <a:r>
              <a:rPr lang="en-US" altLang="zh-CN"/>
              <a:t>Leading, training, and coaching the organization in its Scrum adoption</a:t>
            </a:r>
          </a:p>
          <a:p>
            <a:r>
              <a:rPr lang="zh-CN" altLang="en-US"/>
              <a:t>在组织范围内规划并建议 </a:t>
            </a:r>
            <a:r>
              <a:rPr lang="en-US" altLang="zh-CN"/>
              <a:t>Scrum </a:t>
            </a:r>
            <a:r>
              <a:rPr lang="zh-CN" altLang="en-US"/>
              <a:t>的实施</a:t>
            </a:r>
            <a:endParaRPr lang="en-US" altLang="zh-CN"/>
          </a:p>
          <a:p>
            <a:pPr lvl="1"/>
            <a:r>
              <a:rPr lang="en-US" altLang="zh-CN"/>
              <a:t>Planning and advising Scrum implementations within the organization</a:t>
            </a:r>
          </a:p>
          <a:p>
            <a:r>
              <a:rPr lang="zh-CN" altLang="en-US"/>
              <a:t>帮助员工和干系人理解并实施针对复杂工作的经验主义方法</a:t>
            </a:r>
            <a:endParaRPr lang="en-US" altLang="zh-CN"/>
          </a:p>
          <a:p>
            <a:pPr lvl="1"/>
            <a:r>
              <a:rPr lang="en-US" altLang="zh-CN"/>
              <a:t>Helping employees and stakeholders understand and enact an empirical approach for complex work</a:t>
            </a:r>
          </a:p>
          <a:p>
            <a:r>
              <a:rPr lang="zh-CN" altLang="en-US"/>
              <a:t>消除干系人和团队之间的隔阂</a:t>
            </a:r>
            <a:endParaRPr lang="en-US" altLang="zh-CN"/>
          </a:p>
          <a:p>
            <a:pPr lvl="1"/>
            <a:r>
              <a:rPr lang="en-US" altLang="zh-CN"/>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organization</a:t>
            </a:r>
            <a:endParaRPr lang="zh-CN" altLang="en-US">
              <a:solidFill>
                <a:schemeClr val="bg1"/>
              </a:solidFill>
            </a:endParaRPr>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solidFill>
                  <a:schemeClr val="bg1"/>
                </a:solidFill>
              </a:rPr>
              <a:t>形成</a:t>
            </a:r>
            <a:endParaRPr lang="en-US" altLang="zh-CN">
              <a:solidFill>
                <a:schemeClr val="bg1"/>
              </a:solidFill>
            </a:endParaRPr>
          </a:p>
          <a:p>
            <a:r>
              <a:rPr lang="en-US" altLang="zh-CN">
                <a:solidFill>
                  <a:schemeClr val="bg1"/>
                </a:solidFill>
              </a:rPr>
              <a:t>Forming</a:t>
            </a:r>
            <a:endParaRPr lang="zh-CN" altLang="en-US">
              <a:solidFill>
                <a:schemeClr val="bg1"/>
              </a:solidFill>
            </a:endParaRPr>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solidFill>
                  <a:schemeClr val="bg1"/>
                </a:solidFill>
              </a:rPr>
              <a:t>指导</a:t>
            </a:r>
            <a:endParaRPr lang="en-US" altLang="zh-CN">
              <a:solidFill>
                <a:schemeClr val="bg1"/>
              </a:solidFill>
            </a:endParaRPr>
          </a:p>
          <a:p>
            <a:r>
              <a:rPr lang="en-US" altLang="zh-CN">
                <a:solidFill>
                  <a:schemeClr val="bg1"/>
                </a:solidFill>
              </a:rPr>
              <a:t>Guiding</a:t>
            </a:r>
            <a:endParaRPr lang="zh-CN" altLang="en-US">
              <a:solidFill>
                <a:schemeClr val="bg1"/>
              </a:solidFill>
            </a:endParaRPr>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solidFill>
                  <a:schemeClr val="bg1"/>
                </a:solidFill>
              </a:rPr>
              <a:t>震荡</a:t>
            </a:r>
            <a:endParaRPr lang="en-US" altLang="zh-CN">
              <a:solidFill>
                <a:schemeClr val="bg1"/>
              </a:solidFill>
            </a:endParaRPr>
          </a:p>
          <a:p>
            <a:r>
              <a:rPr lang="en-US" altLang="zh-CN">
                <a:solidFill>
                  <a:schemeClr val="bg1"/>
                </a:solidFill>
              </a:rPr>
              <a:t>Storming</a:t>
            </a:r>
            <a:endParaRPr lang="zh-CN" altLang="en-US">
              <a:solidFill>
                <a:schemeClr val="bg1"/>
              </a:solidFill>
            </a:endParaRPr>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solidFill>
                  <a:schemeClr val="bg1"/>
                </a:solidFill>
              </a:rPr>
              <a:t>教练</a:t>
            </a:r>
            <a:endParaRPr lang="en-US" altLang="zh-CN">
              <a:solidFill>
                <a:schemeClr val="bg1"/>
              </a:solidFill>
            </a:endParaRPr>
          </a:p>
          <a:p>
            <a:r>
              <a:rPr lang="en-US" altLang="zh-CN">
                <a:solidFill>
                  <a:schemeClr val="bg1"/>
                </a:solidFill>
              </a:rPr>
              <a:t>Coaching</a:t>
            </a:r>
            <a:endParaRPr lang="zh-CN" altLang="en-US">
              <a:solidFill>
                <a:schemeClr val="bg1"/>
              </a:solidFill>
            </a:endParaRPr>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solidFill>
                  <a:schemeClr val="bg1"/>
                </a:solidFill>
              </a:rPr>
              <a:t>规范</a:t>
            </a:r>
            <a:endParaRPr lang="en-US" altLang="zh-CN">
              <a:solidFill>
                <a:schemeClr val="bg1"/>
              </a:solidFill>
            </a:endParaRPr>
          </a:p>
          <a:p>
            <a:r>
              <a:rPr lang="en-US" altLang="zh-CN">
                <a:solidFill>
                  <a:schemeClr val="bg1"/>
                </a:solidFill>
              </a:rPr>
              <a:t>Norming</a:t>
            </a:r>
            <a:endParaRPr lang="zh-CN" altLang="en-US">
              <a:solidFill>
                <a:schemeClr val="bg1"/>
              </a:solidFill>
            </a:endParaRPr>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solidFill>
                  <a:schemeClr val="bg1"/>
                </a:solidFill>
              </a:rPr>
              <a:t>参与</a:t>
            </a:r>
            <a:endParaRPr lang="en-US" altLang="zh-CN">
              <a:solidFill>
                <a:schemeClr val="bg1"/>
              </a:solidFill>
            </a:endParaRPr>
          </a:p>
          <a:p>
            <a:r>
              <a:rPr lang="en-US" altLang="zh-CN">
                <a:solidFill>
                  <a:schemeClr val="bg1"/>
                </a:solidFill>
              </a:rPr>
              <a:t>Participating </a:t>
            </a:r>
            <a:endParaRPr lang="zh-CN" altLang="en-US">
              <a:solidFill>
                <a:schemeClr val="bg1"/>
              </a:solidFill>
            </a:endParaRPr>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solidFill>
                  <a:schemeClr val="bg1"/>
                </a:solidFill>
              </a:rPr>
              <a:t>成熟</a:t>
            </a:r>
            <a:endParaRPr lang="en-US" altLang="zh-CN">
              <a:solidFill>
                <a:schemeClr val="bg1"/>
              </a:solidFill>
            </a:endParaRPr>
          </a:p>
          <a:p>
            <a:r>
              <a:rPr lang="en-US" altLang="zh-CN">
                <a:solidFill>
                  <a:schemeClr val="bg1"/>
                </a:solidFill>
              </a:rPr>
              <a:t>Performing</a:t>
            </a:r>
            <a:endParaRPr lang="zh-CN" altLang="en-US">
              <a:solidFill>
                <a:schemeClr val="bg1"/>
              </a:solidFill>
            </a:endParaRPr>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solidFill>
                  <a:schemeClr val="bg1"/>
                </a:solidFill>
              </a:rPr>
              <a:t>授权</a:t>
            </a:r>
            <a:endParaRPr lang="en-US" altLang="zh-CN">
              <a:solidFill>
                <a:schemeClr val="bg1"/>
              </a:solidFill>
            </a:endParaRPr>
          </a:p>
          <a:p>
            <a:r>
              <a:rPr lang="en-US" altLang="zh-CN">
                <a:solidFill>
                  <a:schemeClr val="bg1"/>
                </a:solidFill>
              </a:rPr>
              <a:t>Empowering</a:t>
            </a:r>
            <a:endParaRPr lang="zh-CN" altLang="en-US">
              <a:solidFill>
                <a:schemeClr val="bg1"/>
              </a:solidFill>
            </a:endParaRPr>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solidFill>
                  <a:schemeClr val="bg1"/>
                </a:solidFill>
              </a:rPr>
              <a:t>解散</a:t>
            </a:r>
            <a:endParaRPr lang="en-US" altLang="zh-CN">
              <a:solidFill>
                <a:schemeClr val="bg1"/>
              </a:solidFill>
            </a:endParaRPr>
          </a:p>
          <a:p>
            <a:r>
              <a:rPr lang="en-US" altLang="zh-CN">
                <a:solidFill>
                  <a:schemeClr val="bg1"/>
                </a:solidFill>
              </a:rPr>
              <a:t>Adjourning</a:t>
            </a:r>
            <a:endParaRPr lang="zh-CN" altLang="en-US">
              <a:solidFill>
                <a:schemeClr val="bg1"/>
              </a:solidFill>
            </a:endParaRP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Sprint</a:t>
            </a:r>
            <a:endParaRPr lang="zh-CN" altLang="en-US" sz="1600" kern="12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冲刺</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容器</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时间盒 </a:t>
            </a:r>
            <a:r>
              <a:rPr lang="en-US" altLang="zh-CN" sz="1400" kern="1200">
                <a:solidFill>
                  <a:schemeClr val="bg1"/>
                </a:solidFill>
              </a:rPr>
              <a:t>Time-box</a:t>
            </a:r>
          </a:p>
          <a:p>
            <a:pPr defTabSz="711200">
              <a:lnSpc>
                <a:spcPct val="90000"/>
              </a:lnSpc>
              <a:spcBef>
                <a:spcPct val="0"/>
              </a:spcBef>
              <a:spcAft>
                <a:spcPct val="35000"/>
              </a:spcAft>
            </a:pPr>
            <a:r>
              <a:rPr lang="en-US" altLang="zh-CN" sz="1400">
                <a:solidFill>
                  <a:schemeClr val="bg1"/>
                </a:solidFill>
              </a:rPr>
              <a:t>PO </a:t>
            </a:r>
            <a:r>
              <a:rPr lang="zh-CN" altLang="en-US" sz="1400">
                <a:solidFill>
                  <a:schemeClr val="bg1"/>
                </a:solidFill>
              </a:rPr>
              <a:t>可以取消冲刺</a:t>
            </a:r>
          </a:p>
          <a:p>
            <a:pPr marL="0" lvl="0" indent="0" algn="l" defTabSz="711200">
              <a:lnSpc>
                <a:spcPct val="90000"/>
              </a:lnSpc>
              <a:spcBef>
                <a:spcPct val="0"/>
              </a:spcBef>
              <a:spcAft>
                <a:spcPct val="35000"/>
              </a:spcAft>
              <a:buNone/>
            </a:pPr>
            <a:r>
              <a:rPr lang="en-US" altLang="zh-CN" sz="1400">
                <a:solidFill>
                  <a:schemeClr val="bg1"/>
                </a:solidFill>
              </a:rPr>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Spring Planning</a:t>
            </a:r>
            <a:endParaRPr lang="zh-CN" altLang="en-US" sz="1600" kern="12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规划</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会议</a:t>
            </a:r>
            <a:endParaRPr lang="en-US" altLang="zh-CN" sz="1400" kern="1200">
              <a:solidFill>
                <a:schemeClr val="bg1"/>
              </a:solidFill>
            </a:endParaRPr>
          </a:p>
          <a:p>
            <a:pPr lvl="0" defTabSz="711200">
              <a:lnSpc>
                <a:spcPct val="90000"/>
              </a:lnSpc>
              <a:spcBef>
                <a:spcPct val="0"/>
              </a:spcBef>
              <a:spcAft>
                <a:spcPct val="35000"/>
              </a:spcAft>
            </a:pPr>
            <a:r>
              <a:rPr lang="zh-CN" altLang="en-US" sz="1400">
                <a:solidFill>
                  <a:schemeClr val="bg1"/>
                </a:solidFill>
              </a:rPr>
              <a:t>第一个事件</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Why </a:t>
            </a:r>
            <a:r>
              <a:rPr lang="zh-CN" altLang="en-US" sz="1400">
                <a:solidFill>
                  <a:schemeClr val="bg1"/>
                </a:solidFill>
              </a:rPr>
              <a:t>为什么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What </a:t>
            </a:r>
            <a:r>
              <a:rPr lang="zh-CN" altLang="en-US" sz="1400">
                <a:solidFill>
                  <a:schemeClr val="bg1"/>
                </a:solidFill>
              </a:rPr>
              <a:t>做什么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How </a:t>
            </a:r>
            <a:r>
              <a:rPr lang="zh-CN" altLang="en-US" sz="1400">
                <a:solidFill>
                  <a:schemeClr val="bg1"/>
                </a:solidFill>
              </a:rPr>
              <a:t>如何做</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kern="1200">
                <a:solidFill>
                  <a:schemeClr val="bg1"/>
                </a:solidFill>
              </a:rPr>
              <a:t>8h</a:t>
            </a:r>
          </a:p>
          <a:p>
            <a:pPr marL="0" lvl="0" indent="0" algn="l" defTabSz="711200">
              <a:lnSpc>
                <a:spcPct val="90000"/>
              </a:lnSpc>
              <a:spcBef>
                <a:spcPct val="0"/>
              </a:spcBef>
              <a:spcAft>
                <a:spcPct val="35000"/>
              </a:spcAft>
              <a:buNone/>
            </a:pPr>
            <a:endParaRPr lang="en-US" altLang="zh-CN" sz="1400">
              <a:solidFill>
                <a:schemeClr val="bg1"/>
              </a:solidFill>
            </a:endParaRPr>
          </a:p>
          <a:p>
            <a:pPr marL="0" lvl="0" indent="0" algn="l" defTabSz="711200">
              <a:lnSpc>
                <a:spcPct val="90000"/>
              </a:lnSpc>
              <a:spcBef>
                <a:spcPct val="0"/>
              </a:spcBef>
              <a:spcAft>
                <a:spcPct val="35000"/>
              </a:spcAft>
              <a:buNone/>
            </a:pPr>
            <a:endParaRPr lang="zh-CN" altLang="en-US" sz="1400" kern="1200">
              <a:solidFill>
                <a:schemeClr val="bg1"/>
              </a:solidFill>
            </a:endParaRPr>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Daily Scrum</a:t>
            </a:r>
            <a:endParaRPr lang="zh-CN" altLang="en-US" sz="1600" kern="12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每日站会</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固定时间和地点</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检查进度</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同步信息</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调整计划及工作</a:t>
            </a:r>
          </a:p>
          <a:p>
            <a:pPr marL="0" lvl="0" indent="0" algn="l" defTabSz="711200">
              <a:lnSpc>
                <a:spcPct val="90000"/>
              </a:lnSpc>
              <a:spcBef>
                <a:spcPct val="0"/>
              </a:spcBef>
              <a:spcAft>
                <a:spcPct val="35000"/>
              </a:spcAft>
              <a:buNone/>
            </a:pPr>
            <a:r>
              <a:rPr lang="en-US" altLang="zh-CN" sz="1400" kern="1200">
                <a:solidFill>
                  <a:schemeClr val="bg1"/>
                </a:solidFill>
              </a:rPr>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Review</a:t>
            </a:r>
            <a:endParaRPr lang="zh-CN" altLang="en-US" sz="1600" kern="12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评审</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监视冲刺成果</a:t>
            </a:r>
            <a:endParaRPr lang="en-US" altLang="zh-CN" sz="1400"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搜集反馈</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调整方向</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促进协作和透明</a:t>
            </a:r>
            <a:endParaRPr lang="en-US" altLang="zh-CN" sz="1400" kern="1200">
              <a:solidFill>
                <a:schemeClr val="bg1"/>
              </a:solidFill>
            </a:endParaRPr>
          </a:p>
          <a:p>
            <a:pPr defTabSz="711200">
              <a:lnSpc>
                <a:spcPct val="90000"/>
              </a:lnSpc>
              <a:spcBef>
                <a:spcPct val="0"/>
              </a:spcBef>
              <a:spcAft>
                <a:spcPct val="35000"/>
              </a:spcAft>
            </a:pPr>
            <a:r>
              <a:rPr lang="zh-CN" altLang="en-US" sz="1400">
                <a:solidFill>
                  <a:schemeClr val="bg1"/>
                </a:solidFill>
              </a:rPr>
              <a:t>非仅仅展示</a:t>
            </a:r>
          </a:p>
          <a:p>
            <a:pPr marL="0" lvl="0" indent="0" algn="l" defTabSz="711200">
              <a:lnSpc>
                <a:spcPct val="90000"/>
              </a:lnSpc>
              <a:spcBef>
                <a:spcPct val="0"/>
              </a:spcBef>
              <a:spcAft>
                <a:spcPct val="35000"/>
              </a:spcAft>
              <a:buNone/>
            </a:pPr>
            <a:r>
              <a:rPr lang="en-US" altLang="zh-CN" sz="1400" kern="1200">
                <a:solidFill>
                  <a:schemeClr val="bg1"/>
                </a:solidFill>
              </a:rPr>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Retrospective</a:t>
            </a:r>
            <a:endParaRPr lang="zh-CN" altLang="en-US" sz="1600" kern="12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回顾</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最后一个事件</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监视整个 </a:t>
            </a:r>
            <a:r>
              <a:rPr lang="en-US" altLang="zh-CN" sz="1400">
                <a:solidFill>
                  <a:schemeClr val="bg1"/>
                </a:solidFill>
              </a:rPr>
              <a:t>Sprint</a:t>
            </a:r>
          </a:p>
          <a:p>
            <a:pPr lvl="0" defTabSz="711200">
              <a:lnSpc>
                <a:spcPct val="90000"/>
              </a:lnSpc>
              <a:spcBef>
                <a:spcPct val="0"/>
              </a:spcBef>
              <a:spcAft>
                <a:spcPct val="35000"/>
              </a:spcAft>
            </a:pPr>
            <a:r>
              <a:rPr lang="zh-CN" altLang="en-US" sz="1400">
                <a:solidFill>
                  <a:schemeClr val="bg1"/>
                </a:solidFill>
              </a:rPr>
              <a:t>仅团队成员参加</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a:solidFill>
                  <a:schemeClr val="bg1"/>
                </a:solidFill>
              </a:rPr>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695998"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1624593725"/>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946093" cy="276999"/>
          </a:xfrm>
          <a:prstGeom prst="rect">
            <a:avLst/>
          </a:prstGeom>
          <a:noFill/>
        </p:spPr>
        <p:txBody>
          <a:bodyPr wrap="none" rtlCol="0">
            <a:spAutoFit/>
          </a:bodyPr>
          <a:lstStyle/>
          <a:p>
            <a:r>
              <a:rPr lang="en-US" altLang="zh-CN" sz="1200">
                <a:solidFill>
                  <a:schemeClr val="bg1"/>
                </a:solidFill>
              </a:rPr>
              <a:t>To do lists</a:t>
            </a:r>
            <a:endParaRPr lang="zh-CN" altLang="en-US" sz="1200">
              <a:solidFill>
                <a:schemeClr val="bg1"/>
              </a:solidFill>
            </a:endParaRPr>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列举 </a:t>
            </a:r>
            <a:r>
              <a:rPr lang="en-US" altLang="zh-CN" sz="1400">
                <a:solidFill>
                  <a:schemeClr val="bg1"/>
                </a:solidFill>
              </a:rPr>
              <a:t>items</a:t>
            </a:r>
            <a:endParaRPr lang="zh-CN" altLang="en-US" sz="1400">
              <a:solidFill>
                <a:schemeClr val="bg1"/>
              </a:solidFill>
            </a:endParaRPr>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solidFill>
                  <a:schemeClr val="bg1"/>
                </a:solidFill>
              </a:rPr>
              <a:t>Developer </a:t>
            </a:r>
            <a:r>
              <a:rPr lang="zh-CN" altLang="en-US" sz="1400">
                <a:solidFill>
                  <a:schemeClr val="bg1"/>
                </a:solidFill>
              </a:rPr>
              <a:t>决定 </a:t>
            </a:r>
            <a:r>
              <a:rPr lang="en-US" altLang="zh-CN" sz="1400">
                <a:solidFill>
                  <a:schemeClr val="bg1"/>
                </a:solidFill>
              </a:rPr>
              <a:t>size</a:t>
            </a:r>
            <a:endParaRPr lang="zh-CN" altLang="en-US" sz="1400">
              <a:solidFill>
                <a:schemeClr val="bg1"/>
              </a:solidFill>
            </a:endParaRPr>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solidFill>
                  <a:schemeClr val="bg1"/>
                </a:solidFill>
              </a:rPr>
              <a:t>Backlog</a:t>
            </a:r>
            <a:endParaRPr lang="zh-CN" altLang="en-US" sz="1400">
              <a:solidFill>
                <a:schemeClr val="bg1"/>
              </a:solidFill>
            </a:endParaRPr>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solidFill>
                  <a:schemeClr val="bg1"/>
                </a:solidFill>
              </a:rPr>
              <a:t>Battle</a:t>
            </a:r>
            <a:endParaRPr lang="zh-CN" altLang="en-US" sz="1400">
              <a:solidFill>
                <a:schemeClr val="bg1"/>
              </a:solidFill>
            </a:endParaRPr>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solidFill>
                  <a:schemeClr val="bg1"/>
                </a:solidFill>
              </a:rPr>
              <a:t>SM</a:t>
            </a:r>
            <a:endParaRPr lang="zh-CN" altLang="en-US" sz="1400">
              <a:solidFill>
                <a:schemeClr val="bg1"/>
              </a:solidFill>
            </a:endParaRPr>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460814071"/>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a:solidFill>
                            <a:schemeClr val="bg1"/>
                          </a:solidFill>
                        </a:rPr>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solidFill>
                            <a:schemeClr val="bg1"/>
                          </a:solidFill>
                        </a:rPr>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solidFill>
                            <a:schemeClr val="bg1"/>
                          </a:solidFill>
                        </a:rPr>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solidFill>
                            <a:schemeClr val="bg1"/>
                          </a:solidFill>
                        </a:rPr>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产品经理 </a:t>
                      </a:r>
                      <a:r>
                        <a:rPr lang="en-US" altLang="zh-CN" sz="1600">
                          <a:solidFill>
                            <a:schemeClr val="bg1"/>
                          </a:solidFill>
                        </a:rPr>
                        <a:t>/ </a:t>
                      </a:r>
                      <a:r>
                        <a:rPr lang="en-US" sz="1600">
                          <a:solidFill>
                            <a:schemeClr val="bg1"/>
                          </a:solidFill>
                        </a:rPr>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solidFill>
                            <a:schemeClr val="bg1"/>
                          </a:solidFill>
                        </a:rPr>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持续添加</a:t>
                      </a:r>
                      <a:r>
                        <a:rPr lang="en-US" altLang="zh-CN" sz="1600">
                          <a:solidFill>
                            <a:schemeClr val="bg1"/>
                          </a:solidFill>
                        </a:rPr>
                        <a:t>/</a:t>
                      </a:r>
                      <a:r>
                        <a:rPr lang="zh-CN" altLang="en-US" sz="1600">
                          <a:solidFill>
                            <a:schemeClr val="bg1"/>
                          </a:solidFill>
                        </a:rPr>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solidFill>
                            <a:schemeClr val="bg1"/>
                          </a:solidFill>
                        </a:rPr>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1878882028"/>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特性 </a:t>
                      </a:r>
                      <a:r>
                        <a:rPr lang="en-US" sz="160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solidFill>
                            <a:schemeClr val="bg1"/>
                          </a:solidFill>
                        </a:rPr>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业务</a:t>
                      </a:r>
                      <a:r>
                        <a:rPr lang="en-US" altLang="zh-CN" sz="1600">
                          <a:solidFill>
                            <a:schemeClr val="bg1"/>
                          </a:solidFill>
                        </a:rPr>
                        <a:t>/</a:t>
                      </a:r>
                      <a:r>
                        <a:rPr lang="zh-CN" altLang="en-US" sz="1600">
                          <a:solidFill>
                            <a:schemeClr val="bg1"/>
                          </a:solidFill>
                        </a:rPr>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a:t>
                      </a:r>
                      <a:r>
                        <a:rPr lang="en-US" altLang="zh-CN" sz="1600">
                          <a:solidFill>
                            <a:schemeClr val="bg1"/>
                          </a:solidFill>
                        </a:rPr>
                        <a:t>/</a:t>
                      </a:r>
                      <a:r>
                        <a:rPr lang="zh-CN" altLang="en-US" sz="1600">
                          <a:solidFill>
                            <a:schemeClr val="bg1"/>
                          </a:solidFill>
                        </a:rPr>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solidFill>
                            <a:schemeClr val="bg1"/>
                          </a:solidFill>
                        </a:rPr>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代码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所有已完成的特性 </a:t>
                      </a:r>
                      <a:r>
                        <a:rPr lang="en-US" altLang="zh-CN" sz="1600">
                          <a:solidFill>
                            <a:schemeClr val="bg1"/>
                          </a:solidFill>
                        </a:rPr>
                        <a:t>+ </a:t>
                      </a:r>
                      <a:r>
                        <a:rPr lang="zh-CN" altLang="en-US" sz="1600">
                          <a:solidFill>
                            <a:schemeClr val="bg1"/>
                          </a:solidFill>
                        </a:rPr>
                        <a:t>旧功能 </a:t>
                      </a:r>
                      <a:r>
                        <a:rPr lang="en-US" altLang="zh-CN" sz="1600">
                          <a:solidFill>
                            <a:schemeClr val="bg1"/>
                          </a:solidFill>
                        </a:rPr>
                        <a:t>+ </a:t>
                      </a:r>
                      <a:r>
                        <a:rPr lang="zh-CN" altLang="en-US" sz="1600">
                          <a:solidFill>
                            <a:schemeClr val="bg1"/>
                          </a:solidFill>
                        </a:rPr>
                        <a:t>修复的</a:t>
                      </a:r>
                      <a:r>
                        <a:rPr lang="en-US" altLang="zh-CN" sz="1600">
                          <a:solidFill>
                            <a:schemeClr val="bg1"/>
                          </a:solidFill>
                        </a:rPr>
                        <a:t>Bug + </a:t>
                      </a:r>
                      <a:r>
                        <a:rPr lang="zh-CN" altLang="en-US" sz="1600">
                          <a:solidFill>
                            <a:schemeClr val="bg1"/>
                          </a:solidFill>
                        </a:rPr>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solidFill>
                            <a:schemeClr val="bg1"/>
                          </a:solidFill>
                        </a:rPr>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solidFill>
                            <a:schemeClr val="bg1"/>
                          </a:solidFill>
                        </a:rPr>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强累积（</a:t>
                      </a:r>
                      <a:r>
                        <a:rPr lang="en-US" sz="1600">
                          <a:solidFill>
                            <a:schemeClr val="bg1"/>
                          </a:solidFill>
                        </a:rPr>
                        <a:t>Increment 2 = Increment 1 + </a:t>
                      </a:r>
                      <a:r>
                        <a:rPr lang="zh-CN" altLang="en-US" sz="1600">
                          <a:solidFill>
                            <a:schemeClr val="bg1"/>
                          </a:solidFill>
                        </a:rPr>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solidFill>
                            <a:schemeClr val="bg1"/>
                          </a:solidFill>
                        </a:rPr>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较大（通常是一个迭代</a:t>
                      </a:r>
                      <a:r>
                        <a:rPr lang="en-US" altLang="zh-CN" sz="1600">
                          <a:solidFill>
                            <a:schemeClr val="bg1"/>
                          </a:solidFill>
                        </a:rPr>
                        <a:t>/Sprint</a:t>
                      </a:r>
                      <a:r>
                        <a:rPr lang="zh-CN" altLang="en-US" sz="1600">
                          <a:solidFill>
                            <a:schemeClr val="bg1"/>
                          </a:solidFill>
                        </a:rPr>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solidFill>
                            <a:schemeClr val="bg1"/>
                          </a:solidFill>
                        </a:rPr>
                        <a:t>FDD</a:t>
                      </a:r>
                      <a:r>
                        <a:rPr lang="zh-CN" altLang="en-US" sz="1600">
                          <a:solidFill>
                            <a:schemeClr val="bg1"/>
                          </a:solidFill>
                        </a:rPr>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p:spPr>
        <p:txBody>
          <a:bodyPr wrap="none" rtlCol="0">
            <a:spAutoFit/>
          </a:bodyPr>
          <a:lstStyle/>
          <a:p>
            <a:pPr algn="ctr"/>
            <a:r>
              <a:rPr lang="en-US" altLang="zh-CN" sz="1600" dirty="0">
                <a:solidFill>
                  <a:schemeClr val="bg1"/>
                </a:solidFill>
              </a:rPr>
              <a:t>SOW</a:t>
            </a:r>
            <a:endParaRPr lang="zh-CN" altLang="en-US" sz="1600" dirty="0">
              <a:solidFill>
                <a:schemeClr val="bg1"/>
              </a:solidFill>
            </a:endParaRPr>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0" y="2991985"/>
            <a:ext cx="587020" cy="338554"/>
          </a:xfrm>
          <a:prstGeom prst="rect">
            <a:avLst/>
          </a:prstGeom>
          <a:noFill/>
        </p:spPr>
        <p:txBody>
          <a:bodyPr wrap="none" rtlCol="0">
            <a:spAutoFit/>
          </a:bodyPr>
          <a:lstStyle/>
          <a:p>
            <a:pPr algn="ctr"/>
            <a:r>
              <a:rPr lang="en-US" altLang="zh-CN" sz="1600" dirty="0">
                <a:solidFill>
                  <a:schemeClr val="bg1"/>
                </a:solidFill>
              </a:rPr>
              <a:t>SRS</a:t>
            </a:r>
            <a:endParaRPr lang="zh-CN" altLang="en-US" sz="1600" dirty="0">
              <a:solidFill>
                <a:schemeClr val="bg1"/>
              </a:solidFill>
            </a:endParaRPr>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p:spPr>
        <p:txBody>
          <a:bodyPr wrap="none" rtlCol="0">
            <a:spAutoFit/>
          </a:bodyPr>
          <a:lstStyle/>
          <a:p>
            <a:pPr algn="ctr"/>
            <a:r>
              <a:rPr lang="en-US" altLang="zh-CN" sz="1600" dirty="0">
                <a:solidFill>
                  <a:schemeClr val="bg1"/>
                </a:solidFill>
              </a:rPr>
              <a:t>WBS</a:t>
            </a:r>
            <a:endParaRPr lang="zh-CN" altLang="en-US" sz="1600" dirty="0">
              <a:solidFill>
                <a:schemeClr val="bg1"/>
              </a:solidFill>
            </a:endParaRPr>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p:spPr>
        <p:txBody>
          <a:bodyPr wrap="none" rtlCol="0">
            <a:spAutoFit/>
          </a:bodyPr>
          <a:lstStyle/>
          <a:p>
            <a:pPr algn="ctr"/>
            <a:r>
              <a:rPr lang="en-US" altLang="zh-CN" sz="1600" dirty="0">
                <a:solidFill>
                  <a:schemeClr val="bg1"/>
                </a:solidFill>
              </a:rPr>
              <a:t>Package</a:t>
            </a:r>
            <a:endParaRPr lang="zh-CN" altLang="en-US" sz="1600" dirty="0">
              <a:solidFill>
                <a:schemeClr val="bg1"/>
              </a:solidFill>
            </a:endParaRPr>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flipH="1">
            <a:off x="6096000" y="2795061"/>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0" y="3330539"/>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p:spPr>
        <p:txBody>
          <a:bodyPr wrap="none" rtlCol="0">
            <a:spAutoFit/>
          </a:bodyPr>
          <a:lstStyle/>
          <a:p>
            <a:r>
              <a:rPr lang="zh-CN" altLang="en-US" sz="1600" dirty="0">
                <a:solidFill>
                  <a:schemeClr val="bg1"/>
                </a:solidFill>
              </a:rPr>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p:spPr>
        <p:txBody>
          <a:bodyPr wrap="none" rtlCol="0">
            <a:spAutoFit/>
          </a:bodyPr>
          <a:lstStyle/>
          <a:p>
            <a:r>
              <a:rPr lang="zh-CN" altLang="en-US" sz="1600" dirty="0">
                <a:solidFill>
                  <a:schemeClr val="bg1"/>
                </a:solidFill>
              </a:rPr>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p:spPr>
        <p:txBody>
          <a:bodyPr wrap="none" rtlCol="0">
            <a:spAutoFit/>
          </a:bodyPr>
          <a:lstStyle/>
          <a:p>
            <a:r>
              <a:rPr lang="zh-CN" altLang="en-US" sz="1600" dirty="0">
                <a:solidFill>
                  <a:schemeClr val="bg1"/>
                </a:solidFill>
              </a:rPr>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p:spPr>
        <p:txBody>
          <a:bodyPr wrap="none" rtlCol="0">
            <a:spAutoFit/>
          </a:bodyPr>
          <a:lstStyle/>
          <a:p>
            <a:r>
              <a:rPr lang="zh-CN" altLang="en-US" sz="1600" dirty="0">
                <a:solidFill>
                  <a:schemeClr val="bg1"/>
                </a:solidFill>
              </a:rPr>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2327829692"/>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a:solidFill>
                            <a:schemeClr val="bg1"/>
                          </a:solidFill>
                        </a:rPr>
                        <a:t>Rank</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English</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Chinese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a:solidFill>
                            <a:schemeClr val="bg1"/>
                          </a:solidFill>
                        </a:rPr>
                        <a:t>Average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a:solidFill>
                            <a:schemeClr val="bg1"/>
                          </a:solidFill>
                        </a:rPr>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solidFill>
                            <a:schemeClr val="bg1"/>
                          </a:solidFill>
                        </a:rPr>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solidFill>
                            <a:schemeClr val="bg1"/>
                          </a:solidFill>
                        </a:rPr>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solidFill>
                            <a:schemeClr val="bg1"/>
                          </a:solidFill>
                        </a:rPr>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solidFill>
                            <a:schemeClr val="bg1"/>
                          </a:solidFill>
                        </a:rPr>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solidFill>
                            <a:schemeClr val="bg1"/>
                          </a:solidFill>
                        </a:rPr>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solidFill>
                            <a:schemeClr val="bg1"/>
                          </a:solidFill>
                        </a:rPr>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solidFill>
                            <a:schemeClr val="bg1"/>
                          </a:solidFill>
                        </a:rPr>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solidFill>
                            <a:schemeClr val="bg1"/>
                          </a:solidFill>
                        </a:rPr>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solidFill>
                            <a:schemeClr val="bg1"/>
                          </a:solidFill>
                        </a:rPr>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b="1">
                <a:solidFill>
                  <a:schemeClr val="bg1"/>
                </a:solidFill>
              </a:rPr>
              <a:t>背景：某电商公司计划开发一键退货功能。</a:t>
            </a:r>
          </a:p>
          <a:p>
            <a:r>
              <a:rPr lang="zh-CN" altLang="en-US" b="1">
                <a:solidFill>
                  <a:schemeClr val="bg1"/>
                </a:solidFill>
              </a:rPr>
              <a:t>描述</a:t>
            </a:r>
            <a:r>
              <a:rPr lang="en-US" altLang="zh-CN" b="1">
                <a:solidFill>
                  <a:schemeClr val="bg1"/>
                </a:solidFill>
              </a:rPr>
              <a:t>1</a:t>
            </a:r>
            <a:r>
              <a:rPr lang="zh-CN" altLang="en-US">
                <a:solidFill>
                  <a:schemeClr val="bg1"/>
                </a:solidFill>
              </a:rPr>
              <a:t>：为了降低客服人力成本（预计减少</a:t>
            </a:r>
            <a:r>
              <a:rPr lang="en-US" altLang="zh-CN">
                <a:solidFill>
                  <a:schemeClr val="bg1"/>
                </a:solidFill>
              </a:rPr>
              <a:t>30%</a:t>
            </a:r>
            <a:r>
              <a:rPr lang="zh-CN" altLang="en-US">
                <a:solidFill>
                  <a:schemeClr val="bg1"/>
                </a:solidFill>
              </a:rPr>
              <a:t>），并提升客户复购率，公司决定优化售后流程</a:t>
            </a:r>
            <a:br>
              <a:rPr lang="zh-CN" altLang="en-US">
                <a:solidFill>
                  <a:schemeClr val="bg1"/>
                </a:solidFill>
              </a:rPr>
            </a:br>
            <a:endParaRPr lang="en-US" altLang="zh-CN">
              <a:solidFill>
                <a:schemeClr val="bg1"/>
              </a:solidFill>
            </a:endParaRPr>
          </a:p>
          <a:p>
            <a:r>
              <a:rPr lang="zh-CN" altLang="en-US" b="1">
                <a:solidFill>
                  <a:schemeClr val="bg1"/>
                </a:solidFill>
              </a:rPr>
              <a:t>描述</a:t>
            </a:r>
            <a:r>
              <a:rPr lang="en-US" altLang="zh-CN" b="1">
                <a:solidFill>
                  <a:schemeClr val="bg1"/>
                </a:solidFill>
              </a:rPr>
              <a:t>2</a:t>
            </a:r>
            <a:r>
              <a:rPr lang="zh-CN" altLang="en-US">
                <a:solidFill>
                  <a:schemeClr val="bg1"/>
                </a:solidFill>
              </a:rPr>
              <a:t>：</a:t>
            </a:r>
            <a:r>
              <a:rPr lang="zh-CN" altLang="en-US" b="1">
                <a:solidFill>
                  <a:schemeClr val="bg1"/>
                </a:solidFill>
              </a:rPr>
              <a:t>用户反馈</a:t>
            </a:r>
            <a:r>
              <a:rPr lang="zh-CN" altLang="en-US">
                <a:solidFill>
                  <a:schemeClr val="bg1"/>
                </a:solidFill>
              </a:rPr>
              <a:t>希望在收到商品不满意时，不用打电话给客服解释半天，只需要在手机上点一下，快递员就能上门取件，马上退钱</a:t>
            </a:r>
            <a:endParaRPr lang="en-US" altLang="zh-CN">
              <a:solidFill>
                <a:schemeClr val="bg1"/>
              </a:solidFill>
            </a:endParaRPr>
          </a:p>
          <a:p>
            <a:br>
              <a:rPr lang="zh-CN" altLang="en-US">
                <a:solidFill>
                  <a:schemeClr val="bg1"/>
                </a:solidFill>
              </a:rPr>
            </a:br>
            <a:r>
              <a:rPr lang="zh-CN" altLang="en-US" b="1">
                <a:solidFill>
                  <a:schemeClr val="bg1"/>
                </a:solidFill>
              </a:rPr>
              <a:t>描述</a:t>
            </a:r>
            <a:r>
              <a:rPr lang="en-US" altLang="zh-CN" b="1">
                <a:solidFill>
                  <a:schemeClr val="bg1"/>
                </a:solidFill>
              </a:rPr>
              <a:t>3</a:t>
            </a:r>
            <a:r>
              <a:rPr lang="zh-CN" altLang="en-US">
                <a:solidFill>
                  <a:schemeClr val="bg1"/>
                </a:solidFill>
              </a:rPr>
              <a:t>：</a:t>
            </a:r>
            <a:r>
              <a:rPr lang="zh-CN" altLang="en-US" b="1">
                <a:solidFill>
                  <a:schemeClr val="bg1"/>
                </a:solidFill>
              </a:rPr>
              <a:t>系统开发人员设计方案：</a:t>
            </a:r>
            <a:r>
              <a:rPr lang="zh-CN" altLang="en-US">
                <a:solidFill>
                  <a:schemeClr val="bg1"/>
                </a:solidFill>
              </a:rPr>
              <a:t>当用户点击申请退货按钮且订单状态为已签收未满</a:t>
            </a:r>
            <a:r>
              <a:rPr lang="en-US" altLang="zh-CN">
                <a:solidFill>
                  <a:schemeClr val="bg1"/>
                </a:solidFill>
              </a:rPr>
              <a:t>7</a:t>
            </a:r>
            <a:r>
              <a:rPr lang="zh-CN" altLang="en-US">
                <a:solidFill>
                  <a:schemeClr val="bg1"/>
                </a:solidFill>
              </a:rPr>
              <a:t>天时，系统应自动调用物流接口生成取件码，并在数据库中将该订单状态更新为退货中，同时触发财务系统原路退款</a:t>
            </a:r>
            <a:br>
              <a:rPr lang="zh-CN" altLang="en-US">
                <a:solidFill>
                  <a:schemeClr val="bg1"/>
                </a:solidFill>
              </a:rPr>
            </a:br>
            <a:endParaRPr lang="en-US" altLang="zh-CN">
              <a:solidFill>
                <a:schemeClr val="bg1"/>
              </a:solidFill>
            </a:endParaRPr>
          </a:p>
          <a:p>
            <a:r>
              <a:rPr lang="zh-CN" altLang="en-US">
                <a:solidFill>
                  <a:schemeClr val="bg1"/>
                </a:solidFill>
              </a:rPr>
              <a:t>以上描述分别属于哪类需求？</a:t>
            </a:r>
            <a:endParaRPr lang="en-US" altLang="zh-CN">
              <a:solidFill>
                <a:schemeClr val="bg1"/>
              </a:solidFill>
            </a:endParaRPr>
          </a:p>
          <a:p>
            <a:br>
              <a:rPr lang="zh-CN" altLang="en-US">
                <a:solidFill>
                  <a:schemeClr val="bg1"/>
                </a:solidFill>
              </a:rPr>
            </a:br>
            <a:r>
              <a:rPr lang="en-US" altLang="zh-CN">
                <a:solidFill>
                  <a:schemeClr val="bg1"/>
                </a:solidFill>
              </a:rPr>
              <a:t>A. </a:t>
            </a:r>
            <a:r>
              <a:rPr lang="zh-CN" altLang="en-US">
                <a:solidFill>
                  <a:schemeClr val="bg1"/>
                </a:solidFill>
              </a:rPr>
              <a:t>业务需求</a:t>
            </a:r>
            <a:br>
              <a:rPr lang="zh-CN" altLang="en-US">
                <a:solidFill>
                  <a:schemeClr val="bg1"/>
                </a:solidFill>
              </a:rPr>
            </a:br>
            <a:r>
              <a:rPr lang="en-US" altLang="zh-CN">
                <a:solidFill>
                  <a:schemeClr val="bg1"/>
                </a:solidFill>
              </a:rPr>
              <a:t>B. </a:t>
            </a:r>
            <a:r>
              <a:rPr lang="zh-CN" altLang="en-US">
                <a:solidFill>
                  <a:schemeClr val="bg1"/>
                </a:solidFill>
              </a:rPr>
              <a:t>用户需求</a:t>
            </a:r>
            <a:br>
              <a:rPr lang="zh-CN" altLang="en-US">
                <a:solidFill>
                  <a:schemeClr val="bg1"/>
                </a:solidFill>
              </a:rPr>
            </a:br>
            <a:r>
              <a:rPr lang="en-US" altLang="zh-CN">
                <a:solidFill>
                  <a:schemeClr val="bg1"/>
                </a:solidFill>
              </a:rPr>
              <a:t>C. </a:t>
            </a:r>
            <a:r>
              <a:rPr lang="zh-CN" altLang="en-US">
                <a:solidFill>
                  <a:schemeClr val="bg1"/>
                </a:solidFill>
              </a:rPr>
              <a:t>功能需求</a:t>
            </a:r>
            <a:br>
              <a:rPr lang="zh-CN" altLang="en-US">
                <a:solidFill>
                  <a:schemeClr val="bg1"/>
                </a:solidFill>
              </a:rPr>
            </a:br>
            <a:r>
              <a:rPr lang="en-US" altLang="zh-CN">
                <a:solidFill>
                  <a:schemeClr val="bg1"/>
                </a:solidFill>
              </a:rPr>
              <a:t>D. </a:t>
            </a:r>
            <a:r>
              <a:rPr lang="zh-CN" altLang="en-US">
                <a:solidFill>
                  <a:schemeClr val="bg1"/>
                </a:solidFill>
              </a:rPr>
              <a:t>战略目标</a:t>
            </a:r>
          </a:p>
        </p:txBody>
      </p:sp>
    </p:spTree>
    <p:extLst>
      <p:ext uri="{BB962C8B-B14F-4D97-AF65-F5344CB8AC3E}">
        <p14:creationId xmlns:p14="http://schemas.microsoft.com/office/powerpoint/2010/main" val="24436467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902811" cy="307777"/>
            </a:xfrm>
            <a:prstGeom prst="rect">
              <a:avLst/>
            </a:prstGeom>
            <a:noFill/>
            <a:ln>
              <a:noFill/>
            </a:ln>
          </p:spPr>
          <p:txBody>
            <a:bodyPr wrap="none" rtlCol="0">
              <a:spAutoFit/>
            </a:bodyPr>
            <a:lstStyle/>
            <a:p>
              <a:r>
                <a:rPr lang="zh-CN" altLang="en-US" sz="1400">
                  <a:solidFill>
                    <a:srgbClr val="FFFF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902811" cy="307777"/>
            </a:xfrm>
            <a:prstGeom prst="rect">
              <a:avLst/>
            </a:prstGeom>
            <a:noFill/>
            <a:ln>
              <a:noFill/>
            </a:ln>
          </p:spPr>
          <p:txBody>
            <a:bodyPr wrap="none" rtlCol="0">
              <a:spAutoFit/>
            </a:bodyPr>
            <a:lstStyle/>
            <a:p>
              <a:r>
                <a:rPr lang="zh-CN" altLang="en-US" sz="1400">
                  <a:solidFill>
                    <a:srgbClr val="FFFF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3435024695"/>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a:solidFill>
                            <a:schemeClr val="bg1"/>
                          </a:solidFill>
                        </a:rPr>
                        <a:t>Software Requirement Specification</a:t>
                      </a:r>
                      <a:endParaRPr lang="zh-CN" altLang="en-US">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a:solidFill>
                            <a:schemeClr val="bg1"/>
                          </a:solidFill>
                        </a:rPr>
                        <a:t>1. </a:t>
                      </a:r>
                      <a:r>
                        <a:rPr lang="zh-CN" altLang="en-US">
                          <a:solidFill>
                            <a:schemeClr val="bg1"/>
                          </a:solidFill>
                        </a:rPr>
                        <a:t>引言</a:t>
                      </a:r>
                    </a:p>
                    <a:p>
                      <a:r>
                        <a:rPr lang="zh-CN" altLang="en-US">
                          <a:solidFill>
                            <a:schemeClr val="bg1"/>
                          </a:solidFill>
                        </a:rPr>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bg1"/>
                          </a:solidFill>
                        </a:rPr>
                        <a:t>2. </a:t>
                      </a:r>
                      <a:r>
                        <a:rPr lang="zh-CN" altLang="en-US">
                          <a:solidFill>
                            <a:schemeClr val="bg1"/>
                          </a:solidFill>
                        </a:rPr>
                        <a:t>总体描述</a:t>
                      </a:r>
                    </a:p>
                    <a:p>
                      <a:r>
                        <a:rPr lang="zh-CN" altLang="en-US">
                          <a:solidFill>
                            <a:schemeClr val="bg1"/>
                          </a:solidFill>
                        </a:rPr>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bg1"/>
                          </a:solidFill>
                        </a:rPr>
                        <a:t>3. </a:t>
                      </a:r>
                      <a:r>
                        <a:rPr lang="zh-CN" altLang="en-US">
                          <a:solidFill>
                            <a:schemeClr val="bg1"/>
                          </a:solidFill>
                        </a:rPr>
                        <a:t>功能需求</a:t>
                      </a:r>
                    </a:p>
                    <a:p>
                      <a:r>
                        <a:rPr lang="zh-CN" altLang="en-US">
                          <a:solidFill>
                            <a:schemeClr val="bg1"/>
                          </a:solidFill>
                        </a:rPr>
                        <a:t>按模块划分，每个功能包含： * 功能编号 * 功能名称 * 描述 * 输入</a:t>
                      </a:r>
                      <a:r>
                        <a:rPr lang="en-US" altLang="zh-CN">
                          <a:solidFill>
                            <a:schemeClr val="bg1"/>
                          </a:solidFill>
                        </a:rPr>
                        <a:t>/</a:t>
                      </a:r>
                      <a:r>
                        <a:rPr lang="zh-CN" altLang="en-US">
                          <a:solidFill>
                            <a:schemeClr val="bg1"/>
                          </a:solidFill>
                        </a:rPr>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bg1"/>
                          </a:solidFill>
                        </a:rPr>
                        <a:t>4. </a:t>
                      </a:r>
                      <a:r>
                        <a:rPr lang="zh-CN" altLang="en-US">
                          <a:solidFill>
                            <a:schemeClr val="bg1"/>
                          </a:solidFill>
                        </a:rPr>
                        <a:t>非功能需求</a:t>
                      </a:r>
                    </a:p>
                    <a:p>
                      <a:r>
                        <a:rPr lang="zh-CN" altLang="en-US">
                          <a:solidFill>
                            <a:schemeClr val="bg1"/>
                          </a:solidFill>
                        </a:rPr>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bg1"/>
                          </a:solidFill>
                        </a:rPr>
                        <a:t>5. </a:t>
                      </a:r>
                      <a:r>
                        <a:rPr lang="zh-CN" altLang="en-US">
                          <a:solidFill>
                            <a:schemeClr val="bg1"/>
                          </a:solidFill>
                        </a:rPr>
                        <a:t>数据需求</a:t>
                      </a:r>
                    </a:p>
                    <a:p>
                      <a:r>
                        <a:rPr lang="zh-CN" altLang="en-US">
                          <a:solidFill>
                            <a:schemeClr val="bg1"/>
                          </a:solidFill>
                        </a:rPr>
                        <a:t>数据字典、</a:t>
                      </a:r>
                      <a:r>
                        <a:rPr lang="en-US" altLang="zh-CN">
                          <a:solidFill>
                            <a:schemeClr val="bg1"/>
                          </a:solidFill>
                        </a:rPr>
                        <a:t>E-R </a:t>
                      </a:r>
                      <a:r>
                        <a:rPr lang="zh-CN" altLang="en-US">
                          <a:solidFill>
                            <a:schemeClr val="bg1"/>
                          </a:solidFill>
                        </a:rPr>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bg1"/>
                          </a:solidFill>
                        </a:rPr>
                        <a:t>6. </a:t>
                      </a:r>
                      <a:r>
                        <a:rPr lang="zh-CN" altLang="en-US">
                          <a:solidFill>
                            <a:schemeClr val="bg1"/>
                          </a:solidFill>
                        </a:rPr>
                        <a:t>接口需求</a:t>
                      </a:r>
                    </a:p>
                    <a:p>
                      <a:r>
                        <a:rPr lang="zh-CN" altLang="en-US">
                          <a:solidFill>
                            <a:schemeClr val="bg1"/>
                          </a:solidFill>
                        </a:rPr>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a:solidFill>
                            <a:schemeClr val="bg1"/>
                          </a:solidFill>
                        </a:rPr>
                        <a:t>7. </a:t>
                      </a:r>
                      <a:r>
                        <a:rPr lang="zh-CN" altLang="en-US">
                          <a:solidFill>
                            <a:schemeClr val="bg1"/>
                          </a:solidFill>
                        </a:rPr>
                        <a:t>附录</a:t>
                      </a:r>
                      <a:endParaRPr lang="en-US" altLang="zh-CN">
                        <a:solidFill>
                          <a:schemeClr val="bg1"/>
                        </a:solidFill>
                      </a:endParaRPr>
                    </a:p>
                    <a:p>
                      <a:r>
                        <a:rPr lang="zh-CN" altLang="en-US">
                          <a:solidFill>
                            <a:schemeClr val="bg1"/>
                          </a:solidFill>
                        </a:rPr>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1847557170"/>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a:solidFill>
                            <a:schemeClr val="bg1"/>
                          </a:solidFill>
                        </a:rPr>
                        <a:t>Aspect</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Tools</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a:solidFill>
                            <a:schemeClr val="bg1"/>
                          </a:solidFill>
                        </a:rPr>
                        <a:t>正确性 </a:t>
                      </a:r>
                      <a:r>
                        <a:rPr lang="en-US" sz="1600">
                          <a:solidFill>
                            <a:schemeClr val="bg1"/>
                          </a:solidFill>
                        </a:rPr>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用户访谈确认、业务流程图比对</a:t>
                      </a:r>
                      <a:br>
                        <a:rPr lang="zh-CN" altLang="en-US" sz="1600">
                          <a:solidFill>
                            <a:schemeClr val="bg1"/>
                          </a:solidFill>
                        </a:rPr>
                      </a:br>
                      <a:r>
                        <a:rPr lang="zh-CN" altLang="en-US" sz="1600">
                          <a:solidFill>
                            <a:schemeClr val="bg1"/>
                          </a:solidFill>
                        </a:rPr>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solidFill>
                            <a:schemeClr val="bg1"/>
                          </a:solidFill>
                        </a:rPr>
                        <a:t>完整性 </a:t>
                      </a:r>
                      <a:r>
                        <a:rPr lang="en-US" sz="1600">
                          <a:solidFill>
                            <a:schemeClr val="bg1"/>
                          </a:solidFill>
                        </a:rPr>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a:t>
                      </a:r>
                      <a:r>
                        <a:rPr lang="en-US" altLang="zh-CN" sz="1600">
                          <a:solidFill>
                            <a:schemeClr val="bg1"/>
                          </a:solidFill>
                        </a:rPr>
                        <a:t>RTM</a:t>
                      </a:r>
                      <a:r>
                        <a:rPr lang="zh-CN" altLang="en-US" sz="1600">
                          <a:solidFill>
                            <a:schemeClr val="bg1"/>
                          </a:solidFill>
                        </a:rPr>
                        <a:t>、用例全覆盖检查</a:t>
                      </a:r>
                      <a:br>
                        <a:rPr lang="zh-CN" altLang="en-US" sz="1600">
                          <a:solidFill>
                            <a:schemeClr val="bg1"/>
                          </a:solidFill>
                        </a:rPr>
                      </a:br>
                      <a:r>
                        <a:rPr lang="en-US" altLang="zh-CN" sz="1600">
                          <a:solidFill>
                            <a:schemeClr val="bg1"/>
                          </a:solidFill>
                        </a:rPr>
                        <a:t>FURPS+ </a:t>
                      </a:r>
                      <a:r>
                        <a:rPr lang="zh-CN" altLang="en-US" sz="1600">
                          <a:solidFill>
                            <a:schemeClr val="bg1"/>
                          </a:solidFill>
                        </a:rPr>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solidFill>
                            <a:schemeClr val="bg1"/>
                          </a:solidFill>
                        </a:rPr>
                        <a:t>一致性 </a:t>
                      </a:r>
                      <a:r>
                        <a:rPr lang="en-US" sz="1600">
                          <a:solidFill>
                            <a:schemeClr val="bg1"/>
                          </a:solidFill>
                        </a:rPr>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需求交叉审查、术语表（</a:t>
                      </a:r>
                      <a:r>
                        <a:rPr lang="en-US" altLang="zh-CN" sz="1600">
                          <a:solidFill>
                            <a:schemeClr val="bg1"/>
                          </a:solidFill>
                        </a:rPr>
                        <a:t>Glossary</a:t>
                      </a:r>
                      <a:r>
                        <a:rPr lang="zh-CN" altLang="en-US" sz="1600">
                          <a:solidFill>
                            <a:schemeClr val="bg1"/>
                          </a:solidFill>
                        </a:rPr>
                        <a:t>）</a:t>
                      </a:r>
                      <a:br>
                        <a:rPr lang="zh-CN" altLang="en-US" sz="1600">
                          <a:solidFill>
                            <a:schemeClr val="bg1"/>
                          </a:solidFill>
                        </a:rPr>
                      </a:br>
                      <a:r>
                        <a:rPr lang="zh-CN" altLang="en-US" sz="1600">
                          <a:solidFill>
                            <a:schemeClr val="bg1"/>
                          </a:solidFill>
                        </a:rPr>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solidFill>
                            <a:schemeClr val="bg1"/>
                          </a:solidFill>
                        </a:rPr>
                        <a:t>可行性 </a:t>
                      </a:r>
                      <a:r>
                        <a:rPr lang="en-US" sz="1600">
                          <a:solidFill>
                            <a:schemeClr val="bg1"/>
                          </a:solidFill>
                        </a:rPr>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技术上能否实现？成本</a:t>
                      </a:r>
                      <a:r>
                        <a:rPr lang="en-US" altLang="zh-CN" sz="1600">
                          <a:solidFill>
                            <a:schemeClr val="bg1"/>
                          </a:solidFill>
                        </a:rPr>
                        <a:t>/</a:t>
                      </a:r>
                      <a:r>
                        <a:rPr lang="zh-CN" altLang="en-US" sz="1600">
                          <a:solidFill>
                            <a:schemeClr val="bg1"/>
                          </a:solidFill>
                        </a:rPr>
                        <a:t>时间是否可控？避免“</a:t>
                      </a:r>
                      <a:r>
                        <a:rPr lang="zh-CN" altLang="en-US" sz="1600">
                          <a:solidFill>
                            <a:srgbClr val="FFFF00"/>
                          </a:solidFill>
                        </a:rPr>
                        <a:t>为了开发而开发</a:t>
                      </a:r>
                      <a:r>
                        <a:rPr lang="zh-CN" altLang="en-US" sz="1600">
                          <a:solidFill>
                            <a:schemeClr val="bg1"/>
                          </a:solidFill>
                        </a:rPr>
                        <a:t>”</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技术预研（</a:t>
                      </a:r>
                      <a:r>
                        <a:rPr lang="en-US" altLang="zh-CN" sz="1600">
                          <a:solidFill>
                            <a:schemeClr val="bg1"/>
                          </a:solidFill>
                        </a:rPr>
                        <a:t>PoC</a:t>
                      </a:r>
                      <a:r>
                        <a:rPr lang="zh-CN" altLang="en-US" sz="1600">
                          <a:solidFill>
                            <a:schemeClr val="bg1"/>
                          </a:solidFill>
                        </a:rPr>
                        <a:t>）、架构师评估</a:t>
                      </a:r>
                      <a:br>
                        <a:rPr lang="zh-CN" altLang="en-US" sz="1600">
                          <a:solidFill>
                            <a:schemeClr val="bg1"/>
                          </a:solidFill>
                        </a:rPr>
                      </a:br>
                      <a:r>
                        <a:rPr lang="en-US" altLang="zh-CN" sz="1600">
                          <a:solidFill>
                            <a:schemeClr val="bg1"/>
                          </a:solidFill>
                        </a:rPr>
                        <a:t>ROI </a:t>
                      </a:r>
                      <a:r>
                        <a:rPr lang="zh-CN" altLang="en-US" sz="1600">
                          <a:solidFill>
                            <a:schemeClr val="bg1"/>
                          </a:solidFill>
                        </a:rPr>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solidFill>
                            <a:schemeClr val="bg1"/>
                          </a:solidFill>
                        </a:rPr>
                        <a:t>必要性 </a:t>
                      </a:r>
                      <a:r>
                        <a:rPr lang="en-US" sz="1600">
                          <a:solidFill>
                            <a:schemeClr val="bg1"/>
                          </a:solidFill>
                        </a:rPr>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该需求是否真正影响核心价值？是否属于 </a:t>
                      </a:r>
                      <a:r>
                        <a:rPr lang="en-US" altLang="zh-CN" sz="1600">
                          <a:solidFill>
                            <a:schemeClr val="bg1"/>
                          </a:solidFill>
                        </a:rPr>
                        <a:t>MVP </a:t>
                      </a:r>
                      <a:r>
                        <a:rPr lang="zh-CN" altLang="en-US" sz="1600">
                          <a:solidFill>
                            <a:schemeClr val="bg1"/>
                          </a:solidFill>
                        </a:rPr>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solidFill>
                            <a:schemeClr val="bg1"/>
                          </a:solidFill>
                        </a:rPr>
                        <a:t>MoSCoW</a:t>
                      </a:r>
                      <a:r>
                        <a:rPr lang="en-US" sz="1600">
                          <a:solidFill>
                            <a:schemeClr val="bg1"/>
                          </a:solidFill>
                        </a:rPr>
                        <a:t> </a:t>
                      </a:r>
                      <a:r>
                        <a:rPr lang="zh-CN" altLang="en-US" sz="1600">
                          <a:solidFill>
                            <a:schemeClr val="bg1"/>
                          </a:solidFill>
                        </a:rPr>
                        <a:t>优先级排序、</a:t>
                      </a:r>
                      <a:r>
                        <a:rPr lang="en-US" sz="1600">
                          <a:solidFill>
                            <a:schemeClr val="bg1"/>
                          </a:solidFill>
                        </a:rPr>
                        <a:t>Kano </a:t>
                      </a:r>
                      <a:r>
                        <a:rPr lang="zh-CN" altLang="en-US" sz="1600">
                          <a:solidFill>
                            <a:schemeClr val="bg1"/>
                          </a:solidFill>
                        </a:rPr>
                        <a:t>模型分析</a:t>
                      </a:r>
                      <a:br>
                        <a:rPr lang="zh-CN" altLang="en-US" sz="1600">
                          <a:solidFill>
                            <a:schemeClr val="bg1"/>
                          </a:solidFill>
                        </a:rPr>
                      </a:br>
                      <a:r>
                        <a:rPr lang="zh-CN" altLang="en-US" sz="1600">
                          <a:solidFill>
                            <a:schemeClr val="bg1"/>
                          </a:solidFill>
                        </a:rPr>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solidFill>
                            <a:schemeClr val="bg1"/>
                          </a:solidFill>
                        </a:rPr>
                        <a:t>可检验性 </a:t>
                      </a:r>
                      <a:r>
                        <a:rPr lang="en-US" sz="1600">
                          <a:solidFill>
                            <a:schemeClr val="bg1"/>
                          </a:solidFill>
                        </a:rPr>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Acceptance Criteria </a:t>
                      </a:r>
                      <a:r>
                        <a:rPr lang="zh-CN" altLang="en-US" sz="1600">
                          <a:solidFill>
                            <a:schemeClr val="bg1"/>
                          </a:solidFill>
                        </a:rPr>
                        <a:t>编写、</a:t>
                      </a:r>
                      <a:r>
                        <a:rPr lang="en-US" sz="1600">
                          <a:solidFill>
                            <a:schemeClr val="bg1"/>
                          </a:solidFill>
                        </a:rPr>
                        <a:t>Gherkin </a:t>
                      </a:r>
                      <a:r>
                        <a:rPr lang="zh-CN" altLang="en-US" sz="1600">
                          <a:solidFill>
                            <a:schemeClr val="bg1"/>
                          </a:solidFill>
                        </a:rPr>
                        <a:t>语法</a:t>
                      </a:r>
                      <a:br>
                        <a:rPr lang="en-US" sz="1600">
                          <a:solidFill>
                            <a:schemeClr val="bg1"/>
                          </a:solidFill>
                        </a:rPr>
                      </a:br>
                      <a:r>
                        <a:rPr lang="zh-CN" altLang="en-US" sz="1600">
                          <a:solidFill>
                            <a:schemeClr val="bg1"/>
                          </a:solidFill>
                        </a:rPr>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solidFill>
                            <a:schemeClr val="bg1"/>
                          </a:solidFill>
                        </a:rPr>
                        <a:t>可跟踪性 </a:t>
                      </a:r>
                      <a:r>
                        <a:rPr lang="en-US" sz="1600">
                          <a:solidFill>
                            <a:schemeClr val="bg1"/>
                          </a:solidFill>
                        </a:rPr>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需求能否</a:t>
                      </a:r>
                      <a:r>
                        <a:rPr lang="zh-CN" altLang="en-US" sz="1600">
                          <a:solidFill>
                            <a:srgbClr val="FFFF00"/>
                          </a:solidFill>
                        </a:rPr>
                        <a:t>溯源</a:t>
                      </a:r>
                      <a:r>
                        <a:rPr lang="zh-CN" altLang="en-US" sz="1600">
                          <a:solidFill>
                            <a:schemeClr val="bg1"/>
                          </a:solidFill>
                        </a:rPr>
                        <a:t>，并向下关联设计、代码、测试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 </a:t>
                      </a:r>
                      <a:r>
                        <a:rPr lang="en-US" sz="1600">
                          <a:solidFill>
                            <a:srgbClr val="FFFF00"/>
                          </a:solidFill>
                        </a:rPr>
                        <a:t>RTM</a:t>
                      </a:r>
                      <a:r>
                        <a:rPr lang="zh-CN" altLang="en-US" sz="1600">
                          <a:solidFill>
                            <a:schemeClr val="bg1"/>
                          </a:solidFill>
                        </a:rPr>
                        <a:t>、</a:t>
                      </a:r>
                      <a:r>
                        <a:rPr lang="en-US" altLang="zh-CN" sz="1600">
                          <a:solidFill>
                            <a:schemeClr val="bg1"/>
                          </a:solidFill>
                        </a:rPr>
                        <a:t>Jira/TAPD </a:t>
                      </a:r>
                      <a:r>
                        <a:rPr lang="zh-CN" altLang="en-US" sz="1600">
                          <a:solidFill>
                            <a:schemeClr val="bg1"/>
                          </a:solidFill>
                        </a:rPr>
                        <a:t>等工具链路</a:t>
                      </a:r>
                      <a:br>
                        <a:rPr lang="en-US" sz="1600">
                          <a:solidFill>
                            <a:schemeClr val="bg1"/>
                          </a:solidFill>
                        </a:rPr>
                      </a:br>
                      <a:r>
                        <a:rPr lang="en-US" sz="1600">
                          <a:solidFill>
                            <a:srgbClr val="FFFF00"/>
                          </a:solidFill>
                        </a:rPr>
                        <a:t>Git</a:t>
                      </a:r>
                      <a:r>
                        <a:rPr lang="en-US" sz="1600">
                          <a:solidFill>
                            <a:schemeClr val="bg1"/>
                          </a:solidFill>
                        </a:rPr>
                        <a:t>/</a:t>
                      </a:r>
                      <a:r>
                        <a:rPr lang="en-US" sz="1600">
                          <a:solidFill>
                            <a:srgbClr val="FFFF00"/>
                          </a:solidFill>
                        </a:rPr>
                        <a:t>GitHub</a:t>
                      </a:r>
                      <a:r>
                        <a:rPr lang="en-US" sz="1600">
                          <a:solidFill>
                            <a:schemeClr val="bg1"/>
                          </a:solidFill>
                        </a:rPr>
                        <a:t> </a:t>
                      </a:r>
                      <a:r>
                        <a:rPr lang="zh-CN" altLang="en-US" sz="1600">
                          <a:solidFill>
                            <a:schemeClr val="bg1"/>
                          </a:solidFill>
                        </a:rPr>
                        <a:t>版本控制 </a:t>
                      </a:r>
                      <a:r>
                        <a:rPr lang="en-US" altLang="zh-CN" sz="1600">
                          <a:solidFill>
                            <a:schemeClr val="bg1"/>
                          </a:solidFill>
                        </a:rPr>
                        <a:t>+ </a:t>
                      </a:r>
                      <a:r>
                        <a:rPr lang="en-US" sz="1600">
                          <a:solidFill>
                            <a:schemeClr val="bg1"/>
                          </a:solidFill>
                        </a:rPr>
                        <a:t>Commit Message </a:t>
                      </a:r>
                      <a:r>
                        <a:rPr lang="zh-CN" altLang="en-US" sz="1600">
                          <a:solidFill>
                            <a:schemeClr val="bg1"/>
                          </a:solidFill>
                        </a:rPr>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solidFill>
                            <a:schemeClr val="bg1"/>
                          </a:solidFill>
                        </a:rPr>
                        <a:t>签字确认 </a:t>
                      </a:r>
                      <a:r>
                        <a:rPr lang="en-US" sz="1600">
                          <a:solidFill>
                            <a:schemeClr val="bg1"/>
                          </a:solidFill>
                        </a:rPr>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电子签名系统、会议评审纪要 </a:t>
                      </a:r>
                      <a:r>
                        <a:rPr lang="en-US" altLang="zh-CN" sz="1600">
                          <a:solidFill>
                            <a:schemeClr val="bg1"/>
                          </a:solidFill>
                        </a:rPr>
                        <a:t>+ </a:t>
                      </a:r>
                      <a:r>
                        <a:rPr lang="zh-CN" altLang="en-US" sz="1600">
                          <a:solidFill>
                            <a:schemeClr val="bg1"/>
                          </a:solidFill>
                        </a:rPr>
                        <a:t>邮件确认</a:t>
                      </a:r>
                      <a:br>
                        <a:rPr lang="zh-CN" altLang="en-US" sz="1600">
                          <a:solidFill>
                            <a:schemeClr val="bg1"/>
                          </a:solidFill>
                        </a:rPr>
                      </a:br>
                      <a:r>
                        <a:rPr lang="zh-CN" altLang="en-US" sz="1600">
                          <a:solidFill>
                            <a:schemeClr val="bg1"/>
                          </a:solidFill>
                        </a:rPr>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a:t>客观存在：对事务的认知由浅入深、逐步深入、逐步明晰</a:t>
            </a:r>
            <a:endParaRPr lang="en-US" altLang="zh-CN"/>
          </a:p>
          <a:p>
            <a:r>
              <a:rPr lang="zh-CN" altLang="en-US"/>
              <a:t>正视并接受</a:t>
            </a:r>
            <a:endParaRPr lang="en-US" altLang="zh-CN"/>
          </a:p>
          <a:p>
            <a:r>
              <a:rPr lang="zh-CN" altLang="en-US"/>
              <a:t>由变更控制委员会</a:t>
            </a:r>
            <a:r>
              <a:rPr lang="en-US" altLang="zh-CN"/>
              <a:t>SCCB(Software  Change Control Board)</a:t>
            </a:r>
            <a:r>
              <a:rPr lang="zh-CN" altLang="en-US"/>
              <a:t>审核并确定</a:t>
            </a:r>
            <a:endParaRPr lang="en-US" altLang="zh-CN"/>
          </a:p>
          <a:p>
            <a:r>
              <a:rPr lang="zh-CN" altLang="en-US"/>
              <a:t>主要工作</a:t>
            </a:r>
            <a:endParaRPr lang="en-US" altLang="zh-CN"/>
          </a:p>
          <a:p>
            <a:pPr lvl="1"/>
            <a:r>
              <a:rPr lang="zh-CN" altLang="en-US"/>
              <a:t>建立需求基线 </a:t>
            </a:r>
            <a:r>
              <a:rPr lang="en-US" altLang="zh-CN"/>
              <a:t>Requirement Baseline</a:t>
            </a:r>
          </a:p>
          <a:p>
            <a:pPr lvl="1"/>
            <a:r>
              <a:rPr lang="zh-CN" altLang="en-US"/>
              <a:t>确定需求变更过程</a:t>
            </a:r>
            <a:endParaRPr lang="en-US" altLang="zh-CN"/>
          </a:p>
          <a:p>
            <a:pPr lvl="1"/>
            <a:r>
              <a:rPr lang="zh-CN" altLang="en-US"/>
              <a:t>建立变更控制委员会 </a:t>
            </a:r>
            <a:r>
              <a:rPr lang="en-US" altLang="zh-CN">
                <a:hlinkClick r:id="rId3"/>
              </a:rPr>
              <a:t>SCCB</a:t>
            </a:r>
            <a:endParaRPr lang="en-US" altLang="zh-CN"/>
          </a:p>
          <a:p>
            <a:pPr lvl="1"/>
            <a:r>
              <a:rPr lang="zh-CN" altLang="en-US"/>
              <a:t>进行变更影响分析</a:t>
            </a:r>
            <a:endParaRPr lang="en-US" altLang="zh-CN"/>
          </a:p>
          <a:p>
            <a:pPr lvl="1"/>
            <a:r>
              <a:rPr lang="zh-CN" altLang="en-US"/>
              <a:t>跟踪受影响的部分</a:t>
            </a:r>
            <a:endParaRPr lang="en-US" altLang="zh-CN"/>
          </a:p>
          <a:p>
            <a:pPr lvl="1"/>
            <a:r>
              <a:rPr lang="zh-CN" altLang="en-US"/>
              <a:t>建立变更记录</a:t>
            </a:r>
            <a:endParaRPr lang="en-US" altLang="zh-CN"/>
          </a:p>
          <a:p>
            <a:pPr lvl="1"/>
            <a:r>
              <a:rPr lang="zh-CN" altLang="en-US"/>
              <a:t>跟踪状态衡量稳定</a:t>
            </a:r>
            <a:endParaRPr lang="en-US" altLang="zh-CN"/>
          </a:p>
          <a:p>
            <a:pPr lvl="1"/>
            <a:endParaRPr lang="zh-CN" altLang="en-US"/>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a:t>
            </a:r>
            <a:r>
              <a:rPr lang="en-US" altLang="zh-CN" sz="1400">
                <a:solidFill>
                  <a:schemeClr val="bg1"/>
                </a:solidFill>
              </a:rPr>
              <a:t>UML</a:t>
            </a:r>
            <a:endParaRPr lang="zh-CN" altLang="en-US" sz="1400">
              <a:solidFill>
                <a:schemeClr val="bg1"/>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系统流程图 </a:t>
            </a:r>
            <a:r>
              <a:rPr lang="en-US" altLang="zh-CN" sz="1400">
                <a:solidFill>
                  <a:schemeClr val="bg1"/>
                </a:solidFill>
              </a:rPr>
              <a:t>System Flowchart</a:t>
            </a:r>
            <a:endParaRPr lang="zh-CN" altLang="en-US" sz="1400">
              <a:solidFill>
                <a:schemeClr val="bg1"/>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数据流 </a:t>
            </a:r>
            <a:r>
              <a:rPr lang="en-US" altLang="zh-CN" sz="1400">
                <a:solidFill>
                  <a:schemeClr val="bg1"/>
                </a:solidFill>
              </a:rPr>
              <a:t>Data Flow Diagram</a:t>
            </a:r>
            <a:endParaRPr lang="zh-CN" altLang="en-US" sz="1400">
              <a:solidFill>
                <a:schemeClr val="bg1"/>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p:spPr>
        <p:txBody>
          <a:bodyPr wrap="none" rtlCol="0">
            <a:spAutoFit/>
          </a:bodyPr>
          <a:lstStyle/>
          <a:p>
            <a:r>
              <a:rPr lang="zh-CN" altLang="en-US" sz="1400">
                <a:solidFill>
                  <a:schemeClr val="bg1"/>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用例图 </a:t>
            </a:r>
            <a:r>
              <a:rPr lang="en-US" altLang="zh-CN" sz="1400">
                <a:solidFill>
                  <a:schemeClr val="bg1"/>
                </a:solidFill>
              </a:rPr>
              <a:t>Use Case</a:t>
            </a:r>
            <a:endParaRPr lang="zh-CN" altLang="en-US" sz="1400">
              <a:solidFill>
                <a:schemeClr val="bg1"/>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活动图 </a:t>
            </a:r>
            <a:r>
              <a:rPr lang="en-US" altLang="zh-CN" sz="1400">
                <a:solidFill>
                  <a:schemeClr val="bg1"/>
                </a:solidFill>
              </a:rPr>
              <a:t>Activity</a:t>
            </a:r>
            <a:endParaRPr lang="zh-CN" altLang="en-US" sz="1400">
              <a:solidFill>
                <a:schemeClr val="bg1"/>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1011815" cy="338554"/>
          </a:xfrm>
          <a:prstGeom prst="rect">
            <a:avLst/>
          </a:prstGeom>
          <a:noFill/>
        </p:spPr>
        <p:txBody>
          <a:bodyPr wrap="none" rtlCol="0">
            <a:spAutoFit/>
          </a:bodyPr>
          <a:lstStyle/>
          <a:p>
            <a:pPr algn="l"/>
            <a:r>
              <a:rPr lang="zh-CN" altLang="en-US" sz="1600">
                <a:solidFill>
                  <a:srgbClr val="FFFF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1005403" cy="338554"/>
          </a:xfrm>
          <a:prstGeom prst="rect">
            <a:avLst/>
          </a:prstGeom>
          <a:noFill/>
        </p:spPr>
        <p:txBody>
          <a:bodyPr wrap="none" rtlCol="0">
            <a:spAutoFit/>
          </a:bodyPr>
          <a:lstStyle/>
          <a:p>
            <a:pPr algn="l"/>
            <a:r>
              <a:rPr lang="zh-CN" altLang="en-US" sz="1600">
                <a:solidFill>
                  <a:srgbClr val="FFFF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序列图 </a:t>
            </a:r>
            <a:r>
              <a:rPr lang="en-US" altLang="zh-CN" sz="1400">
                <a:solidFill>
                  <a:schemeClr val="bg1"/>
                </a:solidFill>
              </a:rPr>
              <a:t>Sequence</a:t>
            </a:r>
            <a:endParaRPr lang="zh-CN" altLang="en-US" sz="1400">
              <a:solidFill>
                <a:schemeClr val="bg1"/>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状态图 </a:t>
            </a:r>
            <a:r>
              <a:rPr lang="en-US" altLang="zh-CN" sz="1400">
                <a:solidFill>
                  <a:schemeClr val="bg1"/>
                </a:solidFill>
              </a:rPr>
              <a:t>State Machine</a:t>
            </a:r>
            <a:endParaRPr lang="zh-CN" altLang="en-US" sz="1400">
              <a:solidFill>
                <a:schemeClr val="bg1"/>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影响地图 </a:t>
            </a:r>
            <a:r>
              <a:rPr lang="en-US" altLang="zh-CN" sz="1400">
                <a:solidFill>
                  <a:schemeClr val="bg1"/>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需求池 </a:t>
            </a:r>
            <a:r>
              <a:rPr lang="en-US" altLang="zh-CN" sz="1400">
                <a:solidFill>
                  <a:schemeClr val="bg1"/>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用户故事地图 </a:t>
            </a:r>
            <a:r>
              <a:rPr lang="en-US" altLang="zh-CN" sz="1400">
                <a:solidFill>
                  <a:schemeClr val="bg1"/>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用户故事编写 </a:t>
            </a:r>
            <a:r>
              <a:rPr lang="en-US" altLang="zh-CN" sz="1400">
                <a:solidFill>
                  <a:schemeClr val="bg1"/>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INVEST </a:t>
            </a:r>
            <a:r>
              <a:rPr lang="zh-CN" altLang="en-US" sz="1400">
                <a:solidFill>
                  <a:schemeClr val="bg1"/>
                </a:solidFill>
              </a:rPr>
              <a:t>原则</a:t>
            </a:r>
            <a:endParaRPr lang="en-US" altLang="zh-CN" sz="1400">
              <a:solidFill>
                <a:schemeClr val="bg1"/>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行为驱动开发 </a:t>
            </a:r>
            <a:r>
              <a:rPr lang="en-US" altLang="zh-CN" sz="1400">
                <a:solidFill>
                  <a:schemeClr val="bg1"/>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 …</a:t>
            </a:r>
            <a:endParaRPr lang="zh-CN" altLang="en-US" sz="1400">
              <a:solidFill>
                <a:schemeClr val="bg1"/>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Start </a:t>
            </a:r>
            <a:endParaRPr lang="zh-CN" altLang="en-US" sz="1400">
              <a:solidFill>
                <a:schemeClr val="bg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Decide</a:t>
            </a:r>
            <a:endParaRPr lang="zh-CN" altLang="en-US" sz="1400">
              <a:solidFill>
                <a:schemeClr val="bg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195388134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1935353738"/>
              </p:ext>
            </p:extLst>
          </p:nvPr>
        </p:nvGraphicFramePr>
        <p:xfrm>
          <a:off x="696000" y="1515786"/>
          <a:ext cx="10800000" cy="3826428"/>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60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7441994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定义符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由</a:t>
                      </a:r>
                      <a:r>
                        <a:rPr lang="en-US" altLang="zh-CN" sz="1600">
                          <a:solidFill>
                            <a:schemeClr val="bg1"/>
                          </a:solidFill>
                        </a:rPr>
                        <a:t>……</a:t>
                      </a:r>
                      <a:r>
                        <a:rPr lang="zh-CN" altLang="en-US" sz="1600">
                          <a:solidFill>
                            <a:schemeClr val="bg1"/>
                          </a:solidFill>
                        </a:rPr>
                        <a:t>组成</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订单</a:t>
                      </a:r>
                      <a:r>
                        <a:rPr lang="en-US" altLang="zh-CN" sz="1600">
                          <a:solidFill>
                            <a:schemeClr val="bg1"/>
                          </a:solidFill>
                          <a:latin typeface="Courier New" panose="02070309020205020404" pitchFamily="49" charset="0"/>
                        </a:rPr>
                        <a:t>ID + </a:t>
                      </a:r>
                      <a:r>
                        <a:rPr lang="zh-CN" altLang="en-US" sz="1600">
                          <a:solidFill>
                            <a:schemeClr val="bg1"/>
                          </a:solidFill>
                          <a:latin typeface="Courier New" panose="02070309020205020404" pitchFamily="49" charset="0"/>
                        </a:rPr>
                        <a:t>客户名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连接符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和 </a:t>
                      </a:r>
                      <a:r>
                        <a:rPr lang="en-US" altLang="zh-CN" sz="1600">
                          <a:solidFill>
                            <a:schemeClr val="bg1"/>
                          </a:solidFill>
                        </a:rPr>
                        <a:t>/ </a:t>
                      </a:r>
                      <a:r>
                        <a:rPr lang="zh-CN" altLang="en-US" sz="1600">
                          <a:solidFill>
                            <a:schemeClr val="bg1"/>
                          </a:solidFill>
                        </a:rPr>
                        <a:t>与</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地址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市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区</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选择符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或 </a:t>
                      </a:r>
                      <a:r>
                        <a:rPr lang="en-US" altLang="zh-CN" sz="1600">
                          <a:solidFill>
                            <a:schemeClr val="bg1"/>
                          </a:solidFill>
                        </a:rPr>
                        <a:t>/ </a:t>
                      </a:r>
                      <a:r>
                        <a:rPr lang="zh-CN" altLang="en-US" sz="1600">
                          <a:solidFill>
                            <a:schemeClr val="bg1"/>
                          </a:solidFill>
                        </a:rPr>
                        <a:t>互斥</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支付方式 </a:t>
                      </a:r>
                      <a:r>
                        <a:rPr lang="en-US" altLang="zh-CN" sz="1600">
                          <a:solidFill>
                            <a:schemeClr val="bg1"/>
                          </a:solidFill>
                        </a:rPr>
                        <a:t>= [</a:t>
                      </a:r>
                      <a:r>
                        <a:rPr lang="zh-CN" altLang="en-US" sz="1600">
                          <a:solidFill>
                            <a:schemeClr val="bg1"/>
                          </a:solidFill>
                        </a:rPr>
                        <a:t>支付宝 </a:t>
                      </a:r>
                      <a:r>
                        <a:rPr lang="en-US" altLang="zh-CN" sz="1600">
                          <a:solidFill>
                            <a:schemeClr val="bg1"/>
                          </a:solidFill>
                        </a:rPr>
                        <a:t>| </a:t>
                      </a:r>
                      <a:r>
                        <a:rPr lang="zh-CN" altLang="en-US" sz="1600">
                          <a:solidFill>
                            <a:schemeClr val="bg1"/>
                          </a:solidFill>
                        </a:rPr>
                        <a:t>微信</a:t>
                      </a:r>
                      <a:r>
                        <a:rPr lang="en-US" altLang="zh-CN" sz="1600">
                          <a:solidFill>
                            <a:schemeClr val="bg1"/>
                          </a:solidFill>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电话 </a:t>
                      </a:r>
                      <a:r>
                        <a:rPr lang="en-US" altLang="zh-CN" sz="1600">
                          <a:solidFill>
                            <a:schemeClr val="bg1"/>
                          </a:solidFill>
                          <a:latin typeface="Courier New" panose="02070309020205020404" pitchFamily="49" charset="0"/>
                        </a:rPr>
                        <a:t>=(</a:t>
                      </a:r>
                      <a:r>
                        <a:rPr lang="zh-CN" altLang="en-US" sz="1600">
                          <a:solidFill>
                            <a:schemeClr val="bg1"/>
                          </a:solidFill>
                          <a:latin typeface="Courier New" panose="02070309020205020404" pitchFamily="49" charset="0"/>
                        </a:rPr>
                        <a:t>区号</a:t>
                      </a:r>
                      <a:r>
                        <a:rPr lang="en-US" altLang="zh-CN" sz="1600">
                          <a:solidFill>
                            <a:schemeClr val="bg1"/>
                          </a:solidFill>
                          <a:latin typeface="Courier New" panose="02070309020205020404" pitchFamily="49" charset="0"/>
                        </a:rPr>
                        <a:t>) + </a:t>
                      </a:r>
                      <a:r>
                        <a:rPr lang="zh-CN" altLang="en-US" sz="1600">
                          <a:solidFill>
                            <a:schemeClr val="bg1"/>
                          </a:solidFill>
                          <a:latin typeface="Courier New" panose="02070309020205020404" pitchFamily="49" charset="0"/>
                        </a:rPr>
                        <a:t>号码</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订单明细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商品信息</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表示花括号内的元素可以重复出现（</a:t>
                      </a:r>
                      <a:r>
                        <a:rPr lang="en-US" altLang="zh-CN" sz="1600">
                          <a:solidFill>
                            <a:schemeClr val="bg1"/>
                          </a:solidFill>
                        </a:rPr>
                        <a:t>0</a:t>
                      </a:r>
                      <a:r>
                        <a:rPr lang="zh-CN" altLang="en-US" sz="1600">
                          <a:solidFill>
                            <a:schemeClr val="bg1"/>
                          </a:solidFill>
                        </a:rPr>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600">
                          <a:solidFill>
                            <a:schemeClr val="bg1"/>
                          </a:solidFill>
                        </a:rPr>
                        <a:t>{ }n</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限定重复符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固定次数重复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坐标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数字</a:t>
                      </a:r>
                      <a:r>
                        <a:rPr lang="en-US" altLang="zh-CN" sz="1600">
                          <a:solidFill>
                            <a:schemeClr val="bg1"/>
                          </a:solidFill>
                          <a:latin typeface="Courier New" panose="02070309020205020404" pitchFamily="49" charset="0"/>
                        </a:rPr>
                        <a:t>}2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表示花括号内的元素必须重复 </a:t>
                      </a:r>
                      <a:r>
                        <a:rPr lang="en-US" altLang="zh-CN" sz="1600">
                          <a:solidFill>
                            <a:schemeClr val="bg1"/>
                          </a:solidFill>
                        </a:rPr>
                        <a:t>n </a:t>
                      </a:r>
                      <a:r>
                        <a:rPr lang="zh-CN" altLang="en-US" sz="1600">
                          <a:solidFill>
                            <a:schemeClr val="bg1"/>
                          </a:solidFill>
                        </a:rPr>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600">
                          <a:solidFill>
                            <a:schemeClr val="bg1"/>
                          </a:solidFill>
                        </a:rPr>
                        <a:t>{ }</a:t>
                      </a:r>
                      <a:r>
                        <a:rPr lang="en-US" sz="1600" err="1">
                          <a:solidFill>
                            <a:schemeClr val="bg1"/>
                          </a:solidFill>
                        </a:rPr>
                        <a:t>m,n</a:t>
                      </a:r>
                      <a:endParaRPr 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密码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字母或数字</a:t>
                      </a:r>
                      <a:r>
                        <a:rPr lang="en-US" altLang="zh-CN" sz="1600">
                          <a:solidFill>
                            <a:schemeClr val="bg1"/>
                          </a:solidFill>
                          <a:latin typeface="Courier New" panose="02070309020205020404" pitchFamily="49" charset="0"/>
                        </a:rPr>
                        <a:t>}6,12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表示花括号内的元素重复次数在 </a:t>
                      </a:r>
                      <a:r>
                        <a:rPr lang="en-US" altLang="zh-CN" sz="1600">
                          <a:solidFill>
                            <a:schemeClr val="bg1"/>
                          </a:solidFill>
                        </a:rPr>
                        <a:t>m </a:t>
                      </a:r>
                      <a:r>
                        <a:rPr lang="zh-CN" altLang="en-US" sz="1600">
                          <a:solidFill>
                            <a:schemeClr val="bg1"/>
                          </a:solidFill>
                        </a:rPr>
                        <a:t>到 </a:t>
                      </a:r>
                      <a:r>
                        <a:rPr lang="en-US" altLang="zh-CN" sz="1600">
                          <a:solidFill>
                            <a:schemeClr val="bg1"/>
                          </a:solidFill>
                        </a:rPr>
                        <a:t>n </a:t>
                      </a:r>
                      <a:r>
                        <a:rPr lang="zh-CN" altLang="en-US" sz="1600">
                          <a:solidFill>
                            <a:schemeClr val="bg1"/>
                          </a:solidFill>
                        </a:rPr>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省略符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年龄 </a:t>
                      </a:r>
                      <a:r>
                        <a:rPr lang="en-US" altLang="zh-CN" sz="1600">
                          <a:solidFill>
                            <a:schemeClr val="bg1"/>
                          </a:solidFill>
                          <a:latin typeface="Courier New" panose="02070309020205020404" pitchFamily="49" charset="0"/>
                        </a:rPr>
                        <a:t>= 0…150</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a:hlinkClick r:id="rId3"/>
              </a:rPr>
              <a:t>影响地图 </a:t>
            </a:r>
            <a:r>
              <a:rPr lang="en-US" altLang="zh-CN">
                <a:hlinkClick r:id="rId3"/>
              </a:rPr>
              <a:t>Impact Mapping</a:t>
            </a:r>
            <a:endParaRPr lang="en-US" altLang="zh-CN"/>
          </a:p>
          <a:p>
            <a:r>
              <a:rPr lang="zh-CN" altLang="en-US"/>
              <a:t>从“业务目标”出发，逆向推导出“应该做什么功能</a:t>
            </a:r>
            <a:endParaRPr lang="en-US" altLang="zh-CN"/>
          </a:p>
          <a:p>
            <a:r>
              <a:rPr lang="zh-CN" altLang="en-US"/>
              <a:t>从一个明确的业务目标出发，通过识别关键角色、期望的行为改变（影响），最终推导出具体的交付物</a:t>
            </a:r>
            <a:endParaRPr lang="en-US" altLang="zh-CN"/>
          </a:p>
          <a:p>
            <a:pPr lvl="1"/>
            <a:r>
              <a:rPr lang="zh-CN" altLang="en-US"/>
              <a:t>为什么做？（业务目标）</a:t>
            </a:r>
          </a:p>
          <a:p>
            <a:pPr lvl="1"/>
            <a:r>
              <a:rPr lang="zh-CN" altLang="en-US"/>
              <a:t>为谁做？（受影响的角色）</a:t>
            </a:r>
          </a:p>
          <a:p>
            <a:pPr lvl="1"/>
            <a:r>
              <a:rPr lang="zh-CN" altLang="en-US"/>
              <a:t>如何影响他们？（行为改变</a:t>
            </a:r>
            <a:r>
              <a:rPr lang="en-US" altLang="zh-CN"/>
              <a:t>/</a:t>
            </a:r>
            <a:r>
              <a:rPr lang="zh-CN" altLang="en-US"/>
              <a:t>影响）</a:t>
            </a:r>
          </a:p>
          <a:p>
            <a:pPr lvl="1"/>
            <a:r>
              <a:rPr lang="zh-CN" altLang="en-US"/>
              <a:t>做什么来实现？（具体功能项）</a:t>
            </a:r>
          </a:p>
          <a:p>
            <a:endParaRPr lang="zh-CN" altLang="en-US"/>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Goal</a:t>
            </a:r>
            <a:endParaRPr lang="zh-CN" altLang="en-US" sz="1600">
              <a:solidFill>
                <a:schemeClr val="bg1"/>
              </a:solidFill>
            </a:endParaRPr>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Delivery</a:t>
            </a:r>
            <a:endParaRPr lang="zh-CN" altLang="en-US" sz="1600">
              <a:solidFill>
                <a:schemeClr val="bg1"/>
              </a:solidFill>
            </a:endParaRPr>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721672" cy="369332"/>
          </a:xfrm>
          <a:prstGeom prst="rect">
            <a:avLst/>
          </a:prstGeom>
          <a:noFill/>
        </p:spPr>
        <p:txBody>
          <a:bodyPr wrap="none" rtlCol="0">
            <a:spAutoFit/>
          </a:bodyPr>
          <a:lstStyle/>
          <a:p>
            <a:r>
              <a:rPr lang="en-US" altLang="zh-CN">
                <a:solidFill>
                  <a:schemeClr val="bg1"/>
                </a:solidFill>
              </a:rPr>
              <a:t>Why</a:t>
            </a:r>
            <a:endParaRPr lang="zh-CN" altLang="en-US">
              <a:solidFill>
                <a:schemeClr val="bg1"/>
              </a:solidFill>
            </a:endParaRPr>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1015021" cy="369332"/>
          </a:xfrm>
          <a:prstGeom prst="rect">
            <a:avLst/>
          </a:prstGeom>
          <a:noFill/>
        </p:spPr>
        <p:txBody>
          <a:bodyPr wrap="none" rtlCol="0">
            <a:spAutoFit/>
          </a:bodyPr>
          <a:lstStyle/>
          <a:p>
            <a:r>
              <a:rPr lang="en-US" altLang="zh-CN">
                <a:solidFill>
                  <a:schemeClr val="bg1"/>
                </a:solidFill>
              </a:rPr>
              <a:t>Impact</a:t>
            </a:r>
            <a:endParaRPr lang="zh-CN" altLang="en-US">
              <a:solidFill>
                <a:schemeClr val="bg1"/>
              </a:solidFill>
            </a:endParaRPr>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740908" cy="369332"/>
          </a:xfrm>
          <a:prstGeom prst="rect">
            <a:avLst/>
          </a:prstGeom>
          <a:noFill/>
        </p:spPr>
        <p:txBody>
          <a:bodyPr wrap="none" rtlCol="0">
            <a:spAutoFit/>
          </a:bodyPr>
          <a:lstStyle/>
          <a:p>
            <a:r>
              <a:rPr lang="en-US" altLang="zh-CN">
                <a:solidFill>
                  <a:schemeClr val="bg1"/>
                </a:solidFill>
              </a:rPr>
              <a:t>Who</a:t>
            </a:r>
            <a:endParaRPr lang="zh-CN" altLang="en-US">
              <a:solidFill>
                <a:schemeClr val="bg1"/>
              </a:solidFill>
            </a:endParaRPr>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720069" cy="369332"/>
          </a:xfrm>
          <a:prstGeom prst="rect">
            <a:avLst/>
          </a:prstGeom>
          <a:noFill/>
        </p:spPr>
        <p:txBody>
          <a:bodyPr wrap="none" rtlCol="0">
            <a:spAutoFit/>
          </a:bodyPr>
          <a:lstStyle/>
          <a:p>
            <a:r>
              <a:rPr lang="en-US" altLang="zh-CN">
                <a:solidFill>
                  <a:schemeClr val="bg1"/>
                </a:solidFill>
              </a:rPr>
              <a:t>How</a:t>
            </a:r>
            <a:endParaRPr lang="zh-CN" altLang="en-US">
              <a:solidFill>
                <a:schemeClr val="bg1"/>
              </a:solidFill>
            </a:endParaRPr>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825867" cy="369332"/>
          </a:xfrm>
          <a:prstGeom prst="rect">
            <a:avLst/>
          </a:prstGeom>
          <a:noFill/>
        </p:spPr>
        <p:txBody>
          <a:bodyPr wrap="none" rtlCol="0">
            <a:spAutoFit/>
          </a:bodyPr>
          <a:lstStyle/>
          <a:p>
            <a:r>
              <a:rPr lang="en-US" altLang="zh-CN">
                <a:solidFill>
                  <a:schemeClr val="bg1"/>
                </a:solidFill>
              </a:rPr>
              <a:t>What</a:t>
            </a:r>
            <a:endParaRPr lang="zh-CN" altLang="en-US">
              <a:solidFill>
                <a:schemeClr val="bg1"/>
              </a:solidFill>
            </a:endParaRPr>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809837" cy="369332"/>
          </a:xfrm>
          <a:prstGeom prst="rect">
            <a:avLst/>
          </a:prstGeom>
          <a:noFill/>
        </p:spPr>
        <p:txBody>
          <a:bodyPr wrap="none" rtlCol="0">
            <a:spAutoFit/>
          </a:bodyPr>
          <a:lstStyle/>
          <a:p>
            <a:r>
              <a:rPr lang="en-US" altLang="zh-CN">
                <a:solidFill>
                  <a:schemeClr val="bg1"/>
                </a:solidFill>
              </a:rPr>
              <a:t>Actor</a:t>
            </a:r>
            <a:endParaRPr lang="zh-CN" altLang="en-US">
              <a:solidFill>
                <a:schemeClr val="bg1"/>
              </a:solidFill>
            </a:endParaRPr>
          </a:p>
        </p:txBody>
      </p:sp>
    </p:spTree>
    <p:extLst>
      <p:ext uri="{BB962C8B-B14F-4D97-AF65-F5344CB8AC3E}">
        <p14:creationId xmlns:p14="http://schemas.microsoft.com/office/powerpoint/2010/main" val="13672695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4033241661"/>
              </p:ext>
            </p:extLst>
          </p:nvPr>
        </p:nvGraphicFramePr>
        <p:xfrm>
          <a:off x="1302775" y="467360"/>
          <a:ext cx="9586450" cy="592328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central of an impact map answers the most important question: </a:t>
                      </a:r>
                      <a:r>
                        <a:rPr lang="en-US" altLang="zh-CN">
                          <a:solidFill>
                            <a:srgbClr val="FFFF00"/>
                          </a:solidFill>
                        </a:rPr>
                        <a:t>Why</a:t>
                      </a:r>
                      <a:r>
                        <a:rPr lang="en-US" altLang="zh-CN">
                          <a:solidFill>
                            <a:schemeClr val="bg1"/>
                          </a:solidFill>
                        </a:rPr>
                        <a:t> are we doing this? This is the goal we are </a:t>
                      </a:r>
                      <a:r>
                        <a:rPr lang="en-US" altLang="zh-CN">
                          <a:solidFill>
                            <a:srgbClr val="FFFF00"/>
                          </a:solidFill>
                        </a:rPr>
                        <a:t>trying to achieve</a:t>
                      </a:r>
                      <a:r>
                        <a:rPr lang="en-US" altLang="zh-CN">
                          <a:solidFill>
                            <a:schemeClr val="bg1"/>
                          </a:solidFill>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2000" dirty="0">
                          <a:solidFill>
                            <a:srgbClr val="FFFF00"/>
                          </a:solidFill>
                        </a:rPr>
                        <a:t>Actors</a:t>
                      </a:r>
                    </a:p>
                    <a:p>
                      <a:pPr algn="just" fontAlgn="base"/>
                      <a:r>
                        <a:rPr lang="en-US" altLang="zh-CN" dirty="0">
                          <a:solidFill>
                            <a:schemeClr val="bg1"/>
                          </a:solidFill>
                        </a:rPr>
                        <a:t>The first branch of an impact map provides answers to the following questions: </a:t>
                      </a:r>
                      <a:r>
                        <a:rPr lang="en-US" altLang="zh-CN" dirty="0">
                          <a:solidFill>
                            <a:srgbClr val="FFFF00"/>
                          </a:solidFill>
                        </a:rPr>
                        <a:t>Who</a:t>
                      </a:r>
                      <a:r>
                        <a:rPr lang="en-US" altLang="zh-CN" dirty="0">
                          <a:solidFill>
                            <a:schemeClr val="bg1"/>
                          </a:solidFill>
                        </a:rPr>
                        <a:t> can produce the desired effect? </a:t>
                      </a:r>
                      <a:r>
                        <a:rPr lang="en-US" altLang="zh-CN" dirty="0">
                          <a:solidFill>
                            <a:srgbClr val="FFFF00"/>
                          </a:solidFill>
                        </a:rPr>
                        <a:t>Who</a:t>
                      </a:r>
                      <a:r>
                        <a:rPr lang="en-US" altLang="zh-CN" dirty="0">
                          <a:solidFill>
                            <a:schemeClr val="bg1"/>
                          </a:solidFill>
                        </a:rPr>
                        <a:t> can obstruct it? </a:t>
                      </a:r>
                      <a:r>
                        <a:rPr lang="en-US" altLang="zh-CN" dirty="0">
                          <a:solidFill>
                            <a:srgbClr val="FFFF00"/>
                          </a:solidFill>
                        </a:rPr>
                        <a:t>Who</a:t>
                      </a:r>
                      <a:r>
                        <a:rPr lang="en-US" altLang="zh-CN" dirty="0">
                          <a:solidFill>
                            <a:schemeClr val="bg1"/>
                          </a:solidFill>
                        </a:rPr>
                        <a:t> are the consumers or users of our product? </a:t>
                      </a:r>
                      <a:r>
                        <a:rPr lang="en-US" altLang="zh-CN" dirty="0">
                          <a:solidFill>
                            <a:srgbClr val="FFFF00"/>
                          </a:solidFill>
                        </a:rPr>
                        <a:t>Who</a:t>
                      </a:r>
                      <a:r>
                        <a:rPr lang="en-US" altLang="zh-CN" dirty="0">
                          <a:solidFill>
                            <a:schemeClr val="bg1"/>
                          </a:solidFill>
                        </a:rPr>
                        <a:t> will be impacted by it? These are the actors who can influence the outcome.</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2000">
                          <a:solidFill>
                            <a:srgbClr val="FFFF00"/>
                          </a:solidFill>
                        </a:rPr>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second branch level of an impact map sets the actors in the perspective of our business goal. It answers the following questions: </a:t>
                      </a:r>
                      <a:r>
                        <a:rPr lang="en-US" altLang="zh-CN">
                          <a:solidFill>
                            <a:srgbClr val="FFFF00"/>
                          </a:solidFill>
                        </a:rPr>
                        <a:t>How</a:t>
                      </a:r>
                      <a:r>
                        <a:rPr lang="en-US" altLang="zh-CN">
                          <a:solidFill>
                            <a:schemeClr val="bg1"/>
                          </a:solidFill>
                        </a:rPr>
                        <a:t> should our actors’ behaviors change? </a:t>
                      </a:r>
                      <a:r>
                        <a:rPr lang="en-US" altLang="zh-CN">
                          <a:solidFill>
                            <a:srgbClr val="FFFF00"/>
                          </a:solidFill>
                        </a:rPr>
                        <a:t>How</a:t>
                      </a:r>
                      <a:r>
                        <a:rPr lang="en-US" altLang="zh-CN">
                          <a:solidFill>
                            <a:schemeClr val="bg1"/>
                          </a:solidFill>
                        </a:rPr>
                        <a:t> can they help us to achieve the goal? How can they obstruct or prevent us from succeeding? These are the impacts that we’re trying to create.</a:t>
                      </a:r>
                      <a:endParaRPr lang="zh-CN" alt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dirty="0">
                          <a:solidFill>
                            <a:schemeClr val="bg1"/>
                          </a:solidFill>
                        </a:rPr>
                        <a:t>Once we have the first three questions answered, we can talk about scope. The third branch level of an impact map answers the following question: </a:t>
                      </a:r>
                      <a:r>
                        <a:rPr lang="en-US" altLang="zh-CN" dirty="0">
                          <a:solidFill>
                            <a:srgbClr val="FFFF00"/>
                          </a:solidFill>
                        </a:rPr>
                        <a:t>What</a:t>
                      </a:r>
                      <a:r>
                        <a:rPr lang="en-US" altLang="zh-CN" dirty="0">
                          <a:solidFill>
                            <a:schemeClr val="bg1"/>
                          </a:solidFill>
                        </a:rPr>
                        <a:t> can we do, as an organization or a delivery team, to support the required impacts? These are the deliverables, software features and organizational activities.</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2976906221"/>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a:solidFill>
                            <a:schemeClr val="bg1"/>
                          </a:solidFill>
                        </a:rPr>
                        <a:t>交付物</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作用机制</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a:solidFill>
                            <a:schemeClr val="bg1"/>
                          </a:solidFill>
                        </a:rPr>
                        <a:t>Push updates on the app</a:t>
                      </a:r>
                      <a:br>
                        <a:rPr lang="en-US" sz="1600">
                          <a:solidFill>
                            <a:schemeClr val="bg1"/>
                          </a:solidFill>
                        </a:rPr>
                      </a:br>
                      <a:r>
                        <a:rPr lang="en-US" sz="1600" err="1">
                          <a:solidFill>
                            <a:schemeClr val="bg1"/>
                          </a:solidFill>
                        </a:rPr>
                        <a:t>App</a:t>
                      </a:r>
                      <a:r>
                        <a:rPr lang="en-US" sz="1600">
                          <a:solidFill>
                            <a:schemeClr val="bg1"/>
                          </a:solidFill>
                        </a:rPr>
                        <a:t> </a:t>
                      </a:r>
                      <a:r>
                        <a:rPr lang="zh-CN" altLang="en-US" sz="1600">
                          <a:solidFill>
                            <a:schemeClr val="bg1"/>
                          </a:solidFill>
                        </a:rPr>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主动提醒用户有新内容</a:t>
                      </a:r>
                      <a:r>
                        <a:rPr lang="en-US" altLang="zh-CN" sz="1600">
                          <a:solidFill>
                            <a:schemeClr val="bg1"/>
                          </a:solidFill>
                        </a:rPr>
                        <a:t>/</a:t>
                      </a:r>
                      <a:r>
                        <a:rPr lang="zh-CN" altLang="en-US" sz="1600">
                          <a:solidFill>
                            <a:schemeClr val="bg1"/>
                          </a:solidFill>
                        </a:rPr>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提高日活</a:t>
                      </a:r>
                      <a:r>
                        <a:rPr lang="en-US" altLang="zh-CN" sz="1600">
                          <a:solidFill>
                            <a:schemeClr val="bg1"/>
                          </a:solidFill>
                        </a:rPr>
                        <a:t>/</a:t>
                      </a:r>
                      <a:r>
                        <a:rPr lang="zh-CN" altLang="en-US" sz="1600">
                          <a:solidFill>
                            <a:schemeClr val="bg1"/>
                          </a:solidFill>
                        </a:rPr>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solidFill>
                            <a:schemeClr val="bg1"/>
                          </a:solidFill>
                        </a:rPr>
                        <a:t>Special offers every month</a:t>
                      </a:r>
                      <a:br>
                        <a:rPr lang="en-US" sz="1600">
                          <a:solidFill>
                            <a:schemeClr val="bg1"/>
                          </a:solidFill>
                        </a:rPr>
                      </a:br>
                      <a:r>
                        <a:rPr lang="zh-CN" altLang="en-US" sz="1600">
                          <a:solidFill>
                            <a:schemeClr val="bg1"/>
                          </a:solidFill>
                        </a:rPr>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solidFill>
                            <a:schemeClr val="bg1"/>
                          </a:solidFill>
                        </a:rPr>
                        <a:t>Better layout when browsing events</a:t>
                      </a:r>
                      <a:br>
                        <a:rPr lang="en-US" sz="1600">
                          <a:solidFill>
                            <a:schemeClr val="bg1"/>
                          </a:solidFill>
                        </a:rPr>
                      </a:br>
                      <a:r>
                        <a:rPr lang="zh-CN" altLang="en-US" sz="1600">
                          <a:solidFill>
                            <a:schemeClr val="bg1"/>
                          </a:solidFill>
                        </a:rPr>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间接支持“</a:t>
                      </a:r>
                      <a:r>
                        <a:rPr lang="en-US" sz="1600">
                          <a:solidFill>
                            <a:schemeClr val="bg1"/>
                          </a:solidFill>
                        </a:rPr>
                        <a:t>Stay longer”</a:t>
                      </a:r>
                      <a:r>
                        <a:rPr lang="zh-CN" altLang="en-US" sz="1600">
                          <a:solidFill>
                            <a:schemeClr val="bg1"/>
                          </a:solidFill>
                        </a:rPr>
                        <a:t>和“</a:t>
                      </a:r>
                      <a:r>
                        <a:rPr lang="en-US" sz="1600">
                          <a:solidFill>
                            <a:schemeClr val="bg1"/>
                          </a:solidFill>
                        </a:rPr>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a:t>需求池 </a:t>
            </a:r>
            <a:r>
              <a:rPr lang="en-US" altLang="zh-CN"/>
              <a:t>Product Backlog</a:t>
            </a:r>
          </a:p>
          <a:p>
            <a:r>
              <a:rPr lang="zh-CN" altLang="en-US"/>
              <a:t>产品代办事项</a:t>
            </a:r>
            <a:endParaRPr lang="en-US" altLang="zh-CN"/>
          </a:p>
          <a:p>
            <a:endParaRPr lang="zh-CN" altLang="en-US"/>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2538515"/>
          </a:xfrm>
          <a:prstGeom prst="rect">
            <a:avLst/>
          </a:prstGeom>
          <a:noFill/>
        </p:spPr>
        <p:txBody>
          <a:bodyPr wrap="square" rtlCol="0">
            <a:spAutoFit/>
          </a:bodyPr>
          <a:lstStyle/>
          <a:p>
            <a:pPr marL="0" lvl="1">
              <a:lnSpc>
                <a:spcPct val="150000"/>
              </a:lnSpc>
            </a:pPr>
            <a:r>
              <a:rPr lang="en-US" altLang="zh-CN">
                <a:solidFill>
                  <a:srgbClr val="FFFF00"/>
                </a:solidFill>
              </a:rPr>
              <a:t>AS A</a:t>
            </a:r>
            <a:r>
              <a:rPr lang="en-US" altLang="zh-CN">
                <a:solidFill>
                  <a:schemeClr val="bg1"/>
                </a:solidFill>
              </a:rPr>
              <a:t> {user | persona | system},</a:t>
            </a:r>
          </a:p>
          <a:p>
            <a:pPr marL="0" lvl="1">
              <a:lnSpc>
                <a:spcPct val="150000"/>
              </a:lnSpc>
            </a:pPr>
            <a:r>
              <a:rPr lang="en-US" altLang="zh-CN">
                <a:solidFill>
                  <a:schemeClr val="bg1"/>
                </a:solidFill>
              </a:rPr>
              <a:t>[INSTEAD OF {current condition}]</a:t>
            </a:r>
          </a:p>
          <a:p>
            <a:pPr marL="0" lvl="1">
              <a:lnSpc>
                <a:spcPct val="150000"/>
              </a:lnSpc>
            </a:pPr>
            <a:r>
              <a:rPr lang="en-US" altLang="zh-CN">
                <a:solidFill>
                  <a:srgbClr val="FFFF00"/>
                </a:solidFill>
              </a:rPr>
              <a:t>I WANT TO </a:t>
            </a:r>
            <a:r>
              <a:rPr lang="en-US" altLang="zh-CN">
                <a:solidFill>
                  <a:schemeClr val="bg1"/>
                </a:solidFill>
              </a:rPr>
              <a:t>{action} [IN {mode} TIME | IN {differentiating performance units} TO {utility performance units}</a:t>
            </a:r>
          </a:p>
          <a:p>
            <a:pPr marL="0" lvl="1">
              <a:lnSpc>
                <a:spcPct val="150000"/>
              </a:lnSpc>
            </a:pPr>
            <a:r>
              <a:rPr lang="en-US" altLang="zh-CN">
                <a:solidFill>
                  <a:schemeClr val="bg1"/>
                </a:solidFill>
              </a:rPr>
              <a:t>[</a:t>
            </a:r>
            <a:r>
              <a:rPr lang="en-US" altLang="zh-CN">
                <a:solidFill>
                  <a:srgbClr val="FFFF00"/>
                </a:solidFill>
              </a:rPr>
              <a:t>SO THAT </a:t>
            </a:r>
            <a:r>
              <a:rPr lang="en-US" altLang="zh-CN">
                <a:solidFill>
                  <a:schemeClr val="bg1"/>
                </a:solidFill>
              </a:rPr>
              <a:t>{value or justification}]</a:t>
            </a:r>
          </a:p>
          <a:p>
            <a:pPr marL="0" lvl="1">
              <a:lnSpc>
                <a:spcPct val="150000"/>
              </a:lnSpc>
            </a:pPr>
            <a:r>
              <a:rPr lang="en-US" altLang="zh-CN">
                <a:solidFill>
                  <a:schemeClr val="bg1"/>
                </a:solidFill>
              </a:rPr>
              <a:t>[</a:t>
            </a:r>
            <a:r>
              <a:rPr lang="en-US" altLang="zh-CN">
                <a:solidFill>
                  <a:srgbClr val="FFFF00"/>
                </a:solidFill>
              </a:rPr>
              <a:t>NO LATER </a:t>
            </a:r>
            <a:r>
              <a:rPr lang="en-US" altLang="zh-CN">
                <a:solidFill>
                  <a:schemeClr val="bg1"/>
                </a:solidFill>
              </a:rPr>
              <a:t>THAN {best by date}]</a:t>
            </a:r>
            <a:endParaRPr lang="zh-CN" altLang="en-US" sz="1600">
              <a:solidFill>
                <a:schemeClr val="bg1"/>
              </a:solidFill>
            </a:endParaRPr>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84651494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a:solidFill>
                            <a:schemeClr val="bg1"/>
                          </a:solidFill>
                        </a:rPr>
                        <a:t>Story name</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Story ID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bg1"/>
                          </a:solidFill>
                        </a:rPr>
                        <a:t>As a …</a:t>
                      </a:r>
                    </a:p>
                    <a:p>
                      <a:pPr>
                        <a:lnSpc>
                          <a:spcPct val="100000"/>
                        </a:lnSpc>
                      </a:pPr>
                      <a:r>
                        <a:rPr lang="en-US" altLang="zh-CN" sz="1600">
                          <a:solidFill>
                            <a:schemeClr val="bg1"/>
                          </a:solidFill>
                        </a:rPr>
                        <a:t>I want to…</a:t>
                      </a:r>
                    </a:p>
                    <a:p>
                      <a:pPr>
                        <a:lnSpc>
                          <a:spcPct val="100000"/>
                        </a:lnSpc>
                      </a:pPr>
                      <a:r>
                        <a:rPr lang="en-US" altLang="zh-CN" sz="1600">
                          <a:solidFill>
                            <a:schemeClr val="bg1"/>
                          </a:solidFill>
                        </a:rPr>
                        <a:t>So that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Priorities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High 1 2 3 4 5 low</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Iteration number</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a:solidFill>
                            <a:schemeClr val="bg1"/>
                          </a:solidFill>
                        </a:rPr>
                        <a:t>Date started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Date</a:t>
                      </a:r>
                      <a:r>
                        <a:rPr lang="zh-CN" altLang="en-US" sz="1600">
                          <a:solidFill>
                            <a:schemeClr val="bg1"/>
                          </a:solidFill>
                        </a:rPr>
                        <a:t> </a:t>
                      </a:r>
                      <a:r>
                        <a:rPr lang="en-US" altLang="zh-CN" sz="1600">
                          <a:solidFill>
                            <a:schemeClr val="bg1"/>
                          </a:solidFill>
                        </a:rPr>
                        <a:t>finished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383213083"/>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Notes:</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3853070983"/>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solidFill>
                            <a:schemeClr val="bg1"/>
                          </a:solidFill>
                        </a:rPr>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通过关键词搜索商品</a:t>
                      </a:r>
                      <a:br>
                        <a:rPr lang="zh-CN" altLang="en-US" sz="1600">
                          <a:solidFill>
                            <a:schemeClr val="bg1"/>
                          </a:solidFill>
                        </a:rPr>
                      </a:br>
                      <a:r>
                        <a:rPr lang="zh-CN" altLang="en-US" sz="1600">
                          <a:solidFill>
                            <a:srgbClr val="FFFF00"/>
                          </a:solidFill>
                        </a:rPr>
                        <a:t>以便</a:t>
                      </a:r>
                      <a:r>
                        <a:rPr lang="zh-CN" altLang="en-US" sz="1600">
                          <a:solidFill>
                            <a:schemeClr val="bg1"/>
                          </a:solidFill>
                        </a:rPr>
                        <a:t>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支持模糊匹配</a:t>
                      </a:r>
                      <a:br>
                        <a:rPr lang="zh-CN" altLang="en-US" sz="1600">
                          <a:solidFill>
                            <a:schemeClr val="bg1"/>
                          </a:solidFill>
                        </a:rPr>
                      </a:br>
                      <a:r>
                        <a:rPr lang="en-US" altLang="zh-CN" sz="1600">
                          <a:solidFill>
                            <a:schemeClr val="bg1"/>
                          </a:solidFill>
                        </a:rPr>
                        <a:t>2. </a:t>
                      </a:r>
                      <a:r>
                        <a:rPr lang="zh-CN" altLang="en-US" sz="1600">
                          <a:solidFill>
                            <a:schemeClr val="bg1"/>
                          </a:solidFill>
                        </a:rPr>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查看商品的详细图片和描述</a:t>
                      </a:r>
                      <a:br>
                        <a:rPr lang="zh-CN" altLang="en-US" sz="1600">
                          <a:solidFill>
                            <a:schemeClr val="bg1"/>
                          </a:solidFill>
                        </a:rPr>
                      </a:br>
                      <a:r>
                        <a:rPr lang="zh-CN" altLang="en-US" sz="1600">
                          <a:solidFill>
                            <a:srgbClr val="FFFF00"/>
                          </a:solidFill>
                        </a:rPr>
                        <a:t>以便</a:t>
                      </a:r>
                      <a:r>
                        <a:rPr lang="zh-CN" altLang="en-US" sz="1600">
                          <a:solidFill>
                            <a:schemeClr val="bg1"/>
                          </a:solidFill>
                        </a:rPr>
                        <a:t>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图片支持放大查看</a:t>
                      </a:r>
                      <a:br>
                        <a:rPr lang="zh-CN" altLang="en-US" sz="1600">
                          <a:solidFill>
                            <a:schemeClr val="bg1"/>
                          </a:solidFill>
                        </a:rPr>
                      </a:br>
                      <a:r>
                        <a:rPr lang="en-US" altLang="zh-CN" sz="1600">
                          <a:solidFill>
                            <a:schemeClr val="bg1"/>
                          </a:solidFill>
                        </a:rPr>
                        <a:t>2. </a:t>
                      </a:r>
                      <a:r>
                        <a:rPr lang="zh-CN" altLang="en-US" sz="1600">
                          <a:solidFill>
                            <a:schemeClr val="bg1"/>
                          </a:solidFill>
                        </a:rPr>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按价格或销量对搜索结果排序</a:t>
                      </a:r>
                      <a:br>
                        <a:rPr lang="zh-CN" altLang="en-US" sz="1600">
                          <a:solidFill>
                            <a:schemeClr val="bg1"/>
                          </a:solidFill>
                        </a:rPr>
                      </a:br>
                      <a:r>
                        <a:rPr lang="zh-CN" altLang="en-US" sz="1600">
                          <a:solidFill>
                            <a:srgbClr val="FFFF00"/>
                          </a:solidFill>
                        </a:rPr>
                        <a:t>以便</a:t>
                      </a:r>
                      <a:r>
                        <a:rPr lang="zh-CN" altLang="en-US" sz="1600">
                          <a:solidFill>
                            <a:schemeClr val="bg1"/>
                          </a:solidFill>
                        </a:rPr>
                        <a:t>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支持升序</a:t>
                      </a:r>
                      <a:r>
                        <a:rPr lang="en-US" altLang="zh-CN" sz="1600">
                          <a:solidFill>
                            <a:schemeClr val="bg1"/>
                          </a:solidFill>
                        </a:rPr>
                        <a:t>/</a:t>
                      </a:r>
                      <a:r>
                        <a:rPr lang="zh-CN" altLang="en-US" sz="1600">
                          <a:solidFill>
                            <a:schemeClr val="bg1"/>
                          </a:solidFill>
                        </a:rPr>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solidFill>
                            <a:schemeClr val="bg1"/>
                          </a:solidFill>
                        </a:rPr>
                        <a:t>P2 (</a:t>
                      </a:r>
                      <a:r>
                        <a:rPr lang="zh-CN" altLang="en-US" sz="1600">
                          <a:solidFill>
                            <a:schemeClr val="bg1"/>
                          </a:solidFill>
                        </a:rPr>
                        <a:t>低</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查看其他用户的商品评价</a:t>
                      </a:r>
                      <a:br>
                        <a:rPr lang="zh-CN" altLang="en-US" sz="1600">
                          <a:solidFill>
                            <a:schemeClr val="bg1"/>
                          </a:solidFill>
                        </a:rPr>
                      </a:br>
                      <a:r>
                        <a:rPr lang="zh-CN" altLang="en-US" sz="1600">
                          <a:solidFill>
                            <a:srgbClr val="FFFF00"/>
                          </a:solidFill>
                        </a:rPr>
                        <a:t>以便</a:t>
                      </a:r>
                      <a:r>
                        <a:rPr lang="zh-CN" altLang="en-US" sz="1600">
                          <a:solidFill>
                            <a:schemeClr val="bg1"/>
                          </a:solidFill>
                        </a:rPr>
                        <a:t>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显示评分星级</a:t>
                      </a:r>
                      <a:br>
                        <a:rPr lang="zh-CN" altLang="en-US" sz="1600">
                          <a:solidFill>
                            <a:schemeClr val="bg1"/>
                          </a:solidFill>
                        </a:rPr>
                      </a:br>
                      <a:r>
                        <a:rPr lang="en-US" altLang="zh-CN" sz="1600">
                          <a:solidFill>
                            <a:schemeClr val="bg1"/>
                          </a:solidFill>
                        </a:rPr>
                        <a:t>2. </a:t>
                      </a:r>
                      <a:r>
                        <a:rPr lang="zh-CN" altLang="en-US" sz="1600">
                          <a:solidFill>
                            <a:schemeClr val="bg1"/>
                          </a:solidFill>
                        </a:rPr>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866428371"/>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solidFill>
                            <a:schemeClr val="bg1"/>
                          </a:solidFill>
                        </a:rPr>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选择商品的颜色、尺寸等规格</a:t>
                      </a:r>
                      <a:br>
                        <a:rPr lang="zh-CN" altLang="en-US" sz="1600">
                          <a:solidFill>
                            <a:schemeClr val="bg1"/>
                          </a:solidFill>
                        </a:rPr>
                      </a:br>
                      <a:r>
                        <a:rPr lang="zh-CN" altLang="en-US" sz="1600">
                          <a:solidFill>
                            <a:srgbClr val="FFFF00"/>
                          </a:solidFill>
                        </a:rPr>
                        <a:t>以便</a:t>
                      </a:r>
                      <a:r>
                        <a:rPr lang="zh-CN" altLang="en-US" sz="1600">
                          <a:solidFill>
                            <a:schemeClr val="bg1"/>
                          </a:solidFill>
                        </a:rPr>
                        <a:t>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1. </a:t>
                      </a:r>
                      <a:r>
                        <a:rPr lang="zh-CN" altLang="en-US" sz="1600">
                          <a:solidFill>
                            <a:schemeClr val="bg1"/>
                          </a:solidFill>
                        </a:rPr>
                        <a:t>缺货规格置灰不可选</a:t>
                      </a:r>
                      <a:br>
                        <a:rPr lang="zh-CN" altLang="en-US" sz="1600">
                          <a:solidFill>
                            <a:schemeClr val="bg1"/>
                          </a:solidFill>
                        </a:rPr>
                      </a:br>
                      <a:r>
                        <a:rPr lang="en-US" altLang="zh-CN" sz="1600">
                          <a:solidFill>
                            <a:schemeClr val="bg1"/>
                          </a:solidFill>
                        </a:rPr>
                        <a:t>2. </a:t>
                      </a:r>
                      <a:r>
                        <a:rPr lang="zh-CN" altLang="en-US" sz="1600">
                          <a:solidFill>
                            <a:schemeClr val="bg1"/>
                          </a:solidFill>
                        </a:rPr>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设定购买数量并添加到购物车</a:t>
                      </a:r>
                      <a:br>
                        <a:rPr lang="zh-CN" altLang="en-US" sz="1600">
                          <a:solidFill>
                            <a:schemeClr val="bg1"/>
                          </a:solidFill>
                        </a:rPr>
                      </a:br>
                      <a:r>
                        <a:rPr lang="zh-CN" altLang="en-US" sz="1600">
                          <a:solidFill>
                            <a:srgbClr val="FFFF00"/>
                          </a:solidFill>
                        </a:rPr>
                        <a:t>以便</a:t>
                      </a:r>
                      <a:r>
                        <a:rPr lang="zh-CN" altLang="en-US" sz="1600">
                          <a:solidFill>
                            <a:schemeClr val="bg1"/>
                          </a:solidFill>
                        </a:rPr>
                        <a:t> 暂存商品，稍后统一结算</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数量不能超过库存上限</a:t>
                      </a:r>
                      <a:br>
                        <a:rPr lang="zh-CN" altLang="en-US" sz="1600">
                          <a:solidFill>
                            <a:schemeClr val="bg1"/>
                          </a:solidFill>
                        </a:rPr>
                      </a:br>
                      <a:r>
                        <a:rPr lang="en-US" altLang="zh-CN" sz="1600">
                          <a:solidFill>
                            <a:schemeClr val="bg1"/>
                          </a:solidFill>
                        </a:rPr>
                        <a:t>2. </a:t>
                      </a:r>
                      <a:r>
                        <a:rPr lang="zh-CN" altLang="en-US" sz="1600">
                          <a:solidFill>
                            <a:schemeClr val="bg1"/>
                          </a:solidFill>
                        </a:rPr>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在购物车修改已选商品数量或删除商品</a:t>
                      </a:r>
                      <a:br>
                        <a:rPr lang="zh-CN" altLang="en-US" sz="1600">
                          <a:solidFill>
                            <a:schemeClr val="bg1"/>
                          </a:solidFill>
                        </a:rPr>
                      </a:br>
                      <a:r>
                        <a:rPr lang="zh-CN" altLang="en-US" sz="1600">
                          <a:solidFill>
                            <a:srgbClr val="FFFF00"/>
                          </a:solidFill>
                        </a:rPr>
                        <a:t>以便</a:t>
                      </a:r>
                      <a:r>
                        <a:rPr lang="zh-CN" altLang="en-US" sz="1600">
                          <a:solidFill>
                            <a:schemeClr val="bg1"/>
                          </a:solidFill>
                        </a:rPr>
                        <a:t> 调整我的购买计划</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删除需二次确认</a:t>
                      </a:r>
                      <a:br>
                        <a:rPr lang="zh-CN" altLang="en-US" sz="1600">
                          <a:solidFill>
                            <a:schemeClr val="bg1"/>
                          </a:solidFill>
                        </a:rPr>
                      </a:br>
                      <a:r>
                        <a:rPr lang="en-US" altLang="zh-CN" sz="1600">
                          <a:solidFill>
                            <a:schemeClr val="bg1"/>
                          </a:solidFill>
                        </a:rPr>
                        <a:t>2. </a:t>
                      </a:r>
                      <a:r>
                        <a:rPr lang="zh-CN" altLang="en-US" sz="1600">
                          <a:solidFill>
                            <a:schemeClr val="bg1"/>
                          </a:solidFill>
                        </a:rPr>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a:t>用户故事地图 </a:t>
            </a:r>
            <a:r>
              <a:rPr lang="en-US" altLang="zh-CN"/>
              <a:t>User Story Mapping</a:t>
            </a:r>
          </a:p>
          <a:p>
            <a:pPr lvl="1"/>
            <a:r>
              <a:rPr lang="zh-CN" altLang="en-US"/>
              <a:t>将 </a:t>
            </a:r>
            <a:r>
              <a:rPr lang="en-US" altLang="zh-CN"/>
              <a:t>backlog </a:t>
            </a:r>
            <a:r>
              <a:rPr lang="zh-CN" altLang="en-US"/>
              <a:t>变成一个二维图</a:t>
            </a:r>
            <a:endParaRPr lang="en-US" altLang="zh-CN"/>
          </a:p>
          <a:p>
            <a:pPr lvl="1"/>
            <a:r>
              <a:rPr lang="zh-CN" altLang="en-US"/>
              <a:t>第</a:t>
            </a:r>
            <a:r>
              <a:rPr lang="en-US" altLang="zh-CN"/>
              <a:t>1</a:t>
            </a:r>
            <a:r>
              <a:rPr lang="zh-CN" altLang="en-US"/>
              <a:t>维度：一系列用户故事</a:t>
            </a:r>
            <a:endParaRPr lang="en-US" altLang="zh-CN"/>
          </a:p>
          <a:p>
            <a:pPr lvl="1"/>
            <a:r>
              <a:rPr lang="zh-CN" altLang="en-US"/>
              <a:t>第</a:t>
            </a:r>
            <a:r>
              <a:rPr lang="en-US" altLang="zh-CN"/>
              <a:t>2</a:t>
            </a:r>
            <a:r>
              <a:rPr lang="zh-CN" altLang="en-US"/>
              <a:t>维度：用户故事的不同功能需求</a:t>
            </a:r>
            <a:endParaRPr lang="en-US" altLang="zh-CN"/>
          </a:p>
          <a:p>
            <a:r>
              <a:rPr lang="zh-CN" altLang="en-US"/>
              <a:t>实现</a:t>
            </a:r>
            <a:endParaRPr lang="en-US" altLang="zh-CN"/>
          </a:p>
          <a:p>
            <a:pPr lvl="1"/>
            <a:r>
              <a:rPr lang="zh-CN" altLang="en-US"/>
              <a:t>用户活动 </a:t>
            </a:r>
            <a:r>
              <a:rPr lang="en-US" altLang="zh-CN"/>
              <a:t>User activities</a:t>
            </a:r>
            <a:r>
              <a:rPr lang="zh-CN" altLang="en-US"/>
              <a:t>：高层级的用户目标或阶段，如注册、浏览商品、下单</a:t>
            </a:r>
          </a:p>
          <a:p>
            <a:pPr lvl="1"/>
            <a:r>
              <a:rPr lang="zh-CN" altLang="en-US"/>
              <a:t>用户任务 </a:t>
            </a:r>
            <a:r>
              <a:rPr lang="en-US" altLang="zh-CN"/>
              <a:t>User task</a:t>
            </a:r>
            <a:r>
              <a:rPr lang="zh-CN" altLang="en-US"/>
              <a:t>：完成该活动所需的具体操作步骤</a:t>
            </a:r>
          </a:p>
          <a:p>
            <a:pPr lvl="1"/>
            <a:r>
              <a:rPr lang="zh-CN" altLang="en-US"/>
              <a:t>功能</a:t>
            </a:r>
            <a:r>
              <a:rPr lang="en-US" altLang="zh-CN"/>
              <a:t>/</a:t>
            </a:r>
            <a:r>
              <a:rPr lang="zh-CN" altLang="en-US"/>
              <a:t>用户故事 </a:t>
            </a:r>
            <a:r>
              <a:rPr lang="en-US" altLang="zh-CN"/>
              <a:t>Features</a:t>
            </a:r>
            <a:r>
              <a:rPr lang="zh-CN" altLang="en-US"/>
              <a:t>：支撑每个任务的具体功能点，通常按优先级纵向排列（上高下低）</a:t>
            </a:r>
            <a:endParaRPr lang="en-US" altLang="zh-CN"/>
          </a:p>
          <a:p>
            <a:pPr lvl="1"/>
            <a:r>
              <a:rPr lang="zh-CN" altLang="en-US"/>
              <a:t>强烈建议指定具体的用户</a:t>
            </a:r>
            <a:r>
              <a:rPr lang="en-US" altLang="zh-CN"/>
              <a:t>*</a:t>
            </a:r>
            <a:endParaRPr lang="zh-CN" altLang="en-US"/>
          </a:p>
          <a:p>
            <a:pPr lvl="1"/>
            <a:endParaRPr lang="en-US" altLang="zh-CN"/>
          </a:p>
          <a:p>
            <a:endParaRPr lang="zh-CN" altLang="en-US"/>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3" y="1897920"/>
            <a:ext cx="1433406" cy="307777"/>
          </a:xfrm>
          <a:prstGeom prst="rect">
            <a:avLst/>
          </a:prstGeom>
          <a:noFill/>
        </p:spPr>
        <p:txBody>
          <a:bodyPr wrap="none" rtlCol="0">
            <a:spAutoFit/>
          </a:bodyPr>
          <a:lstStyle/>
          <a:p>
            <a:pPr algn="r"/>
            <a:r>
              <a:rPr lang="en-US" altLang="zh-CN" sz="1400">
                <a:solidFill>
                  <a:schemeClr val="bg1"/>
                </a:solidFill>
              </a:rPr>
              <a:t>User activities</a:t>
            </a:r>
            <a:endParaRPr lang="zh-CN" altLang="en-US" sz="1400">
              <a:solidFill>
                <a:schemeClr val="bg1"/>
              </a:solidFill>
            </a:endParaRPr>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4" y="2335455"/>
            <a:ext cx="1016625" cy="307777"/>
          </a:xfrm>
          <a:prstGeom prst="rect">
            <a:avLst/>
          </a:prstGeom>
          <a:noFill/>
        </p:spPr>
        <p:txBody>
          <a:bodyPr wrap="none" rtlCol="0">
            <a:spAutoFit/>
          </a:bodyPr>
          <a:lstStyle/>
          <a:p>
            <a:pPr algn="r"/>
            <a:r>
              <a:rPr lang="en-US" altLang="zh-CN" sz="1400">
                <a:solidFill>
                  <a:schemeClr val="bg1"/>
                </a:solidFill>
              </a:rPr>
              <a:t>User task</a:t>
            </a:r>
            <a:endParaRPr lang="zh-CN" altLang="en-US" sz="1400">
              <a:solidFill>
                <a:schemeClr val="bg1"/>
              </a:solidFill>
            </a:endParaRPr>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solidFill>
                  <a:schemeClr val="bg1"/>
                </a:solidFill>
              </a:rPr>
              <a:t>Features</a:t>
            </a:r>
            <a:endParaRPr lang="zh-CN" altLang="en-US" sz="1400">
              <a:solidFill>
                <a:schemeClr val="bg1"/>
              </a:solidFill>
            </a:endParaRPr>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60951111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a:solidFill>
                            <a:schemeClr val="bg1"/>
                          </a:solidFill>
                        </a:rPr>
                        <a:t>Independent</a:t>
                      </a:r>
                    </a:p>
                    <a:p>
                      <a:pPr algn="l"/>
                      <a:r>
                        <a:rPr lang="zh-CN" altLang="en-US" sz="1600" b="0">
                          <a:solidFill>
                            <a:schemeClr val="bg1"/>
                          </a:solidFill>
                        </a:rPr>
                        <a:t>独立的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a:solidFill>
                            <a:schemeClr val="bg1"/>
                          </a:solidFill>
                        </a:rPr>
                        <a:t>Negotiable</a:t>
                      </a:r>
                    </a:p>
                    <a:p>
                      <a:pPr algn="l"/>
                      <a:r>
                        <a:rPr lang="zh-CN" altLang="en-US" sz="1600" b="0">
                          <a:solidFill>
                            <a:schemeClr val="bg1"/>
                          </a:solidFill>
                        </a:rPr>
                        <a:t>可协商的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有价值的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可估算的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2185828886"/>
              </p:ext>
            </p:extLst>
          </p:nvPr>
        </p:nvGraphicFramePr>
        <p:xfrm>
          <a:off x="695325" y="3461683"/>
          <a:ext cx="10801350" cy="228600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a:solidFill>
                            <a:schemeClr val="bg1"/>
                          </a:solidFill>
                        </a:rPr>
                        <a:t>Role</a:t>
                      </a:r>
                      <a:endParaRPr lang="zh-CN" altLang="en-US">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a:solidFill>
                            <a:schemeClr val="bg1"/>
                          </a:solidFill>
                        </a:rPr>
                        <a:t>Customer / Business</a:t>
                      </a:r>
                    </a:p>
                    <a:p>
                      <a:pPr>
                        <a:buNone/>
                      </a:pPr>
                      <a:r>
                        <a:rPr lang="zh-CN" altLang="en-US">
                          <a:solidFill>
                            <a:schemeClr val="bg1"/>
                          </a:solidFill>
                        </a:rPr>
                        <a:t>客户 </a:t>
                      </a:r>
                      <a:r>
                        <a:rPr lang="en-US" altLang="zh-CN">
                          <a:solidFill>
                            <a:schemeClr val="bg1"/>
                          </a:solidFill>
                        </a:rPr>
                        <a:t>/ </a:t>
                      </a:r>
                      <a:r>
                        <a:rPr lang="zh-CN" altLang="en-US">
                          <a:solidFill>
                            <a:schemeClr val="bg1"/>
                          </a:solidFill>
                        </a:rPr>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a:solidFill>
                            <a:schemeClr val="bg1"/>
                          </a:solidFill>
                        </a:rPr>
                        <a:t>Developer</a:t>
                      </a:r>
                    </a:p>
                    <a:p>
                      <a:pPr>
                        <a:buNone/>
                      </a:pPr>
                      <a:r>
                        <a:rPr lang="zh-CN" altLang="en-US">
                          <a:solidFill>
                            <a:schemeClr val="bg1"/>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a:solidFill>
                            <a:schemeClr val="bg1"/>
                          </a:solidFill>
                        </a:rPr>
                        <a:t>Tester / QA</a:t>
                      </a:r>
                    </a:p>
                    <a:p>
                      <a:pPr>
                        <a:buNone/>
                      </a:pPr>
                      <a:r>
                        <a:rPr lang="zh-CN" altLang="en-US">
                          <a:solidFill>
                            <a:schemeClr val="bg1"/>
                          </a:solidFill>
                        </a:rPr>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3238066" cy="2160000"/>
            <a:chOff x="2383606" y="1597622"/>
            <a:chExt cx="3238066"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3238066" cy="2139047"/>
            </a:xfrm>
            <a:prstGeom prst="rect">
              <a:avLst/>
            </a:prstGeom>
            <a:noFill/>
          </p:spPr>
          <p:txBody>
            <a:bodyPr wrap="none" rtlCol="0">
              <a:spAutoFit/>
            </a:bodyPr>
            <a:lstStyle/>
            <a:p>
              <a:pPr marL="360000" algn="l">
                <a:spcAft>
                  <a:spcPts val="600"/>
                </a:spcAft>
              </a:pPr>
              <a:r>
                <a:rPr lang="en-US" altLang="zh-CN">
                  <a:solidFill>
                    <a:schemeClr val="bg1"/>
                  </a:solidFill>
                </a:rPr>
                <a:t>Scenario: [ description ]</a:t>
              </a:r>
              <a:endParaRPr lang="zh-CN" altLang="en-US">
                <a:solidFill>
                  <a:schemeClr val="bg1"/>
                </a:solidFill>
              </a:endParaRPr>
            </a:p>
            <a:p>
              <a:pPr marL="720000">
                <a:spcAft>
                  <a:spcPts val="600"/>
                </a:spcAft>
              </a:pPr>
              <a:r>
                <a:rPr lang="en-US" altLang="zh-CN">
                  <a:solidFill>
                    <a:schemeClr val="bg1"/>
                  </a:solidFill>
                </a:rPr>
                <a:t>Given [ context ] </a:t>
              </a:r>
            </a:p>
            <a:p>
              <a:pPr marL="1080000">
                <a:spcAft>
                  <a:spcPts val="600"/>
                </a:spcAft>
              </a:pPr>
              <a:r>
                <a:rPr lang="en-US" altLang="zh-CN">
                  <a:solidFill>
                    <a:schemeClr val="bg1"/>
                  </a:solidFill>
                </a:rPr>
                <a:t>and [context ]</a:t>
              </a:r>
            </a:p>
            <a:p>
              <a:pPr marL="720000" algn="l">
                <a:spcAft>
                  <a:spcPts val="600"/>
                </a:spcAft>
              </a:pPr>
              <a:r>
                <a:rPr lang="en-US" altLang="zh-CN">
                  <a:solidFill>
                    <a:schemeClr val="bg1"/>
                  </a:solidFill>
                </a:rPr>
                <a:t>When [ event ]</a:t>
              </a:r>
              <a:endParaRPr lang="zh-CN" altLang="en-US">
                <a:solidFill>
                  <a:schemeClr val="bg1"/>
                </a:solidFill>
              </a:endParaRPr>
            </a:p>
            <a:p>
              <a:pPr marL="720000" algn="l">
                <a:spcAft>
                  <a:spcPts val="600"/>
                </a:spcAft>
              </a:pPr>
              <a:r>
                <a:rPr lang="en-US" altLang="zh-CN">
                  <a:solidFill>
                    <a:schemeClr val="bg1"/>
                  </a:solidFill>
                </a:rPr>
                <a:t>Then [ result ]</a:t>
              </a:r>
            </a:p>
            <a:p>
              <a:pPr marL="1080000">
                <a:spcAft>
                  <a:spcPts val="600"/>
                </a:spcAft>
              </a:pPr>
              <a:r>
                <a:rPr lang="en-US" altLang="zh-CN">
                  <a:solidFill>
                    <a:schemeClr val="bg1"/>
                  </a:solidFill>
                </a:rPr>
                <a:t>And [ result ]</a:t>
              </a:r>
              <a:endParaRPr lang="zh-CN" altLang="en-US">
                <a:solidFill>
                  <a:schemeClr val="bg1"/>
                </a:solidFill>
              </a:endParaRPr>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539704"/>
          </a:xfrm>
          <a:prstGeom prst="rect">
            <a:avLst/>
          </a:prstGeom>
          <a:noFill/>
        </p:spPr>
        <p:txBody>
          <a:bodyPr wrap="none" rtlCol="0">
            <a:spAutoFit/>
          </a:bodyPr>
          <a:lstStyle/>
          <a:p>
            <a:pPr algn="l">
              <a:spcAft>
                <a:spcPts val="600"/>
              </a:spcAft>
            </a:pPr>
            <a:r>
              <a:rPr lang="en-US" altLang="zh-CN" sz="1600">
                <a:solidFill>
                  <a:schemeClr val="bg1"/>
                </a:solidFill>
              </a:rPr>
              <a:t>Feature: </a:t>
            </a:r>
            <a:r>
              <a:rPr lang="zh-CN" altLang="en-US" sz="1600">
                <a:solidFill>
                  <a:schemeClr val="bg1"/>
                </a:solidFill>
              </a:rPr>
              <a:t>用户登录功能</a:t>
            </a:r>
          </a:p>
          <a:p>
            <a:pPr marL="360000" algn="l">
              <a:spcAft>
                <a:spcPts val="600"/>
              </a:spcAft>
            </a:pPr>
            <a:r>
              <a:rPr lang="zh-CN" altLang="en-US" sz="1600">
                <a:solidFill>
                  <a:schemeClr val="bg1"/>
                </a:solidFill>
              </a:rPr>
              <a:t>作为注册用户</a:t>
            </a:r>
          </a:p>
          <a:p>
            <a:pPr marL="360000" algn="l">
              <a:spcAft>
                <a:spcPts val="600"/>
              </a:spcAft>
            </a:pPr>
            <a:r>
              <a:rPr lang="zh-CN" altLang="en-US" sz="1600">
                <a:solidFill>
                  <a:schemeClr val="bg1"/>
                </a:solidFill>
              </a:rPr>
              <a:t>我希望能够使用邮箱和密码登录系统</a:t>
            </a:r>
          </a:p>
          <a:p>
            <a:pPr marL="360000" algn="l">
              <a:spcAft>
                <a:spcPts val="600"/>
              </a:spcAft>
            </a:pPr>
            <a:r>
              <a:rPr lang="zh-CN" altLang="en-US" sz="1600">
                <a:solidFill>
                  <a:schemeClr val="bg1"/>
                </a:solidFill>
              </a:rPr>
              <a:t>以便访问我的个人账户</a:t>
            </a:r>
          </a:p>
          <a:p>
            <a:pPr marL="360000" algn="l">
              <a:spcAft>
                <a:spcPts val="600"/>
              </a:spcAft>
            </a:pPr>
            <a:endParaRPr lang="zh-CN" altLang="en-US" sz="1600">
              <a:solidFill>
                <a:schemeClr val="bg1"/>
              </a:solidFill>
            </a:endParaRPr>
          </a:p>
          <a:p>
            <a:pPr marL="360000" algn="l">
              <a:spcAft>
                <a:spcPts val="600"/>
              </a:spcAft>
            </a:pPr>
            <a:r>
              <a:rPr lang="en-US" altLang="zh-CN" sz="1600">
                <a:solidFill>
                  <a:schemeClr val="bg1"/>
                </a:solidFill>
              </a:rPr>
              <a:t>Scenario: </a:t>
            </a:r>
            <a:r>
              <a:rPr lang="zh-CN" altLang="en-US" sz="1600">
                <a:solidFill>
                  <a:schemeClr val="bg1"/>
                </a:solidFill>
              </a:rPr>
              <a:t>成功登录</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我在登录页面输入正确的邮箱和密码</a:t>
            </a:r>
          </a:p>
          <a:p>
            <a:pPr marL="720000" algn="l">
              <a:spcAft>
                <a:spcPts val="600"/>
              </a:spcAft>
            </a:pPr>
            <a:r>
              <a:rPr lang="en-US" altLang="zh-CN" sz="1600">
                <a:solidFill>
                  <a:schemeClr val="bg1"/>
                </a:solidFill>
              </a:rPr>
              <a:t>Then </a:t>
            </a:r>
            <a:r>
              <a:rPr lang="zh-CN" altLang="en-US" sz="1600">
                <a:solidFill>
                  <a:schemeClr val="bg1"/>
                </a:solidFill>
              </a:rPr>
              <a:t>我应该看到欢迎页面，并显示“欢迎回来，</a:t>
            </a:r>
            <a:r>
              <a:rPr lang="en-US" altLang="zh-CN" sz="1600">
                <a:solidFill>
                  <a:schemeClr val="bg1"/>
                </a:solidFill>
              </a:rPr>
              <a:t>user</a:t>
            </a:r>
            <a:r>
              <a:rPr lang="zh-CN" altLang="en-US" sz="1600">
                <a:solidFill>
                  <a:schemeClr val="bg1"/>
                </a:solidFill>
              </a:rPr>
              <a:t>！”</a:t>
            </a:r>
          </a:p>
          <a:p>
            <a:pPr marL="360000" algn="l">
              <a:spcAft>
                <a:spcPts val="600"/>
              </a:spcAft>
            </a:pPr>
            <a:endParaRPr lang="zh-CN" altLang="en-US" sz="1600">
              <a:solidFill>
                <a:schemeClr val="bg1"/>
              </a:solidFill>
            </a:endParaRPr>
          </a:p>
          <a:p>
            <a:pPr marL="360000" algn="l">
              <a:spcAft>
                <a:spcPts val="600"/>
              </a:spcAft>
            </a:pPr>
            <a:r>
              <a:rPr lang="zh-CN" altLang="en-US" sz="1600">
                <a:solidFill>
                  <a:schemeClr val="bg1"/>
                </a:solidFill>
              </a:rPr>
              <a:t> </a:t>
            </a:r>
            <a:r>
              <a:rPr lang="en-US" altLang="zh-CN" sz="1600">
                <a:solidFill>
                  <a:schemeClr val="bg1"/>
                </a:solidFill>
              </a:rPr>
              <a:t>Scenario: </a:t>
            </a:r>
            <a:r>
              <a:rPr lang="zh-CN" altLang="en-US" sz="1600">
                <a:solidFill>
                  <a:schemeClr val="bg1"/>
                </a:solidFill>
              </a:rPr>
              <a:t>密码错误时登录失败</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我在登录页面输入错误的密码 </a:t>
            </a:r>
            <a:r>
              <a:rPr lang="en-US" altLang="zh-CN" sz="1600">
                <a:solidFill>
                  <a:schemeClr val="bg1"/>
                </a:solidFill>
              </a:rPr>
              <a:t>"wrong"</a:t>
            </a:r>
          </a:p>
          <a:p>
            <a:pPr marL="720000" algn="l">
              <a:spcAft>
                <a:spcPts val="600"/>
              </a:spcAft>
            </a:pPr>
            <a:r>
              <a:rPr lang="en-US" altLang="zh-CN" sz="1600">
                <a:solidFill>
                  <a:schemeClr val="bg1"/>
                </a:solidFill>
              </a:rPr>
              <a:t>Then </a:t>
            </a:r>
            <a:r>
              <a:rPr lang="zh-CN" altLang="en-US" sz="1600">
                <a:solidFill>
                  <a:schemeClr val="bg1"/>
                </a:solidFill>
              </a:rPr>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8845691" cy="1477328"/>
          </a:xfrm>
          <a:prstGeom prst="rect">
            <a:avLst/>
          </a:prstGeom>
          <a:noFill/>
        </p:spPr>
        <p:txBody>
          <a:bodyPr wrap="none" rtlCol="0">
            <a:spAutoFit/>
          </a:bodyPr>
          <a:lstStyle/>
          <a:p>
            <a:pPr>
              <a:buNone/>
            </a:pPr>
            <a:r>
              <a:rPr lang="en-US" altLang="zh-CN" dirty="0">
                <a:solidFill>
                  <a:schemeClr val="bg1"/>
                </a:solidFill>
              </a:rPr>
              <a:t>Sc</a:t>
            </a:r>
            <a:r>
              <a:rPr lang="az-Cyrl-AZ" altLang="zh-CN" dirty="0">
                <a:solidFill>
                  <a:schemeClr val="bg1"/>
                </a:solidFill>
              </a:rPr>
              <a:t>е</a:t>
            </a:r>
            <a:r>
              <a:rPr lang="en-US" altLang="zh-CN" dirty="0">
                <a:solidFill>
                  <a:schemeClr val="bg1"/>
                </a:solidFill>
              </a:rPr>
              <a:t>nario 1: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a:t>
            </a:r>
            <a:r>
              <a:rPr lang="en-US" altLang="zh-CN" dirty="0">
                <a:solidFill>
                  <a:schemeClr val="bg1"/>
                </a:solidFill>
              </a:rPr>
              <a:t> Login</a:t>
            </a:r>
          </a:p>
          <a:p>
            <a:pPr>
              <a:buNone/>
            </a:pPr>
            <a:r>
              <a:rPr lang="en-US" altLang="zh-CN" dirty="0">
                <a:solidFill>
                  <a:schemeClr val="bg1"/>
                </a:solidFill>
              </a:rPr>
              <a:t>Giv</a:t>
            </a:r>
            <a:r>
              <a:rPr lang="az-Cyrl-AZ" altLang="zh-CN" dirty="0">
                <a:solidFill>
                  <a:schemeClr val="bg1"/>
                </a:solidFill>
              </a:rPr>
              <a:t>е</a:t>
            </a:r>
            <a:r>
              <a:rPr lang="en-US" altLang="zh-CN" dirty="0">
                <a:solidFill>
                  <a:schemeClr val="bg1"/>
                </a:solidFill>
              </a:rPr>
              <a:t>n that the us</a:t>
            </a:r>
            <a:r>
              <a:rPr lang="az-Cyrl-AZ" altLang="zh-CN" dirty="0">
                <a:solidFill>
                  <a:schemeClr val="bg1"/>
                </a:solidFill>
              </a:rPr>
              <a:t>е</a:t>
            </a:r>
            <a:r>
              <a:rPr lang="en-US" altLang="zh-CN" dirty="0">
                <a:solidFill>
                  <a:schemeClr val="bg1"/>
                </a:solidFill>
              </a:rPr>
              <a:t>r is on the login form </a:t>
            </a:r>
            <a:r>
              <a:rPr lang="en-US" altLang="zh-CN" dirty="0" err="1">
                <a:solidFill>
                  <a:schemeClr val="bg1"/>
                </a:solidFill>
              </a:rPr>
              <a:t>pag</a:t>
            </a:r>
            <a:r>
              <a:rPr lang="az-Cyrl-AZ" altLang="zh-CN" dirty="0">
                <a:solidFill>
                  <a:schemeClr val="bg1"/>
                </a:solidFill>
              </a:rPr>
              <a:t>е,</a:t>
            </a:r>
          </a:p>
          <a:p>
            <a:pPr>
              <a:buNone/>
            </a:pPr>
            <a:r>
              <a:rPr lang="en-US" altLang="zh-CN" dirty="0">
                <a:solidFill>
                  <a:schemeClr val="bg1"/>
                </a:solidFill>
              </a:rPr>
              <a:t>And the 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 valid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llo123",</a:t>
            </a:r>
          </a:p>
          <a:p>
            <a:pPr>
              <a:buNone/>
            </a:pPr>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pPr>
              <a:buNone/>
            </a:pPr>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ssfully</a:t>
            </a:r>
            <a:r>
              <a:rPr lang="en-US" altLang="zh-CN" dirty="0">
                <a:solidFill>
                  <a:schemeClr val="bg1"/>
                </a:solidFill>
              </a:rPr>
              <a:t>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hom</a:t>
            </a:r>
            <a:r>
              <a:rPr lang="az-Cyrl-AZ" altLang="zh-CN" dirty="0">
                <a:solidFill>
                  <a:schemeClr val="bg1"/>
                </a:solidFill>
              </a:rPr>
              <a:t>е</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6388287" cy="1754326"/>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2: Forgot Password</a:t>
            </a: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a:t>
            </a:r>
            <a:r>
              <a:rPr lang="en-US" altLang="zh-CN" dirty="0" err="1">
                <a:solidFill>
                  <a:schemeClr val="bg1"/>
                </a:solidFill>
              </a:rPr>
              <a:t>pag</a:t>
            </a:r>
            <a:r>
              <a:rPr lang="az-Cyrl-AZ" altLang="zh-CN" dirty="0">
                <a:solidFill>
                  <a:schemeClr val="bg1"/>
                </a:solidFill>
              </a:rPr>
              <a:t>е,</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err="1">
                <a:solidFill>
                  <a:schemeClr val="bg1"/>
                </a:solidFill>
              </a:rPr>
              <a:t>rs</a:t>
            </a:r>
            <a:r>
              <a:rPr lang="en-US" altLang="zh-CN" dirty="0">
                <a:solidFill>
                  <a:schemeClr val="bg1"/>
                </a:solidFill>
              </a:rPr>
              <a:t> </a:t>
            </a:r>
            <a:r>
              <a:rPr lang="en-US" altLang="zh-CN" dirty="0" err="1">
                <a:solidFill>
                  <a:schemeClr val="bg1"/>
                </a:solidFill>
              </a:rPr>
              <a:t>th</a:t>
            </a:r>
            <a:r>
              <a:rPr lang="az-Cyrl-AZ" altLang="zh-CN" dirty="0">
                <a:solidFill>
                  <a:schemeClr val="bg1"/>
                </a:solidFill>
              </a:rPr>
              <a:t>е</a:t>
            </a:r>
            <a:r>
              <a:rPr lang="en-US" altLang="zh-CN" dirty="0" err="1">
                <a:solidFill>
                  <a:schemeClr val="bg1"/>
                </a:solidFill>
              </a:rPr>
              <a:t>ir</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Forgot Password" link,</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r</a:t>
            </a:r>
            <a:r>
              <a:rPr lang="az-Cyrl-AZ" altLang="zh-CN" dirty="0">
                <a:solidFill>
                  <a:schemeClr val="bg1"/>
                </a:solidFill>
              </a:rPr>
              <a:t>е</a:t>
            </a:r>
            <a:r>
              <a:rPr lang="en-US" altLang="zh-CN" dirty="0">
                <a:solidFill>
                  <a:schemeClr val="bg1"/>
                </a:solidFill>
              </a:rPr>
              <a:t>s</a:t>
            </a:r>
            <a:r>
              <a:rPr lang="az-Cyrl-AZ" altLang="zh-CN" dirty="0">
                <a:solidFill>
                  <a:schemeClr val="bg1"/>
                </a:solidFill>
              </a:rPr>
              <a:t>е</a:t>
            </a:r>
            <a:r>
              <a:rPr lang="en-US" altLang="zh-CN" dirty="0">
                <a:solidFill>
                  <a:schemeClr val="bg1"/>
                </a:solidFill>
              </a:rPr>
              <a:t>t password </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9603911" cy="2031325"/>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3: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Login Cr</a:t>
            </a:r>
            <a:r>
              <a:rPr lang="az-Cyrl-AZ" altLang="zh-CN" dirty="0">
                <a:solidFill>
                  <a:schemeClr val="bg1"/>
                </a:solidFill>
              </a:rPr>
              <a:t>е</a:t>
            </a:r>
            <a:r>
              <a:rPr lang="en-US" altLang="zh-CN" dirty="0">
                <a:solidFill>
                  <a:schemeClr val="bg1"/>
                </a:solidFill>
              </a:rPr>
              <a:t>d</a:t>
            </a:r>
            <a:r>
              <a:rPr lang="az-Cyrl-AZ" altLang="zh-CN" dirty="0">
                <a:solidFill>
                  <a:schemeClr val="bg1"/>
                </a:solidFill>
              </a:rPr>
              <a:t>е</a:t>
            </a:r>
            <a:r>
              <a:rPr lang="en-US" altLang="zh-CN" dirty="0" err="1">
                <a:solidFill>
                  <a:schemeClr val="bg1"/>
                </a:solidFill>
              </a:rPr>
              <a:t>ntials</a:t>
            </a:r>
            <a:endParaRPr lang="en-US" altLang="zh-CN" dirty="0">
              <a:solidFill>
                <a:schemeClr val="bg1"/>
              </a:solidFill>
            </a:endParaRP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 </a:t>
            </a:r>
            <a:r>
              <a:rPr lang="en-US" altLang="zh-CN" dirty="0" err="1">
                <a:solidFill>
                  <a:schemeClr val="bg1"/>
                </a:solidFill>
              </a:rPr>
              <a:t>pag</a:t>
            </a:r>
            <a:r>
              <a:rPr lang="az-Cyrl-AZ" altLang="zh-CN" dirty="0">
                <a:solidFill>
                  <a:schemeClr val="bg1"/>
                </a:solidFill>
              </a:rPr>
              <a:t>е </a:t>
            </a:r>
            <a:r>
              <a:rPr lang="en-US" altLang="zh-CN" dirty="0">
                <a:solidFill>
                  <a:schemeClr val="bg1"/>
                </a:solidFill>
              </a:rPr>
              <a:t>with login fi</a:t>
            </a:r>
            <a:r>
              <a:rPr lang="az-Cyrl-AZ" altLang="zh-CN" dirty="0">
                <a:solidFill>
                  <a:schemeClr val="bg1"/>
                </a:solidFill>
              </a:rPr>
              <a:t>е</a:t>
            </a:r>
            <a:r>
              <a:rPr lang="en-US" altLang="zh-CN" dirty="0" err="1">
                <a:solidFill>
                  <a:schemeClr val="bg1"/>
                </a:solidFill>
              </a:rPr>
              <a:t>lds</a:t>
            </a:r>
            <a:r>
              <a:rPr lang="en-US" altLang="zh-CN" dirty="0">
                <a:solidFill>
                  <a:schemeClr val="bg1"/>
                </a:solidFill>
              </a:rPr>
              <a:t>,</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llo321",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form r</a:t>
            </a:r>
            <a:r>
              <a:rPr lang="az-Cyrl-AZ" altLang="zh-CN" dirty="0">
                <a:solidFill>
                  <a:schemeClr val="bg1"/>
                </a:solidFill>
              </a:rPr>
              <a:t>е</a:t>
            </a:r>
            <a:r>
              <a:rPr lang="en-US" altLang="zh-CN" dirty="0">
                <a:solidFill>
                  <a:schemeClr val="bg1"/>
                </a:solidFill>
              </a:rPr>
              <a:t>app</a:t>
            </a:r>
            <a:r>
              <a:rPr lang="az-Cyrl-AZ" altLang="zh-CN" dirty="0">
                <a:solidFill>
                  <a:schemeClr val="bg1"/>
                </a:solidFill>
              </a:rPr>
              <a:t>е</a:t>
            </a:r>
            <a:r>
              <a:rPr lang="en-US" altLang="zh-CN" dirty="0" err="1">
                <a:solidFill>
                  <a:schemeClr val="bg1"/>
                </a:solidFill>
              </a:rPr>
              <a:t>ars</a:t>
            </a:r>
            <a:r>
              <a:rPr lang="en-US" altLang="zh-CN" dirty="0">
                <a:solidFill>
                  <a:schemeClr val="bg1"/>
                </a:solidFill>
              </a:rPr>
              <a:t> with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still fill</a:t>
            </a:r>
            <a:r>
              <a:rPr lang="az-Cyrl-AZ" altLang="zh-CN" dirty="0">
                <a:solidFill>
                  <a:schemeClr val="bg1"/>
                </a:solidFill>
              </a:rPr>
              <a:t>е</a:t>
            </a:r>
            <a:r>
              <a:rPr lang="en-US" altLang="zh-CN" dirty="0">
                <a:solidFill>
                  <a:schemeClr val="bg1"/>
                </a:solidFill>
              </a:rPr>
              <a:t>d in and displays an </a:t>
            </a:r>
          </a:p>
          <a:p>
            <a:r>
              <a:rPr lang="az-Cyrl-AZ" altLang="zh-CN" dirty="0">
                <a:solidFill>
                  <a:schemeClr val="bg1"/>
                </a:solidFill>
              </a:rPr>
              <a:t>е</a:t>
            </a:r>
            <a:r>
              <a:rPr lang="en-US" altLang="zh-CN" dirty="0" err="1">
                <a:solidFill>
                  <a:schemeClr val="bg1"/>
                </a:solidFill>
              </a:rPr>
              <a:t>rror</a:t>
            </a:r>
            <a:r>
              <a:rPr lang="en-US" altLang="zh-CN" dirty="0">
                <a:solidFill>
                  <a:schemeClr val="bg1"/>
                </a:solidFill>
              </a:rPr>
              <a:t> m</a:t>
            </a:r>
            <a:r>
              <a:rPr lang="az-Cyrl-AZ" altLang="zh-CN" dirty="0">
                <a:solidFill>
                  <a:schemeClr val="bg1"/>
                </a:solidFill>
              </a:rPr>
              <a:t>е</a:t>
            </a:r>
            <a:r>
              <a:rPr lang="en-US" altLang="zh-CN" dirty="0" err="1">
                <a:solidFill>
                  <a:schemeClr val="bg1"/>
                </a:solidFill>
              </a:rPr>
              <a:t>ssag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45572680"/>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a:solidFill>
                            <a:schemeClr val="bg1"/>
                          </a:solidFill>
                        </a:rPr>
                        <a:t>维度</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TDD (Test-Driven Development)</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a:solidFill>
                            <a:schemeClr val="bg1"/>
                          </a:solidFill>
                        </a:rPr>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用户行为 </a:t>
                      </a:r>
                      <a:r>
                        <a:rPr lang="en-US" altLang="zh-CN" sz="1600">
                          <a:solidFill>
                            <a:schemeClr val="bg1"/>
                          </a:solidFill>
                        </a:rPr>
                        <a:t>/ </a:t>
                      </a:r>
                      <a:r>
                        <a:rPr lang="zh-CN" altLang="en-US" sz="1600">
                          <a:solidFill>
                            <a:schemeClr val="bg1"/>
                          </a:solidFill>
                        </a:rPr>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solidFill>
                            <a:schemeClr val="bg1"/>
                          </a:solidFill>
                        </a:rPr>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单个单元测试（</a:t>
                      </a:r>
                      <a:r>
                        <a:rPr lang="en-US" sz="1600" dirty="0">
                          <a:solidFill>
                            <a:schemeClr val="bg1"/>
                          </a:solidFill>
                        </a:rPr>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验收测试 </a:t>
                      </a:r>
                      <a:r>
                        <a:rPr lang="en-US" altLang="zh-CN" sz="1600">
                          <a:solidFill>
                            <a:schemeClr val="bg1"/>
                          </a:solidFill>
                        </a:rPr>
                        <a:t>/ </a:t>
                      </a:r>
                      <a:r>
                        <a:rPr lang="zh-CN" altLang="en-US" sz="1600">
                          <a:solidFill>
                            <a:schemeClr val="bg1"/>
                          </a:solidFill>
                        </a:rPr>
                        <a:t>集成测试（</a:t>
                      </a:r>
                      <a:r>
                        <a:rPr lang="en-US" sz="1600">
                          <a:solidFill>
                            <a:schemeClr val="bg1"/>
                          </a:solidFill>
                        </a:rPr>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solidFill>
                            <a:schemeClr val="bg1"/>
                          </a:solidFill>
                        </a:rPr>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编程语言（</a:t>
                      </a:r>
                      <a:r>
                        <a:rPr lang="en-US" sz="1600">
                          <a:solidFill>
                            <a:schemeClr val="bg1"/>
                          </a:solidFill>
                        </a:rPr>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自然语言（</a:t>
                      </a:r>
                      <a:r>
                        <a:rPr lang="en-US" sz="1600">
                          <a:solidFill>
                            <a:schemeClr val="bg1"/>
                          </a:solidFill>
                        </a:rPr>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solidFill>
                            <a:schemeClr val="bg1"/>
                          </a:solidFill>
                        </a:rPr>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主要是</a:t>
                      </a:r>
                      <a:r>
                        <a:rPr lang="zh-CN" altLang="en-US" sz="1600" dirty="0">
                          <a:solidFill>
                            <a:srgbClr val="FFFF00"/>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开发者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solidFill>
                            <a:schemeClr val="bg1"/>
                          </a:solidFill>
                        </a:rPr>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test_add_two_numbers()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Scenario: User logs in successfully</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a:t>IT Project Scope Creep Example</a:t>
            </a:r>
          </a:p>
          <a:p>
            <a:endParaRPr lang="en-US" altLang="zh-CN"/>
          </a:p>
          <a:p>
            <a:r>
              <a:rPr lang="zh-CN" altLang="en-US"/>
              <a:t>三个月内，一位项目经理负责交付一款新的软件</a:t>
            </a:r>
            <a:endParaRPr lang="en-US" altLang="zh-CN"/>
          </a:p>
          <a:p>
            <a:r>
              <a:rPr lang="zh-CN" altLang="en-US"/>
              <a:t>在规划阶段几周后，项目的赞助商增加了新的功能。</a:t>
            </a:r>
            <a:endParaRPr lang="en-US" altLang="zh-CN"/>
          </a:p>
          <a:p>
            <a:r>
              <a:rPr lang="zh-CN" altLang="en-US"/>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System </a:t>
            </a:r>
            <a:r>
              <a:rPr lang="en-US" altLang="zh-CN" sz="1400" dirty="0">
                <a:solidFill>
                  <a:srgbClr val="FFFF00"/>
                </a:solidFill>
              </a:rPr>
              <a:t>1</a:t>
            </a:r>
            <a:endParaRPr lang="zh-CN" altLang="en-US" sz="1400" dirty="0">
              <a:solidFill>
                <a:srgbClr val="FFFF00"/>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1.1</a:t>
            </a:r>
            <a:endParaRPr lang="zh-CN" altLang="en-US" sz="1400" dirty="0">
              <a:solidFill>
                <a:srgbClr val="FFFF00"/>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1.2</a:t>
            </a:r>
            <a:endParaRPr lang="zh-CN" altLang="en-US" sz="1400" dirty="0">
              <a:solidFill>
                <a:srgbClr val="FFFF00"/>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1.3</a:t>
            </a:r>
            <a:endParaRPr lang="zh-CN" altLang="en-US" sz="1400" dirty="0">
              <a:solidFill>
                <a:srgbClr val="FFFF00"/>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1.1.1</a:t>
            </a:r>
            <a:endParaRPr lang="zh-CN" altLang="en-US" sz="1400" dirty="0">
              <a:solidFill>
                <a:srgbClr val="FFFF00"/>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1.1.2</a:t>
            </a:r>
            <a:endParaRPr lang="zh-CN" altLang="en-US" sz="1400" dirty="0">
              <a:solidFill>
                <a:srgbClr val="FFFF00"/>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1.1.3</a:t>
            </a:r>
            <a:endParaRPr lang="zh-CN" altLang="en-US" sz="1400" dirty="0">
              <a:solidFill>
                <a:srgbClr val="FFFF00"/>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1.2.1</a:t>
            </a:r>
            <a:endParaRPr lang="zh-CN" altLang="en-US" sz="1400" dirty="0">
              <a:solidFill>
                <a:srgbClr val="FFFF00"/>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1.2.2</a:t>
            </a:r>
            <a:endParaRPr lang="zh-CN" altLang="en-US" sz="1400" dirty="0">
              <a:solidFill>
                <a:srgbClr val="FFFF00"/>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1.3.1</a:t>
            </a:r>
            <a:endParaRPr lang="zh-CN" altLang="en-US" sz="1400" dirty="0">
              <a:solidFill>
                <a:srgbClr val="FFFF00"/>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1.3.2</a:t>
            </a:r>
            <a:endParaRPr lang="zh-CN" altLang="en-US" sz="1400" dirty="0">
              <a:solidFill>
                <a:srgbClr val="FFFF00"/>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1.3.3</a:t>
            </a:r>
            <a:endParaRPr lang="zh-CN" altLang="en-US" sz="1400" dirty="0">
              <a:solidFill>
                <a:srgbClr val="FFFF00"/>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3177544459"/>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dirty="0">
                          <a:solidFill>
                            <a:schemeClr val="bg1"/>
                          </a:solidFill>
                        </a:rPr>
                        <a:t>[Word]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目录</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chemeClr val="bg1"/>
                          </a:solidFill>
                        </a:rPr>
                        <a:t>[PPT]</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组织结构图</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03275211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chemeClr val="accent2"/>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chemeClr val="accent2"/>
                    </a:solidFill>
                  </a:tcPr>
                </a:tc>
                <a:extLst>
                  <a:ext uri="{0D108BD9-81ED-4DB2-BD59-A6C34878D82A}">
                    <a16:rowId xmlns:a16="http://schemas.microsoft.com/office/drawing/2014/main" val="2925805395"/>
                  </a:ext>
                </a:extLst>
              </a:tr>
              <a:tr h="0">
                <a:tc>
                  <a:txBody>
                    <a:bodyPr/>
                    <a:lstStyle/>
                    <a:p>
                      <a:pPr algn="dist">
                        <a:buNone/>
                      </a:pPr>
                      <a:r>
                        <a:rPr lang="en-US" sz="1600" dirty="0">
                          <a:solidFill>
                            <a:schemeClr val="bg1"/>
                          </a:solidFill>
                        </a:rPr>
                        <a:t>WBS </a:t>
                      </a:r>
                      <a:r>
                        <a:rPr lang="zh-CN" altLang="en-US" sz="1600" dirty="0">
                          <a:solidFill>
                            <a:schemeClr val="bg1"/>
                          </a:solidFill>
                        </a:rPr>
                        <a:t>编码</a:t>
                      </a:r>
                    </a:p>
                  </a:txBody>
                  <a:tcPr anchor="ctr">
                    <a:lnL>
                      <a:noFill/>
                    </a:lnL>
                    <a:lnR>
                      <a:noFill/>
                    </a:lnR>
                    <a:lnT>
                      <a:noFill/>
                    </a:lnT>
                    <a:lnB>
                      <a:noFill/>
                    </a:lnB>
                    <a:noFill/>
                  </a:tcPr>
                </a:tc>
                <a:tc>
                  <a:txBody>
                    <a:bodyPr/>
                    <a:lstStyle/>
                    <a:p>
                      <a:pPr algn="l">
                        <a:buNone/>
                      </a:pPr>
                      <a:r>
                        <a:rPr lang="en-US" altLang="zh-CN" sz="1600">
                          <a:solidFill>
                            <a:schemeClr val="bg1"/>
                          </a:solidFill>
                        </a:rPr>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dist">
                        <a:buNone/>
                      </a:pPr>
                      <a:r>
                        <a:rPr lang="zh-CN" altLang="en-US" sz="1600" dirty="0">
                          <a:solidFill>
                            <a:schemeClr val="bg1"/>
                          </a:solidFill>
                        </a:rPr>
                        <a:t>工作包名称</a:t>
                      </a:r>
                    </a:p>
                  </a:txBody>
                  <a:tcPr anchor="ctr">
                    <a:lnL>
                      <a:noFill/>
                    </a:lnL>
                    <a:lnR>
                      <a:noFill/>
                    </a:lnR>
                    <a:lnT>
                      <a:noFill/>
                    </a:lnT>
                    <a:lnB>
                      <a:noFill/>
                    </a:lnB>
                    <a:noFill/>
                  </a:tcPr>
                </a:tc>
                <a:tc>
                  <a:txBody>
                    <a:bodyPr/>
                    <a:lstStyle/>
                    <a:p>
                      <a:pPr algn="l">
                        <a:buNone/>
                      </a:pPr>
                      <a:r>
                        <a:rPr lang="zh-CN" altLang="en-US" sz="1600">
                          <a:solidFill>
                            <a:schemeClr val="bg1"/>
                          </a:solidFill>
                        </a:rPr>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dist">
                        <a:buNone/>
                      </a:pPr>
                      <a:r>
                        <a:rPr lang="zh-CN" altLang="en-US" sz="1600" dirty="0">
                          <a:solidFill>
                            <a:schemeClr val="bg1"/>
                          </a:solidFill>
                        </a:rPr>
                        <a:t>负责人</a:t>
                      </a:r>
                    </a:p>
                  </a:txBody>
                  <a:tcPr anchor="ctr">
                    <a:lnL>
                      <a:noFill/>
                    </a:lnL>
                    <a:lnR>
                      <a:noFill/>
                    </a:lnR>
                    <a:lnT>
                      <a:noFill/>
                    </a:lnT>
                    <a:lnB>
                      <a:noFill/>
                    </a:lnB>
                    <a:noFill/>
                  </a:tcPr>
                </a:tc>
                <a:tc>
                  <a:txBody>
                    <a:bodyPr/>
                    <a:lstStyle/>
                    <a:p>
                      <a:pPr algn="l">
                        <a:buNone/>
                      </a:pPr>
                      <a:r>
                        <a:rPr lang="zh-CN" altLang="en-US" sz="1600" dirty="0">
                          <a:solidFill>
                            <a:schemeClr val="bg1"/>
                          </a:solidFill>
                        </a:rPr>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dist">
                        <a:buNone/>
                      </a:pPr>
                      <a:r>
                        <a:rPr lang="zh-CN" altLang="en-US" sz="1600" dirty="0">
                          <a:solidFill>
                            <a:schemeClr val="bg1"/>
                          </a:solidFill>
                        </a:rPr>
                        <a:t>工作描述</a:t>
                      </a:r>
                    </a:p>
                  </a:txBody>
                  <a:tcPr anchor="ctr">
                    <a:lnL>
                      <a:noFill/>
                    </a:lnL>
                    <a:lnR>
                      <a:noFill/>
                    </a:lnR>
                    <a:lnT>
                      <a:noFill/>
                    </a:lnT>
                    <a:lnB>
                      <a:noFill/>
                    </a:lnB>
                    <a:noFill/>
                  </a:tcPr>
                </a:tc>
                <a:tc>
                  <a:txBody>
                    <a:bodyPr/>
                    <a:lstStyle/>
                    <a:p>
                      <a:pPr algn="l">
                        <a:buNone/>
                      </a:pPr>
                      <a:r>
                        <a:rPr lang="zh-CN" altLang="en-US" sz="1600" dirty="0">
                          <a:solidFill>
                            <a:schemeClr val="bg1"/>
                          </a:solidFill>
                        </a:rPr>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dist">
                        <a:buNone/>
                      </a:pPr>
                      <a:r>
                        <a:rPr lang="zh-CN" altLang="en-US" sz="1600" dirty="0">
                          <a:solidFill>
                            <a:schemeClr val="bg1"/>
                          </a:solidFill>
                        </a:rPr>
                        <a:t>可交付成果</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采购清单确认表</a:t>
                      </a:r>
                      <a:br>
                        <a:rPr lang="zh-CN" altLang="en-US" sz="1600">
                          <a:solidFill>
                            <a:schemeClr val="bg1"/>
                          </a:solidFill>
                        </a:rPr>
                      </a:br>
                      <a:r>
                        <a:rPr lang="en-US" altLang="zh-CN" sz="1600">
                          <a:solidFill>
                            <a:schemeClr val="bg1"/>
                          </a:solidFill>
                        </a:rPr>
                        <a:t>2. </a:t>
                      </a:r>
                      <a:r>
                        <a:rPr lang="zh-CN" altLang="en-US" sz="1600">
                          <a:solidFill>
                            <a:schemeClr val="bg1"/>
                          </a:solidFill>
                        </a:rPr>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dist">
                        <a:buNone/>
                      </a:pPr>
                      <a:r>
                        <a:rPr lang="zh-CN" altLang="en-US" sz="1600" dirty="0">
                          <a:solidFill>
                            <a:schemeClr val="bg1"/>
                          </a:solidFill>
                        </a:rPr>
                        <a:t>前置任务</a:t>
                      </a:r>
                    </a:p>
                  </a:txBody>
                  <a:tcPr anchor="ctr">
                    <a:lnL>
                      <a:noFill/>
                    </a:lnL>
                    <a:lnR>
                      <a:noFill/>
                    </a:lnR>
                    <a:lnT>
                      <a:noFill/>
                    </a:lnT>
                    <a:lnB>
                      <a:noFill/>
                    </a:lnB>
                    <a:noFill/>
                  </a:tcPr>
                </a:tc>
                <a:tc>
                  <a:txBody>
                    <a:bodyPr/>
                    <a:lstStyle/>
                    <a:p>
                      <a:pPr algn="l">
                        <a:buNone/>
                      </a:pPr>
                      <a:r>
                        <a:rPr lang="en-US" altLang="zh-CN" sz="1600">
                          <a:solidFill>
                            <a:schemeClr val="bg1"/>
                          </a:solidFill>
                        </a:rPr>
                        <a:t>1.2.1 </a:t>
                      </a:r>
                      <a:r>
                        <a:rPr lang="zh-CN" altLang="en-US" sz="1600">
                          <a:solidFill>
                            <a:schemeClr val="bg1"/>
                          </a:solidFill>
                        </a:rPr>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dist">
                        <a:buNone/>
                      </a:pPr>
                      <a:r>
                        <a:rPr lang="zh-CN" altLang="en-US" sz="1600" dirty="0">
                          <a:solidFill>
                            <a:schemeClr val="bg1"/>
                          </a:solidFill>
                        </a:rPr>
                        <a:t>时间要求</a:t>
                      </a:r>
                    </a:p>
                  </a:txBody>
                  <a:tcPr anchor="ctr">
                    <a:lnL>
                      <a:noFill/>
                    </a:lnL>
                    <a:lnR>
                      <a:noFill/>
                    </a:lnR>
                    <a:lnT>
                      <a:noFill/>
                    </a:lnT>
                    <a:lnB>
                      <a:noFill/>
                    </a:lnB>
                    <a:noFill/>
                  </a:tcPr>
                </a:tc>
                <a:tc>
                  <a:txBody>
                    <a:bodyPr/>
                    <a:lstStyle/>
                    <a:p>
                      <a:pPr algn="l">
                        <a:buNone/>
                      </a:pPr>
                      <a:r>
                        <a:rPr lang="zh-CN" altLang="en-US" sz="1600">
                          <a:solidFill>
                            <a:schemeClr val="bg1"/>
                          </a:solidFill>
                        </a:rPr>
                        <a:t>必须在 </a:t>
                      </a:r>
                      <a:r>
                        <a:rPr lang="en-US" altLang="zh-CN" sz="1600">
                          <a:solidFill>
                            <a:schemeClr val="bg1"/>
                          </a:solidFill>
                        </a:rPr>
                        <a:t>12</a:t>
                      </a:r>
                      <a:r>
                        <a:rPr lang="zh-CN" altLang="en-US" sz="1600">
                          <a:solidFill>
                            <a:schemeClr val="bg1"/>
                          </a:solidFill>
                        </a:rPr>
                        <a:t>月</a:t>
                      </a:r>
                      <a:r>
                        <a:rPr lang="en-US" altLang="zh-CN" sz="1600">
                          <a:solidFill>
                            <a:schemeClr val="bg1"/>
                          </a:solidFill>
                        </a:rPr>
                        <a:t>25</a:t>
                      </a:r>
                      <a:r>
                        <a:rPr lang="zh-CN" altLang="en-US" sz="1600">
                          <a:solidFill>
                            <a:schemeClr val="bg1"/>
                          </a:solidFill>
                        </a:rPr>
                        <a:t>日 </a:t>
                      </a:r>
                      <a:r>
                        <a:rPr lang="en-US" altLang="zh-CN" sz="1600">
                          <a:solidFill>
                            <a:schemeClr val="bg1"/>
                          </a:solidFill>
                        </a:rPr>
                        <a:t>14:00 </a:t>
                      </a:r>
                      <a:r>
                        <a:rPr lang="zh-CN" altLang="en-US" sz="1600">
                          <a:solidFill>
                            <a:schemeClr val="bg1"/>
                          </a:solidFill>
                        </a:rPr>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dist">
                        <a:buNone/>
                      </a:pPr>
                      <a:r>
                        <a:rPr lang="zh-CN" altLang="en-US" sz="1600" dirty="0">
                          <a:solidFill>
                            <a:schemeClr val="bg1"/>
                          </a:solidFill>
                        </a:rPr>
                        <a:t>成本预算</a:t>
                      </a:r>
                    </a:p>
                  </a:txBody>
                  <a:tcPr anchor="ctr">
                    <a:lnL>
                      <a:noFill/>
                    </a:lnL>
                    <a:lnR>
                      <a:noFill/>
                    </a:lnR>
                    <a:lnT>
                      <a:noFill/>
                    </a:lnT>
                    <a:lnB>
                      <a:noFill/>
                    </a:lnB>
                    <a:noFill/>
                  </a:tcPr>
                </a:tc>
                <a:tc>
                  <a:txBody>
                    <a:bodyPr/>
                    <a:lstStyle/>
                    <a:p>
                      <a:pPr algn="l">
                        <a:buNone/>
                      </a:pPr>
                      <a:r>
                        <a:rPr lang="en-US" altLang="zh-CN" sz="1600">
                          <a:solidFill>
                            <a:schemeClr val="bg1"/>
                          </a:solidFill>
                        </a:rPr>
                        <a:t>2,000 - 2,500 </a:t>
                      </a:r>
                      <a:r>
                        <a:rPr lang="zh-CN" altLang="en-US" sz="1600">
                          <a:solidFill>
                            <a:schemeClr val="bg1"/>
                          </a:solidFill>
                        </a:rPr>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dist">
                        <a:buNone/>
                      </a:pPr>
                      <a:r>
                        <a:rPr lang="zh-CN" altLang="en-US" sz="1600" dirty="0">
                          <a:solidFill>
                            <a:schemeClr val="bg1"/>
                          </a:solidFill>
                        </a:rPr>
                        <a:t>质量</a:t>
                      </a:r>
                      <a:r>
                        <a:rPr lang="en-US" altLang="zh-CN" sz="1600" dirty="0">
                          <a:solidFill>
                            <a:schemeClr val="bg1"/>
                          </a:solidFill>
                        </a:rPr>
                        <a:t>/</a:t>
                      </a:r>
                      <a:r>
                        <a:rPr lang="zh-CN" altLang="en-US" sz="1600" dirty="0">
                          <a:solidFill>
                            <a:schemeClr val="bg1"/>
                          </a:solidFill>
                        </a:rPr>
                        <a:t>要求</a:t>
                      </a:r>
                    </a:p>
                  </a:txBody>
                  <a:tcPr anchor="ctr">
                    <a:lnL>
                      <a:noFill/>
                    </a:lnL>
                    <a:lnR>
                      <a:noFill/>
                    </a:lnR>
                    <a:lnT>
                      <a:noFill/>
                    </a:lnT>
                    <a:lnB>
                      <a:noFill/>
                    </a:lnB>
                    <a:noFill/>
                  </a:tcPr>
                </a:tc>
                <a:tc>
                  <a:txBody>
                    <a:bodyPr/>
                    <a:lstStyle/>
                    <a:p>
                      <a:pPr algn="l">
                        <a:buNone/>
                      </a:pPr>
                      <a:r>
                        <a:rPr lang="zh-CN" altLang="en-US" sz="1600" dirty="0">
                          <a:solidFill>
                            <a:schemeClr val="bg1"/>
                          </a:solidFill>
                        </a:rPr>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Epic</a:t>
              </a:r>
              <a:endParaRPr lang="zh-CN" altLang="en-US" sz="1600" kern="120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200329"/>
          </a:xfrm>
          <a:prstGeom prst="rect">
            <a:avLst/>
          </a:prstGeom>
          <a:noFill/>
        </p:spPr>
        <p:txBody>
          <a:bodyPr wrap="square" rtlCol="0">
            <a:spAutoFit/>
          </a:bodyPr>
          <a:lstStyle/>
          <a:p>
            <a:r>
              <a:rPr lang="en-US" altLang="zh-CN">
                <a:solidFill>
                  <a:srgbClr val="FFFF00"/>
                </a:solidFill>
              </a:rPr>
              <a:t>Break down story 1</a:t>
            </a:r>
          </a:p>
          <a:p>
            <a:r>
              <a:rPr lang="en-US" altLang="zh-CN">
                <a:solidFill>
                  <a:schemeClr val="bg1"/>
                </a:solidFill>
              </a:rPr>
              <a:t>As a busy executive,</a:t>
            </a:r>
            <a:br>
              <a:rPr lang="en-US" altLang="zh-CN">
                <a:solidFill>
                  <a:schemeClr val="bg1"/>
                </a:solidFill>
              </a:rPr>
            </a:br>
            <a:r>
              <a:rPr lang="en-US" altLang="zh-CN">
                <a:solidFill>
                  <a:schemeClr val="bg1"/>
                </a:solidFill>
              </a:rPr>
              <a:t>I want to be able to save a search location to my list of favorites from my mobile device</a:t>
            </a:r>
            <a:br>
              <a:rPr lang="en-US" altLang="zh-CN">
                <a:solidFill>
                  <a:schemeClr val="bg1"/>
                </a:solidFill>
              </a:rPr>
            </a:br>
            <a:r>
              <a:rPr lang="en-US" altLang="zh-CN">
                <a:solidFill>
                  <a:schemeClr val="bg1"/>
                </a:solidFill>
              </a:rPr>
              <a:t>So that I can reuse that search on future visits.</a:t>
            </a:r>
            <a:endParaRPr lang="zh-CN" altLang="en-US">
              <a:solidFill>
                <a:schemeClr val="bg1"/>
              </a:solidFill>
            </a:endParaRPr>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200329"/>
          </a:xfrm>
          <a:prstGeom prst="rect">
            <a:avLst/>
          </a:prstGeom>
          <a:noFill/>
        </p:spPr>
        <p:txBody>
          <a:bodyPr wrap="square" rtlCol="0">
            <a:spAutoFit/>
          </a:bodyPr>
          <a:lstStyle/>
          <a:p>
            <a:r>
              <a:rPr lang="en-US" altLang="zh-CN" dirty="0">
                <a:solidFill>
                  <a:srgbClr val="FFFF00"/>
                </a:solidFill>
              </a:rPr>
              <a:t>Break down story 2</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name my saved searches from my mobile device</a:t>
            </a:r>
            <a:br>
              <a:rPr lang="en-US" altLang="zh-CN" dirty="0">
                <a:solidFill>
                  <a:schemeClr val="bg1"/>
                </a:solidFill>
              </a:rPr>
            </a:br>
            <a:r>
              <a:rPr lang="en-US" altLang="zh-CN" dirty="0">
                <a:solidFill>
                  <a:schemeClr val="bg1"/>
                </a:solidFill>
              </a:rPr>
              <a:t>so that I know how to access each saved search in the future.</a:t>
            </a:r>
            <a:endParaRPr lang="zh-CN" altLang="en-US" dirty="0">
              <a:solidFill>
                <a:schemeClr val="bg1"/>
              </a:solidFill>
            </a:endParaRPr>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477328"/>
          </a:xfrm>
          <a:prstGeom prst="rect">
            <a:avLst/>
          </a:prstGeom>
          <a:noFill/>
        </p:spPr>
        <p:txBody>
          <a:bodyPr wrap="square" rtlCol="0">
            <a:spAutoFit/>
          </a:bodyPr>
          <a:lstStyle/>
          <a:p>
            <a:r>
              <a:rPr lang="en-US" altLang="zh-CN" dirty="0">
                <a:solidFill>
                  <a:srgbClr val="FFFF00"/>
                </a:solidFill>
              </a:rPr>
              <a:t>Break down story 3</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the name of my saved searches to default to the city name, unless I choose to manually override it</a:t>
            </a:r>
            <a:br>
              <a:rPr lang="en-US" altLang="zh-CN" dirty="0">
                <a:solidFill>
                  <a:schemeClr val="bg1"/>
                </a:solidFill>
              </a:rPr>
            </a:br>
            <a:r>
              <a:rPr lang="en-US" altLang="zh-CN" dirty="0">
                <a:solidFill>
                  <a:schemeClr val="bg1"/>
                </a:solidFill>
              </a:rPr>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754326"/>
          </a:xfrm>
          <a:prstGeom prst="rect">
            <a:avLst/>
          </a:prstGeom>
          <a:noFill/>
        </p:spPr>
        <p:txBody>
          <a:bodyPr wrap="square" rtlCol="0">
            <a:spAutoFit/>
          </a:bodyPr>
          <a:lstStyle/>
          <a:p>
            <a:r>
              <a:rPr lang="en-US" altLang="zh-CN">
                <a:solidFill>
                  <a:srgbClr val="FFFF00"/>
                </a:solidFill>
              </a:rPr>
              <a:t>Break down story 4</a:t>
            </a:r>
          </a:p>
          <a:p>
            <a:r>
              <a:rPr lang="en-US" altLang="zh-CN">
                <a:solidFill>
                  <a:schemeClr val="bg1"/>
                </a:solidFill>
              </a:rPr>
              <a:t>As a busy executive,</a:t>
            </a:r>
            <a:br>
              <a:rPr lang="en-US" altLang="zh-CN">
                <a:solidFill>
                  <a:schemeClr val="bg1"/>
                </a:solidFill>
              </a:rPr>
            </a:br>
            <a:r>
              <a:rPr lang="en-US" altLang="zh-CN">
                <a:solidFill>
                  <a:schemeClr val="bg1"/>
                </a:solidFill>
              </a:rPr>
              <a:t>I want my “saved favorites” option on the user interface to be presented on a mobile device near the “search location”</a:t>
            </a:r>
            <a:br>
              <a:rPr lang="en-US" altLang="zh-CN">
                <a:solidFill>
                  <a:schemeClr val="bg1"/>
                </a:solidFill>
              </a:rPr>
            </a:br>
            <a:r>
              <a:rPr lang="en-US" altLang="zh-CN">
                <a:solidFill>
                  <a:schemeClr val="bg1"/>
                </a:solidFill>
              </a:rPr>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215991"/>
          </a:xfrm>
          <a:prstGeom prst="rect">
            <a:avLst/>
          </a:prstGeom>
          <a:noFill/>
        </p:spPr>
        <p:txBody>
          <a:bodyPr wrap="square" rtlCol="0">
            <a:spAutoFit/>
          </a:bodyPr>
          <a:lstStyle/>
          <a:p>
            <a:pPr>
              <a:spcAft>
                <a:spcPts val="1200"/>
              </a:spcAft>
            </a:pPr>
            <a:r>
              <a:rPr lang="en-US" altLang="zh-CN" dirty="0">
                <a:solidFill>
                  <a:srgbClr val="FFFF00"/>
                </a:solidFill>
              </a:rPr>
              <a:t>Acceptance Criteria</a:t>
            </a:r>
          </a:p>
          <a:p>
            <a:pPr marL="342900" indent="-342900">
              <a:spcAft>
                <a:spcPts val="1200"/>
              </a:spcAft>
              <a:buFont typeface="+mj-lt"/>
              <a:buAutoNum type="arabicPeriod"/>
            </a:pPr>
            <a:r>
              <a:rPr lang="en-US" altLang="zh-CN" dirty="0">
                <a:solidFill>
                  <a:schemeClr val="bg1"/>
                </a:solidFill>
              </a:rPr>
              <a:t>Acceptance Criteria is simply a high-level acceptance test that will be true after the agile user story is complete.</a:t>
            </a:r>
          </a:p>
          <a:p>
            <a:pPr marL="342900" indent="-342900">
              <a:spcAft>
                <a:spcPts val="1200"/>
              </a:spcAft>
              <a:buFont typeface="+mj-lt"/>
              <a:buAutoNum type="arabicPeriod"/>
            </a:pPr>
            <a:r>
              <a:rPr lang="en-US" altLang="zh-CN" dirty="0">
                <a:solidFill>
                  <a:schemeClr val="bg1"/>
                </a:solidFill>
              </a:rPr>
              <a:t>Normally written on the back of the story card.</a:t>
            </a:r>
          </a:p>
          <a:p>
            <a:pPr marL="342900" indent="-342900">
              <a:spcAft>
                <a:spcPts val="1200"/>
              </a:spcAft>
              <a:buFont typeface="+mj-lt"/>
              <a:buAutoNum type="arabicPeriod"/>
            </a:pPr>
            <a:r>
              <a:rPr lang="en-US" altLang="zh-CN" dirty="0">
                <a:solidFill>
                  <a:schemeClr val="bg1"/>
                </a:solidFill>
              </a:rPr>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717411" cy="400110"/>
          </a:xfrm>
          <a:prstGeom prst="rect">
            <a:avLst/>
          </a:prstGeom>
          <a:noFill/>
        </p:spPr>
        <p:txBody>
          <a:bodyPr wrap="none" rtlCol="0">
            <a:spAutoFit/>
          </a:bodyPr>
          <a:lstStyle/>
          <a:p>
            <a:r>
              <a:rPr lang="zh-CN" altLang="en-US" sz="2000" dirty="0">
                <a:solidFill>
                  <a:schemeClr val="bg1"/>
                </a:solidFill>
              </a:rPr>
              <a:t>课后思考 </a:t>
            </a:r>
            <a:r>
              <a:rPr lang="en-US" altLang="zh-CN" sz="2000" dirty="0">
                <a:solidFill>
                  <a:schemeClr val="bg1"/>
                </a:solidFill>
              </a:rPr>
              <a:t>Homework</a:t>
            </a:r>
            <a:endParaRPr lang="zh-CN" altLang="en-US" sz="2000" dirty="0">
              <a:solidFill>
                <a:schemeClr val="bg1"/>
              </a:solidFill>
            </a:endParaRPr>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7124066" cy="369332"/>
          </a:xfrm>
          <a:prstGeom prst="rect">
            <a:avLst/>
          </a:prstGeom>
          <a:noFill/>
        </p:spPr>
        <p:txBody>
          <a:bodyPr wrap="none" rtlCol="0">
            <a:spAutoFit/>
          </a:bodyPr>
          <a:lstStyle/>
          <a:p>
            <a:r>
              <a:rPr lang="zh-CN" altLang="en-US" dirty="0">
                <a:solidFill>
                  <a:schemeClr val="bg1"/>
                </a:solidFill>
              </a:rPr>
              <a:t>举例并分析：</a:t>
            </a:r>
            <a:r>
              <a:rPr lang="en-US" altLang="zh-CN" dirty="0">
                <a:solidFill>
                  <a:schemeClr val="bg1"/>
                </a:solidFill>
              </a:rPr>
              <a:t>SOW</a:t>
            </a:r>
            <a:r>
              <a:rPr lang="zh-CN" altLang="en-US" dirty="0">
                <a:solidFill>
                  <a:schemeClr val="bg1"/>
                </a:solidFill>
              </a:rPr>
              <a:t>、</a:t>
            </a:r>
            <a:r>
              <a:rPr lang="en-US" altLang="zh-CN" dirty="0">
                <a:solidFill>
                  <a:schemeClr val="bg1"/>
                </a:solidFill>
              </a:rPr>
              <a:t>SRS</a:t>
            </a:r>
            <a:r>
              <a:rPr lang="zh-CN" altLang="en-US" dirty="0">
                <a:solidFill>
                  <a:schemeClr val="bg1"/>
                </a:solidFill>
              </a:rPr>
              <a:t>、</a:t>
            </a:r>
            <a:r>
              <a:rPr lang="en-US" altLang="zh-CN" dirty="0">
                <a:solidFill>
                  <a:schemeClr val="bg1"/>
                </a:solidFill>
              </a:rPr>
              <a:t>WBS</a:t>
            </a:r>
            <a:r>
              <a:rPr lang="zh-CN" altLang="en-US" dirty="0">
                <a:solidFill>
                  <a:schemeClr val="bg1"/>
                </a:solidFill>
              </a:rPr>
              <a:t>、</a:t>
            </a:r>
            <a:r>
              <a:rPr lang="en-US" altLang="zh-CN" dirty="0">
                <a:solidFill>
                  <a:schemeClr val="bg1"/>
                </a:solidFill>
              </a:rPr>
              <a:t>Package </a:t>
            </a:r>
            <a:r>
              <a:rPr lang="zh-CN" altLang="en-US" dirty="0">
                <a:solidFill>
                  <a:schemeClr val="bg1"/>
                </a:solidFill>
              </a:rPr>
              <a:t>和 </a:t>
            </a:r>
            <a:r>
              <a:rPr lang="en-US" altLang="zh-CN" dirty="0">
                <a:solidFill>
                  <a:schemeClr val="bg1"/>
                </a:solidFill>
              </a:rPr>
              <a:t>Dictionary </a:t>
            </a:r>
            <a:r>
              <a:rPr lang="zh-CN" altLang="en-US" dirty="0">
                <a:solidFill>
                  <a:schemeClr val="bg1"/>
                </a:solidFill>
              </a:rPr>
              <a:t>的关系</a:t>
            </a:r>
          </a:p>
        </p:txBody>
      </p:sp>
    </p:spTree>
    <p:extLst>
      <p:ext uri="{BB962C8B-B14F-4D97-AF65-F5344CB8AC3E}">
        <p14:creationId xmlns:p14="http://schemas.microsoft.com/office/powerpoint/2010/main" val="104812516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rgbClr val="FFFF00"/>
                </a:solidFill>
              </a:rPr>
              <a:t>乱</a:t>
            </a:r>
            <a:r>
              <a:rPr lang="zh-CN" altLang="en-US" sz="1600" dirty="0">
                <a:solidFill>
                  <a:schemeClr val="bg1"/>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rgbClr val="FFFF00"/>
                </a:solidFill>
              </a:rPr>
              <a:t>愁</a:t>
            </a:r>
            <a:r>
              <a:rPr lang="zh-CN" altLang="en-US" sz="1600" dirty="0">
                <a:solidFill>
                  <a:schemeClr val="bg1"/>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rgbClr val="FFFF00"/>
                </a:solidFill>
              </a:rPr>
              <a:t>难</a:t>
            </a:r>
            <a:r>
              <a:rPr lang="zh-CN" altLang="en-US" sz="1600" dirty="0">
                <a:solidFill>
                  <a:schemeClr val="bg1"/>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rgbClr val="FFFF00"/>
                </a:solidFill>
              </a:rPr>
              <a:t>扯</a:t>
            </a:r>
            <a:r>
              <a:rPr lang="zh-CN" altLang="en-US" sz="1600" dirty="0">
                <a:solidFill>
                  <a:schemeClr val="bg1"/>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dirty="0"/>
              <a:t>工作量</a:t>
            </a:r>
            <a:endParaRPr lang="en-US" altLang="zh-CN" dirty="0"/>
          </a:p>
          <a:p>
            <a:r>
              <a:rPr lang="zh-CN" altLang="en-US" dirty="0"/>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793416609"/>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b="0" dirty="0">
                          <a:solidFill>
                            <a:schemeClr val="bg1"/>
                          </a:solidFill>
                        </a:rPr>
                        <a:t>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单位</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单位</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单位</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b="0" dirty="0">
                          <a:solidFill>
                            <a:schemeClr val="bg1"/>
                          </a:solidFill>
                        </a:rPr>
                        <a:t>工作量</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人天</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人月</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人年</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规模</a:t>
                      </a: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a:r>
                        <a:rPr lang="zh-CN" altLang="en-US" sz="1600" b="0" dirty="0">
                          <a:solidFill>
                            <a:schemeClr val="bg1"/>
                          </a:solidFill>
                        </a:rPr>
                        <a:t>代码行 </a:t>
                      </a:r>
                      <a:r>
                        <a:rPr lang="en-US" altLang="zh-CN" sz="1600" b="0" dirty="0">
                          <a:solidFill>
                            <a:schemeClr val="bg1"/>
                          </a:solidFill>
                        </a:rPr>
                        <a:t>LOC</a:t>
                      </a:r>
                    </a:p>
                    <a:p>
                      <a:pPr algn="l"/>
                      <a:r>
                        <a:rPr lang="en-US" altLang="zh-CN" sz="1600" b="0" dirty="0">
                          <a:solidFill>
                            <a:schemeClr val="bg1"/>
                          </a:solidFill>
                        </a:rPr>
                        <a:t>Line of Code</a:t>
                      </a:r>
                      <a:endParaRPr lang="zh-CN" altLang="en-US" sz="1600" b="0" dirty="0">
                        <a:solidFill>
                          <a:schemeClr val="bg1"/>
                        </a:solidFill>
                      </a:endParaRP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功能点</a:t>
                      </a:r>
                      <a:r>
                        <a:rPr lang="en-US" altLang="zh-CN" sz="1600" b="0" dirty="0">
                          <a:solidFill>
                            <a:schemeClr val="bg1"/>
                          </a:solidFill>
                        </a:rPr>
                        <a:t>FP</a:t>
                      </a:r>
                      <a:r>
                        <a:rPr lang="zh-CN" altLang="en-US" sz="1600" b="0" dirty="0">
                          <a:solidFill>
                            <a:schemeClr val="bg1"/>
                          </a:solidFill>
                        </a:rPr>
                        <a:t> </a:t>
                      </a:r>
                      <a:r>
                        <a:rPr lang="en-US" altLang="zh-CN" sz="1600" b="0" dirty="0">
                          <a:solidFill>
                            <a:schemeClr val="bg1"/>
                          </a:solidFill>
                        </a:rPr>
                        <a:t>Function Point</a:t>
                      </a:r>
                      <a:endParaRPr lang="zh-CN" altLang="en-US" sz="1600" b="0" dirty="0">
                        <a:solidFill>
                          <a:schemeClr val="bg1"/>
                        </a:solidFill>
                      </a:endParaRP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a:endParaRPr lang="zh-CN" altLang="en-US" sz="1600" b="0" dirty="0">
                        <a:solidFill>
                          <a:schemeClr val="bg1"/>
                        </a:solidFill>
                      </a:endParaRP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成本</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bg1"/>
                          </a:solidFill>
                        </a:rPr>
                        <a:t>元</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solidFill>
                  <a:srgbClr val="FFFF00"/>
                </a:solidFill>
              </a:rPr>
              <a:t>人天：做多久？</a:t>
            </a:r>
            <a:endParaRPr lang="en-US" altLang="zh-CN" sz="1600" dirty="0">
              <a:solidFill>
                <a:srgbClr val="FFFF00"/>
              </a:solidFill>
            </a:endParaRPr>
          </a:p>
          <a:p>
            <a:pPr algn="l"/>
            <a:r>
              <a:rPr lang="zh-CN" altLang="en-US" sz="1600" dirty="0">
                <a:solidFill>
                  <a:srgbClr val="FFFF00"/>
                </a:solidFill>
              </a:rPr>
              <a:t>人月：做多久？</a:t>
            </a:r>
          </a:p>
        </p:txBody>
      </p:sp>
    </p:spTree>
    <p:extLst>
      <p:ext uri="{BB962C8B-B14F-4D97-AF65-F5344CB8AC3E}">
        <p14:creationId xmlns:p14="http://schemas.microsoft.com/office/powerpoint/2010/main" val="388413536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p:spPr>
        <p:txBody>
          <a:bodyPr wrap="none" rtlCol="0">
            <a:spAutoFit/>
          </a:bodyPr>
          <a:lstStyle/>
          <a:p>
            <a:pPr algn="l"/>
            <a:r>
              <a:rPr lang="zh-CN" altLang="en-US" sz="1600" dirty="0">
                <a:solidFill>
                  <a:schemeClr val="bg1"/>
                </a:solidFill>
              </a:rPr>
              <a:t>为完成特定项目而直接投入的人力成本</a:t>
            </a:r>
            <a:endParaRPr lang="en-US" altLang="zh-CN" sz="1600" dirty="0">
              <a:solidFill>
                <a:schemeClr val="bg1"/>
              </a:solidFill>
            </a:endParaRPr>
          </a:p>
          <a:p>
            <a:pPr algn="l"/>
            <a:r>
              <a:rPr lang="zh-CN" altLang="en-US" sz="1600" dirty="0">
                <a:solidFill>
                  <a:schemeClr val="bg1"/>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p:spPr>
        <p:txBody>
          <a:bodyPr wrap="none" rtlCol="0">
            <a:spAutoFit/>
          </a:bodyPr>
          <a:lstStyle/>
          <a:p>
            <a:pPr algn="l"/>
            <a:r>
              <a:rPr lang="zh-CN" altLang="en-US" sz="1600" dirty="0">
                <a:solidFill>
                  <a:schemeClr val="bg1"/>
                </a:solidFill>
              </a:rPr>
              <a:t>非特定项目，服务于</a:t>
            </a:r>
            <a:r>
              <a:rPr lang="zh-CN" altLang="en-US" sz="1600" dirty="0">
                <a:solidFill>
                  <a:srgbClr val="FFFF00"/>
                </a:solidFill>
              </a:rPr>
              <a:t>整体</a:t>
            </a:r>
            <a:endParaRPr lang="en-US" altLang="zh-CN" sz="1600" dirty="0">
              <a:solidFill>
                <a:srgbClr val="FFFF00"/>
              </a:solidFill>
            </a:endParaRPr>
          </a:p>
          <a:p>
            <a:pPr algn="l"/>
            <a:r>
              <a:rPr lang="zh-CN" altLang="en-US" sz="1600" dirty="0">
                <a:solidFill>
                  <a:schemeClr val="bg1"/>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p:spPr>
        <p:txBody>
          <a:bodyPr wrap="none" rtlCol="0">
            <a:spAutoFit/>
          </a:bodyPr>
          <a:lstStyle/>
          <a:p>
            <a:pPr algn="l"/>
            <a:r>
              <a:rPr lang="zh-CN" altLang="en-US" sz="1600" dirty="0">
                <a:solidFill>
                  <a:schemeClr val="bg1"/>
                </a:solidFill>
              </a:rPr>
              <a:t>服务于特定项目</a:t>
            </a:r>
            <a:endParaRPr lang="en-US" altLang="zh-CN" sz="1600" dirty="0">
              <a:solidFill>
                <a:schemeClr val="bg1"/>
              </a:solidFill>
            </a:endParaRPr>
          </a:p>
          <a:p>
            <a:pPr algn="l"/>
            <a:r>
              <a:rPr lang="zh-CN" altLang="en-US" sz="1600" dirty="0">
                <a:solidFill>
                  <a:schemeClr val="bg1"/>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p:spPr>
        <p:txBody>
          <a:bodyPr wrap="none" rtlCol="0">
            <a:spAutoFit/>
          </a:bodyPr>
          <a:lstStyle/>
          <a:p>
            <a:pPr algn="l"/>
            <a:r>
              <a:rPr lang="zh-CN" altLang="en-US" sz="1600" dirty="0">
                <a:solidFill>
                  <a:schemeClr val="bg1"/>
                </a:solidFill>
              </a:rPr>
              <a:t>为支持多个项目或整个组织运营而产生的共同人力成本</a:t>
            </a:r>
            <a:endParaRPr lang="en-US" altLang="zh-CN" sz="1600" dirty="0">
              <a:solidFill>
                <a:schemeClr val="bg1"/>
              </a:solidFill>
            </a:endParaRPr>
          </a:p>
          <a:p>
            <a:pPr algn="l"/>
            <a:r>
              <a:rPr lang="zh-CN" altLang="en-US" sz="1600" dirty="0">
                <a:solidFill>
                  <a:schemeClr val="bg1"/>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solidFill>
                  <a:schemeClr val="bg1"/>
                </a:solidFill>
              </a:rPr>
              <a:t>判断 </a:t>
            </a:r>
            <a:r>
              <a:rPr lang="en-US" altLang="zh-CN" sz="2000" dirty="0">
                <a:solidFill>
                  <a:schemeClr val="bg1"/>
                </a:solidFill>
              </a:rPr>
              <a:t>True or False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solidFill>
                  <a:schemeClr val="bg1"/>
                </a:solidFill>
              </a:rPr>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972477242"/>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b="0" dirty="0">
                          <a:solidFill>
                            <a:schemeClr val="bg1"/>
                          </a:solidFill>
                        </a:rPr>
                        <a:t>Type</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Desc</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89251913"/>
                  </a:ext>
                </a:extLst>
              </a:tr>
              <a:tr h="145599">
                <a:tc>
                  <a:txBody>
                    <a:bodyPr/>
                    <a:lstStyle/>
                    <a:p>
                      <a:r>
                        <a:rPr lang="zh-CN" altLang="en-US" sz="1600" b="0" dirty="0">
                          <a:solidFill>
                            <a:schemeClr val="bg1"/>
                          </a:solidFill>
                        </a:rPr>
                        <a:t>固定成本</a:t>
                      </a:r>
                      <a:endParaRPr lang="en-US" altLang="zh-CN"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Fixed Costs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租金</a:t>
                      </a: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可变成本</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Variable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外聘</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b="0" dirty="0">
                          <a:solidFill>
                            <a:schemeClr val="bg1"/>
                          </a:solidFill>
                        </a:rPr>
                        <a:t>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专有</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b="0" dirty="0">
                          <a:solidFill>
                            <a:schemeClr val="bg1"/>
                          </a:solidFill>
                        </a:rPr>
                        <a:t>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Indirect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分摊</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机会成本 </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Opportunity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决策</a:t>
                      </a:r>
                      <a:r>
                        <a:rPr lang="en-US" altLang="zh-CN" sz="1600" b="0" dirty="0">
                          <a:solidFill>
                            <a:schemeClr val="bg1"/>
                          </a:solidFill>
                        </a:rPr>
                        <a:t>A?B?</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沉没成本</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Sunk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已发生</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solidFill>
                  <a:schemeClr val="bg1"/>
                </a:solidFill>
              </a:rPr>
              <a:t>思考 </a:t>
            </a:r>
            <a:r>
              <a:rPr lang="en-US" altLang="zh-CN" sz="2000" dirty="0">
                <a:solidFill>
                  <a:schemeClr val="bg1"/>
                </a:solidFill>
              </a:rPr>
              <a:t>Thinking</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solidFill>
                  <a:schemeClr val="bg1"/>
                </a:solidFill>
              </a:rPr>
              <a:t>你花 </a:t>
            </a:r>
            <a:r>
              <a:rPr lang="en-US" altLang="zh-CN" dirty="0">
                <a:solidFill>
                  <a:schemeClr val="bg1"/>
                </a:solidFill>
              </a:rPr>
              <a:t>50</a:t>
            </a:r>
            <a:r>
              <a:rPr lang="zh-CN" altLang="en-US" dirty="0">
                <a:solidFill>
                  <a:schemeClr val="bg1"/>
                </a:solidFill>
              </a:rPr>
              <a:t>元 买了一张电影票，进场看了</a:t>
            </a:r>
            <a:r>
              <a:rPr lang="en-US" altLang="zh-CN" dirty="0">
                <a:solidFill>
                  <a:schemeClr val="bg1"/>
                </a:solidFill>
              </a:rPr>
              <a:t>20</a:t>
            </a:r>
            <a:r>
              <a:rPr lang="zh-CN" altLang="en-US" dirty="0">
                <a:solidFill>
                  <a:schemeClr val="bg1"/>
                </a:solidFill>
              </a:rPr>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6.1.4 </a:t>
            </a:r>
            <a:r>
              <a:rPr lang="zh-CN" altLang="en-US" dirty="0"/>
              <a:t>成本估算过程</a:t>
            </a:r>
          </a:p>
        </p:txBody>
      </p:sp>
      <p:sp>
        <p:nvSpPr>
          <p:cNvPr id="6" name="内容占位符 5">
            <a:extLst>
              <a:ext uri="{FF2B5EF4-FFF2-40B4-BE49-F238E27FC236}">
                <a16:creationId xmlns:a16="http://schemas.microsoft.com/office/drawing/2014/main" id="{42E378B1-2ED9-1233-9F31-49D0A982F31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6" name="内容占位符 5">
            <a:extLst>
              <a:ext uri="{FF2B5EF4-FFF2-40B4-BE49-F238E27FC236}">
                <a16:creationId xmlns:a16="http://schemas.microsoft.com/office/drawing/2014/main" id="{647318B9-2601-F1A7-4476-0E399CA0E45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870085188"/>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9677568"/>
                  </a:ext>
                </a:extLst>
              </a:tr>
              <a:tr h="220656">
                <a:tc>
                  <a:txBody>
                    <a:bodyPr/>
                    <a:lstStyle/>
                    <a:p>
                      <a:pPr>
                        <a:buNone/>
                      </a:pPr>
                      <a:r>
                        <a:rPr lang="zh-CN" altLang="en-US" sz="1600" dirty="0">
                          <a:solidFill>
                            <a:schemeClr val="bg1"/>
                          </a:solidFill>
                        </a:rPr>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LOC</a:t>
                      </a:r>
                      <a:r>
                        <a:rPr lang="zh-CN" altLang="en-US" sz="1600" dirty="0">
                          <a:solidFill>
                            <a:schemeClr val="bg1"/>
                          </a:solidFill>
                        </a:rPr>
                        <a:t>；</a:t>
                      </a:r>
                      <a:r>
                        <a:rPr lang="en-US" altLang="zh-CN" sz="1600" dirty="0">
                          <a:solidFill>
                            <a:schemeClr val="bg1"/>
                          </a:solidFill>
                        </a:rPr>
                        <a:t>Line of Code</a:t>
                      </a:r>
                      <a:r>
                        <a:rPr lang="zh-CN" altLang="en-US" sz="1600" dirty="0">
                          <a:solidFill>
                            <a:schemeClr val="bg1"/>
                          </a:solidFill>
                        </a:rPr>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FP</a:t>
                      </a:r>
                      <a:r>
                        <a:rPr lang="zh-CN" altLang="en-US" sz="1600" dirty="0">
                          <a:solidFill>
                            <a:schemeClr val="bg1"/>
                          </a:solidFill>
                        </a:rPr>
                        <a:t>；</a:t>
                      </a:r>
                      <a:r>
                        <a:rPr lang="en-US" altLang="zh-CN" sz="1600" dirty="0">
                          <a:solidFill>
                            <a:schemeClr val="bg1"/>
                          </a:solidFill>
                        </a:rPr>
                        <a:t>Function Point</a:t>
                      </a:r>
                      <a:r>
                        <a:rPr lang="zh-CN" altLang="en-US" sz="1600" dirty="0">
                          <a:solidFill>
                            <a:schemeClr val="bg1"/>
                          </a:solidFill>
                        </a:rPr>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UCP</a:t>
                      </a:r>
                      <a:r>
                        <a:rPr lang="zh-CN" altLang="en-US" sz="1600" dirty="0">
                          <a:solidFill>
                            <a:schemeClr val="bg1"/>
                          </a:solidFill>
                        </a:rPr>
                        <a:t>；</a:t>
                      </a:r>
                      <a:r>
                        <a:rPr lang="en-US" altLang="zh-CN" sz="1600" dirty="0">
                          <a:solidFill>
                            <a:schemeClr val="bg1"/>
                          </a:solidFill>
                        </a:rPr>
                        <a:t>User Case Point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solidFill>
                            <a:schemeClr val="bg1"/>
                          </a:solidFill>
                        </a:rPr>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Analogy Estimation</a:t>
                      </a:r>
                      <a:r>
                        <a:rPr lang="zh-CN" altLang="en-US" sz="1600" dirty="0">
                          <a:solidFill>
                            <a:schemeClr val="bg1"/>
                          </a:solidFill>
                        </a:rPr>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solidFill>
                            <a:schemeClr val="bg1"/>
                          </a:solidFill>
                        </a:rPr>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solidFill>
                            <a:schemeClr val="bg1"/>
                          </a:solidFill>
                        </a:rPr>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先估算每个工作包或活动的成本</a:t>
                      </a:r>
                      <a:r>
                        <a:rPr lang="en-US" altLang="zh-CN" sz="1600" dirty="0">
                          <a:solidFill>
                            <a:schemeClr val="bg1"/>
                          </a:solidFill>
                        </a:rPr>
                        <a:t>/</a:t>
                      </a:r>
                      <a:r>
                        <a:rPr lang="zh-CN" altLang="en-US" sz="1600" dirty="0">
                          <a:solidFill>
                            <a:schemeClr val="bg1"/>
                          </a:solidFill>
                        </a:rPr>
                        <a:t>工期，再</a:t>
                      </a:r>
                      <a:r>
                        <a:rPr lang="zh-CN" altLang="en-US" sz="1600" dirty="0">
                          <a:solidFill>
                            <a:srgbClr val="FFFF00"/>
                          </a:solidFill>
                        </a:rPr>
                        <a:t>汇总</a:t>
                      </a:r>
                      <a:r>
                        <a:rPr lang="zh-CN" altLang="en-US" sz="1600" dirty="0">
                          <a:solidFill>
                            <a:schemeClr val="bg1"/>
                          </a:solidFill>
                        </a:rPr>
                        <a:t>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solidFill>
                            <a:schemeClr val="bg1"/>
                          </a:solidFill>
                        </a:rPr>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比较多种技术或方案的成本</a:t>
                      </a:r>
                      <a:r>
                        <a:rPr lang="en-US" altLang="zh-CN" sz="1600" dirty="0">
                          <a:solidFill>
                            <a:schemeClr val="bg1"/>
                          </a:solidFill>
                        </a:rPr>
                        <a:t>/</a:t>
                      </a:r>
                      <a:r>
                        <a:rPr lang="zh-CN" altLang="en-US" sz="1600" dirty="0">
                          <a:solidFill>
                            <a:schemeClr val="bg1"/>
                          </a:solidFill>
                        </a:rPr>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solidFill>
                            <a:schemeClr val="bg1"/>
                          </a:solidFill>
                        </a:rPr>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solidFill>
                            <a:schemeClr val="bg1"/>
                          </a:solidFill>
                        </a:rPr>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a:solidFill>
                            <a:schemeClr val="bg1"/>
                          </a:solidFill>
                        </a:rPr>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使用乐观</a:t>
                      </a:r>
                      <a:r>
                        <a:rPr lang="en-US" altLang="zh-CN" sz="1600" dirty="0">
                          <a:solidFill>
                            <a:schemeClr val="bg1"/>
                          </a:solidFill>
                        </a:rPr>
                        <a:t>O</a:t>
                      </a:r>
                      <a:r>
                        <a:rPr lang="zh-CN" altLang="en-US" sz="1600" dirty="0">
                          <a:solidFill>
                            <a:schemeClr val="bg1"/>
                          </a:solidFill>
                        </a:rPr>
                        <a:t>、最可能</a:t>
                      </a:r>
                      <a:r>
                        <a:rPr lang="en-US" altLang="zh-CN" sz="1600" dirty="0">
                          <a:solidFill>
                            <a:schemeClr val="bg1"/>
                          </a:solidFill>
                        </a:rPr>
                        <a:t>M</a:t>
                      </a:r>
                      <a:r>
                        <a:rPr lang="zh-CN" altLang="en-US" sz="1600" dirty="0">
                          <a:solidFill>
                            <a:schemeClr val="bg1"/>
                          </a:solidFill>
                        </a:rPr>
                        <a:t>、悲观</a:t>
                      </a:r>
                      <a:r>
                        <a:rPr lang="en-US" altLang="zh-CN" sz="1600" dirty="0">
                          <a:solidFill>
                            <a:schemeClr val="bg1"/>
                          </a:solidFill>
                        </a:rPr>
                        <a:t>P</a:t>
                      </a:r>
                      <a:r>
                        <a:rPr lang="zh-CN" altLang="en-US" sz="1600" dirty="0">
                          <a:solidFill>
                            <a:schemeClr val="bg1"/>
                          </a:solidFill>
                        </a:rPr>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组合 49">
            <a:extLst>
              <a:ext uri="{FF2B5EF4-FFF2-40B4-BE49-F238E27FC236}">
                <a16:creationId xmlns:a16="http://schemas.microsoft.com/office/drawing/2014/main" id="{F508AF58-D7D3-E18E-B478-977D7F3EE5A4}"/>
              </a:ext>
            </a:extLst>
          </p:cNvPr>
          <p:cNvGrpSpPr/>
          <p:nvPr/>
        </p:nvGrpSpPr>
        <p:grpSpPr>
          <a:xfrm>
            <a:off x="2070850" y="1492661"/>
            <a:ext cx="8050300" cy="1914191"/>
            <a:chOff x="2143779" y="1337186"/>
            <a:chExt cx="8050300" cy="1914191"/>
          </a:xfrm>
        </p:grpSpPr>
        <p:sp>
          <p:nvSpPr>
            <p:cNvPr id="5" name="矩形 4">
              <a:extLst>
                <a:ext uri="{FF2B5EF4-FFF2-40B4-BE49-F238E27FC236}">
                  <a16:creationId xmlns:a16="http://schemas.microsoft.com/office/drawing/2014/main" id="{B1834B05-A36B-61EB-5B1E-904F87122C29}"/>
                </a:ext>
              </a:extLst>
            </p:cNvPr>
            <p:cNvSpPr/>
            <p:nvPr/>
          </p:nvSpPr>
          <p:spPr>
            <a:xfrm>
              <a:off x="4168877" y="2251584"/>
              <a:ext cx="2880000" cy="999793"/>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chemeClr val="bg1"/>
                  </a:solidFill>
                </a:rPr>
                <a:t>System</a:t>
              </a:r>
              <a:endParaRPr lang="zh-CN" altLang="en-US" sz="1400" dirty="0">
                <a:solidFill>
                  <a:schemeClr val="bg1"/>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5068877" y="1337186"/>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143779" y="2535171"/>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80564" y="2240864"/>
              <a:ext cx="431529"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a:t>
              </a:r>
              <a:endParaRPr lang="zh-CN" altLang="en-US" sz="1600" dirty="0">
                <a:solidFill>
                  <a:schemeClr val="bg1"/>
                </a:solidFill>
                <a:latin typeface="Roboto Mono Light" pitchFamily="2" charset="0"/>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480564" y="2912040"/>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EO</a:t>
              </a:r>
              <a:endParaRPr lang="zh-CN" altLang="en-US" sz="1600" dirty="0">
                <a:solidFill>
                  <a:schemeClr val="bg1"/>
                </a:solidFill>
                <a:latin typeface="Roboto Mono Light" pitchFamily="2" charset="0"/>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5018571" y="1841417"/>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608877" y="1769805"/>
              <a:ext cx="0" cy="481779"/>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528877" y="2643632"/>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Interior logical file</a:t>
              </a:r>
              <a:endParaRPr lang="zh-CN" altLang="en-US" sz="1400" dirty="0">
                <a:solidFill>
                  <a:schemeClr val="bg1"/>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8034079" y="2535480"/>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External interface file</a:t>
              </a:r>
              <a:endParaRPr lang="zh-CN" altLang="en-US" sz="1400" dirty="0">
                <a:solidFill>
                  <a:schemeClr val="bg1"/>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340872" y="2240863"/>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55724" y="2912039"/>
              <a:ext cx="801823"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EI/EO</a:t>
              </a:r>
              <a:endParaRPr lang="zh-CN" altLang="en-US" sz="1600" dirty="0">
                <a:solidFill>
                  <a:schemeClr val="bg1"/>
                </a:solidFill>
                <a:latin typeface="Roboto Mono Light" pitchFamily="2" charset="0"/>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223779" y="2751481"/>
              <a:ext cx="945098"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7048877" y="2751480"/>
              <a:ext cx="985202" cy="1"/>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2725794968"/>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EI</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外部输入</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External Inputs</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EO</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外部输出 </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Outputs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EQ</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外部查询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Inquiry</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b="0" dirty="0">
                          <a:solidFill>
                            <a:schemeClr val="bg1"/>
                          </a:solidFill>
                        </a:rPr>
                        <a:t>ILF</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内部逻辑文件</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Internal Logical Files</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b="0" dirty="0">
                          <a:solidFill>
                            <a:schemeClr val="bg1"/>
                          </a:solidFill>
                        </a:rPr>
                        <a:t>EIF</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外部接口文件</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Interface Files</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solidFill>
                  <a:schemeClr val="bg1"/>
                </a:solidFill>
                <a:uFill>
                  <a:solidFill>
                    <a:srgbClr val="FFFF00"/>
                  </a:solidFill>
                </a:uFill>
              </a:rPr>
              <a:t>IFPUG </a:t>
            </a:r>
            <a:r>
              <a:rPr lang="zh-CN" altLang="en-US" u="heavy" dirty="0">
                <a:solidFill>
                  <a:schemeClr val="bg1"/>
                </a:solidFill>
                <a:uFill>
                  <a:solidFill>
                    <a:srgbClr val="FFFF00"/>
                  </a:solidFill>
                </a:uFill>
              </a:rPr>
              <a:t>计算过程</a:t>
            </a:r>
            <a:endParaRPr lang="zh-CN" altLang="en-US" dirty="0">
              <a:solidFill>
                <a:schemeClr val="bg1"/>
              </a:solidFill>
            </a:endParaRPr>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 </m:t>
                      </m:r>
                    </m:oMath>
                  </m:oMathPara>
                </a14:m>
                <a:endParaRPr lang="zh-CN" altLang="en-US" sz="2000" dirty="0">
                  <a:solidFill>
                    <a:schemeClr val="bg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bg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solidFill>
                  <a:schemeClr val="bg1"/>
                </a:solidFill>
              </a:rPr>
              <a:t>1. UFC </a:t>
            </a:r>
            <a:r>
              <a:rPr lang="zh-CN" altLang="en-US" sz="1600" dirty="0">
                <a:solidFill>
                  <a:schemeClr val="bg1"/>
                </a:solidFill>
              </a:rPr>
              <a:t>计数</a:t>
            </a:r>
            <a:endParaRPr lang="en-US" altLang="zh-CN" sz="1600" dirty="0">
              <a:solidFill>
                <a:schemeClr val="bg1"/>
              </a:solidFill>
            </a:endParaRPr>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solidFill>
                  <a:schemeClr val="bg1"/>
                </a:solidFill>
              </a:rPr>
              <a:t>2. UFC </a:t>
            </a:r>
            <a:r>
              <a:rPr lang="zh-CN" altLang="en-US" sz="1600" dirty="0">
                <a:solidFill>
                  <a:schemeClr val="bg1"/>
                </a:solidFill>
              </a:rPr>
              <a:t>定级：高中低</a:t>
            </a:r>
            <a:endParaRPr lang="en-US" altLang="zh-CN" sz="1600" dirty="0">
              <a:solidFill>
                <a:schemeClr val="bg1"/>
              </a:solidFill>
            </a:endParaRPr>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solidFill>
                  <a:schemeClr val="bg1"/>
                </a:solidFill>
              </a:rPr>
              <a:t>3. TCF </a:t>
            </a:r>
            <a:r>
              <a:rPr lang="zh-CN" altLang="en-US" sz="1600" dirty="0">
                <a:solidFill>
                  <a:schemeClr val="bg1"/>
                </a:solidFill>
              </a:rPr>
              <a:t>调整</a:t>
            </a:r>
            <a:endParaRPr lang="en-US" altLang="zh-CN" sz="1600" dirty="0">
              <a:solidFill>
                <a:schemeClr val="bg1"/>
              </a:solidFill>
            </a:endParaRPr>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solidFill>
                  <a:schemeClr val="bg1"/>
                </a:solidFill>
              </a:rPr>
              <a:t>4. </a:t>
            </a:r>
            <a:r>
              <a:rPr lang="zh-CN" altLang="en-US" sz="1600" dirty="0">
                <a:solidFill>
                  <a:schemeClr val="bg1"/>
                </a:solidFill>
              </a:rPr>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solidFill>
                  <a:schemeClr val="bg1"/>
                </a:solidFill>
              </a:rPr>
              <a:t>(F</a:t>
            </a:r>
            <a:r>
              <a:rPr lang="zh-CN" altLang="en-US" sz="1400" i="1" dirty="0">
                <a:solidFill>
                  <a:schemeClr val="bg1"/>
                </a:solidFill>
              </a:rPr>
              <a:t>是每个通用系统特性的影响程度</a:t>
            </a:r>
            <a:r>
              <a:rPr lang="en-US" altLang="zh-CN" sz="1400" i="1" dirty="0">
                <a:solidFill>
                  <a:schemeClr val="bg1"/>
                </a:solidFill>
              </a:rPr>
              <a:t>)</a:t>
            </a:r>
            <a:endParaRPr lang="zh-CN" altLang="en-US" sz="1400" i="1" dirty="0">
              <a:solidFill>
                <a:schemeClr val="bg1"/>
              </a:solidFill>
            </a:endParaRPr>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2406100251"/>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__×3=</a:t>
                      </a:r>
                      <a:r>
                        <a:rPr lang="en-US" altLang="zh-CN" sz="1400" b="0" u="none" dirty="0">
                          <a:solidFill>
                            <a:schemeClr val="bg1"/>
                          </a:solidFill>
                        </a:rPr>
                        <a:t> __</a:t>
                      </a:r>
                      <a:endParaRPr lang="zh-CN" altLang="en-US" sz="1400" b="0" u="sng" baseline="0" dirty="0">
                        <a:solidFill>
                          <a:schemeClr val="bg1"/>
                        </a:solidFill>
                        <a:uFill>
                          <a:solidFill>
                            <a:schemeClr val="bg1"/>
                          </a:solidFill>
                        </a:u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__×3=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__×15=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2479383638"/>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solidFill>
                  <a:schemeClr val="bg1"/>
                </a:solidFill>
              </a:rPr>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solidFill>
                  <a:schemeClr val="bg1"/>
                </a:solidFill>
              </a:rPr>
              <a:t>假设所有的技术复杂度因子均为</a:t>
            </a:r>
            <a:r>
              <a:rPr lang="en-US" altLang="zh-CN" sz="1600" dirty="0">
                <a:solidFill>
                  <a:schemeClr val="bg1"/>
                </a:solidFill>
              </a:rPr>
              <a:t>3</a:t>
            </a:r>
            <a:r>
              <a:rPr lang="zh-CN" altLang="en-US" sz="1600" dirty="0">
                <a:solidFill>
                  <a:schemeClr val="bg1"/>
                </a:solidFill>
              </a:rPr>
              <a:t>，求 </a:t>
            </a:r>
            <a:r>
              <a:rPr lang="en-US" altLang="zh-CN" sz="1600" dirty="0">
                <a:solidFill>
                  <a:schemeClr val="bg1"/>
                </a:solidFill>
              </a:rPr>
              <a:t>FP</a:t>
            </a:r>
            <a:endParaRPr lang="zh-CN" altLang="en-US" sz="1600" dirty="0">
              <a:solidFill>
                <a:schemeClr val="bg1"/>
              </a:solidFill>
            </a:endParaRPr>
          </a:p>
        </p:txBody>
      </p:sp>
    </p:spTree>
    <p:extLst>
      <p:ext uri="{BB962C8B-B14F-4D97-AF65-F5344CB8AC3E}">
        <p14:creationId xmlns:p14="http://schemas.microsoft.com/office/powerpoint/2010/main" val="419652643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106709792"/>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392972678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198453975"/>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solidFill>
                  <a:srgbClr val="FFFF00"/>
                </a:solidFill>
              </a:rPr>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r>
                        <a:rPr lang="en-US" altLang="zh-CN" sz="2000" b="0" i="1" smtClean="0">
                          <a:solidFill>
                            <a:schemeClr val="bg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bg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2514947993"/>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662340766"/>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IFPUG</a:t>
                      </a:r>
                      <a:endParaRPr lang="zh-CN" altLang="en-US" sz="1600" b="0" dirty="0">
                        <a:solidFill>
                          <a:srgbClr val="FFFF00"/>
                        </a:solidFill>
                      </a:endParaRP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传统权威，适合成熟项目</a:t>
                      </a:r>
                      <a:endParaRPr lang="zh-CN" altLang="en-US" sz="1600" b="0" dirty="0"/>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600" b="0" dirty="0">
                          <a:solidFill>
                            <a:srgbClr val="FFFF00"/>
                          </a:solidFill>
                        </a:rPr>
                        <a:t>NESMA</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IFPUG </a:t>
                      </a:r>
                      <a:r>
                        <a:rPr lang="zh-CN" altLang="en-US" sz="1600" b="0" dirty="0">
                          <a:solidFill>
                            <a:schemeClr val="bg1"/>
                          </a:solidFill>
                        </a:rPr>
                        <a:t>的轻量版，适合快速估算</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600" b="0" dirty="0">
                          <a:solidFill>
                            <a:srgbClr val="FFFF00"/>
                          </a:solidFill>
                        </a:rPr>
                        <a:t>COSMIC</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现代通用型，适合复杂或非传统软件</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798368831"/>
              </p:ext>
            </p:extLst>
          </p:nvPr>
        </p:nvGraphicFramePr>
        <p:xfrm>
          <a:off x="1956000" y="2390457"/>
          <a:ext cx="8280000" cy="2346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600" b="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82248223"/>
                  </a:ext>
                </a:extLst>
              </a:tr>
              <a:tr h="0">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UAW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未调整的</a:t>
                      </a:r>
                      <a:r>
                        <a:rPr lang="zh-CN" altLang="en-US" sz="1600" b="0" dirty="0">
                          <a:solidFill>
                            <a:srgbClr val="FFFF00"/>
                          </a:solidFill>
                        </a:rPr>
                        <a:t>角色</a:t>
                      </a:r>
                      <a:r>
                        <a:rPr lang="zh-CN" altLang="en-US" sz="1600" b="0" dirty="0">
                          <a:solidFill>
                            <a:schemeClr val="bg1"/>
                          </a:solidFill>
                        </a:rPr>
                        <a:t>加权，</a:t>
                      </a:r>
                      <a:r>
                        <a:rPr lang="en-US" altLang="zh-CN" sz="1600" b="0" dirty="0">
                          <a:solidFill>
                            <a:schemeClr val="bg1"/>
                          </a:solidFill>
                        </a:rPr>
                        <a:t>Unadjusted Actor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a:t>
                      </a:r>
                      <a:r>
                        <a:rPr lang="zh-CN" altLang="en-US" sz="1600" dirty="0">
                          <a:solidFill>
                            <a:srgbClr val="FFFF00"/>
                          </a:solidFill>
                        </a:rPr>
                        <a:t>用例</a:t>
                      </a:r>
                      <a:r>
                        <a:rPr lang="zh-CN" altLang="en-US" sz="1600" dirty="0">
                          <a:solidFill>
                            <a:schemeClr val="bg1"/>
                          </a:solidFill>
                        </a:rPr>
                        <a:t>加权，</a:t>
                      </a:r>
                      <a:r>
                        <a:rPr lang="en-US" altLang="zh-CN" sz="1600" dirty="0">
                          <a:solidFill>
                            <a:schemeClr val="bg1"/>
                          </a:solidFill>
                        </a:rPr>
                        <a:t>Unadjusted Use Case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a:t>
                      </a:r>
                      <a:r>
                        <a:rPr lang="zh-CN" altLang="en-US" sz="1600" dirty="0">
                          <a:solidFill>
                            <a:srgbClr val="FFFF00"/>
                          </a:solidFill>
                        </a:rPr>
                        <a:t>用例点</a:t>
                      </a:r>
                      <a:r>
                        <a:rPr lang="zh-CN" altLang="en-US" sz="1600" dirty="0">
                          <a:solidFill>
                            <a:schemeClr val="bg1"/>
                          </a:solidFill>
                        </a:rPr>
                        <a:t>，</a:t>
                      </a:r>
                      <a:r>
                        <a:rPr lang="en-US" altLang="zh-CN" sz="1600" dirty="0">
                          <a:solidFill>
                            <a:schemeClr val="bg1"/>
                          </a:solidFill>
                        </a:rPr>
                        <a:t>Unadjusted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TEF</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技术因子和环境因子，</a:t>
                      </a:r>
                      <a:r>
                        <a:rPr lang="en-US" altLang="zh-CN" sz="1600" dirty="0">
                          <a:solidFill>
                            <a:schemeClr val="bg1"/>
                          </a:solidFill>
                        </a:rPr>
                        <a:t>Technical and Environment Fator</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调整后的用例点</a:t>
                      </a:r>
                      <a:r>
                        <a:rPr lang="en-US" altLang="zh-CN" sz="1600" dirty="0">
                          <a:solidFill>
                            <a:schemeClr val="bg1"/>
                          </a:solidFill>
                        </a:rPr>
                        <a:t>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600" b="0" dirty="0">
                          <a:solidFill>
                            <a:schemeClr val="bg1"/>
                          </a:solidFill>
                        </a:rPr>
                        <a:t>6</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b="0" dirty="0">
                          <a:solidFill>
                            <a:schemeClr val="bg1"/>
                          </a:solidFill>
                        </a:rPr>
                        <a:t>Effort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工作量，配合生成因子 </a:t>
                      </a:r>
                      <a:r>
                        <a:rPr lang="en-US" altLang="zh-CN" sz="1600" b="0" dirty="0">
                          <a:solidFill>
                            <a:schemeClr val="bg1"/>
                          </a:solidFill>
                        </a:rPr>
                        <a:t>Productivity Factor </a:t>
                      </a:r>
                      <a:r>
                        <a:rPr lang="zh-CN" altLang="en-US" sz="1600" b="0" dirty="0">
                          <a:solidFill>
                            <a:schemeClr val="bg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18875809"/>
              </p:ext>
            </p:extLst>
          </p:nvPr>
        </p:nvGraphicFramePr>
        <p:xfrm>
          <a:off x="3216000" y="1406013"/>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1. UAW </a:t>
                      </a:r>
                      <a:r>
                        <a:rPr lang="zh-CN" altLang="en-US" sz="1600" b="0" dirty="0">
                          <a:solidFill>
                            <a:schemeClr val="bg1"/>
                          </a:solidFill>
                        </a:rPr>
                        <a:t>未调整的角色加权</a:t>
                      </a:r>
                      <a:endParaRPr lang="en-US" altLang="zh-CN"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2138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1×2</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2×4</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3×5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4104900559"/>
              </p:ext>
            </p:extLst>
          </p:nvPr>
        </p:nvGraphicFramePr>
        <p:xfrm>
          <a:off x="3216000" y="3741175"/>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2. UUCW </a:t>
                      </a:r>
                      <a:r>
                        <a:rPr lang="zh-CN" altLang="en-US" sz="1600" b="0" dirty="0">
                          <a:solidFill>
                            <a:schemeClr val="bg1"/>
                          </a:solidFill>
                        </a:rPr>
                        <a:t>未调整的用例加权</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5×5</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10</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10×2</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15×3</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90</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2988445327"/>
              </p:ext>
            </p:extLst>
          </p:nvPr>
        </p:nvGraphicFramePr>
        <p:xfrm>
          <a:off x="3216000" y="727586"/>
          <a:ext cx="3960000" cy="13411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3. UUCP </a:t>
                      </a:r>
                      <a:r>
                        <a:rPr lang="zh-CN" altLang="en-US" sz="1600" b="0" dirty="0">
                          <a:solidFill>
                            <a:schemeClr val="bg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600" b="0" dirty="0">
                          <a:solidFill>
                            <a:schemeClr val="bg1"/>
                          </a:solidFill>
                        </a:rPr>
                        <a:t>UUCP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25</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90</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3468082853"/>
              </p:ext>
            </p:extLst>
          </p:nvPr>
        </p:nvGraphicFramePr>
        <p:xfrm>
          <a:off x="3216000" y="3598524"/>
          <a:ext cx="5112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5. UCP </a:t>
                      </a:r>
                      <a:r>
                        <a:rPr lang="zh-CN" altLang="en-US" sz="1600" b="0" dirty="0">
                          <a:solidFill>
                            <a:schemeClr val="bg1"/>
                          </a:solidFill>
                        </a:rPr>
                        <a:t>用例点</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600" b="0" dirty="0">
                          <a:solidFill>
                            <a:schemeClr val="bg1"/>
                          </a:solidFill>
                        </a:rPr>
                        <a:t>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TCF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3626422057"/>
              </p:ext>
            </p:extLst>
          </p:nvPr>
        </p:nvGraphicFramePr>
        <p:xfrm>
          <a:off x="3216000" y="4866354"/>
          <a:ext cx="3960000" cy="6705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rgbClr val="FFFF00"/>
                          </a:solidFill>
                        </a:rPr>
                        <a:t>6.  Effort </a:t>
                      </a:r>
                      <a:r>
                        <a:rPr lang="zh-CN" altLang="en-US" sz="1600" dirty="0">
                          <a:solidFill>
                            <a:schemeClr val="bg1"/>
                          </a:solidFill>
                        </a:rPr>
                        <a:t>工作量</a:t>
                      </a:r>
                      <a:endParaRPr lang="en-US" altLang="zh-CN" sz="160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600" b="0" dirty="0">
                          <a:solidFill>
                            <a:schemeClr val="bg1"/>
                          </a:solidFill>
                        </a:rPr>
                        <a:t>工作量</a:t>
                      </a:r>
                      <a:r>
                        <a:rPr lang="en-US" altLang="zh-CN" sz="1600" b="0" dirty="0">
                          <a:solidFill>
                            <a:schemeClr val="bg1"/>
                          </a:solidFill>
                        </a:rPr>
                        <a:t>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PF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491995971"/>
              </p:ext>
            </p:extLst>
          </p:nvPr>
        </p:nvGraphicFramePr>
        <p:xfrm>
          <a:off x="3216000" y="2330695"/>
          <a:ext cx="5400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4. TEF </a:t>
                      </a:r>
                      <a:r>
                        <a:rPr lang="zh-CN" altLang="en-US" sz="1600" b="0" dirty="0">
                          <a:solidFill>
                            <a:schemeClr val="bg1"/>
                          </a:solidFill>
                        </a:rPr>
                        <a:t>技术因子和环境因子</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600" b="0" dirty="0">
                          <a:solidFill>
                            <a:schemeClr val="bg1"/>
                          </a:solidFill>
                        </a:rPr>
                        <a:t>TCF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endParaRPr lang="en-US" altLang="zh-CN" dirty="0"/>
          </a:p>
          <a:p>
            <a:pPr lvl="1"/>
            <a:endParaRPr lang="en-US" altLang="zh-CN" dirty="0"/>
          </a:p>
          <a:p>
            <a:endParaRPr lang="zh-CN" altLang="en-US" dirty="0"/>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2426396762"/>
              </p:ext>
            </p:extLst>
          </p:nvPr>
        </p:nvGraphicFramePr>
        <p:xfrm>
          <a:off x="1956000" y="2135953"/>
          <a:ext cx="8280000" cy="258609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600" dirty="0">
                          <a:solidFill>
                            <a:schemeClr val="bg1"/>
                          </a:solidFill>
                        </a:rPr>
                        <a:t>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人力配置</a:t>
                      </a:r>
                      <a:r>
                        <a:rPr lang="en-US" altLang="zh-CN" sz="1600" dirty="0">
                          <a:solidFill>
                            <a:schemeClr val="bg1"/>
                          </a:solidFill>
                        </a:rPr>
                        <a:t>(</a:t>
                      </a:r>
                      <a:r>
                        <a:rPr lang="en-US" sz="1600" dirty="0">
                          <a:solidFill>
                            <a:schemeClr val="bg1"/>
                          </a:solidFill>
                        </a:rPr>
                        <a:t>M:D:Q:S)</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时间 </a:t>
                      </a:r>
                      <a:r>
                        <a:rPr lang="en-US" altLang="zh-CN" sz="1600" dirty="0">
                          <a:solidFill>
                            <a:schemeClr val="bg1"/>
                          </a:solidFill>
                        </a:rPr>
                        <a:t>(</a:t>
                      </a:r>
                      <a:r>
                        <a:rPr lang="zh-CN" altLang="en-US" sz="1600" dirty="0">
                          <a:solidFill>
                            <a:schemeClr val="bg1"/>
                          </a:solidFill>
                        </a:rPr>
                        <a:t>月</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成本 </a:t>
                      </a:r>
                      <a:r>
                        <a:rPr lang="en-US" altLang="zh-CN" sz="1600" dirty="0">
                          <a:solidFill>
                            <a:schemeClr val="bg1"/>
                          </a:solidFill>
                        </a:rPr>
                        <a:t>(</a:t>
                      </a:r>
                      <a:r>
                        <a:rPr lang="zh-CN" altLang="en-US" sz="1600" dirty="0">
                          <a:solidFill>
                            <a:schemeClr val="bg1"/>
                          </a:solidFill>
                        </a:rPr>
                        <a:t>万</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合计</a:t>
                      </a:r>
                      <a:r>
                        <a:rPr lang="en-US" altLang="zh-CN" sz="1600" dirty="0">
                          <a:solidFill>
                            <a:schemeClr val="bg1"/>
                          </a:solidFill>
                        </a:rPr>
                        <a:t>/</a:t>
                      </a:r>
                      <a:r>
                        <a:rPr lang="zh-CN" altLang="en-US" sz="1600" dirty="0">
                          <a:solidFill>
                            <a:schemeClr val="bg1"/>
                          </a:solidFill>
                        </a:rPr>
                        <a:t>万</a:t>
                      </a: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600" dirty="0">
                          <a:solidFill>
                            <a:schemeClr val="bg1"/>
                          </a:solidFill>
                        </a:rPr>
                        <a:t>项目准备阶段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M:2/D:8/Q:1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0.5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16.5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rowSpan="3">
                  <a:txBody>
                    <a:bodyPr/>
                    <a:lstStyle/>
                    <a:p>
                      <a:pPr algn="ctr">
                        <a:buNone/>
                      </a:pPr>
                      <a:r>
                        <a:rPr lang="en-US" altLang="zh-CN" sz="1600" dirty="0">
                          <a:solidFill>
                            <a:schemeClr val="bg1"/>
                          </a:solidFill>
                        </a:rPr>
                        <a:t>145.5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600" dirty="0">
                          <a:solidFill>
                            <a:schemeClr val="bg1"/>
                          </a:solidFill>
                        </a:rPr>
                        <a:t>项目设计阶段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M:2/D:8/Q:2/S:1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39</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600" dirty="0">
                          <a:solidFill>
                            <a:schemeClr val="bg1"/>
                          </a:solidFill>
                        </a:rPr>
                        <a:t>基础模块开发</a:t>
                      </a:r>
                    </a:p>
                    <a:p>
                      <a:pPr marL="171450" indent="-171450" algn="l">
                        <a:buFont typeface="Arial" panose="020B0604020202020204" pitchFamily="34" charset="0"/>
                        <a:buChar char="•"/>
                      </a:pPr>
                      <a:r>
                        <a:rPr lang="zh-CN" altLang="en-US" sz="1600" dirty="0">
                          <a:solidFill>
                            <a:schemeClr val="bg1"/>
                          </a:solidFill>
                        </a:rPr>
                        <a:t>公共控制子系统</a:t>
                      </a:r>
                    </a:p>
                    <a:p>
                      <a:pPr marL="171450" indent="-171450" algn="l">
                        <a:buFont typeface="Arial" panose="020B0604020202020204" pitchFamily="34" charset="0"/>
                        <a:buChar char="•"/>
                      </a:pPr>
                      <a:r>
                        <a:rPr lang="zh-CN" altLang="en-US" sz="1600" dirty="0">
                          <a:solidFill>
                            <a:schemeClr val="bg1"/>
                          </a:solidFill>
                        </a:rPr>
                        <a:t>中央会计子系统</a:t>
                      </a:r>
                    </a:p>
                    <a:p>
                      <a:pPr marL="171450" indent="-171450" algn="l">
                        <a:buFont typeface="Arial" panose="020B0604020202020204" pitchFamily="34" charset="0"/>
                        <a:buChar char="•"/>
                      </a:pPr>
                      <a:r>
                        <a:rPr lang="zh-CN" altLang="en-US" sz="1600" dirty="0">
                          <a:solidFill>
                            <a:schemeClr val="bg1"/>
                          </a:solidFill>
                        </a:rPr>
                        <a:t>客户信息子系统</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M:2/D:15/Q:2/S:1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90</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600" dirty="0">
                          <a:solidFill>
                            <a:schemeClr val="bg1"/>
                          </a:solidFill>
                        </a:rPr>
                        <a:t>…</a:t>
                      </a:r>
                      <a:endParaRPr lang="zh-CN" altLang="en-US"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600" dirty="0">
                          <a:solidFill>
                            <a:schemeClr val="bg1"/>
                          </a:solidFill>
                        </a:rPr>
                        <a:t>总计</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gridSpan="4">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solidFill>
                  <a:schemeClr val="bg1"/>
                </a:solidFill>
              </a:rPr>
              <a:t>M: Manager</a:t>
            </a:r>
          </a:p>
          <a:p>
            <a:pPr algn="r"/>
            <a:r>
              <a:rPr lang="en-US" altLang="zh-CN" sz="1400" dirty="0">
                <a:solidFill>
                  <a:schemeClr val="bg1"/>
                </a:solidFill>
              </a:rPr>
              <a:t>D: Developer</a:t>
            </a:r>
          </a:p>
          <a:p>
            <a:pPr algn="r"/>
            <a:r>
              <a:rPr lang="en-US" altLang="zh-CN" sz="1400" dirty="0">
                <a:solidFill>
                  <a:schemeClr val="bg1"/>
                </a:solidFill>
              </a:rPr>
              <a:t>Q: Quality Assurance</a:t>
            </a:r>
          </a:p>
          <a:p>
            <a:pPr algn="r"/>
            <a:r>
              <a:rPr lang="en-US" altLang="zh-CN" sz="1400" dirty="0">
                <a:solidFill>
                  <a:schemeClr val="bg1"/>
                </a:solidFill>
              </a:rPr>
              <a:t>S: System Architect / Senior</a:t>
            </a:r>
            <a:endParaRPr lang="zh-CN" altLang="en-US" sz="1400" dirty="0">
              <a:solidFill>
                <a:schemeClr val="bg1"/>
              </a:solidFill>
            </a:endParaRPr>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solidFill>
                  <a:srgbClr val="FFFF00"/>
                </a:solidFill>
              </a:rPr>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2716714813"/>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bg1"/>
                          </a:solidFill>
                        </a:rPr>
                        <a:t>三角分布</a:t>
                      </a:r>
                      <a:endParaRPr lang="zh-CN" altLang="en-US"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pl-PL" altLang="zh-CN" sz="2400" b="0" baseline="-25000" dirty="0">
                          <a:solidFill>
                            <a:schemeClr val="bg1"/>
                          </a:solidFill>
                        </a:rPr>
                        <a:t>E</a:t>
                      </a:r>
                      <a:r>
                        <a:rPr lang="pl-PL"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M</a:t>
                      </a:r>
                      <a:r>
                        <a:rPr lang="pl-PL" altLang="zh-CN" sz="2400" b="0" dirty="0">
                          <a:solidFill>
                            <a:schemeClr val="bg1"/>
                          </a:solidFill>
                        </a:rPr>
                        <a:t> </a:t>
                      </a:r>
                      <a:r>
                        <a:rPr lang="zh-CN" altLang="en-US" sz="2400" b="0" dirty="0">
                          <a:solidFill>
                            <a:schemeClr val="bg1"/>
                          </a:solidFill>
                        </a:rPr>
                        <a:t> </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P</a:t>
                      </a:r>
                      <a:r>
                        <a:rPr lang="pl-PL" altLang="zh-CN" sz="2400" b="0" dirty="0">
                          <a:solidFill>
                            <a:schemeClr val="bg1"/>
                          </a:solidFill>
                        </a:rPr>
                        <a:t>) / 3</a:t>
                      </a:r>
                      <a:endParaRPr lang="zh-CN" altLang="en-US" sz="24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bg1"/>
                          </a:solidFill>
                        </a:rPr>
                        <a:t>贝塔分布</a:t>
                      </a:r>
                      <a:endParaRPr lang="zh-CN" altLang="en-US"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en-US" altLang="zh-CN" sz="2400" b="0" baseline="-25000" dirty="0">
                          <a:solidFill>
                            <a:schemeClr val="bg1"/>
                          </a:solidFill>
                        </a:rPr>
                        <a:t>E</a:t>
                      </a:r>
                      <a:r>
                        <a:rPr lang="en-US"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en-US" altLang="zh-CN" sz="2400" b="0" dirty="0">
                          <a:solidFill>
                            <a:schemeClr val="bg1"/>
                          </a:solidFill>
                        </a:rPr>
                        <a:t> + 4 C</a:t>
                      </a:r>
                      <a:r>
                        <a:rPr lang="en-US" altLang="zh-CN" sz="2400" b="0" baseline="-25000" dirty="0">
                          <a:solidFill>
                            <a:schemeClr val="bg1"/>
                          </a:solidFill>
                        </a:rPr>
                        <a:t>M</a:t>
                      </a:r>
                      <a:r>
                        <a:rPr lang="en-US" altLang="zh-CN" sz="2400" b="0" dirty="0">
                          <a:solidFill>
                            <a:schemeClr val="bg1"/>
                          </a:solidFill>
                        </a:rPr>
                        <a:t> + C</a:t>
                      </a:r>
                      <a:r>
                        <a:rPr lang="en-US" altLang="zh-CN" sz="2400" b="0" baseline="-25000" dirty="0">
                          <a:solidFill>
                            <a:schemeClr val="bg1"/>
                          </a:solidFill>
                        </a:rPr>
                        <a:t>P</a:t>
                      </a:r>
                      <a:r>
                        <a:rPr lang="en-US" altLang="zh-CN" sz="2400" b="0" dirty="0">
                          <a:solidFill>
                            <a:schemeClr val="bg1"/>
                          </a:solidFill>
                        </a:rPr>
                        <a:t>) / 6</a:t>
                      </a:r>
                      <a:endParaRPr lang="zh-CN" altLang="en-US" sz="2400"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104959536"/>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Round 1</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600" b="0" dirty="0">
                          <a:solidFill>
                            <a:schemeClr val="bg1"/>
                          </a:solidFill>
                        </a:rPr>
                        <a:t>专家</a:t>
                      </a: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O</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M</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P</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600" b="0" dirty="0">
                          <a:solidFill>
                            <a:schemeClr val="bg1"/>
                          </a:solidFill>
                        </a:rPr>
                        <a:t>专家</a:t>
                      </a:r>
                      <a:r>
                        <a:rPr lang="en-US" altLang="zh-CN" sz="1600" b="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dirty="0">
                          <a:solidFill>
                            <a:schemeClr val="bg1"/>
                          </a:solidFill>
                        </a:rPr>
                        <a:t>600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800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1200</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973779920"/>
                  </a:ext>
                </a:extLst>
              </a:tr>
              <a:tr h="365760">
                <a:tc>
                  <a:txBody>
                    <a:bodyPr/>
                    <a:lstStyle/>
                    <a:p>
                      <a:pPr algn="l">
                        <a:buNone/>
                      </a:pPr>
                      <a:r>
                        <a:rPr lang="zh-CN" altLang="en-US" sz="1600" b="0">
                          <a:solidFill>
                            <a:schemeClr val="bg1"/>
                          </a:solidFill>
                        </a:rPr>
                        <a:t>专家</a:t>
                      </a:r>
                      <a:r>
                        <a:rPr lang="en-US" altLang="zh-CN" sz="1600" b="0">
                          <a:solidFill>
                            <a:schemeClr val="bg1"/>
                          </a:solidFill>
                        </a:rPr>
                        <a:t>2</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a:solidFill>
                            <a:schemeClr val="bg1"/>
                          </a:solidFill>
                        </a:rPr>
                        <a:t>900</a:t>
                      </a:r>
                    </a:p>
                  </a:txBody>
                  <a:tcPr anchor="ctr">
                    <a:lnL>
                      <a:noFill/>
                    </a:lnL>
                    <a:lnR>
                      <a:noFill/>
                    </a:lnR>
                    <a:lnT>
                      <a:noFill/>
                    </a:lnT>
                    <a:lnB>
                      <a:noFill/>
                    </a:lnB>
                    <a:noFill/>
                  </a:tcPr>
                </a:tc>
                <a:tc>
                  <a:txBody>
                    <a:bodyPr/>
                    <a:lstStyle/>
                    <a:p>
                      <a:pPr algn="l">
                        <a:buNone/>
                      </a:pPr>
                      <a:r>
                        <a:rPr lang="en-US" altLang="zh-CN" sz="1600" b="0">
                          <a:solidFill>
                            <a:schemeClr val="bg1"/>
                          </a:solidFill>
                        </a:rPr>
                        <a:t>1500</a:t>
                      </a:r>
                    </a:p>
                  </a:txBody>
                  <a:tcPr anchor="ctr">
                    <a:lnL>
                      <a:noFill/>
                    </a:lnL>
                    <a:lnR>
                      <a:noFill/>
                    </a:lnR>
                    <a:lnT>
                      <a:noFill/>
                    </a:lnT>
                    <a:lnB>
                      <a:noFill/>
                    </a:lnB>
                    <a:noFill/>
                  </a:tcPr>
                </a:tc>
                <a:extLst>
                  <a:ext uri="{0D108BD9-81ED-4DB2-BD59-A6C34878D82A}">
                    <a16:rowId xmlns:a16="http://schemas.microsoft.com/office/drawing/2014/main" val="2005151521"/>
                  </a:ext>
                </a:extLst>
              </a:tr>
              <a:tr h="365760">
                <a:tc>
                  <a:txBody>
                    <a:bodyPr/>
                    <a:lstStyle/>
                    <a:p>
                      <a:pPr algn="l">
                        <a:buNone/>
                      </a:pPr>
                      <a:r>
                        <a:rPr lang="zh-CN" altLang="en-US" sz="1600" b="0">
                          <a:solidFill>
                            <a:schemeClr val="bg1"/>
                          </a:solidFill>
                        </a:rPr>
                        <a:t>专家</a:t>
                      </a:r>
                      <a:r>
                        <a:rPr lang="en-US" altLang="zh-CN" sz="1600" b="0">
                          <a:solidFill>
                            <a:schemeClr val="bg1"/>
                          </a:solidFill>
                        </a:rPr>
                        <a:t>3</a:t>
                      </a:r>
                    </a:p>
                  </a:txBody>
                  <a:tcPr anchor="ctr">
                    <a:lnL>
                      <a:noFill/>
                    </a:lnL>
                    <a:lnR>
                      <a:noFill/>
                    </a:lnR>
                    <a:lnT>
                      <a:noFill/>
                    </a:lnT>
                    <a:lnB>
                      <a:noFill/>
                    </a:lnB>
                    <a:noFill/>
                  </a:tcPr>
                </a:tc>
                <a:tc>
                  <a:txBody>
                    <a:bodyPr/>
                    <a:lstStyle/>
                    <a:p>
                      <a:pPr algn="l">
                        <a:buNone/>
                      </a:pPr>
                      <a:r>
                        <a:rPr lang="en-US" altLang="zh-CN" sz="1600" b="0">
                          <a:solidFill>
                            <a:schemeClr val="bg1"/>
                          </a:solidFill>
                        </a:rPr>
                        <a:t>500</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dirty="0">
                          <a:solidFill>
                            <a:schemeClr val="bg1"/>
                          </a:solidFill>
                        </a:rPr>
                        <a:t>1000</a:t>
                      </a:r>
                    </a:p>
                  </a:txBody>
                  <a:tcPr anchor="ctr">
                    <a:lnL>
                      <a:noFill/>
                    </a:lnL>
                    <a:lnR>
                      <a:noFill/>
                    </a:lnR>
                    <a:lnT>
                      <a:noFill/>
                    </a:lnT>
                    <a:lnB>
                      <a:noFill/>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31539057"/>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b="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b="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0495986"/>
                  </a:ext>
                </a:extLst>
              </a:tr>
              <a:tr h="370840">
                <a:tc>
                  <a:txBody>
                    <a:bodyPr/>
                    <a:lstStyle/>
                    <a:p>
                      <a:r>
                        <a:rPr lang="en-US" altLang="zh-CN" b="0" dirty="0">
                          <a:solidFill>
                            <a:schemeClr val="bg1"/>
                          </a:solidFill>
                        </a:rPr>
                        <a:t>Fibonacci</a:t>
                      </a:r>
                      <a:endParaRPr lang="zh-CN" altLang="en-US"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0 1 2 3 5 8 </a:t>
                      </a:r>
                      <a:r>
                        <a:rPr lang="en-US" altLang="zh-CN" b="0" dirty="0">
                          <a:solidFill>
                            <a:srgbClr val="FFFF00"/>
                          </a:solidFill>
                        </a:rPr>
                        <a:t>13</a:t>
                      </a:r>
                      <a:endParaRPr lang="zh-CN" altLang="en-US"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b="0" dirty="0">
                          <a:solidFill>
                            <a:schemeClr val="bg1"/>
                          </a:solidFill>
                        </a:rPr>
                        <a:t>2</a:t>
                      </a:r>
                      <a:r>
                        <a:rPr lang="en-US" altLang="zh-CN" b="0" baseline="30000" dirty="0">
                          <a:solidFill>
                            <a:schemeClr val="bg1"/>
                          </a:solidFill>
                        </a:rPr>
                        <a:t>n</a:t>
                      </a:r>
                      <a:endParaRPr lang="zh-CN" altLang="en-US" b="0" baseline="3000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0 1 2 4 8 16 32 64 128 256 512</a:t>
                      </a:r>
                      <a:endParaRPr lang="zh-CN" altLang="en-US"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Start </a:t>
            </a:r>
            <a:endParaRPr lang="zh-CN" altLang="en-US" sz="1400" dirty="0">
              <a:solidFill>
                <a:schemeClr val="bg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选择预估为</a:t>
            </a:r>
            <a:r>
              <a:rPr lang="en-US" altLang="zh-CN" sz="1400" dirty="0">
                <a:solidFill>
                  <a:srgbClr val="FFFF00"/>
                </a:solidFill>
              </a:rPr>
              <a:t>3</a:t>
            </a:r>
            <a:r>
              <a:rPr lang="zh-CN" altLang="en-US" sz="1400" dirty="0">
                <a:solidFill>
                  <a:schemeClr val="bg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5</a:t>
            </a:r>
            <a:endParaRPr lang="zh-CN" altLang="en-US" sz="1400" dirty="0">
              <a:solidFill>
                <a:srgbClr val="FFFF00"/>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2</a:t>
            </a:r>
            <a:endParaRPr lang="zh-CN" altLang="en-US" sz="1400" dirty="0">
              <a:solidFill>
                <a:srgbClr val="FFFF00"/>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p:spPr>
        <p:txBody>
          <a:bodyPr wrap="none" rtlCol="0">
            <a:spAutoFit/>
          </a:bodyPr>
          <a:lstStyle/>
          <a:p>
            <a:pPr algn="l"/>
            <a:r>
              <a:rPr lang="zh-CN" altLang="en-US" sz="1400" dirty="0">
                <a:solidFill>
                  <a:schemeClr val="bg1"/>
                </a:solidFill>
              </a:rPr>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p:spPr>
        <p:txBody>
          <a:bodyPr wrap="none" rtlCol="0">
            <a:spAutoFit/>
          </a:bodyPr>
          <a:lstStyle/>
          <a:p>
            <a:pPr algn="l"/>
            <a:r>
              <a:rPr lang="zh-CN" altLang="en-US" sz="1400" dirty="0">
                <a:solidFill>
                  <a:schemeClr val="bg1"/>
                </a:solidFill>
              </a:rPr>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13</a:t>
            </a:r>
            <a:endParaRPr lang="zh-CN" altLang="en-US" sz="1400" dirty="0">
              <a:solidFill>
                <a:srgbClr val="FFFF00"/>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0</a:t>
            </a:r>
            <a:endParaRPr lang="zh-CN" altLang="en-US" sz="1400" dirty="0">
              <a:solidFill>
                <a:srgbClr val="FFFF00"/>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p:spPr>
        <p:txBody>
          <a:bodyPr vert="eaVert" wrap="none" rtlCol="0">
            <a:spAutoFit/>
          </a:bodyPr>
          <a:lstStyle/>
          <a:p>
            <a:pPr algn="l"/>
            <a:r>
              <a:rPr lang="zh-CN" altLang="en-US" sz="1400" dirty="0">
                <a:solidFill>
                  <a:schemeClr val="bg1"/>
                </a:solidFill>
              </a:rPr>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8</a:t>
            </a:r>
            <a:endParaRPr lang="zh-CN" altLang="en-US" sz="1400" dirty="0">
              <a:solidFill>
                <a:srgbClr val="FFFF00"/>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a:t>
            </a:r>
            <a:endParaRPr lang="zh-CN" altLang="en-US" sz="1400" dirty="0">
              <a:solidFill>
                <a:srgbClr val="FFFF00"/>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solidFill>
                  <a:schemeClr val="bg1"/>
                </a:solidFill>
              </a:rPr>
              <a:t>单选题 </a:t>
            </a:r>
            <a:r>
              <a:rPr lang="en-US" altLang="zh-CN" sz="2000" dirty="0">
                <a:solidFill>
                  <a:schemeClr val="bg1"/>
                </a:solidFill>
              </a:rPr>
              <a:t>Multiple Choice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solidFill>
                  <a:schemeClr val="bg1"/>
                </a:solidFill>
              </a:rPr>
              <a:t>假设某项目的注册功能为 </a:t>
            </a:r>
            <a:r>
              <a:rPr lang="en-US" altLang="zh-CN" dirty="0">
                <a:solidFill>
                  <a:schemeClr val="bg1"/>
                </a:solidFill>
              </a:rPr>
              <a:t>3 </a:t>
            </a:r>
            <a:r>
              <a:rPr lang="zh-CN" altLang="en-US" dirty="0">
                <a:solidFill>
                  <a:schemeClr val="bg1"/>
                </a:solidFill>
              </a:rPr>
              <a:t>个 </a:t>
            </a:r>
            <a:r>
              <a:rPr lang="en-US" altLang="zh-CN" dirty="0">
                <a:solidFill>
                  <a:schemeClr val="bg1"/>
                </a:solidFill>
              </a:rPr>
              <a:t>story points</a:t>
            </a:r>
            <a:r>
              <a:rPr lang="zh-CN" altLang="en-US" dirty="0">
                <a:solidFill>
                  <a:schemeClr val="bg1"/>
                </a:solidFill>
              </a:rPr>
              <a:t>；其中成绩录入工作量比注册功能工作量略多，如果采用 </a:t>
            </a:r>
            <a:r>
              <a:rPr lang="en-US" altLang="zh-CN" dirty="0">
                <a:solidFill>
                  <a:schemeClr val="bg1"/>
                </a:solidFill>
              </a:rPr>
              <a:t>Fibonacci </a:t>
            </a:r>
            <a:r>
              <a:rPr lang="zh-CN" altLang="en-US" dirty="0">
                <a:solidFill>
                  <a:schemeClr val="bg1"/>
                </a:solidFill>
              </a:rPr>
              <a:t>等级标准估算的话</a:t>
            </a:r>
            <a:r>
              <a:rPr lang="en-US" altLang="zh-CN" dirty="0">
                <a:solidFill>
                  <a:schemeClr val="bg1"/>
                </a:solidFill>
              </a:rPr>
              <a:t>,</a:t>
            </a:r>
            <a:r>
              <a:rPr lang="zh-CN" altLang="en-US" dirty="0">
                <a:solidFill>
                  <a:schemeClr val="bg1"/>
                </a:solidFill>
              </a:rPr>
              <a:t>，成绩录入功能的估算值是</a:t>
            </a:r>
            <a:r>
              <a:rPr lang="en-US" altLang="zh-CN" dirty="0">
                <a:solidFill>
                  <a:schemeClr val="bg1"/>
                </a:solidFill>
              </a:rPr>
              <a:t>( )</a:t>
            </a:r>
          </a:p>
          <a:p>
            <a:pPr>
              <a:spcAft>
                <a:spcPts val="600"/>
              </a:spcAft>
            </a:pPr>
            <a:r>
              <a:rPr lang="en-US" altLang="zh-CN" dirty="0">
                <a:solidFill>
                  <a:schemeClr val="bg1"/>
                </a:solidFill>
              </a:rPr>
              <a:t>A. 5 </a:t>
            </a:r>
            <a:r>
              <a:rPr lang="zh-CN" altLang="en-US" dirty="0">
                <a:solidFill>
                  <a:schemeClr val="bg1"/>
                </a:solidFill>
              </a:rPr>
              <a:t>个 </a:t>
            </a:r>
            <a:r>
              <a:rPr lang="en-US" altLang="zh-CN" dirty="0">
                <a:solidFill>
                  <a:schemeClr val="bg1"/>
                </a:solidFill>
              </a:rPr>
              <a:t>story points</a:t>
            </a:r>
          </a:p>
          <a:p>
            <a:pPr>
              <a:spcAft>
                <a:spcPts val="600"/>
              </a:spcAft>
            </a:pPr>
            <a:r>
              <a:rPr lang="en-US" altLang="zh-CN" dirty="0">
                <a:solidFill>
                  <a:schemeClr val="bg1"/>
                </a:solidFill>
              </a:rPr>
              <a:t>B. 4 </a:t>
            </a:r>
            <a:r>
              <a:rPr lang="zh-CN" altLang="en-US" dirty="0">
                <a:solidFill>
                  <a:schemeClr val="bg1"/>
                </a:solidFill>
              </a:rPr>
              <a:t>个 </a:t>
            </a:r>
            <a:r>
              <a:rPr lang="en-US" altLang="zh-CN" dirty="0">
                <a:solidFill>
                  <a:schemeClr val="bg1"/>
                </a:solidFill>
              </a:rPr>
              <a:t>story points</a:t>
            </a:r>
          </a:p>
          <a:p>
            <a:pPr>
              <a:spcAft>
                <a:spcPts val="600"/>
              </a:spcAft>
            </a:pPr>
            <a:r>
              <a:rPr lang="en-US" altLang="zh-CN" dirty="0">
                <a:solidFill>
                  <a:schemeClr val="bg1"/>
                </a:solidFill>
              </a:rPr>
              <a:t>C. 6 </a:t>
            </a:r>
            <a:r>
              <a:rPr lang="zh-CN" altLang="en-US" dirty="0">
                <a:solidFill>
                  <a:schemeClr val="bg1"/>
                </a:solidFill>
              </a:rPr>
              <a:t>个 </a:t>
            </a:r>
            <a:r>
              <a:rPr lang="en-US" altLang="zh-CN" dirty="0">
                <a:solidFill>
                  <a:schemeClr val="bg1"/>
                </a:solidFill>
              </a:rPr>
              <a:t>story points</a:t>
            </a:r>
          </a:p>
          <a:p>
            <a:pPr>
              <a:spcAft>
                <a:spcPts val="600"/>
              </a:spcAft>
            </a:pPr>
            <a:r>
              <a:rPr lang="en-US" altLang="zh-CN" dirty="0">
                <a:solidFill>
                  <a:schemeClr val="bg1"/>
                </a:solidFill>
              </a:rPr>
              <a:t>D. 7 </a:t>
            </a:r>
            <a:r>
              <a:rPr lang="zh-CN" altLang="en-US" dirty="0">
                <a:solidFill>
                  <a:schemeClr val="bg1"/>
                </a:solidFill>
              </a:rPr>
              <a:t>个 </a:t>
            </a:r>
            <a:r>
              <a:rPr lang="en-US" altLang="zh-CN" dirty="0">
                <a:solidFill>
                  <a:schemeClr val="bg1"/>
                </a:solidFill>
              </a:rPr>
              <a:t>story points </a:t>
            </a:r>
            <a:endParaRPr lang="zh-CN" altLang="en-US" dirty="0">
              <a:solidFill>
                <a:schemeClr val="bg1"/>
              </a:solidFill>
            </a:endParaRPr>
          </a:p>
        </p:txBody>
      </p:sp>
    </p:spTree>
    <p:extLst>
      <p:ext uri="{BB962C8B-B14F-4D97-AF65-F5344CB8AC3E}">
        <p14:creationId xmlns:p14="http://schemas.microsoft.com/office/powerpoint/2010/main" val="243822316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695998"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380882718"/>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bg1"/>
                          </a:solidFill>
                        </a:rPr>
                        <a:t>XS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很小 </a:t>
                      </a:r>
                      <a:r>
                        <a:rPr lang="en-US" sz="1600" dirty="0">
                          <a:solidFill>
                            <a:schemeClr val="bg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8</a:t>
                      </a:r>
                      <a:r>
                        <a:rPr lang="zh-CN" altLang="en-US" sz="1600" dirty="0">
                          <a:solidFill>
                            <a:schemeClr val="bg1"/>
                          </a:solidFill>
                        </a:rPr>
                        <a:t>小时（</a:t>
                      </a:r>
                      <a:r>
                        <a:rPr lang="en-US" altLang="zh-CN" sz="1600" dirty="0">
                          <a:solidFill>
                            <a:schemeClr val="bg1"/>
                          </a:solidFill>
                        </a:rPr>
                        <a:t>1</a:t>
                      </a:r>
                      <a:r>
                        <a:rPr lang="zh-CN" altLang="en-US" sz="1600" dirty="0">
                          <a:solidFill>
                            <a:schemeClr val="bg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bg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较小 </a:t>
                      </a:r>
                      <a:r>
                        <a:rPr lang="en-US" sz="1600" dirty="0">
                          <a:solidFill>
                            <a:schemeClr val="bg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16</a:t>
                      </a:r>
                      <a:r>
                        <a:rPr lang="zh-CN" altLang="en-US" sz="1600" dirty="0">
                          <a:solidFill>
                            <a:schemeClr val="bg1"/>
                          </a:solidFill>
                        </a:rPr>
                        <a:t>小时（</a:t>
                      </a:r>
                      <a:r>
                        <a:rPr lang="en-US" altLang="zh-CN" sz="1600" dirty="0">
                          <a:solidFill>
                            <a:schemeClr val="bg1"/>
                          </a:solidFill>
                        </a:rPr>
                        <a:t>2</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bg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中等 </a:t>
                      </a:r>
                      <a:r>
                        <a:rPr lang="en-US" sz="1600" dirty="0">
                          <a:solidFill>
                            <a:schemeClr val="bg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24</a:t>
                      </a:r>
                      <a:r>
                        <a:rPr lang="zh-CN" altLang="en-US" sz="1600" dirty="0">
                          <a:solidFill>
                            <a:schemeClr val="bg1"/>
                          </a:solidFill>
                        </a:rPr>
                        <a:t>小时（</a:t>
                      </a:r>
                      <a:r>
                        <a:rPr lang="en-US" altLang="zh-CN" sz="1600" dirty="0">
                          <a:solidFill>
                            <a:schemeClr val="bg1"/>
                          </a:solidFill>
                        </a:rPr>
                        <a:t>3</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bg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较大 </a:t>
                      </a:r>
                      <a:r>
                        <a:rPr lang="en-US" sz="1600" dirty="0">
                          <a:solidFill>
                            <a:schemeClr val="bg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40</a:t>
                      </a:r>
                      <a:r>
                        <a:rPr lang="zh-CN" altLang="en-US" sz="1600" dirty="0">
                          <a:solidFill>
                            <a:schemeClr val="bg1"/>
                          </a:solidFill>
                        </a:rPr>
                        <a:t>小时（</a:t>
                      </a:r>
                      <a:r>
                        <a:rPr lang="en-US" altLang="zh-CN" sz="1600" dirty="0">
                          <a:solidFill>
                            <a:schemeClr val="bg1"/>
                          </a:solidFill>
                        </a:rPr>
                        <a:t>5</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bg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64</a:t>
                      </a:r>
                      <a:r>
                        <a:rPr lang="zh-CN" altLang="en-US" sz="1600" dirty="0">
                          <a:solidFill>
                            <a:schemeClr val="bg1"/>
                          </a:solidFill>
                        </a:rPr>
                        <a:t>小时以上（</a:t>
                      </a:r>
                      <a:r>
                        <a:rPr lang="en-US" altLang="zh-CN" sz="1600" dirty="0">
                          <a:solidFill>
                            <a:schemeClr val="bg1"/>
                          </a:solidFill>
                        </a:rPr>
                        <a:t>8</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bg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巨大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104</a:t>
                      </a:r>
                      <a:r>
                        <a:rPr lang="zh-CN" altLang="en-US" sz="1600" dirty="0">
                          <a:solidFill>
                            <a:schemeClr val="bg1"/>
                          </a:solidFill>
                        </a:rPr>
                        <a:t>小时以上（</a:t>
                      </a:r>
                      <a:r>
                        <a:rPr lang="en-US" altLang="zh-CN" sz="1600" dirty="0">
                          <a:solidFill>
                            <a:schemeClr val="bg1"/>
                          </a:solidFill>
                        </a:rPr>
                        <a:t>13</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634506815"/>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rgbClr val="FFFF00"/>
                          </a:solidFill>
                        </a:rPr>
                        <a:t>Step 0 </a:t>
                      </a:r>
                      <a:r>
                        <a:rPr lang="zh-CN" altLang="en-US" sz="1600" dirty="0">
                          <a:solidFill>
                            <a:schemeClr val="bg1"/>
                          </a:solidFill>
                        </a:rPr>
                        <a:t>准备用户故事</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2832441258"/>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rgbClr val="FFFF00"/>
                          </a:solidFill>
                        </a:rPr>
                        <a:t>Step 1 </a:t>
                      </a:r>
                      <a:r>
                        <a:rPr lang="zh-CN" altLang="en-US" sz="1600" dirty="0">
                          <a:solidFill>
                            <a:schemeClr val="bg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solidFill>
                  <a:schemeClr val="bg1"/>
                </a:solidFill>
              </a:rPr>
              <a:t>Standing-by Area</a:t>
            </a:r>
            <a:endParaRPr lang="zh-CN" altLang="en-US" sz="1400" dirty="0">
              <a:solidFill>
                <a:schemeClr val="bg1"/>
              </a:solidFill>
            </a:endParaRPr>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solidFill>
                  <a:schemeClr val="bg1"/>
                </a:solidFill>
              </a:rPr>
              <a:t>Story Area</a:t>
            </a:r>
            <a:endParaRPr lang="zh-CN" altLang="en-US" sz="1400" dirty="0">
              <a:solidFill>
                <a:schemeClr val="bg1"/>
              </a:solidFill>
            </a:endParaRPr>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solidFill>
                  <a:schemeClr val="bg1"/>
                </a:solidFill>
              </a:rPr>
              <a:t>Story Point Area</a:t>
            </a:r>
            <a:endParaRPr lang="zh-CN" altLang="en-US" sz="1400" dirty="0">
              <a:solidFill>
                <a:schemeClr val="bg1"/>
              </a:solidFill>
            </a:endParaRPr>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675648177"/>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solidFill>
                            <a:srgbClr val="FFFF00"/>
                          </a:solidFill>
                        </a:rPr>
                        <a:t>Step 2 </a:t>
                      </a:r>
                      <a:r>
                        <a:rPr lang="zh-CN" altLang="en-US" sz="1600" dirty="0">
                          <a:solidFill>
                            <a:schemeClr val="bg1"/>
                          </a:solidFill>
                        </a:rPr>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202401">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1043197247"/>
              </p:ext>
            </p:extLst>
          </p:nvPr>
        </p:nvGraphicFramePr>
        <p:xfrm>
          <a:off x="2856000" y="2173200"/>
          <a:ext cx="7560000" cy="329184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solidFill>
                            <a:srgbClr val="FFFF00"/>
                          </a:solidFill>
                        </a:rPr>
                        <a:t>Step 3 </a:t>
                      </a:r>
                      <a:r>
                        <a:rPr lang="zh-CN" altLang="en-US" sz="1600" dirty="0">
                          <a:solidFill>
                            <a:schemeClr val="bg1"/>
                          </a:solidFill>
                        </a:rPr>
                        <a:t>统计估算；每列的故事点</a:t>
                      </a:r>
                      <a:r>
                        <a:rPr lang="en-US" altLang="zh-CN" sz="1600" dirty="0">
                          <a:solidFill>
                            <a:schemeClr val="bg1"/>
                          </a:solidFill>
                        </a:rPr>
                        <a:t>/</a:t>
                      </a:r>
                      <a:r>
                        <a:rPr lang="zh-CN" altLang="en-US" sz="1600" dirty="0">
                          <a:solidFill>
                            <a:schemeClr val="bg1"/>
                          </a:solidFill>
                        </a:rPr>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18351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rgbClr val="FFFF00"/>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solidFill>
                            <a:schemeClr val="bg1"/>
                          </a:solidFill>
                        </a:rPr>
                        <a:t>1</a:t>
                      </a:r>
                      <a:r>
                        <a:rPr lang="en-US" altLang="zh-CN" sz="1600" dirty="0">
                          <a:solidFill>
                            <a:schemeClr val="bg1"/>
                          </a:solidFill>
                        </a:rPr>
                        <a:t>×1=1</a:t>
                      </a:r>
                      <a:endParaRPr lang="en-US" sz="1600" dirty="0">
                        <a:solidFill>
                          <a:schemeClr val="bg1"/>
                        </a:solidFill>
                      </a:endParaRPr>
                    </a:p>
                  </a:txBody>
                  <a:tcPr anchor="ctr">
                    <a:lnL w="6350" cap="flat" cmpd="sng" algn="ctr">
                      <a:no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solidFill>
                            <a:schemeClr val="bg1"/>
                          </a:solidFill>
                        </a:rPr>
                        <a:t>2</a:t>
                      </a:r>
                      <a:r>
                        <a:rPr lang="en-US" altLang="zh-CN" sz="1600" dirty="0">
                          <a:solidFill>
                            <a:schemeClr val="bg1"/>
                          </a:solidFill>
                        </a:rPr>
                        <a:t>×1=2</a:t>
                      </a:r>
                      <a:endParaRPr 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3×2=6</a:t>
                      </a: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5×1=5</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8×2=16</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13×3=39</a:t>
                      </a:r>
                      <a:endParaRPr lang="zh-CN" altLang="en-US"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solidFill>
                  <a:srgbClr val="FFFF00"/>
                </a:solidFill>
              </a:rPr>
              <a:t>Total = 69</a:t>
            </a:r>
            <a:endParaRPr lang="zh-CN" altLang="en-US" sz="1600" dirty="0">
              <a:solidFill>
                <a:srgbClr val="FFFF00"/>
              </a:solidFill>
            </a:endParaRPr>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1</a:t>
            </a:r>
          </a:p>
          <a:p>
            <a:pPr algn="ctr"/>
            <a:endParaRPr lang="en-US" altLang="zh-CN" sz="1600" dirty="0">
              <a:solidFill>
                <a:schemeClr val="bg1"/>
              </a:solidFill>
            </a:endParaRPr>
          </a:p>
          <a:p>
            <a:pPr algn="ctr"/>
            <a:r>
              <a:rPr lang="en-US" altLang="zh-CN" sz="1600" dirty="0">
                <a:solidFill>
                  <a:schemeClr val="bg1"/>
                </a:solidFill>
              </a:rPr>
              <a:t>Distribute the Cards</a:t>
            </a:r>
            <a:endParaRPr lang="zh-CN" altLang="en-US" sz="1600" dirty="0">
              <a:solidFill>
                <a:schemeClr val="bg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2</a:t>
            </a:r>
          </a:p>
          <a:p>
            <a:pPr algn="ctr"/>
            <a:endParaRPr lang="en-US" altLang="zh-CN" sz="1600" dirty="0">
              <a:solidFill>
                <a:schemeClr val="bg1"/>
              </a:solidFill>
            </a:endParaRPr>
          </a:p>
          <a:p>
            <a:pPr algn="ctr"/>
            <a:r>
              <a:rPr lang="en-US" altLang="zh-CN" sz="1600" dirty="0">
                <a:solidFill>
                  <a:schemeClr val="bg1"/>
                </a:solidFill>
              </a:rPr>
              <a:t>Present the Story </a:t>
            </a:r>
            <a:endParaRPr lang="zh-CN" altLang="en-US" sz="1600" dirty="0">
              <a:solidFill>
                <a:schemeClr val="bg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3</a:t>
            </a:r>
          </a:p>
          <a:p>
            <a:pPr algn="ctr"/>
            <a:endParaRPr lang="en-US" altLang="zh-CN" sz="1600" dirty="0">
              <a:solidFill>
                <a:schemeClr val="bg1"/>
              </a:solidFill>
            </a:endParaRPr>
          </a:p>
          <a:p>
            <a:pPr algn="ctr"/>
            <a:r>
              <a:rPr lang="en-US" altLang="zh-CN" sz="1600" dirty="0">
                <a:solidFill>
                  <a:schemeClr val="bg1"/>
                </a:solidFill>
              </a:rPr>
              <a:t>Facilitate Discussion</a:t>
            </a:r>
            <a:endParaRPr lang="zh-CN" altLang="en-US" sz="1600" dirty="0">
              <a:solidFill>
                <a:schemeClr val="bg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4</a:t>
            </a:r>
          </a:p>
          <a:p>
            <a:pPr algn="ctr"/>
            <a:endParaRPr lang="en-US" altLang="zh-CN" sz="1600" dirty="0">
              <a:solidFill>
                <a:schemeClr val="bg1"/>
              </a:solidFill>
            </a:endParaRPr>
          </a:p>
          <a:p>
            <a:pPr algn="ctr"/>
            <a:r>
              <a:rPr lang="en-US" altLang="zh-CN" sz="1600" dirty="0">
                <a:solidFill>
                  <a:schemeClr val="bg1"/>
                </a:solidFill>
              </a:rPr>
              <a:t>Estimate and Disclose</a:t>
            </a:r>
            <a:endParaRPr lang="zh-CN" altLang="en-US" sz="1600" dirty="0">
              <a:solidFill>
                <a:schemeClr val="bg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5</a:t>
            </a:r>
          </a:p>
          <a:p>
            <a:pPr algn="ctr"/>
            <a:endParaRPr lang="en-US" altLang="zh-CN" sz="1600" dirty="0">
              <a:solidFill>
                <a:schemeClr val="bg1"/>
              </a:solidFill>
            </a:endParaRPr>
          </a:p>
          <a:p>
            <a:pPr algn="ctr"/>
            <a:r>
              <a:rPr lang="en-US" altLang="zh-CN" sz="1600" dirty="0">
                <a:solidFill>
                  <a:schemeClr val="bg1"/>
                </a:solidFill>
              </a:rPr>
              <a:t>Strive for Agreement</a:t>
            </a:r>
            <a:endParaRPr lang="zh-CN" altLang="en-US" sz="1600" dirty="0">
              <a:solidFill>
                <a:schemeClr val="bg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93174612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rgbClr val="FFFF00"/>
                          </a:solidFill>
                        </a:rPr>
                        <a:t>Case 1</a:t>
                      </a:r>
                      <a:r>
                        <a:rPr lang="zh-CN" altLang="en-US" sz="1600" dirty="0">
                          <a:solidFill>
                            <a:schemeClr val="bg1"/>
                          </a:solidFill>
                        </a:rPr>
                        <a:t>：估值分布位于 </a:t>
                      </a:r>
                      <a:r>
                        <a:rPr lang="en-US" altLang="zh-CN" sz="1600" dirty="0">
                          <a:solidFill>
                            <a:schemeClr val="bg1"/>
                          </a:solidFill>
                        </a:rPr>
                        <a:t>3 </a:t>
                      </a:r>
                      <a:r>
                        <a:rPr lang="zh-CN" altLang="en-US" sz="1600" dirty="0">
                          <a:solidFill>
                            <a:schemeClr val="bg1"/>
                          </a:solidFill>
                        </a:rPr>
                        <a:t>个连续区域，则取平均</a:t>
                      </a:r>
                      <a:endParaRPr lang="en-US" altLang="zh-CN" sz="1600" dirty="0">
                        <a:solidFill>
                          <a:schemeClr val="bg1"/>
                        </a:solidFill>
                      </a:endParaRPr>
                    </a:p>
                    <a:p>
                      <a:pPr algn="l">
                        <a:buNone/>
                      </a:pP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prstDash val="soli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bg1"/>
                          </a:solidFill>
                        </a:rPr>
                        <a:t>(3+3+3+5+8)/5=4.4</a:t>
                      </a:r>
                      <a:r>
                        <a:rPr lang="zh-CN" altLang="en-US" sz="1600" dirty="0">
                          <a:solidFill>
                            <a:schemeClr val="bg1"/>
                          </a:solidFill>
                        </a:rPr>
                        <a:t>；取值 </a:t>
                      </a:r>
                      <a:r>
                        <a:rPr lang="en-US" altLang="zh-CN" sz="1600" dirty="0">
                          <a:solidFill>
                            <a:srgbClr val="FFFF00"/>
                          </a:solidFill>
                        </a:rPr>
                        <a:t>5</a:t>
                      </a: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157099606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2</a:t>
                      </a:r>
                      <a:r>
                        <a:rPr lang="zh-CN" altLang="en-US" sz="1600" dirty="0">
                          <a:solidFill>
                            <a:schemeClr val="bg1"/>
                          </a:solidFill>
                        </a:rPr>
                        <a:t>：估值分布超过 </a:t>
                      </a:r>
                      <a:r>
                        <a:rPr lang="en-US" altLang="zh-CN" sz="1600" dirty="0">
                          <a:solidFill>
                            <a:schemeClr val="bg1"/>
                          </a:solidFill>
                        </a:rPr>
                        <a:t>3 </a:t>
                      </a:r>
                      <a:r>
                        <a:rPr lang="zh-CN" altLang="en-US" sz="1600" dirty="0">
                          <a:solidFill>
                            <a:schemeClr val="bg1"/>
                          </a:solidFill>
                        </a:rPr>
                        <a:t>个连续区域，最高估值和最低估值应说明原因并重新亮牌；最多可以重复 </a:t>
                      </a:r>
                      <a:r>
                        <a:rPr lang="en-US" altLang="zh-CN" sz="1600" dirty="0">
                          <a:solidFill>
                            <a:schemeClr val="bg1"/>
                          </a:solidFill>
                        </a:rPr>
                        <a:t>2 </a:t>
                      </a:r>
                      <a:r>
                        <a:rPr lang="zh-CN" altLang="en-US" sz="1600" dirty="0">
                          <a:solidFill>
                            <a:schemeClr val="bg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49611076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3</a:t>
                      </a:r>
                      <a:r>
                        <a:rPr lang="zh-CN" altLang="en-US" sz="1600" dirty="0">
                          <a:solidFill>
                            <a:schemeClr val="bg1"/>
                          </a:solidFill>
                        </a:rPr>
                        <a:t>：第 </a:t>
                      </a:r>
                      <a:r>
                        <a:rPr lang="en-US" altLang="zh-CN" sz="1600" dirty="0">
                          <a:solidFill>
                            <a:schemeClr val="bg1"/>
                          </a:solidFill>
                        </a:rPr>
                        <a:t>3 </a:t>
                      </a:r>
                      <a:r>
                        <a:rPr lang="zh-CN" altLang="en-US" sz="1600" dirty="0">
                          <a:solidFill>
                            <a:schemeClr val="bg1"/>
                          </a:solidFill>
                        </a:rPr>
                        <a:t>次重复亮牌，估值分布依然超过 </a:t>
                      </a:r>
                      <a:r>
                        <a:rPr lang="en-US" altLang="zh-CN" sz="1600" dirty="0">
                          <a:solidFill>
                            <a:schemeClr val="bg1"/>
                          </a:solidFill>
                        </a:rPr>
                        <a:t>3 </a:t>
                      </a:r>
                      <a:r>
                        <a:rPr lang="zh-CN" altLang="en-US" sz="1600" dirty="0">
                          <a:solidFill>
                            <a:schemeClr val="bg1"/>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(3+3+5)/3</a:t>
                      </a:r>
                      <a:r>
                        <a:rPr lang="zh-CN" altLang="en-US" sz="1600" dirty="0">
                          <a:solidFill>
                            <a:schemeClr val="bg1"/>
                          </a:solidFill>
                        </a:rPr>
                        <a:t>≈</a:t>
                      </a:r>
                      <a:r>
                        <a:rPr lang="en-US" altLang="zh-CN" sz="1600" dirty="0">
                          <a:solidFill>
                            <a:schemeClr val="bg1"/>
                          </a:solidFill>
                        </a:rPr>
                        <a:t>3.67</a:t>
                      </a:r>
                      <a:r>
                        <a:rPr lang="zh-CN" altLang="en-US" sz="1600" dirty="0">
                          <a:solidFill>
                            <a:schemeClr val="bg1"/>
                          </a:solidFill>
                        </a:rPr>
                        <a:t>；取值 </a:t>
                      </a:r>
                      <a:r>
                        <a:rPr lang="en-US" altLang="zh-CN" sz="1600" dirty="0">
                          <a:solidFill>
                            <a:srgbClr val="FFFF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6" name="文本占位符 5">
            <a:extLst>
              <a:ext uri="{FF2B5EF4-FFF2-40B4-BE49-F238E27FC236}">
                <a16:creationId xmlns:a16="http://schemas.microsoft.com/office/drawing/2014/main" id="{3AA2AF2F-697F-C049-F4E1-F3B2D8878E0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solidFill>
                  <a:schemeClr val="bg1"/>
                </a:solidFill>
              </a:rPr>
              <a:t>单选题 </a:t>
            </a:r>
            <a:r>
              <a:rPr lang="en-US" altLang="zh-CN" sz="2000" dirty="0">
                <a:solidFill>
                  <a:schemeClr val="bg1"/>
                </a:solidFill>
              </a:rPr>
              <a:t>Multiple Choice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solidFill>
                  <a:schemeClr val="bg1"/>
                </a:solidFill>
              </a:rPr>
              <a:t>在成本管理过程中，每个时间段中的各个工作单元的成本是</a:t>
            </a:r>
            <a:r>
              <a:rPr lang="en-US" altLang="zh-CN" dirty="0">
                <a:solidFill>
                  <a:schemeClr val="bg1"/>
                </a:solidFill>
              </a:rPr>
              <a:t>( )</a:t>
            </a:r>
          </a:p>
          <a:p>
            <a:pPr>
              <a:spcAft>
                <a:spcPts val="600"/>
              </a:spcAft>
            </a:pPr>
            <a:r>
              <a:rPr lang="en-US" altLang="zh-CN" dirty="0">
                <a:solidFill>
                  <a:schemeClr val="bg1"/>
                </a:solidFill>
              </a:rPr>
              <a:t>A. </a:t>
            </a:r>
            <a:r>
              <a:rPr lang="zh-CN" altLang="en-US" dirty="0">
                <a:solidFill>
                  <a:schemeClr val="bg1"/>
                </a:solidFill>
              </a:rPr>
              <a:t>估算</a:t>
            </a:r>
            <a:endParaRPr lang="en-US" altLang="zh-CN" dirty="0">
              <a:solidFill>
                <a:schemeClr val="bg1"/>
              </a:solidFill>
            </a:endParaRPr>
          </a:p>
          <a:p>
            <a:pPr>
              <a:spcAft>
                <a:spcPts val="600"/>
              </a:spcAft>
            </a:pPr>
            <a:r>
              <a:rPr lang="en-US" altLang="zh-CN" dirty="0">
                <a:solidFill>
                  <a:schemeClr val="bg1"/>
                </a:solidFill>
              </a:rPr>
              <a:t>B. </a:t>
            </a:r>
            <a:r>
              <a:rPr lang="zh-CN" altLang="en-US" dirty="0">
                <a:solidFill>
                  <a:schemeClr val="bg1"/>
                </a:solidFill>
              </a:rPr>
              <a:t>预算</a:t>
            </a:r>
            <a:endParaRPr lang="en-US" altLang="zh-CN" dirty="0">
              <a:solidFill>
                <a:schemeClr val="bg1"/>
              </a:solidFill>
            </a:endParaRPr>
          </a:p>
          <a:p>
            <a:pPr>
              <a:spcAft>
                <a:spcPts val="600"/>
              </a:spcAft>
            </a:pPr>
            <a:r>
              <a:rPr lang="en-US" altLang="zh-CN" dirty="0">
                <a:solidFill>
                  <a:schemeClr val="bg1"/>
                </a:solidFill>
              </a:rPr>
              <a:t>C. </a:t>
            </a:r>
            <a:r>
              <a:rPr lang="zh-CN" altLang="en-US" dirty="0">
                <a:solidFill>
                  <a:schemeClr val="bg1"/>
                </a:solidFill>
              </a:rPr>
              <a:t>直接成本</a:t>
            </a:r>
            <a:endParaRPr lang="en-US" altLang="zh-CN" dirty="0">
              <a:solidFill>
                <a:schemeClr val="bg1"/>
              </a:solidFill>
            </a:endParaRPr>
          </a:p>
          <a:p>
            <a:pPr>
              <a:spcAft>
                <a:spcPts val="600"/>
              </a:spcAft>
            </a:pPr>
            <a:r>
              <a:rPr lang="en-US" altLang="zh-CN" dirty="0">
                <a:solidFill>
                  <a:schemeClr val="bg1"/>
                </a:solidFill>
              </a:rPr>
              <a:t>D. </a:t>
            </a:r>
            <a:r>
              <a:rPr lang="zh-CN" altLang="en-US" dirty="0">
                <a:solidFill>
                  <a:schemeClr val="bg1"/>
                </a:solidFill>
              </a:rPr>
              <a:t>间接成本</a:t>
            </a:r>
          </a:p>
        </p:txBody>
      </p:sp>
    </p:spTree>
    <p:extLst>
      <p:ext uri="{BB962C8B-B14F-4D97-AF65-F5344CB8AC3E}">
        <p14:creationId xmlns:p14="http://schemas.microsoft.com/office/powerpoint/2010/main" val="3287300849"/>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5" name="文本占位符 4">
            <a:extLst>
              <a:ext uri="{FF2B5EF4-FFF2-40B4-BE49-F238E27FC236}">
                <a16:creationId xmlns:a16="http://schemas.microsoft.com/office/drawing/2014/main" id="{D67F7DFB-F95C-284E-53B1-D876D5474BE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391100245"/>
              </p:ext>
            </p:extLst>
          </p:nvPr>
        </p:nvGraphicFramePr>
        <p:xfrm>
          <a:off x="892839" y="1920240"/>
          <a:ext cx="5040000" cy="301752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600" baseline="0" dirty="0">
                          <a:solidFill>
                            <a:schemeClr val="bg1"/>
                          </a:solidFill>
                          <a:latin typeface="Times New Roman" panose="02020603050405020304" pitchFamily="18" charset="0"/>
                        </a:rPr>
                        <a:t>WBS</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总成本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baseline="0" dirty="0">
                          <a:solidFill>
                            <a:schemeClr val="bg1"/>
                          </a:solidFill>
                          <a:latin typeface="Times New Roman" panose="02020603050405020304" pitchFamily="18" charset="0"/>
                        </a:rPr>
                        <a:t>1. </a:t>
                      </a:r>
                      <a:r>
                        <a:rPr lang="zh-CN" altLang="en-US" sz="1600" baseline="0" dirty="0">
                          <a:solidFill>
                            <a:schemeClr val="bg1"/>
                          </a:solidFill>
                          <a:latin typeface="Times New Roman" panose="02020603050405020304" pitchFamily="18" charset="0"/>
                        </a:rPr>
                        <a:t>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600" baseline="0" dirty="0">
                          <a:solidFill>
                            <a:schemeClr val="bg1"/>
                          </a:solidFill>
                          <a:latin typeface="Times New Roman" panose="02020603050405020304" pitchFamily="18" charset="0"/>
                        </a:rPr>
                        <a:t>8</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600" baseline="0" dirty="0">
                          <a:solidFill>
                            <a:schemeClr val="bg1"/>
                          </a:solidFill>
                          <a:latin typeface="Times New Roman" panose="02020603050405020304" pitchFamily="18" charset="0"/>
                        </a:rPr>
                        <a:t>16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baseline="0" dirty="0">
                          <a:solidFill>
                            <a:schemeClr val="bg1"/>
                          </a:solidFill>
                          <a:latin typeface="Times New Roman" panose="02020603050405020304" pitchFamily="18" charset="0"/>
                        </a:rPr>
                        <a:t>1.1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600" baseline="0" dirty="0">
                          <a:solidFill>
                            <a:schemeClr val="bg1"/>
                          </a:solidFill>
                          <a:latin typeface="Times New Roman" panose="02020603050405020304" pitchFamily="18" charset="0"/>
                        </a:rPr>
                        <a:t>1.2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600" baseline="0" dirty="0">
                          <a:solidFill>
                            <a:schemeClr val="bg1"/>
                          </a:solidFill>
                          <a:latin typeface="Times New Roman" panose="02020603050405020304" pitchFamily="18" charset="0"/>
                        </a:rPr>
                        <a:t>2. </a:t>
                      </a:r>
                      <a:r>
                        <a:rPr lang="zh-CN" altLang="en-US" sz="1600" baseline="0" dirty="0">
                          <a:solidFill>
                            <a:schemeClr val="bg1"/>
                          </a:solidFill>
                          <a:latin typeface="Times New Roman" panose="02020603050405020304" pitchFamily="18" charset="0"/>
                        </a:rPr>
                        <a:t>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600" baseline="0" dirty="0">
                          <a:solidFill>
                            <a:schemeClr val="bg1"/>
                          </a:solidFill>
                          <a:latin typeface="Times New Roman" panose="02020603050405020304" pitchFamily="18" charset="0"/>
                        </a:rPr>
                        <a:t>6</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baseline="0" dirty="0">
                          <a:solidFill>
                            <a:schemeClr val="bg1"/>
                          </a:solidFill>
                          <a:latin typeface="Times New Roman" panose="02020603050405020304" pitchFamily="18" charset="0"/>
                        </a:rPr>
                        <a:t>2.1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600" baseline="0" dirty="0">
                          <a:solidFill>
                            <a:schemeClr val="bg1"/>
                          </a:solidFill>
                          <a:latin typeface="Times New Roman" panose="02020603050405020304" pitchFamily="18" charset="0"/>
                        </a:rPr>
                        <a:t>2.2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2.3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3.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baseline="0" dirty="0">
                          <a:solidFill>
                            <a:schemeClr val="bg1"/>
                          </a:solidFill>
                          <a:latin typeface="Times New Roman" panose="02020603050405020304" pitchFamily="18" charset="0"/>
                        </a:rPr>
                        <a:t>2</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355908151"/>
              </p:ext>
            </p:extLst>
          </p:nvPr>
        </p:nvGraphicFramePr>
        <p:xfrm>
          <a:off x="8059161" y="1920240"/>
          <a:ext cx="324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600" baseline="0" dirty="0">
                          <a:solidFill>
                            <a:schemeClr val="bg1"/>
                          </a:solidFill>
                          <a:latin typeface="Times New Roman" panose="02020603050405020304" pitchFamily="18" charset="0"/>
                        </a:rPr>
                        <a:t>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任务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规划</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需求</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概要设计</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600" baseline="0" dirty="0">
                          <a:solidFill>
                            <a:schemeClr val="bg1"/>
                          </a:solidFill>
                          <a:latin typeface="Times New Roman" panose="02020603050405020304" pitchFamily="18" charset="0"/>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详细设计</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开发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600" baseline="0" dirty="0">
                          <a:solidFill>
                            <a:schemeClr val="bg1"/>
                          </a:solidFill>
                          <a:latin typeface="Times New Roman" panose="02020603050405020304" pitchFamily="18" charset="0"/>
                        </a:rPr>
                        <a:t>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开发 </a:t>
                      </a:r>
                      <a:r>
                        <a:rPr lang="en-US" altLang="zh-CN" sz="1600" baseline="0" dirty="0">
                          <a:solidFill>
                            <a:schemeClr val="bg1"/>
                          </a:solidFill>
                          <a:latin typeface="Times New Roman" panose="02020603050405020304" pitchFamily="18" charset="0"/>
                        </a:rPr>
                        <a:t>2</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7</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测试</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验收</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solidFill>
                  <a:schemeClr val="bg1"/>
                </a:solidFill>
              </a:rPr>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solidFill>
                  <a:schemeClr val="bg1"/>
                </a:solidFill>
              </a:rPr>
              <a:t>项目成本预算</a:t>
            </a:r>
          </a:p>
        </p:txBody>
      </p:sp>
    </p:spTree>
    <p:extLst>
      <p:ext uri="{BB962C8B-B14F-4D97-AF65-F5344CB8AC3E}">
        <p14:creationId xmlns:p14="http://schemas.microsoft.com/office/powerpoint/2010/main" val="5892363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4182562902"/>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2219ADF0-DBFF-D1FE-FF3F-5B79751D3D17}"/>
              </a:ext>
            </a:extLst>
          </p:cNvPr>
          <p:cNvSpPr>
            <a:spLocks noGrp="1"/>
          </p:cNvSpPr>
          <p:nvPr>
            <p:ph idx="1"/>
          </p:nvPr>
        </p:nvSpPr>
        <p:spPr/>
        <p:txBody>
          <a:bodyPr/>
          <a:lstStyle/>
          <a:p>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695998" y="360000"/>
            <a:ext cx="6375921" cy="429413"/>
          </a:xfrm>
        </p:spPr>
        <p:txBody>
          <a:bodyPr/>
          <a:lstStyle/>
          <a:p>
            <a:r>
              <a:rPr lang="zh-CN" altLang="en-US" dirty="0"/>
              <a:t>引言</a:t>
            </a:r>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spTree>
    <p:extLst>
      <p:ext uri="{BB962C8B-B14F-4D97-AF65-F5344CB8AC3E}">
        <p14:creationId xmlns:p14="http://schemas.microsoft.com/office/powerpoint/2010/main" val="192715710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695998"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7DA6773A-0420-19AD-2CE4-A0F2E8E75272}"/>
              </a:ext>
            </a:extLst>
          </p:cNvPr>
          <p:cNvSpPr>
            <a:spLocks noGrp="1"/>
          </p:cNvSpPr>
          <p:nvPr>
            <p:ph idx="1"/>
          </p:nvPr>
        </p:nvSpPr>
        <p:spPr/>
        <p:txBody>
          <a:bodyPr/>
          <a:lstStyle/>
          <a:p>
            <a:endParaRPr lang="zh-CN" altLang="en-US" dirty="0"/>
          </a:p>
        </p:txBody>
      </p:sp>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695998" y="360000"/>
            <a:ext cx="6375921" cy="429413"/>
          </a:xfrm>
        </p:spPr>
        <p:txBody>
          <a:bodyPr/>
          <a:lstStyle/>
          <a:p>
            <a:r>
              <a:rPr lang="zh-CN" altLang="en-US" dirty="0"/>
              <a:t>项目进度计划流程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695998"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695998"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任意多边形: 形状 62">
            <a:extLst>
              <a:ext uri="{FF2B5EF4-FFF2-40B4-BE49-F238E27FC236}">
                <a16:creationId xmlns:a16="http://schemas.microsoft.com/office/drawing/2014/main" id="{27FACFAB-184C-F474-31E9-0D13383E78CE}"/>
              </a:ext>
            </a:extLst>
          </p:cNvPr>
          <p:cNvSpPr/>
          <p:nvPr/>
        </p:nvSpPr>
        <p:spPr>
          <a:xfrm>
            <a:off x="10135253"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2020</a:t>
            </a:r>
            <a:endParaRPr lang="zh-CN" altLang="en-US" sz="1400" dirty="0">
              <a:solidFill>
                <a:schemeClr val="bg1"/>
              </a:solidFill>
            </a:endParaRPr>
          </a:p>
        </p:txBody>
      </p: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3"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4" name="任意多边形: 形状 13">
            <a:extLst>
              <a:ext uri="{FF2B5EF4-FFF2-40B4-BE49-F238E27FC236}">
                <a16:creationId xmlns:a16="http://schemas.microsoft.com/office/drawing/2014/main" id="{B0F3AD80-8B51-8D25-BD41-1F0871D933D1}"/>
              </a:ext>
            </a:extLst>
          </p:cNvPr>
          <p:cNvSpPr/>
          <p:nvPr/>
        </p:nvSpPr>
        <p:spPr>
          <a:xfrm>
            <a:off x="423019"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zh-CN" altLang="en-US" sz="1400" dirty="0">
              <a:solidFill>
                <a:schemeClr val="bg1"/>
              </a:solidFill>
            </a:endParaRPr>
          </a:p>
        </p:txBody>
      </p:sp>
      <p:sp>
        <p:nvSpPr>
          <p:cNvPr id="15" name="任意多边形: 形状 14">
            <a:extLst>
              <a:ext uri="{FF2B5EF4-FFF2-40B4-BE49-F238E27FC236}">
                <a16:creationId xmlns:a16="http://schemas.microsoft.com/office/drawing/2014/main" id="{2FDF398E-D449-A679-BD75-C6B58E239896}"/>
              </a:ext>
            </a:extLst>
          </p:cNvPr>
          <p:cNvSpPr/>
          <p:nvPr/>
        </p:nvSpPr>
        <p:spPr>
          <a:xfrm>
            <a:off x="2672678"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2005</a:t>
            </a:r>
            <a:endParaRPr lang="zh-CN" altLang="en-US" sz="1400" dirty="0">
              <a:solidFill>
                <a:schemeClr val="bg1"/>
              </a:solidFill>
            </a:endParaRPr>
          </a:p>
        </p:txBody>
      </p:sp>
      <p:sp>
        <p:nvSpPr>
          <p:cNvPr id="16" name="任意多边形: 形状 15">
            <a:extLst>
              <a:ext uri="{FF2B5EF4-FFF2-40B4-BE49-F238E27FC236}">
                <a16:creationId xmlns:a16="http://schemas.microsoft.com/office/drawing/2014/main" id="{0353601F-CB28-074A-98CD-119296971A2F}"/>
              </a:ext>
            </a:extLst>
          </p:cNvPr>
          <p:cNvSpPr/>
          <p:nvPr/>
        </p:nvSpPr>
        <p:spPr>
          <a:xfrm>
            <a:off x="4922337"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2018</a:t>
            </a:r>
            <a:endParaRPr lang="zh-CN" altLang="en-US" sz="1400" dirty="0">
              <a:solidFill>
                <a:schemeClr val="bg1"/>
              </a:solidFill>
            </a:endParaRPr>
          </a:p>
        </p:txBody>
      </p:sp>
      <p:sp>
        <p:nvSpPr>
          <p:cNvPr id="17" name="任意多边形: 形状 16">
            <a:extLst>
              <a:ext uri="{FF2B5EF4-FFF2-40B4-BE49-F238E27FC236}">
                <a16:creationId xmlns:a16="http://schemas.microsoft.com/office/drawing/2014/main" id="{FE7C6B1D-6E96-67B3-53AD-A8BD1C0F3AAD}"/>
              </a:ext>
            </a:extLst>
          </p:cNvPr>
          <p:cNvSpPr/>
          <p:nvPr/>
        </p:nvSpPr>
        <p:spPr>
          <a:xfrm>
            <a:off x="7171996"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2021</a:t>
            </a:r>
            <a:endParaRPr lang="zh-CN" altLang="en-US" sz="1400" dirty="0">
              <a:solidFill>
                <a:schemeClr val="bg1"/>
              </a:solidFill>
            </a:endParaRPr>
          </a:p>
        </p:txBody>
      </p:sp>
      <p:sp>
        <p:nvSpPr>
          <p:cNvPr id="18" name="任意多边形: 形状 17">
            <a:extLst>
              <a:ext uri="{FF2B5EF4-FFF2-40B4-BE49-F238E27FC236}">
                <a16:creationId xmlns:a16="http://schemas.microsoft.com/office/drawing/2014/main" id="{7980A2DB-141B-F7FB-56B4-4F373E1A6357}"/>
              </a:ext>
            </a:extLst>
          </p:cNvPr>
          <p:cNvSpPr/>
          <p:nvPr/>
        </p:nvSpPr>
        <p:spPr>
          <a:xfrm>
            <a:off x="10903946"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2025</a:t>
            </a:r>
            <a:endParaRPr lang="zh-CN" altLang="en-US" sz="1400" dirty="0">
              <a:solidFill>
                <a:schemeClr val="bg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4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6" name="任意多边形: 形状 25">
            <a:extLst>
              <a:ext uri="{FF2B5EF4-FFF2-40B4-BE49-F238E27FC236}">
                <a16:creationId xmlns:a16="http://schemas.microsoft.com/office/drawing/2014/main" id="{225EA3B5-9742-C1F3-9E7D-EC6DE3C2D2D5}"/>
              </a:ext>
            </a:extLst>
          </p:cNvPr>
          <p:cNvSpPr/>
          <p:nvPr/>
        </p:nvSpPr>
        <p:spPr>
          <a:xfrm>
            <a:off x="1547848"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1999</a:t>
            </a:r>
            <a:endParaRPr lang="zh-CN" altLang="en-US" sz="1400" dirty="0">
              <a:solidFill>
                <a:schemeClr val="bg1"/>
              </a:solidFill>
            </a:endParaRPr>
          </a:p>
        </p:txBody>
      </p:sp>
      <p:sp>
        <p:nvSpPr>
          <p:cNvPr id="27" name="任意多边形: 形状 26">
            <a:extLst>
              <a:ext uri="{FF2B5EF4-FFF2-40B4-BE49-F238E27FC236}">
                <a16:creationId xmlns:a16="http://schemas.microsoft.com/office/drawing/2014/main" id="{12EEC7AA-5C8C-918B-DC73-8AC1F11B01A7}"/>
              </a:ext>
            </a:extLst>
          </p:cNvPr>
          <p:cNvSpPr/>
          <p:nvPr/>
        </p:nvSpPr>
        <p:spPr>
          <a:xfrm>
            <a:off x="3797506"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2008</a:t>
            </a:r>
            <a:endParaRPr lang="zh-CN" altLang="en-US" sz="1400" dirty="0">
              <a:solidFill>
                <a:schemeClr val="bg1"/>
              </a:solidFill>
            </a:endParaRPr>
          </a:p>
        </p:txBody>
      </p:sp>
      <p:sp>
        <p:nvSpPr>
          <p:cNvPr id="28" name="任意多边形: 形状 27">
            <a:extLst>
              <a:ext uri="{FF2B5EF4-FFF2-40B4-BE49-F238E27FC236}">
                <a16:creationId xmlns:a16="http://schemas.microsoft.com/office/drawing/2014/main" id="{6BDA3710-CDEC-0AE1-97B0-74846FC49303}"/>
              </a:ext>
            </a:extLst>
          </p:cNvPr>
          <p:cNvSpPr/>
          <p:nvPr/>
        </p:nvSpPr>
        <p:spPr>
          <a:xfrm>
            <a:off x="6047164"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2020</a:t>
            </a:r>
            <a:endParaRPr lang="zh-CN" altLang="en-US" sz="1400" dirty="0">
              <a:solidFill>
                <a:schemeClr val="bg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51075" y="3796219"/>
            <a:ext cx="623889" cy="338554"/>
          </a:xfrm>
          <a:prstGeom prst="rect">
            <a:avLst/>
          </a:prstGeom>
          <a:noFill/>
        </p:spPr>
        <p:txBody>
          <a:bodyPr wrap="none" rtlCol="0">
            <a:spAutoFit/>
          </a:bodyPr>
          <a:lstStyle/>
          <a:p>
            <a:pPr algn="ctr"/>
            <a:r>
              <a:rPr lang="en-US" altLang="zh-CN" sz="16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71096" y="2756688"/>
            <a:ext cx="633507" cy="338554"/>
          </a:xfrm>
          <a:prstGeom prst="rect">
            <a:avLst/>
          </a:prstGeom>
          <a:noFill/>
        </p:spPr>
        <p:txBody>
          <a:bodyPr wrap="none" rtlCol="0">
            <a:spAutoFit/>
          </a:bodyPr>
          <a:lstStyle/>
          <a:p>
            <a:pPr algn="ctr"/>
            <a:r>
              <a:rPr lang="en-US" altLang="zh-CN" sz="16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67873" y="3796219"/>
            <a:ext cx="689612" cy="338554"/>
          </a:xfrm>
          <a:prstGeom prst="rect">
            <a:avLst/>
          </a:prstGeom>
          <a:noFill/>
        </p:spPr>
        <p:txBody>
          <a:bodyPr wrap="none" rtlCol="0">
            <a:spAutoFit/>
          </a:bodyPr>
          <a:lstStyle/>
          <a:p>
            <a:pPr algn="ctr"/>
            <a:r>
              <a:rPr lang="en-US" altLang="zh-CN" sz="16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3984688" y="2756688"/>
            <a:ext cx="705642" cy="338554"/>
          </a:xfrm>
          <a:prstGeom prst="rect">
            <a:avLst/>
          </a:prstGeom>
          <a:noFill/>
        </p:spPr>
        <p:txBody>
          <a:bodyPr wrap="none" rtlCol="0">
            <a:spAutoFit/>
          </a:bodyPr>
          <a:lstStyle/>
          <a:p>
            <a:pPr algn="ctr"/>
            <a:r>
              <a:rPr lang="en-US" altLang="zh-CN" sz="16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40777" y="3796219"/>
            <a:ext cx="643126" cy="338554"/>
          </a:xfrm>
          <a:prstGeom prst="rect">
            <a:avLst/>
          </a:prstGeom>
          <a:noFill/>
        </p:spPr>
        <p:txBody>
          <a:bodyPr wrap="none" rtlCol="0">
            <a:spAutoFit/>
          </a:bodyPr>
          <a:lstStyle/>
          <a:p>
            <a:pPr algn="ctr"/>
            <a:r>
              <a:rPr lang="en-US" altLang="zh-CN" sz="16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41561" y="2756688"/>
            <a:ext cx="691216" cy="338554"/>
          </a:xfrm>
          <a:prstGeom prst="rect">
            <a:avLst/>
          </a:prstGeom>
          <a:noFill/>
        </p:spPr>
        <p:txBody>
          <a:bodyPr wrap="none" rtlCol="0">
            <a:spAutoFit/>
          </a:bodyPr>
          <a:lstStyle/>
          <a:p>
            <a:pPr algn="ctr"/>
            <a:r>
              <a:rPr lang="en-US" altLang="zh-CN" sz="16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397650" y="3796219"/>
            <a:ext cx="628698" cy="338554"/>
          </a:xfrm>
          <a:prstGeom prst="rect">
            <a:avLst/>
          </a:prstGeom>
          <a:noFill/>
        </p:spPr>
        <p:txBody>
          <a:bodyPr wrap="none" rtlCol="0">
            <a:spAutoFit/>
          </a:bodyPr>
          <a:lstStyle/>
          <a:p>
            <a:pPr algn="ctr"/>
            <a:r>
              <a:rPr lang="en-US" altLang="zh-CN" sz="16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40068" y="2756688"/>
            <a:ext cx="670376" cy="338554"/>
          </a:xfrm>
          <a:prstGeom prst="rect">
            <a:avLst/>
          </a:prstGeom>
          <a:noFill/>
        </p:spPr>
        <p:txBody>
          <a:bodyPr wrap="none" rtlCol="0">
            <a:spAutoFit/>
          </a:bodyPr>
          <a:lstStyle/>
          <a:p>
            <a:pPr algn="ctr"/>
            <a:r>
              <a:rPr lang="en-US" altLang="zh-CN" sz="16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08758" y="3796219"/>
            <a:ext cx="670376" cy="338554"/>
          </a:xfrm>
          <a:prstGeom prst="rect">
            <a:avLst/>
          </a:prstGeom>
          <a:noFill/>
        </p:spPr>
        <p:txBody>
          <a:bodyPr wrap="none" rtlCol="0">
            <a:spAutoFit/>
          </a:bodyPr>
          <a:lstStyle/>
          <a:p>
            <a:pPr algn="ctr"/>
            <a:r>
              <a:rPr lang="en-US" altLang="zh-CN" sz="16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5" name="任意多边形: 形状 74">
            <a:extLst>
              <a:ext uri="{FF2B5EF4-FFF2-40B4-BE49-F238E27FC236}">
                <a16:creationId xmlns:a16="http://schemas.microsoft.com/office/drawing/2014/main" id="{9DF98556-F4A3-ECF9-979D-FAFDFF1E7B04}"/>
              </a:ext>
            </a:extLst>
          </p:cNvPr>
          <p:cNvSpPr/>
          <p:nvPr/>
        </p:nvSpPr>
        <p:spPr>
          <a:xfrm>
            <a:off x="9268287"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2021</a:t>
            </a:r>
            <a:endParaRPr lang="zh-CN" altLang="en-US" sz="1400" dirty="0">
              <a:solidFill>
                <a:schemeClr val="bg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472300" y="3796219"/>
            <a:ext cx="671980" cy="338554"/>
          </a:xfrm>
          <a:prstGeom prst="rect">
            <a:avLst/>
          </a:prstGeom>
          <a:noFill/>
        </p:spPr>
        <p:txBody>
          <a:bodyPr wrap="none" rtlCol="0">
            <a:spAutoFit/>
          </a:bodyPr>
          <a:lstStyle/>
          <a:p>
            <a:pPr algn="ctr"/>
            <a:r>
              <a:rPr lang="en-US" altLang="zh-CN" sz="16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0" name="任意多边形: 形状 79">
            <a:extLst>
              <a:ext uri="{FF2B5EF4-FFF2-40B4-BE49-F238E27FC236}">
                <a16:creationId xmlns:a16="http://schemas.microsoft.com/office/drawing/2014/main" id="{254CA369-813E-E97E-BD1B-435906138F3F}"/>
              </a:ext>
            </a:extLst>
          </p:cNvPr>
          <p:cNvSpPr/>
          <p:nvPr/>
        </p:nvSpPr>
        <p:spPr>
          <a:xfrm>
            <a:off x="8288754"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2020</a:t>
            </a:r>
            <a:endParaRPr lang="zh-CN" altLang="en-US" sz="1400" dirty="0">
              <a:solidFill>
                <a:schemeClr val="bg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492769" y="2756688"/>
            <a:ext cx="671980" cy="338554"/>
          </a:xfrm>
          <a:prstGeom prst="rect">
            <a:avLst/>
          </a:prstGeom>
          <a:noFill/>
        </p:spPr>
        <p:txBody>
          <a:bodyPr wrap="none" rtlCol="0">
            <a:spAutoFit/>
          </a:bodyPr>
          <a:lstStyle/>
          <a:p>
            <a:pPr algn="ctr"/>
            <a:r>
              <a:rPr lang="en-US" altLang="zh-CN" sz="16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840319562"/>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695998"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695998"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695998"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695998" y="360000"/>
            <a:ext cx="6375921" cy="429413"/>
          </a:xfrm>
        </p:spPr>
        <p:txBody>
          <a:bodyPr/>
          <a:lstStyle/>
          <a:p>
            <a:r>
              <a:rPr lang="en-US" altLang="zh-CN" dirty="0">
                <a:solidFill>
                  <a:schemeClr val="tx1"/>
                </a:solidFill>
              </a:rPr>
              <a:t>4. </a:t>
            </a:r>
            <a:r>
              <a:rPr lang="zh-CN" altLang="en-US" dirty="0">
                <a:solidFill>
                  <a:schemeClr val="tx1"/>
                </a:solidFill>
              </a:rPr>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6" name="文本占位符 5">
            <a:extLst>
              <a:ext uri="{FF2B5EF4-FFF2-40B4-BE49-F238E27FC236}">
                <a16:creationId xmlns:a16="http://schemas.microsoft.com/office/drawing/2014/main" id="{2B090E62-06EB-4342-F55A-E0309C30CE8D}"/>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759763"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695998"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6" name="文本占位符 5">
            <a:extLst>
              <a:ext uri="{FF2B5EF4-FFF2-40B4-BE49-F238E27FC236}">
                <a16:creationId xmlns:a16="http://schemas.microsoft.com/office/drawing/2014/main" id="{39D6B34D-9A85-564C-E8D5-607C5470D8A4}"/>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695998"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6" name="文本占位符 5">
            <a:extLst>
              <a:ext uri="{FF2B5EF4-FFF2-40B4-BE49-F238E27FC236}">
                <a16:creationId xmlns:a16="http://schemas.microsoft.com/office/drawing/2014/main" id="{C191BE14-06A0-01B2-4C48-FAB6333B55E0}"/>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440286"/>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4985225"/>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6" name="文本占位符 5">
            <a:extLst>
              <a:ext uri="{FF2B5EF4-FFF2-40B4-BE49-F238E27FC236}">
                <a16:creationId xmlns:a16="http://schemas.microsoft.com/office/drawing/2014/main" id="{338A0B60-9E3C-8B44-6A4C-E9A8DEAFD87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695998"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6" name="文本占位符 5">
            <a:extLst>
              <a:ext uri="{FF2B5EF4-FFF2-40B4-BE49-F238E27FC236}">
                <a16:creationId xmlns:a16="http://schemas.microsoft.com/office/drawing/2014/main" id="{CD287482-1C02-ADA0-322E-38218E40E0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695998"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6" name="文本占位符 5">
            <a:extLst>
              <a:ext uri="{FF2B5EF4-FFF2-40B4-BE49-F238E27FC236}">
                <a16:creationId xmlns:a16="http://schemas.microsoft.com/office/drawing/2014/main" id="{CA1D1CE1-FFD3-9BA1-7156-EDE0CADEFB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1</a:t>
            </a:r>
            <a:endParaRPr lang="zh-CN" altLang="en-US" sz="1600" dirty="0">
              <a:solidFill>
                <a:schemeClr val="bg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2</a:t>
            </a:r>
            <a:endParaRPr lang="zh-CN" altLang="en-US" sz="1600" dirty="0">
              <a:solidFill>
                <a:schemeClr val="bg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3</a:t>
            </a:r>
            <a:endParaRPr lang="zh-CN" altLang="en-US" sz="1600" dirty="0">
              <a:solidFill>
                <a:schemeClr val="bg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6</a:t>
            </a:r>
            <a:endParaRPr lang="zh-CN" altLang="en-US" sz="1600" dirty="0">
              <a:solidFill>
                <a:schemeClr val="bg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p:spPr>
        <p:txBody>
          <a:bodyPr wrap="none" rtlCol="0">
            <a:spAutoFit/>
          </a:bodyPr>
          <a:lstStyle/>
          <a:p>
            <a:pPr algn="ctr"/>
            <a:r>
              <a:rPr lang="en-US" altLang="zh-CN" sz="1600" dirty="0">
                <a:solidFill>
                  <a:schemeClr val="bg1"/>
                </a:solidFill>
              </a:rPr>
              <a:t>E=1</a:t>
            </a:r>
            <a:endParaRPr lang="zh-CN" altLang="en-US" sz="1600" dirty="0">
              <a:solidFill>
                <a:schemeClr val="bg1"/>
              </a:solidFill>
            </a:endParaRPr>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p:spPr>
        <p:txBody>
          <a:bodyPr wrap="none" rtlCol="0">
            <a:spAutoFit/>
          </a:bodyPr>
          <a:lstStyle/>
          <a:p>
            <a:pPr algn="ctr"/>
            <a:r>
              <a:rPr lang="en-US" altLang="zh-CN" sz="1600" dirty="0">
                <a:solidFill>
                  <a:schemeClr val="bg1"/>
                </a:solidFill>
              </a:rPr>
              <a:t>A=2</a:t>
            </a:r>
            <a:endParaRPr lang="zh-CN" altLang="en-US" sz="1600" dirty="0">
              <a:solidFill>
                <a:schemeClr val="bg1"/>
              </a:solidFill>
            </a:endParaRPr>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p:spPr>
        <p:txBody>
          <a:bodyPr wrap="none" rtlCol="0">
            <a:spAutoFit/>
          </a:bodyPr>
          <a:lstStyle/>
          <a:p>
            <a:pPr algn="ctr"/>
            <a:r>
              <a:rPr lang="en-US" altLang="zh-CN" sz="1600" dirty="0">
                <a:solidFill>
                  <a:schemeClr val="bg1"/>
                </a:solidFill>
              </a:rPr>
              <a:t>B=5</a:t>
            </a:r>
            <a:endParaRPr lang="zh-CN" altLang="en-US" sz="1600" dirty="0">
              <a:solidFill>
                <a:schemeClr val="bg1"/>
              </a:solidFill>
            </a:endParaRPr>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p:spPr>
        <p:txBody>
          <a:bodyPr wrap="none" rtlCol="0">
            <a:spAutoFit/>
          </a:bodyPr>
          <a:lstStyle/>
          <a:p>
            <a:pPr algn="ctr"/>
            <a:r>
              <a:rPr lang="en-US" altLang="zh-CN" sz="1600" dirty="0">
                <a:solidFill>
                  <a:schemeClr val="bg1"/>
                </a:solidFill>
              </a:rPr>
              <a:t>F=2</a:t>
            </a:r>
            <a:endParaRPr lang="zh-CN" altLang="en-US" sz="1600" dirty="0">
              <a:solidFill>
                <a:schemeClr val="bg1"/>
              </a:solidFill>
            </a:endParaRPr>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4</a:t>
            </a:r>
            <a:endParaRPr lang="zh-CN" altLang="en-US" sz="1600" dirty="0">
              <a:solidFill>
                <a:schemeClr val="bg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5</a:t>
            </a:r>
            <a:endParaRPr lang="zh-CN" altLang="en-US" sz="1600" dirty="0">
              <a:solidFill>
                <a:schemeClr val="bg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p:spPr>
        <p:txBody>
          <a:bodyPr wrap="none" rtlCol="0">
            <a:spAutoFit/>
          </a:bodyPr>
          <a:lstStyle/>
          <a:p>
            <a:pPr algn="ctr"/>
            <a:r>
              <a:rPr lang="en-US" altLang="zh-CN" sz="1600" dirty="0">
                <a:solidFill>
                  <a:schemeClr val="bg1"/>
                </a:solidFill>
              </a:rPr>
              <a:t>C=2</a:t>
            </a:r>
            <a:endParaRPr lang="zh-CN" altLang="en-US" sz="1600" dirty="0">
              <a:solidFill>
                <a:schemeClr val="bg1"/>
              </a:solidFill>
            </a:endParaRPr>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p:spPr>
        <p:txBody>
          <a:bodyPr wrap="none" rtlCol="0">
            <a:spAutoFit/>
          </a:bodyPr>
          <a:lstStyle/>
          <a:p>
            <a:pPr algn="ctr"/>
            <a:r>
              <a:rPr lang="en-US" altLang="zh-CN" sz="1600" dirty="0">
                <a:solidFill>
                  <a:schemeClr val="bg1"/>
                </a:solidFill>
              </a:rPr>
              <a:t>D=7</a:t>
            </a:r>
            <a:endParaRPr lang="zh-CN" altLang="en-US" sz="1600" dirty="0">
              <a:solidFill>
                <a:schemeClr val="bg1"/>
              </a:solidFill>
            </a:endParaRPr>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3390622418"/>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bg1"/>
                          </a:solidFill>
                        </a:rPr>
                        <a:t>路径</a:t>
                      </a:r>
                    </a:p>
                  </a:txBody>
                  <a:tcPr anchor="ct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bg1"/>
                          </a:solidFill>
                        </a:rPr>
                        <a:t>长度</a:t>
                      </a:r>
                    </a:p>
                  </a:txBody>
                  <a:tcPr anchor="ct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chemeClr val="bg1"/>
                          </a:solidFill>
                        </a:rPr>
                        <a:t>关键路径</a:t>
                      </a:r>
                    </a:p>
                  </a:txBody>
                  <a:tcPr anchor="ct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chemeClr val="bg1"/>
                          </a:solidFill>
                        </a:rPr>
                        <a:t>路径</a:t>
                      </a:r>
                      <a:r>
                        <a:rPr lang="en-US" altLang="zh-CN" sz="1800" b="0" dirty="0">
                          <a:solidFill>
                            <a:schemeClr val="bg1"/>
                          </a:solidFill>
                        </a:rPr>
                        <a:t>1</a:t>
                      </a: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en-US" altLang="zh-CN" sz="1800" b="0" dirty="0">
                          <a:solidFill>
                            <a:schemeClr val="bg1"/>
                          </a:solidFill>
                        </a:rPr>
                        <a:t>1 </a:t>
                      </a:r>
                      <a:r>
                        <a:rPr lang="zh-CN" altLang="en-US" sz="1800" b="0" dirty="0">
                          <a:solidFill>
                            <a:schemeClr val="bg1"/>
                          </a:solidFill>
                        </a:rPr>
                        <a:t>→ </a:t>
                      </a:r>
                      <a:r>
                        <a:rPr lang="en-US" altLang="zh-CN" sz="1800" b="0" dirty="0">
                          <a:solidFill>
                            <a:schemeClr val="bg1"/>
                          </a:solidFill>
                        </a:rPr>
                        <a:t>2 </a:t>
                      </a:r>
                      <a:r>
                        <a:rPr lang="zh-CN" altLang="en-US" sz="1800" b="0" dirty="0">
                          <a:solidFill>
                            <a:schemeClr val="bg1"/>
                          </a:solidFill>
                        </a:rPr>
                        <a:t>→ </a:t>
                      </a:r>
                      <a:r>
                        <a:rPr lang="en-US" altLang="zh-CN" sz="1800" b="0" dirty="0">
                          <a:solidFill>
                            <a:schemeClr val="bg1"/>
                          </a:solidFill>
                        </a:rPr>
                        <a:t>3 </a:t>
                      </a:r>
                      <a:r>
                        <a:rPr lang="zh-CN" altLang="en-US" sz="1800" b="0" dirty="0">
                          <a:solidFill>
                            <a:schemeClr val="bg1"/>
                          </a:solidFill>
                        </a:rPr>
                        <a:t>→ </a:t>
                      </a:r>
                      <a:r>
                        <a:rPr lang="en-US" altLang="zh-CN" sz="1800" b="0" dirty="0">
                          <a:solidFill>
                            <a:schemeClr val="bg1"/>
                          </a:solidFill>
                        </a:rPr>
                        <a:t>4 </a:t>
                      </a:r>
                      <a:r>
                        <a:rPr lang="zh-CN" altLang="en-US" sz="1800" b="0" dirty="0">
                          <a:solidFill>
                            <a:schemeClr val="bg1"/>
                          </a:solidFill>
                        </a:rPr>
                        <a:t>→ </a:t>
                      </a:r>
                      <a:r>
                        <a:rPr lang="en-US" altLang="zh-CN" sz="1800" b="0" dirty="0">
                          <a:solidFill>
                            <a:schemeClr val="bg1"/>
                          </a:solidFill>
                        </a:rPr>
                        <a:t>6</a:t>
                      </a: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en-US" altLang="zh-CN" sz="1800" b="0" dirty="0">
                          <a:solidFill>
                            <a:schemeClr val="bg1"/>
                          </a:solidFill>
                        </a:rPr>
                        <a:t>10</a:t>
                      </a: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800" b="0" dirty="0">
                          <a:solidFill>
                            <a:schemeClr val="bg1"/>
                          </a:solidFill>
                        </a:rPr>
                        <a:t>×</a:t>
                      </a: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chemeClr val="bg1"/>
                          </a:solidFill>
                        </a:rPr>
                        <a:t>路径</a:t>
                      </a:r>
                      <a:r>
                        <a:rPr lang="en-US" altLang="zh-CN" sz="1800" b="0" dirty="0">
                          <a:solidFill>
                            <a:schemeClr val="bg1"/>
                          </a:solidFill>
                        </a:rPr>
                        <a:t>2</a:t>
                      </a:r>
                      <a:endParaRPr lang="zh-CN" altLang="en-US" sz="1800" b="0" dirty="0">
                        <a:solidFill>
                          <a:schemeClr val="bg1"/>
                        </a:solidFill>
                      </a:endParaRP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chemeClr val="bg1"/>
                          </a:solidFill>
                        </a:rPr>
                        <a:t>1 </a:t>
                      </a:r>
                      <a:r>
                        <a:rPr lang="zh-CN" altLang="en-US" sz="1800" b="0" dirty="0">
                          <a:solidFill>
                            <a:schemeClr val="bg1"/>
                          </a:solidFill>
                        </a:rPr>
                        <a:t>→ </a:t>
                      </a:r>
                      <a:r>
                        <a:rPr lang="en-US" altLang="zh-CN" sz="1800" b="0" dirty="0">
                          <a:solidFill>
                            <a:schemeClr val="bg1"/>
                          </a:solidFill>
                        </a:rPr>
                        <a:t>2 </a:t>
                      </a:r>
                      <a:r>
                        <a:rPr lang="zh-CN" altLang="en-US" sz="1800" b="0" dirty="0">
                          <a:solidFill>
                            <a:schemeClr val="bg1"/>
                          </a:solidFill>
                        </a:rPr>
                        <a:t>→ </a:t>
                      </a:r>
                      <a:r>
                        <a:rPr lang="en-US" altLang="zh-CN" sz="1800" b="0" dirty="0">
                          <a:solidFill>
                            <a:schemeClr val="bg1"/>
                          </a:solidFill>
                        </a:rPr>
                        <a:t>3 </a:t>
                      </a:r>
                      <a:r>
                        <a:rPr lang="zh-CN" altLang="en-US" sz="1800" b="0" dirty="0">
                          <a:solidFill>
                            <a:schemeClr val="bg1"/>
                          </a:solidFill>
                        </a:rPr>
                        <a:t>→ </a:t>
                      </a:r>
                      <a:r>
                        <a:rPr lang="en-US" altLang="zh-CN" sz="1800" b="0" dirty="0">
                          <a:solidFill>
                            <a:schemeClr val="bg1"/>
                          </a:solidFill>
                        </a:rPr>
                        <a:t>5 </a:t>
                      </a:r>
                      <a:r>
                        <a:rPr lang="zh-CN" altLang="en-US" sz="1800" b="0" dirty="0">
                          <a:solidFill>
                            <a:schemeClr val="bg1"/>
                          </a:solidFill>
                        </a:rPr>
                        <a:t>→ </a:t>
                      </a:r>
                      <a:r>
                        <a:rPr lang="en-US" altLang="zh-CN" sz="1800" b="0" dirty="0">
                          <a:solidFill>
                            <a:schemeClr val="bg1"/>
                          </a:solidFill>
                        </a:rPr>
                        <a:t>6</a:t>
                      </a:r>
                      <a:endParaRPr lang="zh-CN" altLang="en-US" sz="1800" b="0" dirty="0">
                        <a:solidFill>
                          <a:schemeClr val="bg1"/>
                        </a:solidFill>
                      </a:endParaRP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chemeClr val="bg1"/>
                          </a:solidFill>
                        </a:rPr>
                        <a:t>16</a:t>
                      </a:r>
                      <a:endParaRPr lang="zh-CN" altLang="en-US" sz="1800" b="0" dirty="0">
                        <a:solidFill>
                          <a:schemeClr val="bg1"/>
                        </a:solidFill>
                      </a:endParaRP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chemeClr val="bg1"/>
                          </a:solidFill>
                        </a:rPr>
                        <a:t>√</a:t>
                      </a: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solidFill>
                  <a:srgbClr val="FFFF00"/>
                </a:solidFill>
              </a:rPr>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695998"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695998"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389739546"/>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695998"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695998"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7" name="文本占位符 6">
            <a:extLst>
              <a:ext uri="{FF2B5EF4-FFF2-40B4-BE49-F238E27FC236}">
                <a16:creationId xmlns:a16="http://schemas.microsoft.com/office/drawing/2014/main" id="{5854AD27-E697-966B-CB7D-90D37ABBFDC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3882518549"/>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829706971"/>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600" b="0" dirty="0">
                          <a:solidFill>
                            <a:schemeClr val="tx1"/>
                          </a:solidFill>
                        </a:rPr>
                        <a:t>A2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600" b="0" dirty="0">
                          <a:solidFill>
                            <a:schemeClr val="tx1"/>
                          </a:solidFill>
                        </a:rPr>
                        <a:t>A1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972038381"/>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600" b="0" dirty="0">
                          <a:solidFill>
                            <a:schemeClr val="tx1"/>
                          </a:solidFill>
                        </a:rPr>
                        <a:t>C2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600" b="0" dirty="0">
                          <a:solidFill>
                            <a:schemeClr val="tx1"/>
                          </a:solidFill>
                        </a:rPr>
                        <a:t>C1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1164" y="5981700"/>
            <a:ext cx="320922" cy="338554"/>
          </a:xfrm>
          <a:prstGeom prst="rect">
            <a:avLst/>
          </a:prstGeom>
          <a:noFill/>
        </p:spPr>
        <p:txBody>
          <a:bodyPr wrap="none" rtlCol="0">
            <a:spAutoFit/>
          </a:bodyPr>
          <a:lstStyle/>
          <a:p>
            <a:pPr algn="ctr"/>
            <a:r>
              <a:rPr lang="en-US" altLang="zh-CN" sz="1600" dirty="0"/>
              <a:t>0</a:t>
            </a:r>
            <a:endParaRPr lang="zh-CN" altLang="en-US" sz="16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0979" y="5981700"/>
            <a:ext cx="258404" cy="338554"/>
          </a:xfrm>
          <a:prstGeom prst="rect">
            <a:avLst/>
          </a:prstGeom>
          <a:noFill/>
        </p:spPr>
        <p:txBody>
          <a:bodyPr wrap="none" rtlCol="0">
            <a:spAutoFit/>
          </a:bodyPr>
          <a:lstStyle/>
          <a:p>
            <a:pPr algn="ctr"/>
            <a:r>
              <a:rPr lang="en-US" altLang="zh-CN" sz="1600" dirty="0"/>
              <a:t>1</a:t>
            </a:r>
            <a:endParaRPr lang="zh-CN" altLang="en-US" sz="16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88276" y="5981700"/>
            <a:ext cx="301685" cy="338554"/>
          </a:xfrm>
          <a:prstGeom prst="rect">
            <a:avLst/>
          </a:prstGeom>
          <a:noFill/>
        </p:spPr>
        <p:txBody>
          <a:bodyPr wrap="none" rtlCol="0">
            <a:spAutoFit/>
          </a:bodyPr>
          <a:lstStyle/>
          <a:p>
            <a:pPr algn="ctr"/>
            <a:r>
              <a:rPr lang="en-US" altLang="zh-CN" sz="1600" dirty="0"/>
              <a:t>2</a:t>
            </a:r>
            <a:endParaRPr lang="zh-CN" altLang="en-US" sz="16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78856" y="5981700"/>
            <a:ext cx="300082" cy="338554"/>
          </a:xfrm>
          <a:prstGeom prst="rect">
            <a:avLst/>
          </a:prstGeom>
          <a:noFill/>
        </p:spPr>
        <p:txBody>
          <a:bodyPr wrap="none" rtlCol="0">
            <a:spAutoFit/>
          </a:bodyPr>
          <a:lstStyle/>
          <a:p>
            <a:pPr algn="ctr"/>
            <a:r>
              <a:rPr lang="en-US" altLang="zh-CN" sz="1600" dirty="0"/>
              <a:t>3</a:t>
            </a:r>
            <a:endParaRPr lang="zh-CN" altLang="en-US" sz="16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67831" y="5981700"/>
            <a:ext cx="320922" cy="338554"/>
          </a:xfrm>
          <a:prstGeom prst="rect">
            <a:avLst/>
          </a:prstGeom>
          <a:noFill/>
        </p:spPr>
        <p:txBody>
          <a:bodyPr wrap="none" rtlCol="0">
            <a:spAutoFit/>
          </a:bodyPr>
          <a:lstStyle/>
          <a:p>
            <a:pPr algn="ctr"/>
            <a:r>
              <a:rPr lang="en-US" altLang="zh-CN" sz="1600" dirty="0"/>
              <a:t>4</a:t>
            </a:r>
            <a:endParaRPr lang="zh-CN" altLang="en-US" sz="16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77646" y="5981700"/>
            <a:ext cx="300082" cy="338554"/>
          </a:xfrm>
          <a:prstGeom prst="rect">
            <a:avLst/>
          </a:prstGeom>
          <a:noFill/>
        </p:spPr>
        <p:txBody>
          <a:bodyPr wrap="none" rtlCol="0">
            <a:spAutoFit/>
          </a:bodyPr>
          <a:lstStyle/>
          <a:p>
            <a:pPr algn="ctr"/>
            <a:r>
              <a:rPr lang="en-US" altLang="zh-CN" sz="1600" dirty="0"/>
              <a:t>5</a:t>
            </a:r>
            <a:endParaRPr lang="zh-CN" altLang="en-US" sz="16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3389341412"/>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600" b="0" dirty="0">
                          <a:solidFill>
                            <a:schemeClr val="tx1"/>
                          </a:solidFill>
                        </a:rPr>
                        <a:t>8p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6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6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6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34849" y="5981700"/>
            <a:ext cx="556563" cy="338554"/>
          </a:xfrm>
          <a:prstGeom prst="rect">
            <a:avLst/>
          </a:prstGeom>
          <a:noFill/>
        </p:spPr>
        <p:txBody>
          <a:bodyPr wrap="none" rtlCol="0">
            <a:spAutoFit/>
          </a:bodyPr>
          <a:lstStyle/>
          <a:p>
            <a:pPr algn="ctr"/>
            <a:r>
              <a:rPr lang="en-US" altLang="zh-CN" sz="1600" dirty="0"/>
              <a:t>day</a:t>
            </a:r>
            <a:endParaRPr lang="zh-CN" altLang="en-US" sz="16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2350559375"/>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4274109136"/>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600" b="0" dirty="0">
                          <a:solidFill>
                            <a:schemeClr val="tx1"/>
                          </a:solidFill>
                        </a:rPr>
                        <a:t>A2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600" b="0" dirty="0">
                          <a:solidFill>
                            <a:schemeClr val="tx1"/>
                          </a:solidFill>
                        </a:rPr>
                        <a:t>A1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4173562273"/>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600" b="0" strike="noStrike" baseline="0" dirty="0">
                          <a:solidFill>
                            <a:schemeClr val="tx1"/>
                          </a:solidFill>
                        </a:rPr>
                        <a:t>C2</a:t>
                      </a: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600" b="0" strike="noStrike" baseline="0" dirty="0">
                          <a:solidFill>
                            <a:schemeClr val="tx1"/>
                          </a:solidFill>
                        </a:rPr>
                        <a:t>C2</a:t>
                      </a: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600" b="0" strike="noStrike" baseline="0" dirty="0">
                          <a:solidFill>
                            <a:schemeClr val="tx1"/>
                          </a:solidFill>
                        </a:rPr>
                        <a:t>C2</a:t>
                      </a: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600" b="0" strike="noStrike" baseline="0" dirty="0">
                          <a:solidFill>
                            <a:schemeClr val="tx1"/>
                          </a:solidFill>
                        </a:rPr>
                        <a:t>C1</a:t>
                      </a: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600" b="0" strike="noStrike" baseline="0" dirty="0">
                          <a:solidFill>
                            <a:schemeClr val="tx1"/>
                          </a:solidFill>
                        </a:rPr>
                        <a:t>C1</a:t>
                      </a: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600" b="0" strike="noStrike" baseline="0" dirty="0">
                          <a:solidFill>
                            <a:schemeClr val="tx1"/>
                          </a:solidFill>
                        </a:rPr>
                        <a:t>C1</a:t>
                      </a: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6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03399" y="5981700"/>
            <a:ext cx="320922" cy="338554"/>
          </a:xfrm>
          <a:prstGeom prst="rect">
            <a:avLst/>
          </a:prstGeom>
          <a:noFill/>
        </p:spPr>
        <p:txBody>
          <a:bodyPr wrap="none" rtlCol="0">
            <a:spAutoFit/>
          </a:bodyPr>
          <a:lstStyle/>
          <a:p>
            <a:pPr algn="ctr"/>
            <a:r>
              <a:rPr lang="en-US" altLang="zh-CN" sz="1600" dirty="0"/>
              <a:t>0</a:t>
            </a:r>
            <a:endParaRPr lang="zh-CN" altLang="en-US" sz="16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3214" y="5981700"/>
            <a:ext cx="258404" cy="338554"/>
          </a:xfrm>
          <a:prstGeom prst="rect">
            <a:avLst/>
          </a:prstGeom>
          <a:noFill/>
        </p:spPr>
        <p:txBody>
          <a:bodyPr wrap="none" rtlCol="0">
            <a:spAutoFit/>
          </a:bodyPr>
          <a:lstStyle/>
          <a:p>
            <a:pPr algn="ctr"/>
            <a:r>
              <a:rPr lang="en-US" altLang="zh-CN" sz="1600" dirty="0"/>
              <a:t>1</a:t>
            </a:r>
            <a:endParaRPr lang="zh-CN" altLang="en-US" sz="16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0511" y="5981700"/>
            <a:ext cx="301685" cy="338554"/>
          </a:xfrm>
          <a:prstGeom prst="rect">
            <a:avLst/>
          </a:prstGeom>
          <a:noFill/>
        </p:spPr>
        <p:txBody>
          <a:bodyPr wrap="none" rtlCol="0">
            <a:spAutoFit/>
          </a:bodyPr>
          <a:lstStyle/>
          <a:p>
            <a:pPr algn="ctr"/>
            <a:r>
              <a:rPr lang="en-US" altLang="zh-CN" sz="1600" dirty="0"/>
              <a:t>2</a:t>
            </a:r>
            <a:endParaRPr lang="zh-CN" altLang="en-US" sz="16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1091" y="5981700"/>
            <a:ext cx="300082" cy="338554"/>
          </a:xfrm>
          <a:prstGeom prst="rect">
            <a:avLst/>
          </a:prstGeom>
          <a:noFill/>
        </p:spPr>
        <p:txBody>
          <a:bodyPr wrap="none" rtlCol="0">
            <a:spAutoFit/>
          </a:bodyPr>
          <a:lstStyle/>
          <a:p>
            <a:pPr algn="ctr"/>
            <a:r>
              <a:rPr lang="en-US" altLang="zh-CN" sz="1600" dirty="0"/>
              <a:t>3</a:t>
            </a:r>
            <a:endParaRPr lang="zh-CN" altLang="en-US" sz="16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0066" y="5981700"/>
            <a:ext cx="320922" cy="338554"/>
          </a:xfrm>
          <a:prstGeom prst="rect">
            <a:avLst/>
          </a:prstGeom>
          <a:noFill/>
        </p:spPr>
        <p:txBody>
          <a:bodyPr wrap="none" rtlCol="0">
            <a:spAutoFit/>
          </a:bodyPr>
          <a:lstStyle/>
          <a:p>
            <a:pPr algn="ctr"/>
            <a:r>
              <a:rPr lang="en-US" altLang="zh-CN" sz="1600" dirty="0"/>
              <a:t>4</a:t>
            </a:r>
            <a:endParaRPr lang="zh-CN" altLang="en-US" sz="16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49881" y="5981700"/>
            <a:ext cx="300082" cy="338554"/>
          </a:xfrm>
          <a:prstGeom prst="rect">
            <a:avLst/>
          </a:prstGeom>
          <a:noFill/>
        </p:spPr>
        <p:txBody>
          <a:bodyPr wrap="none" rtlCol="0">
            <a:spAutoFit/>
          </a:bodyPr>
          <a:lstStyle/>
          <a:p>
            <a:pPr algn="ctr"/>
            <a:r>
              <a:rPr lang="en-US" altLang="zh-CN" sz="1600" dirty="0"/>
              <a:t>5</a:t>
            </a:r>
            <a:endParaRPr lang="zh-CN" altLang="en-US" sz="16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3073531940"/>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600" b="0" dirty="0">
                          <a:solidFill>
                            <a:schemeClr val="tx1"/>
                          </a:solidFill>
                        </a:rPr>
                        <a:t>6p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6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6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6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07084" y="5981700"/>
            <a:ext cx="556563" cy="338554"/>
          </a:xfrm>
          <a:prstGeom prst="rect">
            <a:avLst/>
          </a:prstGeom>
          <a:noFill/>
        </p:spPr>
        <p:txBody>
          <a:bodyPr wrap="none" rtlCol="0">
            <a:spAutoFit/>
          </a:bodyPr>
          <a:lstStyle/>
          <a:p>
            <a:pPr algn="ctr"/>
            <a:r>
              <a:rPr lang="en-US" altLang="zh-CN" sz="1600" dirty="0"/>
              <a:t>day</a:t>
            </a:r>
            <a:endParaRPr lang="zh-CN" altLang="en-US" sz="16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14968" y="504591"/>
              <a:ext cx="322524" cy="338554"/>
            </a:xfrm>
            <a:prstGeom prst="rect">
              <a:avLst/>
            </a:prstGeom>
            <a:noFill/>
            <a:ln>
              <a:noFill/>
            </a:ln>
          </p:spPr>
          <p:txBody>
            <a:bodyPr wrap="none" rtlCol="0">
              <a:spAutoFit/>
            </a:bodyPr>
            <a:lstStyle/>
            <a:p>
              <a:pPr algn="ctr"/>
              <a:r>
                <a:rPr lang="en-US" altLang="zh-CN" sz="1600" dirty="0"/>
                <a:t>E</a:t>
              </a:r>
              <a:endParaRPr lang="zh-CN" altLang="en-US" sz="16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798937" y="1718599"/>
              <a:ext cx="354584" cy="338554"/>
            </a:xfrm>
            <a:prstGeom prst="rect">
              <a:avLst/>
            </a:prstGeom>
            <a:noFill/>
            <a:ln>
              <a:noFill/>
            </a:ln>
          </p:spPr>
          <p:txBody>
            <a:bodyPr wrap="none" rtlCol="0">
              <a:spAutoFit/>
            </a:bodyPr>
            <a:lstStyle/>
            <a:p>
              <a:pPr algn="ctr"/>
              <a:r>
                <a:rPr lang="en-US" altLang="zh-CN" sz="1600" dirty="0"/>
                <a:t>D</a:t>
              </a:r>
              <a:endParaRPr lang="zh-CN" altLang="en-US" sz="16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4993946" y="447441"/>
              <a:ext cx="332142" cy="338554"/>
            </a:xfrm>
            <a:prstGeom prst="rect">
              <a:avLst/>
            </a:prstGeom>
            <a:noFill/>
            <a:ln>
              <a:noFill/>
            </a:ln>
          </p:spPr>
          <p:txBody>
            <a:bodyPr wrap="none" rtlCol="0">
              <a:spAutoFit/>
            </a:bodyPr>
            <a:lstStyle/>
            <a:p>
              <a:pPr algn="ctr"/>
              <a:r>
                <a:rPr lang="en-US" altLang="zh-CN" sz="1600" dirty="0"/>
                <a:t>A</a:t>
              </a:r>
              <a:endParaRPr lang="zh-CN" altLang="en-US" sz="16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17878" y="1737649"/>
              <a:ext cx="332142" cy="338554"/>
            </a:xfrm>
            <a:prstGeom prst="rect">
              <a:avLst/>
            </a:prstGeom>
            <a:noFill/>
            <a:ln>
              <a:noFill/>
            </a:ln>
          </p:spPr>
          <p:txBody>
            <a:bodyPr wrap="none" rtlCol="0">
              <a:spAutoFit/>
            </a:bodyPr>
            <a:lstStyle/>
            <a:p>
              <a:pPr algn="ctr"/>
              <a:r>
                <a:rPr lang="en-US" altLang="zh-CN" sz="1600" dirty="0"/>
                <a:t>C</a:t>
              </a:r>
              <a:endParaRPr lang="zh-CN" altLang="en-US" sz="16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41810" y="666516"/>
              <a:ext cx="340157" cy="338554"/>
            </a:xfrm>
            <a:prstGeom prst="rect">
              <a:avLst/>
            </a:prstGeom>
            <a:noFill/>
            <a:ln>
              <a:noFill/>
            </a:ln>
          </p:spPr>
          <p:txBody>
            <a:bodyPr wrap="none" rtlCol="0">
              <a:spAutoFit/>
            </a:bodyPr>
            <a:lstStyle/>
            <a:p>
              <a:pPr algn="ctr"/>
              <a:r>
                <a:rPr lang="en-US" altLang="zh-CN" sz="1600" dirty="0"/>
                <a:t>B</a:t>
              </a:r>
              <a:endParaRPr lang="zh-CN" altLang="en-US" sz="16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1019523382"/>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695998"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7" name="文本占位符 6">
            <a:extLst>
              <a:ext uri="{FF2B5EF4-FFF2-40B4-BE49-F238E27FC236}">
                <a16:creationId xmlns:a16="http://schemas.microsoft.com/office/drawing/2014/main" id="{945BF2E1-955E-B968-F325-6D2E47C21C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695998"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695998"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solidFill>
              <a:schemeClr val="tx1"/>
            </a:solid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solidFill>
              <a:schemeClr val="tx1"/>
            </a:solid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869019404"/>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质检比 </a:t>
                      </a:r>
                      <a:r>
                        <a:rPr lang="en-US" altLang="zh-CN" sz="1600" dirty="0">
                          <a:solidFill>
                            <a:schemeClr val="tx1"/>
                          </a:solidFill>
                        </a:rPr>
                        <a:t>= </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t>1:10:100 </a:t>
            </a:r>
            <a:r>
              <a:rPr lang="zh-CN" altLang="en-US" sz="2800" dirty="0"/>
              <a:t>法则</a:t>
            </a:r>
          </a:p>
        </p:txBody>
      </p:sp>
    </p:spTree>
    <p:extLst>
      <p:ext uri="{BB962C8B-B14F-4D97-AF65-F5344CB8AC3E}">
        <p14:creationId xmlns:p14="http://schemas.microsoft.com/office/powerpoint/2010/main" val="367724098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695998"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695998"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17" name="内容占位符 16">
            <a:extLst>
              <a:ext uri="{FF2B5EF4-FFF2-40B4-BE49-F238E27FC236}">
                <a16:creationId xmlns:a16="http://schemas.microsoft.com/office/drawing/2014/main" id="{A6CF8B59-A905-6FF3-18F0-728C7588FDD9}"/>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7" name="内容占位符 6">
            <a:extLst>
              <a:ext uri="{FF2B5EF4-FFF2-40B4-BE49-F238E27FC236}">
                <a16:creationId xmlns:a16="http://schemas.microsoft.com/office/drawing/2014/main" id="{C5B1AE6E-1212-7F2F-CFD6-FF56AD17C62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695998"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3643316866"/>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altLang="zh-CN" sz="1600" dirty="0">
                          <a:solidFill>
                            <a:schemeClr val="tx1"/>
                          </a:solidFill>
                        </a:rPr>
                        <a:t>(</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altLang="zh-CN" sz="1600" dirty="0">
                          <a:solidFill>
                            <a:schemeClr val="tx1"/>
                          </a:solidFill>
                        </a:rPr>
                        <a:t>(</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altLang="zh-CN" sz="1600" dirty="0">
                          <a:solidFill>
                            <a:schemeClr val="tx1"/>
                          </a:solidFill>
                        </a:rPr>
                        <a:t>(</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altLang="zh-CN" sz="1600" dirty="0">
                          <a:solidFill>
                            <a:schemeClr val="tx1"/>
                          </a:solidFill>
                        </a:rPr>
                        <a:t>(</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altLang="zh-CN" sz="1600" dirty="0">
                          <a:solidFill>
                            <a:schemeClr val="tx1"/>
                          </a:solidFill>
                        </a:rPr>
                        <a:t>(</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a:solidFill>
                            <a:schemeClr val="tx1"/>
                          </a:solidFill>
                        </a:rPr>
                        <a:t>可维护性 </a:t>
                      </a:r>
                      <a:r>
                        <a:rPr lang="en-US" altLang="zh-CN" sz="1600">
                          <a:solidFill>
                            <a:schemeClr val="tx1"/>
                          </a:solidFill>
                        </a:rPr>
                        <a:t>(</a:t>
                      </a:r>
                      <a:r>
                        <a:rPr lang="en-US" sz="1600">
                          <a:solidFill>
                            <a:schemeClr val="tx1"/>
                          </a:solidFill>
                        </a:rPr>
                        <a:t>Maintainability)</a:t>
                      </a:r>
                      <a:br>
                        <a:rPr lang="en-US" sz="1600">
                          <a:solidFill>
                            <a:schemeClr val="tx1"/>
                          </a:solidFill>
                        </a:rPr>
                      </a:br>
                      <a:r>
                        <a:rPr lang="zh-CN" altLang="en-US" sz="1600">
                          <a:solidFill>
                            <a:schemeClr val="tx1"/>
                          </a:solidFill>
                        </a:rPr>
                        <a:t>灵活性 </a:t>
                      </a:r>
                      <a:r>
                        <a:rPr lang="en-US" altLang="zh-CN" sz="1600">
                          <a:solidFill>
                            <a:schemeClr val="tx1"/>
                          </a:solidFill>
                        </a:rPr>
                        <a:t>(</a:t>
                      </a:r>
                      <a:r>
                        <a:rPr lang="en-US" sz="1600">
                          <a:solidFill>
                            <a:schemeClr val="tx1"/>
                          </a:solidFill>
                        </a:rPr>
                        <a:t>Flexibility)</a:t>
                      </a:r>
                      <a:br>
                        <a:rPr lang="en-US" sz="1600">
                          <a:solidFill>
                            <a:schemeClr val="tx1"/>
                          </a:solidFill>
                        </a:rPr>
                      </a:br>
                      <a:r>
                        <a:rPr lang="zh-CN" altLang="en-US" sz="1600">
                          <a:solidFill>
                            <a:schemeClr val="tx1"/>
                          </a:solidFill>
                        </a:rPr>
                        <a:t>可测试性 </a:t>
                      </a:r>
                      <a:r>
                        <a:rPr lang="en-US" altLang="zh-CN" sz="1600">
                          <a:solidFill>
                            <a:schemeClr val="tx1"/>
                          </a:solidFill>
                        </a:rPr>
                        <a:t>(</a:t>
                      </a:r>
                      <a:r>
                        <a:rPr lang="en-US" sz="160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altLang="zh-CN" sz="1600" dirty="0">
                          <a:solidFill>
                            <a:schemeClr val="tx1"/>
                          </a:solidFill>
                        </a:rPr>
                        <a:t>(</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altLang="zh-CN" sz="1600" dirty="0">
                          <a:solidFill>
                            <a:schemeClr val="tx1"/>
                          </a:solidFill>
                        </a:rPr>
                        <a:t>(</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altLang="zh-CN" sz="1600" dirty="0">
                          <a:solidFill>
                            <a:schemeClr val="tx1"/>
                          </a:solidFill>
                        </a:rPr>
                        <a:t>(</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1005403" cy="338554"/>
          </a:xfrm>
          <a:prstGeom prst="rect">
            <a:avLst/>
          </a:prstGeom>
          <a:noFill/>
          <a:ln>
            <a:noFill/>
          </a:ln>
        </p:spPr>
        <p:txBody>
          <a:bodyPr wrap="none" rtlCol="0">
            <a:spAutoFit/>
          </a:bodyPr>
          <a:lstStyle/>
          <a:p>
            <a:pPr algn="l"/>
            <a:r>
              <a:rPr lang="zh-CN" altLang="en-US" sz="16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210588" cy="338554"/>
          </a:xfrm>
          <a:prstGeom prst="rect">
            <a:avLst/>
          </a:prstGeom>
          <a:noFill/>
          <a:ln>
            <a:noFill/>
          </a:ln>
        </p:spPr>
        <p:txBody>
          <a:bodyPr wrap="none" rtlCol="0">
            <a:spAutoFit/>
          </a:bodyPr>
          <a:lstStyle/>
          <a:p>
            <a:pPr algn="l"/>
            <a:r>
              <a:rPr lang="zh-CN" altLang="en-US" sz="16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1005403" cy="338554"/>
          </a:xfrm>
          <a:prstGeom prst="rect">
            <a:avLst/>
          </a:prstGeom>
          <a:noFill/>
          <a:ln>
            <a:noFill/>
          </a:ln>
        </p:spPr>
        <p:txBody>
          <a:bodyPr wrap="none" rtlCol="0">
            <a:spAutoFit/>
          </a:bodyPr>
          <a:lstStyle/>
          <a:p>
            <a:pPr algn="l"/>
            <a:r>
              <a:rPr lang="zh-CN" altLang="en-US" sz="16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695998" y="360000"/>
            <a:ext cx="6375921" cy="429413"/>
          </a:xfrm>
        </p:spPr>
        <p:txBody>
          <a:bodyPr/>
          <a:lstStyle/>
          <a:p>
            <a:r>
              <a:rPr lang="en-US" altLang="zh-CN" dirty="0"/>
              <a:t>3. </a:t>
            </a:r>
            <a:r>
              <a:rPr lang="zh-CN" altLang="en-US" dirty="0"/>
              <a:t>软件质量管理活动</a:t>
            </a:r>
          </a:p>
        </p:txBody>
      </p:sp>
      <p:sp>
        <p:nvSpPr>
          <p:cNvPr id="7" name="内容占位符 6">
            <a:extLst>
              <a:ext uri="{FF2B5EF4-FFF2-40B4-BE49-F238E27FC236}">
                <a16:creationId xmlns:a16="http://schemas.microsoft.com/office/drawing/2014/main" id="{8D897C33-83F9-84BB-9DEB-74045D3C1E33}"/>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A736058A-D61C-DE23-4F66-8C177442799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695998"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695998"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695998"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t>QA</a:t>
            </a:r>
            <a:endParaRPr lang="zh-CN" altLang="en-US" sz="2800" dirty="0"/>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t>QC</a:t>
            </a:r>
            <a:endParaRPr lang="zh-CN" altLang="en-US" sz="2800" dirty="0"/>
          </a:p>
        </p:txBody>
      </p:sp>
    </p:spTree>
    <p:extLst>
      <p:ext uri="{BB962C8B-B14F-4D97-AF65-F5344CB8AC3E}">
        <p14:creationId xmlns:p14="http://schemas.microsoft.com/office/powerpoint/2010/main" val="181281236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695998"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7" name="文本占位符 6">
            <a:extLst>
              <a:ext uri="{FF2B5EF4-FFF2-40B4-BE49-F238E27FC236}">
                <a16:creationId xmlns:a16="http://schemas.microsoft.com/office/drawing/2014/main" id="{C5C5AB4F-C2EE-B7CC-D77E-81265DC4B63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695998"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6" name="文本占位符 5">
            <a:extLst>
              <a:ext uri="{FF2B5EF4-FFF2-40B4-BE49-F238E27FC236}">
                <a16:creationId xmlns:a16="http://schemas.microsoft.com/office/drawing/2014/main" id="{90C05809-2B3F-9129-2BB9-9103FCAFA9F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695998"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7" name="文本占位符 6">
            <a:extLst>
              <a:ext uri="{FF2B5EF4-FFF2-40B4-BE49-F238E27FC236}">
                <a16:creationId xmlns:a16="http://schemas.microsoft.com/office/drawing/2014/main" id="{DC0B951E-90A1-7A6B-E2EA-4F302A60CC8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695998"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6" name="文本占位符 5">
            <a:extLst>
              <a:ext uri="{FF2B5EF4-FFF2-40B4-BE49-F238E27FC236}">
                <a16:creationId xmlns:a16="http://schemas.microsoft.com/office/drawing/2014/main" id="{485B08BF-D373-DB05-C4AF-7BA9D68D1C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695998"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695998"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695998"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cx1="http://schemas.microsoft.com/office/drawing/2015/9/8/chartex"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mc:Choice xmlns:cx1="http://schemas.microsoft.com/office/drawing/2015/9/8/chartex"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695998"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695998"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2974269123"/>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3092556846"/>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695998"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6" name="文本占位符 5">
            <a:extLst>
              <a:ext uri="{FF2B5EF4-FFF2-40B4-BE49-F238E27FC236}">
                <a16:creationId xmlns:a16="http://schemas.microsoft.com/office/drawing/2014/main" id="{C048C235-357C-3038-203C-BCCF9C70D90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695998"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6" name="文本占位符 5">
            <a:extLst>
              <a:ext uri="{FF2B5EF4-FFF2-40B4-BE49-F238E27FC236}">
                <a16:creationId xmlns:a16="http://schemas.microsoft.com/office/drawing/2014/main" id="{43DC4924-4274-FBD8-4F43-FBE548FE295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695998"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6" name="文本占位符 5">
            <a:extLst>
              <a:ext uri="{FF2B5EF4-FFF2-40B4-BE49-F238E27FC236}">
                <a16:creationId xmlns:a16="http://schemas.microsoft.com/office/drawing/2014/main" id="{3933CA79-1D4C-0BC6-7567-4462EDD024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695998"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6" name="文本占位符 5">
            <a:extLst>
              <a:ext uri="{FF2B5EF4-FFF2-40B4-BE49-F238E27FC236}">
                <a16:creationId xmlns:a16="http://schemas.microsoft.com/office/drawing/2014/main" id="{DA27AD19-1D99-C22C-9905-72D439C6C5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765129270"/>
              </p:ext>
            </p:extLst>
          </p:nvPr>
        </p:nvGraphicFramePr>
        <p:xfrm>
          <a:off x="1876425"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41427" y="4660103"/>
            <a:ext cx="720000" cy="720000"/>
          </a:xfrm>
          <a:prstGeom prst="rect">
            <a:avLst/>
          </a:prstGeom>
        </p:spPr>
      </p:pic>
    </p:spTree>
    <p:extLst>
      <p:ext uri="{BB962C8B-B14F-4D97-AF65-F5344CB8AC3E}">
        <p14:creationId xmlns:p14="http://schemas.microsoft.com/office/powerpoint/2010/main" val="407560988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a:t>
            </a:r>
            <a:r>
              <a:rPr lang="zh-CN" altLang="en-US"/>
              <a:t>（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spTree>
    <p:extLst>
      <p:ext uri="{BB962C8B-B14F-4D97-AF65-F5344CB8AC3E}">
        <p14:creationId xmlns:p14="http://schemas.microsoft.com/office/powerpoint/2010/main" val="769967317"/>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695998"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a:t>
            </a:r>
            <a:r>
              <a:rPr lang="zh-CN" altLang="en-US" dirty="0">
                <a:solidFill>
                  <a:schemeClr val="accent2"/>
                </a:solidFill>
              </a:rPr>
              <a:t>配置项</a:t>
            </a:r>
            <a:r>
              <a:rPr lang="zh-CN" altLang="en-US" dirty="0"/>
              <a:t>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695998"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a:p>
            <a:endParaRPr lang="zh-CN" altLang="en-US" dirty="0"/>
          </a:p>
          <a:p>
            <a:endParaRPr lang="zh-CN" altLang="en-US" dirty="0"/>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ysClr val="windowText" lastClr="000000"/>
                </a:solidFill>
              </a:rPr>
              <a:t>SCI</a:t>
            </a:r>
            <a:endParaRPr lang="zh-CN" altLang="en-US" sz="2400" dirty="0">
              <a:solidFill>
                <a:sysClr val="windowText" lastClr="000000"/>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695998" y="360000"/>
            <a:ext cx="6375921" cy="429413"/>
          </a:xfrm>
        </p:spPr>
        <p:txBody>
          <a:bodyPr/>
          <a:lstStyle/>
          <a:p>
            <a:r>
              <a:rPr lang="en-US" altLang="zh-CN" dirty="0"/>
              <a:t>1.3 </a:t>
            </a:r>
            <a:r>
              <a:rPr lang="zh-CN" altLang="en-US" dirty="0"/>
              <a:t>软件项目基线</a:t>
            </a:r>
          </a:p>
        </p:txBody>
      </p:sp>
      <p:sp>
        <p:nvSpPr>
          <p:cNvPr id="40" name="内容占位符 39">
            <a:extLst>
              <a:ext uri="{FF2B5EF4-FFF2-40B4-BE49-F238E27FC236}">
                <a16:creationId xmlns:a16="http://schemas.microsoft.com/office/drawing/2014/main" id="{48CFD867-F396-7EA4-99DB-A1C805AE63D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4063650682"/>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zh-CN" altLang="en-US" sz="1600" dirty="0"/>
                        <a:t>特征</a:t>
                      </a:r>
                    </a:p>
                  </a:txBody>
                  <a:tcPr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解释</a:t>
                      </a:r>
                    </a:p>
                  </a:txBody>
                  <a:tcPr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为什么重要？</a:t>
                      </a:r>
                    </a:p>
                  </a:txBody>
                  <a:tcPr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 </a:t>
                      </a:r>
                      <a:r>
                        <a:rPr lang="en-US" altLang="zh-CN" sz="1600" dirty="0"/>
                        <a:t>Review </a:t>
                      </a:r>
                      <a:r>
                        <a:rPr lang="zh-CN" altLang="en-US" sz="1600" dirty="0"/>
                        <a:t>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项目经理 </a:t>
            </a:r>
            <a:r>
              <a:rPr lang="en-US" altLang="zh-CN" dirty="0"/>
              <a:t>and the project manager</a:t>
            </a:r>
          </a:p>
          <a:p>
            <a:pPr lvl="1"/>
            <a:r>
              <a:rPr lang="zh-CN" altLang="en-US" dirty="0"/>
              <a:t>开发经理 </a:t>
            </a:r>
            <a:r>
              <a:rPr lang="en-US" altLang="zh-CN" dirty="0"/>
              <a:t>the development manager</a:t>
            </a:r>
          </a:p>
          <a:p>
            <a:pPr lvl="1"/>
            <a:r>
              <a:rPr lang="zh-CN" altLang="en-US" dirty="0"/>
              <a:t>测试经理 </a:t>
            </a:r>
            <a:r>
              <a:rPr lang="en-US" altLang="zh-CN" dirty="0"/>
              <a:t>a test manager</a:t>
            </a:r>
          </a:p>
          <a:p>
            <a:pPr lvl="1"/>
            <a:r>
              <a:rPr lang="zh-CN" altLang="en-US" dirty="0"/>
              <a:t>产品经理 </a:t>
            </a:r>
            <a:r>
              <a:rPr lang="en-US" altLang="zh-CN" dirty="0"/>
              <a:t>a product manager</a:t>
            </a:r>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695998" y="360000"/>
            <a:ext cx="6375921" cy="429413"/>
          </a:xfrm>
        </p:spPr>
        <p:txBody>
          <a:bodyPr/>
          <a:lstStyle/>
          <a:p>
            <a:r>
              <a:rPr lang="en-US" altLang="zh-CN" dirty="0"/>
              <a:t>2. </a:t>
            </a:r>
            <a:r>
              <a:rPr lang="zh-CN" altLang="en-US" dirty="0"/>
              <a:t>配置管理过程</a:t>
            </a:r>
          </a:p>
        </p:txBody>
      </p:sp>
      <p:sp>
        <p:nvSpPr>
          <p:cNvPr id="6" name="内容占位符 5">
            <a:extLst>
              <a:ext uri="{FF2B5EF4-FFF2-40B4-BE49-F238E27FC236}">
                <a16:creationId xmlns:a16="http://schemas.microsoft.com/office/drawing/2014/main" id="{A5BB81B8-AAD8-882F-1ABA-F3BE276DC7EC}"/>
              </a:ext>
            </a:extLst>
          </p:cNvPr>
          <p:cNvSpPr>
            <a:spLocks noGrp="1"/>
          </p:cNvSpPr>
          <p:nvPr>
            <p:ph idx="1"/>
          </p:nvPr>
        </p:nvSpPr>
        <p:spPr>
          <a:xfrm>
            <a:off x="696000" y="864000"/>
            <a:ext cx="10800000" cy="5400000"/>
          </a:xfrm>
        </p:spPr>
        <p:txBody>
          <a:bodyPr/>
          <a:lstStyle/>
          <a:p>
            <a:endParaRPr lang="zh-CN" altLang="en-US" dirty="0"/>
          </a:p>
        </p:txBody>
      </p:sp>
      <p:sp>
        <p:nvSpPr>
          <p:cNvPr id="14" name="文本占位符 13">
            <a:extLst>
              <a:ext uri="{FF2B5EF4-FFF2-40B4-BE49-F238E27FC236}">
                <a16:creationId xmlns:a16="http://schemas.microsoft.com/office/drawing/2014/main" id="{7F912A19-543A-BA90-846A-12336A2E3848}"/>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06</a:t>
            </a:r>
            <a:endParaRPr lang="zh-CN" altLang="en-US" sz="2400" b="1" dirty="0">
              <a:solidFill>
                <a:schemeClr val="bg1"/>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29" name="文本占位符 28">
            <a:extLst>
              <a:ext uri="{FF2B5EF4-FFF2-40B4-BE49-F238E27FC236}">
                <a16:creationId xmlns:a16="http://schemas.microsoft.com/office/drawing/2014/main" id="{66698798-00A0-7650-766C-7FCDE8FF351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022262672"/>
              </p:ext>
            </p:extLst>
          </p:nvPr>
        </p:nvGraphicFramePr>
        <p:xfrm>
          <a:off x="694649" y="2758440"/>
          <a:ext cx="10801350" cy="134112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sz="1600" dirty="0">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316052283"/>
                  </a:ext>
                </a:extLst>
              </a:tr>
              <a:tr h="0">
                <a:tc>
                  <a:txBody>
                    <a:bodyPr/>
                    <a:lstStyle/>
                    <a:p>
                      <a:pPr>
                        <a:buNone/>
                      </a:pPr>
                      <a:r>
                        <a:rPr lang="zh-CN" altLang="en-US" sz="1600"/>
                        <a:t>草稿 </a:t>
                      </a:r>
                      <a:r>
                        <a:rPr lang="en-US" sz="1600"/>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sz="1600" dirty="0"/>
                        <a:t>0.Y 或 0.YZ</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sz="1600"/>
                        <a:t>正式 </a:t>
                      </a:r>
                      <a:r>
                        <a:rPr lang="en-US" sz="1600"/>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sz="1600"/>
                        <a:t>1.X 或 X.Y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sz="1600"/>
                        <a:t>修改 </a:t>
                      </a:r>
                      <a:r>
                        <a:rPr lang="en-US" sz="1600"/>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如从 </a:t>
                      </a:r>
                      <a:r>
                        <a:rPr lang="en-US" altLang="zh-CN" sz="1600" dirty="0"/>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
        <p:nvSpPr>
          <p:cNvPr id="6" name="文本框 5">
            <a:extLst>
              <a:ext uri="{FF2B5EF4-FFF2-40B4-BE49-F238E27FC236}">
                <a16:creationId xmlns:a16="http://schemas.microsoft.com/office/drawing/2014/main" id="{44173DF6-7D15-B95A-6F45-238EED3B7E53}"/>
              </a:ext>
            </a:extLst>
          </p:cNvPr>
          <p:cNvSpPr txBox="1"/>
          <p:nvPr/>
        </p:nvSpPr>
        <p:spPr>
          <a:xfrm>
            <a:off x="5593299" y="2324100"/>
            <a:ext cx="1005403" cy="338554"/>
          </a:xfrm>
          <a:prstGeom prst="rect">
            <a:avLst/>
          </a:prstGeom>
          <a:noFill/>
        </p:spPr>
        <p:txBody>
          <a:bodyPr wrap="none" rtlCol="0">
            <a:spAutoFit/>
          </a:bodyPr>
          <a:lstStyle/>
          <a:p>
            <a:pPr algn="ctr"/>
            <a:r>
              <a:rPr lang="zh-CN" altLang="en-US" sz="1600" dirty="0"/>
              <a:t>版本规则</a:t>
            </a:r>
          </a:p>
        </p:txBody>
      </p:sp>
    </p:spTree>
    <p:extLst>
      <p:ext uri="{BB962C8B-B14F-4D97-AF65-F5344CB8AC3E}">
        <p14:creationId xmlns:p14="http://schemas.microsoft.com/office/powerpoint/2010/main" val="324730802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695998"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a:t>
            </a:r>
            <a:endParaRPr lang="en-US" altLang="zh-CN" dirty="0"/>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22" name="文本占位符 21">
            <a:extLst>
              <a:ext uri="{FF2B5EF4-FFF2-40B4-BE49-F238E27FC236}">
                <a16:creationId xmlns:a16="http://schemas.microsoft.com/office/drawing/2014/main" id="{6A3F092C-CD57-3E05-88B2-787041B72207}"/>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E474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endParaRPr lang="zh-CN" altLang="en-US" dirty="0"/>
          </a:p>
          <a:p>
            <a:r>
              <a:rPr lang="en-US" altLang="zh-CN" dirty="0"/>
              <a:t>CCB </a:t>
            </a:r>
            <a:r>
              <a:rPr lang="zh-CN" altLang="en-US" dirty="0"/>
              <a:t>评估变更影响</a:t>
            </a:r>
          </a:p>
          <a:p>
            <a:r>
              <a:rPr lang="zh-CN" altLang="en-US" dirty="0"/>
              <a:t>若批准，则执行变更</a:t>
            </a:r>
            <a:endParaRPr lang="en-US" altLang="zh-CN" dirty="0"/>
          </a:p>
          <a:p>
            <a:r>
              <a:rPr lang="zh-CN" altLang="en-US" dirty="0"/>
              <a:t>若拒绝，则通知申请人并归档</a:t>
            </a:r>
          </a:p>
          <a:p>
            <a:r>
              <a:rPr lang="zh-CN" altLang="en-US" dirty="0"/>
              <a:t>更新基线与文档，关闭变更请求</a:t>
            </a:r>
          </a:p>
          <a:p>
            <a:endParaRPr lang="zh-CN" altLang="en-US" dirty="0"/>
          </a:p>
        </p:txBody>
      </p:sp>
      <p:sp>
        <p:nvSpPr>
          <p:cNvPr id="5" name="文本占位符 4">
            <a:extLst>
              <a:ext uri="{FF2B5EF4-FFF2-40B4-BE49-F238E27FC236}">
                <a16:creationId xmlns:a16="http://schemas.microsoft.com/office/drawing/2014/main" id="{61D5013D-CF56-762F-457E-1182F18BF4F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3488271075"/>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970500" y="1147541"/>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253861" y="2443684"/>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4115507" y="2443684"/>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6098725" y="2443685"/>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8001707" y="2443685"/>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918110" y="671293"/>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792031" y="478009"/>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848933" y="1602116"/>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840540" y="1429500"/>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4032590" y="3591188"/>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363958" y="3591188"/>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695326" y="3591188"/>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5026694" y="3591188"/>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358061" y="3591188"/>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4192204" y="2911885"/>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854939" y="2892252"/>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238641" y="3591188"/>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531909" y="3591188"/>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825177" y="3591188"/>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7118445" y="3591188"/>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286839" y="3023301"/>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726741" y="3003669"/>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293560B5-667E-B7A7-F773-401BDCB40C6E}"/>
              </a:ext>
            </a:extLst>
          </p:cNvPr>
          <p:cNvSpPr txBox="1"/>
          <p:nvPr/>
        </p:nvSpPr>
        <p:spPr>
          <a:xfrm>
            <a:off x="7918790" y="3591188"/>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3" name="文本框 2">
            <a:extLst>
              <a:ext uri="{FF2B5EF4-FFF2-40B4-BE49-F238E27FC236}">
                <a16:creationId xmlns:a16="http://schemas.microsoft.com/office/drawing/2014/main" id="{B094AA16-5CA6-6A5B-5799-F650D98AC58C}"/>
              </a:ext>
            </a:extLst>
          </p:cNvPr>
          <p:cNvSpPr txBox="1"/>
          <p:nvPr/>
        </p:nvSpPr>
        <p:spPr>
          <a:xfrm>
            <a:off x="8250158" y="3591188"/>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4" name="文本框 3">
            <a:extLst>
              <a:ext uri="{FF2B5EF4-FFF2-40B4-BE49-F238E27FC236}">
                <a16:creationId xmlns:a16="http://schemas.microsoft.com/office/drawing/2014/main" id="{CE6CD43D-BE96-EBCF-2C48-8BD015570639}"/>
              </a:ext>
            </a:extLst>
          </p:cNvPr>
          <p:cNvSpPr txBox="1"/>
          <p:nvPr/>
        </p:nvSpPr>
        <p:spPr>
          <a:xfrm>
            <a:off x="8581526" y="3591188"/>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5" name="文本框 4">
            <a:extLst>
              <a:ext uri="{FF2B5EF4-FFF2-40B4-BE49-F238E27FC236}">
                <a16:creationId xmlns:a16="http://schemas.microsoft.com/office/drawing/2014/main" id="{EA65B8CC-F165-D95A-5EBC-71FB67EF377D}"/>
              </a:ext>
            </a:extLst>
          </p:cNvPr>
          <p:cNvSpPr txBox="1"/>
          <p:nvPr/>
        </p:nvSpPr>
        <p:spPr>
          <a:xfrm>
            <a:off x="8912894" y="3591188"/>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6" name="文本框 5">
            <a:extLst>
              <a:ext uri="{FF2B5EF4-FFF2-40B4-BE49-F238E27FC236}">
                <a16:creationId xmlns:a16="http://schemas.microsoft.com/office/drawing/2014/main" id="{6E803047-0510-1B20-BBB4-6B32E0A1D8DD}"/>
              </a:ext>
            </a:extLst>
          </p:cNvPr>
          <p:cNvSpPr txBox="1"/>
          <p:nvPr/>
        </p:nvSpPr>
        <p:spPr>
          <a:xfrm>
            <a:off x="9244261" y="3591188"/>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3" name="连接符: 肘形 12">
            <a:extLst>
              <a:ext uri="{FF2B5EF4-FFF2-40B4-BE49-F238E27FC236}">
                <a16:creationId xmlns:a16="http://schemas.microsoft.com/office/drawing/2014/main" id="{4CCFC0F9-F2EA-BE5B-ED4B-EECBECE76C80}"/>
              </a:ext>
            </a:extLst>
          </p:cNvPr>
          <p:cNvCxnSpPr>
            <a:stCxn id="12" idx="2"/>
            <a:endCxn id="2" idx="0"/>
          </p:cNvCxnSpPr>
          <p:nvPr/>
        </p:nvCxnSpPr>
        <p:spPr>
          <a:xfrm rot="5400000">
            <a:off x="8078405" y="2911885"/>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8405662F-C5DA-8C87-A8C1-AF1DF56B62EA}"/>
              </a:ext>
            </a:extLst>
          </p:cNvPr>
          <p:cNvCxnSpPr>
            <a:stCxn id="12" idx="2"/>
            <a:endCxn id="6" idx="0"/>
          </p:cNvCxnSpPr>
          <p:nvPr/>
        </p:nvCxnSpPr>
        <p:spPr>
          <a:xfrm rot="16200000" flipH="1">
            <a:off x="8741140" y="2892252"/>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3374866"/>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3A2D914-2A54-D5B1-41F7-9FB60468FE29}"/>
              </a:ext>
            </a:extLst>
          </p:cNvPr>
          <p:cNvSpPr>
            <a:spLocks noGrp="1"/>
          </p:cNvSpPr>
          <p:nvPr>
            <p:ph type="body" sz="quarter" idx="10"/>
          </p:nvPr>
        </p:nvSpPr>
        <p:spPr>
          <a:xfrm>
            <a:off x="3219345" y="1629000"/>
            <a:ext cx="8640000" cy="3600000"/>
          </a:xfrm>
        </p:spPr>
        <p:txBody>
          <a:bodyPr/>
          <a:lstStyle/>
          <a:p>
            <a:r>
              <a:rPr lang="zh-CN" altLang="en-US" dirty="0"/>
              <a:t>思考题 </a:t>
            </a:r>
            <a:r>
              <a:rPr lang="en-US" altLang="zh-CN" dirty="0"/>
              <a:t>Thinking</a:t>
            </a:r>
          </a:p>
          <a:p>
            <a:endParaRPr lang="en-US" altLang="zh-CN" dirty="0"/>
          </a:p>
          <a:p>
            <a:r>
              <a:rPr lang="zh-CN" altLang="en-US" dirty="0"/>
              <a:t>为什么变更批准</a:t>
            </a:r>
            <a:r>
              <a:rPr lang="en-US" altLang="zh-CN" dirty="0"/>
              <a:t>/</a:t>
            </a:r>
            <a:r>
              <a:rPr lang="zh-CN" altLang="en-US" dirty="0"/>
              <a:t>验证和变更实现都涉及到验证？</a:t>
            </a:r>
          </a:p>
        </p:txBody>
      </p:sp>
    </p:spTree>
    <p:extLst>
      <p:ext uri="{BB962C8B-B14F-4D97-AF65-F5344CB8AC3E}">
        <p14:creationId xmlns:p14="http://schemas.microsoft.com/office/powerpoint/2010/main" val="120949632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695998"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p:txBody>
          <a:bodyPr/>
          <a:lstStyle/>
          <a:p>
            <a:r>
              <a:rPr lang="zh-CN" altLang="en-US" dirty="0"/>
              <a:t>质量审计</a:t>
            </a:r>
            <a:endParaRPr lang="en-US" altLang="zh-CN" dirty="0"/>
          </a:p>
          <a:p>
            <a:pPr lvl="1"/>
            <a:r>
              <a:rPr lang="zh-CN" altLang="en-US" dirty="0"/>
              <a:t>配置管理活动审计</a:t>
            </a:r>
            <a:r>
              <a:rPr lang="en-US" altLang="zh-CN" dirty="0"/>
              <a:t>/</a:t>
            </a:r>
            <a:r>
              <a:rPr lang="zh-CN" altLang="en-US" dirty="0"/>
              <a:t>过程审计</a:t>
            </a:r>
            <a:endParaRPr lang="en-US" altLang="zh-CN" dirty="0"/>
          </a:p>
          <a:p>
            <a:pPr lvl="1"/>
            <a:r>
              <a:rPr lang="zh-CN" altLang="en-US" dirty="0"/>
              <a:t>基线审计</a:t>
            </a:r>
            <a:r>
              <a:rPr lang="en-US" altLang="zh-CN" dirty="0"/>
              <a:t>/</a:t>
            </a:r>
            <a:r>
              <a:rPr lang="zh-CN" altLang="en-US" dirty="0"/>
              <a:t>产品审计</a:t>
            </a:r>
            <a:endParaRPr lang="en-US" altLang="zh-CN" dirty="0"/>
          </a:p>
          <a:p>
            <a:r>
              <a:rPr lang="zh-CN" altLang="en-US" dirty="0"/>
              <a:t>确保某一变更已被实现</a:t>
            </a:r>
            <a:endParaRPr lang="en-US" altLang="zh-CN" dirty="0"/>
          </a:p>
          <a:p>
            <a:r>
              <a:rPr lang="zh-CN" altLang="en-US" dirty="0"/>
              <a:t>是技术复审的一部分</a:t>
            </a:r>
          </a:p>
        </p:txBody>
      </p:sp>
      <p:sp>
        <p:nvSpPr>
          <p:cNvPr id="7" name="文本占位符 6">
            <a:extLst>
              <a:ext uri="{FF2B5EF4-FFF2-40B4-BE49-F238E27FC236}">
                <a16:creationId xmlns:a16="http://schemas.microsoft.com/office/drawing/2014/main" id="{9E63BF95-4D6A-6EDB-F86C-2D01880C3646}"/>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3406850" y="3172344"/>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3406850" y="4937705"/>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2266276" y="3767024"/>
            <a:ext cx="936000" cy="936000"/>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2863223" y="3223397"/>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2863223" y="4574077"/>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文本框 24">
            <a:extLst>
              <a:ext uri="{FF2B5EF4-FFF2-40B4-BE49-F238E27FC236}">
                <a16:creationId xmlns:a16="http://schemas.microsoft.com/office/drawing/2014/main" id="{73D296D8-93CB-62F0-FB68-E682403270B3}"/>
              </a:ext>
            </a:extLst>
          </p:cNvPr>
          <p:cNvSpPr txBox="1"/>
          <p:nvPr/>
        </p:nvSpPr>
        <p:spPr>
          <a:xfrm>
            <a:off x="6096000" y="3193790"/>
            <a:ext cx="3672800" cy="338554"/>
          </a:xfrm>
          <a:prstGeom prst="rect">
            <a:avLst/>
          </a:prstGeom>
          <a:noFill/>
        </p:spPr>
        <p:txBody>
          <a:bodyPr wrap="none" rtlCol="0">
            <a:spAutoFit/>
          </a:bodyPr>
          <a:lstStyle/>
          <a:p>
            <a:r>
              <a:rPr lang="zh-CN" altLang="en-US" sz="1600" dirty="0"/>
              <a:t>遵循基线审计已批准的管理方法、规程</a:t>
            </a:r>
          </a:p>
        </p:txBody>
      </p:sp>
      <p:cxnSp>
        <p:nvCxnSpPr>
          <p:cNvPr id="27" name="直接箭头连接符 26">
            <a:extLst>
              <a:ext uri="{FF2B5EF4-FFF2-40B4-BE49-F238E27FC236}">
                <a16:creationId xmlns:a16="http://schemas.microsoft.com/office/drawing/2014/main" id="{55394E9C-0142-EA1B-A4F2-DB212BE504DD}"/>
              </a:ext>
            </a:extLst>
          </p:cNvPr>
          <p:cNvCxnSpPr>
            <a:stCxn id="8" idx="1"/>
            <a:endCxn id="25" idx="1"/>
          </p:cNvCxnSpPr>
          <p:nvPr/>
        </p:nvCxnSpPr>
        <p:spPr>
          <a:xfrm>
            <a:off x="5566850" y="3352344"/>
            <a:ext cx="529150" cy="107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7EEB238A-A3D4-E2AE-FD90-52B717DEA40A}"/>
              </a:ext>
            </a:extLst>
          </p:cNvPr>
          <p:cNvSpPr txBox="1"/>
          <p:nvPr/>
        </p:nvSpPr>
        <p:spPr>
          <a:xfrm>
            <a:off x="6096000" y="4959151"/>
            <a:ext cx="4288353" cy="338554"/>
          </a:xfrm>
          <a:prstGeom prst="rect">
            <a:avLst/>
          </a:prstGeom>
          <a:noFill/>
        </p:spPr>
        <p:txBody>
          <a:bodyPr wrap="none" rtlCol="0">
            <a:spAutoFit/>
          </a:bodyPr>
          <a:lstStyle/>
          <a:p>
            <a:r>
              <a:rPr lang="zh-CN" altLang="en-US" sz="1600" dirty="0"/>
              <a:t>正确构建配置项；确保基线的完整性和一致性</a:t>
            </a:r>
          </a:p>
        </p:txBody>
      </p:sp>
      <p:cxnSp>
        <p:nvCxnSpPr>
          <p:cNvPr id="32" name="直接箭头连接符 31">
            <a:extLst>
              <a:ext uri="{FF2B5EF4-FFF2-40B4-BE49-F238E27FC236}">
                <a16:creationId xmlns:a16="http://schemas.microsoft.com/office/drawing/2014/main" id="{53B1ACD2-E7B1-8A72-09A6-AA45C2D6FC67}"/>
              </a:ext>
            </a:extLst>
          </p:cNvPr>
          <p:cNvCxnSpPr>
            <a:stCxn id="10" idx="1"/>
            <a:endCxn id="30" idx="1"/>
          </p:cNvCxnSpPr>
          <p:nvPr/>
        </p:nvCxnSpPr>
        <p:spPr>
          <a:xfrm>
            <a:off x="5566850" y="5117705"/>
            <a:ext cx="529150" cy="107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695998"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34" name="文本占位符 33">
            <a:extLst>
              <a:ext uri="{FF2B5EF4-FFF2-40B4-BE49-F238E27FC236}">
                <a16:creationId xmlns:a16="http://schemas.microsoft.com/office/drawing/2014/main" id="{59B57C4E-102C-83D3-E648-A211F42E289D}"/>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695998" y="360000"/>
            <a:ext cx="6375921" cy="429413"/>
          </a:xfrm>
        </p:spPr>
        <p:txBody>
          <a:bodyPr/>
          <a:lstStyle/>
          <a:p>
            <a:r>
              <a:rPr lang="en-US" altLang="zh-CN" dirty="0"/>
              <a:t>2.6 </a:t>
            </a:r>
            <a:r>
              <a:rPr lang="zh-CN" altLang="en-US" dirty="0"/>
              <a:t>配置管理计划</a:t>
            </a:r>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a:t>
            </a:r>
            <a:r>
              <a:rPr lang="zh-CN" altLang="en-US" dirty="0">
                <a:solidFill>
                  <a:schemeClr val="accent2"/>
                </a:solidFill>
              </a:rPr>
              <a:t>配置管理者 </a:t>
            </a:r>
            <a:r>
              <a:rPr lang="en-US" altLang="zh-CN" dirty="0">
                <a:solidFill>
                  <a:schemeClr val="accent2"/>
                </a:solidFill>
              </a:rPr>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7" name="文本占位符 6">
            <a:extLst>
              <a:ext uri="{FF2B5EF4-FFF2-40B4-BE49-F238E27FC236}">
                <a16:creationId xmlns:a16="http://schemas.microsoft.com/office/drawing/2014/main" id="{15CF0C12-68B6-5639-4289-22D2BE48480C}"/>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55032"/>
            <a:ext cx="1800000" cy="432000"/>
          </a:xfrm>
          <a:prstGeom prst="rect">
            <a:avLst/>
          </a:prstGeom>
          <a:noFill/>
          <a:ln w="12700">
            <a:solidFill>
              <a:schemeClr val="tx1"/>
            </a:solid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2317459" y="4651175"/>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79105" y="4651175"/>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162323" y="4651176"/>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074541" y="4651176"/>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stCxn id="8" idx="2"/>
            <a:endCxn id="9" idx="0"/>
          </p:cNvCxnSpPr>
          <p:nvPr/>
        </p:nvCxnSpPr>
        <p:spPr>
          <a:xfrm rot="5400000">
            <a:off x="4224659" y="2779833"/>
            <a:ext cx="864143" cy="2878541"/>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stCxn id="8" idx="2"/>
            <a:endCxn id="12" idx="0"/>
          </p:cNvCxnSpPr>
          <p:nvPr/>
        </p:nvCxnSpPr>
        <p:spPr>
          <a:xfrm rot="16200000" flipH="1">
            <a:off x="7103198" y="2779833"/>
            <a:ext cx="864144" cy="2878541"/>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stCxn id="8" idx="2"/>
            <a:endCxn id="10" idx="0"/>
          </p:cNvCxnSpPr>
          <p:nvPr/>
        </p:nvCxnSpPr>
        <p:spPr>
          <a:xfrm rot="5400000">
            <a:off x="5155482" y="3710656"/>
            <a:ext cx="864143" cy="101689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stCxn id="8" idx="2"/>
            <a:endCxn id="11" idx="0"/>
          </p:cNvCxnSpPr>
          <p:nvPr/>
        </p:nvCxnSpPr>
        <p:spPr>
          <a:xfrm rot="16200000" flipH="1">
            <a:off x="6147089" y="3735942"/>
            <a:ext cx="864144" cy="96632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313493298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extLst>
                  <a:ext uri="{0D108BD9-81ED-4DB2-BD59-A6C34878D82A}">
                    <a16:rowId xmlns:a16="http://schemas.microsoft.com/office/drawing/2014/main" val="632968330"/>
                  </a:ext>
                </a:extLst>
              </a:tr>
              <a:tr h="0">
                <a:tc>
                  <a:txBody>
                    <a:bodyPr/>
                    <a:lstStyle/>
                    <a:p>
                      <a:pPr>
                        <a:buNone/>
                      </a:pPr>
                      <a:r>
                        <a:rPr lang="zh-CN" altLang="en-US" sz="1600" dirty="0"/>
                        <a:t>制定配置管理计划 </a:t>
                      </a:r>
                      <a:r>
                        <a:rPr lang="en-US" altLang="zh-CN" sz="1600" dirty="0"/>
                        <a:t>CMP</a:t>
                      </a:r>
                    </a:p>
                    <a:p>
                      <a:pPr>
                        <a:buNone/>
                      </a:pPr>
                      <a:r>
                        <a:rPr lang="en-US" sz="1600" dirty="0"/>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a:t>配置标识 </a:t>
                      </a:r>
                      <a:r>
                        <a:rPr lang="en-US" altLang="zh-CN" sz="1600"/>
                        <a:t>CI</a:t>
                      </a:r>
                    </a:p>
                    <a:p>
                      <a:pPr>
                        <a:buNone/>
                      </a:pPr>
                      <a:r>
                        <a:rPr lang="en-US" altLang="zh-CN" sz="1600"/>
                        <a:t>Configuration </a:t>
                      </a:r>
                      <a:r>
                        <a:rPr lang="en-US" sz="1600"/>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a:t>配置控制</a:t>
                      </a:r>
                    </a:p>
                    <a:p>
                      <a:pPr>
                        <a:buNone/>
                      </a:pPr>
                      <a:r>
                        <a:rPr lang="it-IT" sz="1600"/>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建立变更请求流程（</a:t>
                      </a:r>
                      <a:r>
                        <a:rPr lang="en-US" altLang="zh-CN" sz="1600"/>
                        <a:t>CR</a:t>
                      </a:r>
                      <a:r>
                        <a:rPr lang="zh-CN" altLang="en-US" sz="1600"/>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a:t>状态记账</a:t>
                      </a:r>
                      <a:endParaRPr lang="en-US" altLang="zh-CN" sz="1600"/>
                    </a:p>
                    <a:p>
                      <a:pPr>
                        <a:buNone/>
                      </a:pPr>
                      <a:r>
                        <a:rPr lang="en-US" sz="1600"/>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a:t>配置审计</a:t>
                      </a:r>
                      <a:endParaRPr lang="en-US" altLang="zh-CN" sz="1600"/>
                    </a:p>
                    <a:p>
                      <a:pPr>
                        <a:buNone/>
                      </a:pPr>
                      <a:r>
                        <a:rPr lang="en-US" altLang="zh-CN" sz="1600"/>
                        <a:t>Audit</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功能审计（是否满足需求）</a:t>
                      </a:r>
                      <a:r>
                        <a:rPr lang="en-US" altLang="zh-CN" sz="1600" dirty="0"/>
                        <a:t>+ </a:t>
                      </a:r>
                      <a:r>
                        <a:rPr lang="zh-CN" altLang="en-US" sz="1600" dirty="0"/>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0907567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8" name="文本占位符 7">
            <a:extLst>
              <a:ext uri="{FF2B5EF4-FFF2-40B4-BE49-F238E27FC236}">
                <a16:creationId xmlns:a16="http://schemas.microsoft.com/office/drawing/2014/main" id="{BDEDD34D-8897-79BD-8008-7D17CCC9E31C}"/>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954028449"/>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形成期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震荡期或磨合期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规范期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dirty="0">
                          <a:solidFill>
                            <a:schemeClr val="bg1"/>
                          </a:solidFill>
                        </a:rPr>
                        <a:t>结束期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5998" y="360000"/>
            <a:ext cx="6375921" cy="429413"/>
          </a:xfrm>
        </p:spPr>
        <p:txBody>
          <a:bodyPr/>
          <a:lstStyle/>
          <a:p>
            <a:r>
              <a:rPr lang="en-US" altLang="zh-CN" dirty="0"/>
              <a:t>10.1 </a:t>
            </a:r>
            <a:r>
              <a:rPr lang="zh-CN" altLang="en-US" dirty="0"/>
              <a:t>组织结构</a:t>
            </a:r>
          </a:p>
        </p:txBody>
      </p:sp>
      <p:sp>
        <p:nvSpPr>
          <p:cNvPr id="3" name="内容占位符 2">
            <a:extLst>
              <a:ext uri="{FF2B5EF4-FFF2-40B4-BE49-F238E27FC236}">
                <a16:creationId xmlns:a16="http://schemas.microsoft.com/office/drawing/2014/main" id="{C5D46B04-D343-7D9C-6916-882C59A13FCE}"/>
              </a:ext>
            </a:extLst>
          </p:cNvPr>
          <p:cNvSpPr>
            <a:spLocks noGrp="1"/>
          </p:cNvSpPr>
          <p:nvPr>
            <p:ph idx="1"/>
          </p:nvPr>
        </p:nvSpPr>
        <p:spPr>
          <a:xfrm>
            <a:off x="696000" y="864000"/>
            <a:ext cx="10800000" cy="5400000"/>
          </a:xfrm>
        </p:spPr>
        <p:txBody>
          <a:bodyPr/>
          <a:lstStyle/>
          <a:p>
            <a:r>
              <a:rPr lang="zh-CN" altLang="en-US" dirty="0"/>
              <a:t>职能型</a:t>
            </a:r>
            <a:endParaRPr lang="en-US" altLang="zh-CN" dirty="0"/>
          </a:p>
          <a:p>
            <a:r>
              <a:rPr lang="zh-CN" altLang="en-US" dirty="0"/>
              <a:t>项目型</a:t>
            </a:r>
            <a:endParaRPr lang="en-US" altLang="zh-CN" dirty="0"/>
          </a:p>
          <a:p>
            <a:r>
              <a:rPr lang="zh-CN" altLang="en-US" dirty="0"/>
              <a:t>矩阵型</a:t>
            </a:r>
          </a:p>
        </p:txBody>
      </p:sp>
      <p:sp>
        <p:nvSpPr>
          <p:cNvPr id="7" name="文本占位符 6">
            <a:extLst>
              <a:ext uri="{FF2B5EF4-FFF2-40B4-BE49-F238E27FC236}">
                <a16:creationId xmlns:a16="http://schemas.microsoft.com/office/drawing/2014/main" id="{1A28BC2C-8310-E053-5669-5BCA948EC34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54238074"/>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7" name="文本占位符 6">
            <a:extLst>
              <a:ext uri="{FF2B5EF4-FFF2-40B4-BE49-F238E27FC236}">
                <a16:creationId xmlns:a16="http://schemas.microsoft.com/office/drawing/2014/main" id="{936AF3C6-2127-7EC5-72D0-C15D49D16FE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4B5D9F-3E7B-DE0F-1D53-6B071AF9BC72}"/>
              </a:ext>
            </a:extLst>
          </p:cNvPr>
          <p:cNvSpPr>
            <a:spLocks noGrp="1"/>
          </p:cNvSpPr>
          <p:nvPr>
            <p:ph type="title"/>
          </p:nvPr>
        </p:nvSpPr>
        <p:spPr>
          <a:xfrm>
            <a:off x="695998" y="360000"/>
            <a:ext cx="6375921" cy="429413"/>
          </a:xfrm>
          <a:ln>
            <a:solidFill>
              <a:schemeClr val="tx1"/>
            </a:solidFill>
          </a:ln>
        </p:spPr>
        <p:txBody>
          <a:bodyPr/>
          <a:lstStyle/>
          <a:p>
            <a:r>
              <a:rPr lang="en-US" altLang="zh-CN" dirty="0"/>
              <a:t>10.1.1 </a:t>
            </a:r>
            <a:r>
              <a:rPr lang="zh-CN" altLang="en-US" dirty="0"/>
              <a:t>职能型</a:t>
            </a:r>
          </a:p>
        </p:txBody>
      </p:sp>
      <p:sp>
        <p:nvSpPr>
          <p:cNvPr id="71" name="内容占位符 70">
            <a:extLst>
              <a:ext uri="{FF2B5EF4-FFF2-40B4-BE49-F238E27FC236}">
                <a16:creationId xmlns:a16="http://schemas.microsoft.com/office/drawing/2014/main" id="{D596A279-5920-13A8-2A61-4A134C511DA3}"/>
              </a:ext>
            </a:extLst>
          </p:cNvPr>
          <p:cNvSpPr>
            <a:spLocks noGrp="1"/>
          </p:cNvSpPr>
          <p:nvPr>
            <p:ph idx="1"/>
          </p:nvPr>
        </p:nvSpPr>
        <p:spPr/>
        <p:txBody>
          <a:bodyPr/>
          <a:lstStyle/>
          <a:p>
            <a:endParaRPr lang="zh-CN" altLang="en-US" dirty="0"/>
          </a:p>
        </p:txBody>
      </p:sp>
      <p:sp>
        <p:nvSpPr>
          <p:cNvPr id="72" name="文本占位符 71">
            <a:extLst>
              <a:ext uri="{FF2B5EF4-FFF2-40B4-BE49-F238E27FC236}">
                <a16:creationId xmlns:a16="http://schemas.microsoft.com/office/drawing/2014/main" id="{0917FF48-6985-4FE4-F954-394F61E0D728}"/>
              </a:ext>
            </a:extLst>
          </p:cNvPr>
          <p:cNvSpPr>
            <a:spLocks noGrp="1"/>
          </p:cNvSpPr>
          <p:nvPr>
            <p:ph type="body" sz="quarter" idx="10"/>
          </p:nvPr>
        </p:nvSpPr>
        <p:spPr/>
        <p:txBody>
          <a:bodyPr/>
          <a:lstStyle/>
          <a:p>
            <a:endParaRPr lang="zh-CN" altLang="en-US"/>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143251"/>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143251"/>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2981325"/>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2691479"/>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3429001"/>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3905775"/>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4392074"/>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2691479"/>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3429001"/>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3905775"/>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4392074"/>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906829" y="1893485"/>
            <a:ext cx="6376989" cy="943999"/>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431790" y="1714506"/>
            <a:ext cx="800219" cy="276999"/>
          </a:xfrm>
          <a:prstGeom prst="rect">
            <a:avLst/>
          </a:prstGeom>
          <a:ln>
            <a:noFill/>
          </a:ln>
        </p:spPr>
        <p:txBody>
          <a:bodyPr wrap="none" rtlCol="0">
            <a:spAutoFit/>
          </a:bodyPr>
          <a:lstStyle/>
          <a:p>
            <a:pPr algn="l"/>
            <a:r>
              <a:rPr lang="zh-CN" altLang="en-US" sz="1200" dirty="0"/>
              <a:t>项目协调</a:t>
            </a:r>
          </a:p>
        </p:txBody>
      </p:sp>
    </p:spTree>
    <p:extLst>
      <p:ext uri="{BB962C8B-B14F-4D97-AF65-F5344CB8AC3E}">
        <p14:creationId xmlns:p14="http://schemas.microsoft.com/office/powerpoint/2010/main" val="2138612083"/>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5998" y="360000"/>
            <a:ext cx="6375921" cy="429413"/>
          </a:xfrm>
        </p:spPr>
        <p:txBody>
          <a:bodyPr/>
          <a:lstStyle/>
          <a:p>
            <a:r>
              <a:rPr lang="en-US" altLang="zh-CN" dirty="0"/>
              <a:t>10.1.2 </a:t>
            </a:r>
            <a:r>
              <a:rPr lang="zh-CN" altLang="en-US" dirty="0"/>
              <a:t>项目型</a:t>
            </a:r>
          </a:p>
        </p:txBody>
      </p:sp>
      <p:sp>
        <p:nvSpPr>
          <p:cNvPr id="47" name="内容占位符 46">
            <a:extLst>
              <a:ext uri="{FF2B5EF4-FFF2-40B4-BE49-F238E27FC236}">
                <a16:creationId xmlns:a16="http://schemas.microsoft.com/office/drawing/2014/main" id="{08D72426-579B-21AD-5F9F-C09E9C896885}"/>
              </a:ext>
            </a:extLst>
          </p:cNvPr>
          <p:cNvSpPr>
            <a:spLocks noGrp="1"/>
          </p:cNvSpPr>
          <p:nvPr>
            <p:ph idx="1"/>
          </p:nvPr>
        </p:nvSpPr>
        <p:spPr/>
        <p:txBody>
          <a:bodyPr/>
          <a:lstStyle/>
          <a:p>
            <a:endParaRPr lang="zh-CN" altLang="en-US"/>
          </a:p>
        </p:txBody>
      </p:sp>
      <p:sp>
        <p:nvSpPr>
          <p:cNvPr id="48" name="文本占位符 47">
            <a:extLst>
              <a:ext uri="{FF2B5EF4-FFF2-40B4-BE49-F238E27FC236}">
                <a16:creationId xmlns:a16="http://schemas.microsoft.com/office/drawing/2014/main" id="{C616916F-AD14-6135-C920-774601A5EC6D}"/>
              </a:ext>
            </a:extLst>
          </p:cNvPr>
          <p:cNvSpPr>
            <a:spLocks noGrp="1"/>
          </p:cNvSpPr>
          <p:nvPr>
            <p:ph type="body" sz="quarter" idx="10"/>
          </p:nvPr>
        </p:nvSpPr>
        <p:spPr/>
        <p:txBody>
          <a:bodyPr/>
          <a:lstStyle/>
          <a:p>
            <a:endParaRPr lang="zh-CN" altLang="en-US"/>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143251"/>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143251"/>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2981325"/>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2691479"/>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3429001"/>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3905775"/>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4392074"/>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2691479"/>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3429001"/>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3905775"/>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4392074"/>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906829" y="1893485"/>
            <a:ext cx="1749171" cy="358339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317123"/>
            <a:ext cx="800219" cy="276999"/>
          </a:xfrm>
          <a:prstGeom prst="rect">
            <a:avLst/>
          </a:prstGeom>
          <a:ln>
            <a:noFill/>
          </a:ln>
        </p:spPr>
        <p:txBody>
          <a:bodyPr wrap="none" rtlCol="0">
            <a:spAutoFit/>
          </a:bodyPr>
          <a:lstStyle/>
          <a:p>
            <a:pPr algn="l"/>
            <a:r>
              <a:rPr lang="zh-CN" altLang="en-US" sz="1200" dirty="0"/>
              <a:t>项目协调</a:t>
            </a:r>
          </a:p>
        </p:txBody>
      </p:sp>
    </p:spTree>
    <p:extLst>
      <p:ext uri="{BB962C8B-B14F-4D97-AF65-F5344CB8AC3E}">
        <p14:creationId xmlns:p14="http://schemas.microsoft.com/office/powerpoint/2010/main" val="354586395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5998" y="360000"/>
            <a:ext cx="6375921" cy="429413"/>
          </a:xfrm>
        </p:spPr>
        <p:txBody>
          <a:bodyPr/>
          <a:lstStyle/>
          <a:p>
            <a:r>
              <a:rPr lang="en-US" altLang="zh-CN" dirty="0"/>
              <a:t>10.1.3 </a:t>
            </a:r>
            <a:r>
              <a:rPr lang="zh-CN" altLang="en-US" dirty="0"/>
              <a:t>矩阵型</a:t>
            </a:r>
          </a:p>
        </p:txBody>
      </p:sp>
      <p:sp>
        <p:nvSpPr>
          <p:cNvPr id="58" name="内容占位符 57">
            <a:extLst>
              <a:ext uri="{FF2B5EF4-FFF2-40B4-BE49-F238E27FC236}">
                <a16:creationId xmlns:a16="http://schemas.microsoft.com/office/drawing/2014/main" id="{8E84B5B7-32BC-B033-7698-E4D9C98A1F7F}"/>
              </a:ext>
            </a:extLst>
          </p:cNvPr>
          <p:cNvSpPr>
            <a:spLocks noGrp="1"/>
          </p:cNvSpPr>
          <p:nvPr>
            <p:ph idx="1"/>
          </p:nvPr>
        </p:nvSpPr>
        <p:spPr/>
        <p:txBody>
          <a:bodyPr/>
          <a:lstStyle/>
          <a:p>
            <a:endParaRPr lang="zh-CN" altLang="en-US" dirty="0"/>
          </a:p>
        </p:txBody>
      </p:sp>
      <p:sp>
        <p:nvSpPr>
          <p:cNvPr id="59" name="文本占位符 58">
            <a:extLst>
              <a:ext uri="{FF2B5EF4-FFF2-40B4-BE49-F238E27FC236}">
                <a16:creationId xmlns:a16="http://schemas.microsoft.com/office/drawing/2014/main" id="{62DD7835-D665-4D5F-56E7-B5270C98E37C}"/>
              </a:ext>
            </a:extLst>
          </p:cNvPr>
          <p:cNvSpPr>
            <a:spLocks noGrp="1"/>
          </p:cNvSpPr>
          <p:nvPr>
            <p:ph type="body" sz="quarter" idx="10"/>
          </p:nvPr>
        </p:nvSpPr>
        <p:spPr/>
        <p:txBody>
          <a:bodyPr/>
          <a:lstStyle/>
          <a:p>
            <a:endParaRPr lang="zh-CN" altLang="en-US"/>
          </a:p>
        </p:txBody>
      </p:sp>
      <p:sp>
        <p:nvSpPr>
          <p:cNvPr id="5"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7"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8"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9"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2915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3569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224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2914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3568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223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2914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3568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223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4878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21" name="连接符: 肘形 20">
            <a:extLst>
              <a:ext uri="{FF2B5EF4-FFF2-40B4-BE49-F238E27FC236}">
                <a16:creationId xmlns:a16="http://schemas.microsoft.com/office/drawing/2014/main" id="{43A50330-120C-458C-6243-9CDF77942FD8}"/>
              </a:ext>
            </a:extLst>
          </p:cNvPr>
          <p:cNvCxnSpPr>
            <a:stCxn id="5" idx="2"/>
            <a:endCxn id="6"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0451F27E-FFD2-D517-1A6A-D88B24637111}"/>
              </a:ext>
            </a:extLst>
          </p:cNvPr>
          <p:cNvCxnSpPr>
            <a:stCxn id="8" idx="0"/>
            <a:endCxn id="5"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DD496D05-9FB1-3C92-35A9-BE9CE53736F2}"/>
              </a:ext>
            </a:extLst>
          </p:cNvPr>
          <p:cNvSpPr/>
          <p:nvPr/>
        </p:nvSpPr>
        <p:spPr>
          <a:xfrm>
            <a:off x="3035999" y="4783198"/>
            <a:ext cx="6365175" cy="646051"/>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61E69225-BA15-DBA8-B477-CF32AF6CB1A5}"/>
              </a:ext>
            </a:extLst>
          </p:cNvPr>
          <p:cNvSpPr txBox="1"/>
          <p:nvPr/>
        </p:nvSpPr>
        <p:spPr>
          <a:xfrm>
            <a:off x="7173189" y="5267605"/>
            <a:ext cx="800219" cy="276999"/>
          </a:xfrm>
          <a:prstGeom prst="rect">
            <a:avLst/>
          </a:prstGeom>
          <a:ln>
            <a:noFill/>
          </a:ln>
        </p:spPr>
        <p:txBody>
          <a:bodyPr wrap="none" rtlCol="0">
            <a:spAutoFit/>
          </a:bodyPr>
          <a:lstStyle/>
          <a:p>
            <a:pPr algn="l"/>
            <a:r>
              <a:rPr lang="zh-CN" altLang="en-US" sz="1200" dirty="0"/>
              <a:t>项目协调</a:t>
            </a:r>
          </a:p>
        </p:txBody>
      </p:sp>
      <p:grpSp>
        <p:nvGrpSpPr>
          <p:cNvPr id="43" name="组合 42">
            <a:extLst>
              <a:ext uri="{FF2B5EF4-FFF2-40B4-BE49-F238E27FC236}">
                <a16:creationId xmlns:a16="http://schemas.microsoft.com/office/drawing/2014/main" id="{8B48E2A6-4327-D052-C7E8-EF739DAAD528}"/>
              </a:ext>
            </a:extLst>
          </p:cNvPr>
          <p:cNvGrpSpPr/>
          <p:nvPr/>
        </p:nvGrpSpPr>
        <p:grpSpPr>
          <a:xfrm>
            <a:off x="3200400" y="2691478"/>
            <a:ext cx="555601" cy="2402893"/>
            <a:chOff x="3200400" y="2691478"/>
            <a:chExt cx="555601" cy="2402893"/>
          </a:xfrm>
        </p:grpSpPr>
        <p:cxnSp>
          <p:nvCxnSpPr>
            <p:cNvPr id="23" name="连接符: 肘形 22">
              <a:extLst>
                <a:ext uri="{FF2B5EF4-FFF2-40B4-BE49-F238E27FC236}">
                  <a16:creationId xmlns:a16="http://schemas.microsoft.com/office/drawing/2014/main" id="{BE1FF242-7214-E7F5-BAA7-927BAB3A6814}"/>
                </a:ext>
              </a:extLst>
            </p:cNvPr>
            <p:cNvCxnSpPr>
              <a:cxnSpLocks/>
              <a:endCxn id="1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3A772101-E51C-A772-39A8-52DC88FC4ED2}"/>
                </a:ext>
              </a:extLst>
            </p:cNvPr>
            <p:cNvCxnSpPr>
              <a:stCxn id="1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BF0B2BC3-39C5-7153-7450-F41CD1C21DAB}"/>
                </a:ext>
              </a:extLst>
            </p:cNvPr>
            <p:cNvCxnSpPr>
              <a:stCxn id="1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连接符: 肘形 40">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DBE3CC5E-9FF8-EFAF-FC20-566A1F572265}"/>
              </a:ext>
            </a:extLst>
          </p:cNvPr>
          <p:cNvGrpSpPr/>
          <p:nvPr/>
        </p:nvGrpSpPr>
        <p:grpSpPr>
          <a:xfrm>
            <a:off x="5540397" y="2691478"/>
            <a:ext cx="555601" cy="2402893"/>
            <a:chOff x="3200400" y="2691478"/>
            <a:chExt cx="555601" cy="2402893"/>
          </a:xfrm>
        </p:grpSpPr>
        <p:cxnSp>
          <p:nvCxnSpPr>
            <p:cNvPr id="45" name="连接符: 肘形 44">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连接符: 肘形 47">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50" name="连接符: 肘形 49">
            <a:extLst>
              <a:ext uri="{FF2B5EF4-FFF2-40B4-BE49-F238E27FC236}">
                <a16:creationId xmlns:a16="http://schemas.microsoft.com/office/drawing/2014/main" id="{0509027E-9BCB-0F30-6369-4D6C2A3FBA8F}"/>
              </a:ext>
            </a:extLst>
          </p:cNvPr>
          <p:cNvCxnSpPr>
            <a:cxnSpLocks/>
          </p:cNvCxnSpPr>
          <p:nvPr/>
        </p:nvCxnSpPr>
        <p:spPr>
          <a:xfrm rot="16200000" flipH="1">
            <a:off x="6768953" y="3802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E432753D-9F7E-53E0-14AA-856A96081B20}"/>
              </a:ext>
            </a:extLst>
          </p:cNvPr>
          <p:cNvCxnSpPr/>
          <p:nvPr/>
        </p:nvCxnSpPr>
        <p:spPr>
          <a:xfrm rot="10800000">
            <a:off x="7880399"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5A280BF-CE01-CB9D-61AD-8558118FBC01}"/>
              </a:ext>
            </a:extLst>
          </p:cNvPr>
          <p:cNvCxnSpPr/>
          <p:nvPr/>
        </p:nvCxnSpPr>
        <p:spPr>
          <a:xfrm rot="10800000">
            <a:off x="7880403"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A7048B6-B650-7734-30F1-96D582660BF4}"/>
              </a:ext>
            </a:extLst>
          </p:cNvPr>
          <p:cNvCxnSpPr>
            <a:cxnSpLocks/>
          </p:cNvCxnSpPr>
          <p:nvPr/>
        </p:nvCxnSpPr>
        <p:spPr>
          <a:xfrm rot="10800000">
            <a:off x="7880401"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3786013843"/>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a:solidFill>
                            <a:schemeClr val="tx1"/>
                          </a:solidFill>
                        </a:rPr>
                        <a:t>人员</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7" name="文本占位符 6">
            <a:extLst>
              <a:ext uri="{FF2B5EF4-FFF2-40B4-BE49-F238E27FC236}">
                <a16:creationId xmlns:a16="http://schemas.microsoft.com/office/drawing/2014/main" id="{1D537230-714B-2361-0AA2-371D5FDAB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3946989434"/>
              </p:ext>
            </p:extLst>
          </p:nvPr>
        </p:nvGraphicFramePr>
        <p:xfrm>
          <a:off x="695325" y="863600"/>
          <a:ext cx="10801350" cy="201168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6" name="文本占位符 5">
            <a:extLst>
              <a:ext uri="{FF2B5EF4-FFF2-40B4-BE49-F238E27FC236}">
                <a16:creationId xmlns:a16="http://schemas.microsoft.com/office/drawing/2014/main" id="{BE01DB6B-6D29-EB34-1882-044752F5939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1141621603"/>
              </p:ext>
            </p:extLst>
          </p:nvPr>
        </p:nvGraphicFramePr>
        <p:xfrm>
          <a:off x="695325" y="863600"/>
          <a:ext cx="10801350" cy="201168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sz="1600" dirty="0">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201168794"/>
                  </a:ext>
                </a:extLst>
              </a:tr>
              <a:tr h="0">
                <a:tc>
                  <a:txBody>
                    <a:bodyPr/>
                    <a:lstStyle/>
                    <a:p>
                      <a:pPr>
                        <a:buNone/>
                      </a:pPr>
                      <a:r>
                        <a:rPr lang="en-US" altLang="zh-CN" sz="1600"/>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生理需求（</a:t>
                      </a:r>
                      <a:r>
                        <a:rPr lang="en-US" altLang="zh-CN" sz="1600" dirty="0"/>
                        <a:t>Physiological</a:t>
                      </a:r>
                      <a:r>
                        <a:rPr lang="en-US" sz="16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sz="1600"/>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安全需求（</a:t>
                      </a:r>
                      <a:r>
                        <a:rPr lang="en-US" altLang="zh-CN" sz="1600"/>
                        <a:t>Safety</a:t>
                      </a:r>
                      <a:r>
                        <a:rPr lang="en-US" sz="160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sz="1600"/>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社会交往需求（</a:t>
                      </a:r>
                      <a:r>
                        <a:rPr lang="en-US" sz="1600"/>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sz="1600"/>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自尊需求（</a:t>
                      </a:r>
                      <a:r>
                        <a:rPr lang="en-US" sz="1600"/>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sz="1600"/>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自我实现（</a:t>
                      </a:r>
                      <a:r>
                        <a:rPr lang="en-US" sz="1600"/>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4" name="文本占位符 3">
            <a:extLst>
              <a:ext uri="{FF2B5EF4-FFF2-40B4-BE49-F238E27FC236}">
                <a16:creationId xmlns:a16="http://schemas.microsoft.com/office/drawing/2014/main" id="{67CE476D-A8A8-EC44-5DF6-8E6078287E94}"/>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1602973102"/>
              </p:ext>
            </p:extLst>
          </p:nvPr>
        </p:nvGraphicFramePr>
        <p:xfrm>
          <a:off x="3883958" y="3311750"/>
          <a:ext cx="4328775" cy="2885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t>20</a:t>
            </a:r>
            <a:r>
              <a:rPr lang="zh-CN" altLang="en-US" dirty="0"/>
              <a:t>世纪</a:t>
            </a:r>
            <a:r>
              <a:rPr lang="en-US" altLang="zh-CN" dirty="0"/>
              <a:t>50</a:t>
            </a:r>
            <a:r>
              <a:rPr lang="zh-CN" altLang="en-US" dirty="0"/>
              <a:t>年代末提出的一种关于工作动机和员工满意度的重要理论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864168905"/>
              </p:ext>
            </p:extLst>
          </p:nvPr>
        </p:nvGraphicFramePr>
        <p:xfrm>
          <a:off x="695325" y="4363200"/>
          <a:ext cx="10800674" cy="16764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sz="1600" dirty="0">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952262433"/>
                  </a:ext>
                </a:extLst>
              </a:tr>
              <a:tr h="0">
                <a:tc>
                  <a:txBody>
                    <a:bodyPr/>
                    <a:lstStyle/>
                    <a:p>
                      <a:pPr>
                        <a:buNone/>
                      </a:pPr>
                      <a:r>
                        <a:rPr lang="zh-CN" altLang="en-US" sz="1600"/>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sz="1600"/>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sz="1600"/>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sz="1600"/>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凸显模型</a:t>
            </a:r>
          </a:p>
        </p:txBody>
      </p:sp>
      <p:sp>
        <p:nvSpPr>
          <p:cNvPr id="11" name="内容占位符 10">
            <a:extLst>
              <a:ext uri="{FF2B5EF4-FFF2-40B4-BE49-F238E27FC236}">
                <a16:creationId xmlns:a16="http://schemas.microsoft.com/office/drawing/2014/main" id="{5FCBD2F9-26DB-147E-6D5D-BE6690069D19}"/>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2956858732"/>
              </p:ext>
            </p:extLst>
          </p:nvPr>
        </p:nvGraphicFramePr>
        <p:xfrm>
          <a:off x="695325" y="4528552"/>
          <a:ext cx="10801350" cy="1501396"/>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400" dirty="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4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400" dirty="0"/>
                        <a:t>权力 </a:t>
                      </a:r>
                      <a:r>
                        <a:rPr lang="en-US" sz="1400" dirty="0"/>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400"/>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400"/>
                        <a:t>合法性 </a:t>
                      </a:r>
                      <a:r>
                        <a:rPr lang="en-US" sz="1400"/>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400"/>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400"/>
                        <a:t>紧迫性 </a:t>
                      </a:r>
                      <a:r>
                        <a:rPr lang="en-US" sz="1400"/>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400" dirty="0"/>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a:t>
            </a:r>
          </a:p>
        </p:txBody>
      </p:sp>
      <p:sp>
        <p:nvSpPr>
          <p:cNvPr id="11" name="内容占位符 10">
            <a:extLst>
              <a:ext uri="{FF2B5EF4-FFF2-40B4-BE49-F238E27FC236}">
                <a16:creationId xmlns:a16="http://schemas.microsoft.com/office/drawing/2014/main" id="{30811D1D-8F59-EFDB-585A-5F80D110281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672971408"/>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864000"/>
            <a:ext cx="10800000" cy="5400000"/>
          </a:xfrm>
        </p:spPr>
        <p:txBody>
          <a:bodyPr/>
          <a:lstStyle/>
          <a:p>
            <a:r>
              <a:rPr lang="zh-CN" altLang="en-US"/>
              <a:t>利益方格 </a:t>
            </a:r>
            <a:r>
              <a:rPr lang="en-US" altLang="zh-CN"/>
              <a:t>Power/Interest Grid</a:t>
            </a:r>
          </a:p>
          <a:p>
            <a:pPr lvl="1"/>
            <a:r>
              <a:rPr lang="en-US" altLang="zh-CN"/>
              <a:t>Manage closely</a:t>
            </a:r>
            <a:endParaRPr lang="zh-CN" altLang="en-US"/>
          </a:p>
        </p:txBody>
      </p:sp>
      <p:sp>
        <p:nvSpPr>
          <p:cNvPr id="13" name="文本占位符 12">
            <a:extLst>
              <a:ext uri="{FF2B5EF4-FFF2-40B4-BE49-F238E27FC236}">
                <a16:creationId xmlns:a16="http://schemas.microsoft.com/office/drawing/2014/main" id="{446FE326-3F9D-77F1-8D60-8A75CF6BDBB8}"/>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940769086"/>
              </p:ext>
            </p:extLst>
          </p:nvPr>
        </p:nvGraphicFramePr>
        <p:xfrm>
          <a:off x="695324" y="3814560"/>
          <a:ext cx="10800001" cy="16764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sz="1600" dirty="0">
                          <a:solidFill>
                            <a:schemeClr val="bg1"/>
                          </a:solidFill>
                        </a:rPr>
                        <a:t>权力 </a:t>
                      </a:r>
                      <a:r>
                        <a:rPr lang="en-US" sz="1600" dirty="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利益 </a:t>
                      </a:r>
                      <a:r>
                        <a:rPr lang="en-US" sz="1600" dirty="0">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809978989"/>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重点管理 </a:t>
                      </a:r>
                      <a:r>
                        <a:rPr lang="en-US" sz="1600"/>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监督 </a:t>
                      </a:r>
                      <a:r>
                        <a:rPr lang="en-US" sz="1600"/>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随时告知 </a:t>
                      </a:r>
                      <a:r>
                        <a:rPr lang="en-US" sz="1600"/>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令其满意 </a:t>
                      </a:r>
                      <a:r>
                        <a:rPr lang="en-US" sz="1600" dirty="0"/>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en-US" altLang="zh-CN" dirty="0"/>
              <a:t>10.4 </a:t>
            </a:r>
            <a:r>
              <a:rPr lang="zh-CN" altLang="en-US" dirty="0"/>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672156138"/>
              </p:ext>
            </p:extLst>
          </p:nvPr>
        </p:nvGraphicFramePr>
        <p:xfrm>
          <a:off x="695325" y="3540240"/>
          <a:ext cx="10801350" cy="240792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sz="1600" dirty="0">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894886506"/>
                  </a:ext>
                </a:extLst>
              </a:tr>
              <a:tr h="0">
                <a:tc>
                  <a:txBody>
                    <a:bodyPr/>
                    <a:lstStyle/>
                    <a:p>
                      <a:pPr>
                        <a:buNone/>
                      </a:pPr>
                      <a:r>
                        <a:rPr lang="en-US" sz="1600" dirty="0"/>
                        <a:t>A. </a:t>
                      </a:r>
                      <a:r>
                        <a:rPr lang="zh-CN" altLang="en-US" sz="1600" dirty="0"/>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sz="1600"/>
                        <a:t>B. </a:t>
                      </a:r>
                      <a:r>
                        <a:rPr lang="zh-CN" altLang="en-US" sz="1600"/>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sz="1600"/>
                        <a:t>C. </a:t>
                      </a:r>
                      <a:r>
                        <a:rPr lang="zh-CN" altLang="en-US" sz="1600"/>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sz="1600"/>
                        <a:t>D. </a:t>
                      </a:r>
                      <a:r>
                        <a:rPr lang="zh-CN" altLang="en-US" sz="1600"/>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5998" y="360000"/>
            <a:ext cx="6375921" cy="429413"/>
          </a:xfrm>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864000"/>
            <a:ext cx="10800000" cy="5400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6" name="文本占位符 5">
            <a:extLst>
              <a:ext uri="{FF2B5EF4-FFF2-40B4-BE49-F238E27FC236}">
                <a16:creationId xmlns:a16="http://schemas.microsoft.com/office/drawing/2014/main" id="{C9F4455D-53A4-CEA3-06E2-521FF7D9389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6375921" cy="429413"/>
          </a:xfrm>
        </p:spPr>
        <p:txBody>
          <a:bodyPr>
            <a:normAutofit/>
          </a:bodyPr>
          <a:lstStyle/>
          <a:p>
            <a:r>
              <a:rPr lang="zh-CN" altLang="en-US"/>
              <a:t>风险类型</a:t>
            </a:r>
          </a:p>
        </p:txBody>
      </p:sp>
      <p:sp>
        <p:nvSpPr>
          <p:cNvPr id="6" name="内容占位符 5">
            <a:extLst>
              <a:ext uri="{FF2B5EF4-FFF2-40B4-BE49-F238E27FC236}">
                <a16:creationId xmlns:a16="http://schemas.microsoft.com/office/drawing/2014/main" id="{E5F36971-7BA2-7CA3-5197-772B9249EF8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a:xfrm>
            <a:off x="695998" y="360000"/>
            <a:ext cx="6375921" cy="429413"/>
          </a:xfrm>
        </p:spPr>
        <p:txBody>
          <a:bodyPr/>
          <a:lstStyle/>
          <a:p>
            <a:r>
              <a:rPr lang="zh-CN" altLang="en-US"/>
              <a:t>风险</a:t>
            </a:r>
            <a:r>
              <a:rPr lang="en-US" altLang="zh-CN"/>
              <a:t>3</a:t>
            </a:r>
            <a:r>
              <a:rPr lang="zh-CN" altLang="en-US"/>
              <a:t>个要素</a:t>
            </a:r>
          </a:p>
        </p:txBody>
      </p:sp>
      <p:sp>
        <p:nvSpPr>
          <p:cNvPr id="8" name="内容占位符 7">
            <a:extLst>
              <a:ext uri="{FF2B5EF4-FFF2-40B4-BE49-F238E27FC236}">
                <a16:creationId xmlns:a16="http://schemas.microsoft.com/office/drawing/2014/main" id="{699CF5DC-ED46-89DB-1D78-92990C95C2F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5998" y="360000"/>
            <a:ext cx="6375921" cy="429413"/>
          </a:xfrm>
        </p:spPr>
        <p:txBody>
          <a:bodyPr/>
          <a:lstStyle/>
          <a:p>
            <a:r>
              <a:rPr lang="zh-CN" altLang="en-US"/>
              <a:t>风险</a:t>
            </a:r>
            <a:r>
              <a:rPr lang="en-US" altLang="zh-CN"/>
              <a:t>4</a:t>
            </a:r>
            <a:r>
              <a:rPr lang="zh-CN" altLang="en-US"/>
              <a:t>个过程</a:t>
            </a:r>
          </a:p>
        </p:txBody>
      </p:sp>
      <p:sp>
        <p:nvSpPr>
          <p:cNvPr id="11" name="内容占位符 10">
            <a:extLst>
              <a:ext uri="{FF2B5EF4-FFF2-40B4-BE49-F238E27FC236}">
                <a16:creationId xmlns:a16="http://schemas.microsoft.com/office/drawing/2014/main" id="{BD0FC86F-14C4-1268-E080-D08CA43B4C4D}"/>
              </a:ext>
            </a:extLst>
          </p:cNvPr>
          <p:cNvSpPr>
            <a:spLocks noGrp="1"/>
          </p:cNvSpPr>
          <p:nvPr>
            <p:ph idx="1"/>
          </p:nvPr>
        </p:nvSpPr>
        <p:spPr/>
        <p:txBody>
          <a:bodyPr/>
          <a:lstStyle/>
          <a:p>
            <a:endParaRPr lang="zh-CN" altLang="en-US"/>
          </a:p>
        </p:txBody>
      </p:sp>
      <p:sp>
        <p:nvSpPr>
          <p:cNvPr id="13" name="文本占位符 12">
            <a:extLst>
              <a:ext uri="{FF2B5EF4-FFF2-40B4-BE49-F238E27FC236}">
                <a16:creationId xmlns:a16="http://schemas.microsoft.com/office/drawing/2014/main" id="{25040921-FD0B-4AFD-223C-3C58082D5EDA}"/>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695998"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3509121705"/>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Weaknesses（</a:t>
                      </a:r>
                      <a:r>
                        <a:rPr lang="zh-CN" altLang="en-US" sz="160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7" name="文本占位符 6">
            <a:extLst>
              <a:ext uri="{FF2B5EF4-FFF2-40B4-BE49-F238E27FC236}">
                <a16:creationId xmlns:a16="http://schemas.microsoft.com/office/drawing/2014/main" id="{71F2B2A5-F9E3-760D-FA6B-C348F24B63E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695998"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7" name="文本占位符 6">
            <a:extLst>
              <a:ext uri="{FF2B5EF4-FFF2-40B4-BE49-F238E27FC236}">
                <a16:creationId xmlns:a16="http://schemas.microsoft.com/office/drawing/2014/main" id="{29BEB318-1127-079C-B4BB-7EAF5E3013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695998"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7" name="文本占位符 6">
            <a:extLst>
              <a:ext uri="{FF2B5EF4-FFF2-40B4-BE49-F238E27FC236}">
                <a16:creationId xmlns:a16="http://schemas.microsoft.com/office/drawing/2014/main" id="{B3103E6E-989B-8A55-A3CB-B44091D9DAB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7" name="文本占位符 6">
            <a:extLst>
              <a:ext uri="{FF2B5EF4-FFF2-40B4-BE49-F238E27FC236}">
                <a16:creationId xmlns:a16="http://schemas.microsoft.com/office/drawing/2014/main" id="{5E9BC3DE-F851-6F38-E885-A3B6683F3820}"/>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D50B9D-C555-7037-DA5D-9B0DFAE84301}"/>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5" name="文本占位符 4">
            <a:extLst>
              <a:ext uri="{FF2B5EF4-FFF2-40B4-BE49-F238E27FC236}">
                <a16:creationId xmlns:a16="http://schemas.microsoft.com/office/drawing/2014/main" id="{E9606405-4F2C-A1EF-E2F2-0D0DCFEDF6C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8" name="内容占位符 7">
            <a:extLst>
              <a:ext uri="{FF2B5EF4-FFF2-40B4-BE49-F238E27FC236}">
                <a16:creationId xmlns:a16="http://schemas.microsoft.com/office/drawing/2014/main" id="{4B0104DF-24E5-6DFC-DB47-D1535D174FB9}"/>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6" name="文本占位符 5">
            <a:extLst>
              <a:ext uri="{FF2B5EF4-FFF2-40B4-BE49-F238E27FC236}">
                <a16:creationId xmlns:a16="http://schemas.microsoft.com/office/drawing/2014/main" id="{36253503-D8F7-6D57-7DA3-3A8AE74CB32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6" name="文本占位符 5">
            <a:extLst>
              <a:ext uri="{FF2B5EF4-FFF2-40B4-BE49-F238E27FC236}">
                <a16:creationId xmlns:a16="http://schemas.microsoft.com/office/drawing/2014/main" id="{B1EDC7E2-75F7-5240-9406-FF668970F90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695998" y="360000"/>
            <a:ext cx="6375921" cy="429413"/>
          </a:xfrm>
        </p:spPr>
        <p:txBody>
          <a:bodyPr/>
          <a:lstStyle/>
          <a:p>
            <a:r>
              <a:rPr lang="zh-CN" altLang="en-US"/>
              <a:t>项目结束</a:t>
            </a:r>
          </a:p>
        </p:txBody>
      </p:sp>
      <p:sp>
        <p:nvSpPr>
          <p:cNvPr id="28" name="内容占位符 27">
            <a:extLst>
              <a:ext uri="{FF2B5EF4-FFF2-40B4-BE49-F238E27FC236}">
                <a16:creationId xmlns:a16="http://schemas.microsoft.com/office/drawing/2014/main" id="{3F538195-CB8D-C427-EFEE-5239428FA4B0}"/>
              </a:ext>
            </a:extLst>
          </p:cNvPr>
          <p:cNvSpPr>
            <a:spLocks noGrp="1"/>
          </p:cNvSpPr>
          <p:nvPr>
            <p:ph idx="1"/>
          </p:nvPr>
        </p:nvSpPr>
        <p:spPr/>
        <p:txBody>
          <a:bodyPr/>
          <a:lstStyle/>
          <a:p>
            <a:endParaRPr lang="zh-CN" altLang="en-US"/>
          </a:p>
        </p:txBody>
      </p:sp>
      <p:sp>
        <p:nvSpPr>
          <p:cNvPr id="29" name="文本占位符 28">
            <a:extLst>
              <a:ext uri="{FF2B5EF4-FFF2-40B4-BE49-F238E27FC236}">
                <a16:creationId xmlns:a16="http://schemas.microsoft.com/office/drawing/2014/main" id="{59A20F13-D5D2-94DE-920E-31C93E9BD532}"/>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6" name="文本占位符 5">
            <a:extLst>
              <a:ext uri="{FF2B5EF4-FFF2-40B4-BE49-F238E27FC236}">
                <a16:creationId xmlns:a16="http://schemas.microsoft.com/office/drawing/2014/main" id="{C17BB2DF-A5CD-50FB-FBA9-F7801238CBD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17" name="文本占位符 16">
            <a:extLst>
              <a:ext uri="{FF2B5EF4-FFF2-40B4-BE49-F238E27FC236}">
                <a16:creationId xmlns:a16="http://schemas.microsoft.com/office/drawing/2014/main" id="{615F2577-F17A-01B1-6C72-CE28C08CC1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10" name="文本占位符 9">
            <a:extLst>
              <a:ext uri="{FF2B5EF4-FFF2-40B4-BE49-F238E27FC236}">
                <a16:creationId xmlns:a16="http://schemas.microsoft.com/office/drawing/2014/main" id="{8EE67194-6B96-3015-FABB-950F180B82F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11" name="文本占位符 10">
            <a:extLst>
              <a:ext uri="{FF2B5EF4-FFF2-40B4-BE49-F238E27FC236}">
                <a16:creationId xmlns:a16="http://schemas.microsoft.com/office/drawing/2014/main" id="{6ECEED88-5AAD-FD38-4056-887FC292853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7" name="文本占位符 6">
            <a:extLst>
              <a:ext uri="{FF2B5EF4-FFF2-40B4-BE49-F238E27FC236}">
                <a16:creationId xmlns:a16="http://schemas.microsoft.com/office/drawing/2014/main" id="{B78BE216-E909-FBA3-C72B-FC25F1D453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31677</TotalTime>
  <Words>36917</Words>
  <Application>Microsoft Office PowerPoint</Application>
  <PresentationFormat>宽屏</PresentationFormat>
  <Paragraphs>6870</Paragraphs>
  <Slides>430</Slides>
  <Notes>182</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430</vt:i4>
      </vt:variant>
    </vt:vector>
  </HeadingPairs>
  <TitlesOfParts>
    <vt:vector size="440" baseType="lpstr">
      <vt:lpstr>Cambria Math</vt:lpstr>
      <vt:lpstr>Arial</vt:lpstr>
      <vt:lpstr>Courier New</vt:lpstr>
      <vt:lpstr>Roboto Mono</vt:lpstr>
      <vt:lpstr>Roboto Mono Light</vt:lpstr>
      <vt:lpstr>Times New Roman</vt:lpstr>
      <vt:lpstr>Wingdings</vt:lpstr>
      <vt:lpstr>Montserrat</vt:lpstr>
      <vt:lpstr>等线</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PowerPoint 演示文稿</vt:lpstr>
      <vt:lpstr>PowerPoint 演示文稿</vt:lpstr>
      <vt:lpstr>PowerPoint 演示文稿</vt:lpstr>
      <vt:lpstr>变化原因</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PowerPoint 演示文稿</vt:lpstr>
      <vt:lpstr>2.2 配置管理环境建立</vt:lpstr>
      <vt:lpstr>PowerPoint 演示文稿</vt:lpstr>
      <vt:lpstr>2.3 基线变更管理</vt:lpstr>
      <vt:lpstr>PowerPoint 演示文稿</vt:lpstr>
      <vt:lpstr>PowerPoint 演示文稿</vt:lpstr>
      <vt:lpstr>PowerPoint 演示文稿</vt:lpstr>
      <vt:lpstr>2.4 配置审计</vt:lpstr>
      <vt:lpstr>2.5 配置状态统计</vt:lpstr>
      <vt:lpstr>2.6 配置管理计划</vt:lpstr>
      <vt:lpstr>PowerPoint 演示文稿</vt:lpstr>
      <vt:lpstr>PowerPoint 演示文稿</vt:lpstr>
      <vt:lpstr>软件项目团队计划</vt:lpstr>
      <vt:lpstr>PowerPoint 演示文稿</vt:lpstr>
      <vt:lpstr>团队发展四阶段</vt:lpstr>
      <vt:lpstr>10.1 组织结构</vt:lpstr>
      <vt:lpstr>人力资源管理</vt:lpstr>
      <vt:lpstr>10.1.1 职能型</vt:lpstr>
      <vt:lpstr>10.1.2 项目型</vt:lpstr>
      <vt:lpstr>10.1.3 矩阵型</vt:lpstr>
      <vt:lpstr>责任分配矩阵</vt:lpstr>
      <vt:lpstr>冲突解决</vt:lpstr>
      <vt:lpstr>马斯洛需要层次理论</vt:lpstr>
      <vt:lpstr>赫茨伯格双因素激励理论</vt:lpstr>
      <vt:lpstr>PowerPoint 演示文稿</vt:lpstr>
      <vt:lpstr>10.3 干系人管理</vt:lpstr>
      <vt:lpstr>10.3 凸显模型</vt:lpstr>
      <vt:lpstr>10.3 干系人</vt:lpstr>
      <vt:lpstr>10.3 干系人 Stakeholders</vt:lpstr>
      <vt:lpstr>10.4 沟通管理</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2891</cp:revision>
  <dcterms:created xsi:type="dcterms:W3CDTF">2026-01-24T11:12:04Z</dcterms:created>
  <dcterms:modified xsi:type="dcterms:W3CDTF">2026-05-01T05:19:32Z</dcterms:modified>
</cp:coreProperties>
</file>