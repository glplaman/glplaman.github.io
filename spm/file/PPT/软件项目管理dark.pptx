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1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92"/>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443" r:id="rId185"/>
    <p:sldId id="446" r:id="rId186"/>
    <p:sldId id="447" r:id="rId187"/>
    <p:sldId id="448" r:id="rId188"/>
    <p:sldId id="449" r:id="rId189"/>
    <p:sldId id="450" r:id="rId190"/>
    <p:sldId id="451" r:id="rId191"/>
    <p:sldId id="274" r:id="rId192"/>
    <p:sldId id="535" r:id="rId193"/>
    <p:sldId id="419" r:id="rId194"/>
    <p:sldId id="420" r:id="rId195"/>
    <p:sldId id="421" r:id="rId196"/>
    <p:sldId id="422" r:id="rId197"/>
    <p:sldId id="424" r:id="rId198"/>
    <p:sldId id="423" r:id="rId199"/>
    <p:sldId id="426" r:id="rId200"/>
    <p:sldId id="267" r:id="rId201"/>
    <p:sldId id="425" r:id="rId202"/>
    <p:sldId id="429" r:id="rId203"/>
    <p:sldId id="428" r:id="rId204"/>
    <p:sldId id="430" r:id="rId205"/>
    <p:sldId id="427" r:id="rId206"/>
    <p:sldId id="440" r:id="rId207"/>
    <p:sldId id="441" r:id="rId208"/>
    <p:sldId id="442" r:id="rId209"/>
    <p:sldId id="436" r:id="rId210"/>
    <p:sldId id="437" r:id="rId211"/>
    <p:sldId id="438" r:id="rId212"/>
    <p:sldId id="439" r:id="rId213"/>
    <p:sldId id="275" r:id="rId214"/>
    <p:sldId id="529" r:id="rId215"/>
    <p:sldId id="433" r:id="rId216"/>
    <p:sldId id="434" r:id="rId217"/>
    <p:sldId id="432" r:id="rId218"/>
    <p:sldId id="452" r:id="rId219"/>
    <p:sldId id="453" r:id="rId220"/>
    <p:sldId id="276" r:id="rId221"/>
    <p:sldId id="525" r:id="rId222"/>
    <p:sldId id="526" r:id="rId223"/>
    <p:sldId id="527" r:id="rId224"/>
    <p:sldId id="467" r:id="rId225"/>
    <p:sldId id="522" r:id="rId226"/>
    <p:sldId id="626" r:id="rId227"/>
    <p:sldId id="524" r:id="rId228"/>
    <p:sldId id="466" r:id="rId229"/>
    <p:sldId id="528" r:id="rId230"/>
    <p:sldId id="625" r:id="rId231"/>
    <p:sldId id="624" r:id="rId232"/>
    <p:sldId id="523" r:id="rId233"/>
    <p:sldId id="468" r:id="rId234"/>
    <p:sldId id="470" r:id="rId235"/>
    <p:sldId id="469" r:id="rId236"/>
    <p:sldId id="277" r:id="rId237"/>
    <p:sldId id="530" r:id="rId238"/>
    <p:sldId id="313" r:id="rId239"/>
    <p:sldId id="454" r:id="rId240"/>
    <p:sldId id="455" r:id="rId241"/>
    <p:sldId id="457" r:id="rId242"/>
    <p:sldId id="458" r:id="rId243"/>
    <p:sldId id="459" r:id="rId244"/>
    <p:sldId id="456" r:id="rId245"/>
    <p:sldId id="475" r:id="rId246"/>
    <p:sldId id="460" r:id="rId247"/>
    <p:sldId id="263" r:id="rId248"/>
    <p:sldId id="264" r:id="rId249"/>
    <p:sldId id="265" r:id="rId250"/>
    <p:sldId id="461" r:id="rId251"/>
    <p:sldId id="278" r:id="rId252"/>
    <p:sldId id="531" r:id="rId253"/>
    <p:sldId id="390" r:id="rId254"/>
    <p:sldId id="435" r:id="rId255"/>
    <p:sldId id="431" r:id="rId256"/>
    <p:sldId id="391" r:id="rId257"/>
    <p:sldId id="388" r:id="rId258"/>
    <p:sldId id="389" r:id="rId259"/>
    <p:sldId id="471" r:id="rId260"/>
    <p:sldId id="279" r:id="rId261"/>
    <p:sldId id="532" r:id="rId262"/>
    <p:sldId id="463" r:id="rId263"/>
    <p:sldId id="393" r:id="rId264"/>
    <p:sldId id="392" r:id="rId265"/>
    <p:sldId id="462" r:id="rId266"/>
    <p:sldId id="394" r:id="rId267"/>
    <p:sldId id="395" r:id="rId268"/>
    <p:sldId id="396" r:id="rId269"/>
    <p:sldId id="397" r:id="rId270"/>
    <p:sldId id="398" r:id="rId271"/>
    <p:sldId id="464" r:id="rId272"/>
    <p:sldId id="465" r:id="rId273"/>
    <p:sldId id="280" r:id="rId274"/>
    <p:sldId id="533" r:id="rId275"/>
    <p:sldId id="399" r:id="rId276"/>
    <p:sldId id="287" r:id="rId277"/>
    <p:sldId id="288" r:id="rId278"/>
    <p:sldId id="289" r:id="rId279"/>
    <p:sldId id="290" r:id="rId280"/>
    <p:sldId id="281" r:id="rId281"/>
    <p:sldId id="534" r:id="rId282"/>
    <p:sldId id="400" r:id="rId283"/>
    <p:sldId id="402" r:id="rId284"/>
    <p:sldId id="401" r:id="rId285"/>
    <p:sldId id="412" r:id="rId286"/>
    <p:sldId id="472" r:id="rId287"/>
    <p:sldId id="473" r:id="rId288"/>
    <p:sldId id="474" r:id="rId289"/>
    <p:sldId id="367" r:id="rId290"/>
    <p:sldId id="643" r:id="rId291"/>
  </p:sldIdLst>
  <p:sldSz cx="12192000" cy="6858000"/>
  <p:notesSz cx="6858000" cy="9144000"/>
  <p:embeddedFontLst>
    <p:embeddedFont>
      <p:font typeface="Cambria Math" panose="02040503050406030204" pitchFamily="18" charset="0"/>
      <p:regular r:id="rId293"/>
    </p:embeddedFont>
    <p:embeddedFont>
      <p:font typeface="Montserrat" panose="00000500000000000000" pitchFamily="2" charset="0"/>
      <p:regular r:id="rId294"/>
    </p:embeddedFont>
    <p:embeddedFont>
      <p:font typeface="Roboto Mono" pitchFamily="2" charset="0"/>
      <p:regular r:id="rId295"/>
      <p:bold r:id="rId296"/>
    </p:embeddedFont>
    <p:embeddedFont>
      <p:font typeface="等线" panose="02010600030101010101" pitchFamily="2" charset="-122"/>
      <p:regular r:id="rId297"/>
      <p:bold r:id="rId298"/>
    </p:embeddedFont>
    <p:embeddedFont>
      <p:font typeface="微软雅黑 Light" panose="020B0502040204020203" pitchFamily="34" charset="-122"/>
      <p:regular r:id="rId29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05F73"/>
    <a:srgbClr val="E7886E"/>
    <a:srgbClr val="F6BA4F"/>
    <a:srgbClr val="6CCA94"/>
    <a:srgbClr val="6DB6E6"/>
    <a:srgbClr val="6D96E8"/>
    <a:srgbClr val="001F3F"/>
    <a:srgbClr val="FFFFFF"/>
    <a:srgbClr val="5B9BD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6036" autoAdjust="0"/>
  </p:normalViewPr>
  <p:slideViewPr>
    <p:cSldViewPr snapToGrid="0">
      <p:cViewPr varScale="1">
        <p:scale>
          <a:sx n="97" d="100"/>
          <a:sy n="97" d="100"/>
        </p:scale>
        <p:origin x="1074" y="90"/>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font" Target="fonts/font7.fntdata"/><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slide" Target="slides/slide290.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notesMaster" Target="notesMasters/notesMaster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font" Target="fonts/font1.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font" Target="fonts/font2.fntdata"/><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font" Target="fonts/font3.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font" Target="fonts/font4.fntdata"/><Relationship Id="rId300" Type="http://schemas.openxmlformats.org/officeDocument/2006/relationships/presProps" Target="presProps.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font" Target="fonts/font5.fntdata"/><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font" Target="fonts/font6.fntdata"/><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tableStyles" Target="tableStyle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a:p>
        <a:p>
          <a:pPr>
            <a:lnSpc>
              <a:spcPct val="100000"/>
            </a:lnSpc>
            <a:spcAft>
              <a:spcPts val="0"/>
            </a:spcAft>
          </a:pPr>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a:ln>
          <a:noFill/>
        </a:ln>
      </dgm:spPr>
      <dgm:t>
        <a:bodyPr/>
        <a:lstStyle/>
        <a:p>
          <a:r>
            <a:rPr lang="zh-CN" altLang="en-US"/>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a:ln>
          <a:noFill/>
        </a:ln>
      </dgm:spPr>
      <dgm:t>
        <a:bodyPr/>
        <a:lstStyle/>
        <a:p>
          <a:r>
            <a:rPr lang="zh-CN" altLang="en-US"/>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a:ln>
          <a:noFill/>
        </a:ln>
      </dgm:spPr>
      <dgm:t>
        <a:bodyPr/>
        <a:lstStyle/>
        <a:p>
          <a:r>
            <a:rPr lang="zh-CN" altLang="en-US"/>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a:ln>
          <a:noFill/>
        </a:ln>
      </dgm:spPr>
      <dgm:t>
        <a:bodyPr/>
        <a:lstStyle/>
        <a:p>
          <a:r>
            <a:rPr lang="zh-CN" altLang="en-US"/>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a:p>
        <a:p>
          <a:pPr marL="0" lvl="0" indent="0" algn="ctr" defTabSz="977900">
            <a:lnSpc>
              <a:spcPct val="100000"/>
            </a:lnSpc>
            <a:spcBef>
              <a:spcPct val="0"/>
            </a:spcBef>
            <a:spcAft>
              <a:spcPts val="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9.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2026/3/30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184</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偏差用减法</a:t>
            </a:r>
            <a:endParaRPr lang="en-US" altLang="zh-CN"/>
          </a:p>
          <a:p>
            <a:r>
              <a:rPr lang="zh-CN" altLang="en-US"/>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默认情况下，紧前活动结束后，紧后活动马上开始</a:t>
            </a:r>
            <a:endParaRPr lang="en-US" altLang="zh-CN"/>
          </a:p>
          <a:p>
            <a:r>
              <a:rPr lang="en-US" altLang="zh-CN"/>
              <a:t>D</a:t>
            </a:r>
            <a:r>
              <a:rPr lang="zh-CN" altLang="en-US"/>
              <a:t>提前</a:t>
            </a:r>
            <a:r>
              <a:rPr lang="en-US" altLang="zh-CN"/>
              <a:t>2</a:t>
            </a:r>
            <a:r>
              <a:rPr lang="zh-CN" altLang="en-US"/>
              <a:t>天开始</a:t>
            </a:r>
            <a:endParaRPr lang="en-US" altLang="zh-CN"/>
          </a:p>
          <a:p>
            <a:r>
              <a:rPr lang="en-US" altLang="zh-CN"/>
              <a:t>F</a:t>
            </a:r>
            <a:r>
              <a:rPr lang="zh-CN" altLang="en-US"/>
              <a:t>推迟</a:t>
            </a:r>
            <a:r>
              <a:rPr lang="en-US" altLang="zh-CN"/>
              <a:t>3</a:t>
            </a:r>
            <a:r>
              <a:rPr lang="zh-CN" altLang="en-US"/>
              <a:t>天开始</a:t>
            </a:r>
          </a:p>
          <a:p>
            <a:r>
              <a:rPr lang="en-US" altLang="zh-CN"/>
              <a:t>SS+2 </a:t>
            </a:r>
            <a:r>
              <a:rPr lang="zh-CN" altLang="en-US"/>
              <a:t>：紧后活动必须在紧前活动开始之后 </a:t>
            </a:r>
            <a:r>
              <a:rPr lang="en-US" altLang="zh-CN"/>
              <a:t>2 </a:t>
            </a:r>
            <a:r>
              <a:rPr lang="zh-CN" altLang="en-US"/>
              <a:t>天才能开始</a:t>
            </a:r>
            <a:endParaRPr lang="en-US" altLang="zh-CN"/>
          </a:p>
          <a:p>
            <a:r>
              <a:rPr lang="en-US" altLang="zh-CN"/>
              <a:t>SS+0</a:t>
            </a:r>
            <a:r>
              <a:rPr lang="zh-CN" altLang="en-US"/>
              <a:t>：紧后活动与紧前活动同时开始（这才是“同时开始”）</a:t>
            </a:r>
            <a:endParaRPr lang="en-US" altLang="zh-CN"/>
          </a:p>
          <a:p>
            <a:r>
              <a:rPr lang="en-US" altLang="zh-CN"/>
              <a:t>FS+3</a:t>
            </a:r>
            <a:r>
              <a:rPr lang="zh-CN" altLang="en-US"/>
              <a:t>：紧后活动必须在紧前活动完成后</a:t>
            </a:r>
            <a:r>
              <a:rPr lang="en-US" altLang="zh-CN"/>
              <a:t>3</a:t>
            </a:r>
            <a:r>
              <a:rPr lang="zh-CN" altLang="en-US"/>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207</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212</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217</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222</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238</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239</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242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255</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258</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74545248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一个老师可以讲授多门课程，一门课程可以由一个或多个老师讲授</a:t>
            </a:r>
            <a:endParaRPr lang="en-US" altLang="zh-CN"/>
          </a:p>
          <a:p>
            <a:r>
              <a:rPr lang="en-US" altLang="zh-CN"/>
              <a:t>Crow’s Foot Notation</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290</a:t>
            </a:fld>
            <a:endParaRPr lang="zh-CN" altLang="en-US"/>
          </a:p>
        </p:txBody>
      </p:sp>
    </p:spTree>
    <p:extLst>
      <p:ext uri="{BB962C8B-B14F-4D97-AF65-F5344CB8AC3E}">
        <p14:creationId xmlns:p14="http://schemas.microsoft.com/office/powerpoint/2010/main" val="4028016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278857"/>
            <a:ext cx="4424219" cy="2300287"/>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a:solidFill>
                  <a:schemeClr val="bg1"/>
                </a:solidFill>
              </a:rPr>
              <a:t>Sample</a:t>
            </a:r>
            <a:endParaRPr lang="zh-CN" altLang="en-US" sz="160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F3F"/>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bg1"/>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bg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bg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220.xml"/><Relationship Id="rId13" Type="http://schemas.openxmlformats.org/officeDocument/2006/relationships/slide" Target="slide273.xml"/><Relationship Id="rId3" Type="http://schemas.openxmlformats.org/officeDocument/2006/relationships/slide" Target="slide41.xml"/><Relationship Id="rId7" Type="http://schemas.openxmlformats.org/officeDocument/2006/relationships/slide" Target="slide213.xml"/><Relationship Id="rId12" Type="http://schemas.openxmlformats.org/officeDocument/2006/relationships/slide" Target="slide260.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191.xml"/><Relationship Id="rId11" Type="http://schemas.openxmlformats.org/officeDocument/2006/relationships/slide" Target="slide280.xml"/><Relationship Id="rId5" Type="http://schemas.openxmlformats.org/officeDocument/2006/relationships/slide" Target="slide182.xml"/><Relationship Id="rId10" Type="http://schemas.openxmlformats.org/officeDocument/2006/relationships/slide" Target="slide251.xml"/><Relationship Id="rId4" Type="http://schemas.openxmlformats.org/officeDocument/2006/relationships/slide" Target="slide120.xml"/><Relationship Id="rId9" Type="http://schemas.openxmlformats.org/officeDocument/2006/relationships/slide" Target="slide23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6.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 Id="rId9" Type="http://schemas.openxmlformats.org/officeDocument/2006/relationships/image" Target="../media/image34.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hyperlink" Target="https://t2informatik.de/en/smartpedia/change-control-board/" TargetMode="Externa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2.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8.xml"/><Relationship Id="rId7" Type="http://schemas.openxmlformats.org/officeDocument/2006/relationships/image" Target="../media/image17.sv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 Id="rId9" Type="http://schemas.openxmlformats.org/officeDocument/2006/relationships/image" Target="../media/image41.sv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a:solidFill>
                  <a:schemeClr val="bg1"/>
                </a:solidFill>
              </a:rPr>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a:solidFill>
                  <a:schemeClr val="bg1"/>
                </a:solidFill>
              </a:rPr>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a:solidFill>
                  <a:schemeClr val="bg1"/>
                </a:solidFill>
              </a:rPr>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a:solidFill>
                  <a:schemeClr val="bg1"/>
                </a:solidFill>
              </a:rPr>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a:solidFill>
                  <a:schemeClr val="bg1"/>
                </a:solidFill>
              </a:rPr>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a:solidFill>
                  <a:schemeClr val="bg1"/>
                </a:solidFill>
              </a:rPr>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a:solidFill>
                  <a:schemeClr val="bg1"/>
                </a:solidFill>
              </a:rPr>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a:solidFill>
                  <a:schemeClr val="bg1"/>
                </a:solidFill>
              </a:rPr>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a:solidFill>
                  <a:schemeClr val="bg1"/>
                </a:solidFill>
              </a:rPr>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a:solidFill>
                  <a:schemeClr val="bg1"/>
                </a:solidFill>
              </a:rPr>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a:solidFill>
                  <a:schemeClr val="bg1"/>
                </a:solidFill>
              </a:rPr>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a:solidFill>
                  <a:schemeClr val="bg1"/>
                </a:solidFill>
              </a:rPr>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solidFill>
                  <a:schemeClr val="bg1"/>
                </a:solidFill>
              </a:rPr>
              <a:t>4</a:t>
            </a:r>
            <a:endParaRPr lang="zh-CN" altLang="en-US">
              <a:solidFill>
                <a:schemeClr val="bg1"/>
              </a:solidFill>
            </a:endParaRPr>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solidFill>
                  <a:schemeClr val="bg1"/>
                </a:solidFill>
              </a:rPr>
              <a:t>6</a:t>
            </a:r>
            <a:endParaRPr lang="zh-CN" altLang="en-US">
              <a:solidFill>
                <a:schemeClr val="bg1"/>
              </a:solidFill>
            </a:endParaRPr>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a:solidFill>
                  <a:schemeClr val="bg1"/>
                </a:solidFill>
              </a:rPr>
              <a:t>Section 1</a:t>
            </a:r>
            <a:endParaRPr lang="zh-CN" altLang="en-US">
              <a:solidFill>
                <a:schemeClr val="bg1"/>
              </a:solidFill>
            </a:endParaRPr>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a:solidFill>
                  <a:schemeClr val="bg1"/>
                </a:solidFill>
              </a:rPr>
              <a:t>Section 2</a:t>
            </a:r>
            <a:endParaRPr lang="zh-CN" altLang="en-US">
              <a:solidFill>
                <a:schemeClr val="bg1"/>
              </a:solidFill>
            </a:endParaRPr>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a:solidFill>
                  <a:schemeClr val="bg1"/>
                </a:solidFill>
              </a:rPr>
              <a:t>Section 3</a:t>
            </a:r>
            <a:endParaRPr lang="zh-CN" altLang="en-US">
              <a:solidFill>
                <a:schemeClr val="bg1"/>
              </a:solidFill>
            </a:endParaRPr>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a:solidFill>
                  <a:schemeClr val="bg1"/>
                </a:solidFill>
              </a:rPr>
              <a:t>Section 4</a:t>
            </a:r>
            <a:endParaRPr lang="zh-CN" altLang="en-US">
              <a:solidFill>
                <a:schemeClr val="bg1"/>
              </a:solidFill>
            </a:endParaRPr>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a:solidFill>
                  <a:schemeClr val="bg1"/>
                </a:solidFill>
              </a:rPr>
              <a:t>Section 5</a:t>
            </a:r>
            <a:endParaRPr lang="zh-CN" altLang="en-US">
              <a:solidFill>
                <a:schemeClr val="bg1"/>
              </a:solidFill>
            </a:endParaRPr>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a:solidFill>
                  <a:schemeClr val="bg1"/>
                </a:solidFill>
              </a:rPr>
              <a:t>Section 6</a:t>
            </a:r>
            <a:endParaRPr lang="zh-CN" altLang="en-US">
              <a:solidFill>
                <a:schemeClr val="bg1"/>
              </a:solidFill>
            </a:endParaRPr>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a:solidFill>
                  <a:schemeClr val="bg1"/>
                </a:solidFill>
              </a:rPr>
              <a:t>Section 7</a:t>
            </a:r>
            <a:endParaRPr lang="zh-CN" altLang="en-US">
              <a:solidFill>
                <a:schemeClr val="bg1"/>
              </a:solidFill>
            </a:endParaRPr>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a:solidFill>
                  <a:schemeClr val="bg1"/>
                </a:solidFill>
              </a:rPr>
              <a:t>Section 8</a:t>
            </a:r>
            <a:endParaRPr lang="zh-CN" altLang="en-US">
              <a:solidFill>
                <a:schemeClr val="bg1"/>
              </a:solidFill>
            </a:endParaRPr>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a:solidFill>
                  <a:schemeClr val="bg1"/>
                </a:solidFill>
              </a:rPr>
              <a:t>Section 9</a:t>
            </a:r>
            <a:endParaRPr lang="zh-CN" altLang="en-US">
              <a:solidFill>
                <a:schemeClr val="bg1"/>
              </a:solidFill>
            </a:endParaRPr>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a:solidFill>
                  <a:schemeClr val="bg1"/>
                </a:solidFill>
              </a:rPr>
              <a:t>Section 10</a:t>
            </a:r>
            <a:endParaRPr lang="zh-CN" altLang="en-US">
              <a:solidFill>
                <a:schemeClr val="bg1"/>
              </a:solidFill>
            </a:endParaRPr>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a:solidFill>
                  <a:schemeClr val="bg1"/>
                </a:solidFill>
              </a:rPr>
              <a:t>Section 11</a:t>
            </a:r>
            <a:endParaRPr lang="zh-CN" altLang="en-US">
              <a:solidFill>
                <a:schemeClr val="bg1"/>
              </a:solidFill>
            </a:endParaRPr>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a:solidFill>
                  <a:schemeClr val="bg1"/>
                </a:solidFill>
              </a:rPr>
              <a:t>Section 12</a:t>
            </a:r>
            <a:endParaRPr lang="zh-CN" altLang="en-US">
              <a:solidFill>
                <a:schemeClr val="bg1"/>
              </a:solidFill>
            </a:endParaRPr>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666244" y="2278857"/>
            <a:ext cx="4859513" cy="2300287"/>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a:t>
            </a:r>
            <a:r>
              <a:rPr lang="en-US" altLang="zh-CN">
                <a:solidFill>
                  <a:srgbClr val="FFFF00"/>
                </a:solidFill>
              </a:rPr>
              <a:t>result</a:t>
            </a:r>
            <a:r>
              <a:rPr lang="en-US" altLang="zh-CN"/>
              <a: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a:solidFill>
                  <a:schemeClr val="bg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a:solidFill>
                  <a:schemeClr val="bg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a:solidFill>
                  <a:schemeClr val="bg1"/>
                </a:solidFill>
              </a:rPr>
              <a:t>搬家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野炊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生日聚会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婚礼 </a:t>
            </a:r>
            <a:r>
              <a:rPr lang="zh-CN" altLang="en-US">
                <a:solidFill>
                  <a:schemeClr val="bg1"/>
                </a:solidFill>
                <a:sym typeface="Wingdings" panose="05000000000000000000" pitchFamily="2" charset="2"/>
              </a:rPr>
              <a:t></a:t>
            </a:r>
            <a:endParaRPr lang="en-US" altLang="zh-CN">
              <a:solidFill>
                <a:schemeClr val="bg1"/>
              </a:solidFill>
            </a:endParaRPr>
          </a:p>
          <a:p>
            <a:pPr algn="r"/>
            <a:endParaRPr lang="en-US" altLang="zh-CN">
              <a:solidFill>
                <a:schemeClr val="bg1"/>
              </a:solidFill>
            </a:endParaRPr>
          </a:p>
          <a:p>
            <a:pPr algn="r"/>
            <a:r>
              <a:rPr lang="zh-CN" altLang="en-US">
                <a:solidFill>
                  <a:schemeClr val="bg1"/>
                </a:solidFill>
              </a:rPr>
              <a:t>认证考试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学历教育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驾照考试 </a:t>
            </a:r>
            <a:r>
              <a:rPr lang="zh-CN" altLang="en-US">
                <a:solidFill>
                  <a:schemeClr val="bg1"/>
                </a:solidFill>
                <a:sym typeface="Wingdings" panose="05000000000000000000" pitchFamily="2" charset="2"/>
              </a:rPr>
              <a:t></a:t>
            </a:r>
            <a:endParaRPr lang="zh-CN" altLang="en-US">
              <a:solidFill>
                <a:schemeClr val="bg1"/>
              </a:solidFill>
            </a:endParaRPr>
          </a:p>
          <a:p>
            <a:pPr algn="r"/>
            <a:endParaRPr lang="en-US" altLang="zh-CN">
              <a:solidFill>
                <a:schemeClr val="bg1"/>
              </a:solidFill>
            </a:endParaRPr>
          </a:p>
          <a:p>
            <a:pPr algn="r"/>
            <a:r>
              <a:rPr lang="zh-CN" altLang="en-US">
                <a:solidFill>
                  <a:schemeClr val="bg1"/>
                </a:solidFill>
              </a:rPr>
              <a:t>毕业设计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电商小程序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后台管理系统 </a:t>
            </a:r>
            <a:r>
              <a:rPr lang="zh-CN" altLang="en-US">
                <a:solidFill>
                  <a:schemeClr val="bg1"/>
                </a:solidFill>
                <a:sym typeface="Wingdings" panose="05000000000000000000" pitchFamily="2" charset="2"/>
              </a:rPr>
              <a:t></a:t>
            </a:r>
            <a:endParaRPr lang="en-US" altLang="zh-CN">
              <a:solidFill>
                <a:schemeClr val="bg1"/>
              </a:solidFill>
            </a:endParaRPr>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olidFill>
                  <a:schemeClr val="bg1"/>
                </a:solidFill>
                <a:sym typeface="Wingdings" panose="05000000000000000000" pitchFamily="2" charset="2"/>
              </a:rPr>
              <a:t> </a:t>
            </a:r>
            <a:r>
              <a:rPr lang="zh-CN" altLang="en-US">
                <a:solidFill>
                  <a:schemeClr val="bg1"/>
                </a:solidFill>
              </a:rPr>
              <a:t>保洁</a:t>
            </a:r>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安保</a:t>
            </a:r>
            <a:endParaRPr lang="en-US" altLang="zh-CN">
              <a:solidFill>
                <a:schemeClr val="bg1"/>
              </a:solidFill>
            </a:endParaRPr>
          </a:p>
          <a:p>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上课</a:t>
            </a:r>
            <a:endParaRPr lang="en-US" altLang="zh-CN">
              <a:solidFill>
                <a:schemeClr val="bg1"/>
              </a:solidFill>
            </a:endParaRPr>
          </a:p>
          <a:p>
            <a:r>
              <a:rPr lang="zh-CN" altLang="en-US">
                <a:solidFill>
                  <a:schemeClr val="bg1"/>
                </a:solidFill>
                <a:sym typeface="Wingdings" panose="05000000000000000000" pitchFamily="2" charset="2"/>
              </a:rPr>
              <a:t> 党团日</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班会</a:t>
            </a:r>
            <a:endParaRPr lang="en-US" altLang="zh-CN">
              <a:solidFill>
                <a:schemeClr val="bg1"/>
              </a:solidFill>
            </a:endParaRPr>
          </a:p>
          <a:p>
            <a:r>
              <a:rPr lang="zh-CN" altLang="en-US">
                <a:solidFill>
                  <a:schemeClr val="bg1"/>
                </a:solidFill>
              </a:rPr>
              <a:t> </a:t>
            </a:r>
            <a:endParaRPr lang="en-US" altLang="zh-CN">
              <a:solidFill>
                <a:schemeClr val="bg1"/>
              </a:solidFill>
            </a:endParaRPr>
          </a:p>
          <a:p>
            <a:r>
              <a:rPr lang="zh-CN" altLang="en-US">
                <a:solidFill>
                  <a:schemeClr val="bg1"/>
                </a:solidFill>
                <a:sym typeface="Wingdings" panose="05000000000000000000" pitchFamily="2" charset="2"/>
              </a:rPr>
              <a:t> 电商客服</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a:t>
            </a:r>
            <a:r>
              <a:rPr lang="zh-CN" altLang="en-US">
                <a:solidFill>
                  <a:schemeClr val="bg1"/>
                </a:solidFill>
              </a:rPr>
              <a:t>系统运维</a:t>
            </a:r>
            <a:endParaRPr lang="en-US" altLang="zh-CN">
              <a:solidFill>
                <a:schemeClr val="bg1"/>
              </a:solidFill>
            </a:endParaRPr>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a:solidFill>
                  <a:schemeClr val="bg1"/>
                </a:solidFill>
              </a:rPr>
              <a:t>Project</a:t>
            </a:r>
            <a:endParaRPr lang="zh-CN" altLang="en-US" sz="1600">
              <a:solidFill>
                <a:schemeClr val="bg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a:solidFill>
                  <a:schemeClr val="bg1"/>
                </a:solidFill>
              </a:rPr>
              <a:t>Operation</a:t>
            </a:r>
            <a:endParaRPr lang="zh-CN" altLang="en-US" sz="1600">
              <a:solidFill>
                <a:schemeClr val="bg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a:latin typeface="微软雅黑 Light" panose="020B0502040204020203" pitchFamily="34" charset="-122"/>
                <a:ea typeface="微软雅黑 Light" panose="020B0502040204020203" pitchFamily="34" charset="-122"/>
              </a:rPr>
              <a:t>目标性 </a:t>
            </a:r>
            <a:r>
              <a:rPr lang="en-US" altLang="zh-CN" sz="1600" kern="1200">
                <a:latin typeface="微软雅黑 Light" panose="020B0502040204020203" pitchFamily="34" charset="-122"/>
                <a:ea typeface="微软雅黑 Light" panose="020B0502040204020203" pitchFamily="34" charset="-122"/>
              </a:rPr>
              <a:t>Target</a:t>
            </a:r>
            <a:endParaRPr lang="zh-CN" altLang="en-US" sz="1600" kern="1200"/>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1</a:t>
            </a:r>
            <a:endParaRPr lang="zh-CN" altLang="en-US">
              <a:solidFill>
                <a:schemeClr val="bg1"/>
              </a:solidFill>
            </a:endParaRPr>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相关性 </a:t>
            </a:r>
            <a:r>
              <a:rPr lang="en-US" altLang="zh-CN" sz="1600">
                <a:latin typeface="微软雅黑 Light" panose="020B0502040204020203" pitchFamily="34" charset="-122"/>
                <a:ea typeface="微软雅黑 Light" panose="020B0502040204020203" pitchFamily="34" charset="-122"/>
              </a:rPr>
              <a:t>Relevant</a:t>
            </a:r>
            <a:endParaRPr lang="zh-CN" altLang="en-US" sz="1600">
              <a:latin typeface="微软雅黑 Light" panose="020B0502040204020203" pitchFamily="34" charset="-122"/>
              <a:ea typeface="微软雅黑 Light" panose="020B0502040204020203" pitchFamily="34" charset="-122"/>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2</a:t>
            </a:r>
            <a:endParaRPr lang="zh-CN" altLang="en-US">
              <a:solidFill>
                <a:schemeClr val="bg1"/>
              </a:solidFill>
            </a:endParaRPr>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临时性 </a:t>
            </a:r>
            <a:r>
              <a:rPr lang="en-US" altLang="zh-CN" sz="1600">
                <a:latin typeface="微软雅黑 Light" panose="020B0502040204020203" pitchFamily="34" charset="-122"/>
                <a:ea typeface="微软雅黑 Light" panose="020B0502040204020203" pitchFamily="34" charset="-122"/>
              </a:rPr>
              <a:t>Temporary</a:t>
            </a:r>
            <a:endParaRPr lang="zh-CN" altLang="en-US" sz="1600">
              <a:latin typeface="微软雅黑 Light" panose="020B0502040204020203" pitchFamily="34" charset="-122"/>
              <a:ea typeface="微软雅黑 Light" panose="020B0502040204020203" pitchFamily="34" charset="-122"/>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3</a:t>
            </a:r>
            <a:endParaRPr lang="zh-CN" altLang="en-US">
              <a:solidFill>
                <a:schemeClr val="bg1"/>
              </a:solidFill>
            </a:endParaRPr>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独特性 </a:t>
            </a:r>
            <a:r>
              <a:rPr lang="en-US" altLang="zh-CN" sz="1600">
                <a:latin typeface="微软雅黑 Light" panose="020B0502040204020203" pitchFamily="34" charset="-122"/>
                <a:ea typeface="微软雅黑 Light" panose="020B0502040204020203" pitchFamily="34" charset="-122"/>
              </a:rPr>
              <a:t>Unique</a:t>
            </a:r>
            <a:endParaRPr lang="zh-CN" altLang="en-US" sz="1600">
              <a:latin typeface="微软雅黑 Light" panose="020B0502040204020203" pitchFamily="34" charset="-122"/>
              <a:ea typeface="微软雅黑 Light" panose="020B0502040204020203" pitchFamily="34" charset="-122"/>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4</a:t>
            </a:r>
            <a:endParaRPr lang="zh-CN" altLang="en-US">
              <a:solidFill>
                <a:schemeClr val="bg1"/>
              </a:solidFill>
            </a:endParaRPr>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资源约束性 </a:t>
            </a:r>
            <a:r>
              <a:rPr lang="en-US" altLang="zh-CN" sz="1600">
                <a:latin typeface="微软雅黑 Light" panose="020B0502040204020203" pitchFamily="34" charset="-122"/>
                <a:ea typeface="微软雅黑 Light" panose="020B0502040204020203" pitchFamily="34" charset="-122"/>
              </a:rPr>
              <a:t>Constrain</a:t>
            </a:r>
            <a:endParaRPr lang="zh-CN" altLang="en-US" sz="1600">
              <a:latin typeface="微软雅黑 Light" panose="020B0502040204020203" pitchFamily="34" charset="-122"/>
              <a:ea typeface="微软雅黑 Light" panose="020B0502040204020203" pitchFamily="34" charset="-122"/>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5</a:t>
            </a:r>
            <a:endParaRPr lang="zh-CN" altLang="en-US">
              <a:solidFill>
                <a:schemeClr val="bg1"/>
              </a:solidFill>
            </a:endParaRPr>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不确定性 </a:t>
            </a:r>
            <a:r>
              <a:rPr lang="en-US" altLang="zh-CN" sz="1600">
                <a:latin typeface="微软雅黑 Light" panose="020B0502040204020203" pitchFamily="34" charset="-122"/>
                <a:ea typeface="微软雅黑 Light" panose="020B0502040204020203" pitchFamily="34" charset="-122"/>
              </a:rPr>
              <a:t>Uncertainty</a:t>
            </a:r>
            <a:endParaRPr lang="zh-CN" altLang="en-US" sz="1600">
              <a:latin typeface="微软雅黑 Light" panose="020B0502040204020203" pitchFamily="34" charset="-122"/>
              <a:ea typeface="微软雅黑 Light" panose="020B0502040204020203" pitchFamily="34" charset="-122"/>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6</a:t>
            </a:r>
            <a:endParaRPr lang="zh-CN" altLang="en-US">
              <a:solidFill>
                <a:schemeClr val="bg1"/>
              </a:solidFill>
            </a:endParaRPr>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a:t>项目组合 </a:t>
            </a:r>
            <a:r>
              <a:rPr lang="en-US" altLang="zh-CN" sz="1600"/>
              <a:t>Portfolio</a:t>
            </a:r>
            <a:endParaRPr lang="zh-CN" altLang="en-US" sz="160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a:t>项目集 </a:t>
            </a:r>
            <a:r>
              <a:rPr lang="en-US" altLang="zh-CN" sz="1600"/>
              <a:t>Program</a:t>
            </a:r>
            <a:endParaRPr lang="zh-CN" altLang="en-US" sz="16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a:t>项目 </a:t>
            </a:r>
            <a:r>
              <a:rPr lang="en-US" altLang="zh-CN" sz="1600"/>
              <a:t>Project</a:t>
            </a:r>
            <a:endParaRPr lang="zh-CN" altLang="en-US" sz="16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a:t>项目 </a:t>
            </a:r>
            <a:r>
              <a:rPr lang="en-US" altLang="zh-CN"/>
              <a:t>Project</a:t>
            </a:r>
            <a:endParaRPr lang="zh-CN" altLang="en-US"/>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solidFill>
                  <a:schemeClr val="bg1"/>
                </a:solidFill>
              </a:rPr>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solidFill>
                  <a:schemeClr val="bg1"/>
                </a:solidFill>
              </a:rPr>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solidFill>
                  <a:schemeClr val="bg1"/>
                </a:solidFill>
              </a:rPr>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solidFill>
                  <a:schemeClr val="bg1"/>
                </a:solidFill>
              </a:rPr>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solidFill>
                  <a:schemeClr val="bg1"/>
                </a:solidFill>
              </a:rPr>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solidFill>
                  <a:schemeClr val="bg1"/>
                </a:solidFill>
              </a:rPr>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a:solidFill>
                  <a:schemeClr val="bg1"/>
                </a:solidFill>
              </a:rPr>
              <a:t>… …</a:t>
            </a:r>
            <a:endParaRPr lang="zh-CN" altLang="en-US">
              <a:solidFill>
                <a:schemeClr val="bg1"/>
              </a:solidFill>
            </a:endParaRPr>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solidFill>
                  <a:schemeClr val="bg1"/>
                </a:solidFill>
              </a:rPr>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solidFill>
                  <a:schemeClr val="bg1"/>
                </a:solidFill>
              </a:rPr>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solidFill>
                  <a:schemeClr val="bg1"/>
                </a:solidFill>
              </a:rPr>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2069360167"/>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357713834"/>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Relevant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solidFill>
                            <a:schemeClr val="bg1"/>
                          </a:solidFill>
                        </a:rPr>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提供虚拟机、存储、网络等底层资源（如 </a:t>
                      </a:r>
                      <a:r>
                        <a:rPr lang="en-US" altLang="zh-CN" sz="1600">
                          <a:solidFill>
                            <a:schemeClr val="bg1"/>
                          </a:solidFill>
                        </a:rPr>
                        <a:t>AWS EC2</a:t>
                      </a:r>
                      <a:r>
                        <a:rPr lang="zh-CN" altLang="en-US" sz="1600">
                          <a:solidFill>
                            <a:schemeClr val="bg1"/>
                          </a:solidFill>
                        </a:rPr>
                        <a:t>、阿里云 </a:t>
                      </a:r>
                      <a:r>
                        <a:rPr lang="en-US" altLang="zh-CN" sz="1600">
                          <a:solidFill>
                            <a:schemeClr val="bg1"/>
                          </a:solidFill>
                        </a:rPr>
                        <a:t>ECS</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solidFill>
                            <a:schemeClr val="bg1"/>
                          </a:solidFill>
                        </a:rPr>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solidFill>
                            <a:schemeClr val="bg1"/>
                          </a:solidFill>
                        </a:rPr>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提供开发、部署、运行环境（如 </a:t>
                      </a:r>
                      <a:r>
                        <a:rPr lang="en-US" sz="1600">
                          <a:solidFill>
                            <a:schemeClr val="bg1"/>
                          </a:solidFill>
                        </a:rPr>
                        <a:t>Google App </a:t>
                      </a:r>
                      <a:r>
                        <a:rPr lang="en-US" sz="1600" err="1">
                          <a:solidFill>
                            <a:schemeClr val="bg1"/>
                          </a:solidFill>
                        </a:rPr>
                        <a:t>Engine、Heroku</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SaaS </a:t>
                      </a:r>
                      <a:r>
                        <a:rPr lang="zh-CN" altLang="en-US" sz="1600">
                          <a:solidFill>
                            <a:schemeClr val="bg1"/>
                          </a:solidFill>
                        </a:rPr>
                        <a:t>开发者常使用 </a:t>
                      </a:r>
                      <a:r>
                        <a:rPr lang="en-US" sz="1600">
                          <a:solidFill>
                            <a:schemeClr val="bg1"/>
                          </a:solidFill>
                        </a:rPr>
                        <a:t>PaaS </a:t>
                      </a:r>
                      <a:r>
                        <a:rPr lang="zh-CN" altLang="en-US" sz="1600">
                          <a:solidFill>
                            <a:schemeClr val="bg1"/>
                          </a:solidFill>
                        </a:rPr>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solidFill>
                            <a:schemeClr val="bg1"/>
                          </a:solidFill>
                        </a:rPr>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直接面向终端用户的完整应用（如钉钉、</a:t>
                      </a:r>
                      <a:r>
                        <a:rPr lang="en-US" sz="1600" err="1">
                          <a:solidFill>
                            <a:schemeClr val="bg1"/>
                          </a:solidFill>
                        </a:rPr>
                        <a:t>Salesforce、Notion</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13988052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647009189"/>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Title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项目管理委员会</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6th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6</a:t>
                      </a:r>
                      <a:r>
                        <a:rPr lang="zh-CN" altLang="en-US" sz="1600">
                          <a:solidFill>
                            <a:schemeClr val="bg1"/>
                          </a:solidFill>
                        </a:rPr>
                        <a:t>版</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7th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7</a:t>
                      </a:r>
                      <a:r>
                        <a:rPr lang="zh-CN" altLang="en-US" sz="1600">
                          <a:solidFill>
                            <a:schemeClr val="bg1"/>
                          </a:solidFill>
                        </a:rPr>
                        <a:t>版</a:t>
                      </a:r>
                      <a:endParaRPr lang="en-US" altLang="zh-CN" sz="1600">
                        <a:solidFill>
                          <a:schemeClr val="bg1"/>
                        </a:solidFill>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77412299"/>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a:solidFill>
                            <a:schemeClr val="bg1"/>
                          </a:solidFill>
                        </a:rPr>
                        <a:t>Aspect</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6th</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7th</a:t>
                      </a:r>
                      <a:endParaRPr lang="zh-CN" altLang="en-US" sz="160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solidFill>
                            <a:schemeClr val="bg1"/>
                          </a:solidFill>
                        </a:rPr>
                        <a:t>Philosophy</a:t>
                      </a:r>
                      <a:endParaRPr lang="zh-CN" altLang="en-US" sz="160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基于过程 </a:t>
                      </a:r>
                      <a:r>
                        <a:rPr lang="en-US" sz="1600">
                          <a:solidFill>
                            <a:schemeClr val="bg1"/>
                          </a:solidFill>
                        </a:rPr>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基于原则 </a:t>
                      </a:r>
                      <a:r>
                        <a:rPr lang="en-US" sz="1600">
                          <a:solidFill>
                            <a:schemeClr val="bg1"/>
                          </a:solidFill>
                        </a:rPr>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solidFill>
                            <a:schemeClr val="bg1"/>
                          </a:solidFill>
                        </a:rPr>
                        <a:t>Structure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5</a:t>
                      </a:r>
                      <a:r>
                        <a:rPr lang="zh-CN" altLang="en-US" sz="1600">
                          <a:solidFill>
                            <a:schemeClr val="bg1"/>
                          </a:solidFill>
                        </a:rPr>
                        <a:t>大过程组 </a:t>
                      </a:r>
                      <a:r>
                        <a:rPr lang="en-US" altLang="zh-CN" sz="1600">
                          <a:solidFill>
                            <a:schemeClr val="bg1"/>
                          </a:solidFill>
                        </a:rPr>
                        <a:t>+ 10</a:t>
                      </a:r>
                      <a:r>
                        <a:rPr lang="zh-CN" altLang="en-US" sz="1600">
                          <a:solidFill>
                            <a:schemeClr val="bg1"/>
                          </a:solidFill>
                        </a:rPr>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12</a:t>
                      </a:r>
                      <a:r>
                        <a:rPr lang="zh-CN" altLang="en-US" sz="1600">
                          <a:solidFill>
                            <a:schemeClr val="bg1"/>
                          </a:solidFill>
                        </a:rPr>
                        <a:t>项原则 </a:t>
                      </a:r>
                      <a:r>
                        <a:rPr lang="en-US" altLang="zh-CN" sz="1600">
                          <a:solidFill>
                            <a:schemeClr val="bg1"/>
                          </a:solidFill>
                        </a:rPr>
                        <a:t>+ 8</a:t>
                      </a:r>
                      <a:r>
                        <a:rPr lang="zh-CN" altLang="en-US" sz="1600">
                          <a:solidFill>
                            <a:schemeClr val="bg1"/>
                          </a:solidFill>
                        </a:rPr>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solidFill>
                            <a:schemeClr val="bg1"/>
                          </a:solidFill>
                        </a:rPr>
                        <a:t>Focus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产出 </a:t>
                      </a:r>
                      <a:r>
                        <a:rPr lang="en-US" sz="1600">
                          <a:solidFill>
                            <a:schemeClr val="bg1"/>
                          </a:solidFill>
                        </a:rPr>
                        <a:t>Outputs</a:t>
                      </a:r>
                      <a:endParaRPr lang="en-US" altLang="zh-CN" sz="1600">
                        <a:solidFill>
                          <a:schemeClr val="bg1"/>
                        </a:solidFill>
                      </a:endParaRPr>
                    </a:p>
                    <a:p>
                      <a:pPr algn="l">
                        <a:lnSpc>
                          <a:spcPct val="100000"/>
                        </a:lnSpc>
                        <a:buNone/>
                      </a:pPr>
                      <a:r>
                        <a:rPr lang="zh-CN" altLang="en-US" sz="1600">
                          <a:solidFill>
                            <a:schemeClr val="bg1"/>
                          </a:solidFill>
                        </a:rPr>
                        <a:t>交付了什么文件</a:t>
                      </a:r>
                      <a:r>
                        <a:rPr lang="en-US" altLang="zh-CN" sz="1600">
                          <a:solidFill>
                            <a:schemeClr val="bg1"/>
                          </a:solidFill>
                        </a:rPr>
                        <a:t>/</a:t>
                      </a:r>
                      <a:r>
                        <a:rPr lang="zh-CN" altLang="en-US" sz="1600">
                          <a:solidFill>
                            <a:schemeClr val="bg1"/>
                          </a:solidFill>
                        </a:rPr>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成果 </a:t>
                      </a:r>
                      <a:r>
                        <a:rPr lang="en-US" sz="1600">
                          <a:solidFill>
                            <a:schemeClr val="bg1"/>
                          </a:solidFill>
                        </a:rPr>
                        <a:t>Outcomes &amp; </a:t>
                      </a:r>
                      <a:r>
                        <a:rPr lang="zh-CN" altLang="en-US" sz="1600">
                          <a:solidFill>
                            <a:schemeClr val="bg1"/>
                          </a:solidFill>
                        </a:rPr>
                        <a:t>价值 </a:t>
                      </a:r>
                      <a:r>
                        <a:rPr lang="en-US" sz="1600">
                          <a:solidFill>
                            <a:schemeClr val="bg1"/>
                          </a:solidFill>
                        </a:rPr>
                        <a:t>Value </a:t>
                      </a:r>
                      <a:br>
                        <a:rPr lang="en-US" sz="1600">
                          <a:solidFill>
                            <a:schemeClr val="bg1"/>
                          </a:solidFill>
                        </a:rPr>
                      </a:br>
                      <a:r>
                        <a:rPr lang="zh-CN" altLang="en-US" sz="1600">
                          <a:solidFill>
                            <a:schemeClr val="bg1"/>
                          </a:solidFill>
                        </a:rPr>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solidFill>
                            <a:schemeClr val="bg1"/>
                          </a:solidFill>
                        </a:rPr>
                        <a:t>Methodology Scope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偏向预测型 </a:t>
                      </a:r>
                      <a:r>
                        <a:rPr lang="en-US" altLang="zh-CN" sz="1600">
                          <a:solidFill>
                            <a:schemeClr val="bg1"/>
                          </a:solidFill>
                        </a:rPr>
                        <a:t>(</a:t>
                      </a:r>
                      <a:r>
                        <a:rPr lang="zh-CN" altLang="en-US" sz="1600">
                          <a:solidFill>
                            <a:schemeClr val="bg1"/>
                          </a:solidFill>
                        </a:rPr>
                        <a:t>瀑布式</a:t>
                      </a:r>
                      <a:r>
                        <a:rPr lang="en-US" altLang="zh-CN" sz="1600">
                          <a:solidFill>
                            <a:schemeClr val="bg1"/>
                          </a:solidFill>
                        </a:rPr>
                        <a:t>)</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全生命周期适用 </a:t>
                      </a:r>
                      <a:r>
                        <a:rPr lang="en-US" altLang="zh-CN" sz="1600">
                          <a:solidFill>
                            <a:schemeClr val="bg1"/>
                          </a:solidFill>
                        </a:rPr>
                        <a:t>(</a:t>
                      </a:r>
                      <a:r>
                        <a:rPr lang="zh-CN" altLang="en-US" sz="1600">
                          <a:solidFill>
                            <a:schemeClr val="bg1"/>
                          </a:solidFill>
                        </a:rPr>
                        <a:t>预测型、敏捷型、混合型融合</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solidFill>
                            <a:schemeClr val="bg1"/>
                          </a:solidFill>
                        </a:rPr>
                        <a:t>PM</a:t>
                      </a:r>
                      <a:r>
                        <a:rPr lang="zh-CN" altLang="en-US" sz="1600">
                          <a:solidFill>
                            <a:schemeClr val="bg1"/>
                          </a:solidFill>
                        </a:rPr>
                        <a:t> </a:t>
                      </a:r>
                      <a:r>
                        <a:rPr lang="en-US" altLang="zh-CN" sz="1600">
                          <a:solidFill>
                            <a:schemeClr val="bg1"/>
                          </a:solidFill>
                        </a:rPr>
                        <a:t>role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solidFill>
                            <a:schemeClr val="bg1"/>
                          </a:solidFill>
                        </a:rPr>
                        <a:t>Tailoring</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高度灵活，强调根据环境裁剪 </a:t>
                      </a:r>
                      <a:r>
                        <a:rPr lang="en-US" altLang="zh-CN" sz="1600">
                          <a:solidFill>
                            <a:schemeClr val="bg1"/>
                          </a:solidFill>
                        </a:rPr>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solidFill>
                            <a:schemeClr val="bg1"/>
                          </a:solidFill>
                        </a:rPr>
                        <a:t>Definition of Success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按时、按预算、按范围交付 </a:t>
                      </a:r>
                      <a:r>
                        <a:rPr lang="en-US" altLang="zh-CN" sz="1600">
                          <a:solidFill>
                            <a:schemeClr val="bg1"/>
                          </a:solidFill>
                        </a:rPr>
                        <a:t>(</a:t>
                      </a:r>
                      <a:r>
                        <a:rPr lang="zh-CN" altLang="en-US" sz="1600">
                          <a:solidFill>
                            <a:schemeClr val="bg1"/>
                          </a:solidFill>
                        </a:rPr>
                        <a:t>铁三角</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solidFill>
                            <a:schemeClr val="bg1"/>
                          </a:solidFill>
                        </a:rPr>
                        <a:t>Format &amp; Length</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厚书，充满</a:t>
                      </a:r>
                      <a:r>
                        <a:rPr lang="en-US" altLang="zh-CN" sz="1600">
                          <a:solidFill>
                            <a:schemeClr val="bg1"/>
                          </a:solidFill>
                        </a:rPr>
                        <a:t>ITTO (</a:t>
                      </a:r>
                      <a:r>
                        <a:rPr lang="zh-CN" altLang="en-US" sz="1600">
                          <a:solidFill>
                            <a:schemeClr val="bg1"/>
                          </a:solidFill>
                        </a:rPr>
                        <a:t>输入</a:t>
                      </a:r>
                      <a:r>
                        <a:rPr lang="en-US" altLang="zh-CN" sz="1600">
                          <a:solidFill>
                            <a:schemeClr val="bg1"/>
                          </a:solidFill>
                        </a:rPr>
                        <a:t>/</a:t>
                      </a:r>
                      <a:r>
                        <a:rPr lang="zh-CN" altLang="en-US" sz="1600">
                          <a:solidFill>
                            <a:schemeClr val="bg1"/>
                          </a:solidFill>
                        </a:rPr>
                        <a:t>工具</a:t>
                      </a:r>
                      <a:r>
                        <a:rPr lang="en-US" altLang="zh-CN" sz="1600">
                          <a:solidFill>
                            <a:schemeClr val="bg1"/>
                          </a:solidFill>
                        </a:rPr>
                        <a:t>/</a:t>
                      </a:r>
                      <a:r>
                        <a:rPr lang="zh-CN" altLang="en-US" sz="1600">
                          <a:solidFill>
                            <a:schemeClr val="bg1"/>
                          </a:solidFill>
                        </a:rPr>
                        <a:t>输出</a:t>
                      </a:r>
                      <a:r>
                        <a:rPr lang="en-US" altLang="zh-CN" sz="1600">
                          <a:solidFill>
                            <a:schemeClr val="bg1"/>
                          </a:solidFill>
                        </a:rPr>
                        <a:t>) </a:t>
                      </a:r>
                      <a:r>
                        <a:rPr lang="zh-CN" altLang="en-US" sz="1600">
                          <a:solidFill>
                            <a:schemeClr val="bg1"/>
                          </a:solidFill>
                        </a:rPr>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更薄，更像指导手册，去除了大量</a:t>
                      </a:r>
                      <a:r>
                        <a:rPr lang="en-US" altLang="zh-CN" sz="1600">
                          <a:solidFill>
                            <a:schemeClr val="bg1"/>
                          </a:solidFill>
                        </a:rPr>
                        <a:t>ITTO</a:t>
                      </a:r>
                      <a:r>
                        <a:rPr lang="zh-CN" altLang="en-US" sz="1600">
                          <a:solidFill>
                            <a:schemeClr val="bg1"/>
                          </a:solidFill>
                        </a:rPr>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solidFill>
                            <a:srgbClr val="FFFF00"/>
                          </a:solidFill>
                        </a:rPr>
                        <a:t>In a word</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project right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right project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a:t>2017</a:t>
            </a:r>
            <a:r>
              <a:rPr lang="zh-CN" altLang="en-US"/>
              <a:t>年</a:t>
            </a:r>
            <a:r>
              <a:rPr lang="en-US" altLang="zh-CN"/>
              <a:t>9</a:t>
            </a:r>
            <a:r>
              <a:rPr lang="zh-CN" altLang="en-US"/>
              <a:t>月发布</a:t>
            </a:r>
            <a:endParaRPr lang="en-US" altLang="zh-CN"/>
          </a:p>
          <a:p>
            <a:r>
              <a:rPr lang="zh-CN" altLang="en-US"/>
              <a:t>传统项目管理方法的集大成者，强调怎么做 </a:t>
            </a:r>
            <a:r>
              <a:rPr lang="en-US" altLang="zh-CN"/>
              <a:t>How to do</a:t>
            </a:r>
          </a:p>
          <a:p>
            <a:r>
              <a:rPr lang="zh-CN" altLang="en-US"/>
              <a:t>基于过程 </a:t>
            </a:r>
            <a:r>
              <a:rPr lang="en-US" altLang="zh-CN"/>
              <a:t>Process-Based</a:t>
            </a:r>
          </a:p>
          <a:p>
            <a:r>
              <a:rPr lang="zh-CN" altLang="en-US"/>
              <a:t>核心理念 </a:t>
            </a:r>
            <a:r>
              <a:rPr lang="en-US" altLang="zh-CN"/>
              <a:t>Philosophy</a:t>
            </a:r>
            <a:endParaRPr lang="zh-CN" altLang="en-US"/>
          </a:p>
          <a:p>
            <a:pPr lvl="1"/>
            <a:r>
              <a:rPr lang="zh-CN" altLang="en-US"/>
              <a:t>合规性与标准化：强调遵循既定的流程和规范</a:t>
            </a:r>
          </a:p>
          <a:p>
            <a:pPr lvl="1"/>
            <a:r>
              <a:rPr lang="zh-CN" altLang="en-US"/>
              <a:t>可交付成果导向：关注是否按时、按预算完成了规定的产出</a:t>
            </a:r>
          </a:p>
          <a:p>
            <a:pPr lvl="1"/>
            <a:r>
              <a:rPr lang="zh-CN" altLang="en-US"/>
              <a:t>预测型为主：虽然包含了敏捷内容（附录），但主体逻辑仍偏向瀑布式（预测型）管理</a:t>
            </a:r>
            <a:endParaRPr lang="en-US" altLang="zh-CN"/>
          </a:p>
          <a:p>
            <a:r>
              <a:rPr lang="zh-CN" altLang="en-US"/>
              <a:t>核心架构 </a:t>
            </a:r>
            <a:r>
              <a:rPr lang="en-US" altLang="zh-CN"/>
              <a:t>Structure</a:t>
            </a:r>
            <a:endParaRPr lang="zh-CN" altLang="en-US"/>
          </a:p>
          <a:p>
            <a:pPr lvl="1"/>
            <a:r>
              <a:rPr lang="zh-CN" altLang="en-US"/>
              <a:t>五大标准过程组 </a:t>
            </a:r>
            <a:r>
              <a:rPr lang="en-US" altLang="zh-CN"/>
              <a:t>(5 Process Groups)</a:t>
            </a:r>
            <a:r>
              <a:rPr lang="zh-CN" altLang="en-US"/>
              <a:t>：按时间顺序排列的项目生命周期阶段</a:t>
            </a:r>
            <a:endParaRPr lang="en-US" altLang="zh-CN"/>
          </a:p>
          <a:p>
            <a:pPr lvl="1"/>
            <a:r>
              <a:rPr lang="zh-CN" altLang="en-US"/>
              <a:t>十大知识领域 </a:t>
            </a:r>
            <a:r>
              <a:rPr lang="en-US" altLang="zh-CN"/>
              <a:t>(10 Knowledge Areas)</a:t>
            </a:r>
            <a:r>
              <a:rPr lang="zh-CN" altLang="en-US"/>
              <a:t>：按专业职能划分的管理领域</a:t>
            </a:r>
            <a:endParaRPr lang="en-US" altLang="zh-CN"/>
          </a:p>
          <a:p>
            <a:r>
              <a:rPr lang="zh-CN" altLang="en-US"/>
              <a:t>缺点 </a:t>
            </a:r>
            <a:r>
              <a:rPr lang="en-US" altLang="zh-CN"/>
              <a:t>Drawback</a:t>
            </a:r>
          </a:p>
          <a:p>
            <a:pPr lvl="1"/>
            <a:r>
              <a:rPr lang="zh-CN" altLang="en-US"/>
              <a:t>为了走流程而走流程，忽视实际效果</a:t>
            </a:r>
            <a:endParaRPr lang="en-US" altLang="zh-CN"/>
          </a:p>
          <a:p>
            <a:endParaRPr lang="zh-CN" altLang="en-US"/>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Initiating</a:t>
            </a:r>
            <a:endParaRPr lang="zh-CN" altLang="en-US" sz="1400">
              <a:solidFill>
                <a:schemeClr val="bg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Planning</a:t>
            </a:r>
            <a:endParaRPr lang="zh-CN" altLang="en-US" sz="1400">
              <a:solidFill>
                <a:schemeClr val="bg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Monitoring &amp; Controlling</a:t>
            </a:r>
            <a:endParaRPr lang="zh-CN" altLang="en-US" sz="1400">
              <a:solidFill>
                <a:schemeClr val="bg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Executing</a:t>
            </a:r>
            <a:endParaRPr lang="zh-CN" altLang="en-US" sz="1400">
              <a:solidFill>
                <a:schemeClr val="bg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Closing</a:t>
            </a:r>
            <a:endParaRPr lang="zh-CN" altLang="en-US" sz="1400">
              <a:solidFill>
                <a:schemeClr val="bg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45261265"/>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 Group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启动 </a:t>
                      </a:r>
                      <a:r>
                        <a:rPr lang="en-US" altLang="zh-CN" sz="1600" b="0" baseline="0">
                          <a:solidFill>
                            <a:schemeClr val="bg1"/>
                          </a:solidFill>
                        </a:rPr>
                        <a:t>Initiating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定义新项目或阶段，获得授权</a:t>
                      </a:r>
                    </a:p>
                    <a:p>
                      <a:pPr>
                        <a:lnSpc>
                          <a:spcPct val="100000"/>
                        </a:lnSpc>
                        <a:buNone/>
                      </a:pPr>
                      <a:r>
                        <a:rPr lang="zh-CN" altLang="en-US" sz="1600" b="0" baseline="0">
                          <a:solidFill>
                            <a:schemeClr val="bg1"/>
                          </a:solidFill>
                        </a:rPr>
                        <a:t>关键输出：项目章程、识别干系人</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规划 </a:t>
                      </a:r>
                      <a:r>
                        <a:rPr lang="en-US" altLang="zh-CN" sz="1600" b="0" baseline="0">
                          <a:solidFill>
                            <a:schemeClr val="bg1"/>
                          </a:solidFill>
                        </a:rPr>
                        <a:t>Planning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制定范围、进度、成本、质量、风险等计划</a:t>
                      </a:r>
                    </a:p>
                    <a:p>
                      <a:pPr>
                        <a:lnSpc>
                          <a:spcPct val="100000"/>
                        </a:lnSpc>
                        <a:buNone/>
                      </a:pPr>
                      <a:r>
                        <a:rPr lang="zh-CN" altLang="en-US" sz="1600" b="0" baseline="0">
                          <a:solidFill>
                            <a:schemeClr val="bg1"/>
                          </a:solidFill>
                        </a:rPr>
                        <a:t>过程占比最大，强调滚动式规划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执行 </a:t>
                      </a:r>
                      <a:r>
                        <a:rPr lang="en-US" altLang="zh-CN" sz="1600" b="0" baseline="0">
                          <a:solidFill>
                            <a:schemeClr val="bg1"/>
                          </a:solidFill>
                        </a:rPr>
                        <a:t>Executing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完成项目工作，满足范围说明书要求</a:t>
                      </a:r>
                    </a:p>
                    <a:p>
                      <a:pPr>
                        <a:lnSpc>
                          <a:spcPct val="100000"/>
                        </a:lnSpc>
                        <a:buNone/>
                      </a:pPr>
                      <a:r>
                        <a:rPr lang="zh-CN" altLang="en-US" sz="1600" b="0" baseline="0">
                          <a:solidFill>
                            <a:schemeClr val="bg1"/>
                          </a:solidFill>
                        </a:rPr>
                        <a:t>包括团队建设、质量保证、采购实施等</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监控 </a:t>
                      </a:r>
                      <a:r>
                        <a:rPr lang="en-US" altLang="zh-CN" sz="1600" b="0" baseline="0">
                          <a:solidFill>
                            <a:schemeClr val="bg1"/>
                          </a:solidFill>
                        </a:rPr>
                        <a:t>Monitoring &amp; Controlling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跟踪、审查和调整项目进展与绩效</a:t>
                      </a:r>
                    </a:p>
                    <a:p>
                      <a:pPr>
                        <a:lnSpc>
                          <a:spcPct val="100000"/>
                        </a:lnSpc>
                        <a:buNone/>
                      </a:pPr>
                      <a:r>
                        <a:rPr lang="zh-CN" altLang="en-US" sz="1600" b="0" baseline="0">
                          <a:solidFill>
                            <a:schemeClr val="bg1"/>
                          </a:solidFill>
                        </a:rPr>
                        <a:t>核心：变更控制和偏差分析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结束 </a:t>
                      </a:r>
                      <a:r>
                        <a:rPr lang="en-US" altLang="zh-CN" sz="1600" b="0" baseline="0">
                          <a:solidFill>
                            <a:schemeClr val="bg1"/>
                          </a:solidFill>
                        </a:rPr>
                        <a:t>Closing</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正式结束项目或阶段</a:t>
                      </a:r>
                      <a:endParaRPr lang="en-US" altLang="zh-CN" sz="1600" b="0" baseline="0">
                        <a:solidFill>
                          <a:schemeClr val="bg1"/>
                        </a:solidFill>
                      </a:endParaRPr>
                    </a:p>
                    <a:p>
                      <a:pPr>
                        <a:lnSpc>
                          <a:spcPct val="100000"/>
                        </a:lnSpc>
                        <a:buNone/>
                      </a:pPr>
                      <a:r>
                        <a:rPr lang="zh-CN" altLang="en-US" sz="1600" b="0" baseline="0">
                          <a:solidFill>
                            <a:schemeClr val="bg1"/>
                          </a:solidFill>
                        </a:rPr>
                        <a:t>移交成果，总结经验</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30934423"/>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Areas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项目集成管理 </a:t>
                      </a:r>
                      <a:r>
                        <a:rPr lang="en-US" altLang="zh-CN" sz="1600" baseline="0">
                          <a:solidFill>
                            <a:schemeClr val="bg1"/>
                          </a:solidFill>
                        </a:rPr>
                        <a:t>Integration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统一协调各过程，如制定章程、项目管理计划、变更控制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项目范围管理 </a:t>
                      </a:r>
                      <a:r>
                        <a:rPr lang="en-US" altLang="zh-CN" sz="1600" baseline="0">
                          <a:solidFill>
                            <a:schemeClr val="bg1"/>
                          </a:solidFill>
                        </a:rPr>
                        <a:t>Scope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定义和控制做哪些工作，防止范围蔓延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项目进度管理 </a:t>
                      </a:r>
                      <a:r>
                        <a:rPr lang="en-US" altLang="zh-CN" sz="1600" baseline="0">
                          <a:solidFill>
                            <a:schemeClr val="bg1"/>
                          </a:solidFill>
                        </a:rPr>
                        <a:t>Schedule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活动定义、排序、估算、制定进度计划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项目成本管理 </a:t>
                      </a:r>
                      <a:r>
                        <a:rPr lang="en-US" altLang="zh-CN" sz="1600" baseline="0">
                          <a:solidFill>
                            <a:schemeClr val="bg1"/>
                          </a:solidFill>
                        </a:rPr>
                        <a:t>Cost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估算、预算、控制成本</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项目质量管理 </a:t>
                      </a:r>
                      <a:r>
                        <a:rPr lang="en-US" altLang="zh-CN" sz="1600" baseline="0">
                          <a:solidFill>
                            <a:schemeClr val="bg1"/>
                          </a:solidFill>
                        </a:rPr>
                        <a:t>Quality</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规划质量、管理质量、控制质量</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6</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项目资源管理 </a:t>
                      </a:r>
                      <a:r>
                        <a:rPr lang="en-US" altLang="zh-CN" sz="1600" baseline="0">
                          <a:solidFill>
                            <a:schemeClr val="bg1"/>
                          </a:solidFill>
                        </a:rPr>
                        <a:t>Resource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获取、发展、管理团队及实物资源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7</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项目沟通管理 </a:t>
                      </a:r>
                      <a:r>
                        <a:rPr lang="en-US" altLang="zh-CN" sz="1600" baseline="0">
                          <a:solidFill>
                            <a:schemeClr val="bg1"/>
                          </a:solidFill>
                        </a:rPr>
                        <a:t>Communication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规划、管理、监督沟通</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8</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项目风险管理 </a:t>
                      </a:r>
                      <a:r>
                        <a:rPr lang="en-US" altLang="zh-CN" sz="1600" baseline="0">
                          <a:solidFill>
                            <a:schemeClr val="bg1"/>
                          </a:solidFill>
                        </a:rPr>
                        <a:t>Risk</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识别、分析、应对不确定性</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9</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项目采购管理 </a:t>
                      </a:r>
                      <a:r>
                        <a:rPr lang="en-US" altLang="zh-CN" sz="1600" baseline="0">
                          <a:solidFill>
                            <a:schemeClr val="bg1"/>
                          </a:solidFill>
                        </a:rPr>
                        <a:t>Procurement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从外部获取产品</a:t>
                      </a:r>
                      <a:r>
                        <a:rPr lang="en-US" altLang="zh-CN" sz="1600" baseline="0">
                          <a:solidFill>
                            <a:schemeClr val="bg1"/>
                          </a:solidFill>
                        </a:rPr>
                        <a:t>/</a:t>
                      </a:r>
                      <a:r>
                        <a:rPr lang="zh-CN" altLang="en-US" sz="1600" baseline="0">
                          <a:solidFill>
                            <a:schemeClr val="bg1"/>
                          </a:solidFill>
                        </a:rPr>
                        <a:t>服务</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项目干系人管理 </a:t>
                      </a:r>
                      <a:r>
                        <a:rPr lang="en-US" altLang="zh-CN" sz="1600" baseline="0">
                          <a:solidFill>
                            <a:schemeClr val="bg1"/>
                          </a:solidFill>
                        </a:rPr>
                        <a:t>Stakeholder</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识别干系人、制定参与策略、管理期望</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a:t>2021</a:t>
            </a:r>
            <a:r>
              <a:rPr lang="zh-CN" altLang="en-US"/>
              <a:t>年</a:t>
            </a:r>
            <a:r>
              <a:rPr lang="en-US" altLang="zh-CN"/>
              <a:t>7</a:t>
            </a:r>
            <a:r>
              <a:rPr lang="zh-CN" altLang="en-US"/>
              <a:t>月发布</a:t>
            </a:r>
            <a:endParaRPr lang="en-US" altLang="zh-CN"/>
          </a:p>
          <a:p>
            <a:r>
              <a:rPr lang="zh-CN" altLang="en-US"/>
              <a:t>强调做什么 </a:t>
            </a:r>
            <a:r>
              <a:rPr lang="en-US" altLang="zh-CN"/>
              <a:t>What </a:t>
            </a:r>
            <a:r>
              <a:rPr lang="zh-CN" altLang="en-US"/>
              <a:t>和为什么做</a:t>
            </a:r>
            <a:r>
              <a:rPr lang="en-US" altLang="zh-CN"/>
              <a:t> Why</a:t>
            </a:r>
          </a:p>
          <a:p>
            <a:r>
              <a:rPr lang="zh-CN" altLang="en-US"/>
              <a:t>基于原则 </a:t>
            </a:r>
            <a:r>
              <a:rPr lang="en-US" altLang="zh-CN"/>
              <a:t>Principle-Based</a:t>
            </a:r>
          </a:p>
          <a:p>
            <a:r>
              <a:rPr lang="zh-CN" altLang="en-US"/>
              <a:t>核心理念 </a:t>
            </a:r>
            <a:r>
              <a:rPr lang="en-US" altLang="zh-CN"/>
              <a:t>Philosophy</a:t>
            </a:r>
            <a:endParaRPr lang="zh-CN" altLang="en-US"/>
          </a:p>
          <a:p>
            <a:pPr lvl="1"/>
            <a:r>
              <a:rPr lang="zh-CN" altLang="en-US"/>
              <a:t>价值导向：不仅关注产出 </a:t>
            </a:r>
            <a:r>
              <a:rPr lang="en-US" altLang="zh-CN"/>
              <a:t>Output</a:t>
            </a:r>
            <a:r>
              <a:rPr lang="zh-CN" altLang="en-US"/>
              <a:t>，更关注成果 </a:t>
            </a:r>
            <a:r>
              <a:rPr lang="en-US" altLang="zh-CN"/>
              <a:t>Outcome</a:t>
            </a:r>
            <a:r>
              <a:rPr lang="zh-CN" altLang="en-US"/>
              <a:t> 和商业价值</a:t>
            </a:r>
          </a:p>
          <a:p>
            <a:pPr lvl="1"/>
            <a:r>
              <a:rPr lang="zh-CN" altLang="en-US"/>
              <a:t>灵活性与裁剪：没有一刀切的流程，鼓励根据项目情境选择合适的方法（敏捷、混合或预测）</a:t>
            </a:r>
          </a:p>
          <a:p>
            <a:pPr lvl="1"/>
            <a:r>
              <a:rPr lang="zh-CN" altLang="en-US"/>
              <a:t>系统性思维：将项目视为复杂系统的一部分，强调应对不确定性和变革</a:t>
            </a:r>
          </a:p>
          <a:p>
            <a:r>
              <a:rPr lang="zh-CN" altLang="en-US"/>
              <a:t>核心架构 </a:t>
            </a:r>
            <a:r>
              <a:rPr lang="en-US" altLang="zh-CN"/>
              <a:t>Structure</a:t>
            </a:r>
            <a:endParaRPr lang="zh-CN" altLang="en-US"/>
          </a:p>
          <a:p>
            <a:pPr lvl="1"/>
            <a:r>
              <a:rPr lang="zh-CN" altLang="en-US"/>
              <a:t>十二项原则 </a:t>
            </a:r>
            <a:r>
              <a:rPr lang="en-US" altLang="zh-CN"/>
              <a:t>(12 Principles)</a:t>
            </a:r>
            <a:r>
              <a:rPr lang="zh-CN" altLang="en-US"/>
              <a:t>：指导项目行为的核心价值观，适用于任何方法论（预测、敏捷、混合）</a:t>
            </a:r>
          </a:p>
          <a:p>
            <a:pPr lvl="1"/>
            <a:r>
              <a:rPr lang="zh-CN" altLang="en-US"/>
              <a:t>八大绩效域 </a:t>
            </a:r>
            <a:r>
              <a:rPr lang="en-US" altLang="zh-CN"/>
              <a:t>(8 Performance Domains)</a:t>
            </a:r>
            <a:r>
              <a:rPr lang="zh-CN" altLang="en-US"/>
              <a:t>：取代了知识领域，强调这些领域需要同时关注、相互作用，以交付项目成果</a:t>
            </a:r>
            <a:endParaRPr lang="en-US" altLang="zh-CN"/>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32" name="内容占位符 31">
            <a:extLst>
              <a:ext uri="{FF2B5EF4-FFF2-40B4-BE49-F238E27FC236}">
                <a16:creationId xmlns:a16="http://schemas.microsoft.com/office/drawing/2014/main" id="{A23AA76F-528B-30B7-F2F7-BF532B133098}"/>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1010177291"/>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尽职、尊重和关心</a:t>
                      </a:r>
                      <a:r>
                        <a:rPr lang="en-US" altLang="zh-CN" sz="1400" b="0">
                          <a:solidFill>
                            <a:schemeClr val="bg1"/>
                          </a:solidFill>
                          <a:effectLst/>
                        </a:rPr>
                        <a:t>(</a:t>
                      </a:r>
                      <a:r>
                        <a:rPr lang="zh-CN" altLang="en-US" sz="1400" b="0">
                          <a:solidFill>
                            <a:schemeClr val="bg1"/>
                          </a:solidFill>
                          <a:effectLst/>
                        </a:rPr>
                        <a:t>管家精神</a:t>
                      </a:r>
                      <a:r>
                        <a:rPr lang="en-US" altLang="zh-CN"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Be a diligent, respectful, and caring </a:t>
                      </a:r>
                      <a:r>
                        <a:rPr lang="en-US" sz="1400" b="1">
                          <a:solidFill>
                            <a:schemeClr val="bg1"/>
                          </a:solidFill>
                          <a:effectLst/>
                        </a:rPr>
                        <a:t>steward</a:t>
                      </a:r>
                      <a:r>
                        <a:rPr 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建立信任与</a:t>
                      </a:r>
                      <a:r>
                        <a:rPr lang="zh-CN" altLang="en-US" sz="1400" b="1">
                          <a:solidFill>
                            <a:schemeClr val="bg1"/>
                          </a:solidFill>
                          <a:effectLst/>
                        </a:rPr>
                        <a:t>责任感</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项目经理应像“管家”一样，以诚信、关怀</a:t>
                      </a:r>
                      <a:r>
                        <a:rPr lang="zh-CN" altLang="en-US" sz="1400" b="0" kern="1200">
                          <a:solidFill>
                            <a:schemeClr val="bg1"/>
                          </a:solidFill>
                          <a:effectLst/>
                          <a:latin typeface="+mn-lt"/>
                          <a:ea typeface="+mn-ea"/>
                          <a:cs typeface="+mn-cs"/>
                        </a:rPr>
                        <a:t>和尊重的</a:t>
                      </a:r>
                      <a:r>
                        <a:rPr lang="zh-CN" altLang="en-US" sz="1400" b="0">
                          <a:solidFill>
                            <a:schemeClr val="bg1"/>
                          </a:solidFill>
                          <a:effectLst/>
                        </a:rPr>
                        <a:t>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团队效能高于个人总和。</a:t>
                      </a:r>
                      <a:br>
                        <a:rPr lang="zh-CN" altLang="en-US" sz="1400" b="0">
                          <a:solidFill>
                            <a:schemeClr val="bg1"/>
                          </a:solidFill>
                          <a:effectLst/>
                        </a:rPr>
                      </a:br>
                      <a:r>
                        <a:rPr lang="zh-CN" altLang="en-US" sz="1400" b="0">
                          <a:solidFill>
                            <a:schemeClr val="bg1"/>
                          </a:solidFill>
                          <a:effectLst/>
                        </a:rPr>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双向沟通与期望管理。</a:t>
                      </a:r>
                      <a:br>
                        <a:rPr lang="zh-CN" altLang="en-US" sz="1400" b="0">
                          <a:solidFill>
                            <a:schemeClr val="bg1"/>
                          </a:solidFill>
                          <a:effectLst/>
                        </a:rPr>
                      </a:br>
                      <a:r>
                        <a:rPr lang="zh-CN" altLang="en-US" sz="1400" b="1">
                          <a:solidFill>
                            <a:schemeClr val="bg1"/>
                          </a:solidFill>
                          <a:effectLst/>
                        </a:rPr>
                        <a:t>主动</a:t>
                      </a:r>
                      <a:r>
                        <a:rPr lang="zh-CN" altLang="en-US" sz="1400" b="0">
                          <a:solidFill>
                            <a:schemeClr val="bg1"/>
                          </a:solidFill>
                          <a:effectLst/>
                        </a:rPr>
                        <a:t>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价值是最终目标。</a:t>
                      </a:r>
                      <a:br>
                        <a:rPr lang="zh-CN" altLang="en-US" sz="1400" b="0">
                          <a:solidFill>
                            <a:schemeClr val="bg1"/>
                          </a:solidFill>
                          <a:effectLst/>
                        </a:rPr>
                      </a:br>
                      <a:r>
                        <a:rPr lang="zh-CN" altLang="en-US" sz="1400" b="0">
                          <a:solidFill>
                            <a:schemeClr val="bg1"/>
                          </a:solidFill>
                          <a:effectLst/>
                        </a:rPr>
                        <a:t>项目的存在是为了创造价值（商业价值、社会效益等）。所有决策和行动都应以“是否最大化价值”为衡量标准，</a:t>
                      </a:r>
                      <a:r>
                        <a:rPr lang="zh-CN" altLang="en-US" sz="1400" b="1">
                          <a:solidFill>
                            <a:schemeClr val="bg1"/>
                          </a:solidFill>
                          <a:effectLst/>
                        </a:rPr>
                        <a:t>避免为了做项目而做项目</a:t>
                      </a:r>
                      <a:r>
                        <a:rPr lang="zh-CN" alt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系统思维 </a:t>
                      </a:r>
                      <a:r>
                        <a:rPr lang="en-US" altLang="zh-CN" sz="1400" b="0">
                          <a:solidFill>
                            <a:schemeClr val="bg1"/>
                          </a:solidFill>
                          <a:effectLst/>
                        </a:rPr>
                        <a:t>(Systems Thinking)</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领导力人人可为。</a:t>
                      </a:r>
                      <a:br>
                        <a:rPr lang="zh-CN" altLang="en-US" sz="1400" b="0">
                          <a:solidFill>
                            <a:schemeClr val="bg1"/>
                          </a:solidFill>
                          <a:effectLst/>
                        </a:rPr>
                      </a:br>
                      <a:r>
                        <a:rPr lang="zh-CN" altLang="en-US" sz="1400" b="0">
                          <a:solidFill>
                            <a:schemeClr val="bg1"/>
                          </a:solidFill>
                          <a:effectLst/>
                        </a:rPr>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11" name="内容占位符 10">
            <a:extLst>
              <a:ext uri="{FF2B5EF4-FFF2-40B4-BE49-F238E27FC236}">
                <a16:creationId xmlns:a16="http://schemas.microsoft.com/office/drawing/2014/main" id="{D4D9B893-6EE8-64B9-CED7-051E570F6831}"/>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4084339446"/>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solidFill>
                            <a:schemeClr val="bg1"/>
                          </a:solidFill>
                        </a:rPr>
                        <a:t>7</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1">
                          <a:solidFill>
                            <a:schemeClr val="bg1"/>
                          </a:solidFill>
                        </a:rPr>
                        <a:t>Tailor</a:t>
                      </a:r>
                      <a:r>
                        <a:rPr lang="en-US" sz="1400">
                          <a:solidFill>
                            <a:schemeClr val="bg1"/>
                          </a:solidFill>
                        </a:rPr>
                        <a:t>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没有“一刀切”的方法。</a:t>
                      </a:r>
                      <a:br>
                        <a:rPr lang="zh-CN" altLang="en-US" sz="1400">
                          <a:solidFill>
                            <a:schemeClr val="bg1"/>
                          </a:solidFill>
                        </a:rPr>
                      </a:br>
                      <a:r>
                        <a:rPr lang="zh-CN" altLang="en-US" sz="1400">
                          <a:solidFill>
                            <a:schemeClr val="bg1"/>
                          </a:solidFill>
                        </a:rPr>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solidFill>
                            <a:schemeClr val="bg1"/>
                          </a:solidFill>
                        </a:rPr>
                        <a:t>8</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预防胜于检查。</a:t>
                      </a:r>
                      <a:br>
                        <a:rPr lang="zh-CN" altLang="en-US" sz="1400">
                          <a:solidFill>
                            <a:schemeClr val="bg1"/>
                          </a:solidFill>
                        </a:rPr>
                      </a:br>
                      <a:r>
                        <a:rPr lang="zh-CN" altLang="en-US" sz="1400">
                          <a:solidFill>
                            <a:schemeClr val="bg1"/>
                          </a:solidFill>
                        </a:rPr>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solidFill>
                            <a:schemeClr val="bg1"/>
                          </a:solidFill>
                        </a:rPr>
                        <a:t>9</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在混乱中寻找路径。</a:t>
                      </a:r>
                      <a:br>
                        <a:rPr lang="zh-CN" altLang="en-US" sz="1400">
                          <a:solidFill>
                            <a:schemeClr val="bg1"/>
                          </a:solidFill>
                        </a:rPr>
                      </a:br>
                      <a:r>
                        <a:rPr lang="zh-CN" altLang="en-US" sz="1400">
                          <a:solidFill>
                            <a:schemeClr val="bg1"/>
                          </a:solidFill>
                        </a:rPr>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solidFill>
                            <a:schemeClr val="bg1"/>
                          </a:solidFill>
                        </a:rPr>
                        <a:t>10</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拥抱不确定性。</a:t>
                      </a:r>
                      <a:br>
                        <a:rPr lang="zh-CN" altLang="en-US" sz="1400">
                          <a:solidFill>
                            <a:schemeClr val="bg1"/>
                          </a:solidFill>
                        </a:rPr>
                      </a:br>
                      <a:r>
                        <a:rPr lang="zh-CN" altLang="en-US" sz="1400">
                          <a:solidFill>
                            <a:schemeClr val="bg1"/>
                          </a:solidFill>
                        </a:rPr>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solidFill>
                            <a:schemeClr val="bg1"/>
                          </a:solidFill>
                        </a:rPr>
                        <a:t>11</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在变化中生存与发展。</a:t>
                      </a:r>
                      <a:br>
                        <a:rPr lang="zh-CN" altLang="en-US" sz="1400">
                          <a:solidFill>
                            <a:schemeClr val="bg1"/>
                          </a:solidFill>
                        </a:rPr>
                      </a:br>
                      <a:r>
                        <a:rPr lang="zh-CN" altLang="en-US" sz="1400">
                          <a:solidFill>
                            <a:schemeClr val="bg1"/>
                          </a:solidFill>
                        </a:rPr>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solidFill>
                            <a:schemeClr val="bg1"/>
                          </a:solidFill>
                        </a:rPr>
                        <a:t>12</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项目即变革。</a:t>
                      </a:r>
                      <a:br>
                        <a:rPr lang="zh-CN" altLang="en-US" sz="1400">
                          <a:solidFill>
                            <a:schemeClr val="bg1"/>
                          </a:solidFill>
                        </a:rPr>
                      </a:br>
                      <a:r>
                        <a:rPr lang="zh-CN" altLang="en-US" sz="1400">
                          <a:solidFill>
                            <a:schemeClr val="bg1"/>
                          </a:solidFill>
                        </a:rPr>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solidFill>
                  <a:srgbClr val="FFFF00"/>
                </a:solidFill>
              </a:rPr>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3419802731"/>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solidFill>
                            <a:schemeClr val="bg1"/>
                          </a:solidFill>
                        </a:rPr>
                        <a:t>Description</a:t>
                      </a: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solidFill>
                            <a:schemeClr val="bg1"/>
                          </a:solidFill>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solidFill>
                            <a:schemeClr val="bg1"/>
                          </a:solidFill>
                        </a:rPr>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solidFill>
                            <a:schemeClr val="bg1"/>
                          </a:solidFill>
                        </a:rPr>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solidFill>
                            <a:schemeClr val="bg1"/>
                          </a:solidFill>
                        </a:rPr>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solidFill>
                            <a:schemeClr val="bg1"/>
                          </a:solidFill>
                        </a:rPr>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应对</a:t>
                      </a:r>
                      <a:r>
                        <a:rPr lang="en-US" altLang="zh-CN" sz="1400">
                          <a:solidFill>
                            <a:schemeClr val="bg1"/>
                          </a:solidFill>
                        </a:rPr>
                        <a:t>VUCA</a:t>
                      </a:r>
                      <a:r>
                        <a:rPr lang="zh-CN" altLang="en-US" sz="1400">
                          <a:solidFill>
                            <a:schemeClr val="bg1"/>
                          </a:solidFill>
                        </a:rPr>
                        <a:t>，制定应对策略。</a:t>
                      </a:r>
                      <a:endParaRPr lang="en-US" altLang="zh-CN" sz="1400">
                        <a:solidFill>
                          <a:schemeClr val="bg1"/>
                        </a:solidFill>
                      </a:endParaRPr>
                    </a:p>
                    <a:p>
                      <a:pPr algn="l">
                        <a:buNone/>
                      </a:pPr>
                      <a:r>
                        <a:rPr lang="zh-CN" altLang="en-US" sz="1400">
                          <a:solidFill>
                            <a:schemeClr val="bg1"/>
                          </a:solidFill>
                        </a:rPr>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5325" y="863600"/>
            <a:ext cx="10801350" cy="5400675"/>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D628CB4E-66BB-A3BB-0097-745DFD6A5C3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1916017522"/>
              </p:ext>
            </p:extLst>
          </p:nvPr>
        </p:nvGraphicFramePr>
        <p:xfrm>
          <a:off x="695325" y="3612515"/>
          <a:ext cx="10801350" cy="265176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600">
                          <a:solidFill>
                            <a:schemeClr val="bg1"/>
                          </a:solidFill>
                        </a:rPr>
                        <a:t>Char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600">
                          <a:solidFill>
                            <a:schemeClr val="bg1"/>
                          </a:solidFill>
                        </a:rPr>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变化发生的速度极快，幅度极大</a:t>
                      </a:r>
                      <a:endParaRPr lang="en-US" altLang="zh-CN" sz="160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600">
                          <a:solidFill>
                            <a:schemeClr val="bg1"/>
                          </a:solidFill>
                        </a:rPr>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缺乏信息，难以预测未来，因果关系不明</a:t>
                      </a:r>
                    </a:p>
                    <a:p>
                      <a:pPr algn="l">
                        <a:lnSpc>
                          <a:spcPct val="100000"/>
                        </a:lnSpc>
                        <a:buNone/>
                      </a:pPr>
                      <a:r>
                        <a:rPr lang="zh-CN" altLang="en-US" sz="1600">
                          <a:solidFill>
                            <a:schemeClr val="bg1"/>
                          </a:solidFill>
                        </a:rPr>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600">
                          <a:solidFill>
                            <a:schemeClr val="bg1"/>
                          </a:solidFill>
                        </a:rPr>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影响因素众多，相互交织，牵一发而动全身</a:t>
                      </a:r>
                    </a:p>
                    <a:p>
                      <a:pPr algn="l">
                        <a:lnSpc>
                          <a:spcPct val="100000"/>
                        </a:lnSpc>
                        <a:buNone/>
                      </a:pPr>
                      <a:r>
                        <a:rPr lang="zh-CN" altLang="en-US" sz="1600">
                          <a:solidFill>
                            <a:schemeClr val="bg1"/>
                          </a:solidFill>
                        </a:rPr>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600">
                          <a:solidFill>
                            <a:schemeClr val="bg1"/>
                          </a:solidFill>
                        </a:rPr>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情况模棱两可，容易产生误解，没有先例可循</a:t>
                      </a:r>
                    </a:p>
                    <a:p>
                      <a:pPr algn="l">
                        <a:lnSpc>
                          <a:spcPct val="100000"/>
                        </a:lnSpc>
                        <a:buNone/>
                      </a:pPr>
                      <a:r>
                        <a:rPr lang="zh-CN" altLang="en-US" sz="1600">
                          <a:solidFill>
                            <a:schemeClr val="bg1"/>
                          </a:solidFill>
                        </a:rPr>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a:t>一家电商公司要在“双</a:t>
            </a:r>
            <a:r>
              <a:rPr lang="en-US" altLang="zh-CN"/>
              <a:t>11”</a:t>
            </a:r>
            <a:r>
              <a:rPr lang="zh-CN" altLang="en-US"/>
              <a:t>前上线一个新的促销系统。距离上线只剩</a:t>
            </a:r>
            <a:r>
              <a:rPr lang="en-US" altLang="zh-CN"/>
              <a:t>3</a:t>
            </a:r>
            <a:r>
              <a:rPr lang="zh-CN" altLang="en-US"/>
              <a:t>周，突然核心开发人员离职，且发现了一个严重的安全漏洞。</a:t>
            </a:r>
            <a:endParaRPr lang="en-US" altLang="zh-CN"/>
          </a:p>
          <a:p>
            <a:r>
              <a:rPr lang="zh-CN" altLang="en-US"/>
              <a:t>以下哪些做法体现了</a:t>
            </a:r>
            <a:r>
              <a:rPr lang="en-US" altLang="zh-CN"/>
              <a:t>PMBOK7</a:t>
            </a:r>
            <a:r>
              <a:rPr lang="zh-CN" altLang="en-US"/>
              <a:t>的思想？</a:t>
            </a:r>
            <a:endParaRPr lang="en-US" altLang="zh-CN"/>
          </a:p>
          <a:p>
            <a:endParaRPr lang="en-US" altLang="zh-CN"/>
          </a:p>
          <a:p>
            <a:r>
              <a:rPr lang="en-US" altLang="zh-CN"/>
              <a:t>A</a:t>
            </a:r>
            <a:r>
              <a:rPr lang="zh-CN" altLang="en-US"/>
              <a:t>：打开</a:t>
            </a:r>
            <a:r>
              <a:rPr lang="en-US" altLang="zh-CN"/>
              <a:t>《</a:t>
            </a:r>
            <a:r>
              <a:rPr lang="zh-CN" altLang="en-US"/>
              <a:t>风险登记册</a:t>
            </a:r>
            <a:r>
              <a:rPr lang="en-US" altLang="zh-CN"/>
              <a:t>》</a:t>
            </a:r>
            <a:r>
              <a:rPr lang="zh-CN" altLang="en-US"/>
              <a:t>，走变更流程，申请延期</a:t>
            </a:r>
          </a:p>
          <a:p>
            <a:r>
              <a:rPr lang="en-US" altLang="zh-CN"/>
              <a:t>B</a:t>
            </a:r>
            <a:r>
              <a:rPr lang="zh-CN" altLang="en-US"/>
              <a:t>：按“资源管理计划”去招聘新人</a:t>
            </a:r>
            <a:endParaRPr lang="en-US" altLang="zh-CN"/>
          </a:p>
          <a:p>
            <a:r>
              <a:rPr lang="en-US" altLang="zh-CN"/>
              <a:t>C</a:t>
            </a:r>
            <a:r>
              <a:rPr lang="zh-CN" altLang="en-US"/>
              <a:t>：立即承认原计划已失效。不再试图消除风险，而是启动应急预案</a:t>
            </a:r>
            <a:endParaRPr lang="en-US" altLang="zh-CN"/>
          </a:p>
          <a:p>
            <a:r>
              <a:rPr lang="en-US" altLang="zh-CN"/>
              <a:t>D</a:t>
            </a:r>
            <a:r>
              <a:rPr lang="zh-CN" altLang="en-US"/>
              <a:t>：立刻找</a:t>
            </a:r>
            <a:r>
              <a:rPr lang="en-US" altLang="zh-CN"/>
              <a:t>CEO</a:t>
            </a:r>
            <a:r>
              <a:rPr lang="zh-CN" altLang="en-US"/>
              <a:t>和业务方沟通，获得授权，调整范围</a:t>
            </a:r>
            <a:endParaRPr lang="en-US" altLang="zh-CN"/>
          </a:p>
          <a:p>
            <a:r>
              <a:rPr lang="en-US" altLang="zh-CN"/>
              <a:t>E</a:t>
            </a:r>
            <a:r>
              <a:rPr lang="zh-CN" altLang="en-US"/>
              <a:t>：重新定义最小可行产品 </a:t>
            </a:r>
            <a:r>
              <a:rPr lang="en-US" altLang="zh-CN"/>
              <a:t>MVP</a:t>
            </a:r>
            <a:r>
              <a:rPr lang="zh-CN" altLang="en-US"/>
              <a:t>，保证双</a:t>
            </a:r>
            <a:r>
              <a:rPr lang="en-US" altLang="zh-CN"/>
              <a:t>11</a:t>
            </a:r>
            <a:r>
              <a:rPr lang="zh-CN" altLang="en-US"/>
              <a:t>当天能下单、能支付</a:t>
            </a:r>
            <a:endParaRPr lang="en-US" altLang="zh-CN"/>
          </a:p>
          <a:p>
            <a:r>
              <a:rPr lang="en-US" altLang="zh-CN"/>
              <a:t>F</a:t>
            </a:r>
            <a:r>
              <a:rPr lang="zh-CN" altLang="en-US"/>
              <a:t>：召开紧急动员会，透明化危机；邀请资深架构师临时顶岗</a:t>
            </a:r>
            <a:endParaRPr lang="en-US" altLang="zh-CN"/>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a:t>软件项目快速多变的环境要求快速的开发和提交</a:t>
            </a:r>
            <a:endParaRPr lang="en-US" altLang="zh-CN"/>
          </a:p>
          <a:p>
            <a:pPr lvl="1"/>
            <a:r>
              <a:rPr lang="zh-CN" altLang="en-US"/>
              <a:t>部分可用、阶段可用、多次交付</a:t>
            </a:r>
            <a:endParaRPr lang="en-US" altLang="zh-CN"/>
          </a:p>
          <a:p>
            <a:pPr lvl="1"/>
            <a:r>
              <a:rPr lang="zh-CN" altLang="en-US"/>
              <a:t>试水</a:t>
            </a:r>
            <a:endParaRPr lang="en-US" altLang="zh-CN"/>
          </a:p>
          <a:p>
            <a:pPr lvl="1"/>
            <a:r>
              <a:rPr lang="zh-CN" altLang="en-US"/>
              <a:t>看市场反映</a:t>
            </a:r>
            <a:endParaRPr lang="en-US" altLang="zh-CN"/>
          </a:p>
          <a:p>
            <a:pPr lvl="1"/>
            <a:r>
              <a:rPr lang="zh-CN" altLang="en-US"/>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a:solidFill>
                  <a:schemeClr val="bg1"/>
                </a:solidFill>
              </a:rPr>
              <a:t>Case 1 Client </a:t>
            </a:r>
            <a:r>
              <a:rPr lang="zh-CN" altLang="en-US" sz="1400">
                <a:solidFill>
                  <a:schemeClr val="bg1"/>
                </a:solidFill>
              </a:rPr>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B</a:t>
            </a:r>
            <a:endParaRPr lang="zh-CN" altLang="en-US" sz="1200">
              <a:solidFill>
                <a:schemeClr val="bg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a:solidFill>
                  <a:schemeClr val="bg1"/>
                </a:solidFill>
              </a:rPr>
              <a:t>Case 2 Client </a:t>
            </a:r>
            <a:r>
              <a:rPr lang="zh-CN" altLang="en-US" sz="1400">
                <a:solidFill>
                  <a:schemeClr val="bg1"/>
                </a:solidFill>
              </a:rPr>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 </a:t>
            </a:r>
            <a:r>
              <a:rPr lang="zh-CN" altLang="en-US" sz="1200">
                <a:solidFill>
                  <a:schemeClr val="bg1"/>
                </a:solidFill>
              </a:rPr>
              <a:t>→ </a:t>
            </a:r>
            <a:r>
              <a:rPr lang="en-US" altLang="zh-CN" sz="1200">
                <a:solidFill>
                  <a:schemeClr val="bg1"/>
                </a:solidFill>
              </a:rPr>
              <a:t>B</a:t>
            </a:r>
            <a:endParaRPr lang="zh-CN" altLang="en-US" sz="1200">
              <a:solidFill>
                <a:schemeClr val="bg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a:solidFill>
                  <a:schemeClr val="bg1"/>
                </a:solidFill>
              </a:rPr>
              <a:t>Case 3 Client </a:t>
            </a:r>
            <a:r>
              <a:rPr lang="zh-CN" altLang="en-US" sz="1400">
                <a:solidFill>
                  <a:schemeClr val="bg1"/>
                </a:solidFill>
              </a:rPr>
              <a:t>知道并清晰传达需求</a:t>
            </a:r>
            <a:endParaRPr lang="en-US" altLang="zh-CN" sz="1400">
              <a:solidFill>
                <a:schemeClr val="bg1"/>
              </a:solidFill>
            </a:endParaRPr>
          </a:p>
          <a:p>
            <a:r>
              <a:rPr lang="zh-CN" altLang="en-US" sz="1400">
                <a:solidFill>
                  <a:schemeClr val="bg1"/>
                </a:solidFill>
              </a:rPr>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r>
              <a:rPr lang="en-US" altLang="zh-CN" sz="1200">
                <a:solidFill>
                  <a:schemeClr val="bg1"/>
                </a:solidFill>
              </a:rPr>
              <a:t>/ B</a:t>
            </a:r>
            <a:endParaRPr lang="zh-CN" altLang="en-US" sz="1200">
              <a:solidFill>
                <a:schemeClr val="bg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a:solidFill>
                  <a:schemeClr val="bg1"/>
                </a:solidFill>
              </a:rPr>
              <a:t>Case 4 </a:t>
            </a:r>
            <a:r>
              <a:rPr lang="zh-CN" altLang="en-US" sz="1400">
                <a:solidFill>
                  <a:schemeClr val="bg1"/>
                </a:solidFill>
              </a:rPr>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a:solidFill>
                  <a:schemeClr val="bg1"/>
                </a:solidFill>
              </a:rPr>
              <a:t>Case 5 </a:t>
            </a:r>
            <a:r>
              <a:rPr lang="zh-CN" altLang="en-US" sz="1400">
                <a:solidFill>
                  <a:schemeClr val="bg1"/>
                </a:solidFill>
              </a:rPr>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a:t>Manifesto for Agile </a:t>
            </a:r>
            <a:r>
              <a:rPr lang="en-US" altLang="zh-CN" b="1">
                <a:solidFill>
                  <a:srgbClr val="FFFF00"/>
                </a:solidFill>
              </a:rPr>
              <a:t>Software</a:t>
            </a:r>
            <a:r>
              <a:rPr lang="en-US" altLang="zh-CN"/>
              <a:t> Development</a:t>
            </a:r>
          </a:p>
          <a:p>
            <a:r>
              <a:rPr lang="zh-CN" altLang="en-US"/>
              <a:t>简称敏捷宣言</a:t>
            </a:r>
            <a:endParaRPr lang="en-US" altLang="zh-CN"/>
          </a:p>
          <a:p>
            <a:r>
              <a:rPr lang="zh-CN" altLang="en-US"/>
              <a:t>聚焦软件项目管理</a:t>
            </a:r>
            <a:endParaRPr lang="en-US" altLang="zh-CN"/>
          </a:p>
          <a:p>
            <a:r>
              <a:rPr lang="en-US" altLang="zh-CN"/>
              <a:t>2001</a:t>
            </a:r>
            <a:r>
              <a:rPr lang="zh-CN" altLang="en-US"/>
              <a:t>年，</a:t>
            </a:r>
            <a:r>
              <a:rPr lang="en-US" altLang="zh-CN"/>
              <a:t>17</a:t>
            </a:r>
            <a:r>
              <a:rPr lang="zh-CN" altLang="en-US"/>
              <a:t>位软件开发专家在美国犹他州雪鸟滑雪度假村聚会，共同起草</a:t>
            </a:r>
            <a:endParaRPr lang="en-US" altLang="zh-CN"/>
          </a:p>
          <a:p>
            <a:r>
              <a:rPr lang="zh-CN" altLang="en-US"/>
              <a:t>应对迅速变化需求的快速软件开发方法</a:t>
            </a:r>
          </a:p>
          <a:p>
            <a:r>
              <a:rPr lang="zh-CN" altLang="en-US"/>
              <a:t>是一种迭代、循序渐进的开发方法</a:t>
            </a:r>
            <a:endParaRPr lang="en-US" altLang="zh-CN"/>
          </a:p>
          <a:p>
            <a:r>
              <a:rPr lang="zh-CN" altLang="en-US"/>
              <a:t>体现的是一种思维模式 </a:t>
            </a:r>
            <a:r>
              <a:rPr lang="en-US" altLang="zh-CN"/>
              <a:t> Thinking</a:t>
            </a:r>
          </a:p>
          <a:p>
            <a:r>
              <a:rPr lang="en-US" altLang="zh-CN">
                <a:hlinkClick r:id="rId2"/>
              </a:rPr>
              <a:t>https://agilemanifesto.org/</a:t>
            </a:r>
            <a:r>
              <a:rPr lang="en-US" altLang="zh-CN"/>
              <a:t> </a:t>
            </a:r>
          </a:p>
          <a:p>
            <a:endParaRPr lang="en-US" altLang="zh-CN"/>
          </a:p>
          <a:p>
            <a:endParaRPr lang="en-US" altLang="zh-CN"/>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00" name="内容占位符 99">
            <a:extLst>
              <a:ext uri="{FF2B5EF4-FFF2-40B4-BE49-F238E27FC236}">
                <a16:creationId xmlns:a16="http://schemas.microsoft.com/office/drawing/2014/main" id="{E816C42D-684E-2066-2532-51F4020AC557}"/>
              </a:ext>
            </a:extLst>
          </p:cNvPr>
          <p:cNvSpPr>
            <a:spLocks noGrp="1"/>
          </p:cNvSpPr>
          <p:nvPr>
            <p:ph idx="1"/>
          </p:nvPr>
        </p:nvSpPr>
        <p:spPr>
          <a:xfrm>
            <a:off x="696000" y="864000"/>
            <a:ext cx="10800000" cy="5400000"/>
          </a:xfrm>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solidFill>
                  <a:schemeClr val="bg1"/>
                </a:solidFill>
              </a:rPr>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a:solidFill>
                  <a:schemeClr val="bg1"/>
                </a:solidFill>
              </a:rPr>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solidFill>
                  <a:schemeClr val="bg1"/>
                </a:solidFill>
              </a:rPr>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solidFill>
                  <a:schemeClr val="bg1"/>
                </a:solidFill>
              </a:rPr>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solidFill>
                  <a:schemeClr val="bg1"/>
                </a:solidFill>
              </a:rPr>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solidFill>
                  <a:schemeClr val="bg1"/>
                </a:solidFill>
              </a:rPr>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solidFill>
                  <a:schemeClr val="bg1"/>
                </a:solidFill>
              </a:rPr>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solidFill>
                  <a:schemeClr val="bg1"/>
                </a:solidFill>
              </a:rPr>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solidFill>
                <a:schemeClr val="bg1"/>
              </a:solidFill>
            </a:endParaRPr>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solidFill>
                <a:schemeClr val="bg1"/>
              </a:solidFill>
            </a:endParaRPr>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solidFill>
                <a:schemeClr val="bg1"/>
              </a:solidFill>
            </a:endParaRPr>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solidFill>
                <a:schemeClr val="bg1"/>
              </a:solidFill>
            </a:endParaRPr>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Over</a:t>
            </a:r>
            <a:endParaRPr lang="zh-CN" altLang="en-US" sz="1600"/>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4091210115"/>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Values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solidFill>
                            <a:schemeClr val="bg1"/>
                          </a:solidFill>
                        </a:rPr>
                        <a: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solidFill>
                            <a:schemeClr val="bg1"/>
                          </a:solidFill>
                        </a:rPr>
                        <a: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solidFill>
                            <a:schemeClr val="bg1"/>
                          </a:solidFill>
                        </a:rPr>
                        <a:t>3</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solidFill>
                            <a:schemeClr val="bg1"/>
                          </a:solidFill>
                        </a:rPr>
                        <a:t>4</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Responding to change over following a plan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10745880"/>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Our highest </a:t>
                      </a:r>
                      <a:r>
                        <a:rPr lang="en-US" sz="1400" b="1">
                          <a:solidFill>
                            <a:srgbClr val="FFFF00"/>
                          </a:solidFill>
                          <a:effectLst/>
                        </a:rPr>
                        <a:t>priority</a:t>
                      </a:r>
                      <a:r>
                        <a:rPr lang="en-US" sz="1400" b="0">
                          <a:solidFill>
                            <a:schemeClr val="bg1"/>
                          </a:solidFill>
                          <a:effectLst/>
                        </a:rPr>
                        <a:t> is to satisfy the customer through early and continuous delivery of </a:t>
                      </a:r>
                      <a:r>
                        <a:rPr lang="en-US" sz="1400" b="1">
                          <a:solidFill>
                            <a:srgbClr val="FFFF00"/>
                          </a:solidFill>
                          <a:effectLst/>
                        </a:rPr>
                        <a:t>valuable</a:t>
                      </a:r>
                      <a:r>
                        <a:rPr lang="en-US" sz="1400" b="0">
                          <a:solidFill>
                            <a:schemeClr val="bg1"/>
                          </a:solidFill>
                          <a:effectLst/>
                        </a:rPr>
                        <a:t>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价值交付</a:t>
                      </a:r>
                      <a:br>
                        <a:rPr lang="zh-CN" altLang="en-US" sz="1400" b="0">
                          <a:solidFill>
                            <a:schemeClr val="bg1"/>
                          </a:solidFill>
                          <a:effectLst/>
                        </a:rPr>
                      </a:br>
                      <a:r>
                        <a:rPr lang="en-US" sz="1400" b="0">
                          <a:solidFill>
                            <a:schemeClr val="bg1"/>
                          </a:solidFill>
                          <a:effectLst/>
                        </a:rPr>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Welcome changing requirements, even late in development. Agile processes </a:t>
                      </a:r>
                      <a:r>
                        <a:rPr lang="en-US" sz="1400" b="1">
                          <a:solidFill>
                            <a:srgbClr val="FFFF00"/>
                          </a:solidFill>
                          <a:effectLst/>
                        </a:rPr>
                        <a:t>harness</a:t>
                      </a:r>
                      <a:r>
                        <a:rPr lang="en-US" sz="1400" b="0">
                          <a:solidFill>
                            <a:schemeClr val="bg1"/>
                          </a:solidFill>
                          <a:effectLst/>
                        </a:rPr>
                        <a:t>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拥抱变化</a:t>
                      </a:r>
                      <a:br>
                        <a:rPr lang="zh-CN" altLang="en-US" sz="1400" b="0">
                          <a:solidFill>
                            <a:schemeClr val="bg1"/>
                          </a:solidFill>
                          <a:effectLst/>
                        </a:rPr>
                      </a:br>
                      <a:r>
                        <a:rPr lang="en-US" sz="1400" b="0">
                          <a:solidFill>
                            <a:schemeClr val="bg1"/>
                          </a:solidFill>
                          <a:effectLst/>
                        </a:rPr>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Deliver working software frequently, from a couple of weeks to a couple of months, with a </a:t>
                      </a:r>
                      <a:r>
                        <a:rPr lang="en-US" sz="1400" b="1">
                          <a:solidFill>
                            <a:srgbClr val="FFFF00"/>
                          </a:solidFill>
                          <a:effectLst/>
                        </a:rPr>
                        <a:t>preference</a:t>
                      </a:r>
                      <a:r>
                        <a:rPr lang="en-US" sz="1400" b="0">
                          <a:solidFill>
                            <a:schemeClr val="bg1"/>
                          </a:solidFill>
                          <a:effectLst/>
                        </a:rPr>
                        <a:t>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频繁迭代</a:t>
                      </a:r>
                      <a:br>
                        <a:rPr lang="zh-CN" altLang="en-US" sz="1400" b="0">
                          <a:solidFill>
                            <a:schemeClr val="bg1"/>
                          </a:solidFill>
                          <a:effectLst/>
                        </a:rPr>
                      </a:br>
                      <a:r>
                        <a:rPr lang="en-US" sz="1400" b="0">
                          <a:solidFill>
                            <a:schemeClr val="bg1"/>
                          </a:solidFill>
                          <a:effectLst/>
                        </a:rPr>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Business people and developers must work </a:t>
                      </a:r>
                      <a:r>
                        <a:rPr lang="en-US" sz="1400" b="1">
                          <a:solidFill>
                            <a:srgbClr val="FFFF00"/>
                          </a:solidFill>
                          <a:effectLst/>
                        </a:rPr>
                        <a:t>together</a:t>
                      </a:r>
                      <a:r>
                        <a:rPr lang="en-US" sz="1400" b="0">
                          <a:solidFill>
                            <a:schemeClr val="bg1"/>
                          </a:solidFill>
                          <a:effectLst/>
                        </a:rPr>
                        <a:t>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协作沟通</a:t>
                      </a:r>
                      <a:br>
                        <a:rPr lang="zh-CN" altLang="en-US" sz="1400" b="0">
                          <a:solidFill>
                            <a:schemeClr val="bg1"/>
                          </a:solidFill>
                          <a:effectLst/>
                        </a:rPr>
                      </a:br>
                      <a:r>
                        <a:rPr lang="en-US" sz="1400" b="0">
                          <a:solidFill>
                            <a:schemeClr val="bg1"/>
                          </a:solidFill>
                          <a:effectLst/>
                        </a:rPr>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Build projects around </a:t>
                      </a:r>
                      <a:r>
                        <a:rPr lang="en-US" sz="1400" b="1">
                          <a:solidFill>
                            <a:srgbClr val="FFFF00"/>
                          </a:solidFill>
                          <a:effectLst/>
                        </a:rPr>
                        <a:t>motivated</a:t>
                      </a:r>
                      <a:r>
                        <a:rPr lang="en-US" sz="1400" b="0">
                          <a:solidFill>
                            <a:schemeClr val="bg1"/>
                          </a:solidFill>
                          <a:effectLst/>
                        </a:rPr>
                        <a:t>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信任与激励</a:t>
                      </a:r>
                      <a:br>
                        <a:rPr lang="zh-CN" altLang="en-US" sz="1400" b="0">
                          <a:solidFill>
                            <a:schemeClr val="bg1"/>
                          </a:solidFill>
                          <a:effectLst/>
                        </a:rPr>
                      </a:br>
                      <a:r>
                        <a:rPr lang="en-US" sz="1400" b="0">
                          <a:solidFill>
                            <a:schemeClr val="bg1"/>
                          </a:solidFill>
                          <a:effectLst/>
                        </a:rPr>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most efficient and effective method of </a:t>
                      </a:r>
                      <a:r>
                        <a:rPr lang="en-US" sz="1400" b="1">
                          <a:solidFill>
                            <a:srgbClr val="FFFF00"/>
                          </a:solidFill>
                          <a:effectLst/>
                        </a:rPr>
                        <a:t>conveying</a:t>
                      </a:r>
                      <a:r>
                        <a:rPr lang="en-US" sz="1400" b="0">
                          <a:solidFill>
                            <a:schemeClr val="bg1"/>
                          </a:solidFill>
                          <a:effectLst/>
                        </a:rPr>
                        <a:t>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高效沟通</a:t>
                      </a:r>
                      <a:br>
                        <a:rPr lang="zh-CN" altLang="en-US" sz="1400" b="0">
                          <a:solidFill>
                            <a:schemeClr val="bg1"/>
                          </a:solidFill>
                          <a:effectLst/>
                        </a:rPr>
                      </a:br>
                      <a:r>
                        <a:rPr lang="en-US" sz="1400" b="0">
                          <a:solidFill>
                            <a:schemeClr val="bg1"/>
                          </a:solidFill>
                          <a:effectLst/>
                        </a:rPr>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907718762"/>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7</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Working</a:t>
                      </a:r>
                      <a:r>
                        <a:rPr lang="en-US" sz="1400" b="0">
                          <a:solidFill>
                            <a:schemeClr val="bg1"/>
                          </a:solidFill>
                          <a:effectLst/>
                        </a:rPr>
                        <a:t>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结果导向</a:t>
                      </a:r>
                      <a:br>
                        <a:rPr lang="zh-CN" altLang="en-US" sz="1400" b="0">
                          <a:solidFill>
                            <a:schemeClr val="bg1"/>
                          </a:solidFill>
                          <a:effectLst/>
                        </a:rPr>
                      </a:br>
                      <a:r>
                        <a:rPr lang="en-US" sz="1400" b="0">
                          <a:solidFill>
                            <a:schemeClr val="bg1"/>
                          </a:solidFill>
                          <a:effectLst/>
                        </a:rPr>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8</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Agile processes </a:t>
                      </a:r>
                      <a:r>
                        <a:rPr lang="en-US" sz="1400" b="1">
                          <a:solidFill>
                            <a:srgbClr val="FFFF00"/>
                          </a:solidFill>
                          <a:effectLst/>
                        </a:rPr>
                        <a:t>promote</a:t>
                      </a:r>
                      <a:r>
                        <a:rPr lang="en-US" sz="1400" b="0">
                          <a:solidFill>
                            <a:schemeClr val="bg1"/>
                          </a:solidFill>
                          <a:effectLst/>
                        </a:rPr>
                        <a:t> </a:t>
                      </a:r>
                      <a:r>
                        <a:rPr lang="en-US" sz="1400" b="1">
                          <a:solidFill>
                            <a:srgbClr val="FFFF00"/>
                          </a:solidFill>
                          <a:effectLst/>
                        </a:rPr>
                        <a:t>sustainable</a:t>
                      </a:r>
                      <a:r>
                        <a:rPr lang="en-US" sz="1400" b="0">
                          <a:solidFill>
                            <a:schemeClr val="bg1"/>
                          </a:solidFill>
                          <a:effectLst/>
                        </a:rPr>
                        <a:t>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可持续发展</a:t>
                      </a:r>
                      <a:br>
                        <a:rPr lang="zh-CN" altLang="en-US" sz="1400" b="0">
                          <a:solidFill>
                            <a:schemeClr val="bg1"/>
                          </a:solidFill>
                          <a:effectLst/>
                        </a:rPr>
                      </a:br>
                      <a:r>
                        <a:rPr lang="en-US" sz="1400" b="1">
                          <a:solidFill>
                            <a:schemeClr val="bg1"/>
                          </a:solidFill>
                          <a:effectLst/>
                        </a:rPr>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9</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Continuous</a:t>
                      </a:r>
                      <a:r>
                        <a:rPr lang="en-US" sz="1400" b="0">
                          <a:solidFill>
                            <a:schemeClr val="bg1"/>
                          </a:solidFill>
                          <a:effectLst/>
                        </a:rPr>
                        <a:t>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技术卓越</a:t>
                      </a:r>
                      <a:br>
                        <a:rPr lang="zh-CN" altLang="en-US" sz="1400" b="0">
                          <a:solidFill>
                            <a:schemeClr val="bg1"/>
                          </a:solidFill>
                          <a:effectLst/>
                        </a:rPr>
                      </a:br>
                      <a:r>
                        <a:rPr lang="en-US" sz="1400" b="0">
                          <a:solidFill>
                            <a:schemeClr val="bg1"/>
                          </a:solidFill>
                          <a:effectLst/>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10</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Simplicity</a:t>
                      </a:r>
                      <a:r>
                        <a:rPr lang="en-US" sz="1400" b="0">
                          <a:solidFill>
                            <a:schemeClr val="bg1"/>
                          </a:solidFill>
                          <a:effectLst/>
                        </a:rPr>
                        <a:t>—the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简洁 </a:t>
                      </a:r>
                      <a:r>
                        <a:rPr lang="en-US" altLang="zh-CN" sz="1400" b="0">
                          <a:solidFill>
                            <a:schemeClr val="bg1"/>
                          </a:solidFill>
                          <a:effectLst/>
                        </a:rPr>
                        <a:t>- </a:t>
                      </a:r>
                      <a:r>
                        <a:rPr lang="zh-CN" altLang="en-US" sz="1400" b="0">
                          <a:solidFill>
                            <a:schemeClr val="bg1"/>
                          </a:solidFill>
                          <a:effectLst/>
                        </a:rPr>
                        <a:t>最大化未完成工作量的艺术 </a:t>
                      </a:r>
                      <a:r>
                        <a:rPr lang="en-US" altLang="zh-CN" sz="1400" b="0">
                          <a:solidFill>
                            <a:schemeClr val="bg1"/>
                          </a:solidFill>
                          <a:effectLst/>
                        </a:rPr>
                        <a:t>- </a:t>
                      </a:r>
                      <a:r>
                        <a:rPr lang="zh-CN" altLang="en-US" sz="1400" b="0">
                          <a:solidFill>
                            <a:schemeClr val="bg1"/>
                          </a:solidFill>
                          <a:effectLst/>
                        </a:rPr>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极简主义</a:t>
                      </a:r>
                      <a:br>
                        <a:rPr lang="zh-CN" altLang="en-US" sz="1400" b="0">
                          <a:solidFill>
                            <a:schemeClr val="bg1"/>
                          </a:solidFill>
                          <a:effectLst/>
                        </a:rPr>
                      </a:br>
                      <a:r>
                        <a:rPr lang="en-US" sz="1400" b="0">
                          <a:solidFill>
                            <a:schemeClr val="bg1"/>
                          </a:solidFill>
                          <a:effectLst/>
                        </a:rPr>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11</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best architectures, requirements, and designs </a:t>
                      </a:r>
                      <a:r>
                        <a:rPr lang="en-US" sz="1400" b="1">
                          <a:solidFill>
                            <a:srgbClr val="FFFF00"/>
                          </a:solidFill>
                          <a:effectLst/>
                        </a:rPr>
                        <a:t>emerge</a:t>
                      </a:r>
                      <a:r>
                        <a:rPr lang="en-US" sz="1400" b="0">
                          <a:solidFill>
                            <a:schemeClr val="bg1"/>
                          </a:solidFill>
                          <a:effectLst/>
                        </a:rPr>
                        <a:t> from </a:t>
                      </a:r>
                      <a:r>
                        <a:rPr lang="en-US" sz="1400" b="1">
                          <a:solidFill>
                            <a:srgbClr val="FFFF00"/>
                          </a:solidFill>
                          <a:effectLst/>
                        </a:rPr>
                        <a:t>self-organizing</a:t>
                      </a:r>
                      <a:r>
                        <a:rPr lang="en-US" sz="1400" b="0">
                          <a:solidFill>
                            <a:schemeClr val="bg1"/>
                          </a:solidFill>
                          <a:effectLst/>
                        </a:rPr>
                        <a:t>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自组织</a:t>
                      </a:r>
                      <a:br>
                        <a:rPr lang="zh-CN" altLang="en-US" sz="1400" b="0">
                          <a:solidFill>
                            <a:schemeClr val="bg1"/>
                          </a:solidFill>
                          <a:effectLst/>
                        </a:rPr>
                      </a:br>
                      <a:r>
                        <a:rPr lang="en-US" sz="1400" b="0">
                          <a:solidFill>
                            <a:schemeClr val="bg1"/>
                          </a:solidFill>
                          <a:effectLst/>
                        </a:rPr>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12</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At regular intervals, the team </a:t>
                      </a:r>
                      <a:r>
                        <a:rPr lang="en-US" sz="1400" b="1">
                          <a:solidFill>
                            <a:srgbClr val="FFFF00"/>
                          </a:solidFill>
                          <a:effectLst/>
                        </a:rPr>
                        <a:t>reflects</a:t>
                      </a:r>
                      <a:r>
                        <a:rPr lang="en-US" sz="1400" b="0">
                          <a:solidFill>
                            <a:schemeClr val="bg1"/>
                          </a:solidFill>
                          <a:effectLst/>
                        </a:rPr>
                        <a:t>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持续改进</a:t>
                      </a:r>
                      <a:br>
                        <a:rPr lang="zh-CN" altLang="en-US" sz="1400" b="0">
                          <a:solidFill>
                            <a:schemeClr val="bg1"/>
                          </a:solidFill>
                          <a:effectLst/>
                        </a:rPr>
                      </a:br>
                      <a:r>
                        <a:rPr lang="en-US" sz="1400" b="0">
                          <a:solidFill>
                            <a:schemeClr val="bg1"/>
                          </a:solidFill>
                          <a:effectLst/>
                        </a:rPr>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832971793"/>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敏捷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PMBOK 7 </a:t>
                      </a:r>
                      <a:r>
                        <a:rPr lang="zh-CN" altLang="en-US" sz="1600">
                          <a:solidFill>
                            <a:schemeClr val="bg1"/>
                          </a:solidFill>
                        </a:rPr>
                        <a:t>的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solidFill>
                            <a:schemeClr val="bg1"/>
                          </a:solidFill>
                        </a:rPr>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狭义</a:t>
                      </a:r>
                      <a:endParaRPr lang="en-US" altLang="zh-CN" sz="1600">
                        <a:solidFill>
                          <a:schemeClr val="bg1"/>
                        </a:solidFill>
                      </a:endParaRPr>
                    </a:p>
                    <a:p>
                      <a:pPr algn="l">
                        <a:lnSpc>
                          <a:spcPct val="100000"/>
                        </a:lnSpc>
                        <a:buNone/>
                      </a:pPr>
                      <a:r>
                        <a:rPr lang="zh-CN" altLang="en-US" sz="1600">
                          <a:solidFill>
                            <a:schemeClr val="bg1"/>
                          </a:solidFill>
                        </a:rPr>
                        <a:t>主要针对软件开发、</a:t>
                      </a:r>
                      <a:r>
                        <a:rPr lang="en-US" altLang="zh-CN" sz="1600">
                          <a:solidFill>
                            <a:schemeClr val="bg1"/>
                          </a:solidFill>
                        </a:rPr>
                        <a:t>IT </a:t>
                      </a:r>
                      <a:r>
                        <a:rPr lang="zh-CN" altLang="en-US" sz="1600">
                          <a:solidFill>
                            <a:schemeClr val="bg1"/>
                          </a:solidFill>
                        </a:rPr>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广义</a:t>
                      </a:r>
                      <a:endParaRPr lang="en-US" altLang="zh-CN" sz="1600">
                        <a:solidFill>
                          <a:schemeClr val="bg1"/>
                        </a:solidFill>
                      </a:endParaRPr>
                    </a:p>
                    <a:p>
                      <a:pPr algn="l">
                        <a:lnSpc>
                          <a:spcPct val="100000"/>
                        </a:lnSpc>
                        <a:buNone/>
                      </a:pPr>
                      <a:r>
                        <a:rPr lang="zh-CN" altLang="en-US" sz="1600">
                          <a:solidFill>
                            <a:schemeClr val="bg1"/>
                          </a:solidFill>
                        </a:rPr>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怎么做软件</a:t>
                      </a:r>
                      <a:endParaRPr lang="en-US" altLang="zh-CN" sz="1600">
                        <a:solidFill>
                          <a:schemeClr val="bg1"/>
                        </a:solidFill>
                      </a:endParaRPr>
                    </a:p>
                    <a:p>
                      <a:pPr algn="l">
                        <a:lnSpc>
                          <a:spcPct val="100000"/>
                        </a:lnSpc>
                        <a:buNone/>
                      </a:pPr>
                      <a:r>
                        <a:rPr lang="zh-CN" altLang="en-US" sz="1600">
                          <a:solidFill>
                            <a:schemeClr val="bg1"/>
                          </a:solidFill>
                        </a:rPr>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怎么管项目</a:t>
                      </a:r>
                      <a:endParaRPr lang="en-US" altLang="zh-CN" sz="1600">
                        <a:solidFill>
                          <a:schemeClr val="bg1"/>
                        </a:solidFill>
                      </a:endParaRPr>
                    </a:p>
                    <a:p>
                      <a:pPr algn="l">
                        <a:lnSpc>
                          <a:spcPct val="100000"/>
                        </a:lnSpc>
                        <a:buNone/>
                      </a:pPr>
                      <a:r>
                        <a:rPr lang="zh-CN" altLang="en-US" sz="1600">
                          <a:solidFill>
                            <a:schemeClr val="bg1"/>
                          </a:solidFill>
                        </a:rPr>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solidFill>
                            <a:schemeClr val="bg1"/>
                          </a:solidFill>
                        </a:rPr>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行动导向</a:t>
                      </a:r>
                      <a:endParaRPr lang="en-US" altLang="zh-CN" sz="1600">
                        <a:solidFill>
                          <a:schemeClr val="bg1"/>
                        </a:solidFill>
                      </a:endParaRPr>
                    </a:p>
                    <a:p>
                      <a:pPr algn="l">
                        <a:lnSpc>
                          <a:spcPct val="100000"/>
                        </a:lnSpc>
                        <a:buNone/>
                      </a:pPr>
                      <a:r>
                        <a:rPr lang="zh-CN" altLang="en-US" sz="1600">
                          <a:solidFill>
                            <a:schemeClr val="bg1"/>
                          </a:solidFill>
                        </a:rPr>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思维导向</a:t>
                      </a:r>
                      <a:endParaRPr lang="en-US" altLang="zh-CN" sz="1600">
                        <a:solidFill>
                          <a:schemeClr val="bg1"/>
                        </a:solidFill>
                      </a:endParaRPr>
                    </a:p>
                    <a:p>
                      <a:pPr algn="l">
                        <a:lnSpc>
                          <a:spcPct val="100000"/>
                        </a:lnSpc>
                        <a:buNone/>
                      </a:pPr>
                      <a:r>
                        <a:rPr lang="zh-CN" altLang="en-US" sz="1600">
                          <a:solidFill>
                            <a:schemeClr val="bg1"/>
                          </a:solidFill>
                        </a:rPr>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solidFill>
                            <a:schemeClr val="bg1"/>
                          </a:solidFill>
                        </a:rPr>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隐含对立</a:t>
                      </a:r>
                      <a:endParaRPr lang="en-US" altLang="zh-CN" sz="1600">
                        <a:solidFill>
                          <a:schemeClr val="bg1"/>
                        </a:solidFill>
                      </a:endParaRPr>
                    </a:p>
                    <a:p>
                      <a:pPr algn="l">
                        <a:lnSpc>
                          <a:spcPct val="100000"/>
                        </a:lnSpc>
                        <a:buNone/>
                      </a:pPr>
                      <a:r>
                        <a:rPr lang="zh-CN" altLang="en-US" sz="1600">
                          <a:solidFill>
                            <a:schemeClr val="bg1"/>
                          </a:solidFill>
                        </a:rPr>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包容融合</a:t>
                      </a:r>
                      <a:endParaRPr lang="en-US" altLang="zh-CN" sz="1600">
                        <a:solidFill>
                          <a:schemeClr val="bg1"/>
                        </a:solidFill>
                      </a:endParaRPr>
                    </a:p>
                    <a:p>
                      <a:pPr algn="l">
                        <a:lnSpc>
                          <a:spcPct val="100000"/>
                        </a:lnSpc>
                        <a:buNone/>
                      </a:pPr>
                      <a:r>
                        <a:rPr lang="zh-CN" altLang="en-US" sz="1600">
                          <a:solidFill>
                            <a:schemeClr val="bg1"/>
                          </a:solidFill>
                        </a:rPr>
                        <a:t>认为瀑布、敏捷、混合都是工具，视情况裁</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3877986" cy="338554"/>
          </a:xfrm>
          <a:prstGeom prst="rect">
            <a:avLst/>
          </a:prstGeom>
          <a:noFill/>
        </p:spPr>
        <p:txBody>
          <a:bodyPr wrap="none" rtlCol="0">
            <a:spAutoFit/>
          </a:bodyPr>
          <a:lstStyle/>
          <a:p>
            <a:pPr algn="ctr"/>
            <a:r>
              <a:rPr lang="zh-CN" altLang="en-US" sz="1600">
                <a:solidFill>
                  <a:schemeClr val="bg1"/>
                </a:solidFill>
              </a:rPr>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278857"/>
            <a:ext cx="4424219" cy="2300287"/>
          </a:xfrm>
        </p:spPr>
        <p:txBody>
          <a:bodyPr>
            <a:normAutofit lnSpcReduction="10000"/>
          </a:bodyPr>
          <a:lstStyle/>
          <a:p>
            <a:pPr lvl="0"/>
            <a:r>
              <a:rPr lang="zh-CN" altLang="zh-CN"/>
              <a:t>项目评估</a:t>
            </a:r>
          </a:p>
          <a:p>
            <a:pPr lvl="0"/>
            <a:r>
              <a:rPr lang="zh-CN" altLang="zh-CN"/>
              <a:t>项目立项</a:t>
            </a:r>
          </a:p>
          <a:p>
            <a:pPr lvl="0"/>
            <a:r>
              <a:rPr lang="zh-CN" altLang="zh-CN"/>
              <a:t>项目招投标</a:t>
            </a:r>
          </a:p>
          <a:p>
            <a:pPr lvl="0"/>
            <a:r>
              <a:rPr lang="zh-CN" altLang="zh-CN"/>
              <a:t>项目章程</a:t>
            </a:r>
          </a:p>
          <a:p>
            <a:pPr lvl="0"/>
            <a:r>
              <a:rPr lang="zh-CN" altLang="zh-CN"/>
              <a:t>软件项目生存期模型</a:t>
            </a:r>
            <a:endParaRPr lang="en-US" altLang="zh-CN"/>
          </a:p>
          <a:p>
            <a:pPr lvl="0"/>
            <a:r>
              <a:rPr lang="en-US" altLang="zh-CN"/>
              <a:t>Scrum</a:t>
            </a:r>
            <a:endParaRPr lang="zh-CN" altLang="zh-CN"/>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a:t>
            </a:r>
            <a:r>
              <a:rPr lang="en-US" altLang="zh-CN" baseline="-25000" err="1"/>
              <a:t>t</a:t>
            </a:r>
            <a:r>
              <a:rPr lang="zh-CN" altLang="en-US"/>
              <a:t>：第</a:t>
            </a:r>
            <a:r>
              <a:rPr lang="en-US" altLang="zh-CN"/>
              <a:t>t</a:t>
            </a:r>
            <a:r>
              <a:rPr lang="zh-CN" altLang="en-US"/>
              <a:t>年的现金流入量</a:t>
            </a:r>
            <a:endParaRPr lang="en-US" altLang="zh-CN"/>
          </a:p>
          <a:p>
            <a:r>
              <a:rPr lang="en-US" altLang="zh-CN" err="1"/>
              <a:t>Output</a:t>
            </a:r>
            <a:r>
              <a:rPr lang="en-US" altLang="zh-CN" baseline="-25000" err="1"/>
              <a:t>t</a:t>
            </a:r>
            <a:r>
              <a:rPr lang="zh-CN" altLang="en-US"/>
              <a:t>：第</a:t>
            </a:r>
            <a:r>
              <a:rPr lang="en-US" altLang="zh-CN"/>
              <a:t>t</a:t>
            </a:r>
            <a:r>
              <a:rPr lang="zh-CN" altLang="en-US"/>
              <a:t>年的现金流出量</a:t>
            </a:r>
            <a:endParaRPr lang="en-US" altLang="zh-CN"/>
          </a:p>
          <a:p>
            <a:r>
              <a:rPr lang="en-US" altLang="zh-CN" err="1"/>
              <a:t>CF</a:t>
            </a:r>
            <a:r>
              <a:rPr lang="en-US" altLang="zh-CN" baseline="-25000" err="1"/>
              <a:t>t</a:t>
            </a:r>
            <a:r>
              <a:rPr lang="zh-CN" altLang="en-US"/>
              <a:t>：</a:t>
            </a:r>
            <a:r>
              <a:rPr lang="en-US" altLang="zh-CN"/>
              <a:t>Current Flow at time t</a:t>
            </a:r>
            <a:r>
              <a:rPr lang="zh-CN" altLang="en-US"/>
              <a:t>，当前净现金流 </a:t>
            </a:r>
            <a:r>
              <a:rPr lang="en-US" altLang="zh-CN"/>
              <a:t>= I</a:t>
            </a:r>
            <a:r>
              <a:rPr lang="en-US" altLang="zh-CN" baseline="-25000"/>
              <a:t>t</a:t>
            </a:r>
            <a:r>
              <a:rPr lang="en-US" altLang="zh-CN"/>
              <a:t> - O</a:t>
            </a:r>
            <a:r>
              <a:rPr lang="en-US" altLang="zh-CN" baseline="-25000"/>
              <a:t>t</a:t>
            </a:r>
            <a:endParaRPr lang="en-US" altLang="zh-CN"/>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a:t>例</a:t>
            </a:r>
            <a:r>
              <a:rPr lang="en-US" altLang="zh-CN"/>
              <a:t>1. </a:t>
            </a:r>
            <a:r>
              <a:rPr lang="zh-CN" altLang="en-US"/>
              <a:t>某软件公司准备投标某项目，估计成本是</a:t>
            </a:r>
            <a:r>
              <a:rPr lang="en-US" altLang="zh-CN"/>
              <a:t>75.95</a:t>
            </a:r>
            <a:r>
              <a:rPr lang="zh-CN" altLang="en-US"/>
              <a:t>万，项目的合同金额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，请计算</a:t>
            </a:r>
            <a:r>
              <a:rPr lang="en-US" altLang="zh-CN"/>
              <a:t>NPV</a:t>
            </a:r>
            <a:r>
              <a:rPr lang="zh-CN" altLang="en-US"/>
              <a:t>。</a:t>
            </a:r>
            <a:endParaRPr lang="en-US" altLang="zh-CN"/>
          </a:p>
          <a:p>
            <a:endParaRPr lang="zh-CN" altLang="en-US"/>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=−25.95+0+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3779533773"/>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75.95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=50+0+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2469951945"/>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7" name="内容占位符 6">
            <a:extLst>
              <a:ext uri="{FF2B5EF4-FFF2-40B4-BE49-F238E27FC236}">
                <a16:creationId xmlns:a16="http://schemas.microsoft.com/office/drawing/2014/main" id="{C8FEFA43-E12C-C58B-C98B-B68F488745B2}"/>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rgbClr val="FFFF00"/>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rgbClr val="FFFF00"/>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8EB7501B-1CF1-2FA1-DD54-56B3D18C7149}"/>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080AC85C-97CB-6B7B-C6E1-8C97D586500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endParaRPr lang="zh-CN" altLang="en-US">
              <a:solidFill>
                <a:srgbClr val="FF0000"/>
              </a:solidFill>
            </a:endParaRP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a:t>
            </a:r>
            <a:r>
              <a:rPr lang="zh-CN" altLang="en-US">
                <a:solidFill>
                  <a:srgbClr val="FFFF00"/>
                </a:solidFill>
              </a:rPr>
              <a:t>交付</a:t>
            </a:r>
            <a:r>
              <a:rPr lang="zh-CN" altLang="en-US"/>
              <a:t>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迭代 </a:t>
                      </a:r>
                      <a:r>
                        <a:rPr lang="en-US" sz="160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r>
                        <a:rPr lang="en-US" altLang="zh-CN" sz="1600">
                          <a:solidFill>
                            <a:schemeClr val="bg1"/>
                          </a:solidFill>
                        </a:rPr>
                        <a:t>al</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重复 </a:t>
                      </a:r>
                      <a:r>
                        <a:rPr lang="en-US" altLang="zh-CN" sz="1600">
                          <a:solidFill>
                            <a:schemeClr val="bg1"/>
                          </a:solidFill>
                        </a:rPr>
                        <a:t>(</a:t>
                      </a:r>
                      <a:r>
                        <a:rPr lang="en-US" sz="160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增加 </a:t>
                      </a:r>
                      <a:r>
                        <a:rPr lang="en-US" altLang="zh-CN" sz="1600">
                          <a:solidFill>
                            <a:schemeClr val="bg1"/>
                          </a:solidFill>
                        </a:rPr>
                        <a:t>(</a:t>
                      </a:r>
                      <a:r>
                        <a:rPr lang="en-US" sz="160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质量 </a:t>
                      </a:r>
                      <a:r>
                        <a:rPr lang="en-US" altLang="zh-CN" sz="1600">
                          <a:solidFill>
                            <a:schemeClr val="bg1"/>
                          </a:solidFill>
                        </a:rPr>
                        <a:t>(</a:t>
                      </a:r>
                      <a:r>
                        <a:rPr lang="en-US" sz="1600">
                          <a:solidFill>
                            <a:schemeClr val="bg1"/>
                          </a:solidFill>
                        </a:rPr>
                        <a:t>Quality)：</a:t>
                      </a:r>
                      <a:r>
                        <a:rPr lang="zh-CN" altLang="en-US" sz="160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范围 </a:t>
                      </a:r>
                      <a:r>
                        <a:rPr lang="en-US" altLang="zh-CN" sz="1600">
                          <a:solidFill>
                            <a:schemeClr val="bg1"/>
                          </a:solidFill>
                        </a:rPr>
                        <a:t>(</a:t>
                      </a:r>
                      <a:r>
                        <a:rPr lang="en-US" sz="1600">
                          <a:solidFill>
                            <a:schemeClr val="bg1"/>
                          </a:solidFill>
                        </a:rPr>
                        <a:t>Scope)：</a:t>
                      </a:r>
                      <a:r>
                        <a:rPr lang="zh-CN" altLang="en-US" sz="160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哇，这个功能比上次快了很多</a:t>
                      </a:r>
                      <a:r>
                        <a:rPr lang="en-US" altLang="zh-CN" sz="1600">
                          <a:solidFill>
                            <a:schemeClr val="bg1"/>
                          </a:solidFill>
                        </a:rPr>
                        <a:t>/</a:t>
                      </a:r>
                      <a:r>
                        <a:rPr lang="zh-CN" altLang="en-US" sz="160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Iterate (</a:t>
                      </a:r>
                      <a:r>
                        <a:rPr lang="zh-CN" altLang="en-US" sz="1600">
                          <a:solidFill>
                            <a:schemeClr val="bg1"/>
                          </a:solidFill>
                        </a:rPr>
                        <a:t>重做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Increment (</a:t>
                      </a:r>
                      <a:r>
                        <a:rPr lang="zh-CN" altLang="en-US" sz="1600">
                          <a:solidFill>
                            <a:schemeClr val="bg1"/>
                          </a:solidFill>
                        </a:rPr>
                        <a:t>增长</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节奏</a:t>
                      </a:r>
                      <a:r>
                        <a:rPr lang="en-US" altLang="zh-CN" sz="1600">
                          <a:solidFill>
                            <a:schemeClr val="bg1"/>
                          </a:solidFill>
                        </a:rPr>
                        <a:t>/</a:t>
                      </a:r>
                      <a:r>
                        <a:rPr lang="zh-CN" altLang="en-US" sz="160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a:solidFill>
                            <a:schemeClr val="bg1"/>
                          </a:solidFill>
                        </a:rPr>
                        <a:t>Scrum </a:t>
                      </a:r>
                      <a:r>
                        <a:rPr lang="zh-CN" altLang="en-US" sz="1600">
                          <a:solidFill>
                            <a:schemeClr val="bg1"/>
                          </a:solidFill>
                        </a:rPr>
                        <a:t>敏捷</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 </a:t>
                      </a:r>
                      <a:r>
                        <a:rPr lang="en-US" sz="1600">
                          <a:solidFill>
                            <a:schemeClr val="bg1"/>
                          </a:solidFill>
                        </a:rPr>
                        <a:t>Sprint (2-4</a:t>
                      </a:r>
                      <a:r>
                        <a:rPr lang="zh-CN" altLang="en-US" sz="1600">
                          <a:solidFill>
                            <a:schemeClr val="bg1"/>
                          </a:solidFill>
                        </a:rPr>
                        <a:t>周</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严格 </a:t>
                      </a:r>
                      <a:r>
                        <a:rPr lang="en-US" altLang="zh-CN" sz="1600">
                          <a:solidFill>
                            <a:schemeClr val="bg1"/>
                          </a:solidFill>
                        </a:rPr>
                        <a:t>(</a:t>
                      </a:r>
                      <a:r>
                        <a:rPr lang="en-US" sz="160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a:solidFill>
                            <a:schemeClr val="bg1"/>
                          </a:solidFill>
                        </a:rPr>
                        <a:t>Kanban </a:t>
                      </a:r>
                      <a:r>
                        <a:rPr lang="zh-CN" altLang="en-US" sz="1600">
                          <a:solidFill>
                            <a:schemeClr val="bg1"/>
                          </a:solidFill>
                        </a:rPr>
                        <a:t>看板</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持续流动 </a:t>
                      </a:r>
                      <a:r>
                        <a:rPr lang="en-US" altLang="zh-CN" sz="1600">
                          <a:solidFill>
                            <a:schemeClr val="bg1"/>
                          </a:solidFill>
                        </a:rPr>
                        <a:t>(</a:t>
                      </a:r>
                      <a:r>
                        <a:rPr lang="zh-CN" altLang="en-US" sz="1600">
                          <a:solidFill>
                            <a:schemeClr val="bg1"/>
                          </a:solidFill>
                        </a:rPr>
                        <a:t>无固定周期</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无特定角色</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a:solidFill>
                            <a:schemeClr val="bg1"/>
                          </a:solidFill>
                        </a:rPr>
                        <a:t>XP </a:t>
                      </a:r>
                      <a:r>
                        <a:rPr lang="zh-CN" altLang="en-US" sz="1600">
                          <a:solidFill>
                            <a:schemeClr val="bg1"/>
                          </a:solidFill>
                        </a:rPr>
                        <a:t>极限编程</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通常配合 </a:t>
                      </a:r>
                      <a:r>
                        <a:rPr lang="en-US" sz="1600">
                          <a:solidFill>
                            <a:schemeClr val="bg1"/>
                          </a:solidFill>
                        </a:rPr>
                        <a:t>Scrum </a:t>
                      </a:r>
                      <a:r>
                        <a:rPr lang="zh-CN" altLang="en-US" sz="160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强调结对</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a:solidFill>
                            <a:schemeClr val="bg1"/>
                          </a:solidFill>
                        </a:rPr>
                        <a:t>FDD </a:t>
                      </a:r>
                      <a:r>
                        <a:rPr lang="zh-CN" altLang="en-US" sz="1600">
                          <a:solidFill>
                            <a:schemeClr val="bg1"/>
                          </a:solidFill>
                        </a:rPr>
                        <a:t>特性驱动</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较正式 </a:t>
                      </a:r>
                      <a:r>
                        <a:rPr lang="en-US" altLang="zh-CN" sz="1600">
                          <a:solidFill>
                            <a:schemeClr val="bg1"/>
                          </a:solidFill>
                        </a:rPr>
                        <a:t>(</a:t>
                      </a:r>
                      <a:r>
                        <a:rPr lang="zh-CN" altLang="en-US" sz="1600">
                          <a:solidFill>
                            <a:schemeClr val="bg1"/>
                          </a:solidFill>
                        </a:rPr>
                        <a:t>首席程序员等</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a:solidFill>
                            <a:schemeClr val="bg1"/>
                          </a:solidFill>
                        </a:rPr>
                        <a:t>Crystal </a:t>
                      </a:r>
                      <a:r>
                        <a:rPr lang="zh-CN" altLang="en-US" sz="1600">
                          <a:solidFill>
                            <a:schemeClr val="bg1"/>
                          </a:solidFill>
                        </a:rPr>
                        <a:t>水晶</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a:prstGeom prst="rect">
            <a:avLst/>
          </a:prstGeo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a:t>
            </a:r>
            <a:r>
              <a:rPr lang="zh-CN" altLang="en-US">
                <a:solidFill>
                  <a:srgbClr val="FFFF00"/>
                </a:solidFill>
              </a:rPr>
              <a:t>管理制造过程</a:t>
            </a:r>
            <a:r>
              <a:rPr lang="zh-CN" altLang="en-US"/>
              <a:t>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a:solidFill>
                            <a:schemeClr val="bg1"/>
                          </a:solidFill>
                        </a:rPr>
                        <a:t>Column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Icon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Role</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尚未开始的工作项（如用户故事、</a:t>
                      </a:r>
                      <a:r>
                        <a:rPr lang="en-US" altLang="zh-CN" sz="1600">
                          <a:solidFill>
                            <a:schemeClr val="bg1"/>
                          </a:solidFill>
                        </a:rPr>
                        <a:t>Bug</a:t>
                      </a:r>
                      <a:r>
                        <a:rPr lang="zh-CN" altLang="en-US" sz="160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架构</a:t>
                      </a:r>
                      <a:r>
                        <a:rPr lang="en-US" altLang="zh-CN" sz="1600">
                          <a:solidFill>
                            <a:schemeClr val="bg1"/>
                          </a:solidFill>
                        </a:rPr>
                        <a:t>/</a:t>
                      </a:r>
                      <a:r>
                        <a:rPr lang="zh-CN" altLang="en-US" sz="1600">
                          <a:solidFill>
                            <a:schemeClr val="bg1"/>
                          </a:solidFill>
                        </a:rPr>
                        <a:t>界面</a:t>
                      </a:r>
                      <a:r>
                        <a:rPr lang="en-US" altLang="zh-CN" sz="1600">
                          <a:solidFill>
                            <a:schemeClr val="bg1"/>
                          </a:solidFill>
                        </a:rPr>
                        <a:t>/</a:t>
                      </a:r>
                      <a:r>
                        <a:rPr lang="zh-CN" altLang="en-US" sz="160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核心价值创造环节，通常 </a:t>
                      </a:r>
                      <a:r>
                        <a:rPr lang="en-US" altLang="zh-CN" sz="1600">
                          <a:solidFill>
                            <a:schemeClr val="bg1"/>
                          </a:solidFill>
                        </a:rPr>
                        <a:t>WIP </a:t>
                      </a:r>
                      <a:r>
                        <a:rPr lang="zh-CN" altLang="en-US" sz="160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a:solidFill>
                            <a:schemeClr val="bg1"/>
                          </a:solidFill>
                        </a:rPr>
                        <a:t>QA </a:t>
                      </a:r>
                      <a:r>
                        <a:rPr lang="zh-CN" altLang="en-US" sz="160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用户</a:t>
                      </a:r>
                      <a:r>
                        <a:rPr lang="en-US" altLang="zh-CN" sz="1600">
                          <a:solidFill>
                            <a:schemeClr val="bg1"/>
                          </a:solidFill>
                        </a:rPr>
                        <a:t>/</a:t>
                      </a:r>
                      <a:r>
                        <a:rPr lang="en-US" sz="1600">
                          <a:solidFill>
                            <a:schemeClr val="bg1"/>
                          </a:solidFill>
                        </a:rPr>
                        <a:t>PO </a:t>
                      </a:r>
                      <a:r>
                        <a:rPr lang="zh-CN" altLang="en-US" sz="160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自动或手动部署到预发</a:t>
                      </a:r>
                      <a:r>
                        <a:rPr lang="en-US" altLang="zh-CN" sz="1600">
                          <a:solidFill>
                            <a:schemeClr val="bg1"/>
                          </a:solidFill>
                        </a:rPr>
                        <a:t>/</a:t>
                      </a:r>
                      <a:r>
                        <a:rPr lang="zh-CN" altLang="en-US" sz="160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价值交付终点，也是 </a:t>
                      </a:r>
                      <a:r>
                        <a:rPr lang="en-US" altLang="zh-CN" sz="1600">
                          <a:solidFill>
                            <a:schemeClr val="bg1"/>
                          </a:solidFill>
                        </a:rPr>
                        <a:t>Outcome </a:t>
                      </a:r>
                      <a:r>
                        <a:rPr lang="zh-CN" altLang="en-US" sz="160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a:t>
            </a:r>
            <a:r>
              <a:rPr lang="zh-CN" altLang="en-US">
                <a:solidFill>
                  <a:srgbClr val="FFFF00"/>
                </a:solidFill>
              </a:rPr>
              <a:t>有益</a:t>
            </a:r>
            <a:r>
              <a:rPr lang="zh-CN" altLang="en-US"/>
              <a:t>的做法，都做到</a:t>
            </a:r>
            <a:r>
              <a:rPr lang="zh-CN" altLang="en-US">
                <a:solidFill>
                  <a:srgbClr val="FFFF00"/>
                </a:solidFill>
              </a:rPr>
              <a:t>极致</a:t>
            </a:r>
            <a:endParaRPr lang="en-US" altLang="zh-CN">
              <a:solidFill>
                <a:srgbClr val="FFFF00"/>
              </a:solidFill>
            </a:endParaRPr>
          </a:p>
          <a:p>
            <a:r>
              <a:rPr lang="zh-CN" altLang="en-US"/>
              <a:t>适用场景：需求不明确、变化极快、风险高、对</a:t>
            </a:r>
            <a:r>
              <a:rPr lang="zh-CN" altLang="en-US">
                <a:solidFill>
                  <a:srgbClr val="FFFF00"/>
                </a:solidFill>
              </a:rPr>
              <a:t>代码质量</a:t>
            </a:r>
            <a:r>
              <a:rPr lang="zh-CN" altLang="en-US"/>
              <a:t>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solidFill>
                  <a:srgbClr val="FFFF00"/>
                </a:solidFill>
              </a:rPr>
              <a:t>特性</a:t>
            </a:r>
            <a:r>
              <a:rPr lang="zh-CN" altLang="en-US"/>
              <a:t>不是模糊的需求，而是一个小的、客户可见的、有价值的功能单元</a:t>
            </a:r>
            <a:endParaRPr lang="en-US" altLang="zh-CN"/>
          </a:p>
          <a:p>
            <a:r>
              <a:rPr lang="zh-CN" altLang="en-US"/>
              <a:t>不是“模块”，不是任务，更不是技术实现，而是</a:t>
            </a:r>
            <a:r>
              <a:rPr lang="zh-CN" altLang="en-US" b="1"/>
              <a:t>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编写登录界面的 </a:t>
                      </a:r>
                      <a:r>
                        <a:rPr lang="en-US" altLang="zh-CN" sz="160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用户输入的密码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锁定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账户在 </a:t>
                      </a:r>
                      <a:r>
                        <a:rPr lang="en-US" altLang="zh-CN" sz="1600">
                          <a:solidFill>
                            <a:schemeClr val="bg1"/>
                          </a:solidFill>
                        </a:rPr>
                        <a:t>(</a:t>
                      </a:r>
                      <a:r>
                        <a:rPr lang="zh-CN" altLang="en-US" sz="1600">
                          <a:solidFill>
                            <a:schemeClr val="bg1"/>
                          </a:solidFill>
                        </a:rPr>
                        <a:t>结果</a:t>
                      </a:r>
                      <a:r>
                        <a:rPr lang="en-US" altLang="zh-CN" sz="1600">
                          <a:solidFill>
                            <a:schemeClr val="bg1"/>
                          </a:solidFill>
                        </a:rPr>
                        <a:t>) 5 </a:t>
                      </a:r>
                      <a:r>
                        <a:rPr lang="zh-CN" altLang="en-US" sz="1600">
                          <a:solidFill>
                            <a:schemeClr val="bg1"/>
                          </a:solidFill>
                        </a:rPr>
                        <a:t>次失败尝试后 </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r>
                        <a:rPr lang="zh-CN" altLang="en-US" sz="1600">
                          <a:solidFill>
                            <a:schemeClr val="bg1"/>
                          </a:solidFill>
                        </a:rPr>
                        <a:t>条件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生成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临时登录会话令牌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关键性 </a:t>
                      </a:r>
                      <a:r>
                        <a:rPr lang="en-US" sz="160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a:solidFill>
                            <a:schemeClr val="bg1"/>
                          </a:solidFill>
                        </a:rPr>
                        <a:t>Crystal Clear</a:t>
                      </a:r>
                      <a:br>
                        <a:rPr lang="en-US" sz="1600">
                          <a:solidFill>
                            <a:schemeClr val="bg1"/>
                          </a:solidFill>
                        </a:rPr>
                      </a:br>
                      <a:r>
                        <a:rPr lang="zh-CN" altLang="en-US" sz="1600">
                          <a:solidFill>
                            <a:schemeClr val="bg1"/>
                          </a:solidFill>
                        </a:rPr>
                        <a:t>透明水晶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 8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舒适型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最轻量级。几乎不需要文档，靠面对面沟通</a:t>
                      </a:r>
                      <a:endParaRPr lang="en-US" altLang="zh-CN" sz="1600">
                        <a:solidFill>
                          <a:schemeClr val="bg1"/>
                        </a:solidFill>
                      </a:endParaRPr>
                    </a:p>
                    <a:p>
                      <a:pPr algn="l">
                        <a:buNone/>
                      </a:pPr>
                      <a:r>
                        <a:rPr lang="zh-CN" altLang="en-US" sz="160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a:solidFill>
                            <a:schemeClr val="bg1"/>
                          </a:solidFill>
                        </a:rPr>
                        <a:t>Crystal Yellow</a:t>
                      </a:r>
                      <a:br>
                        <a:rPr lang="en-US" sz="1600">
                          <a:solidFill>
                            <a:schemeClr val="bg1"/>
                          </a:solidFill>
                        </a:rPr>
                      </a:br>
                      <a:r>
                        <a:rPr lang="zh-CN" altLang="en-US" sz="1600">
                          <a:solidFill>
                            <a:schemeClr val="bg1"/>
                          </a:solidFill>
                        </a:rPr>
                        <a:t>黄水晶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10 ~ 20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 </a:t>
                      </a:r>
                      <a:r>
                        <a:rPr lang="en-US" altLang="zh-CN" sz="1600">
                          <a:solidFill>
                            <a:schemeClr val="bg1"/>
                          </a:solidFill>
                        </a:rPr>
                        <a:t>(</a:t>
                      </a:r>
                      <a:r>
                        <a:rPr lang="zh-CN" altLang="en-US" sz="1600">
                          <a:solidFill>
                            <a:schemeClr val="bg1"/>
                          </a:solidFill>
                        </a:rPr>
                        <a:t>重要型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需要少量的文档和定期的里程碑检查</a:t>
                      </a:r>
                      <a:endParaRPr lang="en-US" altLang="zh-CN" sz="1600">
                        <a:solidFill>
                          <a:schemeClr val="bg1"/>
                        </a:solidFill>
                      </a:endParaRPr>
                    </a:p>
                    <a:p>
                      <a:pPr algn="l">
                        <a:buNone/>
                      </a:pPr>
                      <a:r>
                        <a:rPr lang="zh-CN" altLang="en-US" sz="160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a:solidFill>
                            <a:schemeClr val="bg1"/>
                          </a:solidFill>
                        </a:rPr>
                        <a:t>Crystal Orange</a:t>
                      </a:r>
                      <a:br>
                        <a:rPr lang="en-US" sz="1600">
                          <a:solidFill>
                            <a:schemeClr val="bg1"/>
                          </a:solidFill>
                        </a:rPr>
                      </a:br>
                      <a:r>
                        <a:rPr lang="zh-CN" altLang="en-US" sz="1600">
                          <a:solidFill>
                            <a:schemeClr val="bg1"/>
                          </a:solidFill>
                        </a:rPr>
                        <a:t>橙水晶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20 ~ 50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 </a:t>
                      </a:r>
                      <a:r>
                        <a:rPr lang="en-US" altLang="zh-CN" sz="1600">
                          <a:solidFill>
                            <a:schemeClr val="bg1"/>
                          </a:solidFill>
                        </a:rPr>
                        <a:t>(</a:t>
                      </a:r>
                      <a:r>
                        <a:rPr lang="zh-CN" altLang="en-US" sz="1600">
                          <a:solidFill>
                            <a:schemeClr val="bg1"/>
                          </a:solidFill>
                        </a:rPr>
                        <a:t>关键型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需要更正式的架构设计、详细的文档和严格的测试</a:t>
                      </a:r>
                      <a:endParaRPr lang="en-US" altLang="zh-CN" sz="1600">
                        <a:solidFill>
                          <a:schemeClr val="bg1"/>
                        </a:solidFill>
                      </a:endParaRPr>
                    </a:p>
                    <a:p>
                      <a:pPr algn="l">
                        <a:buNone/>
                      </a:pPr>
                      <a:r>
                        <a:rPr lang="zh-CN" altLang="en-US" sz="160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a:solidFill>
                            <a:schemeClr val="bg1"/>
                          </a:solidFill>
                        </a:rPr>
                        <a:t>Crystal Red</a:t>
                      </a:r>
                      <a:br>
                        <a:rPr lang="en-US" sz="1600">
                          <a:solidFill>
                            <a:schemeClr val="bg1"/>
                          </a:solidFill>
                        </a:rPr>
                      </a:br>
                      <a:r>
                        <a:rPr lang="zh-CN" altLang="en-US" sz="1600">
                          <a:solidFill>
                            <a:schemeClr val="bg1"/>
                          </a:solidFill>
                        </a:rPr>
                        <a:t>红水晶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50 ~ 100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生命攸关</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非常严格，接近传统瀑布模型的严谨性，但保留敏捷迭代</a:t>
                      </a:r>
                      <a:endParaRPr lang="en-US" altLang="zh-CN" sz="1600">
                        <a:solidFill>
                          <a:schemeClr val="bg1"/>
                        </a:solidFill>
                      </a:endParaRPr>
                    </a:p>
                    <a:p>
                      <a:pPr algn="l">
                        <a:buNone/>
                      </a:pPr>
                      <a:r>
                        <a:rPr lang="zh-CN" altLang="en-US" sz="160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还有 </a:t>
                      </a:r>
                      <a:r>
                        <a:rPr lang="en-US" altLang="zh-CN" sz="1600">
                          <a:solidFill>
                            <a:schemeClr val="bg1"/>
                          </a:solidFill>
                        </a:rPr>
                        <a:t>Diamond (</a:t>
                      </a:r>
                      <a:r>
                        <a:rPr lang="zh-CN" altLang="en-US" sz="1600">
                          <a:solidFill>
                            <a:schemeClr val="bg1"/>
                          </a:solidFill>
                        </a:rPr>
                        <a:t>钻石</a:t>
                      </a:r>
                      <a:r>
                        <a:rPr lang="en-US" altLang="zh-CN" sz="1600">
                          <a:solidFill>
                            <a:schemeClr val="bg1"/>
                          </a:solidFill>
                        </a:rPr>
                        <a:t>) </a:t>
                      </a:r>
                      <a:r>
                        <a:rPr lang="zh-CN" altLang="en-US" sz="1600">
                          <a:solidFill>
                            <a:schemeClr val="bg1"/>
                          </a:solidFill>
                        </a:rPr>
                        <a:t>等更重的变体</a:t>
                      </a:r>
                      <a:endParaRPr lang="en-US" altLang="zh-CN" sz="1600">
                        <a:solidFill>
                          <a:schemeClr val="bg1"/>
                        </a:solidFill>
                      </a:endParaRPr>
                    </a:p>
                    <a:p>
                      <a:pPr algn="l">
                        <a:buNone/>
                      </a:pPr>
                      <a:r>
                        <a:rPr lang="zh-CN" altLang="en-US" sz="160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XP</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Crystal</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流程框架 </a:t>
                      </a:r>
                      <a:r>
                        <a:rPr lang="en-US" altLang="zh-CN" sz="1600">
                          <a:solidFill>
                            <a:schemeClr val="bg1"/>
                          </a:solidFill>
                        </a:rPr>
                        <a:t>(</a:t>
                      </a:r>
                      <a:r>
                        <a:rPr lang="zh-CN" altLang="en-US" sz="1600">
                          <a:solidFill>
                            <a:schemeClr val="bg1"/>
                          </a:solidFill>
                        </a:rPr>
                        <a:t>角色、会议、工件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工程实践 </a:t>
                      </a:r>
                      <a:r>
                        <a:rPr lang="en-US" altLang="zh-CN" sz="1600">
                          <a:solidFill>
                            <a:schemeClr val="bg1"/>
                          </a:solidFill>
                        </a:rPr>
                        <a:t>(</a:t>
                      </a:r>
                      <a:r>
                        <a:rPr lang="zh-CN" altLang="en-US" sz="1600">
                          <a:solidFill>
                            <a:schemeClr val="bg1"/>
                          </a:solidFill>
                        </a:rPr>
                        <a:t>结对编程、</a:t>
                      </a:r>
                      <a:r>
                        <a:rPr lang="en-US" altLang="zh-CN" sz="1600">
                          <a:solidFill>
                            <a:schemeClr val="bg1"/>
                          </a:solidFill>
                        </a:rPr>
                        <a:t>TDD</a:t>
                      </a:r>
                      <a:r>
                        <a:rPr lang="zh-CN" altLang="en-US" sz="1600">
                          <a:solidFill>
                            <a:schemeClr val="bg1"/>
                          </a:solidFill>
                        </a:rPr>
                        <a:t>、重构</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 </a:t>
                      </a:r>
                      <a:r>
                        <a:rPr lang="en-US" altLang="zh-CN" sz="1600">
                          <a:solidFill>
                            <a:schemeClr val="bg1"/>
                          </a:solidFill>
                        </a:rPr>
                        <a:t>(</a:t>
                      </a:r>
                      <a:r>
                        <a:rPr lang="zh-CN" altLang="en-US" sz="1600">
                          <a:solidFill>
                            <a:schemeClr val="bg1"/>
                          </a:solidFill>
                        </a:rPr>
                        <a:t>根据情境调整</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中等 </a:t>
                      </a:r>
                      <a:r>
                        <a:rPr lang="en-US" altLang="zh-CN" sz="1600">
                          <a:solidFill>
                            <a:schemeClr val="bg1"/>
                          </a:solidFill>
                        </a:rPr>
                        <a:t>(</a:t>
                      </a:r>
                      <a:r>
                        <a:rPr lang="zh-CN" altLang="en-US" sz="1600">
                          <a:solidFill>
                            <a:schemeClr val="bg1"/>
                          </a:solidFill>
                        </a:rPr>
                        <a:t>规则相对固定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必须遵守严格的技术实践</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没有固定规则，按需定制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适中 </a:t>
                      </a:r>
                      <a:r>
                        <a:rPr lang="en-US" altLang="zh-CN" sz="1600">
                          <a:solidFill>
                            <a:schemeClr val="bg1"/>
                          </a:solidFill>
                        </a:rPr>
                        <a:t>(</a:t>
                      </a:r>
                      <a:r>
                        <a:rPr lang="en-US" sz="160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代码即文档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动态调整 </a:t>
                      </a:r>
                      <a:r>
                        <a:rPr lang="en-US" altLang="zh-CN" sz="1600">
                          <a:solidFill>
                            <a:schemeClr val="bg1"/>
                          </a:solidFill>
                        </a:rPr>
                        <a:t>(Clear </a:t>
                      </a:r>
                      <a:r>
                        <a:rPr lang="zh-CN" altLang="en-US" sz="1600">
                          <a:solidFill>
                            <a:schemeClr val="bg1"/>
                          </a:solidFill>
                        </a:rPr>
                        <a:t>几乎无文档，</a:t>
                      </a:r>
                      <a:r>
                        <a:rPr lang="en-US" altLang="zh-CN" sz="1600">
                          <a:solidFill>
                            <a:schemeClr val="bg1"/>
                          </a:solidFill>
                        </a:rPr>
                        <a:t>Red </a:t>
                      </a:r>
                      <a:r>
                        <a:rPr lang="zh-CN" altLang="en-US" sz="1600">
                          <a:solidFill>
                            <a:schemeClr val="bg1"/>
                          </a:solidFill>
                        </a:rPr>
                        <a:t>大量文档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a:hlinkClick r:id="rId3"/>
              </a:rPr>
              <a:t>https://scrumguides.org</a:t>
            </a:r>
            <a:r>
              <a:rPr lang="en-US" altLang="zh-CN"/>
              <a:t> </a:t>
            </a:r>
          </a:p>
          <a:p>
            <a:r>
              <a:rPr lang="en-US" altLang="zh-CN"/>
              <a:t>Scrum is a lightweight </a:t>
            </a:r>
            <a:r>
              <a:rPr lang="en-US" altLang="zh-CN" b="1">
                <a:solidFill>
                  <a:srgbClr val="FFFF00"/>
                </a:solidFill>
              </a:rPr>
              <a:t>framework</a:t>
            </a:r>
            <a:r>
              <a:rPr lang="en-US" altLang="zh-CN"/>
              <a:t> that helps people, teams and organizations generate value through adaptive solutions for complex problems. </a:t>
            </a:r>
            <a:endParaRPr lang="zh-CN" altLang="en-US"/>
          </a:p>
          <a:p>
            <a:endParaRPr lang="en-US" altLang="zh-CN"/>
          </a:p>
          <a:p>
            <a:r>
              <a:rPr lang="en-US" altLang="zh-CN"/>
              <a:t>Changing the core design or ideas of Scrum</a:t>
            </a:r>
          </a:p>
          <a:p>
            <a:r>
              <a:rPr lang="en-US" altLang="zh-CN"/>
              <a:t>leaving out elements</a:t>
            </a:r>
          </a:p>
          <a:p>
            <a:r>
              <a:rPr lang="en-US" altLang="zh-CN"/>
              <a:t>not following the rules of Scrum</a:t>
            </a:r>
          </a:p>
          <a:p>
            <a:endParaRPr lang="en-US" altLang="zh-CN"/>
          </a:p>
          <a:p>
            <a:r>
              <a:rPr lang="en-US" altLang="zh-CN"/>
              <a:t>covers up problems and limits the benefits of Scrum</a:t>
            </a:r>
          </a:p>
          <a:p>
            <a:r>
              <a:rPr lang="en-US" altLang="zh-CN"/>
              <a:t>potentially even rendering it useless.</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a:t>透明性 </a:t>
            </a:r>
            <a:r>
              <a:rPr lang="en-US" altLang="zh-CN"/>
              <a:t>Transparency</a:t>
            </a:r>
          </a:p>
          <a:p>
            <a:pPr lvl="1"/>
            <a:r>
              <a:rPr lang="en-US" altLang="zh-CN"/>
              <a:t>must be </a:t>
            </a:r>
            <a:r>
              <a:rPr lang="en-US" altLang="zh-CN" b="1">
                <a:solidFill>
                  <a:srgbClr val="FFFF00"/>
                </a:solidFill>
              </a:rPr>
              <a:t>visible</a:t>
            </a:r>
            <a:r>
              <a:rPr lang="en-US" altLang="zh-CN"/>
              <a:t> to those performing the work as well as those receiving the work</a:t>
            </a:r>
          </a:p>
          <a:p>
            <a:pPr lvl="1"/>
            <a:r>
              <a:rPr lang="en-US" altLang="zh-CN"/>
              <a:t>low transparency can lead to decisions that diminish value and increase risk</a:t>
            </a:r>
          </a:p>
          <a:p>
            <a:pPr lvl="1"/>
            <a:r>
              <a:rPr lang="en-US" altLang="zh-CN"/>
              <a:t>Inspection without transparency is misleading and wasteful.</a:t>
            </a:r>
          </a:p>
          <a:p>
            <a:r>
              <a:rPr lang="zh-CN" altLang="en-US"/>
              <a:t>检视 </a:t>
            </a:r>
            <a:r>
              <a:rPr lang="en-US" altLang="zh-CN"/>
              <a:t>Inspection</a:t>
            </a:r>
          </a:p>
          <a:p>
            <a:pPr lvl="1"/>
            <a:r>
              <a:rPr lang="en-US" altLang="zh-CN"/>
              <a:t>must be inspected </a:t>
            </a:r>
            <a:r>
              <a:rPr lang="en-US" altLang="zh-CN" b="1">
                <a:solidFill>
                  <a:srgbClr val="FFFF00"/>
                </a:solidFill>
              </a:rPr>
              <a:t>frequently</a:t>
            </a:r>
            <a:r>
              <a:rPr lang="en-US" altLang="zh-CN"/>
              <a:t> and </a:t>
            </a:r>
            <a:r>
              <a:rPr lang="en-US" altLang="zh-CN" b="1">
                <a:solidFill>
                  <a:srgbClr val="FFFF00"/>
                </a:solidFill>
              </a:rPr>
              <a:t>diligently</a:t>
            </a:r>
            <a:r>
              <a:rPr lang="en-US" altLang="zh-CN"/>
              <a:t> to detect potentially undesirable variances or problems</a:t>
            </a:r>
          </a:p>
          <a:p>
            <a:r>
              <a:rPr lang="zh-CN" altLang="en-US"/>
              <a:t>适应 </a:t>
            </a:r>
            <a:r>
              <a:rPr lang="en-US" altLang="zh-CN"/>
              <a:t>Adaptation</a:t>
            </a:r>
          </a:p>
          <a:p>
            <a:pPr lvl="1"/>
            <a:r>
              <a:rPr lang="en-US" altLang="zh-CN"/>
              <a:t>Case1</a:t>
            </a:r>
            <a:r>
              <a:rPr lang="zh-CN" altLang="en-US"/>
              <a:t>：</a:t>
            </a:r>
            <a:r>
              <a:rPr lang="en-US" altLang="zh-CN"/>
              <a:t>any aspects of a process </a:t>
            </a:r>
            <a:r>
              <a:rPr lang="en-US" altLang="zh-CN" b="1">
                <a:solidFill>
                  <a:srgbClr val="FFFF00"/>
                </a:solidFill>
              </a:rPr>
              <a:t>deviate</a:t>
            </a:r>
            <a:r>
              <a:rPr lang="en-US" altLang="zh-CN"/>
              <a:t> outside acceptable limits</a:t>
            </a:r>
          </a:p>
          <a:p>
            <a:pPr lvl="1"/>
            <a:r>
              <a:rPr lang="en-US" altLang="zh-CN"/>
              <a:t>Case2</a:t>
            </a:r>
            <a:r>
              <a:rPr lang="zh-CN" altLang="en-US"/>
              <a:t>：</a:t>
            </a:r>
            <a:r>
              <a:rPr lang="en-US" altLang="zh-CN"/>
              <a:t>the resulting product is </a:t>
            </a:r>
            <a:r>
              <a:rPr lang="en-US" altLang="zh-CN" b="1">
                <a:solidFill>
                  <a:srgbClr val="FFFF00"/>
                </a:solidFill>
              </a:rPr>
              <a:t>unacceptable</a:t>
            </a:r>
          </a:p>
          <a:p>
            <a:pPr lvl="1"/>
            <a:r>
              <a:rPr lang="en-US" altLang="zh-CN"/>
              <a:t>Case3</a:t>
            </a:r>
            <a:r>
              <a:rPr lang="zh-CN" altLang="en-US"/>
              <a:t>：</a:t>
            </a:r>
            <a:r>
              <a:rPr lang="en-US" altLang="zh-CN"/>
              <a:t>expected to adapt </a:t>
            </a:r>
            <a:r>
              <a:rPr lang="en-US" altLang="zh-CN" b="1">
                <a:solidFill>
                  <a:srgbClr val="FFFF00"/>
                </a:solidFill>
              </a:rPr>
              <a:t>the</a:t>
            </a:r>
            <a:r>
              <a:rPr lang="en-US" altLang="zh-CN"/>
              <a:t> </a:t>
            </a:r>
            <a:r>
              <a:rPr lang="en-US" altLang="zh-CN" b="1">
                <a:solidFill>
                  <a:srgbClr val="FFFF00"/>
                </a:solidFill>
              </a:rPr>
              <a:t>moment</a:t>
            </a:r>
            <a:r>
              <a:rPr lang="en-US" altLang="zh-CN"/>
              <a:t> it learns anything new through inspection</a:t>
            </a:r>
            <a:endParaRPr lang="en-US" altLang="zh-CN" b="1">
              <a:solidFill>
                <a:srgbClr val="FF0000"/>
              </a:solidFill>
            </a:endParaRPr>
          </a:p>
          <a:p>
            <a:pPr lvl="1"/>
            <a:r>
              <a:rPr lang="en-US" altLang="zh-CN"/>
              <a:t>becomes more difficult when the people involved are </a:t>
            </a:r>
            <a:r>
              <a:rPr lang="en-US" altLang="zh-CN" b="1">
                <a:solidFill>
                  <a:srgbClr val="FFFF00"/>
                </a:solidFill>
              </a:rPr>
              <a:t>not</a:t>
            </a:r>
            <a:r>
              <a:rPr lang="en-US" altLang="zh-CN"/>
              <a:t> empowered or self-managing</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2E77BAD5-2ACC-BBCD-26C2-F4A0C2BDE9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a:solidFill>
                    <a:schemeClr val="bg1"/>
                  </a:solidFill>
                </a:rPr>
                <a:t>工作项（如 </a:t>
              </a:r>
              <a:r>
                <a:rPr lang="en-US" altLang="zh-CN" sz="1600">
                  <a:solidFill>
                    <a:schemeClr val="bg1"/>
                  </a:solidFill>
                </a:rPr>
                <a:t>Product Backlog</a:t>
              </a:r>
              <a:r>
                <a:rPr lang="zh-CN" altLang="en-US" sz="1600">
                  <a:solidFill>
                    <a:schemeClr val="bg1"/>
                  </a:solidFill>
                </a:rPr>
                <a:t>）的内容、状态和优先级必须公开</a:t>
              </a:r>
            </a:p>
            <a:p>
              <a:pPr marL="285750" indent="-285750" algn="just">
                <a:buFont typeface="Arial" panose="020B0604020202020204" pitchFamily="34" charset="0"/>
                <a:buChar char="•"/>
              </a:pPr>
              <a:r>
                <a:rPr lang="zh-CN" altLang="en-US" sz="1600">
                  <a:solidFill>
                    <a:schemeClr val="bg1"/>
                  </a:solidFill>
                </a:rPr>
                <a:t>团队使用统一的术语（如完成定义 </a:t>
              </a:r>
              <a:r>
                <a:rPr lang="en-US" altLang="zh-CN" sz="1600">
                  <a:solidFill>
                    <a:schemeClr val="bg1"/>
                  </a:solidFill>
                </a:rPr>
                <a:t>- Definition of Done</a:t>
              </a:r>
              <a:r>
                <a:rPr lang="zh-CN" altLang="en-US" sz="1600">
                  <a:solidFill>
                    <a:schemeClr val="bg1"/>
                  </a:solidFill>
                </a:rPr>
                <a:t>）</a:t>
              </a:r>
            </a:p>
            <a:p>
              <a:pPr marL="285750" indent="-285750" algn="just">
                <a:buFont typeface="Arial" panose="020B0604020202020204" pitchFamily="34" charset="0"/>
                <a:buChar char="•"/>
              </a:pPr>
              <a:r>
                <a:rPr lang="zh-CN" altLang="en-US" sz="1600">
                  <a:solidFill>
                    <a:schemeClr val="bg1"/>
                  </a:solidFill>
                </a:rPr>
                <a:t>进度通过可视化工具（如 </a:t>
              </a:r>
              <a:r>
                <a:rPr lang="en-US" altLang="zh-CN" sz="1600">
                  <a:solidFill>
                    <a:schemeClr val="bg1"/>
                  </a:solidFill>
                </a:rPr>
                <a:t>Sprint Burndown Chart</a:t>
              </a:r>
              <a:r>
                <a:rPr lang="zh-CN" altLang="en-US" sz="1600">
                  <a:solidFill>
                    <a:schemeClr val="bg1"/>
                  </a:solidFill>
                </a:rPr>
                <a:t>、看板）展示</a:t>
              </a:r>
            </a:p>
            <a:p>
              <a:pPr marL="285750" indent="-285750" algn="just">
                <a:buFont typeface="Arial" panose="020B0604020202020204" pitchFamily="34" charset="0"/>
                <a:buChar char="•"/>
              </a:pPr>
              <a:r>
                <a:rPr lang="zh-CN" altLang="en-US" sz="160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a:solidFill>
                    <a:schemeClr val="bg1"/>
                  </a:solidFill>
                </a:rPr>
                <a:t>如果发现产品方向偏离，可在下个 </a:t>
              </a:r>
              <a:r>
                <a:rPr lang="en-US" altLang="zh-CN" sz="1600">
                  <a:solidFill>
                    <a:schemeClr val="bg1"/>
                  </a:solidFill>
                </a:rPr>
                <a:t>Sprint </a:t>
              </a:r>
              <a:r>
                <a:rPr lang="zh-CN" altLang="en-US" sz="1600">
                  <a:solidFill>
                    <a:schemeClr val="bg1"/>
                  </a:solidFill>
                </a:rPr>
                <a:t>调整 </a:t>
              </a:r>
              <a:r>
                <a:rPr lang="en-US" altLang="zh-CN" sz="1600">
                  <a:solidFill>
                    <a:schemeClr val="bg1"/>
                  </a:solidFill>
                </a:rPr>
                <a:t>Backlog</a:t>
              </a:r>
              <a:endParaRPr lang="zh-CN" altLang="en-US" sz="1600">
                <a:solidFill>
                  <a:schemeClr val="bg1"/>
                </a:solidFill>
              </a:endParaRPr>
            </a:p>
            <a:p>
              <a:pPr marL="285750" indent="-285750" algn="just">
                <a:buFont typeface="Arial" panose="020B0604020202020204" pitchFamily="34" charset="0"/>
                <a:buChar char="•"/>
              </a:pPr>
              <a:r>
                <a:rPr lang="zh-CN" altLang="en-US" sz="1600">
                  <a:solidFill>
                    <a:schemeClr val="bg1"/>
                  </a:solidFill>
                </a:rPr>
                <a:t>如果流程效率低，可在 </a:t>
              </a:r>
              <a:r>
                <a:rPr lang="en-US" altLang="zh-CN" sz="1600">
                  <a:solidFill>
                    <a:schemeClr val="bg1"/>
                  </a:solidFill>
                </a:rPr>
                <a:t>Retrospective </a:t>
              </a:r>
              <a:r>
                <a:rPr lang="zh-CN" altLang="en-US" sz="1600">
                  <a:solidFill>
                    <a:schemeClr val="bg1"/>
                  </a:solidFill>
                </a:rPr>
                <a:t>后改进工作方式</a:t>
              </a:r>
            </a:p>
            <a:p>
              <a:pPr marL="285750" indent="-285750" algn="just">
                <a:buFont typeface="Arial" panose="020B0604020202020204" pitchFamily="34" charset="0"/>
                <a:buChar char="•"/>
              </a:pPr>
              <a:r>
                <a:rPr lang="zh-CN" altLang="en-US" sz="1600">
                  <a:solidFill>
                    <a:schemeClr val="bg1"/>
                  </a:solidFill>
                </a:rPr>
                <a:t>适应必须在可接受的时间窗口内发生（通常在下一个 </a:t>
              </a:r>
              <a:r>
                <a:rPr lang="en-US" altLang="zh-CN" sz="1600">
                  <a:solidFill>
                    <a:schemeClr val="bg1"/>
                  </a:solidFill>
                </a:rPr>
                <a:t>Sprint </a:t>
              </a:r>
              <a:r>
                <a:rPr lang="zh-CN" altLang="en-US" sz="1600">
                  <a:solidFill>
                    <a:schemeClr val="bg1"/>
                  </a:solidFill>
                </a:rPr>
                <a:t>开始前）</a:t>
              </a:r>
            </a:p>
            <a:p>
              <a:pPr marL="285750" indent="-285750" algn="just">
                <a:buFont typeface="Arial" panose="020B0604020202020204" pitchFamily="34" charset="0"/>
                <a:buChar char="•"/>
              </a:pPr>
              <a:r>
                <a:rPr lang="zh-CN" altLang="en-US" sz="160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solidFill>
                    <a:schemeClr val="bg1"/>
                  </a:solidFill>
                </a:rPr>
                <a:t>Scrum </a:t>
              </a:r>
              <a:r>
                <a:rPr lang="zh-CN" altLang="en-US" sz="160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a:solidFill>
                    <a:schemeClr val="bg1"/>
                  </a:solidFill>
                </a:rPr>
                <a:t>在固定时间点进行：</a:t>
              </a:r>
            </a:p>
            <a:p>
              <a:pPr marL="285750" indent="-285750" algn="just">
                <a:buFont typeface="Arial" panose="020B0604020202020204" pitchFamily="34" charset="0"/>
                <a:buChar char="•"/>
              </a:pPr>
              <a:r>
                <a:rPr lang="en-US" altLang="zh-CN" sz="1600">
                  <a:solidFill>
                    <a:schemeClr val="bg1"/>
                  </a:solidFill>
                </a:rPr>
                <a:t>Daily Scrum</a:t>
              </a:r>
              <a:r>
                <a:rPr lang="zh-CN" altLang="en-US" sz="1600">
                  <a:solidFill>
                    <a:schemeClr val="bg1"/>
                  </a:solidFill>
                </a:rPr>
                <a:t>：每日检视进度与障碍</a:t>
              </a:r>
            </a:p>
            <a:p>
              <a:pPr marL="285750" indent="-285750" algn="just">
                <a:buFont typeface="Arial" panose="020B0604020202020204" pitchFamily="34" charset="0"/>
                <a:buChar char="•"/>
              </a:pPr>
              <a:r>
                <a:rPr lang="en-US" altLang="zh-CN" sz="1600">
                  <a:solidFill>
                    <a:schemeClr val="bg1"/>
                  </a:solidFill>
                </a:rPr>
                <a:t>Sprint Review</a:t>
              </a:r>
              <a:r>
                <a:rPr lang="zh-CN" altLang="en-US" sz="1600">
                  <a:solidFill>
                    <a:schemeClr val="bg1"/>
                  </a:solidFill>
                </a:rPr>
                <a:t>：检视可交付成果是否满足目标</a:t>
              </a:r>
            </a:p>
            <a:p>
              <a:pPr marL="285750" indent="-285750" algn="just">
                <a:buFont typeface="Arial" panose="020B0604020202020204" pitchFamily="34" charset="0"/>
                <a:buChar char="•"/>
              </a:pPr>
              <a:r>
                <a:rPr lang="en-US" altLang="zh-CN" sz="1600">
                  <a:solidFill>
                    <a:schemeClr val="bg1"/>
                  </a:solidFill>
                </a:rPr>
                <a:t>Sprint Retrospective</a:t>
              </a:r>
              <a:r>
                <a:rPr lang="zh-CN" altLang="en-US" sz="1600">
                  <a:solidFill>
                    <a:schemeClr val="bg1"/>
                  </a:solidFill>
                </a:rPr>
                <a:t>：检视流程与协作方式</a:t>
              </a:r>
            </a:p>
            <a:p>
              <a:pPr marL="285750" indent="-285750" algn="just">
                <a:buFont typeface="Arial" panose="020B0604020202020204" pitchFamily="34" charset="0"/>
                <a:buChar char="•"/>
              </a:pPr>
              <a:r>
                <a:rPr lang="zh-CN" altLang="en-US" sz="160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D6091357-22F9-23F7-606C-EACB3E9516F7}"/>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Items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价值观 </a:t>
                      </a:r>
                      <a:r>
                        <a:rPr lang="en-US" altLang="zh-CN" sz="1600">
                          <a:solidFill>
                            <a:schemeClr val="bg1"/>
                          </a:solidFill>
                        </a:rPr>
                        <a:t>Values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承诺 </a:t>
                      </a:r>
                      <a:r>
                        <a:rPr lang="en-US" altLang="zh-CN" sz="160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专注 </a:t>
                      </a:r>
                      <a:r>
                        <a:rPr lang="en-US" altLang="zh-CN" sz="160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开放</a:t>
                      </a:r>
                      <a:r>
                        <a:rPr lang="en-US" altLang="zh-CN" sz="160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尊重</a:t>
                      </a:r>
                      <a:r>
                        <a:rPr lang="en-US" altLang="zh-CN" sz="160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勇气</a:t>
                      </a:r>
                      <a:r>
                        <a:rPr lang="en-US" altLang="zh-CN" sz="1600">
                          <a:solidFill>
                            <a:schemeClr val="bg1"/>
                          </a:solidFill>
                        </a:rPr>
                        <a:t> Courage</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团队 </a:t>
                      </a:r>
                      <a:r>
                        <a:rPr lang="en-US" altLang="zh-CN" sz="1600">
                          <a:solidFill>
                            <a:schemeClr val="bg1"/>
                          </a:solidFill>
                        </a:rPr>
                        <a:t>Team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开发者 </a:t>
                      </a:r>
                      <a:r>
                        <a:rPr lang="en-US" altLang="zh-CN" sz="160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产品负责人 </a:t>
                      </a:r>
                      <a:r>
                        <a:rPr lang="en-US" altLang="zh-CN" sz="160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敏捷教练 </a:t>
                      </a:r>
                      <a:r>
                        <a:rPr lang="en-US" altLang="zh-CN" sz="1600">
                          <a:solidFill>
                            <a:schemeClr val="bg1"/>
                          </a:solidFill>
                        </a:rPr>
                        <a:t>Scrum Master</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事件 </a:t>
                      </a:r>
                      <a:r>
                        <a:rPr lang="en-US" altLang="zh-CN" sz="1600">
                          <a:solidFill>
                            <a:schemeClr val="bg1"/>
                          </a:solidFill>
                        </a:rPr>
                        <a:t>Events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 </a:t>
                      </a:r>
                      <a:r>
                        <a:rPr lang="en-US" altLang="zh-CN" sz="1600" b="0" i="0" u="none" strike="noStrike" kern="1200">
                          <a:solidFill>
                            <a:schemeClr val="bg1"/>
                          </a:solidFill>
                          <a:effectLst/>
                          <a:latin typeface="+mn-lt"/>
                          <a:ea typeface="+mn-ea"/>
                          <a:cs typeface="+mn-cs"/>
                        </a:rPr>
                        <a:t>The Sprint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冲刺规划 </a:t>
                      </a:r>
                      <a:r>
                        <a:rPr lang="en-US" altLang="zh-CN" sz="1600" b="0" i="0" u="none" strike="noStrike" kern="1200">
                          <a:solidFill>
                            <a:schemeClr val="bg1"/>
                          </a:solidFill>
                          <a:effectLst/>
                          <a:latin typeface="+mn-lt"/>
                          <a:ea typeface="+mn-ea"/>
                          <a:cs typeface="+mn-cs"/>
                        </a:rPr>
                        <a:t>Sprint Planning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每日站会 </a:t>
                      </a:r>
                      <a:r>
                        <a:rPr lang="en-US" altLang="zh-CN" sz="1600" b="0" i="0" u="none" strike="noStrike" kern="1200">
                          <a:solidFill>
                            <a:schemeClr val="bg1"/>
                          </a:solidFill>
                          <a:effectLst/>
                          <a:latin typeface="+mn-lt"/>
                          <a:ea typeface="+mn-ea"/>
                          <a:cs typeface="+mn-cs"/>
                        </a:rPr>
                        <a:t>Daily Scrum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冲刺评审 </a:t>
                      </a:r>
                      <a:r>
                        <a:rPr lang="en-US" altLang="zh-CN" sz="1600" b="0" i="0" u="none" strike="noStrike" kern="1200">
                          <a:solidFill>
                            <a:schemeClr val="bg1"/>
                          </a:solidFill>
                          <a:effectLst/>
                          <a:latin typeface="+mn-lt"/>
                          <a:ea typeface="+mn-ea"/>
                          <a:cs typeface="+mn-cs"/>
                        </a:rPr>
                        <a:t>Sprint Review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冲刺回顾 </a:t>
                      </a:r>
                      <a:r>
                        <a:rPr lang="en-US" altLang="zh-CN" sz="1600" b="0" i="0" u="none" strike="noStrike" kern="1200">
                          <a:solidFill>
                            <a:schemeClr val="bg1"/>
                          </a:solidFill>
                          <a:effectLst/>
                          <a:latin typeface="+mn-lt"/>
                          <a:ea typeface="+mn-ea"/>
                          <a:cs typeface="+mn-cs"/>
                        </a:rPr>
                        <a:t>Sprint Retrospective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工件 </a:t>
                      </a:r>
                      <a:r>
                        <a:rPr lang="en-US" altLang="zh-CN" sz="1600">
                          <a:solidFill>
                            <a:schemeClr val="bg1"/>
                          </a:solidFill>
                        </a:rPr>
                        <a:t>Aircrafts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产品待办事项 </a:t>
                      </a:r>
                      <a:r>
                        <a:rPr lang="en-US" altLang="zh-CN" sz="1600" b="0" i="0" u="none" strike="noStrike" kern="1200">
                          <a:solidFill>
                            <a:schemeClr val="bg1"/>
                          </a:solidFill>
                          <a:effectLst/>
                          <a:latin typeface="+mn-lt"/>
                          <a:ea typeface="+mn-ea"/>
                          <a:cs typeface="+mn-cs"/>
                        </a:rPr>
                        <a:t>Product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迭代待办列表 </a:t>
                      </a:r>
                      <a:r>
                        <a:rPr lang="en-US" altLang="zh-CN" sz="1600" b="0" i="0" u="none" strike="noStrike" kern="1200">
                          <a:solidFill>
                            <a:schemeClr val="bg1"/>
                          </a:solidFill>
                          <a:effectLst/>
                          <a:latin typeface="+mn-lt"/>
                          <a:ea typeface="+mn-ea"/>
                          <a:cs typeface="+mn-cs"/>
                        </a:rPr>
                        <a:t>Sprint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增加 </a:t>
                      </a:r>
                      <a:r>
                        <a:rPr lang="en-US" altLang="zh-CN" sz="1600" b="0" i="0" u="none" strike="noStrike" kern="1200">
                          <a:solidFill>
                            <a:schemeClr val="bg1"/>
                          </a:solidFill>
                          <a:effectLst/>
                          <a:latin typeface="+mn-lt"/>
                          <a:ea typeface="+mn-ea"/>
                          <a:cs typeface="+mn-cs"/>
                        </a:rPr>
                        <a:t>Increment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a:solidFill>
                  <a:srgbClr val="FFFF00"/>
                </a:solidFill>
              </a:rPr>
              <a:t>Product Backlog</a:t>
            </a:r>
            <a:endParaRPr lang="zh-CN" altLang="en-US" sz="1600" u="sng">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a:solidFill>
                  <a:srgbClr val="FFFF00"/>
                </a:solidFill>
              </a:rPr>
              <a:t>Sprint Backlog</a:t>
            </a:r>
            <a:endParaRPr lang="zh-CN" altLang="en-US" sz="1600" u="sng">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a:solidFill>
                  <a:srgbClr val="FFFF00"/>
                </a:solidFill>
              </a:rPr>
              <a:t>Increment</a:t>
            </a:r>
            <a:endParaRPr lang="zh-CN" altLang="en-US" sz="1600" u="sng">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a:solidFill>
                  <a:schemeClr val="bg1"/>
                </a:solidFill>
              </a:rPr>
              <a:t>Sprint planning</a:t>
            </a:r>
            <a:endParaRPr lang="zh-CN" altLang="en-US" sz="1600" b="1">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a:solidFill>
                  <a:schemeClr val="bg1"/>
                </a:solidFill>
              </a:rPr>
              <a:t>Review</a:t>
            </a:r>
            <a:endParaRPr lang="zh-CN" altLang="en-US" sz="1600" b="1">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a:solidFill>
                  <a:schemeClr val="bg1"/>
                </a:solidFill>
              </a:rPr>
              <a:t>Sprint</a:t>
            </a:r>
          </a:p>
          <a:p>
            <a:pPr algn="ctr"/>
            <a:r>
              <a:rPr lang="en-US" altLang="zh-CN" sz="1600">
                <a:solidFill>
                  <a:schemeClr val="bg1"/>
                </a:solidFill>
              </a:rPr>
              <a:t>2 to 4 weeks</a:t>
            </a:r>
            <a:endParaRPr lang="zh-CN" altLang="en-US" sz="160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a:solidFill>
                  <a:schemeClr val="bg1"/>
                </a:solidFill>
              </a:rPr>
              <a:t>15min</a:t>
            </a:r>
            <a:endParaRPr lang="zh-CN" altLang="en-US" sz="160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a:solidFill>
                  <a:schemeClr val="bg1"/>
                </a:solidFill>
              </a:rPr>
              <a:t>Retrospective</a:t>
            </a:r>
            <a:endParaRPr lang="zh-CN" altLang="en-US" sz="1600" b="1">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a:solidFill>
                  <a:schemeClr val="bg1"/>
                </a:solidFill>
              </a:rPr>
              <a:t>Daily scrum</a:t>
            </a:r>
            <a:endParaRPr lang="zh-CN" altLang="en-US" sz="1600" b="1">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a:solidFill>
                  <a:schemeClr val="bg1"/>
                </a:solidFill>
              </a:rPr>
              <a:t>SM/PM</a:t>
            </a:r>
            <a:endParaRPr lang="zh-CN" altLang="en-US" sz="160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a:solidFill>
                  <a:schemeClr val="bg1"/>
                </a:solidFill>
              </a:rPr>
              <a:t>PO</a:t>
            </a:r>
            <a:endParaRPr lang="zh-CN" altLang="en-US" sz="160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a:solidFill>
                  <a:schemeClr val="bg1"/>
                </a:solidFill>
              </a:rPr>
              <a:t>Developer</a:t>
            </a:r>
            <a:endParaRPr lang="zh-CN" altLang="en-US" sz="160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a:solidFill>
                    <a:schemeClr val="bg1"/>
                  </a:solidFill>
                </a:rPr>
                <a:t>Commitment</a:t>
              </a:r>
            </a:p>
            <a:p>
              <a:pPr algn="ctr"/>
              <a:r>
                <a:rPr lang="zh-CN" altLang="en-US" sz="160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1</a:t>
              </a:r>
              <a:endParaRPr lang="zh-CN" altLang="en-US">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a:solidFill>
                    <a:schemeClr val="bg1"/>
                  </a:solidFill>
                </a:rPr>
                <a:t>Focus</a:t>
              </a:r>
            </a:p>
            <a:p>
              <a:pPr algn="ctr"/>
              <a:r>
                <a:rPr lang="zh-CN" altLang="en-US" sz="160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2</a:t>
              </a:r>
              <a:endParaRPr lang="zh-CN" altLang="en-US">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a:solidFill>
                    <a:schemeClr val="bg1"/>
                  </a:solidFill>
                </a:rPr>
                <a:t>Openness</a:t>
              </a:r>
            </a:p>
            <a:p>
              <a:pPr algn="ctr"/>
              <a:r>
                <a:rPr lang="zh-CN" altLang="en-US" sz="160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3</a:t>
              </a:r>
              <a:endParaRPr lang="zh-CN" altLang="en-US">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a:solidFill>
                    <a:schemeClr val="bg1"/>
                  </a:solidFill>
                </a:rPr>
                <a:t>Respect</a:t>
              </a:r>
            </a:p>
            <a:p>
              <a:pPr algn="ctr"/>
              <a:r>
                <a:rPr lang="zh-CN" altLang="en-US" sz="160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4</a:t>
              </a:r>
              <a:endParaRPr lang="zh-CN" altLang="en-US">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a:solidFill>
                    <a:schemeClr val="bg1"/>
                  </a:solidFill>
                </a:rPr>
                <a:t>Courage</a:t>
              </a:r>
              <a:endParaRPr lang="zh-CN" altLang="en-US" sz="1600" b="1">
                <a:solidFill>
                  <a:schemeClr val="bg1"/>
                </a:solidFill>
              </a:endParaRPr>
            </a:p>
            <a:p>
              <a:pPr algn="ctr"/>
              <a:r>
                <a:rPr lang="zh-CN" altLang="en-US" sz="160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5</a:t>
              </a:r>
              <a:endParaRPr lang="zh-CN" altLang="en-US">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a:t>
            </a:r>
            <a:r>
              <a:rPr lang="en-US" altLang="zh-CN" b="1">
                <a:solidFill>
                  <a:srgbClr val="FFFF00"/>
                </a:solidFill>
              </a:rPr>
              <a:t>Definition of Done</a:t>
            </a:r>
            <a:r>
              <a:rPr lang="zh-CN" altLang="en-US" b="1">
                <a:solidFill>
                  <a:srgbClr val="FFFF00"/>
                </a:solidFill>
              </a:rPr>
              <a:t>（</a:t>
            </a:r>
            <a:r>
              <a:rPr lang="en-US" altLang="zh-CN" b="1">
                <a:solidFill>
                  <a:srgbClr val="FFFF00"/>
                </a:solidFill>
              </a:rPr>
              <a:t>DOD</a:t>
            </a:r>
            <a:r>
              <a:rPr lang="zh-CN" altLang="en-US" b="1">
                <a:solidFill>
                  <a:srgbClr val="FFFF00"/>
                </a:solidFill>
              </a:rPr>
              <a:t>）</a:t>
            </a:r>
            <a:endParaRPr lang="en-US" altLang="zh-CN" b="1">
              <a:solidFill>
                <a:srgbClr val="FFFF00"/>
              </a:solidFill>
            </a:endParaRPr>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b="1">
                <a:solidFill>
                  <a:srgbClr val="FFFF00"/>
                </a:solidFill>
              </a:rPr>
              <a:t>Developing</a:t>
            </a:r>
            <a:r>
              <a:rPr lang="en-US" altLang="zh-CN"/>
              <a:t> and </a:t>
            </a:r>
            <a:r>
              <a:rPr lang="en-US" altLang="zh-CN" b="1">
                <a:solidFill>
                  <a:srgbClr val="FFFF00"/>
                </a:solidFill>
              </a:rPr>
              <a:t>explicitly</a:t>
            </a:r>
            <a:r>
              <a:rPr lang="en-US" altLang="zh-CN">
                <a:solidFill>
                  <a:srgbClr val="FFFF00"/>
                </a:solidFill>
              </a:rPr>
              <a:t> </a:t>
            </a:r>
            <a:r>
              <a:rPr lang="en-US" altLang="zh-CN" b="1">
                <a:solidFill>
                  <a:srgbClr val="FFFF00"/>
                </a:solidFill>
              </a:rPr>
              <a:t>communicating</a:t>
            </a:r>
            <a:r>
              <a:rPr lang="en-US" altLang="zh-CN"/>
              <a:t> the Product Goal</a:t>
            </a:r>
          </a:p>
          <a:p>
            <a:r>
              <a:rPr lang="zh-CN" altLang="en-US"/>
              <a:t>创建并清晰地传达产品代办事项</a:t>
            </a:r>
            <a:endParaRPr lang="en-US" altLang="zh-CN"/>
          </a:p>
          <a:p>
            <a:pPr lvl="1"/>
            <a:r>
              <a:rPr lang="en-US" altLang="zh-CN"/>
              <a:t>Creating and </a:t>
            </a:r>
            <a:r>
              <a:rPr lang="en-US" altLang="zh-CN" b="1">
                <a:solidFill>
                  <a:srgbClr val="FFFF00"/>
                </a:solidFill>
              </a:rPr>
              <a:t>clearly</a:t>
            </a:r>
            <a:r>
              <a:rPr lang="en-US" altLang="zh-CN"/>
              <a:t>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b="1">
                <a:solidFill>
                  <a:srgbClr val="FFFF00"/>
                </a:solidFill>
              </a:rPr>
              <a:t>Coaching</a:t>
            </a:r>
            <a:r>
              <a:rPr lang="en-US" altLang="zh-CN"/>
              <a:t>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b="1">
                <a:solidFill>
                  <a:srgbClr val="FFFF00"/>
                </a:solidFill>
              </a:rPr>
              <a:t>Causing</a:t>
            </a:r>
            <a:r>
              <a:rPr lang="en-US" altLang="zh-CN"/>
              <a:t> the removal of </a:t>
            </a:r>
            <a:r>
              <a:rPr lang="en-US" altLang="zh-CN" b="1">
                <a:solidFill>
                  <a:srgbClr val="FFFF00"/>
                </a:solidFill>
              </a:rPr>
              <a:t>impediments</a:t>
            </a:r>
            <a:r>
              <a:rPr lang="en-US" altLang="zh-CN"/>
              <a:t>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Scrum Team</a:t>
            </a:r>
            <a:endParaRPr lang="zh-CN" altLang="en-US">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Product Owner</a:t>
            </a:r>
            <a:endParaRPr lang="zh-CN" altLang="en-US">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带领、培训和作为教练辅导组织采纳 </a:t>
            </a:r>
            <a:r>
              <a:rPr lang="en-US" altLang="zh-CN"/>
              <a:t>Scrum </a:t>
            </a:r>
          </a:p>
          <a:p>
            <a:pPr lvl="1"/>
            <a:r>
              <a:rPr lang="en-US" altLang="zh-CN"/>
              <a:t>Leading, training, and coaching the organization in its Scrum adoption</a:t>
            </a:r>
          </a:p>
          <a:p>
            <a:r>
              <a:rPr lang="zh-CN" altLang="en-US"/>
              <a:t>在组织范围内规划并建议 </a:t>
            </a:r>
            <a:r>
              <a:rPr lang="en-US" altLang="zh-CN"/>
              <a:t>Scrum </a:t>
            </a:r>
            <a:r>
              <a:rPr lang="zh-CN" altLang="en-US"/>
              <a:t>的实施</a:t>
            </a:r>
            <a:endParaRPr lang="en-US" altLang="zh-CN"/>
          </a:p>
          <a:p>
            <a:pPr lvl="1"/>
            <a:r>
              <a:rPr lang="en-US" altLang="zh-CN"/>
              <a:t>Planning and advising Scrum implementations within the organization</a:t>
            </a:r>
          </a:p>
          <a:p>
            <a:r>
              <a:rPr lang="zh-CN" altLang="en-US"/>
              <a:t>帮助员工和干系人理解并实施针对复杂工作的经验主义方法</a:t>
            </a:r>
            <a:endParaRPr lang="en-US" altLang="zh-CN"/>
          </a:p>
          <a:p>
            <a:pPr lvl="1"/>
            <a:r>
              <a:rPr lang="en-US" altLang="zh-CN"/>
              <a:t>Helping employees and stakeholders understand and </a:t>
            </a:r>
            <a:r>
              <a:rPr lang="en-US" altLang="zh-CN" b="1"/>
              <a:t>enact</a:t>
            </a:r>
            <a:r>
              <a:rPr lang="en-US" altLang="zh-CN"/>
              <a:t> an empirical approach for complex work</a:t>
            </a:r>
          </a:p>
          <a:p>
            <a:r>
              <a:rPr lang="zh-CN" altLang="en-US"/>
              <a:t>消除干系人和团队之间的隔阂</a:t>
            </a:r>
            <a:endParaRPr lang="en-US" altLang="zh-CN"/>
          </a:p>
          <a:p>
            <a:pPr lvl="1"/>
            <a:r>
              <a:rPr lang="en-US" altLang="zh-CN"/>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organization</a:t>
            </a:r>
            <a:endParaRPr lang="zh-CN" altLang="en-US">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solidFill>
                  <a:schemeClr val="bg1"/>
                </a:solidFill>
              </a:rPr>
              <a:t>形成</a:t>
            </a:r>
            <a:endParaRPr lang="en-US" altLang="zh-CN">
              <a:solidFill>
                <a:schemeClr val="bg1"/>
              </a:solidFill>
            </a:endParaRPr>
          </a:p>
          <a:p>
            <a:r>
              <a:rPr lang="en-US" altLang="zh-CN">
                <a:solidFill>
                  <a:schemeClr val="bg1"/>
                </a:solidFill>
              </a:rPr>
              <a:t>Forming</a:t>
            </a:r>
            <a:endParaRPr lang="zh-CN" altLang="en-US">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solidFill>
                  <a:schemeClr val="bg1"/>
                </a:solidFill>
              </a:rPr>
              <a:t>指导</a:t>
            </a:r>
            <a:endParaRPr lang="en-US" altLang="zh-CN">
              <a:solidFill>
                <a:schemeClr val="bg1"/>
              </a:solidFill>
            </a:endParaRPr>
          </a:p>
          <a:p>
            <a:r>
              <a:rPr lang="en-US" altLang="zh-CN">
                <a:solidFill>
                  <a:schemeClr val="bg1"/>
                </a:solidFill>
              </a:rPr>
              <a:t>Guiding</a:t>
            </a:r>
            <a:endParaRPr lang="zh-CN" altLang="en-US">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solidFill>
                  <a:schemeClr val="bg1"/>
                </a:solidFill>
              </a:rPr>
              <a:t>震荡</a:t>
            </a:r>
            <a:endParaRPr lang="en-US" altLang="zh-CN">
              <a:solidFill>
                <a:schemeClr val="bg1"/>
              </a:solidFill>
            </a:endParaRPr>
          </a:p>
          <a:p>
            <a:r>
              <a:rPr lang="en-US" altLang="zh-CN">
                <a:solidFill>
                  <a:schemeClr val="bg1"/>
                </a:solidFill>
              </a:rPr>
              <a:t>Storming</a:t>
            </a:r>
            <a:endParaRPr lang="zh-CN" altLang="en-US">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solidFill>
                  <a:schemeClr val="bg1"/>
                </a:solidFill>
              </a:rPr>
              <a:t>教练</a:t>
            </a:r>
            <a:endParaRPr lang="en-US" altLang="zh-CN">
              <a:solidFill>
                <a:schemeClr val="bg1"/>
              </a:solidFill>
            </a:endParaRPr>
          </a:p>
          <a:p>
            <a:r>
              <a:rPr lang="en-US" altLang="zh-CN">
                <a:solidFill>
                  <a:schemeClr val="bg1"/>
                </a:solidFill>
              </a:rPr>
              <a:t>Coaching</a:t>
            </a:r>
            <a:endParaRPr lang="zh-CN" altLang="en-US">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solidFill>
                  <a:schemeClr val="bg1"/>
                </a:solidFill>
              </a:rPr>
              <a:t>规范</a:t>
            </a:r>
            <a:endParaRPr lang="en-US" altLang="zh-CN">
              <a:solidFill>
                <a:schemeClr val="bg1"/>
              </a:solidFill>
            </a:endParaRPr>
          </a:p>
          <a:p>
            <a:r>
              <a:rPr lang="en-US" altLang="zh-CN">
                <a:solidFill>
                  <a:schemeClr val="bg1"/>
                </a:solidFill>
              </a:rPr>
              <a:t>Norming</a:t>
            </a:r>
            <a:endParaRPr lang="zh-CN" altLang="en-US">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solidFill>
                  <a:schemeClr val="bg1"/>
                </a:solidFill>
              </a:rPr>
              <a:t>参与</a:t>
            </a:r>
            <a:endParaRPr lang="en-US" altLang="zh-CN">
              <a:solidFill>
                <a:schemeClr val="bg1"/>
              </a:solidFill>
            </a:endParaRPr>
          </a:p>
          <a:p>
            <a:r>
              <a:rPr lang="en-US" altLang="zh-CN">
                <a:solidFill>
                  <a:schemeClr val="bg1"/>
                </a:solidFill>
              </a:rPr>
              <a:t>Participating </a:t>
            </a:r>
            <a:endParaRPr lang="zh-CN" altLang="en-US">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solidFill>
                  <a:schemeClr val="bg1"/>
                </a:solidFill>
              </a:rPr>
              <a:t>成熟</a:t>
            </a:r>
            <a:endParaRPr lang="en-US" altLang="zh-CN">
              <a:solidFill>
                <a:schemeClr val="bg1"/>
              </a:solidFill>
            </a:endParaRPr>
          </a:p>
          <a:p>
            <a:r>
              <a:rPr lang="en-US" altLang="zh-CN">
                <a:solidFill>
                  <a:schemeClr val="bg1"/>
                </a:solidFill>
              </a:rPr>
              <a:t>Performing</a:t>
            </a:r>
            <a:endParaRPr lang="zh-CN" altLang="en-US">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solidFill>
                  <a:schemeClr val="bg1"/>
                </a:solidFill>
              </a:rPr>
              <a:t>授权</a:t>
            </a:r>
            <a:endParaRPr lang="en-US" altLang="zh-CN">
              <a:solidFill>
                <a:schemeClr val="bg1"/>
              </a:solidFill>
            </a:endParaRPr>
          </a:p>
          <a:p>
            <a:r>
              <a:rPr lang="en-US" altLang="zh-CN">
                <a:solidFill>
                  <a:schemeClr val="bg1"/>
                </a:solidFill>
              </a:rPr>
              <a:t>Empowering</a:t>
            </a:r>
            <a:endParaRPr lang="zh-CN" altLang="en-US">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solidFill>
                  <a:schemeClr val="bg1"/>
                </a:solidFill>
              </a:rPr>
              <a:t>解散</a:t>
            </a:r>
            <a:endParaRPr lang="en-US" altLang="zh-CN">
              <a:solidFill>
                <a:schemeClr val="bg1"/>
              </a:solidFill>
            </a:endParaRPr>
          </a:p>
          <a:p>
            <a:r>
              <a:rPr lang="en-US" altLang="zh-CN">
                <a:solidFill>
                  <a:schemeClr val="bg1"/>
                </a:solidFill>
              </a:rPr>
              <a:t>Adjourning</a:t>
            </a:r>
            <a:endParaRPr lang="zh-CN" altLang="en-US">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5325" y="863600"/>
            <a:ext cx="10801350" cy="5400675"/>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Sprint</a:t>
            </a:r>
            <a:endParaRPr lang="zh-CN" altLang="en-US" sz="1600" kern="12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冲刺</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容器</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时间盒 </a:t>
            </a:r>
            <a:r>
              <a:rPr lang="en-US" altLang="zh-CN" sz="1400" kern="1200">
                <a:solidFill>
                  <a:schemeClr val="bg1"/>
                </a:solidFill>
              </a:rPr>
              <a:t>Time-box</a:t>
            </a:r>
          </a:p>
          <a:p>
            <a:pPr defTabSz="711200">
              <a:lnSpc>
                <a:spcPct val="90000"/>
              </a:lnSpc>
              <a:spcBef>
                <a:spcPct val="0"/>
              </a:spcBef>
              <a:spcAft>
                <a:spcPct val="35000"/>
              </a:spcAft>
            </a:pPr>
            <a:r>
              <a:rPr lang="en-US" altLang="zh-CN" sz="1400">
                <a:solidFill>
                  <a:schemeClr val="bg1"/>
                </a:solidFill>
              </a:rPr>
              <a:t>PO </a:t>
            </a:r>
            <a:r>
              <a:rPr lang="zh-CN" altLang="en-US" sz="1400">
                <a:solidFill>
                  <a:schemeClr val="bg1"/>
                </a:solidFill>
              </a:rPr>
              <a:t>可以取消冲刺</a:t>
            </a:r>
          </a:p>
          <a:p>
            <a:pPr marL="0" lvl="0" indent="0" algn="l" defTabSz="711200">
              <a:lnSpc>
                <a:spcPct val="90000"/>
              </a:lnSpc>
              <a:spcBef>
                <a:spcPct val="0"/>
              </a:spcBef>
              <a:spcAft>
                <a:spcPct val="35000"/>
              </a:spcAft>
              <a:buNone/>
            </a:pPr>
            <a:r>
              <a:rPr lang="en-US" altLang="zh-CN" sz="140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Spring Planning</a:t>
            </a:r>
            <a:endParaRPr lang="zh-CN" altLang="en-US" sz="1600" kern="12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规划</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会议</a:t>
            </a:r>
            <a:endParaRPr lang="en-US" altLang="zh-CN" sz="1400" kern="1200">
              <a:solidFill>
                <a:schemeClr val="bg1"/>
              </a:solidFill>
            </a:endParaRPr>
          </a:p>
          <a:p>
            <a:pPr lvl="0" defTabSz="711200">
              <a:lnSpc>
                <a:spcPct val="90000"/>
              </a:lnSpc>
              <a:spcBef>
                <a:spcPct val="0"/>
              </a:spcBef>
              <a:spcAft>
                <a:spcPct val="35000"/>
              </a:spcAft>
            </a:pPr>
            <a:r>
              <a:rPr lang="zh-CN" altLang="en-US" sz="1400">
                <a:solidFill>
                  <a:schemeClr val="bg1"/>
                </a:solidFill>
              </a:rPr>
              <a:t>第一个事件</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Why </a:t>
            </a:r>
            <a:r>
              <a:rPr lang="zh-CN" altLang="en-US" sz="1400">
                <a:solidFill>
                  <a:schemeClr val="bg1"/>
                </a:solidFill>
              </a:rPr>
              <a:t>为什么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What </a:t>
            </a:r>
            <a:r>
              <a:rPr lang="zh-CN" altLang="en-US" sz="1400">
                <a:solidFill>
                  <a:schemeClr val="bg1"/>
                </a:solidFill>
              </a:rPr>
              <a:t>做什么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How </a:t>
            </a:r>
            <a:r>
              <a:rPr lang="zh-CN" altLang="en-US" sz="1400">
                <a:solidFill>
                  <a:schemeClr val="bg1"/>
                </a:solidFill>
              </a:rPr>
              <a:t>如何做</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kern="1200">
                <a:solidFill>
                  <a:schemeClr val="bg1"/>
                </a:solidFill>
              </a:rPr>
              <a:t>8h</a:t>
            </a:r>
          </a:p>
          <a:p>
            <a:pPr marL="0" lvl="0" indent="0" algn="l" defTabSz="711200">
              <a:lnSpc>
                <a:spcPct val="90000"/>
              </a:lnSpc>
              <a:spcBef>
                <a:spcPct val="0"/>
              </a:spcBef>
              <a:spcAft>
                <a:spcPct val="35000"/>
              </a:spcAft>
              <a:buNone/>
            </a:pPr>
            <a:endParaRPr lang="en-US" altLang="zh-CN" sz="1400">
              <a:solidFill>
                <a:schemeClr val="bg1"/>
              </a:solidFill>
            </a:endParaRPr>
          </a:p>
          <a:p>
            <a:pPr marL="0" lvl="0" indent="0" algn="l" defTabSz="711200">
              <a:lnSpc>
                <a:spcPct val="90000"/>
              </a:lnSpc>
              <a:spcBef>
                <a:spcPct val="0"/>
              </a:spcBef>
              <a:spcAft>
                <a:spcPct val="35000"/>
              </a:spcAft>
              <a:buNone/>
            </a:pPr>
            <a:endParaRPr lang="zh-CN" altLang="en-US" sz="1400" kern="120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Daily Scrum</a:t>
            </a:r>
            <a:endParaRPr lang="zh-CN" altLang="en-US" sz="1600" kern="12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每日站会</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固定时间和地点</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检查进度</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同步信息</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调整计划及工作</a:t>
            </a:r>
          </a:p>
          <a:p>
            <a:pPr marL="0" lvl="0" indent="0" algn="l" defTabSz="711200">
              <a:lnSpc>
                <a:spcPct val="90000"/>
              </a:lnSpc>
              <a:spcBef>
                <a:spcPct val="0"/>
              </a:spcBef>
              <a:spcAft>
                <a:spcPct val="35000"/>
              </a:spcAft>
              <a:buNone/>
            </a:pPr>
            <a:r>
              <a:rPr lang="en-US" altLang="zh-CN" sz="1400" kern="120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Review</a:t>
            </a:r>
            <a:endParaRPr lang="zh-CN" altLang="en-US" sz="1600" kern="12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评审</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监视冲刺成果</a:t>
            </a:r>
            <a:endParaRPr lang="en-US" altLang="zh-CN" sz="1400"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搜集反馈</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调整方向</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促进协作和透明</a:t>
            </a:r>
            <a:endParaRPr lang="en-US" altLang="zh-CN" sz="1400" kern="1200">
              <a:solidFill>
                <a:schemeClr val="bg1"/>
              </a:solidFill>
            </a:endParaRPr>
          </a:p>
          <a:p>
            <a:pPr defTabSz="711200">
              <a:lnSpc>
                <a:spcPct val="90000"/>
              </a:lnSpc>
              <a:spcBef>
                <a:spcPct val="0"/>
              </a:spcBef>
              <a:spcAft>
                <a:spcPct val="35000"/>
              </a:spcAft>
            </a:pPr>
            <a:r>
              <a:rPr lang="zh-CN" altLang="en-US" sz="1400">
                <a:solidFill>
                  <a:schemeClr val="bg1"/>
                </a:solidFill>
              </a:rPr>
              <a:t>非仅仅展示</a:t>
            </a:r>
          </a:p>
          <a:p>
            <a:pPr marL="0" lvl="0" indent="0" algn="l" defTabSz="711200">
              <a:lnSpc>
                <a:spcPct val="90000"/>
              </a:lnSpc>
              <a:spcBef>
                <a:spcPct val="0"/>
              </a:spcBef>
              <a:spcAft>
                <a:spcPct val="35000"/>
              </a:spcAft>
              <a:buNone/>
            </a:pPr>
            <a:r>
              <a:rPr lang="en-US" altLang="zh-CN" sz="1400" kern="120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Retrospective</a:t>
            </a:r>
            <a:endParaRPr lang="zh-CN" altLang="en-US" sz="1600" kern="12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回顾</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最后一个事件</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监视整个 </a:t>
            </a:r>
            <a:r>
              <a:rPr lang="en-US" altLang="zh-CN" sz="1400">
                <a:solidFill>
                  <a:schemeClr val="bg1"/>
                </a:solidFill>
              </a:rPr>
              <a:t>Sprint</a:t>
            </a:r>
          </a:p>
          <a:p>
            <a:pPr lvl="0" defTabSz="711200">
              <a:lnSpc>
                <a:spcPct val="90000"/>
              </a:lnSpc>
              <a:spcBef>
                <a:spcPct val="0"/>
              </a:spcBef>
              <a:spcAft>
                <a:spcPct val="35000"/>
              </a:spcAft>
            </a:pPr>
            <a:r>
              <a:rPr lang="zh-CN" altLang="en-US" sz="1400">
                <a:solidFill>
                  <a:schemeClr val="bg1"/>
                </a:solidFill>
              </a:rPr>
              <a:t>仅团队成员参加</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a:t>
            </a:r>
            <a:r>
              <a:rPr lang="en-US" altLang="zh-CN" b="1">
                <a:solidFill>
                  <a:srgbClr val="FFFF00"/>
                </a:solidFill>
              </a:rPr>
              <a:t>Sprint</a:t>
            </a:r>
            <a:r>
              <a:rPr lang="en-US" altLang="zh-CN" b="1">
                <a:solidFill>
                  <a:srgbClr val="FF0000"/>
                </a:solidFill>
              </a:rPr>
              <a:t> </a:t>
            </a:r>
            <a:r>
              <a:rPr lang="en-US" altLang="zh-CN" b="1">
                <a:solidFill>
                  <a:srgbClr val="FFFF00"/>
                </a:solidFill>
              </a:rPr>
              <a:t>Goal</a:t>
            </a:r>
          </a:p>
          <a:p>
            <a:r>
              <a:rPr lang="en-US" altLang="zh-CN"/>
              <a:t>Quality does not decrease</a:t>
            </a:r>
          </a:p>
          <a:p>
            <a:r>
              <a:rPr lang="en-US" altLang="zh-CN"/>
              <a:t>The Product Backlog is </a:t>
            </a:r>
            <a:r>
              <a:rPr lang="en-US" altLang="zh-CN" b="1">
                <a:solidFill>
                  <a:srgbClr val="FFFF00"/>
                </a:solidFill>
              </a:rPr>
              <a:t>refined</a:t>
            </a:r>
            <a:r>
              <a:rPr lang="en-US" altLang="zh-CN"/>
              <a:t> as needed</a:t>
            </a:r>
          </a:p>
          <a:p>
            <a:r>
              <a:rPr lang="en-US" altLang="zh-CN"/>
              <a:t>Scope may be clarified and renegotiated with the Product Owner as more is learned</a:t>
            </a:r>
          </a:p>
          <a:p>
            <a:endParaRPr lang="en-US" altLang="zh-CN"/>
          </a:p>
          <a:p>
            <a:r>
              <a:rPr lang="en-US" altLang="zh-CN"/>
              <a:t>A Sprint could be cancelled if the Sprint Goal becomes </a:t>
            </a:r>
            <a:r>
              <a:rPr lang="en-US" altLang="zh-CN" b="1">
                <a:solidFill>
                  <a:srgbClr val="FFFF00"/>
                </a:solidFill>
              </a:rPr>
              <a:t>obsolete</a:t>
            </a:r>
            <a:endParaRPr lang="en-US" altLang="zh-CN">
              <a:solidFill>
                <a:srgbClr val="FFFF00"/>
              </a:solidFill>
            </a:endParaRP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p:txBody>
          <a:bodyPr/>
          <a:lstStyle/>
          <a:p>
            <a:r>
              <a:rPr lang="en-US" altLang="zh-CN"/>
              <a:t>Topics</a:t>
            </a:r>
            <a:r>
              <a:rPr lang="zh-CN" altLang="en-US"/>
              <a:t>：</a:t>
            </a:r>
            <a:endParaRPr lang="en-US" altLang="zh-CN"/>
          </a:p>
          <a:p>
            <a:pPr lvl="1"/>
            <a:r>
              <a:rPr lang="en-US" altLang="zh-CN"/>
              <a:t>Topic One: </a:t>
            </a:r>
            <a:r>
              <a:rPr lang="en-US" altLang="zh-CN" b="1">
                <a:solidFill>
                  <a:srgbClr val="FFFF00"/>
                </a:solidFill>
              </a:rPr>
              <a:t>Why</a:t>
            </a:r>
            <a:r>
              <a:rPr lang="en-US" altLang="zh-CN"/>
              <a:t> is this Sprint valuable?</a:t>
            </a:r>
          </a:p>
          <a:p>
            <a:pPr lvl="1"/>
            <a:r>
              <a:rPr lang="en-US" altLang="zh-CN"/>
              <a:t>Topic Two: </a:t>
            </a:r>
            <a:r>
              <a:rPr lang="en-US" altLang="zh-CN" b="1">
                <a:solidFill>
                  <a:srgbClr val="FFFF00"/>
                </a:solidFill>
              </a:rPr>
              <a:t>What</a:t>
            </a:r>
            <a:r>
              <a:rPr lang="en-US" altLang="zh-CN"/>
              <a:t> can be Done this Sprint?</a:t>
            </a:r>
          </a:p>
          <a:p>
            <a:pPr lvl="1"/>
            <a:r>
              <a:rPr lang="en-US" altLang="zh-CN"/>
              <a:t>Topic Three: </a:t>
            </a:r>
            <a:r>
              <a:rPr lang="en-US" altLang="zh-CN" b="1">
                <a:solidFill>
                  <a:srgbClr val="FFFF00"/>
                </a:solidFill>
              </a:rPr>
              <a:t>How</a:t>
            </a:r>
            <a:r>
              <a:rPr lang="en-US" altLang="zh-CN"/>
              <a:t> will the chosen work get done?</a:t>
            </a:r>
          </a:p>
          <a:p>
            <a:r>
              <a:rPr lang="en-US" altLang="zh-CN"/>
              <a:t>is timeboxed to a </a:t>
            </a:r>
            <a:r>
              <a:rPr lang="en-US" altLang="zh-CN" b="1">
                <a:solidFill>
                  <a:srgbClr val="FFFF00"/>
                </a:solidFill>
              </a:rPr>
              <a:t>maximum</a:t>
            </a:r>
            <a:r>
              <a:rPr lang="en-US" altLang="zh-CN"/>
              <a:t>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solidFill>
                  <a:srgbClr val="FFFF00"/>
                </a:solidFill>
              </a:rPr>
              <a:t>improve</a:t>
            </a:r>
            <a:r>
              <a:rPr lang="en-US" altLang="zh-CN"/>
              <a:t> communications, </a:t>
            </a:r>
            <a:r>
              <a:rPr lang="en-US" altLang="zh-CN">
                <a:solidFill>
                  <a:srgbClr val="FFFF00"/>
                </a:solidFill>
              </a:rPr>
              <a:t>identify</a:t>
            </a:r>
            <a:r>
              <a:rPr lang="en-US" altLang="zh-CN"/>
              <a:t> impediments, </a:t>
            </a:r>
            <a:r>
              <a:rPr lang="en-US" altLang="zh-CN">
                <a:solidFill>
                  <a:srgbClr val="FFFF00"/>
                </a:solidFill>
              </a:rPr>
              <a:t>promote</a:t>
            </a:r>
            <a:r>
              <a:rPr lang="en-US" altLang="zh-CN"/>
              <a:t> quick decision-making, and consequently </a:t>
            </a:r>
            <a:r>
              <a:rPr lang="en-US" altLang="zh-CN">
                <a:solidFill>
                  <a:srgbClr val="FFFF00"/>
                </a:solidFill>
              </a:rPr>
              <a:t>eliminate</a:t>
            </a:r>
            <a:r>
              <a:rPr lang="en-US" altLang="zh-CN"/>
              <a:t>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a:t>
            </a:r>
            <a:r>
              <a:rPr lang="en-US" altLang="zh-CN" b="1">
                <a:solidFill>
                  <a:srgbClr val="FFFF00"/>
                </a:solidFill>
              </a:rPr>
              <a:t>outcome</a:t>
            </a:r>
            <a:r>
              <a:rPr lang="en-US" altLang="zh-CN"/>
              <a:t> of the Sprint and determine future </a:t>
            </a:r>
            <a:r>
              <a:rPr lang="en-US" altLang="zh-CN">
                <a:solidFill>
                  <a:srgbClr val="FFFF00"/>
                </a:solidFill>
              </a:rPr>
              <a:t>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b="1">
                <a:solidFill>
                  <a:srgbClr val="FFFF00"/>
                </a:solidFill>
              </a:rPr>
              <a:t>avoid</a:t>
            </a:r>
            <a:r>
              <a:rPr lang="en-US" altLang="zh-CN"/>
              <a:t>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a:t>
            </a:r>
            <a:r>
              <a:rPr lang="en-US" altLang="zh-CN" b="1">
                <a:solidFill>
                  <a:srgbClr val="FFFF00"/>
                </a:solidFill>
              </a:rPr>
              <a:t>concludes</a:t>
            </a:r>
            <a:r>
              <a:rPr lang="en-US" altLang="zh-CN"/>
              <a:t> the Sprint</a:t>
            </a:r>
          </a:p>
          <a:p>
            <a:r>
              <a:rPr lang="en-US" altLang="zh-CN" b="1">
                <a:solidFill>
                  <a:srgbClr val="FFFF00"/>
                </a:solidFill>
              </a:rPr>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b="1">
                <a:solidFill>
                  <a:srgbClr val="FFFF00"/>
                </a:solidFill>
              </a:rPr>
              <a:t>identifies</a:t>
            </a:r>
            <a:r>
              <a:rPr lang="en-US" altLang="zh-CN"/>
              <a:t>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a:solidFill>
                  <a:schemeClr val="bg1"/>
                </a:solidFill>
              </a:rPr>
              <a:t>To do lists</a:t>
            </a:r>
            <a:endParaRPr lang="zh-CN" altLang="en-US" sz="120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5325" y="863600"/>
            <a:ext cx="10801350" cy="5400675"/>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solidFill>
                  <a:srgbClr val="FFFF00"/>
                </a:solidFill>
              </a:rPr>
              <a:t>Emergent</a:t>
            </a:r>
            <a:r>
              <a:rPr lang="zh-CN" altLang="en-US"/>
              <a:t>，随着项目深入而逐渐清晰</a:t>
            </a:r>
          </a:p>
          <a:p>
            <a:pPr lvl="1"/>
            <a:r>
              <a:rPr lang="zh-CN" altLang="en-US"/>
              <a:t>有序清单 </a:t>
            </a:r>
            <a:r>
              <a:rPr lang="en-US" altLang="zh-CN">
                <a:solidFill>
                  <a:srgbClr val="FFFF00"/>
                </a:solidFill>
              </a:rPr>
              <a:t>ordered</a:t>
            </a:r>
            <a:r>
              <a:rPr lang="zh-CN" altLang="en-US"/>
              <a:t>，通常按价值、风险、必要性排序</a:t>
            </a:r>
            <a:endParaRPr lang="en-US" altLang="zh-CN"/>
          </a:p>
          <a:p>
            <a:pPr lvl="1"/>
            <a:r>
              <a:rPr lang="en-US" altLang="zh-CN"/>
              <a:t>Team </a:t>
            </a:r>
            <a:r>
              <a:rPr lang="zh-CN" altLang="en-US"/>
              <a:t>工作的单一 </a:t>
            </a:r>
            <a:r>
              <a:rPr lang="en-US" altLang="zh-CN" b="1"/>
              <a:t>single</a:t>
            </a:r>
            <a:r>
              <a:rPr lang="en-US" altLang="zh-CN"/>
              <a:t>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b="1"/>
              <a:t>Size</a:t>
            </a:r>
            <a:endParaRPr lang="en-US" altLang="zh-CN"/>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列举 </a:t>
            </a:r>
            <a:r>
              <a:rPr lang="en-US" altLang="zh-CN" sz="1400">
                <a:solidFill>
                  <a:schemeClr val="bg1"/>
                </a:solidFill>
              </a:rPr>
              <a:t>items</a:t>
            </a:r>
            <a:endParaRPr lang="zh-CN" altLang="en-US" sz="140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solidFill>
                  <a:schemeClr val="bg1"/>
                </a:solidFill>
              </a:rPr>
              <a:t>Developer </a:t>
            </a:r>
            <a:r>
              <a:rPr lang="zh-CN" altLang="en-US" sz="1400">
                <a:solidFill>
                  <a:schemeClr val="bg1"/>
                </a:solidFill>
              </a:rPr>
              <a:t>决定 </a:t>
            </a:r>
            <a:r>
              <a:rPr lang="en-US" altLang="zh-CN" sz="1400">
                <a:solidFill>
                  <a:schemeClr val="bg1"/>
                </a:solidFill>
              </a:rPr>
              <a:t>size</a:t>
            </a:r>
            <a:endParaRPr lang="zh-CN" altLang="en-US" sz="140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solidFill>
                  <a:schemeClr val="bg1"/>
                </a:solidFill>
              </a:rPr>
              <a:t>Backlog</a:t>
            </a:r>
            <a:endParaRPr lang="zh-CN" altLang="en-US" sz="140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solidFill>
                  <a:schemeClr val="bg1"/>
                </a:solidFill>
              </a:rPr>
              <a:t>Battle</a:t>
            </a:r>
            <a:endParaRPr lang="zh-CN" altLang="en-US" sz="140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solidFill>
                  <a:schemeClr val="bg1"/>
                </a:solidFill>
              </a:rPr>
              <a:t>SM</a:t>
            </a:r>
            <a:endParaRPr lang="zh-CN" altLang="en-US" sz="140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solidFill>
                  <a:srgbClr val="FFFF00"/>
                </a:solidFill>
              </a:rPr>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solidFill>
                  <a:srgbClr val="FFFF00"/>
                </a:solidFill>
              </a:rPr>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solidFill>
                  <a:srgbClr val="FFFF00"/>
                </a:solidFill>
              </a:rPr>
              <a:t>Usable</a:t>
            </a:r>
            <a:r>
              <a:rPr lang="zh-CN" altLang="en-US"/>
              <a:t>，且经过检验 </a:t>
            </a:r>
            <a:r>
              <a:rPr lang="en-US" altLang="zh-CN">
                <a:solidFill>
                  <a:srgbClr val="FFFF00"/>
                </a:solidFill>
              </a:rPr>
              <a:t>Verified</a:t>
            </a:r>
            <a:r>
              <a:rPr lang="zh-CN" altLang="en-US"/>
              <a:t>，价值累加 </a:t>
            </a:r>
            <a:r>
              <a:rPr lang="en-US" altLang="zh-CN">
                <a:solidFill>
                  <a:srgbClr val="FFFF00"/>
                </a:solidFill>
              </a:rPr>
              <a:t>Additive</a:t>
            </a:r>
          </a:p>
          <a:p>
            <a:pPr lvl="0"/>
            <a:r>
              <a:rPr lang="zh-CN" altLang="en-US"/>
              <a:t>确保之前所有的增量能一起工作 </a:t>
            </a:r>
            <a:r>
              <a:rPr lang="en-US" altLang="zh-CN">
                <a:solidFill>
                  <a:srgbClr val="FFFF00"/>
                </a:solidFill>
              </a:rPr>
              <a:t>Work</a:t>
            </a:r>
            <a:r>
              <a:rPr lang="en-US" altLang="zh-CN"/>
              <a:t> </a:t>
            </a:r>
            <a:r>
              <a:rPr lang="en-US" altLang="zh-CN">
                <a:solidFill>
                  <a:srgbClr val="FFFF00"/>
                </a:solidFill>
              </a:rPr>
              <a:t>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a:t>
            </a:r>
            <a:r>
              <a:rPr lang="en-US" altLang="zh-CN">
                <a:solidFill>
                  <a:srgbClr val="FFFF00"/>
                </a:solidFill>
              </a:rPr>
              <a:t>product</a:t>
            </a:r>
            <a:r>
              <a:rPr lang="en-US" altLang="zh-CN"/>
              <a:t> </a:t>
            </a:r>
            <a:r>
              <a:rPr lang="en-US" altLang="zh-CN">
                <a:solidFill>
                  <a:srgbClr val="FFFF00"/>
                </a:solidFill>
              </a:rPr>
              <a:t>backlog</a:t>
            </a:r>
            <a:r>
              <a:rPr lang="en-US" altLang="zh-CN"/>
              <a:t>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a:t>
            </a:r>
            <a:r>
              <a:rPr lang="en-US" altLang="zh-CN">
                <a:solidFill>
                  <a:srgbClr val="FFFF00"/>
                </a:solidFill>
              </a:rPr>
              <a:t>Sprint</a:t>
            </a:r>
            <a:r>
              <a:rPr lang="en-US" altLang="zh-CN"/>
              <a:t> </a:t>
            </a:r>
            <a:r>
              <a:rPr lang="en-US" altLang="zh-CN">
                <a:solidFill>
                  <a:srgbClr val="FFFF00"/>
                </a:solidFill>
              </a:rPr>
              <a:t>backlogs</a:t>
            </a:r>
            <a:r>
              <a:rPr lang="en-US" altLang="zh-CN"/>
              <a:t>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产品经理 </a:t>
                      </a:r>
                      <a:r>
                        <a:rPr lang="en-US" altLang="zh-CN" sz="1600">
                          <a:solidFill>
                            <a:schemeClr val="bg1"/>
                          </a:solidFill>
                        </a:rPr>
                        <a:t>/ </a:t>
                      </a:r>
                      <a:r>
                        <a:rPr lang="en-US" sz="160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持续添加</a:t>
                      </a:r>
                      <a:r>
                        <a:rPr lang="en-US" altLang="zh-CN" sz="1600">
                          <a:solidFill>
                            <a:schemeClr val="bg1"/>
                          </a:solidFill>
                        </a:rPr>
                        <a:t>/</a:t>
                      </a:r>
                      <a:r>
                        <a:rPr lang="zh-CN" altLang="en-US" sz="160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特性 </a:t>
                      </a:r>
                      <a:r>
                        <a:rPr lang="en-US" sz="160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业务</a:t>
                      </a:r>
                      <a:r>
                        <a:rPr lang="en-US" altLang="zh-CN" sz="1600">
                          <a:solidFill>
                            <a:schemeClr val="bg1"/>
                          </a:solidFill>
                        </a:rPr>
                        <a:t>/</a:t>
                      </a:r>
                      <a:r>
                        <a:rPr lang="zh-CN" altLang="en-US" sz="160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a:t>
                      </a:r>
                      <a:r>
                        <a:rPr lang="en-US" altLang="zh-CN" sz="1600">
                          <a:solidFill>
                            <a:schemeClr val="bg1"/>
                          </a:solidFill>
                        </a:rPr>
                        <a:t>/</a:t>
                      </a:r>
                      <a:r>
                        <a:rPr lang="zh-CN" altLang="en-US" sz="160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代码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所有已完成的特性 </a:t>
                      </a:r>
                      <a:r>
                        <a:rPr lang="en-US" altLang="zh-CN" sz="1600">
                          <a:solidFill>
                            <a:schemeClr val="bg1"/>
                          </a:solidFill>
                        </a:rPr>
                        <a:t>+ </a:t>
                      </a:r>
                      <a:r>
                        <a:rPr lang="zh-CN" altLang="en-US" sz="1600">
                          <a:solidFill>
                            <a:schemeClr val="bg1"/>
                          </a:solidFill>
                        </a:rPr>
                        <a:t>旧功能 </a:t>
                      </a:r>
                      <a:r>
                        <a:rPr lang="en-US" altLang="zh-CN" sz="1600">
                          <a:solidFill>
                            <a:schemeClr val="bg1"/>
                          </a:solidFill>
                        </a:rPr>
                        <a:t>+ </a:t>
                      </a:r>
                      <a:r>
                        <a:rPr lang="zh-CN" altLang="en-US" sz="1600">
                          <a:solidFill>
                            <a:schemeClr val="bg1"/>
                          </a:solidFill>
                        </a:rPr>
                        <a:t>修复的</a:t>
                      </a:r>
                      <a:r>
                        <a:rPr lang="en-US" altLang="zh-CN" sz="1600">
                          <a:solidFill>
                            <a:schemeClr val="bg1"/>
                          </a:solidFill>
                        </a:rPr>
                        <a:t>Bug + </a:t>
                      </a:r>
                      <a:r>
                        <a:rPr lang="zh-CN" altLang="en-US" sz="160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强累积（</a:t>
                      </a:r>
                      <a:r>
                        <a:rPr lang="en-US" sz="1600">
                          <a:solidFill>
                            <a:schemeClr val="bg1"/>
                          </a:solidFill>
                        </a:rPr>
                        <a:t>Increment 2 = Increment 1 + </a:t>
                      </a:r>
                      <a:r>
                        <a:rPr lang="zh-CN" altLang="en-US" sz="160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较大（通常是一个迭代</a:t>
                      </a:r>
                      <a:r>
                        <a:rPr lang="en-US" altLang="zh-CN" sz="1600">
                          <a:solidFill>
                            <a:schemeClr val="bg1"/>
                          </a:solidFill>
                        </a:rPr>
                        <a:t>/Sprint</a:t>
                      </a:r>
                      <a:r>
                        <a:rPr lang="zh-CN" altLang="en-US" sz="160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solidFill>
                            <a:schemeClr val="bg1"/>
                          </a:solidFill>
                        </a:rPr>
                        <a:t>FDD</a:t>
                      </a:r>
                      <a:r>
                        <a:rPr lang="zh-CN" altLang="en-US" sz="160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278857"/>
            <a:ext cx="4424219" cy="2300287"/>
          </a:xfrm>
        </p:spPr>
        <p:txBody>
          <a:bodyPr>
            <a:normAutofit lnSpcReduction="10000"/>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p:spPr>
        <p:txBody>
          <a:bodyPr wrap="none" rtlCol="0">
            <a:spAutoFit/>
          </a:bodyPr>
          <a:lstStyle/>
          <a:p>
            <a:pPr algn="ctr"/>
            <a:r>
              <a:rPr lang="en-US" altLang="zh-CN" sz="1600" dirty="0">
                <a:solidFill>
                  <a:schemeClr val="bg1"/>
                </a:solidFill>
              </a:rPr>
              <a:t>SOW</a:t>
            </a:r>
            <a:endParaRPr lang="zh-CN" altLang="en-US" sz="1600" dirty="0">
              <a:solidFill>
                <a:schemeClr val="bg1"/>
              </a:solidFill>
            </a:endParaRPr>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0" y="2991985"/>
            <a:ext cx="587020" cy="338554"/>
          </a:xfrm>
          <a:prstGeom prst="rect">
            <a:avLst/>
          </a:prstGeom>
          <a:noFill/>
        </p:spPr>
        <p:txBody>
          <a:bodyPr wrap="none" rtlCol="0">
            <a:spAutoFit/>
          </a:bodyPr>
          <a:lstStyle/>
          <a:p>
            <a:pPr algn="ctr"/>
            <a:r>
              <a:rPr lang="en-US" altLang="zh-CN" sz="1600" dirty="0">
                <a:solidFill>
                  <a:schemeClr val="bg1"/>
                </a:solidFill>
              </a:rPr>
              <a:t>SRS</a:t>
            </a:r>
            <a:endParaRPr lang="zh-CN" altLang="en-US" sz="1600" dirty="0">
              <a:solidFill>
                <a:schemeClr val="bg1"/>
              </a:solidFill>
            </a:endParaRPr>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p:spPr>
        <p:txBody>
          <a:bodyPr wrap="none" rtlCol="0">
            <a:spAutoFit/>
          </a:bodyPr>
          <a:lstStyle/>
          <a:p>
            <a:pPr algn="ctr"/>
            <a:r>
              <a:rPr lang="en-US" altLang="zh-CN" sz="1600" dirty="0">
                <a:solidFill>
                  <a:schemeClr val="bg1"/>
                </a:solidFill>
              </a:rPr>
              <a:t>WBS</a:t>
            </a:r>
            <a:endParaRPr lang="zh-CN" altLang="en-US" sz="1600" dirty="0">
              <a:solidFill>
                <a:schemeClr val="bg1"/>
              </a:solidFill>
            </a:endParaRPr>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p:spPr>
        <p:txBody>
          <a:bodyPr wrap="none" rtlCol="0">
            <a:spAutoFit/>
          </a:bodyPr>
          <a:lstStyle/>
          <a:p>
            <a:pPr algn="ctr"/>
            <a:r>
              <a:rPr lang="en-US" altLang="zh-CN" sz="1600" dirty="0">
                <a:solidFill>
                  <a:schemeClr val="bg1"/>
                </a:solidFill>
              </a:rPr>
              <a:t>Package</a:t>
            </a:r>
            <a:endParaRPr lang="zh-CN" altLang="en-US" sz="1600" dirty="0">
              <a:solidFill>
                <a:schemeClr val="bg1"/>
              </a:solidFill>
            </a:endParaRPr>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flipH="1">
            <a:off x="6096000" y="2795061"/>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0" y="3330539"/>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p:spPr>
        <p:txBody>
          <a:bodyPr wrap="none" rtlCol="0">
            <a:spAutoFit/>
          </a:bodyPr>
          <a:lstStyle/>
          <a:p>
            <a:r>
              <a:rPr lang="zh-CN" altLang="en-US" sz="1600" dirty="0">
                <a:solidFill>
                  <a:schemeClr val="bg1"/>
                </a:solidFill>
              </a:rPr>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p:spPr>
        <p:txBody>
          <a:bodyPr wrap="none" rtlCol="0">
            <a:spAutoFit/>
          </a:bodyPr>
          <a:lstStyle/>
          <a:p>
            <a:r>
              <a:rPr lang="zh-CN" altLang="en-US" sz="1600" dirty="0">
                <a:solidFill>
                  <a:schemeClr val="bg1"/>
                </a:solidFill>
              </a:rPr>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p:spPr>
        <p:txBody>
          <a:bodyPr wrap="none" rtlCol="0">
            <a:spAutoFit/>
          </a:bodyPr>
          <a:lstStyle/>
          <a:p>
            <a:r>
              <a:rPr lang="zh-CN" altLang="en-US" sz="1600" dirty="0">
                <a:solidFill>
                  <a:schemeClr val="bg1"/>
                </a:solidFill>
              </a:rPr>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p:spPr>
        <p:txBody>
          <a:bodyPr wrap="none" rtlCol="0">
            <a:spAutoFit/>
          </a:bodyPr>
          <a:lstStyle/>
          <a:p>
            <a:r>
              <a:rPr lang="zh-CN" altLang="en-US" sz="1600" dirty="0">
                <a:solidFill>
                  <a:schemeClr val="bg1"/>
                </a:solidFill>
              </a:rPr>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solidFill>
                            <a:schemeClr val="bg1"/>
                          </a:solidFill>
                        </a:rPr>
                        <a:t>Rank</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English</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Chinese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solidFill>
                            <a:schemeClr val="bg1"/>
                          </a:solidFill>
                        </a:rPr>
                        <a:t>Average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a:t>
            </a:r>
            <a:r>
              <a:rPr lang="zh-CN" altLang="en-US" dirty="0">
                <a:solidFill>
                  <a:srgbClr val="FFFF00"/>
                </a:solidFill>
              </a:rPr>
              <a:t>用户</a:t>
            </a:r>
            <a:r>
              <a:rPr lang="zh-CN" altLang="en-US" dirty="0"/>
              <a:t>想要什么”与“</a:t>
            </a:r>
            <a:r>
              <a:rPr lang="zh-CN" altLang="en-US" dirty="0">
                <a:solidFill>
                  <a:srgbClr val="FFFF00"/>
                </a:solidFill>
              </a:rPr>
              <a:t>开发团队</a:t>
            </a:r>
            <a:r>
              <a:rPr lang="zh-CN" altLang="en-US" dirty="0"/>
              <a:t>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a:t>
            </a:r>
            <a:r>
              <a:rPr lang="zh-CN" altLang="en-US" dirty="0">
                <a:solidFill>
                  <a:srgbClr val="FFFF00"/>
                </a:solidFill>
              </a:rPr>
              <a:t>功能</a:t>
            </a:r>
            <a:endParaRPr lang="en-US" altLang="zh-CN" dirty="0">
              <a:solidFill>
                <a:srgbClr val="FFFF00"/>
              </a:solidFill>
            </a:endParaRPr>
          </a:p>
          <a:p>
            <a:pPr lvl="1"/>
            <a:r>
              <a:rPr lang="zh-CN" altLang="en-US" dirty="0"/>
              <a:t>达到怎样的</a:t>
            </a:r>
            <a:r>
              <a:rPr lang="zh-CN" altLang="en-US" dirty="0">
                <a:solidFill>
                  <a:srgbClr val="FFFF00"/>
                </a:solidFill>
              </a:rPr>
              <a:t>性能</a:t>
            </a:r>
            <a:endParaRPr lang="en-US" altLang="zh-CN" dirty="0">
              <a:solidFill>
                <a:srgbClr val="FFFF00"/>
              </a:solidFill>
            </a:endParaRPr>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a:solidFill>
                  <a:schemeClr val="bg1"/>
                </a:solidFill>
              </a:rPr>
              <a:t>背景：某电商公司计划开发一键退货功能。</a:t>
            </a:r>
          </a:p>
          <a:p>
            <a:r>
              <a:rPr lang="zh-CN" altLang="en-US" b="1">
                <a:solidFill>
                  <a:schemeClr val="bg1"/>
                </a:solidFill>
              </a:rPr>
              <a:t>描述</a:t>
            </a:r>
            <a:r>
              <a:rPr lang="en-US" altLang="zh-CN" b="1">
                <a:solidFill>
                  <a:schemeClr val="bg1"/>
                </a:solidFill>
              </a:rPr>
              <a:t>1</a:t>
            </a:r>
            <a:r>
              <a:rPr lang="zh-CN" altLang="en-US">
                <a:solidFill>
                  <a:schemeClr val="bg1"/>
                </a:solidFill>
              </a:rPr>
              <a:t>：为了降低客服人力成本（预计减少</a:t>
            </a:r>
            <a:r>
              <a:rPr lang="en-US" altLang="zh-CN">
                <a:solidFill>
                  <a:schemeClr val="bg1"/>
                </a:solidFill>
              </a:rPr>
              <a:t>30%</a:t>
            </a:r>
            <a:r>
              <a:rPr lang="zh-CN" altLang="en-US">
                <a:solidFill>
                  <a:schemeClr val="bg1"/>
                </a:solidFill>
              </a:rPr>
              <a:t>），并提升客户复购率，公司决定优化售后流程</a:t>
            </a:r>
            <a:br>
              <a:rPr lang="zh-CN" altLang="en-US">
                <a:solidFill>
                  <a:schemeClr val="bg1"/>
                </a:solidFill>
              </a:rPr>
            </a:br>
            <a:endParaRPr lang="en-US" altLang="zh-CN">
              <a:solidFill>
                <a:schemeClr val="bg1"/>
              </a:solidFill>
            </a:endParaRPr>
          </a:p>
          <a:p>
            <a:r>
              <a:rPr lang="zh-CN" altLang="en-US" b="1">
                <a:solidFill>
                  <a:schemeClr val="bg1"/>
                </a:solidFill>
              </a:rPr>
              <a:t>描述</a:t>
            </a:r>
            <a:r>
              <a:rPr lang="en-US" altLang="zh-CN" b="1">
                <a:solidFill>
                  <a:schemeClr val="bg1"/>
                </a:solidFill>
              </a:rPr>
              <a:t>2</a:t>
            </a:r>
            <a:r>
              <a:rPr lang="zh-CN" altLang="en-US">
                <a:solidFill>
                  <a:schemeClr val="bg1"/>
                </a:solidFill>
              </a:rPr>
              <a:t>：</a:t>
            </a:r>
            <a:r>
              <a:rPr lang="zh-CN" altLang="en-US" b="1">
                <a:solidFill>
                  <a:schemeClr val="bg1"/>
                </a:solidFill>
              </a:rPr>
              <a:t>用户反馈</a:t>
            </a:r>
            <a:r>
              <a:rPr lang="zh-CN" altLang="en-US">
                <a:solidFill>
                  <a:schemeClr val="bg1"/>
                </a:solidFill>
              </a:rPr>
              <a:t>希望在收到商品不满意时，不用打电话给客服解释半天，只需要在手机上点一下，快递员就能上门取件，马上退钱</a:t>
            </a:r>
            <a:endParaRPr lang="en-US" altLang="zh-CN">
              <a:solidFill>
                <a:schemeClr val="bg1"/>
              </a:solidFill>
            </a:endParaRPr>
          </a:p>
          <a:p>
            <a:br>
              <a:rPr lang="zh-CN" altLang="en-US">
                <a:solidFill>
                  <a:schemeClr val="bg1"/>
                </a:solidFill>
              </a:rPr>
            </a:br>
            <a:r>
              <a:rPr lang="zh-CN" altLang="en-US" b="1">
                <a:solidFill>
                  <a:schemeClr val="bg1"/>
                </a:solidFill>
              </a:rPr>
              <a:t>描述</a:t>
            </a:r>
            <a:r>
              <a:rPr lang="en-US" altLang="zh-CN" b="1">
                <a:solidFill>
                  <a:schemeClr val="bg1"/>
                </a:solidFill>
              </a:rPr>
              <a:t>3</a:t>
            </a:r>
            <a:r>
              <a:rPr lang="zh-CN" altLang="en-US">
                <a:solidFill>
                  <a:schemeClr val="bg1"/>
                </a:solidFill>
              </a:rPr>
              <a:t>：</a:t>
            </a:r>
            <a:r>
              <a:rPr lang="zh-CN" altLang="en-US" b="1">
                <a:solidFill>
                  <a:schemeClr val="bg1"/>
                </a:solidFill>
              </a:rPr>
              <a:t>系统开发人员设计方案：</a:t>
            </a:r>
            <a:r>
              <a:rPr lang="zh-CN" altLang="en-US">
                <a:solidFill>
                  <a:schemeClr val="bg1"/>
                </a:solidFill>
              </a:rPr>
              <a:t>当用户点击申请退货按钮且订单状态为已签收未满</a:t>
            </a:r>
            <a:r>
              <a:rPr lang="en-US" altLang="zh-CN">
                <a:solidFill>
                  <a:schemeClr val="bg1"/>
                </a:solidFill>
              </a:rPr>
              <a:t>7</a:t>
            </a:r>
            <a:r>
              <a:rPr lang="zh-CN" altLang="en-US">
                <a:solidFill>
                  <a:schemeClr val="bg1"/>
                </a:solidFill>
              </a:rPr>
              <a:t>天时，系统应自动调用物流接口生成取件码，并在数据库中将该订单状态更新为退货中，同时触发财务系统原路退款</a:t>
            </a:r>
            <a:br>
              <a:rPr lang="zh-CN" altLang="en-US">
                <a:solidFill>
                  <a:schemeClr val="bg1"/>
                </a:solidFill>
              </a:rPr>
            </a:br>
            <a:endParaRPr lang="en-US" altLang="zh-CN">
              <a:solidFill>
                <a:schemeClr val="bg1"/>
              </a:solidFill>
            </a:endParaRPr>
          </a:p>
          <a:p>
            <a:r>
              <a:rPr lang="zh-CN" altLang="en-US">
                <a:solidFill>
                  <a:schemeClr val="bg1"/>
                </a:solidFill>
              </a:rPr>
              <a:t>以上描述分别属于哪类需求？</a:t>
            </a:r>
            <a:endParaRPr lang="en-US" altLang="zh-CN">
              <a:solidFill>
                <a:schemeClr val="bg1"/>
              </a:solidFill>
            </a:endParaRPr>
          </a:p>
          <a:p>
            <a:br>
              <a:rPr lang="zh-CN" altLang="en-US">
                <a:solidFill>
                  <a:schemeClr val="bg1"/>
                </a:solidFill>
              </a:rPr>
            </a:br>
            <a:r>
              <a:rPr lang="en-US" altLang="zh-CN">
                <a:solidFill>
                  <a:schemeClr val="bg1"/>
                </a:solidFill>
              </a:rPr>
              <a:t>A. </a:t>
            </a:r>
            <a:r>
              <a:rPr lang="zh-CN" altLang="en-US">
                <a:solidFill>
                  <a:schemeClr val="bg1"/>
                </a:solidFill>
              </a:rPr>
              <a:t>业务需求</a:t>
            </a:r>
            <a:br>
              <a:rPr lang="zh-CN" altLang="en-US">
                <a:solidFill>
                  <a:schemeClr val="bg1"/>
                </a:solidFill>
              </a:rPr>
            </a:br>
            <a:r>
              <a:rPr lang="en-US" altLang="zh-CN">
                <a:solidFill>
                  <a:schemeClr val="bg1"/>
                </a:solidFill>
              </a:rPr>
              <a:t>B. </a:t>
            </a:r>
            <a:r>
              <a:rPr lang="zh-CN" altLang="en-US">
                <a:solidFill>
                  <a:schemeClr val="bg1"/>
                </a:solidFill>
              </a:rPr>
              <a:t>用户需求</a:t>
            </a:r>
            <a:br>
              <a:rPr lang="zh-CN" altLang="en-US">
                <a:solidFill>
                  <a:schemeClr val="bg1"/>
                </a:solidFill>
              </a:rPr>
            </a:br>
            <a:r>
              <a:rPr lang="en-US" altLang="zh-CN">
                <a:solidFill>
                  <a:schemeClr val="bg1"/>
                </a:solidFill>
              </a:rPr>
              <a:t>C. </a:t>
            </a:r>
            <a:r>
              <a:rPr lang="zh-CN" altLang="en-US">
                <a:solidFill>
                  <a:schemeClr val="bg1"/>
                </a:solidFill>
              </a:rPr>
              <a:t>功能需求</a:t>
            </a:r>
            <a:br>
              <a:rPr lang="zh-CN" altLang="en-US">
                <a:solidFill>
                  <a:schemeClr val="bg1"/>
                </a:solidFill>
              </a:rPr>
            </a:br>
            <a:r>
              <a:rPr lang="en-US" altLang="zh-CN">
                <a:solidFill>
                  <a:schemeClr val="bg1"/>
                </a:solidFill>
              </a:rPr>
              <a:t>D. </a:t>
            </a:r>
            <a:r>
              <a:rPr lang="zh-CN" altLang="en-US">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solidFill>
                  <a:srgbClr val="FFFF00"/>
                </a:solidFill>
              </a:rPr>
              <a:t>战术级</a:t>
            </a:r>
            <a:r>
              <a:rPr lang="zh-CN" altLang="en-US" dirty="0"/>
              <a:t>文档</a:t>
            </a:r>
            <a:endParaRPr lang="en-US" altLang="zh-CN" dirty="0"/>
          </a:p>
          <a:p>
            <a:pPr lvl="1"/>
            <a:r>
              <a:rPr lang="en-US" altLang="zh-CN" dirty="0"/>
              <a:t>An SRS document acts as a guide for the </a:t>
            </a:r>
            <a:r>
              <a:rPr lang="en-US" altLang="zh-CN" dirty="0">
                <a:solidFill>
                  <a:srgbClr val="FFFF00"/>
                </a:solidFill>
              </a:rPr>
              <a:t>development</a:t>
            </a:r>
            <a:r>
              <a:rPr lang="en-US" altLang="zh-CN" dirty="0"/>
              <a:t> </a:t>
            </a:r>
            <a:r>
              <a:rPr lang="en-US" altLang="zh-CN" dirty="0">
                <a:solidFill>
                  <a:srgbClr val="FFFF00"/>
                </a:solidFill>
              </a:rPr>
              <a:t>team</a:t>
            </a:r>
            <a:r>
              <a:rPr lang="en-US" altLang="zh-CN" dirty="0"/>
              <a:t>,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5024695"/>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solidFill>
                            <a:schemeClr val="bg1"/>
                          </a:solidFill>
                        </a:rPr>
                        <a:t>Software Requirement Specification</a:t>
                      </a:r>
                      <a:endParaRPr lang="zh-CN" altLang="en-US">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solidFill>
                            <a:schemeClr val="bg1"/>
                          </a:solidFill>
                        </a:rPr>
                        <a:t>1. </a:t>
                      </a:r>
                      <a:r>
                        <a:rPr lang="zh-CN" altLang="en-US">
                          <a:solidFill>
                            <a:schemeClr val="bg1"/>
                          </a:solidFill>
                        </a:rPr>
                        <a:t>引言</a:t>
                      </a:r>
                    </a:p>
                    <a:p>
                      <a:r>
                        <a:rPr lang="zh-CN" altLang="en-US">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bg1"/>
                          </a:solidFill>
                        </a:rPr>
                        <a:t>2. </a:t>
                      </a:r>
                      <a:r>
                        <a:rPr lang="zh-CN" altLang="en-US">
                          <a:solidFill>
                            <a:schemeClr val="bg1"/>
                          </a:solidFill>
                        </a:rPr>
                        <a:t>总体描述</a:t>
                      </a:r>
                    </a:p>
                    <a:p>
                      <a:r>
                        <a:rPr lang="zh-CN" altLang="en-US">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bg1"/>
                          </a:solidFill>
                        </a:rPr>
                        <a:t>3. </a:t>
                      </a:r>
                      <a:r>
                        <a:rPr lang="zh-CN" altLang="en-US">
                          <a:solidFill>
                            <a:schemeClr val="bg1"/>
                          </a:solidFill>
                        </a:rPr>
                        <a:t>功能需求</a:t>
                      </a:r>
                    </a:p>
                    <a:p>
                      <a:r>
                        <a:rPr lang="zh-CN" altLang="en-US">
                          <a:solidFill>
                            <a:schemeClr val="bg1"/>
                          </a:solidFill>
                        </a:rPr>
                        <a:t>按模块划分，每个功能包含： * 功能编号 * 功能名称 * 描述 * 输入</a:t>
                      </a:r>
                      <a:r>
                        <a:rPr lang="en-US" altLang="zh-CN">
                          <a:solidFill>
                            <a:schemeClr val="bg1"/>
                          </a:solidFill>
                        </a:rPr>
                        <a:t>/</a:t>
                      </a:r>
                      <a:r>
                        <a:rPr lang="zh-CN" altLang="en-US">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bg1"/>
                          </a:solidFill>
                        </a:rPr>
                        <a:t>4. </a:t>
                      </a:r>
                      <a:r>
                        <a:rPr lang="zh-CN" altLang="en-US">
                          <a:solidFill>
                            <a:schemeClr val="bg1"/>
                          </a:solidFill>
                        </a:rPr>
                        <a:t>非功能需求</a:t>
                      </a:r>
                    </a:p>
                    <a:p>
                      <a:r>
                        <a:rPr lang="zh-CN" altLang="en-US">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bg1"/>
                          </a:solidFill>
                        </a:rPr>
                        <a:t>5. </a:t>
                      </a:r>
                      <a:r>
                        <a:rPr lang="zh-CN" altLang="en-US">
                          <a:solidFill>
                            <a:schemeClr val="bg1"/>
                          </a:solidFill>
                        </a:rPr>
                        <a:t>数据需求</a:t>
                      </a:r>
                    </a:p>
                    <a:p>
                      <a:r>
                        <a:rPr lang="zh-CN" altLang="en-US">
                          <a:solidFill>
                            <a:schemeClr val="bg1"/>
                          </a:solidFill>
                        </a:rPr>
                        <a:t>数据字典、</a:t>
                      </a:r>
                      <a:r>
                        <a:rPr lang="en-US" altLang="zh-CN">
                          <a:solidFill>
                            <a:schemeClr val="bg1"/>
                          </a:solidFill>
                        </a:rPr>
                        <a:t>E-R </a:t>
                      </a:r>
                      <a:r>
                        <a:rPr lang="zh-CN" altLang="en-US">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bg1"/>
                          </a:solidFill>
                        </a:rPr>
                        <a:t>6. </a:t>
                      </a:r>
                      <a:r>
                        <a:rPr lang="zh-CN" altLang="en-US">
                          <a:solidFill>
                            <a:schemeClr val="bg1"/>
                          </a:solidFill>
                        </a:rPr>
                        <a:t>接口需求</a:t>
                      </a:r>
                    </a:p>
                    <a:p>
                      <a:r>
                        <a:rPr lang="zh-CN" altLang="en-US">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a:solidFill>
                            <a:schemeClr val="bg1"/>
                          </a:solidFill>
                        </a:rPr>
                        <a:t>7. </a:t>
                      </a:r>
                      <a:r>
                        <a:rPr lang="zh-CN" altLang="en-US">
                          <a:solidFill>
                            <a:schemeClr val="bg1"/>
                          </a:solidFill>
                        </a:rPr>
                        <a:t>附录</a:t>
                      </a:r>
                      <a:endParaRPr lang="en-US" altLang="zh-CN">
                        <a:solidFill>
                          <a:schemeClr val="bg1"/>
                        </a:solidFill>
                      </a:endParaRPr>
                    </a:p>
                    <a:p>
                      <a:r>
                        <a:rPr lang="zh-CN" altLang="en-US">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2539519583"/>
              </p:ext>
            </p:extLst>
          </p:nvPr>
        </p:nvGraphicFramePr>
        <p:xfrm>
          <a:off x="695325" y="1124907"/>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solidFill>
                            <a:schemeClr val="bg1"/>
                          </a:solidFill>
                        </a:rPr>
                        <a:t>Aspect</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Tools</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solidFill>
                            <a:schemeClr val="bg1"/>
                          </a:solidFill>
                        </a:rPr>
                        <a:t>正确性 </a:t>
                      </a:r>
                      <a:r>
                        <a:rPr lang="en-US" sz="160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用户访谈确认、业务流程图比对</a:t>
                      </a:r>
                      <a:br>
                        <a:rPr lang="zh-CN" altLang="en-US" sz="1600">
                          <a:solidFill>
                            <a:schemeClr val="bg1"/>
                          </a:solidFill>
                        </a:rPr>
                      </a:br>
                      <a:r>
                        <a:rPr lang="zh-CN" altLang="en-US" sz="160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solidFill>
                            <a:schemeClr val="bg1"/>
                          </a:solidFill>
                        </a:rPr>
                        <a:t>完整性 </a:t>
                      </a:r>
                      <a:r>
                        <a:rPr lang="en-US" sz="160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a:t>
                      </a:r>
                      <a:r>
                        <a:rPr lang="en-US" altLang="zh-CN" sz="1600">
                          <a:solidFill>
                            <a:schemeClr val="bg1"/>
                          </a:solidFill>
                        </a:rPr>
                        <a:t>RTM</a:t>
                      </a:r>
                      <a:r>
                        <a:rPr lang="zh-CN" altLang="en-US" sz="1600">
                          <a:solidFill>
                            <a:schemeClr val="bg1"/>
                          </a:solidFill>
                        </a:rPr>
                        <a:t>、用例全覆盖检查</a:t>
                      </a:r>
                      <a:br>
                        <a:rPr lang="zh-CN" altLang="en-US" sz="1600">
                          <a:solidFill>
                            <a:schemeClr val="bg1"/>
                          </a:solidFill>
                        </a:rPr>
                      </a:br>
                      <a:r>
                        <a:rPr lang="en-US" altLang="zh-CN" sz="1600">
                          <a:solidFill>
                            <a:schemeClr val="bg1"/>
                          </a:solidFill>
                        </a:rPr>
                        <a:t>FURPS+ </a:t>
                      </a:r>
                      <a:r>
                        <a:rPr lang="zh-CN" altLang="en-US" sz="160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solidFill>
                            <a:schemeClr val="bg1"/>
                          </a:solidFill>
                        </a:rPr>
                        <a:t>一致性 </a:t>
                      </a:r>
                      <a:r>
                        <a:rPr lang="en-US" sz="160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需求交叉审查、术语表（</a:t>
                      </a:r>
                      <a:r>
                        <a:rPr lang="en-US" altLang="zh-CN" sz="1600">
                          <a:solidFill>
                            <a:schemeClr val="bg1"/>
                          </a:solidFill>
                        </a:rPr>
                        <a:t>Glossary</a:t>
                      </a:r>
                      <a:r>
                        <a:rPr lang="zh-CN" altLang="en-US" sz="1600">
                          <a:solidFill>
                            <a:schemeClr val="bg1"/>
                          </a:solidFill>
                        </a:rPr>
                        <a:t>）</a:t>
                      </a:r>
                      <a:br>
                        <a:rPr lang="zh-CN" altLang="en-US" sz="1600">
                          <a:solidFill>
                            <a:schemeClr val="bg1"/>
                          </a:solidFill>
                        </a:rPr>
                      </a:br>
                      <a:r>
                        <a:rPr lang="zh-CN" altLang="en-US" sz="160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solidFill>
                            <a:schemeClr val="bg1"/>
                          </a:solidFill>
                        </a:rPr>
                        <a:t>可行性 </a:t>
                      </a:r>
                      <a:r>
                        <a:rPr lang="en-US" sz="160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技术上能否实现？成本</a:t>
                      </a:r>
                      <a:r>
                        <a:rPr lang="en-US" altLang="zh-CN" sz="1600">
                          <a:solidFill>
                            <a:schemeClr val="bg1"/>
                          </a:solidFill>
                        </a:rPr>
                        <a:t>/</a:t>
                      </a:r>
                      <a:r>
                        <a:rPr lang="zh-CN" altLang="en-US" sz="1600">
                          <a:solidFill>
                            <a:schemeClr val="bg1"/>
                          </a:solidFill>
                        </a:rPr>
                        <a:t>时间是否可控？避免“</a:t>
                      </a:r>
                      <a:r>
                        <a:rPr lang="zh-CN" altLang="en-US" sz="1600">
                          <a:solidFill>
                            <a:srgbClr val="FFFF00"/>
                          </a:solidFill>
                        </a:rPr>
                        <a:t>为了开发而开发</a:t>
                      </a:r>
                      <a:r>
                        <a:rPr lang="zh-CN" altLang="en-US" sz="160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技术预研（</a:t>
                      </a:r>
                      <a:r>
                        <a:rPr lang="en-US" altLang="zh-CN" sz="1600">
                          <a:solidFill>
                            <a:schemeClr val="bg1"/>
                          </a:solidFill>
                        </a:rPr>
                        <a:t>PoC</a:t>
                      </a:r>
                      <a:r>
                        <a:rPr lang="zh-CN" altLang="en-US" sz="1600">
                          <a:solidFill>
                            <a:schemeClr val="bg1"/>
                          </a:solidFill>
                        </a:rPr>
                        <a:t>）、架构师评估</a:t>
                      </a:r>
                      <a:br>
                        <a:rPr lang="zh-CN" altLang="en-US" sz="1600">
                          <a:solidFill>
                            <a:schemeClr val="bg1"/>
                          </a:solidFill>
                        </a:rPr>
                      </a:br>
                      <a:r>
                        <a:rPr lang="en-US" altLang="zh-CN" sz="1600">
                          <a:solidFill>
                            <a:schemeClr val="bg1"/>
                          </a:solidFill>
                        </a:rPr>
                        <a:t>ROI </a:t>
                      </a:r>
                      <a:r>
                        <a:rPr lang="zh-CN" altLang="en-US" sz="160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solidFill>
                            <a:schemeClr val="bg1"/>
                          </a:solidFill>
                        </a:rPr>
                        <a:t>必要性 </a:t>
                      </a:r>
                      <a:r>
                        <a:rPr lang="en-US" sz="160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该需求是否真正影响核心价值？是否属于 </a:t>
                      </a:r>
                      <a:r>
                        <a:rPr lang="en-US" altLang="zh-CN" sz="1600">
                          <a:solidFill>
                            <a:schemeClr val="bg1"/>
                          </a:solidFill>
                        </a:rPr>
                        <a:t>MVP </a:t>
                      </a:r>
                      <a:r>
                        <a:rPr lang="zh-CN" altLang="en-US" sz="160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solidFill>
                            <a:schemeClr val="bg1"/>
                          </a:solidFill>
                        </a:rPr>
                        <a:t>MoSCoW</a:t>
                      </a:r>
                      <a:r>
                        <a:rPr lang="en-US" sz="1600">
                          <a:solidFill>
                            <a:schemeClr val="bg1"/>
                          </a:solidFill>
                        </a:rPr>
                        <a:t> </a:t>
                      </a:r>
                      <a:r>
                        <a:rPr lang="zh-CN" altLang="en-US" sz="1600">
                          <a:solidFill>
                            <a:schemeClr val="bg1"/>
                          </a:solidFill>
                        </a:rPr>
                        <a:t>优先级排序、</a:t>
                      </a:r>
                      <a:r>
                        <a:rPr lang="en-US" sz="1600">
                          <a:solidFill>
                            <a:schemeClr val="bg1"/>
                          </a:solidFill>
                        </a:rPr>
                        <a:t>Kano </a:t>
                      </a:r>
                      <a:r>
                        <a:rPr lang="zh-CN" altLang="en-US" sz="1600">
                          <a:solidFill>
                            <a:schemeClr val="bg1"/>
                          </a:solidFill>
                        </a:rPr>
                        <a:t>模型分析</a:t>
                      </a:r>
                      <a:br>
                        <a:rPr lang="zh-CN" altLang="en-US" sz="1600">
                          <a:solidFill>
                            <a:schemeClr val="bg1"/>
                          </a:solidFill>
                        </a:rPr>
                      </a:br>
                      <a:r>
                        <a:rPr lang="zh-CN" altLang="en-US" sz="160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solidFill>
                            <a:schemeClr val="bg1"/>
                          </a:solidFill>
                        </a:rPr>
                        <a:t>可检验性 </a:t>
                      </a:r>
                      <a:r>
                        <a:rPr lang="en-US" sz="160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Acceptance Criteria </a:t>
                      </a:r>
                      <a:r>
                        <a:rPr lang="zh-CN" altLang="en-US" sz="1600">
                          <a:solidFill>
                            <a:schemeClr val="bg1"/>
                          </a:solidFill>
                        </a:rPr>
                        <a:t>编写、</a:t>
                      </a:r>
                      <a:r>
                        <a:rPr lang="en-US" sz="1600">
                          <a:solidFill>
                            <a:schemeClr val="bg1"/>
                          </a:solidFill>
                        </a:rPr>
                        <a:t>Gherkin </a:t>
                      </a:r>
                      <a:r>
                        <a:rPr lang="zh-CN" altLang="en-US" sz="1600">
                          <a:solidFill>
                            <a:schemeClr val="bg1"/>
                          </a:solidFill>
                        </a:rPr>
                        <a:t>语法</a:t>
                      </a:r>
                      <a:br>
                        <a:rPr lang="en-US" sz="1600">
                          <a:solidFill>
                            <a:schemeClr val="bg1"/>
                          </a:solidFill>
                        </a:rPr>
                      </a:br>
                      <a:r>
                        <a:rPr lang="zh-CN" altLang="en-US" sz="160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solidFill>
                            <a:schemeClr val="bg1"/>
                          </a:solidFill>
                        </a:rPr>
                        <a:t>可跟踪性 </a:t>
                      </a:r>
                      <a:r>
                        <a:rPr lang="en-US" sz="160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需求能否</a:t>
                      </a:r>
                      <a:r>
                        <a:rPr lang="zh-CN" altLang="en-US" sz="1600">
                          <a:solidFill>
                            <a:srgbClr val="FFFF00"/>
                          </a:solidFill>
                        </a:rPr>
                        <a:t>溯源</a:t>
                      </a:r>
                      <a:r>
                        <a:rPr lang="zh-CN" altLang="en-US" sz="160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 </a:t>
                      </a:r>
                      <a:r>
                        <a:rPr lang="en-US" sz="1600">
                          <a:solidFill>
                            <a:srgbClr val="FFFF00"/>
                          </a:solidFill>
                        </a:rPr>
                        <a:t>RTM</a:t>
                      </a:r>
                      <a:r>
                        <a:rPr lang="zh-CN" altLang="en-US" sz="1600">
                          <a:solidFill>
                            <a:schemeClr val="bg1"/>
                          </a:solidFill>
                        </a:rPr>
                        <a:t>、</a:t>
                      </a:r>
                      <a:r>
                        <a:rPr lang="en-US" altLang="zh-CN" sz="1600">
                          <a:solidFill>
                            <a:schemeClr val="bg1"/>
                          </a:solidFill>
                        </a:rPr>
                        <a:t>Jira/TAPD </a:t>
                      </a:r>
                      <a:r>
                        <a:rPr lang="zh-CN" altLang="en-US" sz="1600">
                          <a:solidFill>
                            <a:schemeClr val="bg1"/>
                          </a:solidFill>
                        </a:rPr>
                        <a:t>等工具链路</a:t>
                      </a:r>
                      <a:br>
                        <a:rPr lang="en-US" sz="1600">
                          <a:solidFill>
                            <a:schemeClr val="bg1"/>
                          </a:solidFill>
                        </a:rPr>
                      </a:br>
                      <a:r>
                        <a:rPr lang="en-US" sz="1600">
                          <a:solidFill>
                            <a:srgbClr val="FFFF00"/>
                          </a:solidFill>
                        </a:rPr>
                        <a:t>Git</a:t>
                      </a:r>
                      <a:r>
                        <a:rPr lang="en-US" sz="1600">
                          <a:solidFill>
                            <a:schemeClr val="bg1"/>
                          </a:solidFill>
                        </a:rPr>
                        <a:t>/</a:t>
                      </a:r>
                      <a:r>
                        <a:rPr lang="en-US" sz="1600">
                          <a:solidFill>
                            <a:srgbClr val="FFFF00"/>
                          </a:solidFill>
                        </a:rPr>
                        <a:t>GitHub</a:t>
                      </a:r>
                      <a:r>
                        <a:rPr lang="en-US" sz="1600">
                          <a:solidFill>
                            <a:schemeClr val="bg1"/>
                          </a:solidFill>
                        </a:rPr>
                        <a:t> </a:t>
                      </a:r>
                      <a:r>
                        <a:rPr lang="zh-CN" altLang="en-US" sz="1600">
                          <a:solidFill>
                            <a:schemeClr val="bg1"/>
                          </a:solidFill>
                        </a:rPr>
                        <a:t>版本控制 </a:t>
                      </a:r>
                      <a:r>
                        <a:rPr lang="en-US" altLang="zh-CN" sz="1600">
                          <a:solidFill>
                            <a:schemeClr val="bg1"/>
                          </a:solidFill>
                        </a:rPr>
                        <a:t>+ </a:t>
                      </a:r>
                      <a:r>
                        <a:rPr lang="en-US" sz="1600">
                          <a:solidFill>
                            <a:schemeClr val="bg1"/>
                          </a:solidFill>
                        </a:rPr>
                        <a:t>Commit Message </a:t>
                      </a:r>
                      <a:r>
                        <a:rPr lang="zh-CN" altLang="en-US" sz="160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solidFill>
                            <a:schemeClr val="bg1"/>
                          </a:solidFill>
                        </a:rPr>
                        <a:t>签字确认 </a:t>
                      </a:r>
                      <a:r>
                        <a:rPr lang="en-US" sz="160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电子签名系统、会议评审纪要 </a:t>
                      </a:r>
                      <a:r>
                        <a:rPr lang="en-US" altLang="zh-CN" sz="1600">
                          <a:solidFill>
                            <a:schemeClr val="bg1"/>
                          </a:solidFill>
                        </a:rPr>
                        <a:t>+ </a:t>
                      </a:r>
                      <a:r>
                        <a:rPr lang="zh-CN" altLang="en-US" sz="1600">
                          <a:solidFill>
                            <a:schemeClr val="bg1"/>
                          </a:solidFill>
                        </a:rPr>
                        <a:t>邮件确认</a:t>
                      </a:r>
                      <a:br>
                        <a:rPr lang="zh-CN" altLang="en-US" sz="1600">
                          <a:solidFill>
                            <a:schemeClr val="bg1"/>
                          </a:solidFill>
                        </a:rPr>
                      </a:br>
                      <a:r>
                        <a:rPr lang="zh-CN" altLang="en-US" sz="160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a:t>客观存在：对事务的认知</a:t>
            </a:r>
            <a:r>
              <a:rPr lang="zh-CN" altLang="en-US">
                <a:solidFill>
                  <a:srgbClr val="FFFF00"/>
                </a:solidFill>
              </a:rPr>
              <a:t>由浅入深</a:t>
            </a:r>
            <a:r>
              <a:rPr lang="zh-CN" altLang="en-US"/>
              <a:t>、</a:t>
            </a:r>
            <a:r>
              <a:rPr lang="zh-CN" altLang="en-US">
                <a:solidFill>
                  <a:srgbClr val="FFFF00"/>
                </a:solidFill>
              </a:rPr>
              <a:t>逐步深入</a:t>
            </a:r>
            <a:r>
              <a:rPr lang="zh-CN" altLang="en-US"/>
              <a:t>、</a:t>
            </a:r>
            <a:r>
              <a:rPr lang="zh-CN" altLang="en-US">
                <a:solidFill>
                  <a:srgbClr val="FFFF00"/>
                </a:solidFill>
              </a:rPr>
              <a:t>逐步明晰</a:t>
            </a:r>
            <a:endParaRPr lang="en-US" altLang="zh-CN">
              <a:solidFill>
                <a:srgbClr val="FFFF00"/>
              </a:solidFill>
            </a:endParaRPr>
          </a:p>
          <a:p>
            <a:r>
              <a:rPr lang="zh-CN" altLang="en-US"/>
              <a:t>正视并接受</a:t>
            </a:r>
            <a:endParaRPr lang="en-US" altLang="zh-CN"/>
          </a:p>
          <a:p>
            <a:r>
              <a:rPr lang="zh-CN" altLang="en-US"/>
              <a:t>由变更控制委员会</a:t>
            </a:r>
            <a:r>
              <a:rPr lang="en-US" altLang="zh-CN"/>
              <a:t>SCCB(Software  Change Control Board)</a:t>
            </a:r>
            <a:r>
              <a:rPr lang="zh-CN" altLang="en-US"/>
              <a:t>审核并确定</a:t>
            </a:r>
            <a:endParaRPr lang="en-US" altLang="zh-CN"/>
          </a:p>
          <a:p>
            <a:r>
              <a:rPr lang="zh-CN" altLang="en-US"/>
              <a:t>主要工作</a:t>
            </a:r>
            <a:endParaRPr lang="en-US" altLang="zh-CN"/>
          </a:p>
          <a:p>
            <a:pPr lvl="1"/>
            <a:r>
              <a:rPr lang="zh-CN" altLang="en-US"/>
              <a:t>建立需求基线 </a:t>
            </a:r>
            <a:r>
              <a:rPr lang="en-US" altLang="zh-CN"/>
              <a:t>Requirement Baseline</a:t>
            </a:r>
          </a:p>
          <a:p>
            <a:pPr lvl="1"/>
            <a:r>
              <a:rPr lang="zh-CN" altLang="en-US"/>
              <a:t>确定需求变更过程</a:t>
            </a:r>
            <a:endParaRPr lang="en-US" altLang="zh-CN"/>
          </a:p>
          <a:p>
            <a:pPr lvl="1"/>
            <a:r>
              <a:rPr lang="zh-CN" altLang="en-US"/>
              <a:t>建立变更控制委员会 </a:t>
            </a:r>
            <a:r>
              <a:rPr lang="en-US" altLang="zh-CN">
                <a:hlinkClick r:id="rId3"/>
              </a:rPr>
              <a:t>SCCB</a:t>
            </a:r>
            <a:endParaRPr lang="en-US" altLang="zh-CN"/>
          </a:p>
          <a:p>
            <a:pPr lvl="1"/>
            <a:r>
              <a:rPr lang="zh-CN" altLang="en-US"/>
              <a:t>进行变更影响分析</a:t>
            </a:r>
            <a:endParaRPr lang="en-US" altLang="zh-CN"/>
          </a:p>
          <a:p>
            <a:pPr lvl="1"/>
            <a:r>
              <a:rPr lang="zh-CN" altLang="en-US"/>
              <a:t>跟踪受影响的部分</a:t>
            </a:r>
            <a:endParaRPr lang="en-US" altLang="zh-CN"/>
          </a:p>
          <a:p>
            <a:pPr lvl="1"/>
            <a:r>
              <a:rPr lang="zh-CN" altLang="en-US"/>
              <a:t>建立变更记录</a:t>
            </a:r>
            <a:endParaRPr lang="en-US" altLang="zh-CN"/>
          </a:p>
          <a:p>
            <a:pPr lvl="1"/>
            <a:r>
              <a:rPr lang="zh-CN" altLang="en-US"/>
              <a:t>跟踪状态衡量稳定</a:t>
            </a:r>
            <a:endParaRPr lang="en-US" altLang="zh-CN"/>
          </a:p>
          <a:p>
            <a:pPr lvl="1"/>
            <a:endParaRPr lang="zh-CN" altLang="en-US"/>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a:t>
            </a:r>
            <a:r>
              <a:rPr lang="en-US" altLang="zh-CN" sz="1400">
                <a:solidFill>
                  <a:schemeClr val="bg1"/>
                </a:solidFill>
              </a:rPr>
              <a:t>UML</a:t>
            </a:r>
            <a:endParaRPr lang="zh-CN" altLang="en-US" sz="140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系统流程图 </a:t>
            </a:r>
            <a:r>
              <a:rPr lang="en-US" altLang="zh-CN" sz="1400">
                <a:solidFill>
                  <a:schemeClr val="bg1"/>
                </a:solidFill>
              </a:rPr>
              <a:t>System Flowchart</a:t>
            </a:r>
            <a:endParaRPr lang="zh-CN" altLang="en-US" sz="140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数据流 </a:t>
            </a:r>
            <a:r>
              <a:rPr lang="en-US" altLang="zh-CN" sz="1400">
                <a:solidFill>
                  <a:schemeClr val="bg1"/>
                </a:solidFill>
              </a:rPr>
              <a:t>Data Flow Diagram</a:t>
            </a:r>
            <a:endParaRPr lang="zh-CN" altLang="en-US" sz="140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用例图 </a:t>
            </a:r>
            <a:r>
              <a:rPr lang="en-US" altLang="zh-CN" sz="1400">
                <a:solidFill>
                  <a:schemeClr val="bg1"/>
                </a:solidFill>
              </a:rPr>
              <a:t>Use Case</a:t>
            </a:r>
            <a:endParaRPr lang="zh-CN" altLang="en-US" sz="140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活动图 </a:t>
            </a:r>
            <a:r>
              <a:rPr lang="en-US" altLang="zh-CN" sz="1400">
                <a:solidFill>
                  <a:schemeClr val="bg1"/>
                </a:solidFill>
              </a:rPr>
              <a:t>Activity</a:t>
            </a:r>
            <a:endParaRPr lang="zh-CN" altLang="en-US" sz="140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序列图 </a:t>
            </a:r>
            <a:r>
              <a:rPr lang="en-US" altLang="zh-CN" sz="1400">
                <a:solidFill>
                  <a:schemeClr val="bg1"/>
                </a:solidFill>
              </a:rPr>
              <a:t>Sequence</a:t>
            </a:r>
            <a:endParaRPr lang="zh-CN" altLang="en-US" sz="140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状态图 </a:t>
            </a:r>
            <a:r>
              <a:rPr lang="en-US" altLang="zh-CN" sz="1400">
                <a:solidFill>
                  <a:schemeClr val="bg1"/>
                </a:solidFill>
              </a:rPr>
              <a:t>State Machine</a:t>
            </a:r>
            <a:endParaRPr lang="zh-CN" altLang="en-US" sz="1400">
              <a:solidFill>
                <a:schemeClr val="bg1"/>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影响地图 </a:t>
            </a:r>
            <a:r>
              <a:rPr lang="en-US" altLang="zh-CN" sz="140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需求池 </a:t>
            </a:r>
            <a:r>
              <a:rPr lang="en-US" altLang="zh-CN" sz="140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用户故事地图 </a:t>
            </a:r>
            <a:r>
              <a:rPr lang="en-US" altLang="zh-CN" sz="140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用户故事编写 </a:t>
            </a:r>
            <a:r>
              <a:rPr lang="en-US" altLang="zh-CN" sz="140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INVEST </a:t>
            </a:r>
            <a:r>
              <a:rPr lang="zh-CN" altLang="en-US" sz="1400">
                <a:solidFill>
                  <a:schemeClr val="bg1"/>
                </a:solidFill>
              </a:rPr>
              <a:t>原则</a:t>
            </a:r>
            <a:endParaRPr lang="en-US" altLang="zh-CN" sz="140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行为驱动开发 </a:t>
            </a:r>
            <a:r>
              <a:rPr lang="en-US" altLang="zh-CN" sz="140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 …</a:t>
            </a:r>
            <a:endParaRPr lang="zh-CN" altLang="en-US" sz="1400">
              <a:solidFill>
                <a:schemeClr val="bg1"/>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a:t>系统流程图 </a:t>
            </a:r>
            <a:r>
              <a:rPr lang="en-US" altLang="zh-CN"/>
              <a:t>System Flowchart</a:t>
            </a:r>
          </a:p>
          <a:p>
            <a:r>
              <a:rPr lang="zh-CN" altLang="en-US"/>
              <a:t>以图形符号“</a:t>
            </a:r>
            <a:r>
              <a:rPr lang="zh-CN" altLang="en-US">
                <a:solidFill>
                  <a:srgbClr val="FFFF00"/>
                </a:solidFill>
              </a:rPr>
              <a:t>黑盒子</a:t>
            </a:r>
            <a:r>
              <a:rPr lang="zh-CN" altLang="en-US"/>
              <a:t>”形式描绘系统内部的各个部件（如程序、文件、数据库、人工过程等），并表达信息在这些部件之间的流动情况</a:t>
            </a:r>
            <a:endParaRPr lang="en-US" altLang="zh-CN"/>
          </a:p>
          <a:p>
            <a:r>
              <a:rPr lang="zh-CN" altLang="en-US"/>
              <a:t>不表示对信息的加工处理控制过程，而是侧重于系统各部件之间的数据流动关系</a:t>
            </a:r>
            <a:endParaRPr lang="en-US" altLang="zh-CN"/>
          </a:p>
          <a:p>
            <a:pPr lvl="1"/>
            <a:r>
              <a:rPr lang="zh-CN" altLang="en-US"/>
              <a:t>只关心“做什么”，不关心“数据存在哪”</a:t>
            </a:r>
            <a:endParaRPr lang="en-US" altLang="zh-CN"/>
          </a:p>
          <a:p>
            <a:r>
              <a:rPr lang="zh-CN" altLang="en-US"/>
              <a:t>基本图例</a:t>
            </a:r>
            <a:endParaRPr lang="en-US" altLang="zh-CN"/>
          </a:p>
          <a:p>
            <a:pPr lvl="1"/>
            <a:r>
              <a:rPr lang="zh-CN" altLang="en-US"/>
              <a:t>开始</a:t>
            </a:r>
            <a:r>
              <a:rPr lang="en-US" altLang="zh-CN"/>
              <a:t>/</a:t>
            </a:r>
            <a:r>
              <a:rPr lang="zh-CN" altLang="en-US"/>
              <a:t>结束</a:t>
            </a:r>
            <a:endParaRPr lang="en-US" altLang="zh-CN"/>
          </a:p>
          <a:p>
            <a:pPr lvl="1"/>
            <a:r>
              <a:rPr lang="zh-CN" altLang="en-US"/>
              <a:t>处理</a:t>
            </a:r>
            <a:endParaRPr lang="en-US" altLang="zh-CN"/>
          </a:p>
          <a:p>
            <a:pPr lvl="1"/>
            <a:r>
              <a:rPr lang="zh-CN" altLang="en-US"/>
              <a:t>判断</a:t>
            </a:r>
            <a:endParaRPr lang="en-US" altLang="zh-CN"/>
          </a:p>
          <a:p>
            <a:pPr lvl="1"/>
            <a:r>
              <a:rPr lang="zh-CN" altLang="en-US"/>
              <a:t>输入</a:t>
            </a:r>
            <a:r>
              <a:rPr lang="en-US" altLang="zh-CN"/>
              <a:t>/</a:t>
            </a:r>
            <a:r>
              <a:rPr lang="zh-CN" altLang="en-US"/>
              <a:t>输出</a:t>
            </a:r>
            <a:endParaRPr lang="en-US" altLang="zh-CN"/>
          </a:p>
          <a:p>
            <a:endParaRPr lang="zh-CN" altLang="en-US"/>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935353738"/>
              </p:ext>
            </p:extLst>
          </p:nvPr>
        </p:nvGraphicFramePr>
        <p:xfrm>
          <a:off x="696000" y="1515786"/>
          <a:ext cx="10800000" cy="3826428"/>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60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定义符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由</a:t>
                      </a:r>
                      <a:r>
                        <a:rPr lang="en-US" altLang="zh-CN" sz="1600">
                          <a:solidFill>
                            <a:schemeClr val="bg1"/>
                          </a:solidFill>
                        </a:rPr>
                        <a:t>……</a:t>
                      </a:r>
                      <a:r>
                        <a:rPr lang="zh-CN" altLang="en-US" sz="1600">
                          <a:solidFill>
                            <a:schemeClr val="bg1"/>
                          </a:solidFill>
                        </a:rPr>
                        <a:t>组成</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订单</a:t>
                      </a:r>
                      <a:r>
                        <a:rPr lang="en-US" altLang="zh-CN" sz="1600">
                          <a:solidFill>
                            <a:schemeClr val="bg1"/>
                          </a:solidFill>
                          <a:latin typeface="Courier New" panose="02070309020205020404" pitchFamily="49" charset="0"/>
                        </a:rPr>
                        <a:t>ID + </a:t>
                      </a:r>
                      <a:r>
                        <a:rPr lang="zh-CN" altLang="en-US" sz="1600">
                          <a:solidFill>
                            <a:schemeClr val="bg1"/>
                          </a:solidFill>
                          <a:latin typeface="Courier New" panose="02070309020205020404" pitchFamily="49" charset="0"/>
                        </a:rPr>
                        <a:t>客户名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连接符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和 </a:t>
                      </a:r>
                      <a:r>
                        <a:rPr lang="en-US" altLang="zh-CN" sz="1600">
                          <a:solidFill>
                            <a:schemeClr val="bg1"/>
                          </a:solidFill>
                        </a:rPr>
                        <a:t>/ </a:t>
                      </a:r>
                      <a:r>
                        <a:rPr lang="zh-CN" altLang="en-US" sz="1600">
                          <a:solidFill>
                            <a:schemeClr val="bg1"/>
                          </a:solidFill>
                        </a:rPr>
                        <a:t>与</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地址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市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区</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选择符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或 </a:t>
                      </a:r>
                      <a:r>
                        <a:rPr lang="en-US" altLang="zh-CN" sz="1600">
                          <a:solidFill>
                            <a:schemeClr val="bg1"/>
                          </a:solidFill>
                        </a:rPr>
                        <a:t>/ </a:t>
                      </a:r>
                      <a:r>
                        <a:rPr lang="zh-CN" altLang="en-US" sz="1600">
                          <a:solidFill>
                            <a:schemeClr val="bg1"/>
                          </a:solidFill>
                        </a:rPr>
                        <a:t>互斥</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支付方式 </a:t>
                      </a:r>
                      <a:r>
                        <a:rPr lang="en-US" altLang="zh-CN" sz="1600">
                          <a:solidFill>
                            <a:schemeClr val="bg1"/>
                          </a:solidFill>
                        </a:rPr>
                        <a:t>= [</a:t>
                      </a:r>
                      <a:r>
                        <a:rPr lang="zh-CN" altLang="en-US" sz="1600">
                          <a:solidFill>
                            <a:schemeClr val="bg1"/>
                          </a:solidFill>
                        </a:rPr>
                        <a:t>支付宝 </a:t>
                      </a:r>
                      <a:r>
                        <a:rPr lang="en-US" altLang="zh-CN" sz="1600">
                          <a:solidFill>
                            <a:schemeClr val="bg1"/>
                          </a:solidFill>
                        </a:rPr>
                        <a:t>| </a:t>
                      </a:r>
                      <a:r>
                        <a:rPr lang="zh-CN" altLang="en-US" sz="1600">
                          <a:solidFill>
                            <a:schemeClr val="bg1"/>
                          </a:solidFill>
                        </a:rPr>
                        <a:t>微信</a:t>
                      </a:r>
                      <a:r>
                        <a:rPr lang="en-US" altLang="zh-CN" sz="1600">
                          <a:solidFill>
                            <a:schemeClr val="bg1"/>
                          </a:solidFill>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电话 </a:t>
                      </a:r>
                      <a:r>
                        <a:rPr lang="en-US" altLang="zh-CN" sz="1600">
                          <a:solidFill>
                            <a:schemeClr val="bg1"/>
                          </a:solidFill>
                          <a:latin typeface="Courier New" panose="02070309020205020404" pitchFamily="49" charset="0"/>
                        </a:rPr>
                        <a:t>=(</a:t>
                      </a:r>
                      <a:r>
                        <a:rPr lang="zh-CN" altLang="en-US" sz="1600">
                          <a:solidFill>
                            <a:schemeClr val="bg1"/>
                          </a:solidFill>
                          <a:latin typeface="Courier New" panose="02070309020205020404" pitchFamily="49" charset="0"/>
                        </a:rPr>
                        <a:t>区号</a:t>
                      </a:r>
                      <a:r>
                        <a:rPr lang="en-US" altLang="zh-CN" sz="1600">
                          <a:solidFill>
                            <a:schemeClr val="bg1"/>
                          </a:solidFill>
                          <a:latin typeface="Courier New" panose="02070309020205020404" pitchFamily="49" charset="0"/>
                        </a:rPr>
                        <a:t>) + </a:t>
                      </a:r>
                      <a:r>
                        <a:rPr lang="zh-CN" altLang="en-US" sz="1600">
                          <a:solidFill>
                            <a:schemeClr val="bg1"/>
                          </a:solidFill>
                          <a:latin typeface="Courier New" panose="02070309020205020404" pitchFamily="49" charset="0"/>
                        </a:rPr>
                        <a:t>号码</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订单明细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商品信息</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表示花括号内的元素可以重复出现（</a:t>
                      </a:r>
                      <a:r>
                        <a:rPr lang="en-US" altLang="zh-CN" sz="1600">
                          <a:solidFill>
                            <a:schemeClr val="bg1"/>
                          </a:solidFill>
                        </a:rPr>
                        <a:t>0</a:t>
                      </a:r>
                      <a:r>
                        <a:rPr lang="zh-CN" altLang="en-US" sz="1600">
                          <a:solidFill>
                            <a:schemeClr val="bg1"/>
                          </a:solidFill>
                        </a:rPr>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600">
                          <a:solidFill>
                            <a:schemeClr val="bg1"/>
                          </a:solidFill>
                        </a:rPr>
                        <a:t>{ }n</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限定重复符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固定次数重复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坐标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数字</a:t>
                      </a:r>
                      <a:r>
                        <a:rPr lang="en-US" altLang="zh-CN" sz="1600">
                          <a:solidFill>
                            <a:schemeClr val="bg1"/>
                          </a:solidFill>
                          <a:latin typeface="Courier New" panose="02070309020205020404" pitchFamily="49" charset="0"/>
                        </a:rPr>
                        <a:t>}2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表示花括号内的元素必须重复 </a:t>
                      </a:r>
                      <a:r>
                        <a:rPr lang="en-US" altLang="zh-CN" sz="1600">
                          <a:solidFill>
                            <a:schemeClr val="bg1"/>
                          </a:solidFill>
                        </a:rPr>
                        <a:t>n </a:t>
                      </a:r>
                      <a:r>
                        <a:rPr lang="zh-CN" altLang="en-US" sz="1600">
                          <a:solidFill>
                            <a:schemeClr val="bg1"/>
                          </a:solidFill>
                        </a:rPr>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600">
                          <a:solidFill>
                            <a:schemeClr val="bg1"/>
                          </a:solidFill>
                        </a:rPr>
                        <a:t>{ }</a:t>
                      </a:r>
                      <a:r>
                        <a:rPr lang="en-US" sz="1600" err="1">
                          <a:solidFill>
                            <a:schemeClr val="bg1"/>
                          </a:solidFill>
                        </a:rPr>
                        <a:t>m,n</a:t>
                      </a:r>
                      <a:endParaRPr 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密码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字母或数字</a:t>
                      </a:r>
                      <a:r>
                        <a:rPr lang="en-US" altLang="zh-CN" sz="1600">
                          <a:solidFill>
                            <a:schemeClr val="bg1"/>
                          </a:solidFill>
                          <a:latin typeface="Courier New" panose="02070309020205020404" pitchFamily="49" charset="0"/>
                        </a:rPr>
                        <a:t>}6,12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表示花括号内的元素重复次数在 </a:t>
                      </a:r>
                      <a:r>
                        <a:rPr lang="en-US" altLang="zh-CN" sz="1600">
                          <a:solidFill>
                            <a:schemeClr val="bg1"/>
                          </a:solidFill>
                        </a:rPr>
                        <a:t>m </a:t>
                      </a:r>
                      <a:r>
                        <a:rPr lang="zh-CN" altLang="en-US" sz="1600">
                          <a:solidFill>
                            <a:schemeClr val="bg1"/>
                          </a:solidFill>
                        </a:rPr>
                        <a:t>到 </a:t>
                      </a:r>
                      <a:r>
                        <a:rPr lang="en-US" altLang="zh-CN" sz="1600">
                          <a:solidFill>
                            <a:schemeClr val="bg1"/>
                          </a:solidFill>
                        </a:rPr>
                        <a:t>n </a:t>
                      </a:r>
                      <a:r>
                        <a:rPr lang="zh-CN" altLang="en-US" sz="1600">
                          <a:solidFill>
                            <a:schemeClr val="bg1"/>
                          </a:solidFill>
                        </a:rPr>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省略符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年龄 </a:t>
                      </a:r>
                      <a:r>
                        <a:rPr lang="en-US" altLang="zh-CN" sz="1600">
                          <a:solidFill>
                            <a:schemeClr val="bg1"/>
                          </a:solidFill>
                          <a:latin typeface="Courier New" panose="02070309020205020404" pitchFamily="49" charset="0"/>
                        </a:rPr>
                        <a:t>= 0…150</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a:t>
            </a:r>
            <a:r>
              <a:rPr lang="zh-CN" altLang="en-US">
                <a:solidFill>
                  <a:srgbClr val="FFFF00"/>
                </a:solidFill>
              </a:rPr>
              <a:t>逆向推导</a:t>
            </a:r>
            <a:r>
              <a:rPr lang="zh-CN" altLang="en-US"/>
              <a:t>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Goal</a:t>
            </a:r>
            <a:endParaRPr lang="zh-CN" altLang="en-US" sz="1600">
              <a:solidFill>
                <a:schemeClr val="bg1"/>
              </a:solidFill>
            </a:endParaRP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Delivery</a:t>
            </a:r>
            <a:endParaRPr lang="zh-CN" altLang="en-US" sz="1600">
              <a:solidFill>
                <a:schemeClr val="bg1"/>
              </a:solidFill>
            </a:endParaRP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a:solidFill>
                  <a:schemeClr val="bg1"/>
                </a:solidFill>
              </a:rPr>
              <a:t>Why</a:t>
            </a:r>
            <a:endParaRPr lang="zh-CN" altLang="en-US">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1015021" cy="369332"/>
          </a:xfrm>
          <a:prstGeom prst="rect">
            <a:avLst/>
          </a:prstGeom>
          <a:noFill/>
        </p:spPr>
        <p:txBody>
          <a:bodyPr wrap="none" rtlCol="0">
            <a:spAutoFit/>
          </a:bodyPr>
          <a:lstStyle/>
          <a:p>
            <a:r>
              <a:rPr lang="en-US" altLang="zh-CN">
                <a:solidFill>
                  <a:schemeClr val="bg1"/>
                </a:solidFill>
              </a:rPr>
              <a:t>Impact</a:t>
            </a:r>
            <a:endParaRPr lang="zh-CN" altLang="en-US">
              <a:solidFill>
                <a:schemeClr val="bg1"/>
              </a:solidFill>
            </a:endParaRP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a:solidFill>
                  <a:schemeClr val="bg1"/>
                </a:solidFill>
              </a:rPr>
              <a:t>Who</a:t>
            </a:r>
            <a:endParaRPr lang="zh-CN" altLang="en-US">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a:solidFill>
                  <a:schemeClr val="bg1"/>
                </a:solidFill>
              </a:rPr>
              <a:t>How</a:t>
            </a:r>
            <a:endParaRPr lang="zh-CN" altLang="en-US">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a:solidFill>
                  <a:schemeClr val="bg1"/>
                </a:solidFill>
              </a:rPr>
              <a:t>What</a:t>
            </a:r>
            <a:endParaRPr lang="zh-CN" altLang="en-US">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809837" cy="369332"/>
          </a:xfrm>
          <a:prstGeom prst="rect">
            <a:avLst/>
          </a:prstGeom>
          <a:noFill/>
        </p:spPr>
        <p:txBody>
          <a:bodyPr wrap="none" rtlCol="0">
            <a:spAutoFit/>
          </a:bodyPr>
          <a:lstStyle/>
          <a:p>
            <a:r>
              <a:rPr lang="en-US" altLang="zh-CN">
                <a:solidFill>
                  <a:schemeClr val="bg1"/>
                </a:solidFill>
              </a:rPr>
              <a:t>Actor</a:t>
            </a:r>
            <a:endParaRPr lang="zh-CN" altLang="en-US">
              <a:solidFill>
                <a:schemeClr val="bg1"/>
              </a:solidFill>
            </a:endParaRPr>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4033241661"/>
              </p:ext>
            </p:extLst>
          </p:nvPr>
        </p:nvGraphicFramePr>
        <p:xfrm>
          <a:off x="1302775" y="467360"/>
          <a:ext cx="9586450" cy="592328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central of an impact map answers the most important question: </a:t>
                      </a:r>
                      <a:r>
                        <a:rPr lang="en-US" altLang="zh-CN">
                          <a:solidFill>
                            <a:srgbClr val="FFFF00"/>
                          </a:solidFill>
                        </a:rPr>
                        <a:t>Why</a:t>
                      </a:r>
                      <a:r>
                        <a:rPr lang="en-US" altLang="zh-CN">
                          <a:solidFill>
                            <a:schemeClr val="bg1"/>
                          </a:solidFill>
                        </a:rPr>
                        <a:t> are we doing this? This is the goal we are </a:t>
                      </a:r>
                      <a:r>
                        <a:rPr lang="en-US" altLang="zh-CN">
                          <a:solidFill>
                            <a:srgbClr val="FFFF00"/>
                          </a:solidFill>
                        </a:rPr>
                        <a:t>trying to achieve</a:t>
                      </a:r>
                      <a:r>
                        <a:rPr lang="en-US" altLang="zh-CN">
                          <a:solidFill>
                            <a:schemeClr val="bg1"/>
                          </a:solidFill>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2000">
                          <a:solidFill>
                            <a:srgbClr val="FFFF00"/>
                          </a:solidFill>
                        </a:rPr>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second branch level of an impact map sets the actors in the perspective of our business goal. It answers the following questions: </a:t>
                      </a:r>
                      <a:r>
                        <a:rPr lang="en-US" altLang="zh-CN">
                          <a:solidFill>
                            <a:srgbClr val="FFFF00"/>
                          </a:solidFill>
                        </a:rPr>
                        <a:t>How</a:t>
                      </a:r>
                      <a:r>
                        <a:rPr lang="en-US" altLang="zh-CN">
                          <a:solidFill>
                            <a:schemeClr val="bg1"/>
                          </a:solidFill>
                        </a:rPr>
                        <a:t> should our actors’ behaviors change? </a:t>
                      </a:r>
                      <a:r>
                        <a:rPr lang="en-US" altLang="zh-CN">
                          <a:solidFill>
                            <a:srgbClr val="FFFF00"/>
                          </a:solidFill>
                        </a:rPr>
                        <a:t>How</a:t>
                      </a:r>
                      <a:r>
                        <a:rPr lang="en-US" altLang="zh-CN">
                          <a:solidFill>
                            <a:schemeClr val="bg1"/>
                          </a:solidFill>
                        </a:rPr>
                        <a:t> can they help us to achieve the goal? How can they obstruct or prevent us from succeeding? These are the impacts that we’re trying to create.</a:t>
                      </a:r>
                      <a:endParaRPr lang="zh-CN" alt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solidFill>
                            <a:schemeClr val="bg1"/>
                          </a:solidFill>
                        </a:rPr>
                        <a:t>Push updates on the app</a:t>
                      </a:r>
                      <a:br>
                        <a:rPr lang="en-US" sz="1600">
                          <a:solidFill>
                            <a:schemeClr val="bg1"/>
                          </a:solidFill>
                        </a:rPr>
                      </a:br>
                      <a:r>
                        <a:rPr lang="en-US" sz="1600" err="1">
                          <a:solidFill>
                            <a:schemeClr val="bg1"/>
                          </a:solidFill>
                        </a:rPr>
                        <a:t>App</a:t>
                      </a:r>
                      <a:r>
                        <a:rPr lang="en-US" sz="1600">
                          <a:solidFill>
                            <a:schemeClr val="bg1"/>
                          </a:solidFill>
                        </a:rPr>
                        <a:t> </a:t>
                      </a:r>
                      <a:r>
                        <a:rPr lang="zh-CN" altLang="en-US" sz="160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主动提醒用户有新内容</a:t>
                      </a:r>
                      <a:r>
                        <a:rPr lang="en-US" altLang="zh-CN" sz="1600">
                          <a:solidFill>
                            <a:schemeClr val="bg1"/>
                          </a:solidFill>
                        </a:rPr>
                        <a:t>/</a:t>
                      </a:r>
                      <a:r>
                        <a:rPr lang="zh-CN" altLang="en-US" sz="160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提高日活</a:t>
                      </a:r>
                      <a:r>
                        <a:rPr lang="en-US" altLang="zh-CN" sz="1600">
                          <a:solidFill>
                            <a:schemeClr val="bg1"/>
                          </a:solidFill>
                        </a:rPr>
                        <a:t>/</a:t>
                      </a:r>
                      <a:r>
                        <a:rPr lang="zh-CN" altLang="en-US" sz="160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solidFill>
                            <a:schemeClr val="bg1"/>
                          </a:solidFill>
                        </a:rPr>
                        <a:t>Special offers every month</a:t>
                      </a:r>
                      <a:br>
                        <a:rPr lang="en-US" sz="1600">
                          <a:solidFill>
                            <a:schemeClr val="bg1"/>
                          </a:solidFill>
                        </a:rPr>
                      </a:br>
                      <a:r>
                        <a:rPr lang="zh-CN" altLang="en-US" sz="160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solidFill>
                            <a:schemeClr val="bg1"/>
                          </a:solidFill>
                        </a:rPr>
                        <a:t>Better layout when browsing events</a:t>
                      </a:r>
                      <a:br>
                        <a:rPr lang="en-US" sz="1600">
                          <a:solidFill>
                            <a:schemeClr val="bg1"/>
                          </a:solidFill>
                        </a:rPr>
                      </a:br>
                      <a:r>
                        <a:rPr lang="zh-CN" altLang="en-US" sz="160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间接支持“</a:t>
                      </a:r>
                      <a:r>
                        <a:rPr lang="en-US" sz="1600">
                          <a:solidFill>
                            <a:schemeClr val="bg1"/>
                          </a:solidFill>
                        </a:rPr>
                        <a:t>Stay longer”</a:t>
                      </a:r>
                      <a:r>
                        <a:rPr lang="zh-CN" altLang="en-US" sz="1600">
                          <a:solidFill>
                            <a:schemeClr val="bg1"/>
                          </a:solidFill>
                        </a:rPr>
                        <a:t>和“</a:t>
                      </a:r>
                      <a:r>
                        <a:rPr lang="en-US" sz="160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a:t>需求池 </a:t>
            </a:r>
            <a:r>
              <a:rPr lang="en-US" altLang="zh-CN"/>
              <a:t>Product Backlog</a:t>
            </a:r>
          </a:p>
          <a:p>
            <a:r>
              <a:rPr lang="zh-CN" altLang="en-US"/>
              <a:t>产品代办事项</a:t>
            </a:r>
            <a:endParaRPr lang="en-US" altLang="zh-CN"/>
          </a:p>
          <a:p>
            <a:endParaRPr lang="zh-CN" altLang="en-US"/>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a:solidFill>
                  <a:srgbClr val="FFFF00"/>
                </a:solidFill>
              </a:rPr>
              <a:t>AS A</a:t>
            </a:r>
            <a:r>
              <a:rPr lang="en-US" altLang="zh-CN">
                <a:solidFill>
                  <a:schemeClr val="bg1"/>
                </a:solidFill>
              </a:rPr>
              <a:t> {user | persona | system},</a:t>
            </a:r>
          </a:p>
          <a:p>
            <a:pPr marL="0" lvl="1">
              <a:lnSpc>
                <a:spcPct val="150000"/>
              </a:lnSpc>
            </a:pPr>
            <a:r>
              <a:rPr lang="en-US" altLang="zh-CN">
                <a:solidFill>
                  <a:schemeClr val="bg1"/>
                </a:solidFill>
              </a:rPr>
              <a:t>[INSTEAD OF {current condition}]</a:t>
            </a:r>
          </a:p>
          <a:p>
            <a:pPr marL="0" lvl="1">
              <a:lnSpc>
                <a:spcPct val="150000"/>
              </a:lnSpc>
            </a:pPr>
            <a:r>
              <a:rPr lang="en-US" altLang="zh-CN">
                <a:solidFill>
                  <a:srgbClr val="FFFF00"/>
                </a:solidFill>
              </a:rPr>
              <a:t>I WANT TO </a:t>
            </a:r>
            <a:r>
              <a:rPr lang="en-US" altLang="zh-CN">
                <a:solidFill>
                  <a:schemeClr val="bg1"/>
                </a:solidFill>
              </a:rPr>
              <a:t>{action} [IN {mode} TIME | IN {differentiating performance units} TO {utility performance units}</a:t>
            </a:r>
          </a:p>
          <a:p>
            <a:pPr marL="0" lvl="1">
              <a:lnSpc>
                <a:spcPct val="150000"/>
              </a:lnSpc>
            </a:pPr>
            <a:r>
              <a:rPr lang="en-US" altLang="zh-CN">
                <a:solidFill>
                  <a:schemeClr val="bg1"/>
                </a:solidFill>
              </a:rPr>
              <a:t>[</a:t>
            </a:r>
            <a:r>
              <a:rPr lang="en-US" altLang="zh-CN">
                <a:solidFill>
                  <a:srgbClr val="FFFF00"/>
                </a:solidFill>
              </a:rPr>
              <a:t>SO THAT </a:t>
            </a:r>
            <a:r>
              <a:rPr lang="en-US" altLang="zh-CN">
                <a:solidFill>
                  <a:schemeClr val="bg1"/>
                </a:solidFill>
              </a:rPr>
              <a:t>{value or justification}]</a:t>
            </a:r>
          </a:p>
          <a:p>
            <a:pPr marL="0" lvl="1">
              <a:lnSpc>
                <a:spcPct val="150000"/>
              </a:lnSpc>
            </a:pPr>
            <a:r>
              <a:rPr lang="en-US" altLang="zh-CN">
                <a:solidFill>
                  <a:schemeClr val="bg1"/>
                </a:solidFill>
              </a:rPr>
              <a:t>[</a:t>
            </a:r>
            <a:r>
              <a:rPr lang="en-US" altLang="zh-CN">
                <a:solidFill>
                  <a:srgbClr val="FFFF00"/>
                </a:solidFill>
              </a:rPr>
              <a:t>NO LATER </a:t>
            </a:r>
            <a:r>
              <a:rPr lang="en-US" altLang="zh-CN">
                <a:solidFill>
                  <a:schemeClr val="bg1"/>
                </a:solidFill>
              </a:rPr>
              <a:t>THAN {best by date}]</a:t>
            </a:r>
            <a:endParaRPr lang="zh-CN" altLang="en-US" sz="1600">
              <a:solidFill>
                <a:schemeClr val="bg1"/>
              </a:solidFill>
            </a:endParaRPr>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bg1"/>
                          </a:solidFill>
                        </a:rPr>
                        <a:t>Story name</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Story ID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bg1"/>
                          </a:solidFill>
                        </a:rPr>
                        <a:t>As a …</a:t>
                      </a:r>
                    </a:p>
                    <a:p>
                      <a:pPr>
                        <a:lnSpc>
                          <a:spcPct val="100000"/>
                        </a:lnSpc>
                      </a:pPr>
                      <a:r>
                        <a:rPr lang="en-US" altLang="zh-CN" sz="1600">
                          <a:solidFill>
                            <a:schemeClr val="bg1"/>
                          </a:solidFill>
                        </a:rPr>
                        <a:t>I want to…</a:t>
                      </a:r>
                    </a:p>
                    <a:p>
                      <a:pPr>
                        <a:lnSpc>
                          <a:spcPct val="100000"/>
                        </a:lnSpc>
                      </a:pPr>
                      <a:r>
                        <a:rPr lang="en-US" altLang="zh-CN" sz="1600">
                          <a:solidFill>
                            <a:schemeClr val="bg1"/>
                          </a:solidFill>
                        </a:rPr>
                        <a:t>So that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Priorities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High 1 2 3 4 5 low</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Iteration number</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a:solidFill>
                            <a:schemeClr val="bg1"/>
                          </a:solidFill>
                        </a:rPr>
                        <a:t>Date started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Date</a:t>
                      </a:r>
                      <a:r>
                        <a:rPr lang="zh-CN" altLang="en-US" sz="1600">
                          <a:solidFill>
                            <a:schemeClr val="bg1"/>
                          </a:solidFill>
                        </a:rPr>
                        <a:t> </a:t>
                      </a:r>
                      <a:r>
                        <a:rPr lang="en-US" altLang="zh-CN" sz="1600">
                          <a:solidFill>
                            <a:schemeClr val="bg1"/>
                          </a:solidFill>
                        </a:rPr>
                        <a:t>finished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Notes:</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通过关键词搜索商品</a:t>
                      </a:r>
                      <a:br>
                        <a:rPr lang="zh-CN" altLang="en-US" sz="1600">
                          <a:solidFill>
                            <a:schemeClr val="bg1"/>
                          </a:solidFill>
                        </a:rPr>
                      </a:br>
                      <a:r>
                        <a:rPr lang="zh-CN" altLang="en-US" sz="1600">
                          <a:solidFill>
                            <a:srgbClr val="FFFF00"/>
                          </a:solidFill>
                        </a:rPr>
                        <a:t>以便</a:t>
                      </a:r>
                      <a:r>
                        <a:rPr lang="zh-CN" altLang="en-US" sz="160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支持模糊匹配</a:t>
                      </a:r>
                      <a:br>
                        <a:rPr lang="zh-CN" altLang="en-US" sz="1600">
                          <a:solidFill>
                            <a:schemeClr val="bg1"/>
                          </a:solidFill>
                        </a:rPr>
                      </a:br>
                      <a:r>
                        <a:rPr lang="en-US" altLang="zh-CN" sz="1600">
                          <a:solidFill>
                            <a:schemeClr val="bg1"/>
                          </a:solidFill>
                        </a:rPr>
                        <a:t>2. </a:t>
                      </a:r>
                      <a:r>
                        <a:rPr lang="zh-CN" altLang="en-US" sz="160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查看商品的详细图片和描述</a:t>
                      </a:r>
                      <a:br>
                        <a:rPr lang="zh-CN" altLang="en-US" sz="1600">
                          <a:solidFill>
                            <a:schemeClr val="bg1"/>
                          </a:solidFill>
                        </a:rPr>
                      </a:br>
                      <a:r>
                        <a:rPr lang="zh-CN" altLang="en-US" sz="1600">
                          <a:solidFill>
                            <a:srgbClr val="FFFF00"/>
                          </a:solidFill>
                        </a:rPr>
                        <a:t>以便</a:t>
                      </a:r>
                      <a:r>
                        <a:rPr lang="zh-CN" altLang="en-US" sz="160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图片支持放大查看</a:t>
                      </a:r>
                      <a:br>
                        <a:rPr lang="zh-CN" altLang="en-US" sz="1600">
                          <a:solidFill>
                            <a:schemeClr val="bg1"/>
                          </a:solidFill>
                        </a:rPr>
                      </a:br>
                      <a:r>
                        <a:rPr lang="en-US" altLang="zh-CN" sz="1600">
                          <a:solidFill>
                            <a:schemeClr val="bg1"/>
                          </a:solidFill>
                        </a:rPr>
                        <a:t>2. </a:t>
                      </a:r>
                      <a:r>
                        <a:rPr lang="zh-CN" altLang="en-US" sz="160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按价格或销量对搜索结果排序</a:t>
                      </a:r>
                      <a:br>
                        <a:rPr lang="zh-CN" altLang="en-US" sz="1600">
                          <a:solidFill>
                            <a:schemeClr val="bg1"/>
                          </a:solidFill>
                        </a:rPr>
                      </a:br>
                      <a:r>
                        <a:rPr lang="zh-CN" altLang="en-US" sz="1600">
                          <a:solidFill>
                            <a:srgbClr val="FFFF00"/>
                          </a:solidFill>
                        </a:rPr>
                        <a:t>以便</a:t>
                      </a:r>
                      <a:r>
                        <a:rPr lang="zh-CN" altLang="en-US" sz="160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支持升序</a:t>
                      </a:r>
                      <a:r>
                        <a:rPr lang="en-US" altLang="zh-CN" sz="1600">
                          <a:solidFill>
                            <a:schemeClr val="bg1"/>
                          </a:solidFill>
                        </a:rPr>
                        <a:t>/</a:t>
                      </a:r>
                      <a:r>
                        <a:rPr lang="zh-CN" altLang="en-US" sz="160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solidFill>
                            <a:schemeClr val="bg1"/>
                          </a:solidFill>
                        </a:rPr>
                        <a:t>P2 (</a:t>
                      </a:r>
                      <a:r>
                        <a:rPr lang="zh-CN" altLang="en-US" sz="1600">
                          <a:solidFill>
                            <a:schemeClr val="bg1"/>
                          </a:solidFill>
                        </a:rPr>
                        <a:t>低</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查看其他用户的商品评价</a:t>
                      </a:r>
                      <a:br>
                        <a:rPr lang="zh-CN" altLang="en-US" sz="1600">
                          <a:solidFill>
                            <a:schemeClr val="bg1"/>
                          </a:solidFill>
                        </a:rPr>
                      </a:br>
                      <a:r>
                        <a:rPr lang="zh-CN" altLang="en-US" sz="1600">
                          <a:solidFill>
                            <a:srgbClr val="FFFF00"/>
                          </a:solidFill>
                        </a:rPr>
                        <a:t>以便</a:t>
                      </a:r>
                      <a:r>
                        <a:rPr lang="zh-CN" altLang="en-US" sz="160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显示评分星级</a:t>
                      </a:r>
                      <a:br>
                        <a:rPr lang="zh-CN" altLang="en-US" sz="1600">
                          <a:solidFill>
                            <a:schemeClr val="bg1"/>
                          </a:solidFill>
                        </a:rPr>
                      </a:br>
                      <a:r>
                        <a:rPr lang="en-US" altLang="zh-CN" sz="1600">
                          <a:solidFill>
                            <a:schemeClr val="bg1"/>
                          </a:solidFill>
                        </a:rPr>
                        <a:t>2. </a:t>
                      </a:r>
                      <a:r>
                        <a:rPr lang="zh-CN" altLang="en-US" sz="160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选择商品的颜色、尺寸等规格</a:t>
                      </a:r>
                      <a:br>
                        <a:rPr lang="zh-CN" altLang="en-US" sz="1600">
                          <a:solidFill>
                            <a:schemeClr val="bg1"/>
                          </a:solidFill>
                        </a:rPr>
                      </a:br>
                      <a:r>
                        <a:rPr lang="zh-CN" altLang="en-US" sz="1600">
                          <a:solidFill>
                            <a:srgbClr val="FFFF00"/>
                          </a:solidFill>
                        </a:rPr>
                        <a:t>以便</a:t>
                      </a:r>
                      <a:r>
                        <a:rPr lang="zh-CN" altLang="en-US" sz="160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 </a:t>
                      </a:r>
                      <a:r>
                        <a:rPr lang="zh-CN" altLang="en-US" sz="1600">
                          <a:solidFill>
                            <a:schemeClr val="bg1"/>
                          </a:solidFill>
                        </a:rPr>
                        <a:t>缺货规格置灰不可选</a:t>
                      </a:r>
                      <a:br>
                        <a:rPr lang="zh-CN" altLang="en-US" sz="1600">
                          <a:solidFill>
                            <a:schemeClr val="bg1"/>
                          </a:solidFill>
                        </a:rPr>
                      </a:br>
                      <a:r>
                        <a:rPr lang="en-US" altLang="zh-CN" sz="1600">
                          <a:solidFill>
                            <a:schemeClr val="bg1"/>
                          </a:solidFill>
                        </a:rPr>
                        <a:t>2. </a:t>
                      </a:r>
                      <a:r>
                        <a:rPr lang="zh-CN" altLang="en-US" sz="160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设定购买数量并添加到购物车</a:t>
                      </a:r>
                      <a:br>
                        <a:rPr lang="zh-CN" altLang="en-US" sz="1600">
                          <a:solidFill>
                            <a:schemeClr val="bg1"/>
                          </a:solidFill>
                        </a:rPr>
                      </a:br>
                      <a:r>
                        <a:rPr lang="zh-CN" altLang="en-US" sz="1600">
                          <a:solidFill>
                            <a:srgbClr val="FFFF00"/>
                          </a:solidFill>
                        </a:rPr>
                        <a:t>以便</a:t>
                      </a:r>
                      <a:r>
                        <a:rPr lang="zh-CN" altLang="en-US" sz="160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数量不能超过库存上限</a:t>
                      </a:r>
                      <a:br>
                        <a:rPr lang="zh-CN" altLang="en-US" sz="1600">
                          <a:solidFill>
                            <a:schemeClr val="bg1"/>
                          </a:solidFill>
                        </a:rPr>
                      </a:br>
                      <a:r>
                        <a:rPr lang="en-US" altLang="zh-CN" sz="1600">
                          <a:solidFill>
                            <a:schemeClr val="bg1"/>
                          </a:solidFill>
                        </a:rPr>
                        <a:t>2. </a:t>
                      </a:r>
                      <a:r>
                        <a:rPr lang="zh-CN" altLang="en-US" sz="160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在购物车修改已选商品数量或删除商品</a:t>
                      </a:r>
                      <a:br>
                        <a:rPr lang="zh-CN" altLang="en-US" sz="1600">
                          <a:solidFill>
                            <a:schemeClr val="bg1"/>
                          </a:solidFill>
                        </a:rPr>
                      </a:br>
                      <a:r>
                        <a:rPr lang="zh-CN" altLang="en-US" sz="1600">
                          <a:solidFill>
                            <a:srgbClr val="FFFF00"/>
                          </a:solidFill>
                        </a:rPr>
                        <a:t>以便</a:t>
                      </a:r>
                      <a:r>
                        <a:rPr lang="zh-CN" altLang="en-US" sz="160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删除需二次确认</a:t>
                      </a:r>
                      <a:br>
                        <a:rPr lang="zh-CN" altLang="en-US" sz="1600">
                          <a:solidFill>
                            <a:schemeClr val="bg1"/>
                          </a:solidFill>
                        </a:rPr>
                      </a:br>
                      <a:r>
                        <a:rPr lang="en-US" altLang="zh-CN" sz="1600">
                          <a:solidFill>
                            <a:schemeClr val="bg1"/>
                          </a:solidFill>
                        </a:rPr>
                        <a:t>2. </a:t>
                      </a:r>
                      <a:r>
                        <a:rPr lang="zh-CN" altLang="en-US" sz="160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a:t>用户故事地图 </a:t>
            </a:r>
            <a:r>
              <a:rPr lang="en-US" altLang="zh-CN"/>
              <a:t>User Story Mapping</a:t>
            </a:r>
          </a:p>
          <a:p>
            <a:pPr lvl="1"/>
            <a:r>
              <a:rPr lang="zh-CN" altLang="en-US"/>
              <a:t>将 </a:t>
            </a:r>
            <a:r>
              <a:rPr lang="en-US" altLang="zh-CN"/>
              <a:t>backlog </a:t>
            </a:r>
            <a:r>
              <a:rPr lang="zh-CN" altLang="en-US"/>
              <a:t>变成一个二维图</a:t>
            </a:r>
            <a:endParaRPr lang="en-US" altLang="zh-CN"/>
          </a:p>
          <a:p>
            <a:pPr lvl="1"/>
            <a:r>
              <a:rPr lang="zh-CN" altLang="en-US"/>
              <a:t>第</a:t>
            </a:r>
            <a:r>
              <a:rPr lang="en-US" altLang="zh-CN"/>
              <a:t>1</a:t>
            </a:r>
            <a:r>
              <a:rPr lang="zh-CN" altLang="en-US"/>
              <a:t>维度：一系列用户故事</a:t>
            </a:r>
            <a:endParaRPr lang="en-US" altLang="zh-CN"/>
          </a:p>
          <a:p>
            <a:pPr lvl="1"/>
            <a:r>
              <a:rPr lang="zh-CN" altLang="en-US"/>
              <a:t>第</a:t>
            </a:r>
            <a:r>
              <a:rPr lang="en-US" altLang="zh-CN"/>
              <a:t>2</a:t>
            </a:r>
            <a:r>
              <a:rPr lang="zh-CN" altLang="en-US"/>
              <a:t>维度：用户故事的不同功能需求</a:t>
            </a:r>
            <a:endParaRPr lang="en-US" altLang="zh-CN"/>
          </a:p>
          <a:p>
            <a:r>
              <a:rPr lang="zh-CN" altLang="en-US"/>
              <a:t>实现</a:t>
            </a:r>
            <a:endParaRPr lang="en-US" altLang="zh-CN"/>
          </a:p>
          <a:p>
            <a:pPr lvl="1"/>
            <a:r>
              <a:rPr lang="zh-CN" altLang="en-US"/>
              <a:t>用户活动 </a:t>
            </a:r>
            <a:r>
              <a:rPr lang="en-US" altLang="zh-CN"/>
              <a:t>User activities</a:t>
            </a:r>
            <a:r>
              <a:rPr lang="zh-CN" altLang="en-US"/>
              <a:t>：高层级的用户目标或阶段，如注册、浏览商品、下单</a:t>
            </a:r>
          </a:p>
          <a:p>
            <a:pPr lvl="1"/>
            <a:r>
              <a:rPr lang="zh-CN" altLang="en-US"/>
              <a:t>用户任务 </a:t>
            </a:r>
            <a:r>
              <a:rPr lang="en-US" altLang="zh-CN"/>
              <a:t>User task</a:t>
            </a:r>
            <a:r>
              <a:rPr lang="zh-CN" altLang="en-US"/>
              <a:t>：完成该活动所需的具体操作步骤</a:t>
            </a:r>
          </a:p>
          <a:p>
            <a:pPr lvl="1"/>
            <a:r>
              <a:rPr lang="zh-CN" altLang="en-US"/>
              <a:t>功能</a:t>
            </a:r>
            <a:r>
              <a:rPr lang="en-US" altLang="zh-CN"/>
              <a:t>/</a:t>
            </a:r>
            <a:r>
              <a:rPr lang="zh-CN" altLang="en-US"/>
              <a:t>用户故事 </a:t>
            </a:r>
            <a:r>
              <a:rPr lang="en-US" altLang="zh-CN"/>
              <a:t>Features</a:t>
            </a:r>
            <a:r>
              <a:rPr lang="zh-CN" altLang="en-US"/>
              <a:t>：支撑每个任务的具体功能点，通常按优先级纵向排列（上高下低）</a:t>
            </a:r>
            <a:endParaRPr lang="en-US" altLang="zh-CN"/>
          </a:p>
          <a:p>
            <a:pPr lvl="1"/>
            <a:r>
              <a:rPr lang="zh-CN" altLang="en-US">
                <a:solidFill>
                  <a:srgbClr val="FFFF00"/>
                </a:solidFill>
              </a:rPr>
              <a:t>强烈建议指定具体的用户</a:t>
            </a:r>
            <a:r>
              <a:rPr lang="en-US" altLang="zh-CN">
                <a:solidFill>
                  <a:srgbClr val="FFFF00"/>
                </a:solidFill>
              </a:rPr>
              <a:t>*</a:t>
            </a:r>
            <a:endParaRPr lang="zh-CN" altLang="en-US">
              <a:solidFill>
                <a:srgbClr val="FFFF00"/>
              </a:solidFill>
            </a:endParaRPr>
          </a:p>
          <a:p>
            <a:pPr lvl="1"/>
            <a:endParaRPr lang="en-US" altLang="zh-CN"/>
          </a:p>
          <a:p>
            <a:endParaRPr lang="zh-CN" altLang="en-US"/>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3" y="1897920"/>
            <a:ext cx="1433406" cy="307777"/>
          </a:xfrm>
          <a:prstGeom prst="rect">
            <a:avLst/>
          </a:prstGeom>
          <a:noFill/>
        </p:spPr>
        <p:txBody>
          <a:bodyPr wrap="none" rtlCol="0">
            <a:spAutoFit/>
          </a:bodyPr>
          <a:lstStyle/>
          <a:p>
            <a:pPr algn="r"/>
            <a:r>
              <a:rPr lang="en-US" altLang="zh-CN" sz="1400">
                <a:solidFill>
                  <a:schemeClr val="bg1"/>
                </a:solidFill>
              </a:rPr>
              <a:t>User activities</a:t>
            </a:r>
            <a:endParaRPr lang="zh-CN" altLang="en-US" sz="140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4" y="2335455"/>
            <a:ext cx="1016625" cy="307777"/>
          </a:xfrm>
          <a:prstGeom prst="rect">
            <a:avLst/>
          </a:prstGeom>
          <a:noFill/>
        </p:spPr>
        <p:txBody>
          <a:bodyPr wrap="none" rtlCol="0">
            <a:spAutoFit/>
          </a:bodyPr>
          <a:lstStyle/>
          <a:p>
            <a:pPr algn="r"/>
            <a:r>
              <a:rPr lang="en-US" altLang="zh-CN" sz="1400">
                <a:solidFill>
                  <a:schemeClr val="bg1"/>
                </a:solidFill>
              </a:rPr>
              <a:t>User task</a:t>
            </a:r>
            <a:endParaRPr lang="zh-CN" altLang="en-US" sz="140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solidFill>
                  <a:schemeClr val="bg1"/>
                </a:solidFill>
              </a:rPr>
              <a:t>Features</a:t>
            </a:r>
            <a:endParaRPr lang="zh-CN" altLang="en-US" sz="140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a:t>
            </a:r>
            <a:r>
              <a:rPr lang="zh-CN" altLang="en-US" dirty="0">
                <a:solidFill>
                  <a:srgbClr val="FFFF00"/>
                </a:solidFill>
              </a:rPr>
              <a:t>黄金标准</a:t>
            </a:r>
            <a:endParaRPr lang="en-US" altLang="zh-CN" dirty="0">
              <a:solidFill>
                <a:srgbClr val="FFFF00"/>
              </a:solidFill>
            </a:endParaRPr>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60951111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a:solidFill>
                            <a:schemeClr val="bg1"/>
                          </a:solidFill>
                        </a:rPr>
                        <a:t>Independent</a:t>
                      </a:r>
                    </a:p>
                    <a:p>
                      <a:pPr algn="l"/>
                      <a:r>
                        <a:rPr lang="zh-CN" altLang="en-US" sz="1600" b="0">
                          <a:solidFill>
                            <a:schemeClr val="bg1"/>
                          </a:solidFill>
                        </a:rPr>
                        <a:t>独立的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a:solidFill>
                            <a:schemeClr val="bg1"/>
                          </a:solidFill>
                        </a:rPr>
                        <a:t>Negotiable</a:t>
                      </a:r>
                    </a:p>
                    <a:p>
                      <a:pPr algn="l"/>
                      <a:r>
                        <a:rPr lang="zh-CN" altLang="en-US" sz="1600" b="0">
                          <a:solidFill>
                            <a:schemeClr val="bg1"/>
                          </a:solidFill>
                        </a:rPr>
                        <a:t>可协商的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有价值的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可估算的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a:t>行为驱动开发 </a:t>
            </a:r>
            <a:r>
              <a:rPr lang="en-US" altLang="zh-CN"/>
              <a:t>BDD</a:t>
            </a:r>
            <a:r>
              <a:rPr lang="zh-CN" altLang="en-US"/>
              <a:t>，</a:t>
            </a:r>
            <a:r>
              <a:rPr lang="en-US" altLang="zh-CN">
                <a:hlinkClick r:id="rId3"/>
              </a:rPr>
              <a:t>Behavior-Driven Development</a:t>
            </a:r>
            <a:endParaRPr lang="en-US" altLang="zh-CN"/>
          </a:p>
          <a:p>
            <a:r>
              <a:rPr lang="zh-CN" altLang="en-US"/>
              <a:t>一个非常重要的实践方法论</a:t>
            </a:r>
            <a:endParaRPr lang="en-US" altLang="zh-CN"/>
          </a:p>
          <a:p>
            <a:r>
              <a:rPr lang="zh-CN" altLang="en-US"/>
              <a:t>起源于测试驱动开发 </a:t>
            </a:r>
            <a:r>
              <a:rPr lang="en-US" altLang="zh-CN"/>
              <a:t>TDD</a:t>
            </a:r>
            <a:r>
              <a:rPr lang="zh-CN" altLang="en-US"/>
              <a:t>，</a:t>
            </a:r>
            <a:r>
              <a:rPr lang="en-US" altLang="zh-CN"/>
              <a:t>Test-Driven Development</a:t>
            </a:r>
          </a:p>
          <a:p>
            <a:r>
              <a:rPr lang="zh-CN" altLang="en-US"/>
              <a:t>以用户行为</a:t>
            </a:r>
            <a:r>
              <a:rPr lang="en-US" altLang="zh-CN"/>
              <a:t>/</a:t>
            </a:r>
            <a:r>
              <a:rPr lang="zh-CN" altLang="en-US"/>
              <a:t>业务期望为中心的软件设计、开发和测试协作方法</a:t>
            </a:r>
            <a:endParaRPr lang="en-US" altLang="zh-CN"/>
          </a:p>
          <a:p>
            <a:r>
              <a:rPr lang="zh-CN" altLang="en-US"/>
              <a:t>不应该只关心代码怎么写，而应该先明确系统应该怎么表现</a:t>
            </a:r>
            <a:r>
              <a:rPr lang="en-US" altLang="zh-CN"/>
              <a:t>/</a:t>
            </a:r>
            <a:r>
              <a:rPr lang="zh-CN" altLang="en-US"/>
              <a:t>行为 </a:t>
            </a:r>
            <a:r>
              <a:rPr lang="en-US" altLang="zh-CN"/>
              <a:t>behave</a:t>
            </a:r>
          </a:p>
          <a:p>
            <a:pPr lvl="1"/>
            <a:r>
              <a:rPr lang="zh-CN" altLang="en-US"/>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2185828886"/>
              </p:ext>
            </p:extLst>
          </p:nvPr>
        </p:nvGraphicFramePr>
        <p:xfrm>
          <a:off x="695325" y="3461683"/>
          <a:ext cx="10801350" cy="228600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a:solidFill>
                            <a:schemeClr val="bg1"/>
                          </a:solidFill>
                        </a:rPr>
                        <a:t>Role</a:t>
                      </a:r>
                      <a:endParaRPr lang="zh-CN" altLang="en-US">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a:solidFill>
                            <a:schemeClr val="bg1"/>
                          </a:solidFill>
                        </a:rPr>
                        <a:t>Customer / Business</a:t>
                      </a:r>
                    </a:p>
                    <a:p>
                      <a:pPr>
                        <a:buNone/>
                      </a:pPr>
                      <a:r>
                        <a:rPr lang="zh-CN" altLang="en-US">
                          <a:solidFill>
                            <a:schemeClr val="bg1"/>
                          </a:solidFill>
                        </a:rPr>
                        <a:t>客户 </a:t>
                      </a:r>
                      <a:r>
                        <a:rPr lang="en-US" altLang="zh-CN">
                          <a:solidFill>
                            <a:schemeClr val="bg1"/>
                          </a:solidFill>
                        </a:rPr>
                        <a:t>/ </a:t>
                      </a:r>
                      <a:r>
                        <a:rPr lang="zh-CN" altLang="en-US">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a:solidFill>
                            <a:schemeClr val="bg1"/>
                          </a:solidFill>
                        </a:rPr>
                        <a:t>Developer</a:t>
                      </a:r>
                    </a:p>
                    <a:p>
                      <a:pPr>
                        <a:buNone/>
                      </a:pPr>
                      <a:r>
                        <a:rPr lang="zh-CN" altLang="en-US">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a:solidFill>
                            <a:schemeClr val="bg1"/>
                          </a:solidFill>
                        </a:rPr>
                        <a:t>Tester / QA</a:t>
                      </a:r>
                    </a:p>
                    <a:p>
                      <a:pPr>
                        <a:buNone/>
                      </a:pPr>
                      <a:r>
                        <a:rPr lang="zh-CN" altLang="en-US">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5325" y="863600"/>
            <a:ext cx="10801350" cy="5400675"/>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a:solidFill>
                    <a:schemeClr val="bg1"/>
                  </a:solidFill>
                </a:rPr>
                <a:t>Scenario: [ description ]</a:t>
              </a:r>
              <a:endParaRPr lang="zh-CN" altLang="en-US">
                <a:solidFill>
                  <a:schemeClr val="bg1"/>
                </a:solidFill>
              </a:endParaRPr>
            </a:p>
            <a:p>
              <a:pPr marL="720000">
                <a:spcAft>
                  <a:spcPts val="600"/>
                </a:spcAft>
              </a:pPr>
              <a:r>
                <a:rPr lang="en-US" altLang="zh-CN">
                  <a:solidFill>
                    <a:schemeClr val="bg1"/>
                  </a:solidFill>
                </a:rPr>
                <a:t>Given [ context ] </a:t>
              </a:r>
            </a:p>
            <a:p>
              <a:pPr marL="1080000">
                <a:spcAft>
                  <a:spcPts val="600"/>
                </a:spcAft>
              </a:pPr>
              <a:r>
                <a:rPr lang="en-US" altLang="zh-CN">
                  <a:solidFill>
                    <a:schemeClr val="bg1"/>
                  </a:solidFill>
                </a:rPr>
                <a:t>and [context ]</a:t>
              </a:r>
            </a:p>
            <a:p>
              <a:pPr marL="720000" algn="l">
                <a:spcAft>
                  <a:spcPts val="600"/>
                </a:spcAft>
              </a:pPr>
              <a:r>
                <a:rPr lang="en-US" altLang="zh-CN">
                  <a:solidFill>
                    <a:schemeClr val="bg1"/>
                  </a:solidFill>
                </a:rPr>
                <a:t>When [ event ]</a:t>
              </a:r>
              <a:endParaRPr lang="zh-CN" altLang="en-US">
                <a:solidFill>
                  <a:schemeClr val="bg1"/>
                </a:solidFill>
              </a:endParaRPr>
            </a:p>
            <a:p>
              <a:pPr marL="720000" algn="l">
                <a:spcAft>
                  <a:spcPts val="600"/>
                </a:spcAft>
              </a:pPr>
              <a:r>
                <a:rPr lang="en-US" altLang="zh-CN">
                  <a:solidFill>
                    <a:schemeClr val="bg1"/>
                  </a:solidFill>
                </a:rPr>
                <a:t>Then [ result ]</a:t>
              </a:r>
            </a:p>
            <a:p>
              <a:pPr marL="1080000">
                <a:spcAft>
                  <a:spcPts val="600"/>
                </a:spcAft>
              </a:pPr>
              <a:r>
                <a:rPr lang="en-US" altLang="zh-CN">
                  <a:solidFill>
                    <a:schemeClr val="bg1"/>
                  </a:solidFill>
                </a:rPr>
                <a:t>And [ result ]</a:t>
              </a:r>
              <a:endParaRPr lang="zh-CN" altLang="en-US">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a:solidFill>
                  <a:schemeClr val="bg1"/>
                </a:solidFill>
              </a:rPr>
              <a:t>Feature: </a:t>
            </a:r>
            <a:r>
              <a:rPr lang="zh-CN" altLang="en-US" sz="1600">
                <a:solidFill>
                  <a:schemeClr val="bg1"/>
                </a:solidFill>
              </a:rPr>
              <a:t>用户登录功能</a:t>
            </a:r>
          </a:p>
          <a:p>
            <a:pPr marL="360000" algn="l">
              <a:spcAft>
                <a:spcPts val="600"/>
              </a:spcAft>
            </a:pPr>
            <a:r>
              <a:rPr lang="zh-CN" altLang="en-US" sz="1600">
                <a:solidFill>
                  <a:schemeClr val="bg1"/>
                </a:solidFill>
              </a:rPr>
              <a:t>作为注册用户</a:t>
            </a:r>
          </a:p>
          <a:p>
            <a:pPr marL="360000" algn="l">
              <a:spcAft>
                <a:spcPts val="600"/>
              </a:spcAft>
            </a:pPr>
            <a:r>
              <a:rPr lang="zh-CN" altLang="en-US" sz="1600">
                <a:solidFill>
                  <a:schemeClr val="bg1"/>
                </a:solidFill>
              </a:rPr>
              <a:t>我希望能够使用邮箱和密码登录系统</a:t>
            </a:r>
          </a:p>
          <a:p>
            <a:pPr marL="360000" algn="l">
              <a:spcAft>
                <a:spcPts val="600"/>
              </a:spcAft>
            </a:pPr>
            <a:r>
              <a:rPr lang="zh-CN" altLang="en-US" sz="1600">
                <a:solidFill>
                  <a:schemeClr val="bg1"/>
                </a:solidFill>
              </a:rPr>
              <a:t>以便访问我的个人账户</a:t>
            </a:r>
          </a:p>
          <a:p>
            <a:pPr marL="360000" algn="l">
              <a:spcAft>
                <a:spcPts val="600"/>
              </a:spcAft>
            </a:pPr>
            <a:endParaRPr lang="zh-CN" altLang="en-US" sz="1600">
              <a:solidFill>
                <a:schemeClr val="bg1"/>
              </a:solidFill>
            </a:endParaRPr>
          </a:p>
          <a:p>
            <a:pPr marL="360000" algn="l">
              <a:spcAft>
                <a:spcPts val="600"/>
              </a:spcAft>
            </a:pPr>
            <a:r>
              <a:rPr lang="en-US" altLang="zh-CN" sz="1600">
                <a:solidFill>
                  <a:schemeClr val="bg1"/>
                </a:solidFill>
              </a:rPr>
              <a:t>Scenario: </a:t>
            </a:r>
            <a:r>
              <a:rPr lang="zh-CN" altLang="en-US" sz="1600">
                <a:solidFill>
                  <a:schemeClr val="bg1"/>
                </a:solidFill>
              </a:rPr>
              <a:t>成功登录</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我在登录页面输入正确的邮箱和密码</a:t>
            </a:r>
          </a:p>
          <a:p>
            <a:pPr marL="720000" algn="l">
              <a:spcAft>
                <a:spcPts val="600"/>
              </a:spcAft>
            </a:pPr>
            <a:r>
              <a:rPr lang="en-US" altLang="zh-CN" sz="1600">
                <a:solidFill>
                  <a:schemeClr val="bg1"/>
                </a:solidFill>
              </a:rPr>
              <a:t>Then </a:t>
            </a:r>
            <a:r>
              <a:rPr lang="zh-CN" altLang="en-US" sz="1600">
                <a:solidFill>
                  <a:schemeClr val="bg1"/>
                </a:solidFill>
              </a:rPr>
              <a:t>我应该看到欢迎页面，并显示“欢迎回来，</a:t>
            </a:r>
            <a:r>
              <a:rPr lang="en-US" altLang="zh-CN" sz="1600">
                <a:solidFill>
                  <a:schemeClr val="bg1"/>
                </a:solidFill>
              </a:rPr>
              <a:t>user</a:t>
            </a:r>
            <a:r>
              <a:rPr lang="zh-CN" altLang="en-US" sz="1600">
                <a:solidFill>
                  <a:schemeClr val="bg1"/>
                </a:solidFill>
              </a:rPr>
              <a:t>！”</a:t>
            </a:r>
          </a:p>
          <a:p>
            <a:pPr marL="360000" algn="l">
              <a:spcAft>
                <a:spcPts val="600"/>
              </a:spcAft>
            </a:pPr>
            <a:endParaRPr lang="zh-CN" altLang="en-US" sz="1600">
              <a:solidFill>
                <a:schemeClr val="bg1"/>
              </a:solidFill>
            </a:endParaRPr>
          </a:p>
          <a:p>
            <a:pPr marL="360000" algn="l">
              <a:spcAft>
                <a:spcPts val="600"/>
              </a:spcAft>
            </a:pPr>
            <a:r>
              <a:rPr lang="zh-CN" altLang="en-US" sz="1600">
                <a:solidFill>
                  <a:schemeClr val="bg1"/>
                </a:solidFill>
              </a:rPr>
              <a:t> </a:t>
            </a:r>
            <a:r>
              <a:rPr lang="en-US" altLang="zh-CN" sz="1600">
                <a:solidFill>
                  <a:schemeClr val="bg1"/>
                </a:solidFill>
              </a:rPr>
              <a:t>Scenario: </a:t>
            </a:r>
            <a:r>
              <a:rPr lang="zh-CN" altLang="en-US" sz="1600">
                <a:solidFill>
                  <a:schemeClr val="bg1"/>
                </a:solidFill>
              </a:rPr>
              <a:t>密码错误时登录失败</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我在登录页面输入错误的密码 </a:t>
            </a:r>
            <a:r>
              <a:rPr lang="en-US" altLang="zh-CN" sz="1600">
                <a:solidFill>
                  <a:schemeClr val="bg1"/>
                </a:solidFill>
              </a:rPr>
              <a:t>"wrong"</a:t>
            </a:r>
          </a:p>
          <a:p>
            <a:pPr marL="720000" algn="l">
              <a:spcAft>
                <a:spcPts val="600"/>
              </a:spcAft>
            </a:pPr>
            <a:r>
              <a:rPr lang="en-US" altLang="zh-CN" sz="1600">
                <a:solidFill>
                  <a:schemeClr val="bg1"/>
                </a:solidFill>
              </a:rPr>
              <a:t>Then </a:t>
            </a:r>
            <a:r>
              <a:rPr lang="zh-CN" altLang="en-US" sz="160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8845691" cy="1477328"/>
          </a:xfrm>
          <a:prstGeom prst="rect">
            <a:avLst/>
          </a:prstGeom>
          <a:noFill/>
        </p:spPr>
        <p:txBody>
          <a:bodyPr wrap="none" rtlCol="0">
            <a:spAutoFit/>
          </a:bodyPr>
          <a:lstStyle/>
          <a:p>
            <a:pPr>
              <a:buNone/>
            </a:pPr>
            <a:r>
              <a:rPr lang="en-US" altLang="zh-CN" dirty="0">
                <a:solidFill>
                  <a:schemeClr val="bg1"/>
                </a:solidFill>
              </a:rPr>
              <a:t>Sc</a:t>
            </a:r>
            <a:r>
              <a:rPr lang="az-Cyrl-AZ" altLang="zh-CN" dirty="0">
                <a:solidFill>
                  <a:schemeClr val="bg1"/>
                </a:solidFill>
              </a:rPr>
              <a:t>е</a:t>
            </a:r>
            <a:r>
              <a:rPr lang="en-US" altLang="zh-CN" dirty="0">
                <a:solidFill>
                  <a:schemeClr val="bg1"/>
                </a:solidFill>
              </a:rPr>
              <a:t>nario 1: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a:t>
            </a:r>
            <a:r>
              <a:rPr lang="en-US" altLang="zh-CN" dirty="0">
                <a:solidFill>
                  <a:schemeClr val="bg1"/>
                </a:solidFill>
              </a:rPr>
              <a:t> Login</a:t>
            </a:r>
          </a:p>
          <a:p>
            <a:pPr>
              <a:buNone/>
            </a:pPr>
            <a:r>
              <a:rPr lang="en-US" altLang="zh-CN" dirty="0">
                <a:solidFill>
                  <a:schemeClr val="bg1"/>
                </a:solidFill>
              </a:rPr>
              <a:t>Giv</a:t>
            </a:r>
            <a:r>
              <a:rPr lang="az-Cyrl-AZ" altLang="zh-CN" dirty="0">
                <a:solidFill>
                  <a:schemeClr val="bg1"/>
                </a:solidFill>
              </a:rPr>
              <a:t>е</a:t>
            </a:r>
            <a:r>
              <a:rPr lang="en-US" altLang="zh-CN" dirty="0">
                <a:solidFill>
                  <a:schemeClr val="bg1"/>
                </a:solidFill>
              </a:rPr>
              <a:t>n that the us</a:t>
            </a:r>
            <a:r>
              <a:rPr lang="az-Cyrl-AZ" altLang="zh-CN" dirty="0">
                <a:solidFill>
                  <a:schemeClr val="bg1"/>
                </a:solidFill>
              </a:rPr>
              <a:t>е</a:t>
            </a:r>
            <a:r>
              <a:rPr lang="en-US" altLang="zh-CN" dirty="0">
                <a:solidFill>
                  <a:schemeClr val="bg1"/>
                </a:solidFill>
              </a:rPr>
              <a:t>r is on the login form </a:t>
            </a:r>
            <a:r>
              <a:rPr lang="en-US" altLang="zh-CN" dirty="0" err="1">
                <a:solidFill>
                  <a:schemeClr val="bg1"/>
                </a:solidFill>
              </a:rPr>
              <a:t>pag</a:t>
            </a:r>
            <a:r>
              <a:rPr lang="az-Cyrl-AZ" altLang="zh-CN" dirty="0">
                <a:solidFill>
                  <a:schemeClr val="bg1"/>
                </a:solidFill>
              </a:rPr>
              <a:t>е,</a:t>
            </a:r>
          </a:p>
          <a:p>
            <a:pPr>
              <a:buNone/>
            </a:pPr>
            <a:r>
              <a:rPr lang="en-US" altLang="zh-CN" dirty="0">
                <a:solidFill>
                  <a:schemeClr val="bg1"/>
                </a:solidFill>
              </a:rPr>
              <a:t>And the 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 valid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llo123",</a:t>
            </a:r>
          </a:p>
          <a:p>
            <a:pPr>
              <a:buNone/>
            </a:pPr>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pPr>
              <a:buNone/>
            </a:pPr>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ssfully</a:t>
            </a:r>
            <a:r>
              <a:rPr lang="en-US" altLang="zh-CN" dirty="0">
                <a:solidFill>
                  <a:schemeClr val="bg1"/>
                </a:solidFill>
              </a:rPr>
              <a:t>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hom</a:t>
            </a:r>
            <a:r>
              <a:rPr lang="az-Cyrl-AZ" altLang="zh-CN" dirty="0">
                <a:solidFill>
                  <a:schemeClr val="bg1"/>
                </a:solidFill>
              </a:rPr>
              <a:t>е</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6388287" cy="1754326"/>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2: Forgot Password</a:t>
            </a: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a:t>
            </a:r>
            <a:r>
              <a:rPr lang="en-US" altLang="zh-CN" dirty="0" err="1">
                <a:solidFill>
                  <a:schemeClr val="bg1"/>
                </a:solidFill>
              </a:rPr>
              <a:t>pag</a:t>
            </a:r>
            <a:r>
              <a:rPr lang="az-Cyrl-AZ" altLang="zh-CN" dirty="0">
                <a:solidFill>
                  <a:schemeClr val="bg1"/>
                </a:solidFill>
              </a:rPr>
              <a:t>е,</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err="1">
                <a:solidFill>
                  <a:schemeClr val="bg1"/>
                </a:solidFill>
              </a:rPr>
              <a:t>rs</a:t>
            </a:r>
            <a:r>
              <a:rPr lang="en-US" altLang="zh-CN" dirty="0">
                <a:solidFill>
                  <a:schemeClr val="bg1"/>
                </a:solidFill>
              </a:rPr>
              <a:t> </a:t>
            </a:r>
            <a:r>
              <a:rPr lang="en-US" altLang="zh-CN" dirty="0" err="1">
                <a:solidFill>
                  <a:schemeClr val="bg1"/>
                </a:solidFill>
              </a:rPr>
              <a:t>th</a:t>
            </a:r>
            <a:r>
              <a:rPr lang="az-Cyrl-AZ" altLang="zh-CN" dirty="0">
                <a:solidFill>
                  <a:schemeClr val="bg1"/>
                </a:solidFill>
              </a:rPr>
              <a:t>е</a:t>
            </a:r>
            <a:r>
              <a:rPr lang="en-US" altLang="zh-CN" dirty="0" err="1">
                <a:solidFill>
                  <a:schemeClr val="bg1"/>
                </a:solidFill>
              </a:rPr>
              <a:t>ir</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Forgot Password" link,</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r</a:t>
            </a:r>
            <a:r>
              <a:rPr lang="az-Cyrl-AZ" altLang="zh-CN" dirty="0">
                <a:solidFill>
                  <a:schemeClr val="bg1"/>
                </a:solidFill>
              </a:rPr>
              <a:t>е</a:t>
            </a:r>
            <a:r>
              <a:rPr lang="en-US" altLang="zh-CN" dirty="0">
                <a:solidFill>
                  <a:schemeClr val="bg1"/>
                </a:solidFill>
              </a:rPr>
              <a:t>s</a:t>
            </a:r>
            <a:r>
              <a:rPr lang="az-Cyrl-AZ" altLang="zh-CN" dirty="0">
                <a:solidFill>
                  <a:schemeClr val="bg1"/>
                </a:solidFill>
              </a:rPr>
              <a:t>е</a:t>
            </a:r>
            <a:r>
              <a:rPr lang="en-US" altLang="zh-CN" dirty="0">
                <a:solidFill>
                  <a:schemeClr val="bg1"/>
                </a:solidFill>
              </a:rPr>
              <a:t>t password </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9603911" cy="2031325"/>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3: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Login Cr</a:t>
            </a:r>
            <a:r>
              <a:rPr lang="az-Cyrl-AZ" altLang="zh-CN" dirty="0">
                <a:solidFill>
                  <a:schemeClr val="bg1"/>
                </a:solidFill>
              </a:rPr>
              <a:t>е</a:t>
            </a:r>
            <a:r>
              <a:rPr lang="en-US" altLang="zh-CN" dirty="0">
                <a:solidFill>
                  <a:schemeClr val="bg1"/>
                </a:solidFill>
              </a:rPr>
              <a:t>d</a:t>
            </a:r>
            <a:r>
              <a:rPr lang="az-Cyrl-AZ" altLang="zh-CN" dirty="0">
                <a:solidFill>
                  <a:schemeClr val="bg1"/>
                </a:solidFill>
              </a:rPr>
              <a:t>е</a:t>
            </a:r>
            <a:r>
              <a:rPr lang="en-US" altLang="zh-CN" dirty="0" err="1">
                <a:solidFill>
                  <a:schemeClr val="bg1"/>
                </a:solidFill>
              </a:rPr>
              <a:t>ntials</a:t>
            </a:r>
            <a:endParaRPr lang="en-US" altLang="zh-CN" dirty="0">
              <a:solidFill>
                <a:schemeClr val="bg1"/>
              </a:solidFill>
            </a:endParaRP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 </a:t>
            </a:r>
            <a:r>
              <a:rPr lang="en-US" altLang="zh-CN" dirty="0" err="1">
                <a:solidFill>
                  <a:schemeClr val="bg1"/>
                </a:solidFill>
              </a:rPr>
              <a:t>pag</a:t>
            </a:r>
            <a:r>
              <a:rPr lang="az-Cyrl-AZ" altLang="zh-CN" dirty="0">
                <a:solidFill>
                  <a:schemeClr val="bg1"/>
                </a:solidFill>
              </a:rPr>
              <a:t>е </a:t>
            </a:r>
            <a:r>
              <a:rPr lang="en-US" altLang="zh-CN" dirty="0">
                <a:solidFill>
                  <a:schemeClr val="bg1"/>
                </a:solidFill>
              </a:rPr>
              <a:t>with login fi</a:t>
            </a:r>
            <a:r>
              <a:rPr lang="az-Cyrl-AZ" altLang="zh-CN" dirty="0">
                <a:solidFill>
                  <a:schemeClr val="bg1"/>
                </a:solidFill>
              </a:rPr>
              <a:t>е</a:t>
            </a:r>
            <a:r>
              <a:rPr lang="en-US" altLang="zh-CN" dirty="0" err="1">
                <a:solidFill>
                  <a:schemeClr val="bg1"/>
                </a:solidFill>
              </a:rPr>
              <a:t>lds</a:t>
            </a:r>
            <a:r>
              <a:rPr lang="en-US" altLang="zh-CN" dirty="0">
                <a:solidFill>
                  <a:schemeClr val="bg1"/>
                </a:solidFill>
              </a:rPr>
              <a:t>,</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llo321",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form r</a:t>
            </a:r>
            <a:r>
              <a:rPr lang="az-Cyrl-AZ" altLang="zh-CN" dirty="0">
                <a:solidFill>
                  <a:schemeClr val="bg1"/>
                </a:solidFill>
              </a:rPr>
              <a:t>е</a:t>
            </a:r>
            <a:r>
              <a:rPr lang="en-US" altLang="zh-CN" dirty="0">
                <a:solidFill>
                  <a:schemeClr val="bg1"/>
                </a:solidFill>
              </a:rPr>
              <a:t>app</a:t>
            </a:r>
            <a:r>
              <a:rPr lang="az-Cyrl-AZ" altLang="zh-CN" dirty="0">
                <a:solidFill>
                  <a:schemeClr val="bg1"/>
                </a:solidFill>
              </a:rPr>
              <a:t>е</a:t>
            </a:r>
            <a:r>
              <a:rPr lang="en-US" altLang="zh-CN" dirty="0" err="1">
                <a:solidFill>
                  <a:schemeClr val="bg1"/>
                </a:solidFill>
              </a:rPr>
              <a:t>ars</a:t>
            </a:r>
            <a:r>
              <a:rPr lang="en-US" altLang="zh-CN" dirty="0">
                <a:solidFill>
                  <a:schemeClr val="bg1"/>
                </a:solidFill>
              </a:rPr>
              <a:t> with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still fill</a:t>
            </a:r>
            <a:r>
              <a:rPr lang="az-Cyrl-AZ" altLang="zh-CN" dirty="0">
                <a:solidFill>
                  <a:schemeClr val="bg1"/>
                </a:solidFill>
              </a:rPr>
              <a:t>е</a:t>
            </a:r>
            <a:r>
              <a:rPr lang="en-US" altLang="zh-CN" dirty="0">
                <a:solidFill>
                  <a:schemeClr val="bg1"/>
                </a:solidFill>
              </a:rPr>
              <a:t>d in and displays an </a:t>
            </a:r>
          </a:p>
          <a:p>
            <a:r>
              <a:rPr lang="az-Cyrl-AZ" altLang="zh-CN" dirty="0">
                <a:solidFill>
                  <a:schemeClr val="bg1"/>
                </a:solidFill>
              </a:rPr>
              <a:t>е</a:t>
            </a:r>
            <a:r>
              <a:rPr lang="en-US" altLang="zh-CN" dirty="0" err="1">
                <a:solidFill>
                  <a:schemeClr val="bg1"/>
                </a:solidFill>
              </a:rPr>
              <a:t>rror</a:t>
            </a:r>
            <a:r>
              <a:rPr lang="en-US" altLang="zh-CN" dirty="0">
                <a:solidFill>
                  <a:schemeClr val="bg1"/>
                </a:solidFill>
              </a:rPr>
              <a:t> m</a:t>
            </a:r>
            <a:r>
              <a:rPr lang="az-Cyrl-AZ" altLang="zh-CN" dirty="0">
                <a:solidFill>
                  <a:schemeClr val="bg1"/>
                </a:solidFill>
              </a:rPr>
              <a:t>е</a:t>
            </a:r>
            <a:r>
              <a:rPr lang="en-US" altLang="zh-CN" dirty="0" err="1">
                <a:solidFill>
                  <a:schemeClr val="bg1"/>
                </a:solidFill>
              </a:rPr>
              <a:t>ssag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45572680"/>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用户行为 </a:t>
                      </a:r>
                      <a:r>
                        <a:rPr lang="en-US" altLang="zh-CN" sz="1600">
                          <a:solidFill>
                            <a:schemeClr val="bg1"/>
                          </a:solidFill>
                        </a:rPr>
                        <a:t>/ </a:t>
                      </a:r>
                      <a:r>
                        <a:rPr lang="zh-CN" altLang="en-US" sz="160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单个单元测试（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验收测试 </a:t>
                      </a:r>
                      <a:r>
                        <a:rPr lang="en-US" altLang="zh-CN" sz="1600">
                          <a:solidFill>
                            <a:schemeClr val="bg1"/>
                          </a:solidFill>
                        </a:rPr>
                        <a:t>/ </a:t>
                      </a:r>
                      <a:r>
                        <a:rPr lang="zh-CN" altLang="en-US" sz="1600">
                          <a:solidFill>
                            <a:schemeClr val="bg1"/>
                          </a:solidFill>
                        </a:rPr>
                        <a:t>集成测试（</a:t>
                      </a:r>
                      <a:r>
                        <a:rPr lang="en-US" sz="160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编程语言（</a:t>
                      </a:r>
                      <a:r>
                        <a:rPr lang="en-US" sz="160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自然语言（</a:t>
                      </a:r>
                      <a:r>
                        <a:rPr lang="en-US" sz="160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a:t>
                      </a:r>
                      <a:r>
                        <a:rPr lang="zh-CN" altLang="en-US" sz="1600" dirty="0">
                          <a:solidFill>
                            <a:srgbClr val="FFFF00"/>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开发者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test_add_two_numbers()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b="1" dirty="0">
                <a:solidFill>
                  <a:srgbClr val="FFFF00"/>
                </a:solidFill>
              </a:rPr>
              <a:t>Scope</a:t>
            </a:r>
            <a:r>
              <a:rPr lang="en-US" altLang="zh-CN" dirty="0"/>
              <a:t> </a:t>
            </a:r>
            <a:r>
              <a:rPr lang="en-US" altLang="zh-CN" b="1" dirty="0">
                <a:solidFill>
                  <a:srgbClr val="FFFF00"/>
                </a:solidFill>
              </a:rPr>
              <a:t>Creep</a:t>
            </a:r>
          </a:p>
          <a:p>
            <a:r>
              <a:rPr lang="zh-CN" altLang="en-US" dirty="0"/>
              <a:t>工作范围旨在</a:t>
            </a:r>
            <a:endParaRPr lang="en-US" altLang="zh-CN" dirty="0"/>
          </a:p>
          <a:p>
            <a:pPr lvl="1"/>
            <a:r>
              <a:rPr lang="zh-CN" altLang="en-US" dirty="0"/>
              <a:t>定义项目可交付成果和边界 </a:t>
            </a:r>
            <a:r>
              <a:rPr lang="en-US" altLang="zh-CN" dirty="0"/>
              <a:t>- Define project </a:t>
            </a:r>
            <a:r>
              <a:rPr lang="en-US" altLang="zh-CN" b="1" dirty="0">
                <a:solidFill>
                  <a:srgbClr val="FFFF00"/>
                </a:solidFill>
              </a:rPr>
              <a:t>deliverables</a:t>
            </a:r>
            <a:r>
              <a:rPr lang="en-US" altLang="zh-CN" dirty="0"/>
              <a:t> and </a:t>
            </a:r>
            <a:r>
              <a:rPr lang="en-US" altLang="zh-CN" b="1" dirty="0">
                <a:solidFill>
                  <a:srgbClr val="FFFF00"/>
                </a:solidFill>
              </a:rPr>
              <a:t>boundaries</a:t>
            </a:r>
            <a:endParaRPr lang="zh-CN" altLang="en-US" b="1" dirty="0">
              <a:solidFill>
                <a:srgbClr val="FFFF00"/>
              </a:solidFill>
            </a:endParaRPr>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a:t>
            </a:r>
            <a:r>
              <a:rPr lang="zh-CN" altLang="en-US" dirty="0">
                <a:solidFill>
                  <a:srgbClr val="FFFF00"/>
                </a:solidFill>
              </a:rPr>
              <a:t>小</a:t>
            </a:r>
            <a:r>
              <a:rPr lang="zh-CN" altLang="en-US" dirty="0"/>
              <a:t>、更易</a:t>
            </a:r>
            <a:r>
              <a:rPr lang="zh-CN" altLang="en-US" dirty="0">
                <a:solidFill>
                  <a:srgbClr val="FFFF00"/>
                </a:solidFill>
              </a:rPr>
              <a:t>管理</a:t>
            </a:r>
            <a:r>
              <a:rPr lang="zh-CN" altLang="en-US" dirty="0"/>
              <a:t>、更易</a:t>
            </a:r>
            <a:r>
              <a:rPr lang="zh-CN" altLang="en-US" dirty="0">
                <a:solidFill>
                  <a:srgbClr val="FFFF00"/>
                </a:solidFill>
              </a:rPr>
              <a:t>操作</a:t>
            </a:r>
            <a:endParaRPr lang="en-US" altLang="zh-CN" dirty="0">
              <a:solidFill>
                <a:srgbClr val="FFFF00"/>
              </a:solidFill>
            </a:endParaRPr>
          </a:p>
          <a:p>
            <a:r>
              <a:rPr lang="zh-CN" altLang="en-US" dirty="0"/>
              <a:t>产出：任务分解结构 </a:t>
            </a:r>
            <a:r>
              <a:rPr lang="en-US" altLang="zh-CN" dirty="0"/>
              <a:t>- Work Breakdown Structure</a:t>
            </a:r>
          </a:p>
          <a:p>
            <a:r>
              <a:rPr lang="en-US" altLang="zh-CN" dirty="0"/>
              <a:t>WBS </a:t>
            </a:r>
            <a:r>
              <a:rPr lang="zh-CN" altLang="en-US" dirty="0"/>
              <a:t>组织并定义整个</a:t>
            </a:r>
            <a:r>
              <a:rPr lang="zh-CN" altLang="en-US" dirty="0">
                <a:solidFill>
                  <a:srgbClr val="FFFF00"/>
                </a:solidFill>
              </a:rPr>
              <a:t>项目范围</a:t>
            </a:r>
            <a:r>
              <a:rPr lang="zh-CN" altLang="en-US" dirty="0"/>
              <a:t>；不在其中的，不是项目的工作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System </a:t>
            </a:r>
            <a:r>
              <a:rPr lang="en-US" altLang="zh-CN" sz="1400" dirty="0">
                <a:solidFill>
                  <a:srgbClr val="FFFF00"/>
                </a:solidFill>
              </a:rPr>
              <a:t>1</a:t>
            </a:r>
            <a:endParaRPr lang="zh-CN" altLang="en-US" sz="1400" dirty="0">
              <a:solidFill>
                <a:srgbClr val="FFFF00"/>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1.1</a:t>
            </a:r>
            <a:endParaRPr lang="zh-CN" altLang="en-US" sz="1400" dirty="0">
              <a:solidFill>
                <a:srgbClr val="FFFF00"/>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1.2</a:t>
            </a:r>
            <a:endParaRPr lang="zh-CN" altLang="en-US" sz="1400" dirty="0">
              <a:solidFill>
                <a:srgbClr val="FFFF00"/>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1.3</a:t>
            </a:r>
            <a:endParaRPr lang="zh-CN" altLang="en-US" sz="1400" dirty="0">
              <a:solidFill>
                <a:srgbClr val="FFFF00"/>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1.1.1</a:t>
            </a:r>
            <a:endParaRPr lang="zh-CN" altLang="en-US" sz="1400" dirty="0">
              <a:solidFill>
                <a:srgbClr val="FFFF00"/>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1.1.2</a:t>
            </a:r>
            <a:endParaRPr lang="zh-CN" altLang="en-US" sz="1400" dirty="0">
              <a:solidFill>
                <a:srgbClr val="FFFF00"/>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1.1.3</a:t>
            </a:r>
            <a:endParaRPr lang="zh-CN" altLang="en-US" sz="1400" dirty="0">
              <a:solidFill>
                <a:srgbClr val="FFFF00"/>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1.2.1</a:t>
            </a:r>
            <a:endParaRPr lang="zh-CN" altLang="en-US" sz="1400" dirty="0">
              <a:solidFill>
                <a:srgbClr val="FFFF00"/>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1.2.2</a:t>
            </a:r>
            <a:endParaRPr lang="zh-CN" altLang="en-US" sz="1400" dirty="0">
              <a:solidFill>
                <a:srgbClr val="FFFF00"/>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1.3.1</a:t>
            </a:r>
            <a:endParaRPr lang="zh-CN" altLang="en-US" sz="1400" dirty="0">
              <a:solidFill>
                <a:srgbClr val="FFFF00"/>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1.3.2</a:t>
            </a:r>
            <a:endParaRPr lang="zh-CN" altLang="en-US" sz="1400" dirty="0">
              <a:solidFill>
                <a:srgbClr val="FFFF00"/>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1.3.3</a:t>
            </a:r>
            <a:endParaRPr lang="zh-CN" altLang="en-US" sz="1400" dirty="0">
              <a:solidFill>
                <a:srgbClr val="FFFF00"/>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03275211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chemeClr val="accent2"/>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solidFill>
                            <a:schemeClr val="bg1"/>
                          </a:solidFill>
                        </a:rPr>
                        <a:t>WBS </a:t>
                      </a:r>
                      <a:r>
                        <a:rPr lang="zh-CN" altLang="en-US" sz="1600" dirty="0">
                          <a:solidFill>
                            <a:schemeClr val="bg1"/>
                          </a:solidFill>
                        </a:rPr>
                        <a:t>编码</a:t>
                      </a:r>
                    </a:p>
                  </a:txBody>
                  <a:tcPr anchor="ctr">
                    <a:lnL>
                      <a:noFill/>
                    </a:lnL>
                    <a:lnR>
                      <a:noFill/>
                    </a:lnR>
                    <a:lnT>
                      <a:noFill/>
                    </a:lnT>
                    <a:lnB>
                      <a:noFill/>
                    </a:lnB>
                    <a:noFill/>
                  </a:tcPr>
                </a:tc>
                <a:tc>
                  <a:txBody>
                    <a:bodyPr/>
                    <a:lstStyle/>
                    <a:p>
                      <a:pPr algn="l">
                        <a:buNone/>
                      </a:pPr>
                      <a:r>
                        <a:rPr lang="en-US" altLang="zh-CN" sz="1600">
                          <a:solidFill>
                            <a:schemeClr val="bg1"/>
                          </a:solidFill>
                        </a:rPr>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solidFill>
                            <a:schemeClr val="bg1"/>
                          </a:solidFill>
                        </a:rPr>
                        <a:t>工作包名称</a:t>
                      </a:r>
                    </a:p>
                  </a:txBody>
                  <a:tcPr anchor="ctr">
                    <a:lnL>
                      <a:noFill/>
                    </a:lnL>
                    <a:lnR>
                      <a:noFill/>
                    </a:lnR>
                    <a:lnT>
                      <a:noFill/>
                    </a:lnT>
                    <a:lnB>
                      <a:noFill/>
                    </a:lnB>
                    <a:noFill/>
                  </a:tcPr>
                </a:tc>
                <a:tc>
                  <a:txBody>
                    <a:bodyPr/>
                    <a:lstStyle/>
                    <a:p>
                      <a:pPr algn="l">
                        <a:buNone/>
                      </a:pPr>
                      <a:r>
                        <a:rPr lang="zh-CN" altLang="en-US" sz="1600">
                          <a:solidFill>
                            <a:schemeClr val="bg1"/>
                          </a:solidFill>
                        </a:rPr>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solidFill>
                            <a:schemeClr val="bg1"/>
                          </a:solidFill>
                        </a:rPr>
                        <a:t>负责人</a:t>
                      </a:r>
                    </a:p>
                  </a:txBody>
                  <a:tcPr anchor="ctr">
                    <a:lnL>
                      <a:noFill/>
                    </a:lnL>
                    <a:lnR>
                      <a:noFill/>
                    </a:lnR>
                    <a:lnT>
                      <a:noFill/>
                    </a:lnT>
                    <a:lnB>
                      <a:noFill/>
                    </a:lnB>
                    <a:noFill/>
                  </a:tcPr>
                </a:tc>
                <a:tc>
                  <a:txBody>
                    <a:bodyPr/>
                    <a:lstStyle/>
                    <a:p>
                      <a:pPr algn="l">
                        <a:buNone/>
                      </a:pPr>
                      <a:r>
                        <a:rPr lang="zh-CN" altLang="en-US" sz="1600" dirty="0">
                          <a:solidFill>
                            <a:schemeClr val="bg1"/>
                          </a:solidFill>
                        </a:rPr>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solidFill>
                            <a:schemeClr val="bg1"/>
                          </a:solidFill>
                        </a:rPr>
                        <a:t>工作描述</a:t>
                      </a:r>
                    </a:p>
                  </a:txBody>
                  <a:tcPr anchor="ctr">
                    <a:lnL>
                      <a:noFill/>
                    </a:lnL>
                    <a:lnR>
                      <a:noFill/>
                    </a:lnR>
                    <a:lnT>
                      <a:noFill/>
                    </a:lnT>
                    <a:lnB>
                      <a:noFill/>
                    </a:lnB>
                    <a:noFill/>
                  </a:tcPr>
                </a:tc>
                <a:tc>
                  <a:txBody>
                    <a:bodyPr/>
                    <a:lstStyle/>
                    <a:p>
                      <a:pPr algn="l">
                        <a:buNone/>
                      </a:pPr>
                      <a:r>
                        <a:rPr lang="zh-CN" altLang="en-US" sz="1600" dirty="0">
                          <a:solidFill>
                            <a:schemeClr val="bg1"/>
                          </a:solidFill>
                        </a:rPr>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solidFill>
                            <a:schemeClr val="bg1"/>
                          </a:solidFill>
                        </a:rPr>
                        <a:t>可交付成果</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采购清单确认表</a:t>
                      </a:r>
                      <a:br>
                        <a:rPr lang="zh-CN" altLang="en-US" sz="1600">
                          <a:solidFill>
                            <a:schemeClr val="bg1"/>
                          </a:solidFill>
                        </a:rPr>
                      </a:br>
                      <a:r>
                        <a:rPr lang="en-US" altLang="zh-CN" sz="1600">
                          <a:solidFill>
                            <a:schemeClr val="bg1"/>
                          </a:solidFill>
                        </a:rPr>
                        <a:t>2. </a:t>
                      </a:r>
                      <a:r>
                        <a:rPr lang="zh-CN" altLang="en-US" sz="1600">
                          <a:solidFill>
                            <a:schemeClr val="bg1"/>
                          </a:solidFill>
                        </a:rPr>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solidFill>
                            <a:schemeClr val="bg1"/>
                          </a:solidFill>
                        </a:rPr>
                        <a:t>前置任务</a:t>
                      </a:r>
                    </a:p>
                  </a:txBody>
                  <a:tcPr anchor="ctr">
                    <a:lnL>
                      <a:noFill/>
                    </a:lnL>
                    <a:lnR>
                      <a:noFill/>
                    </a:lnR>
                    <a:lnT>
                      <a:noFill/>
                    </a:lnT>
                    <a:lnB>
                      <a:noFill/>
                    </a:lnB>
                    <a:noFill/>
                  </a:tcPr>
                </a:tc>
                <a:tc>
                  <a:txBody>
                    <a:bodyPr/>
                    <a:lstStyle/>
                    <a:p>
                      <a:pPr algn="l">
                        <a:buNone/>
                      </a:pPr>
                      <a:r>
                        <a:rPr lang="en-US" altLang="zh-CN" sz="1600">
                          <a:solidFill>
                            <a:schemeClr val="bg1"/>
                          </a:solidFill>
                        </a:rPr>
                        <a:t>1.2.1 </a:t>
                      </a:r>
                      <a:r>
                        <a:rPr lang="zh-CN" altLang="en-US" sz="1600">
                          <a:solidFill>
                            <a:schemeClr val="bg1"/>
                          </a:solidFill>
                        </a:rPr>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solidFill>
                            <a:schemeClr val="bg1"/>
                          </a:solidFill>
                        </a:rPr>
                        <a:t>时间要求</a:t>
                      </a:r>
                    </a:p>
                  </a:txBody>
                  <a:tcPr anchor="ctr">
                    <a:lnL>
                      <a:noFill/>
                    </a:lnL>
                    <a:lnR>
                      <a:noFill/>
                    </a:lnR>
                    <a:lnT>
                      <a:noFill/>
                    </a:lnT>
                    <a:lnB>
                      <a:noFill/>
                    </a:lnB>
                    <a:noFill/>
                  </a:tcPr>
                </a:tc>
                <a:tc>
                  <a:txBody>
                    <a:bodyPr/>
                    <a:lstStyle/>
                    <a:p>
                      <a:pPr algn="l">
                        <a:buNone/>
                      </a:pPr>
                      <a:r>
                        <a:rPr lang="zh-CN" altLang="en-US" sz="1600">
                          <a:solidFill>
                            <a:schemeClr val="bg1"/>
                          </a:solidFill>
                        </a:rPr>
                        <a:t>必须在 </a:t>
                      </a:r>
                      <a:r>
                        <a:rPr lang="en-US" altLang="zh-CN" sz="1600">
                          <a:solidFill>
                            <a:schemeClr val="bg1"/>
                          </a:solidFill>
                        </a:rPr>
                        <a:t>12</a:t>
                      </a:r>
                      <a:r>
                        <a:rPr lang="zh-CN" altLang="en-US" sz="1600">
                          <a:solidFill>
                            <a:schemeClr val="bg1"/>
                          </a:solidFill>
                        </a:rPr>
                        <a:t>月</a:t>
                      </a:r>
                      <a:r>
                        <a:rPr lang="en-US" altLang="zh-CN" sz="1600">
                          <a:solidFill>
                            <a:schemeClr val="bg1"/>
                          </a:solidFill>
                        </a:rPr>
                        <a:t>25</a:t>
                      </a:r>
                      <a:r>
                        <a:rPr lang="zh-CN" altLang="en-US" sz="1600">
                          <a:solidFill>
                            <a:schemeClr val="bg1"/>
                          </a:solidFill>
                        </a:rPr>
                        <a:t>日 </a:t>
                      </a:r>
                      <a:r>
                        <a:rPr lang="en-US" altLang="zh-CN" sz="1600">
                          <a:solidFill>
                            <a:schemeClr val="bg1"/>
                          </a:solidFill>
                        </a:rPr>
                        <a:t>14:00 </a:t>
                      </a:r>
                      <a:r>
                        <a:rPr lang="zh-CN" altLang="en-US" sz="1600">
                          <a:solidFill>
                            <a:schemeClr val="bg1"/>
                          </a:solidFill>
                        </a:rPr>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solidFill>
                            <a:schemeClr val="bg1"/>
                          </a:solidFill>
                        </a:rPr>
                        <a:t>成本预算</a:t>
                      </a:r>
                    </a:p>
                  </a:txBody>
                  <a:tcPr anchor="ctr">
                    <a:lnL>
                      <a:noFill/>
                    </a:lnL>
                    <a:lnR>
                      <a:noFill/>
                    </a:lnR>
                    <a:lnT>
                      <a:noFill/>
                    </a:lnT>
                    <a:lnB>
                      <a:noFill/>
                    </a:lnB>
                    <a:noFill/>
                  </a:tcPr>
                </a:tc>
                <a:tc>
                  <a:txBody>
                    <a:bodyPr/>
                    <a:lstStyle/>
                    <a:p>
                      <a:pPr algn="l">
                        <a:buNone/>
                      </a:pPr>
                      <a:r>
                        <a:rPr lang="en-US" altLang="zh-CN" sz="1600">
                          <a:solidFill>
                            <a:schemeClr val="bg1"/>
                          </a:solidFill>
                        </a:rPr>
                        <a:t>2,000 - 2,500 </a:t>
                      </a:r>
                      <a:r>
                        <a:rPr lang="zh-CN" altLang="en-US" sz="1600">
                          <a:solidFill>
                            <a:schemeClr val="bg1"/>
                          </a:solidFill>
                        </a:rPr>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solidFill>
                            <a:schemeClr val="bg1"/>
                          </a:solidFill>
                        </a:rPr>
                        <a:t>质量</a:t>
                      </a:r>
                      <a:r>
                        <a:rPr lang="en-US" altLang="zh-CN" sz="1600" dirty="0">
                          <a:solidFill>
                            <a:schemeClr val="bg1"/>
                          </a:solidFill>
                        </a:rPr>
                        <a:t>/</a:t>
                      </a:r>
                      <a:r>
                        <a:rPr lang="zh-CN" altLang="en-US" sz="1600" dirty="0">
                          <a:solidFill>
                            <a:schemeClr val="bg1"/>
                          </a:solidFill>
                        </a:rPr>
                        <a:t>要求</a:t>
                      </a:r>
                    </a:p>
                  </a:txBody>
                  <a:tcPr anchor="ctr">
                    <a:lnL>
                      <a:noFill/>
                    </a:lnL>
                    <a:lnR>
                      <a:noFill/>
                    </a:lnR>
                    <a:lnT>
                      <a:noFill/>
                    </a:lnT>
                    <a:lnB>
                      <a:noFill/>
                    </a:lnB>
                    <a:noFill/>
                  </a:tcPr>
                </a:tc>
                <a:tc>
                  <a:txBody>
                    <a:bodyPr/>
                    <a:lstStyle/>
                    <a:p>
                      <a:pPr algn="l">
                        <a:buNone/>
                      </a:pPr>
                      <a:r>
                        <a:rPr lang="zh-CN" altLang="en-US" sz="1600" dirty="0">
                          <a:solidFill>
                            <a:schemeClr val="bg1"/>
                          </a:solidFill>
                        </a:rPr>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a:t>
            </a:r>
            <a:r>
              <a:rPr lang="zh-CN" altLang="en-US" dirty="0">
                <a:solidFill>
                  <a:srgbClr val="FFFF00"/>
                </a:solidFill>
              </a:rPr>
              <a:t>总</a:t>
            </a:r>
            <a:r>
              <a:rPr lang="zh-CN" altLang="en-US" dirty="0"/>
              <a:t>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a:t>
            </a:r>
            <a:r>
              <a:rPr lang="zh-CN" altLang="en-US" dirty="0">
                <a:solidFill>
                  <a:srgbClr val="FFFF00"/>
                </a:solidFill>
              </a:rPr>
              <a:t>过细</a:t>
            </a:r>
            <a:endParaRPr lang="en-US" altLang="zh-CN" dirty="0">
              <a:solidFill>
                <a:srgbClr val="FFFF00"/>
              </a:solidFill>
            </a:endParaRPr>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a:t>
            </a:r>
            <a:r>
              <a:rPr lang="zh-CN" altLang="en-US" dirty="0">
                <a:solidFill>
                  <a:srgbClr val="FFFF00"/>
                </a:solidFill>
              </a:rPr>
              <a:t>小时</a:t>
            </a:r>
            <a:endParaRPr lang="en-US" altLang="zh-CN" dirty="0">
              <a:solidFill>
                <a:srgbClr val="FFFF00"/>
              </a:solidFill>
            </a:endParaRPr>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5325" y="863600"/>
            <a:ext cx="10801350" cy="5400675"/>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solidFill>
                  <a:srgbClr val="FFFF00"/>
                </a:solidFill>
              </a:rPr>
              <a:t>INVEST</a:t>
            </a:r>
            <a:r>
              <a:rPr lang="en-US" altLang="zh-CN"/>
              <a: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200329"/>
          </a:xfrm>
          <a:prstGeom prst="rect">
            <a:avLst/>
          </a:prstGeom>
          <a:noFill/>
        </p:spPr>
        <p:txBody>
          <a:bodyPr wrap="square" rtlCol="0">
            <a:spAutoFit/>
          </a:bodyPr>
          <a:lstStyle/>
          <a:p>
            <a:r>
              <a:rPr lang="en-US" altLang="zh-CN">
                <a:solidFill>
                  <a:srgbClr val="FFFF00"/>
                </a:solidFill>
              </a:rPr>
              <a:t>Break down story 1</a:t>
            </a:r>
          </a:p>
          <a:p>
            <a:r>
              <a:rPr lang="en-US" altLang="zh-CN">
                <a:solidFill>
                  <a:schemeClr val="bg1"/>
                </a:solidFill>
              </a:rPr>
              <a:t>As a busy executive,</a:t>
            </a:r>
            <a:br>
              <a:rPr lang="en-US" altLang="zh-CN">
                <a:solidFill>
                  <a:schemeClr val="bg1"/>
                </a:solidFill>
              </a:rPr>
            </a:br>
            <a:r>
              <a:rPr lang="en-US" altLang="zh-CN">
                <a:solidFill>
                  <a:schemeClr val="bg1"/>
                </a:solidFill>
              </a:rPr>
              <a:t>I want to be able to save a search location to my list of favorites from my mobile device</a:t>
            </a:r>
            <a:br>
              <a:rPr lang="en-US" altLang="zh-CN">
                <a:solidFill>
                  <a:schemeClr val="bg1"/>
                </a:solidFill>
              </a:rPr>
            </a:br>
            <a:r>
              <a:rPr lang="en-US" altLang="zh-CN">
                <a:solidFill>
                  <a:schemeClr val="bg1"/>
                </a:solidFill>
              </a:rPr>
              <a:t>So that I can reuse that search on future visits.</a:t>
            </a:r>
            <a:endParaRPr lang="zh-CN" altLang="en-US">
              <a:solidFill>
                <a:schemeClr val="bg1"/>
              </a:solidFill>
            </a:endParaRPr>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754326"/>
          </a:xfrm>
          <a:prstGeom prst="rect">
            <a:avLst/>
          </a:prstGeom>
          <a:noFill/>
        </p:spPr>
        <p:txBody>
          <a:bodyPr wrap="square" rtlCol="0">
            <a:spAutoFit/>
          </a:bodyPr>
          <a:lstStyle/>
          <a:p>
            <a:r>
              <a:rPr lang="en-US" altLang="zh-CN">
                <a:solidFill>
                  <a:srgbClr val="FFFF00"/>
                </a:solidFill>
              </a:rPr>
              <a:t>Break down story 4</a:t>
            </a:r>
          </a:p>
          <a:p>
            <a:r>
              <a:rPr lang="en-US" altLang="zh-CN">
                <a:solidFill>
                  <a:schemeClr val="bg1"/>
                </a:solidFill>
              </a:rPr>
              <a:t>As a busy executive,</a:t>
            </a:r>
            <a:br>
              <a:rPr lang="en-US" altLang="zh-CN">
                <a:solidFill>
                  <a:schemeClr val="bg1"/>
                </a:solidFill>
              </a:rPr>
            </a:br>
            <a:r>
              <a:rPr lang="en-US" altLang="zh-CN">
                <a:solidFill>
                  <a:schemeClr val="bg1"/>
                </a:solidFill>
              </a:rPr>
              <a:t>I want my “saved favorites” option on the user interface to be presented on a mobile device near the “search location”</a:t>
            </a:r>
            <a:br>
              <a:rPr lang="en-US" altLang="zh-CN">
                <a:solidFill>
                  <a:schemeClr val="bg1"/>
                </a:solidFill>
              </a:rPr>
            </a:br>
            <a:r>
              <a:rPr lang="en-US" altLang="zh-CN">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696000" y="2003517"/>
            <a:ext cx="6244017" cy="338554"/>
          </a:xfrm>
          <a:prstGeom prst="rect">
            <a:avLst/>
          </a:prstGeom>
          <a:noFill/>
        </p:spPr>
        <p:txBody>
          <a:bodyPr wrap="none" rtlCol="0">
            <a:spAutoFit/>
          </a:bodyPr>
          <a:lstStyle/>
          <a:p>
            <a:r>
              <a:rPr lang="zh-CN" altLang="en-US" sz="1600" dirty="0">
                <a:solidFill>
                  <a:schemeClr val="bg1"/>
                </a:solidFill>
              </a:rPr>
              <a:t>举例并分析：</a:t>
            </a:r>
            <a:r>
              <a:rPr lang="en-US" altLang="zh-CN" sz="1600" dirty="0">
                <a:solidFill>
                  <a:schemeClr val="bg1"/>
                </a:solidFill>
              </a:rPr>
              <a:t>SOW</a:t>
            </a:r>
            <a:r>
              <a:rPr lang="zh-CN" altLang="en-US" sz="1600" dirty="0">
                <a:solidFill>
                  <a:schemeClr val="bg1"/>
                </a:solidFill>
              </a:rPr>
              <a:t>、</a:t>
            </a:r>
            <a:r>
              <a:rPr lang="en-US" altLang="zh-CN" sz="1600" dirty="0">
                <a:solidFill>
                  <a:schemeClr val="bg1"/>
                </a:solidFill>
              </a:rPr>
              <a:t>SRS</a:t>
            </a:r>
            <a:r>
              <a:rPr lang="zh-CN" altLang="en-US" sz="1600" dirty="0">
                <a:solidFill>
                  <a:schemeClr val="bg1"/>
                </a:solidFill>
              </a:rPr>
              <a:t>、</a:t>
            </a:r>
            <a:r>
              <a:rPr lang="en-US" altLang="zh-CN" sz="1600" dirty="0">
                <a:solidFill>
                  <a:schemeClr val="bg1"/>
                </a:solidFill>
              </a:rPr>
              <a:t>WBS</a:t>
            </a:r>
            <a:r>
              <a:rPr lang="zh-CN" altLang="en-US" sz="1600" dirty="0">
                <a:solidFill>
                  <a:schemeClr val="bg1"/>
                </a:solidFill>
              </a:rPr>
              <a:t>、</a:t>
            </a:r>
            <a:r>
              <a:rPr lang="en-US" altLang="zh-CN" sz="1600" dirty="0">
                <a:solidFill>
                  <a:schemeClr val="bg1"/>
                </a:solidFill>
              </a:rPr>
              <a:t>Package</a:t>
            </a:r>
            <a:r>
              <a:rPr lang="zh-CN" altLang="en-US" sz="1600" dirty="0">
                <a:solidFill>
                  <a:schemeClr val="bg1"/>
                </a:solidFill>
              </a:rPr>
              <a:t>和</a:t>
            </a:r>
            <a:r>
              <a:rPr lang="en-US" altLang="zh-CN" sz="1600" dirty="0">
                <a:solidFill>
                  <a:schemeClr val="bg1"/>
                </a:solidFill>
              </a:rPr>
              <a:t>Dictionary</a:t>
            </a:r>
            <a:r>
              <a:rPr lang="zh-CN" altLang="en-US" sz="1600" dirty="0">
                <a:solidFill>
                  <a:schemeClr val="bg1"/>
                </a:solidFill>
              </a:rPr>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278857"/>
            <a:ext cx="4424219" cy="2300287"/>
          </a:xfrm>
        </p:spPr>
        <p:txBody>
          <a:bodyPr/>
          <a:lstStyle/>
          <a:p>
            <a:r>
              <a:rPr lang="zh-CN" altLang="en-US"/>
              <a:t>概念和术语</a:t>
            </a:r>
            <a:endParaRPr lang="en-US" altLang="zh-CN"/>
          </a:p>
          <a:p>
            <a:r>
              <a:rPr lang="zh-CN" altLang="en-US"/>
              <a:t>成本管理计划</a:t>
            </a:r>
            <a:endParaRPr lang="en-US" altLang="zh-CN"/>
          </a:p>
          <a:p>
            <a:r>
              <a:rPr lang="zh-CN" altLang="en-US"/>
              <a:t>成本估算</a:t>
            </a:r>
            <a:endParaRPr lang="en-US" altLang="zh-CN"/>
          </a:p>
          <a:p>
            <a:r>
              <a:rPr lang="zh-CN" altLang="en-US"/>
              <a:t>成本预算</a:t>
            </a:r>
            <a:endParaRPr lang="en-US" altLang="zh-CN"/>
          </a:p>
          <a:p>
            <a:r>
              <a:rPr lang="zh-CN" altLang="en-US"/>
              <a:t>成本控制</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a:t>1. </a:t>
            </a:r>
            <a:r>
              <a:rPr lang="zh-CN" altLang="en-US"/>
              <a:t>概念和术语 </a:t>
            </a:r>
            <a:r>
              <a:rPr lang="en-US" altLang="zh-CN"/>
              <a:t>– </a:t>
            </a:r>
            <a:r>
              <a:rPr lang="zh-CN" altLang="en-US"/>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a:t>可变成本 </a:t>
            </a:r>
            <a:r>
              <a:rPr lang="en-US" altLang="zh-CN"/>
              <a:t>Variable Costs</a:t>
            </a:r>
          </a:p>
          <a:p>
            <a:r>
              <a:rPr lang="zh-CN" altLang="en-US"/>
              <a:t>固定成本 </a:t>
            </a:r>
            <a:r>
              <a:rPr lang="en-US" altLang="zh-CN"/>
              <a:t>Fixed Costs</a:t>
            </a:r>
          </a:p>
          <a:p>
            <a:r>
              <a:rPr lang="zh-CN" altLang="en-US"/>
              <a:t>直接成本 </a:t>
            </a:r>
            <a:r>
              <a:rPr lang="en-US" altLang="zh-CN"/>
              <a:t>Direct Costs</a:t>
            </a:r>
          </a:p>
          <a:p>
            <a:pPr lvl="1"/>
            <a:r>
              <a:rPr lang="zh-CN" altLang="en-US"/>
              <a:t>人工费、工资</a:t>
            </a:r>
            <a:endParaRPr lang="en-US" altLang="zh-CN"/>
          </a:p>
          <a:p>
            <a:pPr lvl="1"/>
            <a:r>
              <a:rPr lang="zh-CN" altLang="en-US"/>
              <a:t>差旅费（项目相关人员）</a:t>
            </a:r>
            <a:endParaRPr lang="en-US" altLang="zh-CN"/>
          </a:p>
          <a:p>
            <a:pPr lvl="1"/>
            <a:r>
              <a:rPr lang="zh-CN" altLang="en-US"/>
              <a:t>材料费</a:t>
            </a:r>
            <a:endParaRPr lang="en-US" altLang="zh-CN"/>
          </a:p>
          <a:p>
            <a:pPr lvl="1"/>
            <a:r>
              <a:rPr lang="zh-CN" altLang="en-US"/>
              <a:t>专用设备费</a:t>
            </a:r>
            <a:endParaRPr lang="en-US" altLang="zh-CN"/>
          </a:p>
          <a:p>
            <a:pPr lvl="1"/>
            <a:r>
              <a:rPr lang="zh-CN" altLang="en-US"/>
              <a:t>特定工具</a:t>
            </a:r>
            <a:endParaRPr lang="en-US" altLang="zh-CN"/>
          </a:p>
          <a:p>
            <a:r>
              <a:rPr lang="zh-CN" altLang="en-US"/>
              <a:t>间接成本 </a:t>
            </a:r>
            <a:r>
              <a:rPr lang="en-US" altLang="zh-CN"/>
              <a:t>Indirect Costs</a:t>
            </a:r>
          </a:p>
          <a:p>
            <a:pPr lvl="1"/>
            <a:r>
              <a:rPr lang="zh-CN" altLang="en-US"/>
              <a:t>管理费</a:t>
            </a:r>
            <a:endParaRPr lang="en-US" altLang="zh-CN"/>
          </a:p>
          <a:p>
            <a:pPr lvl="1"/>
            <a:r>
              <a:rPr lang="zh-CN" altLang="en-US"/>
              <a:t>办公租金、安保</a:t>
            </a:r>
            <a:endParaRPr lang="en-US" altLang="zh-CN"/>
          </a:p>
          <a:p>
            <a:pPr lvl="1"/>
            <a:r>
              <a:rPr lang="zh-CN" altLang="en-US"/>
              <a:t>行政人员工资</a:t>
            </a:r>
            <a:endParaRPr lang="en-US" altLang="zh-CN"/>
          </a:p>
          <a:p>
            <a:pPr lvl="1"/>
            <a:r>
              <a:rPr lang="zh-CN" altLang="en-US"/>
              <a:t>公司级税金</a:t>
            </a:r>
            <a:endParaRPr lang="en-US" altLang="zh-CN"/>
          </a:p>
          <a:p>
            <a:pPr lvl="1"/>
            <a:r>
              <a:rPr lang="zh-CN" altLang="en-US"/>
              <a:t>通用设备租赁</a:t>
            </a:r>
            <a:endParaRPr lang="en-US" altLang="zh-CN"/>
          </a:p>
          <a:p>
            <a:r>
              <a:rPr lang="zh-CN" altLang="en-US"/>
              <a:t>机会成本 </a:t>
            </a:r>
            <a:endParaRPr lang="en-US" altLang="zh-CN"/>
          </a:p>
          <a:p>
            <a:r>
              <a:rPr lang="zh-CN" altLang="en-US"/>
              <a:t>沉默成本</a:t>
            </a:r>
            <a:endParaRPr lang="en-US" altLang="zh-CN"/>
          </a:p>
          <a:p>
            <a:endParaRPr lang="zh-CN" altLang="en-US"/>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a:t>Project Cost</a:t>
            </a:r>
            <a:endParaRPr lang="zh-CN" altLang="en-US"/>
          </a:p>
        </p:txBody>
      </p:sp>
    </p:spTree>
    <p:extLst>
      <p:ext uri="{BB962C8B-B14F-4D97-AF65-F5344CB8AC3E}">
        <p14:creationId xmlns:p14="http://schemas.microsoft.com/office/powerpoint/2010/main" val="35682652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a:t>1. </a:t>
            </a:r>
            <a:r>
              <a:rPr lang="zh-CN" altLang="en-US"/>
              <a:t>概念和术语 </a:t>
            </a:r>
            <a:r>
              <a:rPr lang="en-US" altLang="zh-CN"/>
              <a:t>- </a:t>
            </a:r>
            <a:r>
              <a:rPr lang="zh-CN" altLang="en-US"/>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a:t>Contingency Reserve</a:t>
            </a:r>
            <a:endParaRPr lang="zh-CN" altLang="en-US"/>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a:t>Project Cost</a:t>
            </a:r>
            <a:endParaRPr lang="zh-CN" altLang="en-US"/>
          </a:p>
        </p:txBody>
      </p:sp>
    </p:spTree>
    <p:extLst>
      <p:ext uri="{BB962C8B-B14F-4D97-AF65-F5344CB8AC3E}">
        <p14:creationId xmlns:p14="http://schemas.microsoft.com/office/powerpoint/2010/main" val="54008525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normAutofit/>
          </a:bodyPr>
          <a:lstStyle/>
          <a:p>
            <a:r>
              <a:rPr lang="en-US" altLang="zh-CN"/>
              <a:t>3. </a:t>
            </a:r>
            <a:r>
              <a:rPr lang="zh-CN" altLang="en-US"/>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a:t>Project Cost</a:t>
            </a:r>
            <a:endParaRPr lang="zh-CN" altLang="en-US"/>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2682882798"/>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a:solidFill>
                            <a:schemeClr val="bg1"/>
                          </a:solidFill>
                        </a:rPr>
                        <a:t>方法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solidFill>
                            <a:schemeClr val="bg1"/>
                          </a:solidFill>
                        </a:rPr>
                        <a:t>类比估算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使用类似项目的实际数据进行估算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快速但精度低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3466589"/>
                  </a:ext>
                </a:extLst>
              </a:tr>
              <a:tr h="0">
                <a:tc>
                  <a:txBody>
                    <a:bodyPr/>
                    <a:lstStyle/>
                    <a:p>
                      <a:pPr>
                        <a:buNone/>
                      </a:pPr>
                      <a:r>
                        <a:rPr lang="zh-CN" altLang="en-US">
                          <a:solidFill>
                            <a:schemeClr val="bg1"/>
                          </a:solidFill>
                        </a:rPr>
                        <a:t>自上而下估算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从整体项目开始，分解并分配资源</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通常用于初步估算，由高层向下分配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86852194"/>
                  </a:ext>
                </a:extLst>
              </a:tr>
              <a:tr h="0">
                <a:tc>
                  <a:txBody>
                    <a:bodyPr/>
                    <a:lstStyle/>
                    <a:p>
                      <a:pPr>
                        <a:buNone/>
                      </a:pPr>
                      <a:r>
                        <a:rPr lang="zh-CN" altLang="en-US">
                          <a:solidFill>
                            <a:schemeClr val="bg1"/>
                          </a:solidFill>
                        </a:rPr>
                        <a:t>自下而上估算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先估算每个工作包或活动的成本</a:t>
                      </a:r>
                      <a:r>
                        <a:rPr lang="en-US" altLang="zh-CN">
                          <a:solidFill>
                            <a:schemeClr val="bg1"/>
                          </a:solidFill>
                        </a:rPr>
                        <a:t>/</a:t>
                      </a:r>
                      <a:r>
                        <a:rPr lang="zh-CN" altLang="en-US">
                          <a:solidFill>
                            <a:schemeClr val="bg1"/>
                          </a:solidFill>
                        </a:rPr>
                        <a:t>工期，再</a:t>
                      </a:r>
                      <a:r>
                        <a:rPr lang="zh-CN" altLang="en-US">
                          <a:solidFill>
                            <a:srgbClr val="FFFF00"/>
                          </a:solidFill>
                        </a:rPr>
                        <a:t>汇总</a:t>
                      </a:r>
                      <a:r>
                        <a:rPr lang="zh-CN" altLang="en-US">
                          <a:solidFill>
                            <a:schemeClr val="bg1"/>
                          </a:solidFill>
                        </a:rPr>
                        <a:t>到更高层级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精度高，基于详细信息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70663309"/>
                  </a:ext>
                </a:extLst>
              </a:tr>
              <a:tr h="0">
                <a:tc>
                  <a:txBody>
                    <a:bodyPr/>
                    <a:lstStyle/>
                    <a:p>
                      <a:pPr>
                        <a:buNone/>
                      </a:pPr>
                      <a:r>
                        <a:rPr lang="zh-CN" altLang="en-US">
                          <a:solidFill>
                            <a:schemeClr val="bg1"/>
                          </a:solidFill>
                        </a:rPr>
                        <a:t>多方案分析估算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比较多种技术或方案的成本</a:t>
                      </a:r>
                      <a:r>
                        <a:rPr lang="en-US" altLang="zh-CN">
                          <a:solidFill>
                            <a:schemeClr val="bg1"/>
                          </a:solidFill>
                        </a:rPr>
                        <a:t>/</a:t>
                      </a:r>
                      <a:r>
                        <a:rPr lang="zh-CN" altLang="en-US">
                          <a:solidFill>
                            <a:schemeClr val="bg1"/>
                          </a:solidFill>
                        </a:rPr>
                        <a:t>收益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用于决策支持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20496958"/>
                  </a:ext>
                </a:extLst>
              </a:tr>
              <a:tr h="0">
                <a:tc>
                  <a:txBody>
                    <a:bodyPr/>
                    <a:lstStyle/>
                    <a:p>
                      <a:pPr>
                        <a:buNone/>
                      </a:pPr>
                      <a:r>
                        <a:rPr lang="zh-CN" altLang="en-US">
                          <a:solidFill>
                            <a:schemeClr val="bg1"/>
                          </a:solidFill>
                        </a:rPr>
                        <a:t>参数估算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基于数学模型和历史数据（如每米成本）进行估算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61272037"/>
                  </a:ext>
                </a:extLst>
              </a:tr>
              <a:tr h="0">
                <a:tc>
                  <a:txBody>
                    <a:bodyPr/>
                    <a:lstStyle/>
                    <a:p>
                      <a:pPr>
                        <a:buNone/>
                      </a:pPr>
                      <a:r>
                        <a:rPr lang="zh-CN" altLang="en-US">
                          <a:solidFill>
                            <a:schemeClr val="bg1"/>
                          </a:solidFill>
                        </a:rPr>
                        <a:t>专家判断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依靠专家经验进行判断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主观，不依赖数值区间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42723542"/>
                  </a:ext>
                </a:extLst>
              </a:tr>
              <a:tr h="0">
                <a:tc>
                  <a:txBody>
                    <a:bodyPr/>
                    <a:lstStyle/>
                    <a:p>
                      <a:pPr>
                        <a:buNone/>
                      </a:pPr>
                      <a:r>
                        <a:rPr lang="zh-CN" altLang="en-US">
                          <a:solidFill>
                            <a:schemeClr val="bg1"/>
                          </a:solidFill>
                        </a:rPr>
                        <a:t>三点估算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使用乐观（</a:t>
                      </a:r>
                      <a:r>
                        <a:rPr lang="en-US" altLang="zh-CN">
                          <a:solidFill>
                            <a:schemeClr val="bg1"/>
                          </a:solidFill>
                        </a:rPr>
                        <a:t>O</a:t>
                      </a:r>
                      <a:r>
                        <a:rPr lang="zh-CN" altLang="en-US">
                          <a:solidFill>
                            <a:schemeClr val="bg1"/>
                          </a:solidFill>
                        </a:rPr>
                        <a:t>）、最可能（</a:t>
                      </a:r>
                      <a:r>
                        <a:rPr lang="en-US" altLang="zh-CN">
                          <a:solidFill>
                            <a:schemeClr val="bg1"/>
                          </a:solidFill>
                        </a:rPr>
                        <a:t>M</a:t>
                      </a:r>
                      <a:r>
                        <a:rPr lang="zh-CN" altLang="en-US">
                          <a:solidFill>
                            <a:schemeClr val="bg1"/>
                          </a:solidFill>
                        </a:rPr>
                        <a:t>）、悲观（</a:t>
                      </a:r>
                      <a:r>
                        <a:rPr lang="en-US" altLang="zh-CN">
                          <a:solidFill>
                            <a:schemeClr val="bg1"/>
                          </a:solidFill>
                        </a:rPr>
                        <a:t>P</a:t>
                      </a:r>
                      <a:r>
                        <a:rPr lang="zh-CN" altLang="en-US">
                          <a:solidFill>
                            <a:schemeClr val="bg1"/>
                          </a:solidFill>
                        </a:rPr>
                        <a:t>）三个值，计算期望工期或成本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a:t>4. </a:t>
            </a:r>
            <a:r>
              <a:rPr lang="zh-CN" altLang="en-US"/>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a:t>总成本分摊到各个工作包</a:t>
            </a:r>
            <a:endParaRPr lang="en-US" altLang="zh-CN"/>
          </a:p>
          <a:p>
            <a:r>
              <a:rPr lang="zh-CN" altLang="en-US"/>
              <a:t>各个工作包分解到各个活动</a:t>
            </a:r>
            <a:endParaRPr lang="en-US" altLang="zh-CN"/>
          </a:p>
          <a:p>
            <a:r>
              <a:rPr lang="zh-CN" altLang="en-US"/>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1608654994"/>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a:solidFill>
                            <a:schemeClr val="bg1"/>
                          </a:solidFill>
                        </a:rPr>
                        <a:t>项目预算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管理储备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成本基准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控制账户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工作包成本估算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活动应急储备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活动成本估算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a:t>5. </a:t>
            </a:r>
            <a:r>
              <a:rPr lang="zh-CN" altLang="en-US"/>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normAutofit/>
          </a:bodyPr>
          <a:lstStyle/>
          <a:p>
            <a:r>
              <a:rPr lang="en-US" altLang="zh-CN"/>
              <a:t>5. </a:t>
            </a:r>
            <a:r>
              <a:rPr lang="zh-CN" altLang="en-US"/>
              <a:t>成本控制 </a:t>
            </a:r>
            <a:r>
              <a:rPr lang="en-US" altLang="zh-CN"/>
              <a:t>– </a:t>
            </a:r>
            <a:r>
              <a:rPr lang="zh-CN" altLang="en-US"/>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a:t>Earned Value Management</a:t>
            </a:r>
          </a:p>
          <a:p>
            <a:r>
              <a:rPr lang="zh-CN" altLang="en-US"/>
              <a:t>要素</a:t>
            </a:r>
            <a:endParaRPr lang="en-US" altLang="zh-CN"/>
          </a:p>
          <a:p>
            <a:pPr lvl="1"/>
            <a:r>
              <a:rPr lang="zh-CN" altLang="en-US"/>
              <a:t>计划价值 </a:t>
            </a:r>
            <a:r>
              <a:rPr lang="en-US" altLang="zh-CN"/>
              <a:t>PV</a:t>
            </a:r>
          </a:p>
          <a:p>
            <a:pPr lvl="1"/>
            <a:r>
              <a:rPr lang="zh-CN" altLang="en-US"/>
              <a:t>挣值 </a:t>
            </a:r>
            <a:r>
              <a:rPr lang="en-US" altLang="zh-CN"/>
              <a:t>EV</a:t>
            </a:r>
          </a:p>
          <a:p>
            <a:pPr lvl="1"/>
            <a:r>
              <a:rPr lang="zh-CN" altLang="en-US"/>
              <a:t>实际成本 </a:t>
            </a:r>
            <a:r>
              <a:rPr lang="en-US" altLang="zh-CN"/>
              <a:t>AC</a:t>
            </a:r>
          </a:p>
          <a:p>
            <a:endParaRPr lang="zh-CN" altLang="en-US"/>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normAutofit/>
          </a:bodyPr>
          <a:lstStyle/>
          <a:p>
            <a:r>
              <a:rPr lang="en-US" altLang="zh-CN"/>
              <a:t>5. </a:t>
            </a:r>
            <a:r>
              <a:rPr lang="zh-CN" altLang="en-US"/>
              <a:t>成本控制 </a:t>
            </a:r>
            <a:r>
              <a:rPr lang="en-US" altLang="zh-CN"/>
              <a:t>– </a:t>
            </a:r>
            <a:r>
              <a:rPr lang="zh-CN" altLang="en-US"/>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2055747726"/>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a:solidFill>
                            <a:schemeClr val="bg1"/>
                          </a:solidFill>
                        </a:rPr>
                        <a:t>Item</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Description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a:solidFill>
                            <a:schemeClr val="bg1"/>
                          </a:solidFill>
                        </a:rPr>
                        <a:t>PV</a:t>
                      </a:r>
                      <a:r>
                        <a:rPr lang="zh-CN" altLang="en-US">
                          <a:solidFill>
                            <a:schemeClr val="bg1"/>
                          </a:solidFill>
                        </a:rPr>
                        <a:t>，</a:t>
                      </a:r>
                      <a:r>
                        <a:rPr lang="en-US" altLang="zh-CN">
                          <a:solidFill>
                            <a:schemeClr val="bg1"/>
                          </a:solidFill>
                        </a:rPr>
                        <a:t>Planned Value</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计划工作量的预算费用，应该花多少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2169119"/>
                  </a:ext>
                </a:extLst>
              </a:tr>
              <a:tr h="0">
                <a:tc>
                  <a:txBody>
                    <a:bodyPr/>
                    <a:lstStyle/>
                    <a:p>
                      <a:pPr>
                        <a:buNone/>
                      </a:pPr>
                      <a:r>
                        <a:rPr lang="en-US">
                          <a:solidFill>
                            <a:schemeClr val="bg1"/>
                          </a:solidFill>
                        </a:rPr>
                        <a:t>EV</a:t>
                      </a:r>
                      <a:r>
                        <a:rPr lang="zh-CN" altLang="en-US">
                          <a:solidFill>
                            <a:schemeClr val="bg1"/>
                          </a:solidFill>
                        </a:rPr>
                        <a:t>，</a:t>
                      </a:r>
                      <a:r>
                        <a:rPr lang="en-US" altLang="zh-CN">
                          <a:solidFill>
                            <a:schemeClr val="bg1"/>
                          </a:solidFill>
                        </a:rPr>
                        <a:t>Earned Value</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已完成的实际工作量预算费用</a:t>
                      </a:r>
                      <a:r>
                        <a:rPr lang="en-US" altLang="zh-CN">
                          <a:solidFill>
                            <a:schemeClr val="bg1"/>
                          </a:solidFill>
                        </a:rPr>
                        <a:t>/</a:t>
                      </a:r>
                      <a:r>
                        <a:rPr lang="zh-CN" altLang="en-US">
                          <a:solidFill>
                            <a:schemeClr val="bg1"/>
                          </a:solidFill>
                        </a:rPr>
                        <a:t>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6192706"/>
                  </a:ext>
                </a:extLst>
              </a:tr>
              <a:tr h="0">
                <a:tc>
                  <a:txBody>
                    <a:bodyPr/>
                    <a:lstStyle/>
                    <a:p>
                      <a:pPr>
                        <a:buNone/>
                      </a:pPr>
                      <a:r>
                        <a:rPr lang="en-US">
                          <a:solidFill>
                            <a:schemeClr val="bg1"/>
                          </a:solidFill>
                        </a:rPr>
                        <a:t>AC</a:t>
                      </a:r>
                      <a:r>
                        <a:rPr lang="zh-CN" altLang="en-US">
                          <a:solidFill>
                            <a:schemeClr val="bg1"/>
                          </a:solidFill>
                        </a:rPr>
                        <a:t>，</a:t>
                      </a:r>
                      <a:r>
                        <a:rPr lang="en-US" altLang="zh-CN">
                          <a:solidFill>
                            <a:schemeClr val="bg1"/>
                          </a:solidFill>
                        </a:rPr>
                        <a:t>Actual Cost</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已完成工作量的实际费用，实际花了多少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82583307"/>
                  </a:ext>
                </a:extLst>
              </a:tr>
              <a:tr h="0">
                <a:tc>
                  <a:txBody>
                    <a:bodyPr/>
                    <a:lstStyle/>
                    <a:p>
                      <a:pPr>
                        <a:buNone/>
                      </a:pPr>
                      <a:r>
                        <a:rPr lang="en-US">
                          <a:solidFill>
                            <a:schemeClr val="bg1"/>
                          </a:solidFill>
                        </a:rPr>
                        <a:t>CV</a:t>
                      </a:r>
                      <a:r>
                        <a:rPr lang="zh-CN" altLang="en-US">
                          <a:solidFill>
                            <a:schemeClr val="bg1"/>
                          </a:solidFill>
                        </a:rPr>
                        <a:t>，</a:t>
                      </a:r>
                      <a:r>
                        <a:rPr lang="en-US" altLang="zh-CN">
                          <a:solidFill>
                            <a:schemeClr val="bg1"/>
                          </a:solidFill>
                        </a:rPr>
                        <a:t>Cost Variance</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成本偏差 </a:t>
                      </a:r>
                      <a:r>
                        <a:rPr lang="en-US">
                          <a:solidFill>
                            <a:schemeClr val="bg1"/>
                          </a:solidFill>
                        </a:rPr>
                        <a:t>CV = EV - AC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88217352"/>
                  </a:ext>
                </a:extLst>
              </a:tr>
              <a:tr h="0">
                <a:tc>
                  <a:txBody>
                    <a:bodyPr/>
                    <a:lstStyle/>
                    <a:p>
                      <a:pPr>
                        <a:buNone/>
                      </a:pPr>
                      <a:r>
                        <a:rPr lang="en-US">
                          <a:solidFill>
                            <a:schemeClr val="bg1"/>
                          </a:solidFill>
                        </a:rPr>
                        <a:t>SV</a:t>
                      </a:r>
                      <a:r>
                        <a:rPr lang="zh-CN" altLang="en-US">
                          <a:solidFill>
                            <a:schemeClr val="bg1"/>
                          </a:solidFill>
                        </a:rPr>
                        <a:t>，</a:t>
                      </a:r>
                      <a:r>
                        <a:rPr lang="en-US" altLang="zh-CN">
                          <a:solidFill>
                            <a:schemeClr val="bg1"/>
                          </a:solidFill>
                        </a:rPr>
                        <a:t>Schedule Variance</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进度偏差 </a:t>
                      </a:r>
                      <a:r>
                        <a:rPr lang="en-US">
                          <a:solidFill>
                            <a:schemeClr val="bg1"/>
                          </a:solidFill>
                        </a:rPr>
                        <a:t>SV = EV - PV</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43196004"/>
                  </a:ext>
                </a:extLst>
              </a:tr>
              <a:tr h="0">
                <a:tc>
                  <a:txBody>
                    <a:bodyPr/>
                    <a:lstStyle/>
                    <a:p>
                      <a:pPr>
                        <a:buNone/>
                      </a:pPr>
                      <a:r>
                        <a:rPr lang="en-US">
                          <a:solidFill>
                            <a:schemeClr val="bg1"/>
                          </a:solidFill>
                        </a:rPr>
                        <a:t>CPI</a:t>
                      </a:r>
                      <a:r>
                        <a:rPr lang="zh-CN" altLang="en-US">
                          <a:solidFill>
                            <a:schemeClr val="bg1"/>
                          </a:solidFill>
                        </a:rPr>
                        <a:t>，</a:t>
                      </a:r>
                      <a:r>
                        <a:rPr lang="en-US" altLang="zh-CN">
                          <a:solidFill>
                            <a:schemeClr val="bg1"/>
                          </a:solidFill>
                        </a:rPr>
                        <a:t>Cost Performance Index</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成本绩效指数 </a:t>
                      </a:r>
                      <a:r>
                        <a:rPr lang="en-US" altLang="zh-CN">
                          <a:solidFill>
                            <a:schemeClr val="bg1"/>
                          </a:solidFill>
                        </a:rPr>
                        <a:t>CPI = EV / AC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13460754"/>
                  </a:ext>
                </a:extLst>
              </a:tr>
              <a:tr h="0">
                <a:tc>
                  <a:txBody>
                    <a:bodyPr/>
                    <a:lstStyle/>
                    <a:p>
                      <a:pPr>
                        <a:buNone/>
                      </a:pPr>
                      <a:r>
                        <a:rPr lang="en-US">
                          <a:solidFill>
                            <a:schemeClr val="bg1"/>
                          </a:solidFill>
                        </a:rPr>
                        <a:t>SPI</a:t>
                      </a:r>
                      <a:r>
                        <a:rPr lang="zh-CN" altLang="en-US">
                          <a:solidFill>
                            <a:schemeClr val="bg1"/>
                          </a:solidFill>
                        </a:rPr>
                        <a:t>，</a:t>
                      </a:r>
                      <a:r>
                        <a:rPr lang="en-US" altLang="zh-CN">
                          <a:solidFill>
                            <a:schemeClr val="bg1"/>
                          </a:solidFill>
                        </a:rPr>
                        <a:t>Schedule Performance Index</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进度绩效指数 </a:t>
                      </a:r>
                      <a:r>
                        <a:rPr lang="en-US">
                          <a:solidFill>
                            <a:schemeClr val="bg1"/>
                          </a:solidFill>
                        </a:rPr>
                        <a:t>SPI = EV / PV</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78365379"/>
                  </a:ext>
                </a:extLst>
              </a:tr>
              <a:tr h="0">
                <a:tc>
                  <a:txBody>
                    <a:bodyPr/>
                    <a:lstStyle/>
                    <a:p>
                      <a:pPr>
                        <a:buNone/>
                      </a:pPr>
                      <a:r>
                        <a:rPr lang="en-US">
                          <a:solidFill>
                            <a:schemeClr val="bg1"/>
                          </a:solidFill>
                        </a:rPr>
                        <a:t>BAC</a:t>
                      </a:r>
                      <a:r>
                        <a:rPr lang="zh-CN" altLang="en-US">
                          <a:solidFill>
                            <a:schemeClr val="bg1"/>
                          </a:solidFill>
                        </a:rPr>
                        <a:t>，</a:t>
                      </a:r>
                      <a:r>
                        <a:rPr lang="en-US" altLang="zh-CN">
                          <a:solidFill>
                            <a:schemeClr val="bg1"/>
                          </a:solidFill>
                        </a:rPr>
                        <a:t>Budget at Completion</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总预算即全部的 </a:t>
                      </a:r>
                      <a:r>
                        <a:rPr lang="en-US" altLang="zh-CN">
                          <a:solidFill>
                            <a:schemeClr val="bg1"/>
                          </a:solidFill>
                        </a:rPr>
                        <a:t>PV</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27084754"/>
                  </a:ext>
                </a:extLst>
              </a:tr>
              <a:tr h="0">
                <a:tc>
                  <a:txBody>
                    <a:bodyPr/>
                    <a:lstStyle/>
                    <a:p>
                      <a:pPr>
                        <a:buNone/>
                      </a:pPr>
                      <a:r>
                        <a:rPr lang="en-US">
                          <a:solidFill>
                            <a:schemeClr val="bg1"/>
                          </a:solidFill>
                        </a:rPr>
                        <a:t>ETC</a:t>
                      </a:r>
                      <a:r>
                        <a:rPr lang="zh-CN" altLang="en-US">
                          <a:solidFill>
                            <a:schemeClr val="bg1"/>
                          </a:solidFill>
                        </a:rPr>
                        <a:t>，</a:t>
                      </a:r>
                      <a:r>
                        <a:rPr lang="en-US" altLang="zh-CN">
                          <a:solidFill>
                            <a:schemeClr val="bg1"/>
                          </a:solidFill>
                        </a:rPr>
                        <a:t>Estimate to Complete</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rPr>
                        <a:t>完工尚需估算 ETC = EAC - AC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88247586"/>
                  </a:ext>
                </a:extLst>
              </a:tr>
              <a:tr h="0">
                <a:tc>
                  <a:txBody>
                    <a:bodyPr/>
                    <a:lstStyle/>
                    <a:p>
                      <a:pPr>
                        <a:buNone/>
                      </a:pPr>
                      <a:r>
                        <a:rPr lang="en-US">
                          <a:solidFill>
                            <a:schemeClr val="bg1"/>
                          </a:solidFill>
                        </a:rPr>
                        <a:t>EAC</a:t>
                      </a:r>
                      <a:r>
                        <a:rPr lang="zh-CN" altLang="en-US">
                          <a:solidFill>
                            <a:schemeClr val="bg1"/>
                          </a:solidFill>
                        </a:rPr>
                        <a:t>，</a:t>
                      </a:r>
                      <a:r>
                        <a:rPr lang="en-US" altLang="zh-CN">
                          <a:solidFill>
                            <a:schemeClr val="bg1"/>
                          </a:solidFill>
                        </a:rPr>
                        <a:t>Estimate at Completion</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完工估算：</a:t>
                      </a:r>
                      <a:endParaRPr lang="en-US" altLang="zh-CN">
                        <a:solidFill>
                          <a:schemeClr val="bg1"/>
                        </a:solidFill>
                      </a:endParaRPr>
                    </a:p>
                    <a:p>
                      <a:pPr>
                        <a:buNone/>
                      </a:pPr>
                      <a:r>
                        <a:rPr lang="zh-CN" altLang="en-US">
                          <a:solidFill>
                            <a:schemeClr val="bg1"/>
                          </a:solidFill>
                        </a:rPr>
                        <a:t>非典型偏差 </a:t>
                      </a:r>
                      <a:r>
                        <a:rPr lang="en-US">
                          <a:solidFill>
                            <a:schemeClr val="bg1"/>
                          </a:solidFill>
                        </a:rPr>
                        <a:t>EAC = AC + (BAC - EV)</a:t>
                      </a:r>
                    </a:p>
                    <a:p>
                      <a:pPr>
                        <a:buNone/>
                      </a:pPr>
                      <a:r>
                        <a:rPr lang="zh-CN" altLang="en-US">
                          <a:solidFill>
                            <a:schemeClr val="bg1"/>
                          </a:solidFill>
                        </a:rPr>
                        <a:t>典型偏差 </a:t>
                      </a:r>
                      <a:r>
                        <a:rPr lang="en-US">
                          <a:solidFill>
                            <a:schemeClr val="bg1"/>
                          </a:solidFill>
                        </a:rPr>
                        <a:t>EAC = AC + (BAC - EV)/CPI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74668408"/>
                  </a:ext>
                </a:extLst>
              </a:tr>
              <a:tr h="0">
                <a:tc>
                  <a:txBody>
                    <a:bodyPr/>
                    <a:lstStyle/>
                    <a:p>
                      <a:pPr>
                        <a:buNone/>
                      </a:pPr>
                      <a:r>
                        <a:rPr lang="en-US">
                          <a:solidFill>
                            <a:schemeClr val="bg1"/>
                          </a:solidFill>
                        </a:rPr>
                        <a:t>VAC</a:t>
                      </a:r>
                      <a:r>
                        <a:rPr lang="zh-CN" altLang="en-US">
                          <a:solidFill>
                            <a:schemeClr val="bg1"/>
                          </a:solidFill>
                        </a:rPr>
                        <a:t>，</a:t>
                      </a:r>
                      <a:r>
                        <a:rPr lang="en-US" altLang="zh-CN">
                          <a:solidFill>
                            <a:schemeClr val="bg1"/>
                          </a:solidFill>
                        </a:rPr>
                        <a:t>Variance at Completion</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完工偏差 </a:t>
                      </a:r>
                      <a:r>
                        <a:rPr lang="en-US">
                          <a:solidFill>
                            <a:schemeClr val="bg1"/>
                          </a:solidFill>
                        </a:rPr>
                        <a:t>VAC = BAC - EAC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278857"/>
            <a:ext cx="4424219" cy="2300287"/>
          </a:xfrm>
        </p:spPr>
        <p:txBody>
          <a:bodyPr>
            <a:normAutofit fontScale="92500" lnSpcReduction="20000"/>
          </a:bodyPr>
          <a:lstStyle/>
          <a:p>
            <a:r>
              <a:rPr lang="zh-CN" altLang="en-US"/>
              <a:t>规划进度</a:t>
            </a:r>
          </a:p>
          <a:p>
            <a:r>
              <a:rPr lang="zh-CN" altLang="en-US"/>
              <a:t>定义活动</a:t>
            </a:r>
          </a:p>
          <a:p>
            <a:r>
              <a:rPr lang="zh-CN" altLang="en-US"/>
              <a:t>排列活动顺序</a:t>
            </a:r>
          </a:p>
          <a:p>
            <a:r>
              <a:rPr lang="zh-CN" altLang="en-US"/>
              <a:t>估算活动资源</a:t>
            </a:r>
          </a:p>
          <a:p>
            <a:r>
              <a:rPr lang="zh-CN" altLang="en-US"/>
              <a:t>估算活动持续时间</a:t>
            </a:r>
          </a:p>
          <a:p>
            <a:r>
              <a:rPr lang="zh-CN" altLang="en-US"/>
              <a:t>制定进度计划</a:t>
            </a:r>
          </a:p>
          <a:p>
            <a:r>
              <a:rPr lang="zh-CN" altLang="en-US"/>
              <a:t>控制进度过程</a:t>
            </a:r>
          </a:p>
          <a:p>
            <a:endParaRPr lang="zh-CN" altLang="en-US"/>
          </a:p>
        </p:txBody>
      </p:sp>
    </p:spTree>
    <p:extLst>
      <p:ext uri="{BB962C8B-B14F-4D97-AF65-F5344CB8AC3E}">
        <p14:creationId xmlns:p14="http://schemas.microsoft.com/office/powerpoint/2010/main" val="25724519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a:t>7</a:t>
            </a:r>
            <a:r>
              <a:rPr lang="zh-CN" altLang="en-US"/>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a:t>规划进度</a:t>
            </a:r>
            <a:endParaRPr lang="en-US" altLang="zh-CN"/>
          </a:p>
          <a:p>
            <a:r>
              <a:rPr lang="zh-CN" altLang="en-US"/>
              <a:t>定义活动</a:t>
            </a:r>
            <a:endParaRPr lang="en-US" altLang="zh-CN"/>
          </a:p>
          <a:p>
            <a:r>
              <a:rPr lang="zh-CN" altLang="en-US"/>
              <a:t>排列活动顺序</a:t>
            </a:r>
            <a:endParaRPr lang="en-US" altLang="zh-CN"/>
          </a:p>
          <a:p>
            <a:r>
              <a:rPr lang="zh-CN" altLang="en-US"/>
              <a:t>估算活动资源</a:t>
            </a:r>
            <a:endParaRPr lang="en-US" altLang="zh-CN"/>
          </a:p>
          <a:p>
            <a:r>
              <a:rPr lang="zh-CN" altLang="en-US"/>
              <a:t>估算活动持续时间</a:t>
            </a:r>
            <a:endParaRPr lang="en-US" altLang="zh-CN"/>
          </a:p>
          <a:p>
            <a:r>
              <a:rPr lang="zh-CN" altLang="en-US"/>
              <a:t>制定进度计划</a:t>
            </a:r>
            <a:endParaRPr lang="en-US" altLang="zh-CN"/>
          </a:p>
          <a:p>
            <a:r>
              <a:rPr lang="zh-CN" altLang="en-US"/>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254675968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a:t>要求</a:t>
            </a:r>
            <a:endParaRPr lang="en-US" altLang="zh-CN"/>
          </a:p>
          <a:p>
            <a:pPr lvl="1"/>
            <a:r>
              <a:rPr lang="zh-CN" altLang="en-US"/>
              <a:t>正式或非正式</a:t>
            </a:r>
            <a:endParaRPr lang="en-US" altLang="zh-CN"/>
          </a:p>
          <a:p>
            <a:pPr lvl="1"/>
            <a:r>
              <a:rPr lang="zh-CN" altLang="en-US"/>
              <a:t>详细或概括</a:t>
            </a:r>
            <a:endParaRPr lang="en-US" altLang="zh-CN"/>
          </a:p>
          <a:p>
            <a:r>
              <a:rPr lang="zh-CN" altLang="en-US"/>
              <a:t>产出</a:t>
            </a:r>
            <a:endParaRPr lang="en-US" altLang="zh-CN"/>
          </a:p>
          <a:p>
            <a:pPr lvl="1"/>
            <a:r>
              <a:rPr lang="zh-CN" altLang="en-US"/>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10000954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a:t>活动 </a:t>
            </a:r>
            <a:r>
              <a:rPr lang="en-US" altLang="zh-CN"/>
              <a:t>Activity</a:t>
            </a:r>
            <a:endParaRPr lang="zh-CN" altLang="en-US"/>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a:t>完成工作包所进行的工作</a:t>
            </a:r>
            <a:endParaRPr lang="en-US" altLang="zh-CN"/>
          </a:p>
          <a:p>
            <a:r>
              <a:rPr lang="zh-CN" altLang="en-US"/>
              <a:t>与工作包</a:t>
            </a:r>
            <a:endParaRPr lang="en-US" altLang="zh-CN"/>
          </a:p>
          <a:p>
            <a:pPr lvl="1"/>
            <a:r>
              <a:rPr lang="en-US" altLang="zh-CN"/>
              <a:t>1</a:t>
            </a:r>
            <a:r>
              <a:rPr lang="zh-CN" altLang="en-US"/>
              <a:t> </a:t>
            </a:r>
            <a:r>
              <a:rPr lang="en-US" altLang="zh-CN"/>
              <a:t>vs 1</a:t>
            </a:r>
          </a:p>
          <a:p>
            <a:pPr lvl="1"/>
            <a:r>
              <a:rPr lang="en-US" altLang="zh-CN"/>
              <a:t>M vs 1</a:t>
            </a:r>
          </a:p>
          <a:p>
            <a:r>
              <a:rPr lang="zh-CN" altLang="en-US"/>
              <a:t>排列活动的工具</a:t>
            </a:r>
            <a:endParaRPr lang="en-US" altLang="zh-CN"/>
          </a:p>
          <a:p>
            <a:pPr lvl="1"/>
            <a:r>
              <a:rPr lang="zh-CN" altLang="en-US"/>
              <a:t>前导图 </a:t>
            </a:r>
            <a:r>
              <a:rPr lang="en-US" altLang="zh-CN"/>
              <a:t>PDM</a:t>
            </a:r>
            <a:r>
              <a:rPr lang="zh-CN" altLang="en-US"/>
              <a:t>，</a:t>
            </a:r>
            <a:r>
              <a:rPr lang="en-US" altLang="zh-CN"/>
              <a:t>Precedence Diagramming Method</a:t>
            </a:r>
            <a:r>
              <a:rPr lang="zh-CN" altLang="en-US"/>
              <a:t>，也叫单代号网络图</a:t>
            </a:r>
            <a:endParaRPr lang="en-US" altLang="zh-CN"/>
          </a:p>
          <a:p>
            <a:pPr lvl="1"/>
            <a:r>
              <a:rPr lang="zh-CN" altLang="en-US"/>
              <a:t>箭线图 </a:t>
            </a:r>
            <a:r>
              <a:rPr lang="en-US" altLang="zh-CN"/>
              <a:t>ADM</a:t>
            </a:r>
            <a:r>
              <a:rPr lang="zh-CN" altLang="en-US"/>
              <a:t>，</a:t>
            </a:r>
            <a:r>
              <a:rPr lang="en-US" altLang="zh-CN"/>
              <a:t>Arrow Diagramming Method,</a:t>
            </a:r>
            <a:r>
              <a:rPr lang="zh-CN" altLang="en-US"/>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49899567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864000"/>
            <a:ext cx="5040000" cy="5400000"/>
          </a:xfrm>
        </p:spPr>
        <p:txBody>
          <a:bodyPr>
            <a:normAutofit/>
          </a:bodyPr>
          <a:lstStyle/>
          <a:p>
            <a:r>
              <a:rPr lang="zh-CN" altLang="en-US"/>
              <a:t>活动：方块表示</a:t>
            </a:r>
            <a:endParaRPr lang="en-US" altLang="zh-CN"/>
          </a:p>
          <a:p>
            <a:r>
              <a:rPr lang="zh-CN" altLang="en-US"/>
              <a:t>紧前活动</a:t>
            </a:r>
            <a:endParaRPr lang="en-US" altLang="zh-CN"/>
          </a:p>
          <a:p>
            <a:pPr lvl="1"/>
            <a:r>
              <a:rPr lang="en-US" altLang="zh-CN"/>
              <a:t>H</a:t>
            </a:r>
            <a:r>
              <a:rPr lang="zh-CN" altLang="en-US"/>
              <a:t>是</a:t>
            </a:r>
            <a:r>
              <a:rPr lang="en-US" altLang="zh-CN"/>
              <a:t>I</a:t>
            </a:r>
            <a:r>
              <a:rPr lang="zh-CN" altLang="en-US"/>
              <a:t>的紧前活动</a:t>
            </a:r>
            <a:endParaRPr lang="en-US" altLang="zh-CN"/>
          </a:p>
          <a:p>
            <a:r>
              <a:rPr lang="zh-CN" altLang="en-US"/>
              <a:t>紧后活动</a:t>
            </a:r>
            <a:endParaRPr lang="en-US" altLang="zh-CN"/>
          </a:p>
          <a:p>
            <a:pPr lvl="1"/>
            <a:r>
              <a:rPr lang="en-US" altLang="zh-CN"/>
              <a:t>I</a:t>
            </a:r>
            <a:r>
              <a:rPr lang="zh-CN" altLang="en-US"/>
              <a:t>是</a:t>
            </a:r>
            <a:r>
              <a:rPr lang="en-US" altLang="zh-CN"/>
              <a:t>H</a:t>
            </a:r>
            <a:r>
              <a:rPr lang="zh-CN" altLang="en-US"/>
              <a:t>的紧后活动</a:t>
            </a:r>
            <a:endParaRPr lang="en-US" altLang="zh-CN"/>
          </a:p>
          <a:p>
            <a:endParaRPr lang="en-US" altLang="zh-CN"/>
          </a:p>
          <a:p>
            <a:endParaRPr lang="en-US" altLang="zh-CN"/>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864000"/>
            <a:ext cx="5400675" cy="5400000"/>
          </a:xfrm>
        </p:spPr>
        <p:txBody>
          <a:bodyPr/>
          <a:lstStyle/>
          <a:p>
            <a:r>
              <a:rPr lang="zh-CN" altLang="en-US"/>
              <a:t>结束 </a:t>
            </a:r>
            <a:r>
              <a:rPr lang="en-US" altLang="zh-CN"/>
              <a:t>Finish </a:t>
            </a:r>
            <a:r>
              <a:rPr lang="zh-CN" altLang="en-US"/>
              <a:t>→ 开始 </a:t>
            </a:r>
            <a:r>
              <a:rPr lang="en-US" altLang="zh-CN"/>
              <a:t>Start</a:t>
            </a:r>
            <a:endParaRPr lang="zh-CN" altLang="en-US"/>
          </a:p>
          <a:p>
            <a:pPr lvl="1"/>
            <a:r>
              <a:rPr lang="en-US" altLang="zh-CN"/>
              <a:t>FS</a:t>
            </a:r>
            <a:r>
              <a:rPr lang="zh-CN" altLang="en-US"/>
              <a:t>：</a:t>
            </a:r>
            <a:r>
              <a:rPr lang="en-US" altLang="zh-CN"/>
              <a:t>H</a:t>
            </a:r>
            <a:r>
              <a:rPr lang="zh-CN" altLang="en-US"/>
              <a:t>结束了，</a:t>
            </a:r>
            <a:r>
              <a:rPr lang="en-US" altLang="zh-CN"/>
              <a:t>I</a:t>
            </a:r>
            <a:r>
              <a:rPr lang="zh-CN" altLang="en-US"/>
              <a:t>才可以开始</a:t>
            </a:r>
            <a:endParaRPr lang="en-US" altLang="zh-CN"/>
          </a:p>
          <a:p>
            <a:r>
              <a:rPr lang="zh-CN" altLang="en-US"/>
              <a:t>开始 </a:t>
            </a:r>
            <a:r>
              <a:rPr lang="en-US" altLang="zh-CN"/>
              <a:t>Start</a:t>
            </a:r>
            <a:r>
              <a:rPr lang="zh-CN" altLang="en-US"/>
              <a:t> → 开始 </a:t>
            </a:r>
            <a:r>
              <a:rPr lang="en-US" altLang="zh-CN"/>
              <a:t>Start</a:t>
            </a:r>
          </a:p>
          <a:p>
            <a:pPr lvl="1"/>
            <a:r>
              <a:rPr lang="en-US" altLang="zh-CN"/>
              <a:t>SS</a:t>
            </a:r>
            <a:r>
              <a:rPr lang="zh-CN" altLang="en-US"/>
              <a:t>：</a:t>
            </a:r>
            <a:r>
              <a:rPr lang="en-US" altLang="zh-CN"/>
              <a:t>A</a:t>
            </a:r>
            <a:r>
              <a:rPr lang="zh-CN" altLang="en-US"/>
              <a:t>开始，</a:t>
            </a:r>
            <a:r>
              <a:rPr lang="en-US" altLang="zh-CN"/>
              <a:t>C</a:t>
            </a:r>
            <a:r>
              <a:rPr lang="zh-CN" altLang="en-US"/>
              <a:t>也开始</a:t>
            </a:r>
            <a:endParaRPr lang="en-US" altLang="zh-CN"/>
          </a:p>
          <a:p>
            <a:r>
              <a:rPr lang="zh-CN" altLang="en-US"/>
              <a:t>开始 </a:t>
            </a:r>
            <a:r>
              <a:rPr lang="en-US" altLang="zh-CN"/>
              <a:t>Start</a:t>
            </a:r>
            <a:r>
              <a:rPr lang="zh-CN" altLang="en-US"/>
              <a:t> → 结束 </a:t>
            </a:r>
            <a:r>
              <a:rPr lang="en-US" altLang="zh-CN"/>
              <a:t>Finish</a:t>
            </a:r>
          </a:p>
          <a:p>
            <a:r>
              <a:rPr lang="zh-CN" altLang="en-US"/>
              <a:t>结束 </a:t>
            </a:r>
            <a:r>
              <a:rPr lang="en-US" altLang="zh-CN"/>
              <a:t>Finish</a:t>
            </a:r>
            <a:r>
              <a:rPr lang="zh-CN" altLang="en-US"/>
              <a:t> → 结束 </a:t>
            </a:r>
            <a:r>
              <a:rPr lang="en-US" altLang="zh-CN"/>
              <a:t>Finish</a:t>
            </a:r>
            <a:endParaRPr lang="zh-CN" altLang="en-US"/>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I</a:t>
            </a:r>
            <a:endParaRPr lang="zh-CN" altLang="en-US" sz="1600">
              <a:solidFill>
                <a:schemeClr val="bg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H</a:t>
            </a:r>
            <a:endParaRPr lang="zh-CN" altLang="en-US" sz="1600">
              <a:solidFill>
                <a:schemeClr val="bg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864000"/>
            <a:ext cx="5040000" cy="5400000"/>
          </a:xfrm>
        </p:spPr>
        <p:txBody>
          <a:bodyPr>
            <a:normAutofit/>
          </a:bodyPr>
          <a:lstStyle/>
          <a:p>
            <a:r>
              <a:rPr lang="zh-CN" altLang="en-US"/>
              <a:t>提前量 </a:t>
            </a:r>
            <a:r>
              <a:rPr lang="en-US" altLang="zh-CN"/>
              <a:t>Lead</a:t>
            </a:r>
          </a:p>
          <a:p>
            <a:pPr lvl="1"/>
            <a:r>
              <a:rPr lang="zh-CN" altLang="en-US"/>
              <a:t>紧前活动还没有完成时，紧后活动可以提前开始的时间量</a:t>
            </a:r>
            <a:endParaRPr lang="en-US" altLang="zh-CN"/>
          </a:p>
          <a:p>
            <a:pPr lvl="1"/>
            <a:r>
              <a:rPr lang="zh-CN" altLang="en-US"/>
              <a:t>负值表示</a:t>
            </a:r>
            <a:endParaRPr lang="en-US" altLang="zh-CN"/>
          </a:p>
          <a:p>
            <a:pPr lvl="1"/>
            <a:r>
              <a:rPr lang="en-US" altLang="zh-CN"/>
              <a:t>FS-2</a:t>
            </a:r>
            <a:r>
              <a:rPr lang="zh-CN" altLang="en-US"/>
              <a:t>：完成到开始，提前</a:t>
            </a:r>
            <a:r>
              <a:rPr lang="en-US" altLang="zh-CN"/>
              <a:t>2</a:t>
            </a:r>
            <a:r>
              <a:rPr lang="zh-CN" altLang="en-US"/>
              <a:t>天，表示紧后活动可以在紧前活动完成前</a:t>
            </a:r>
            <a:r>
              <a:rPr lang="en-US" altLang="zh-CN"/>
              <a:t>2</a:t>
            </a:r>
            <a:r>
              <a:rPr lang="zh-CN" altLang="en-US"/>
              <a:t>天开始</a:t>
            </a:r>
            <a:endParaRPr lang="en-US" altLang="zh-CN"/>
          </a:p>
          <a:p>
            <a:pPr lvl="1"/>
            <a:r>
              <a:rPr lang="zh-CN" altLang="en-US"/>
              <a:t>谨慎使用</a:t>
            </a:r>
            <a:endParaRPr lang="en-US" altLang="zh-CN"/>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864000"/>
            <a:ext cx="5400675" cy="5400000"/>
          </a:xfrm>
        </p:spPr>
        <p:txBody>
          <a:bodyPr/>
          <a:lstStyle/>
          <a:p>
            <a:r>
              <a:rPr lang="zh-CN" altLang="en-US"/>
              <a:t>滞后量 </a:t>
            </a:r>
            <a:r>
              <a:rPr lang="en-US" altLang="zh-CN"/>
              <a:t>Lag</a:t>
            </a:r>
          </a:p>
          <a:p>
            <a:pPr lvl="1"/>
            <a:r>
              <a:rPr lang="zh-CN" altLang="en-US"/>
              <a:t>紧前活动完成时，紧后活动需要推迟开始的时间量</a:t>
            </a:r>
            <a:endParaRPr lang="en-US" altLang="zh-CN"/>
          </a:p>
          <a:p>
            <a:pPr lvl="1"/>
            <a:r>
              <a:rPr lang="zh-CN" altLang="en-US"/>
              <a:t>正值表示</a:t>
            </a:r>
            <a:endParaRPr lang="en-US" altLang="zh-CN"/>
          </a:p>
          <a:p>
            <a:pPr lvl="1"/>
            <a:r>
              <a:rPr lang="en-US" altLang="zh-CN"/>
              <a:t>FS+3</a:t>
            </a:r>
            <a:r>
              <a:rPr lang="zh-CN" altLang="en-US"/>
              <a:t>：完成到开始，滞后</a:t>
            </a:r>
            <a:r>
              <a:rPr lang="en-US" altLang="zh-CN"/>
              <a:t>3</a:t>
            </a:r>
            <a:r>
              <a:rPr lang="zh-CN" altLang="en-US"/>
              <a:t>天，表示紧后活动必须在紧前活动完成后</a:t>
            </a:r>
            <a:r>
              <a:rPr lang="en-US" altLang="zh-CN"/>
              <a:t>3</a:t>
            </a:r>
            <a:r>
              <a:rPr lang="zh-CN" altLang="en-US"/>
              <a:t>天才开始</a:t>
            </a:r>
            <a:endParaRPr lang="en-US" altLang="zh-CN"/>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F</a:t>
            </a:r>
            <a:endParaRPr lang="zh-CN" altLang="en-US" sz="1600">
              <a:solidFill>
                <a:schemeClr val="bg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E</a:t>
            </a:r>
            <a:endParaRPr lang="zh-CN" altLang="en-US" sz="1600">
              <a:solidFill>
                <a:schemeClr val="bg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a:ln>
            <a:solidFill>
              <a:schemeClr val="bg1"/>
            </a:solidFill>
          </a:ln>
        </p:spPr>
        <p:txBody>
          <a:bodyPr wrap="none" rtlCol="0">
            <a:spAutoFit/>
          </a:bodyPr>
          <a:lstStyle/>
          <a:p>
            <a:r>
              <a:rPr lang="en-US" altLang="zh-CN">
                <a:solidFill>
                  <a:schemeClr val="bg1"/>
                </a:solidFill>
              </a:rPr>
              <a:t>FS+3</a:t>
            </a:r>
            <a:endParaRPr lang="zh-CN" altLang="en-US">
              <a:solidFill>
                <a:schemeClr val="bg1"/>
              </a:solidFill>
            </a:endParaRPr>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a:ln>
            <a:solidFill>
              <a:schemeClr val="bg1"/>
            </a:solidFill>
          </a:ln>
        </p:spPr>
        <p:txBody>
          <a:bodyPr wrap="none" rtlCol="0">
            <a:spAutoFit/>
          </a:bodyPr>
          <a:lstStyle/>
          <a:p>
            <a:r>
              <a:rPr lang="en-US" altLang="zh-CN">
                <a:solidFill>
                  <a:schemeClr val="bg1"/>
                </a:solidFill>
              </a:rPr>
              <a:t>FS-2</a:t>
            </a:r>
            <a:endParaRPr lang="zh-CN" altLang="en-US">
              <a:solidFill>
                <a:schemeClr val="bg1"/>
              </a:solidFill>
            </a:endParaRPr>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a:ln>
            <a:solidFill>
              <a:schemeClr val="bg1"/>
            </a:solidFill>
          </a:ln>
        </p:spPr>
        <p:txBody>
          <a:bodyPr wrap="none" rtlCol="0">
            <a:spAutoFit/>
          </a:bodyPr>
          <a:lstStyle/>
          <a:p>
            <a:r>
              <a:rPr lang="en-US" altLang="zh-CN">
                <a:solidFill>
                  <a:schemeClr val="bg1"/>
                </a:solidFill>
              </a:rPr>
              <a:t>SS+2</a:t>
            </a:r>
            <a:endParaRPr lang="zh-CN" altLang="en-US">
              <a:solidFill>
                <a:schemeClr val="bg1"/>
              </a:solidFill>
            </a:endParaRPr>
          </a:p>
        </p:txBody>
      </p:sp>
    </p:spTree>
    <p:extLst>
      <p:ext uri="{BB962C8B-B14F-4D97-AF65-F5344CB8AC3E}">
        <p14:creationId xmlns:p14="http://schemas.microsoft.com/office/powerpoint/2010/main" val="393700264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zh-CN" altLang="en-US"/>
              <a:t>箭线图 </a:t>
            </a:r>
            <a:r>
              <a:rPr lang="en-US" altLang="zh-CN"/>
              <a:t>ADM</a:t>
            </a:r>
            <a:endParaRPr lang="zh-CN" altLang="en-US"/>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zh-CN" altLang="en-US"/>
              <a:t>活动：以字母表示</a:t>
            </a:r>
          </a:p>
          <a:p>
            <a:r>
              <a:rPr lang="zh-CN" altLang="en-US"/>
              <a:t>圆圈：序号，以数值表示</a:t>
            </a:r>
            <a:endParaRPr lang="en-US" altLang="zh-CN"/>
          </a:p>
          <a:p>
            <a:r>
              <a:rPr lang="zh-CN" altLang="en-US"/>
              <a:t>可以使用虚拟活动 </a:t>
            </a:r>
            <a:r>
              <a:rPr lang="en-US" altLang="zh-CN"/>
              <a:t>dummy activity </a:t>
            </a:r>
            <a:r>
              <a:rPr lang="zh-CN" altLang="en-US"/>
              <a:t>表示依赖关系</a:t>
            </a:r>
            <a:endParaRPr lang="en-US" altLang="zh-CN"/>
          </a:p>
          <a:p>
            <a:endParaRPr lang="en-US" altLang="zh-CN"/>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2</a:t>
            </a:r>
            <a:endParaRPr lang="zh-CN" altLang="en-US" sz="1600">
              <a:solidFill>
                <a:schemeClr val="bg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4</a:t>
            </a:r>
            <a:endParaRPr lang="zh-CN" altLang="en-US" sz="1600">
              <a:solidFill>
                <a:schemeClr val="bg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5</a:t>
            </a:r>
            <a:endParaRPr lang="zh-CN" altLang="en-US" sz="1600">
              <a:solidFill>
                <a:schemeClr val="bg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3</a:t>
            </a:r>
            <a:endParaRPr lang="zh-CN" altLang="en-US" sz="1600">
              <a:solidFill>
                <a:schemeClr val="bg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6</a:t>
            </a:r>
            <a:endParaRPr lang="zh-CN" altLang="en-US" sz="1600">
              <a:solidFill>
                <a:schemeClr val="bg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1</a:t>
            </a:r>
            <a:endParaRPr lang="zh-CN" altLang="en-US" sz="1600">
              <a:solidFill>
                <a:schemeClr val="bg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a:solidFill>
                  <a:schemeClr val="bg1"/>
                </a:solidFill>
              </a:rPr>
              <a:t>I</a:t>
            </a:r>
            <a:endParaRPr lang="zh-CN" altLang="en-US">
              <a:solidFill>
                <a:schemeClr val="bg1"/>
              </a:solidFill>
            </a:endParaRPr>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a:solidFill>
                  <a:schemeClr val="bg1"/>
                </a:solidFill>
              </a:rPr>
              <a:t>J</a:t>
            </a:r>
            <a:endParaRPr lang="zh-CN" altLang="en-US">
              <a:solidFill>
                <a:schemeClr val="bg1"/>
              </a:solidFill>
            </a:endParaRPr>
          </a:p>
        </p:txBody>
      </p:sp>
    </p:spTree>
    <p:extLst>
      <p:ext uri="{BB962C8B-B14F-4D97-AF65-F5344CB8AC3E}">
        <p14:creationId xmlns:p14="http://schemas.microsoft.com/office/powerpoint/2010/main" val="26563608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a:t>5. </a:t>
            </a:r>
            <a:r>
              <a:rPr lang="zh-CN" altLang="en-US"/>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a:t>类比估算</a:t>
            </a:r>
            <a:endParaRPr lang="en-US" altLang="zh-CN"/>
          </a:p>
          <a:p>
            <a:r>
              <a:rPr lang="zh-CN" altLang="en-US"/>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311709463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a:t>甘特图 </a:t>
            </a:r>
            <a:r>
              <a:rPr lang="en-US" altLang="zh-CN"/>
              <a:t>Gantt Chart</a:t>
            </a:r>
            <a:endParaRPr lang="zh-CN" altLang="en-US"/>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a:t>甘特图是一种条形图，用于展示项目进度计划以及每个任务的开始时间和结束时间。它帮助团队成员了解项目的时间安排、任务之间的依赖关系以及整个项目的进展情况</a:t>
            </a:r>
            <a:endParaRPr lang="en-US" altLang="zh-CN"/>
          </a:p>
          <a:p>
            <a:r>
              <a:rPr lang="zh-CN" altLang="en-US"/>
              <a:t>组成</a:t>
            </a:r>
          </a:p>
          <a:p>
            <a:pPr lvl="1"/>
            <a:r>
              <a:rPr lang="zh-CN" altLang="en-US"/>
              <a:t>事件号</a:t>
            </a:r>
          </a:p>
          <a:p>
            <a:pPr lvl="1"/>
            <a:r>
              <a:rPr lang="zh-CN" altLang="en-US"/>
              <a:t>最早开始时刻</a:t>
            </a:r>
          </a:p>
          <a:p>
            <a:pPr lvl="1"/>
            <a:r>
              <a:rPr lang="zh-CN" altLang="en-US"/>
              <a:t>最晚开始时刻</a:t>
            </a:r>
          </a:p>
          <a:p>
            <a:pPr lvl="1"/>
            <a:r>
              <a:rPr lang="zh-CN" altLang="en-US"/>
              <a:t>时间持续时间</a:t>
            </a:r>
          </a:p>
          <a:p>
            <a:r>
              <a:rPr lang="zh-CN" altLang="en-US"/>
              <a:t>特点：</a:t>
            </a:r>
          </a:p>
          <a:p>
            <a:pPr lvl="1"/>
            <a:r>
              <a:rPr lang="zh-CN" altLang="en-US"/>
              <a:t>显示每个任务的起止日期 </a:t>
            </a:r>
            <a:r>
              <a:rPr lang="en-US" altLang="zh-CN"/>
              <a:t>- </a:t>
            </a:r>
            <a:r>
              <a:rPr lang="zh-CN" altLang="en-US"/>
              <a:t>进度的安排情况</a:t>
            </a:r>
          </a:p>
          <a:p>
            <a:pPr lvl="1"/>
            <a:r>
              <a:rPr lang="zh-CN" altLang="en-US"/>
              <a:t>可以清晰地看到任务之间的重叠和依赖关系 </a:t>
            </a:r>
            <a:r>
              <a:rPr lang="en-US" altLang="zh-CN"/>
              <a:t>- </a:t>
            </a:r>
            <a:r>
              <a:rPr lang="zh-CN" altLang="en-US"/>
              <a:t>体现并发任务</a:t>
            </a:r>
          </a:p>
          <a:p>
            <a:pPr lvl="1"/>
            <a:r>
              <a:rPr lang="zh-CN" altLang="en-US"/>
              <a:t>帮助项目经理监控项目进度，并根据需要调整资源分配</a:t>
            </a:r>
            <a:endParaRPr lang="en-US" altLang="zh-CN"/>
          </a:p>
          <a:p>
            <a:pPr lvl="1"/>
            <a:r>
              <a:rPr lang="zh-CN" altLang="en-US"/>
              <a:t>前续事件都完成才可以决定当前事件的执行时间</a:t>
            </a:r>
          </a:p>
          <a:p>
            <a:pPr lvl="1"/>
            <a:r>
              <a:rPr lang="zh-CN" altLang="en-US"/>
              <a:t>最后一个的最早时间和最晚时间一样</a:t>
            </a:r>
          </a:p>
          <a:p>
            <a:pPr lvl="1"/>
            <a:r>
              <a:rPr lang="zh-CN" altLang="en-US"/>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a:t>Program Evaluation and Review Technique</a:t>
            </a:r>
          </a:p>
          <a:p>
            <a:r>
              <a:rPr lang="zh-CN" altLang="en-US"/>
              <a:t>在项目时间估算中的应用用于估算活动持续时间的统计工具，适用于不确定性较高的项目</a:t>
            </a:r>
            <a:endParaRPr lang="en-US" altLang="zh-CN"/>
          </a:p>
          <a:p>
            <a:r>
              <a:rPr lang="zh-CN" altLang="en-US"/>
              <a:t>组成：任务开始时间、结束时间、完成所需时间、任务之间的先后关系</a:t>
            </a:r>
          </a:p>
          <a:p>
            <a:r>
              <a:rPr lang="zh-CN" altLang="en-US"/>
              <a:t>特点：不能反映任务之间的并行关系</a:t>
            </a:r>
          </a:p>
          <a:p>
            <a:r>
              <a:rPr lang="zh-CN" altLang="en-US"/>
              <a:t>基于三个时间估计值 </a:t>
            </a:r>
            <a:r>
              <a:rPr lang="en-US" altLang="zh-CN"/>
              <a:t>- </a:t>
            </a:r>
            <a:r>
              <a:rPr lang="zh-CN" altLang="en-US"/>
              <a:t>三点估算：</a:t>
            </a:r>
            <a:endParaRPr lang="en-US" altLang="zh-CN"/>
          </a:p>
          <a:p>
            <a:pPr lvl="1"/>
            <a:r>
              <a:rPr lang="zh-CN" altLang="en-US"/>
              <a:t>乐观时间（</a:t>
            </a:r>
            <a:r>
              <a:rPr lang="en-US" altLang="zh-CN"/>
              <a:t>O</a:t>
            </a:r>
            <a:r>
              <a:rPr lang="zh-CN" altLang="en-US"/>
              <a:t>）：最理想情况下的时间</a:t>
            </a:r>
            <a:endParaRPr lang="en-US" altLang="zh-CN"/>
          </a:p>
          <a:p>
            <a:pPr lvl="1"/>
            <a:r>
              <a:rPr lang="zh-CN" altLang="en-US"/>
              <a:t>悲观时间（</a:t>
            </a:r>
            <a:r>
              <a:rPr lang="en-US" altLang="zh-CN"/>
              <a:t>P</a:t>
            </a:r>
            <a:r>
              <a:rPr lang="zh-CN" altLang="en-US"/>
              <a:t>）：最坏情况下的时间</a:t>
            </a:r>
            <a:endParaRPr lang="en-US" altLang="zh-CN"/>
          </a:p>
          <a:p>
            <a:pPr lvl="1"/>
            <a:r>
              <a:rPr lang="zh-CN" altLang="en-US"/>
              <a:t>最可能时间（</a:t>
            </a:r>
            <a:r>
              <a:rPr lang="en-US" altLang="zh-CN"/>
              <a:t>M</a:t>
            </a:r>
            <a:r>
              <a:rPr lang="zh-CN" altLang="en-US"/>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a:t>Project Progress</a:t>
            </a:r>
            <a:endParaRPr lang="zh-CN" altLang="en-US"/>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𝑂</m:t>
                          </m:r>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𝑃</m:t>
                          </m:r>
                          <m:r>
                            <a:rPr lang="en-US" altLang="zh-CN" b="0" i="1" smtClean="0">
                              <a:solidFill>
                                <a:schemeClr val="bg1"/>
                              </a:solidFill>
                              <a:latin typeface="Cambria Math" panose="02040503050406030204" pitchFamily="18" charset="0"/>
                            </a:rPr>
                            <m:t>+4</m:t>
                          </m:r>
                          <m:r>
                            <a:rPr lang="en-US" altLang="zh-CN" b="0" i="1" smtClean="0">
                              <a:solidFill>
                                <a:schemeClr val="bg1"/>
                              </a:solidFill>
                              <a:latin typeface="Cambria Math" panose="02040503050406030204" pitchFamily="18" charset="0"/>
                            </a:rPr>
                            <m:t>𝑀</m:t>
                          </m:r>
                        </m:num>
                        <m:den>
                          <m:r>
                            <a:rPr lang="en-US" altLang="zh-CN" b="0" i="1" smtClean="0">
                              <a:solidFill>
                                <a:schemeClr val="bg1"/>
                              </a:solidFill>
                              <a:latin typeface="Cambria Math" panose="02040503050406030204" pitchFamily="18" charset="0"/>
                            </a:rPr>
                            <m:t>6</m:t>
                          </m:r>
                        </m:den>
                      </m:f>
                    </m:oMath>
                  </m:oMathPara>
                </a14:m>
                <a:endParaRPr lang="zh-CN" altLang="en-US">
                  <a:solidFill>
                    <a:schemeClr val="bg1"/>
                  </a:solidFill>
                </a:endParaRPr>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Tree>
    <p:extLst>
      <p:ext uri="{BB962C8B-B14F-4D97-AF65-F5344CB8AC3E}">
        <p14:creationId xmlns:p14="http://schemas.microsoft.com/office/powerpoint/2010/main" val="2540800626"/>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a:t>根据各事件持续时间，推算最早开始时间</a:t>
            </a:r>
            <a:endParaRPr lang="en-US" altLang="zh-CN"/>
          </a:p>
          <a:p>
            <a:r>
              <a:rPr lang="zh-CN" altLang="en-US"/>
              <a:t>汇总事件取最大值</a:t>
            </a:r>
            <a:endParaRPr lang="en-US" altLang="zh-CN"/>
          </a:p>
          <a:p>
            <a:r>
              <a:rPr lang="zh-CN" altLang="en-US"/>
              <a:t>总工期 </a:t>
            </a:r>
            <a:r>
              <a:rPr lang="en-US" altLang="zh-CN"/>
              <a:t>15</a:t>
            </a:r>
          </a:p>
          <a:p>
            <a:r>
              <a:rPr lang="zh-CN" altLang="en-US"/>
              <a:t>最长路径 </a:t>
            </a:r>
            <a:r>
              <a:rPr lang="en-US" altLang="zh-CN"/>
              <a:t>1 </a:t>
            </a:r>
            <a:r>
              <a:rPr lang="zh-CN" altLang="en-US"/>
              <a:t>→ </a:t>
            </a:r>
            <a:r>
              <a:rPr lang="en-US" altLang="zh-CN"/>
              <a:t>2 </a:t>
            </a:r>
            <a:r>
              <a:rPr lang="zh-CN" altLang="en-US"/>
              <a:t>→ </a:t>
            </a:r>
            <a:r>
              <a:rPr lang="en-US" altLang="zh-CN"/>
              <a:t>5 </a:t>
            </a:r>
            <a:r>
              <a:rPr lang="zh-CN" altLang="en-US"/>
              <a:t>→ </a:t>
            </a:r>
            <a:r>
              <a:rPr lang="en-US" altLang="zh-CN"/>
              <a:t>7 </a:t>
            </a:r>
            <a:r>
              <a:rPr lang="zh-CN" altLang="en-US"/>
              <a:t>→ </a:t>
            </a:r>
            <a:r>
              <a:rPr lang="en-US" altLang="zh-CN"/>
              <a:t>9</a:t>
            </a:r>
            <a:endParaRPr lang="zh-CN" altLang="en-US"/>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a:solidFill>
                  <a:srgbClr val="FFFF00"/>
                </a:solidFill>
              </a:rPr>
              <a:t>3</a:t>
            </a:r>
          </a:p>
          <a:p>
            <a:endParaRPr lang="en-US" altLang="zh-CN" sz="1400">
              <a:solidFill>
                <a:srgbClr val="FFFF00"/>
              </a:solidFill>
            </a:endParaRPr>
          </a:p>
          <a:p>
            <a:r>
              <a:rPr lang="en-US" altLang="zh-CN" sz="1400">
                <a:solidFill>
                  <a:srgbClr val="FFFF00"/>
                </a:solidFill>
              </a:rPr>
              <a:t>4</a:t>
            </a:r>
            <a:endParaRPr lang="zh-CN" altLang="en-US" sz="140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a:solidFill>
                  <a:srgbClr val="FFFF00"/>
                </a:solidFill>
              </a:rPr>
              <a:t>9</a:t>
            </a:r>
          </a:p>
          <a:p>
            <a:endParaRPr lang="en-US" altLang="zh-CN" sz="1400">
              <a:solidFill>
                <a:srgbClr val="FFFF00"/>
              </a:solidFill>
            </a:endParaRPr>
          </a:p>
          <a:p>
            <a:r>
              <a:rPr lang="en-US" altLang="zh-CN" sz="1400">
                <a:solidFill>
                  <a:srgbClr val="FFFF00"/>
                </a:solidFill>
              </a:rPr>
              <a:t>5</a:t>
            </a:r>
            <a:endParaRPr lang="zh-CN" altLang="en-US" sz="140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a:solidFill>
                  <a:srgbClr val="FFFF00"/>
                </a:solidFill>
              </a:rPr>
              <a:t>15</a:t>
            </a:r>
          </a:p>
          <a:p>
            <a:endParaRPr lang="en-US" altLang="zh-CN" sz="1400">
              <a:solidFill>
                <a:srgbClr val="FFFF00"/>
              </a:solidFill>
            </a:endParaRPr>
          </a:p>
          <a:p>
            <a:r>
              <a:rPr lang="en-US" altLang="zh-CN" sz="1400">
                <a:solidFill>
                  <a:srgbClr val="FFFF00"/>
                </a:solidFill>
              </a:rPr>
              <a:t>13</a:t>
            </a:r>
            <a:endParaRPr lang="zh-CN" altLang="en-US" sz="1400">
              <a:solidFill>
                <a:srgbClr val="FFFF00"/>
              </a:solidFill>
            </a:endParaRPr>
          </a:p>
        </p:txBody>
      </p:sp>
    </p:spTree>
    <p:extLst>
      <p:ext uri="{BB962C8B-B14F-4D97-AF65-F5344CB8AC3E}">
        <p14:creationId xmlns:p14="http://schemas.microsoft.com/office/powerpoint/2010/main" val="2525448756"/>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a:t>根据总工期 </a:t>
            </a:r>
            <a:r>
              <a:rPr lang="en-US" altLang="zh-CN"/>
              <a:t>15</a:t>
            </a:r>
            <a:r>
              <a:rPr lang="zh-CN" altLang="en-US"/>
              <a:t>，反推各事件最晚开始时间</a:t>
            </a:r>
            <a:endParaRPr lang="en-US" altLang="zh-CN"/>
          </a:p>
          <a:p>
            <a:r>
              <a:rPr lang="zh-CN" altLang="en-US"/>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2</a:t>
                  </a:r>
                  <a:endParaRPr lang="zh-CN" altLang="en-US" sz="140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t>1</a:t>
                  </a:r>
                  <a:endParaRPr lang="zh-CN" altLang="en-US" sz="140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t>2</a:t>
                  </a:r>
                  <a:endParaRPr lang="zh-CN" altLang="en-US" sz="140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3</a:t>
                  </a:r>
                  <a:endParaRPr lang="zh-CN" altLang="en-US" sz="140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6</a:t>
                  </a:r>
                  <a:endParaRPr lang="zh-CN" altLang="en-US" sz="140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t>4</a:t>
                  </a:r>
                  <a:endParaRPr lang="zh-CN" altLang="en-US" sz="140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10</a:t>
                  </a:r>
                  <a:endParaRPr lang="zh-CN" altLang="en-US" sz="140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6</a:t>
                  </a:r>
                  <a:endParaRPr lang="zh-CN" altLang="en-US" sz="140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4</a:t>
                  </a:r>
                  <a:endParaRPr lang="zh-CN" altLang="en-US" sz="140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5</a:t>
                  </a:r>
                  <a:endParaRPr lang="zh-CN" altLang="en-US" sz="140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t>7</a:t>
                  </a:r>
                  <a:endParaRPr lang="zh-CN" altLang="en-US" sz="140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11</a:t>
                  </a:r>
                  <a:endParaRPr lang="zh-CN" altLang="en-US" sz="140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t>8</a:t>
                  </a:r>
                  <a:endParaRPr lang="zh-CN" altLang="en-US" sz="140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15</a:t>
                  </a:r>
                  <a:endParaRPr lang="zh-CN" altLang="en-US" sz="140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9</a:t>
                  </a:r>
                  <a:endParaRPr lang="zh-CN" altLang="en-US" sz="140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a:t>2</a:t>
                </a:r>
                <a:endParaRPr lang="zh-CN" altLang="en-US" sz="140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a:t>5</a:t>
                </a:r>
                <a:endParaRPr lang="zh-CN" altLang="en-US" sz="140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a:t>2</a:t>
                </a:r>
                <a:endParaRPr lang="zh-CN" altLang="en-US" sz="140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a:t>1</a:t>
                </a:r>
                <a:endParaRPr lang="zh-CN" altLang="en-US" sz="140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a:t>4</a:t>
                </a:r>
                <a:endParaRPr lang="zh-CN" altLang="en-US" sz="140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a:t>1</a:t>
                </a:r>
                <a:endParaRPr lang="zh-CN" altLang="en-US" sz="140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a:t>5</a:t>
                </a:r>
                <a:endParaRPr lang="zh-CN" altLang="en-US" sz="140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a:t>6</a:t>
                </a:r>
                <a:endParaRPr lang="zh-CN" altLang="en-US" sz="140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a:t>4</a:t>
                </a:r>
                <a:endParaRPr lang="zh-CN" altLang="en-US" sz="140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a:t>2</a:t>
              </a:r>
              <a:endParaRPr lang="zh-CN" altLang="en-US" sz="140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a:solidFill>
                  <a:srgbClr val="FF0000"/>
                </a:solidFill>
              </a:rPr>
              <a:t>4</a:t>
            </a:r>
          </a:p>
          <a:p>
            <a:endParaRPr lang="en-US" altLang="zh-CN" sz="1400">
              <a:solidFill>
                <a:srgbClr val="FF0000"/>
              </a:solidFill>
            </a:endParaRPr>
          </a:p>
          <a:p>
            <a:r>
              <a:rPr lang="en-US" altLang="zh-CN" sz="1400">
                <a:solidFill>
                  <a:srgbClr val="FF0000"/>
                </a:solidFill>
              </a:rPr>
              <a:t>6</a:t>
            </a:r>
            <a:endParaRPr lang="zh-CN" altLang="en-US" sz="140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a:solidFill>
                  <a:srgbClr val="FF0000"/>
                </a:solidFill>
              </a:rPr>
              <a:t>2</a:t>
            </a:r>
          </a:p>
          <a:p>
            <a:endParaRPr lang="en-US" altLang="zh-CN" sz="1400">
              <a:solidFill>
                <a:srgbClr val="FF0000"/>
              </a:solidFill>
            </a:endParaRPr>
          </a:p>
          <a:p>
            <a:r>
              <a:rPr lang="en-US" altLang="zh-CN" sz="1400">
                <a:solidFill>
                  <a:srgbClr val="FF0000"/>
                </a:solidFill>
              </a:rPr>
              <a:t>7</a:t>
            </a:r>
            <a:endParaRPr lang="zh-CN" altLang="en-US" sz="140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a:t>6. </a:t>
            </a:r>
            <a:r>
              <a:rPr lang="zh-CN" altLang="en-US"/>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a:t>关键路径法</a:t>
            </a:r>
            <a:endParaRPr lang="en-US" altLang="zh-CN"/>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a:t>可能不止一条</a:t>
            </a:r>
            <a:endParaRPr lang="en-US" altLang="zh-CN"/>
          </a:p>
          <a:p>
            <a:r>
              <a:rPr lang="zh-CN" altLang="en-US"/>
              <a:t>时间参数</a:t>
            </a:r>
            <a:endParaRPr lang="en-US" altLang="zh-CN"/>
          </a:p>
          <a:p>
            <a:pPr lvl="1"/>
            <a:r>
              <a:rPr lang="zh-CN" altLang="en-US"/>
              <a:t>最早开始时间 </a:t>
            </a:r>
            <a:r>
              <a:rPr lang="en-US" altLang="zh-CN"/>
              <a:t>ES - Earliest Start Time</a:t>
            </a:r>
            <a:endParaRPr lang="zh-CN" altLang="en-US"/>
          </a:p>
          <a:p>
            <a:pPr lvl="1"/>
            <a:r>
              <a:rPr lang="zh-CN" altLang="en-US"/>
              <a:t>最晚开始时间 </a:t>
            </a:r>
            <a:r>
              <a:rPr lang="en-US" altLang="zh-CN"/>
              <a:t>LS - Latest Start Time</a:t>
            </a:r>
            <a:endParaRPr lang="zh-CN" altLang="en-US"/>
          </a:p>
          <a:p>
            <a:pPr lvl="1"/>
            <a:r>
              <a:rPr lang="zh-CN" altLang="en-US"/>
              <a:t>最早完成时间 </a:t>
            </a:r>
            <a:r>
              <a:rPr lang="en-US" altLang="zh-CN"/>
              <a:t>EF - Earliest Finish Time</a:t>
            </a:r>
            <a:endParaRPr lang="zh-CN" altLang="en-US"/>
          </a:p>
          <a:p>
            <a:pPr lvl="1"/>
            <a:r>
              <a:rPr lang="zh-CN" altLang="en-US"/>
              <a:t>最晚完成时间 </a:t>
            </a:r>
            <a:r>
              <a:rPr lang="en-US" altLang="zh-CN"/>
              <a:t>LF - Latest Finish Time</a:t>
            </a:r>
            <a:endParaRPr lang="zh-CN" altLang="en-US"/>
          </a:p>
          <a:p>
            <a:r>
              <a:rPr lang="zh-CN" altLang="en-US"/>
              <a:t>浮动时间 </a:t>
            </a:r>
            <a:r>
              <a:rPr lang="en-US" altLang="zh-CN"/>
              <a:t>Total Float</a:t>
            </a:r>
          </a:p>
          <a:p>
            <a:pPr lvl="1"/>
            <a:r>
              <a:rPr lang="zh-CN" altLang="en-US"/>
              <a:t>总时差</a:t>
            </a:r>
            <a:endParaRPr lang="en-US" altLang="zh-CN"/>
          </a:p>
          <a:p>
            <a:pPr lvl="1"/>
            <a:r>
              <a:rPr lang="en-US" altLang="zh-CN"/>
              <a:t>LS – ES = LF - EF</a:t>
            </a:r>
            <a:endParaRPr lang="zh-CN" altLang="en-US"/>
          </a:p>
          <a:p>
            <a:pPr lvl="1"/>
            <a:r>
              <a:rPr lang="zh-CN" altLang="en-US"/>
              <a:t>关键路径上的任务总浮动时间为 </a:t>
            </a:r>
            <a:r>
              <a:rPr lang="en-US" altLang="zh-CN"/>
              <a:t>0</a:t>
            </a:r>
            <a:endParaRPr lang="zh-CN" altLang="en-US"/>
          </a:p>
          <a:p>
            <a:endParaRPr lang="zh-CN" altLang="en-US"/>
          </a:p>
          <a:p>
            <a:endParaRPr lang="zh-CN" altLang="en-US"/>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541665829"/>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a:solidFill>
                            <a:schemeClr val="bg1"/>
                          </a:solidFill>
                        </a:rPr>
                        <a:t>ES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Duration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Event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a:solidFill>
                            <a:schemeClr val="bg1"/>
                          </a:solidFill>
                        </a:rPr>
                        <a:t>LS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Total float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LF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17284387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a:solidFill>
                            <a:schemeClr val="bg1"/>
                          </a:solidFill>
                        </a:rPr>
                        <a:t>工作代号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紧前工作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计划工作历时</a:t>
                      </a:r>
                      <a:r>
                        <a:rPr lang="en-US" altLang="zh-CN">
                          <a:solidFill>
                            <a:schemeClr val="bg1"/>
                          </a:solidFill>
                        </a:rPr>
                        <a:t>/</a:t>
                      </a:r>
                      <a:r>
                        <a:rPr lang="zh-CN" altLang="en-US">
                          <a:solidFill>
                            <a:schemeClr val="bg1"/>
                          </a:solidFill>
                        </a:rPr>
                        <a:t>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a:solidFill>
                            <a:schemeClr val="bg1"/>
                          </a:solidFill>
                        </a:rPr>
                        <a:t>B</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B, 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a:solidFill>
                            <a:schemeClr val="bg1"/>
                          </a:solidFill>
                        </a:rPr>
                        <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a:solidFill>
                            <a:schemeClr val="bg1"/>
                          </a:solidFill>
                        </a:rPr>
                        <a:t>F</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a:solidFill>
                            <a:schemeClr val="bg1"/>
                          </a:solidFill>
                        </a:rPr>
                        <a:t>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 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a:solidFill>
                            <a:schemeClr val="bg1"/>
                          </a:solidFill>
                        </a:rPr>
                        <a:t>H</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F, 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a:t>找出项目的关键路径 </a:t>
            </a:r>
            <a:r>
              <a:rPr lang="en-US" altLang="zh-CN"/>
              <a:t>Critical Path</a:t>
            </a:r>
            <a:r>
              <a:rPr lang="zh-CN" altLang="en-US"/>
              <a:t> 和总工期 </a:t>
            </a:r>
            <a:r>
              <a:rPr lang="en-US" altLang="zh-CN"/>
              <a:t>Project Duration</a:t>
            </a:r>
            <a:endParaRPr lang="zh-CN" altLang="en-US"/>
          </a:p>
        </p:txBody>
      </p:sp>
    </p:spTree>
    <p:extLst>
      <p:ext uri="{BB962C8B-B14F-4D97-AF65-F5344CB8AC3E}">
        <p14:creationId xmlns:p14="http://schemas.microsoft.com/office/powerpoint/2010/main" val="4279547965"/>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a:solidFill>
                  <a:schemeClr val="bg1"/>
                </a:solidFill>
              </a:rPr>
              <a:t>2</a:t>
            </a:r>
            <a:endParaRPr lang="zh-CN" altLang="en-US">
              <a:solidFill>
                <a:schemeClr val="bg1"/>
              </a:solidFill>
            </a:endParaRPr>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a:solidFill>
                  <a:schemeClr val="bg1"/>
                </a:solidFill>
              </a:rPr>
              <a:t>8</a:t>
            </a:r>
            <a:endParaRPr lang="zh-CN" altLang="en-US">
              <a:solidFill>
                <a:schemeClr val="bg1"/>
              </a:solidFill>
            </a:endParaRPr>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a:solidFill>
                  <a:schemeClr val="bg1"/>
                </a:solidFill>
              </a:rPr>
              <a:t>F</a:t>
            </a:r>
            <a:endParaRPr lang="zh-CN" altLang="en-US">
              <a:solidFill>
                <a:schemeClr val="bg1"/>
              </a:solidFill>
            </a:endParaRPr>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a:solidFill>
                  <a:schemeClr val="bg1"/>
                </a:solidFill>
              </a:rPr>
              <a:t>11</a:t>
            </a:r>
            <a:endParaRPr lang="zh-CN" altLang="en-US">
              <a:solidFill>
                <a:schemeClr val="bg1"/>
              </a:solidFill>
            </a:endParaRPr>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Tree>
    <p:extLst>
      <p:ext uri="{BB962C8B-B14F-4D97-AF65-F5344CB8AC3E}">
        <p14:creationId xmlns:p14="http://schemas.microsoft.com/office/powerpoint/2010/main" val="2758940164"/>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a:t>资源平衡</a:t>
            </a:r>
            <a:endParaRPr lang="en-US" altLang="zh-CN"/>
          </a:p>
          <a:p>
            <a:pPr lvl="1"/>
            <a:r>
              <a:rPr lang="zh-CN" altLang="en-US"/>
              <a:t>改变关键路径，通常是延长</a:t>
            </a:r>
            <a:endParaRPr lang="en-US" altLang="zh-CN"/>
          </a:p>
          <a:p>
            <a:r>
              <a:rPr lang="zh-CN" altLang="en-US"/>
              <a:t>资源平滑</a:t>
            </a:r>
            <a:endParaRPr lang="en-US" altLang="zh-CN"/>
          </a:p>
          <a:p>
            <a:pPr lvl="1"/>
            <a:r>
              <a:rPr lang="zh-CN" altLang="en-US"/>
              <a:t>不会改变关键路径</a:t>
            </a:r>
            <a:endParaRPr lang="en-US" altLang="zh-CN"/>
          </a:p>
          <a:p>
            <a:pPr lvl="1"/>
            <a:r>
              <a:rPr lang="zh-CN" altLang="en-US"/>
              <a:t>无法实现所有资源优化</a:t>
            </a:r>
            <a:endParaRPr lang="en-US" altLang="zh-CN"/>
          </a:p>
          <a:p>
            <a:endParaRPr lang="zh-CN" altLang="en-US"/>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a:t>赶工 </a:t>
            </a:r>
            <a:r>
              <a:rPr lang="en-US" altLang="zh-CN"/>
              <a:t>Crashing</a:t>
            </a:r>
          </a:p>
          <a:p>
            <a:pPr lvl="1"/>
            <a:r>
              <a:rPr lang="zh-CN" altLang="en-US"/>
              <a:t>加班</a:t>
            </a:r>
            <a:endParaRPr lang="en-US" altLang="zh-CN"/>
          </a:p>
          <a:p>
            <a:r>
              <a:rPr lang="zh-CN" altLang="en-US"/>
              <a:t>快速跟进 </a:t>
            </a:r>
            <a:r>
              <a:rPr lang="en-US" altLang="zh-CN"/>
              <a:t>Fast Tracking</a:t>
            </a:r>
          </a:p>
          <a:p>
            <a:pPr lvl="1"/>
            <a:r>
              <a:rPr lang="zh-CN" altLang="en-US"/>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a:t>7. </a:t>
            </a:r>
            <a:r>
              <a:rPr lang="zh-CN" altLang="en-US"/>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a:t>39</a:t>
            </a:r>
            <a:r>
              <a:rPr lang="zh-CN" altLang="en-US"/>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a:p>
          <a:p>
            <a:endParaRPr lang="zh-CN" altLang="en-US"/>
          </a:p>
          <a:p>
            <a:r>
              <a:rPr lang="en-US" altLang="zh-CN"/>
              <a:t>A. </a:t>
            </a:r>
            <a:r>
              <a:rPr lang="zh-CN" altLang="en-US"/>
              <a:t>赶工 </a:t>
            </a:r>
            <a:r>
              <a:rPr lang="en-US" altLang="zh-CN"/>
              <a:t>Crashing</a:t>
            </a:r>
            <a:endParaRPr lang="zh-CN" altLang="en-US"/>
          </a:p>
          <a:p>
            <a:r>
              <a:rPr lang="en-US" altLang="zh-CN"/>
              <a:t>B. </a:t>
            </a:r>
            <a:r>
              <a:rPr lang="zh-CN" altLang="en-US"/>
              <a:t>并行施工 </a:t>
            </a:r>
            <a:r>
              <a:rPr lang="en-US" altLang="zh-CN"/>
              <a:t>Fast Tracking</a:t>
            </a:r>
            <a:endParaRPr lang="zh-CN" altLang="en-US"/>
          </a:p>
          <a:p>
            <a:r>
              <a:rPr lang="en-US" altLang="zh-CN"/>
              <a:t>C. </a:t>
            </a:r>
            <a:r>
              <a:rPr lang="zh-CN" altLang="en-US"/>
              <a:t>增加资源投入</a:t>
            </a:r>
          </a:p>
          <a:p>
            <a:r>
              <a:rPr lang="en-US" altLang="zh-CN"/>
              <a:t>D. </a:t>
            </a:r>
            <a:r>
              <a:rPr lang="zh-CN" altLang="en-US"/>
              <a:t>缩小项目范围</a:t>
            </a:r>
          </a:p>
        </p:txBody>
      </p:sp>
    </p:spTree>
    <p:extLst>
      <p:ext uri="{BB962C8B-B14F-4D97-AF65-F5344CB8AC3E}">
        <p14:creationId xmlns:p14="http://schemas.microsoft.com/office/powerpoint/2010/main" val="125655989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a:t>六大质量特性 </a:t>
            </a:r>
            <a:r>
              <a:rPr lang="en-US" altLang="zh-CN"/>
              <a:t>Quality Characteristics</a:t>
            </a:r>
            <a:endParaRPr lang="zh-CN" altLang="en-US"/>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a:t>功能性 </a:t>
            </a:r>
            <a:r>
              <a:rPr lang="en-US" altLang="zh-CN"/>
              <a:t>Functionality</a:t>
            </a:r>
            <a:endParaRPr lang="zh-CN" altLang="en-US"/>
          </a:p>
          <a:p>
            <a:r>
              <a:rPr lang="zh-CN" altLang="en-US"/>
              <a:t>可靠性 </a:t>
            </a:r>
            <a:r>
              <a:rPr lang="en-US" altLang="zh-CN"/>
              <a:t>Reliability</a:t>
            </a:r>
            <a:endParaRPr lang="zh-CN" altLang="en-US"/>
          </a:p>
          <a:p>
            <a:r>
              <a:rPr lang="zh-CN" altLang="en-US"/>
              <a:t>易用性 </a:t>
            </a:r>
            <a:r>
              <a:rPr lang="en-US" altLang="zh-CN"/>
              <a:t>Usability</a:t>
            </a:r>
            <a:endParaRPr lang="zh-CN" altLang="en-US"/>
          </a:p>
          <a:p>
            <a:r>
              <a:rPr lang="zh-CN" altLang="en-US"/>
              <a:t>效率 </a:t>
            </a:r>
            <a:r>
              <a:rPr lang="en-US" altLang="zh-CN"/>
              <a:t>Efficiency</a:t>
            </a:r>
            <a:endParaRPr lang="zh-CN" altLang="en-US"/>
          </a:p>
          <a:p>
            <a:r>
              <a:rPr lang="zh-CN" altLang="en-US"/>
              <a:t>可维护性 </a:t>
            </a:r>
            <a:r>
              <a:rPr lang="en-US" altLang="zh-CN"/>
              <a:t>Maintainability</a:t>
            </a:r>
            <a:endParaRPr lang="zh-CN" altLang="en-US"/>
          </a:p>
          <a:p>
            <a:r>
              <a:rPr lang="zh-CN" altLang="en-US"/>
              <a:t>可移植性 </a:t>
            </a:r>
            <a:r>
              <a:rPr lang="en-US" altLang="zh-CN"/>
              <a:t>Portability</a:t>
            </a:r>
            <a:endParaRPr lang="zh-CN" altLang="en-US"/>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a:t>可靠性 </a:t>
            </a:r>
            <a:r>
              <a:rPr lang="en-US" altLang="zh-CN"/>
              <a:t>Reliability</a:t>
            </a:r>
            <a:endParaRPr lang="zh-CN" altLang="en-US"/>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1731369967"/>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a:solidFill>
                            <a:schemeClr val="bg1"/>
                          </a:solidFill>
                        </a:rPr>
                        <a:t>子特性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a:solidFill>
                            <a:schemeClr val="bg1"/>
                          </a:solidFill>
                        </a:rPr>
                        <a:t>成熟性 </a:t>
                      </a:r>
                      <a:r>
                        <a:rPr lang="en-US">
                          <a:solidFill>
                            <a:schemeClr val="bg1"/>
                          </a:solidFill>
                        </a:rPr>
                        <a:t>Maturity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软件避免由于错误而导致失效的能力。即软件运行稳定，不崩溃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72620879"/>
                  </a:ext>
                </a:extLst>
              </a:tr>
              <a:tr h="0">
                <a:tc>
                  <a:txBody>
                    <a:bodyPr/>
                    <a:lstStyle/>
                    <a:p>
                      <a:pPr>
                        <a:buNone/>
                      </a:pPr>
                      <a:r>
                        <a:rPr lang="zh-CN" altLang="en-US">
                          <a:solidFill>
                            <a:schemeClr val="bg1"/>
                          </a:solidFill>
                        </a:rPr>
                        <a:t>容错性 </a:t>
                      </a:r>
                      <a:r>
                        <a:rPr lang="en-US">
                          <a:solidFill>
                            <a:schemeClr val="bg1"/>
                          </a:solidFill>
                        </a:rPr>
                        <a:t>Fault Tolerance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软件在发生故障时，仍能保持功能或自动恢复的能力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10707642"/>
                  </a:ext>
                </a:extLst>
              </a:tr>
              <a:tr h="0">
                <a:tc>
                  <a:txBody>
                    <a:bodyPr/>
                    <a:lstStyle/>
                    <a:p>
                      <a:pPr>
                        <a:buNone/>
                      </a:pPr>
                      <a:r>
                        <a:rPr lang="en-US" err="1">
                          <a:solidFill>
                            <a:schemeClr val="bg1"/>
                          </a:solidFill>
                        </a:rPr>
                        <a:t>易恢复性</a:t>
                      </a:r>
                      <a:r>
                        <a:rPr lang="en-US">
                          <a:solidFill>
                            <a:schemeClr val="bg1"/>
                          </a:solidFill>
                        </a:rPr>
                        <a:t> Recoverability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软件在发生故障后，能够快速恢复到正常状态的能力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a:t>在</a:t>
            </a:r>
            <a:r>
              <a:rPr lang="en-US" altLang="zh-CN"/>
              <a:t>ISO/IEC 9126</a:t>
            </a:r>
            <a:r>
              <a:rPr lang="zh-CN" altLang="en-US"/>
              <a:t>软件质量模型中，可靠性质量特性是指在规定的一段时间内和规定的条件下，软件维持在其性能水平有关的能力，其质量子特性不包括（ ）。</a:t>
            </a:r>
          </a:p>
          <a:p>
            <a:endParaRPr lang="zh-CN" altLang="en-US"/>
          </a:p>
          <a:p>
            <a:r>
              <a:rPr lang="en-US" altLang="zh-CN"/>
              <a:t>A. </a:t>
            </a:r>
            <a:r>
              <a:rPr lang="zh-CN" altLang="en-US"/>
              <a:t>安全性</a:t>
            </a:r>
          </a:p>
          <a:p>
            <a:r>
              <a:rPr lang="en-US" altLang="zh-CN"/>
              <a:t>B. </a:t>
            </a:r>
            <a:r>
              <a:rPr lang="zh-CN" altLang="en-US"/>
              <a:t>成熟性</a:t>
            </a:r>
          </a:p>
          <a:p>
            <a:r>
              <a:rPr lang="en-US" altLang="zh-CN"/>
              <a:t>C. </a:t>
            </a:r>
            <a:r>
              <a:rPr lang="zh-CN" altLang="en-US"/>
              <a:t>容错性</a:t>
            </a:r>
          </a:p>
          <a:p>
            <a:r>
              <a:rPr lang="en-US" altLang="zh-CN"/>
              <a:t>D. </a:t>
            </a:r>
            <a:r>
              <a:rPr lang="zh-CN" altLang="en-US"/>
              <a:t>易恢复性</a:t>
            </a:r>
          </a:p>
        </p:txBody>
      </p:sp>
    </p:spTree>
    <p:extLst>
      <p:ext uri="{BB962C8B-B14F-4D97-AF65-F5344CB8AC3E}">
        <p14:creationId xmlns:p14="http://schemas.microsoft.com/office/powerpoint/2010/main" val="12187638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493987538"/>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a:solidFill>
                            <a:schemeClr val="bg1"/>
                          </a:solidFill>
                        </a:rPr>
                        <a:t>质量规划 </a:t>
                      </a:r>
                      <a:r>
                        <a:rPr lang="en-US">
                          <a:solidFill>
                            <a:schemeClr val="bg1"/>
                          </a:solidFill>
                        </a:rPr>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a:solidFill>
                            <a:schemeClr val="bg1"/>
                          </a:solidFill>
                        </a:rPr>
                        <a:t>质量保证 </a:t>
                      </a:r>
                      <a:r>
                        <a:rPr lang="en-US">
                          <a:solidFill>
                            <a:schemeClr val="bg1"/>
                          </a:solidFill>
                        </a:rPr>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a:solidFill>
                            <a:schemeClr val="bg1"/>
                          </a:solidFill>
                        </a:rPr>
                        <a:t>质量控制 </a:t>
                      </a:r>
                      <a:r>
                        <a:rPr lang="en-US">
                          <a:solidFill>
                            <a:schemeClr val="bg1"/>
                          </a:solidFill>
                        </a:rPr>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a:solidFill>
                            <a:schemeClr val="bg1"/>
                          </a:solidFill>
                        </a:rPr>
                        <a:t>质量改进 </a:t>
                      </a:r>
                      <a:r>
                        <a:rPr lang="en-US">
                          <a:solidFill>
                            <a:schemeClr val="bg1"/>
                          </a:solidFill>
                        </a:rPr>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a:t>流</a:t>
            </a:r>
            <a:endParaRPr lang="en-US" altLang="zh-CN"/>
          </a:p>
          <a:p>
            <a:r>
              <a:rPr lang="zh-CN" altLang="en-US"/>
              <a:t>因果图</a:t>
            </a:r>
            <a:endParaRPr lang="en-US" altLang="zh-CN"/>
          </a:p>
          <a:p>
            <a:r>
              <a:rPr lang="zh-CN" altLang="en-US"/>
              <a:t>直方图 </a:t>
            </a:r>
            <a:r>
              <a:rPr lang="en-US" altLang="zh-CN"/>
              <a:t>Histogram</a:t>
            </a:r>
          </a:p>
          <a:p>
            <a:pPr lvl="1"/>
            <a:r>
              <a:rPr lang="zh-CN" altLang="en-US"/>
              <a:t>数据在不同数值区间内出现的频率或次数</a:t>
            </a:r>
            <a:endParaRPr lang="en-US" altLang="zh-CN"/>
          </a:p>
          <a:p>
            <a:r>
              <a:rPr lang="zh-CN" altLang="en-US"/>
              <a:t>散点图</a:t>
            </a:r>
            <a:endParaRPr lang="en-US" altLang="zh-CN"/>
          </a:p>
          <a:p>
            <a:r>
              <a:rPr lang="zh-CN" altLang="en-US"/>
              <a:t>帕累托定律 </a:t>
            </a:r>
            <a:r>
              <a:rPr lang="en-US" altLang="zh-CN"/>
              <a:t>Pareto Principle</a:t>
            </a:r>
          </a:p>
          <a:p>
            <a:pPr lvl="1"/>
            <a:r>
              <a:rPr lang="zh-CN" altLang="en-US"/>
              <a:t>又称 </a:t>
            </a:r>
            <a:r>
              <a:rPr lang="en-US" altLang="zh-CN"/>
              <a:t>80/20 </a:t>
            </a:r>
            <a:r>
              <a:rPr lang="zh-CN" altLang="en-US"/>
              <a:t>法则：大约</a:t>
            </a:r>
            <a:r>
              <a:rPr lang="en-US" altLang="zh-CN"/>
              <a:t>80%</a:t>
            </a:r>
            <a:r>
              <a:rPr lang="zh-CN" altLang="en-US"/>
              <a:t>的结果来自</a:t>
            </a:r>
            <a:r>
              <a:rPr lang="en-US" altLang="zh-CN"/>
              <a:t>20%</a:t>
            </a:r>
            <a:r>
              <a:rPr lang="zh-CN" altLang="en-US"/>
              <a:t>的原因</a:t>
            </a:r>
            <a:endParaRPr lang="en-US" altLang="zh-CN"/>
          </a:p>
          <a:p>
            <a:r>
              <a:rPr lang="zh-CN" altLang="en-US"/>
              <a:t>控制图</a:t>
            </a:r>
            <a:endParaRPr lang="en-US" altLang="zh-CN"/>
          </a:p>
          <a:p>
            <a:r>
              <a:rPr lang="zh-CN" altLang="en-US"/>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a:t>Section 7 Project Configuration</a:t>
            </a:r>
            <a:endParaRPr lang="zh-CN" altLang="en-US"/>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693216358"/>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a:t>小张是软件研发和项目经理，负责的某项目已进入实施阶段，此时用户提出要增加一项新的功能，小张应该（ ）</a:t>
            </a:r>
            <a:endParaRPr lang="en-US" altLang="zh-CN"/>
          </a:p>
          <a:p>
            <a:endParaRPr lang="zh-CN" altLang="en-US"/>
          </a:p>
          <a:p>
            <a:r>
              <a:rPr lang="en-US" altLang="zh-CN"/>
              <a:t>A</a:t>
            </a:r>
            <a:r>
              <a:rPr lang="zh-CN" altLang="en-US"/>
              <a:t>、拒绝该变更</a:t>
            </a:r>
          </a:p>
          <a:p>
            <a:r>
              <a:rPr lang="en-US" altLang="zh-CN"/>
              <a:t>B</a:t>
            </a:r>
            <a:r>
              <a:rPr lang="zh-CN" altLang="en-US"/>
              <a:t>、通过变更控制流程进行处理</a:t>
            </a:r>
          </a:p>
          <a:p>
            <a:r>
              <a:rPr lang="en-US" altLang="zh-CN"/>
              <a:t>C</a:t>
            </a:r>
            <a:r>
              <a:rPr lang="zh-CN" altLang="en-US"/>
              <a:t>、立即实现该变更</a:t>
            </a:r>
          </a:p>
          <a:p>
            <a:r>
              <a:rPr lang="en-US" altLang="zh-CN"/>
              <a:t>D</a:t>
            </a:r>
            <a:r>
              <a:rPr lang="zh-CN" altLang="en-US"/>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a:t>项目整体变更控制管理的流程是：变更请求 →（ ）</a:t>
            </a:r>
            <a:endParaRPr lang="en-US" altLang="zh-CN"/>
          </a:p>
          <a:p>
            <a:endParaRPr lang="zh-CN" altLang="en-US"/>
          </a:p>
          <a:p>
            <a:r>
              <a:rPr lang="en-US" altLang="zh-CN"/>
              <a:t>A</a:t>
            </a:r>
            <a:r>
              <a:rPr lang="zh-CN" altLang="en-US"/>
              <a:t>、同意或否决变更 → 变更影响评估 → 执行</a:t>
            </a:r>
          </a:p>
          <a:p>
            <a:r>
              <a:rPr lang="en-US" altLang="zh-CN"/>
              <a:t>B</a:t>
            </a:r>
            <a:r>
              <a:rPr lang="zh-CN" altLang="en-US"/>
              <a:t>、执行变更 → 变更影响评估 → 同意或否决变更</a:t>
            </a:r>
          </a:p>
          <a:p>
            <a:r>
              <a:rPr lang="en-US" altLang="zh-CN"/>
              <a:t>C</a:t>
            </a:r>
            <a:r>
              <a:rPr lang="zh-CN" altLang="en-US"/>
              <a:t>、变更影响评估 → 同意或否决变更 → 执行</a:t>
            </a:r>
          </a:p>
          <a:p>
            <a:r>
              <a:rPr lang="en-US" altLang="zh-CN"/>
              <a:t>D</a:t>
            </a:r>
            <a:r>
              <a:rPr lang="zh-CN" altLang="en-US"/>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zh-CN" altLang="en-US"/>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lstStyle/>
          <a:p>
            <a:r>
              <a:rPr lang="en-US" altLang="zh-CN"/>
              <a:t>Software Configuration Management</a:t>
            </a:r>
          </a:p>
          <a:p>
            <a:r>
              <a:rPr lang="zh-CN" altLang="en-US"/>
              <a:t>是项目管理、系统工程和软件工程中的一个关键过程</a:t>
            </a:r>
            <a:endParaRPr lang="en-US" altLang="zh-CN"/>
          </a:p>
          <a:p>
            <a:r>
              <a:rPr lang="zh-CN" altLang="en-US"/>
              <a:t>旨在系统化地识别、控制、记录和审计产品、服务或系统在其生命周期内的功能特性和物理特性，以确保其性能、功能和实体属性与需求、设计和操作信息保持一致</a:t>
            </a:r>
            <a:endParaRPr lang="en-US" altLang="zh-CN"/>
          </a:p>
          <a:p>
            <a:pPr lvl="1"/>
            <a:r>
              <a:rPr lang="zh-CN" altLang="en-US"/>
              <a:t>确保产品完整性、可追溯性、一致性和可控性</a:t>
            </a:r>
            <a:endParaRPr lang="en-US" altLang="zh-CN"/>
          </a:p>
          <a:p>
            <a:pPr lvl="1"/>
            <a:r>
              <a:rPr lang="zh-CN" altLang="en-US"/>
              <a:t>也称变更管理</a:t>
            </a:r>
            <a:endParaRPr lang="en-US" altLang="zh-CN"/>
          </a:p>
          <a:p>
            <a:r>
              <a:rPr lang="zh-CN" altLang="en-US"/>
              <a:t>目标：</a:t>
            </a:r>
            <a:endParaRPr lang="en-US" altLang="zh-CN"/>
          </a:p>
          <a:p>
            <a:pPr lvl="1"/>
            <a:r>
              <a:rPr lang="zh-CN" altLang="en-US"/>
              <a:t>保证所有交付物版本可控</a:t>
            </a:r>
          </a:p>
          <a:p>
            <a:pPr lvl="1"/>
            <a:r>
              <a:rPr lang="zh-CN" altLang="en-US"/>
              <a:t>支持并行开发协作</a:t>
            </a:r>
          </a:p>
          <a:p>
            <a:pPr lvl="1"/>
            <a:r>
              <a:rPr lang="zh-CN" altLang="en-US"/>
              <a:t>快速定位问题根源</a:t>
            </a:r>
          </a:p>
          <a:p>
            <a:pPr lvl="1"/>
            <a:r>
              <a:rPr lang="zh-CN" altLang="en-US"/>
              <a:t>满足审计与合规要求</a:t>
            </a:r>
          </a:p>
          <a:p>
            <a:endParaRPr lang="zh-CN" altLang="en-US"/>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a:t>SCM</a:t>
            </a:r>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a:t>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a:t>新的业务或市场</a:t>
            </a:r>
            <a:endParaRPr lang="en-US" altLang="zh-CN"/>
          </a:p>
          <a:p>
            <a:r>
              <a:rPr lang="zh-CN" altLang="en-US"/>
              <a:t>新的客户需求</a:t>
            </a:r>
            <a:endParaRPr lang="en-US" altLang="zh-CN"/>
          </a:p>
          <a:p>
            <a:r>
              <a:rPr lang="zh-CN" altLang="en-US"/>
              <a:t>企业改组或规模调整</a:t>
            </a:r>
            <a:endParaRPr lang="en-US" altLang="zh-CN"/>
          </a:p>
          <a:p>
            <a:r>
              <a:rPr lang="zh-CN" altLang="en-US"/>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3129325332"/>
              </p:ext>
            </p:extLst>
          </p:nvPr>
        </p:nvGraphicFramePr>
        <p:xfrm>
          <a:off x="695325" y="2009457"/>
          <a:ext cx="10801350" cy="2316480"/>
        </p:xfrm>
        <a:graphic>
          <a:graphicData uri="http://schemas.openxmlformats.org/drawingml/2006/table">
            <a:tbl>
              <a:tblPr/>
              <a:tblGrid>
                <a:gridCol w="2962275">
                  <a:extLst>
                    <a:ext uri="{9D8B030D-6E8A-4147-A177-3AD203B41FA5}">
                      <a16:colId xmlns:a16="http://schemas.microsoft.com/office/drawing/2014/main" val="161237699"/>
                    </a:ext>
                  </a:extLst>
                </a:gridCol>
                <a:gridCol w="3746090">
                  <a:extLst>
                    <a:ext uri="{9D8B030D-6E8A-4147-A177-3AD203B41FA5}">
                      <a16:colId xmlns:a16="http://schemas.microsoft.com/office/drawing/2014/main" val="1070831843"/>
                    </a:ext>
                  </a:extLst>
                </a:gridCol>
                <a:gridCol w="4092985">
                  <a:extLst>
                    <a:ext uri="{9D8B030D-6E8A-4147-A177-3AD203B41FA5}">
                      <a16:colId xmlns:a16="http://schemas.microsoft.com/office/drawing/2014/main" val="2463009145"/>
                    </a:ext>
                  </a:extLst>
                </a:gridCol>
              </a:tblGrid>
              <a:tr h="0">
                <a:tc>
                  <a:txBody>
                    <a:bodyPr/>
                    <a:lstStyle/>
                    <a:p>
                      <a:pPr algn="l">
                        <a:buNone/>
                      </a:pPr>
                      <a:r>
                        <a:rPr lang="zh-CN" altLang="en-US" sz="1600">
                          <a:solidFill>
                            <a:schemeClr val="bg1"/>
                          </a:solidFill>
                        </a:rPr>
                        <a:t>特征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解释</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为什么重要？</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a:solidFill>
                            <a:schemeClr val="bg1"/>
                          </a:solidFill>
                        </a:rPr>
                        <a:t>稳定性 </a:t>
                      </a:r>
                      <a:r>
                        <a:rPr lang="en-US" sz="1600">
                          <a:solidFill>
                            <a:schemeClr val="bg1"/>
                          </a:solidFill>
                        </a:rPr>
                        <a:t>Stability</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基线一旦建立，内容在逻辑上是固定的，不会随随便便变动</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给开发和测试团队一个稳定的工作目标，避免“边做边改”导致的返工</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a:solidFill>
                            <a:schemeClr val="bg1"/>
                          </a:solidFill>
                        </a:rPr>
                        <a:t>权威性 </a:t>
                      </a:r>
                      <a:r>
                        <a:rPr lang="en-US" altLang="zh-CN" sz="1600">
                          <a:solidFill>
                            <a:schemeClr val="bg1"/>
                          </a:solidFill>
                        </a:rPr>
                        <a:t>(</a:t>
                      </a:r>
                      <a:r>
                        <a:rPr lang="en-US" sz="1600">
                          <a:solidFill>
                            <a:schemeClr val="bg1"/>
                          </a:solidFill>
                        </a:rPr>
                        <a:t>Authority</a:t>
                      </a:r>
                    </a:p>
                  </a:txBody>
                  <a:tcPr anchor="ctr">
                    <a:lnL>
                      <a:noFill/>
                    </a:lnL>
                    <a:lnR>
                      <a:noFill/>
                    </a:lnR>
                    <a:lnT>
                      <a:noFill/>
                    </a:lnT>
                    <a:lnB>
                      <a:noFill/>
                    </a:lnB>
                    <a:noFill/>
                  </a:tcPr>
                </a:tc>
                <a:tc>
                  <a:txBody>
                    <a:bodyPr/>
                    <a:lstStyle/>
                    <a:p>
                      <a:pPr algn="l">
                        <a:buNone/>
                      </a:pPr>
                      <a:r>
                        <a:rPr lang="zh-CN" altLang="en-US" sz="1600">
                          <a:solidFill>
                            <a:schemeClr val="bg1"/>
                          </a:solidFill>
                        </a:rPr>
                        <a:t>它是经过正式评审（</a:t>
                      </a:r>
                      <a:r>
                        <a:rPr lang="en-US" altLang="zh-CN" sz="1600">
                          <a:solidFill>
                            <a:schemeClr val="bg1"/>
                          </a:solidFill>
                        </a:rPr>
                        <a:t>Review</a:t>
                      </a:r>
                      <a:r>
                        <a:rPr lang="zh-CN" altLang="en-US" sz="1600">
                          <a:solidFill>
                            <a:schemeClr val="bg1"/>
                          </a:solidFill>
                        </a:rPr>
                        <a:t>）和签字批准的，具有“法律效力”</a:t>
                      </a:r>
                    </a:p>
                  </a:txBody>
                  <a:tcPr anchor="ctr">
                    <a:lnL>
                      <a:noFill/>
                    </a:lnL>
                    <a:lnR>
                      <a:noFill/>
                    </a:lnR>
                    <a:lnT>
                      <a:noFill/>
                    </a:lnT>
                    <a:lnB>
                      <a:noFill/>
                    </a:lnB>
                    <a:noFill/>
                  </a:tcPr>
                </a:tc>
                <a:tc>
                  <a:txBody>
                    <a:bodyPr/>
                    <a:lstStyle/>
                    <a:p>
                      <a:pPr algn="l">
                        <a:buNone/>
                      </a:pPr>
                      <a:r>
                        <a:rPr lang="zh-CN" altLang="en-US" sz="1600">
                          <a:solidFill>
                            <a:schemeClr val="bg1"/>
                          </a:solidFill>
                        </a:rPr>
                        <a:t>它是验收的标准。如果做出来的东西和基线不一致，就是缺陷（</a:t>
                      </a:r>
                      <a:r>
                        <a:rPr lang="en-US" altLang="zh-CN" sz="1600">
                          <a:solidFill>
                            <a:schemeClr val="bg1"/>
                          </a:solidFill>
                        </a:rPr>
                        <a:t>Bug</a:t>
                      </a:r>
                      <a:r>
                        <a:rPr lang="zh-CN" altLang="en-US" sz="1600">
                          <a:solidFill>
                            <a:schemeClr val="bg1"/>
                          </a:solidFill>
                        </a:rPr>
                        <a:t>）</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a:solidFill>
                            <a:schemeClr val="bg1"/>
                          </a:solidFill>
                        </a:rPr>
                        <a:t>可追溯性 </a:t>
                      </a:r>
                      <a:r>
                        <a:rPr lang="en-US" sz="1600">
                          <a:solidFill>
                            <a:schemeClr val="bg1"/>
                          </a:solidFill>
                        </a:rPr>
                        <a:t>Traceability</a:t>
                      </a:r>
                    </a:p>
                  </a:txBody>
                  <a:tcPr anchor="ctr">
                    <a:lnL>
                      <a:noFill/>
                    </a:lnL>
                    <a:lnR>
                      <a:noFill/>
                    </a:lnR>
                    <a:lnT>
                      <a:noFill/>
                    </a:lnT>
                    <a:lnB>
                      <a:noFill/>
                    </a:lnB>
                    <a:noFill/>
                  </a:tcPr>
                </a:tc>
                <a:tc>
                  <a:txBody>
                    <a:bodyPr/>
                    <a:lstStyle/>
                    <a:p>
                      <a:pPr algn="l">
                        <a:buNone/>
                      </a:pPr>
                      <a:r>
                        <a:rPr lang="zh-CN" altLang="en-US" sz="1600">
                          <a:solidFill>
                            <a:schemeClr val="bg1"/>
                          </a:solidFill>
                        </a:rPr>
                        <a:t>基线有明确的版本号（如 </a:t>
                      </a:r>
                      <a:r>
                        <a:rPr lang="en-US" altLang="zh-CN" sz="1600">
                          <a:solidFill>
                            <a:schemeClr val="bg1"/>
                          </a:solidFill>
                        </a:rPr>
                        <a:t>v1.0</a:t>
                      </a:r>
                      <a:r>
                        <a:rPr lang="zh-CN" altLang="en-US" sz="1600">
                          <a:solidFill>
                            <a:schemeClr val="bg1"/>
                          </a:solidFill>
                        </a:rPr>
                        <a:t>），任何后续修改都会生成新版本（</a:t>
                      </a:r>
                      <a:r>
                        <a:rPr lang="en-US" altLang="zh-CN" sz="1600">
                          <a:solidFill>
                            <a:schemeClr val="bg1"/>
                          </a:solidFill>
                        </a:rPr>
                        <a:t>v1.1</a:t>
                      </a:r>
                      <a:r>
                        <a:rPr lang="zh-CN" altLang="en-US" sz="1600">
                          <a:solidFill>
                            <a:schemeClr val="bg1"/>
                          </a:solidFill>
                        </a:rPr>
                        <a:t>），且保留旧版本记录</a:t>
                      </a:r>
                    </a:p>
                  </a:txBody>
                  <a:tcPr anchor="ctr">
                    <a:lnL>
                      <a:noFill/>
                    </a:lnL>
                    <a:lnR>
                      <a:noFill/>
                    </a:lnR>
                    <a:lnT>
                      <a:noFill/>
                    </a:lnT>
                    <a:lnB>
                      <a:noFill/>
                    </a:lnB>
                    <a:noFill/>
                  </a:tcPr>
                </a:tc>
                <a:tc>
                  <a:txBody>
                    <a:bodyPr/>
                    <a:lstStyle/>
                    <a:p>
                      <a:pPr algn="l">
                        <a:buNone/>
                      </a:pPr>
                      <a:r>
                        <a:rPr lang="zh-CN" altLang="en-US" sz="1600">
                          <a:solidFill>
                            <a:schemeClr val="bg1"/>
                          </a:solidFill>
                        </a:rPr>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spTree>
    <p:extLst>
      <p:ext uri="{BB962C8B-B14F-4D97-AF65-F5344CB8AC3E}">
        <p14:creationId xmlns:p14="http://schemas.microsoft.com/office/powerpoint/2010/main" val="164183533"/>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p:txBody>
          <a:bodyPr/>
          <a:lstStyle/>
          <a:p>
            <a:r>
              <a:rPr lang="zh-CN" altLang="en-US"/>
              <a:t>概念</a:t>
            </a:r>
          </a:p>
        </p:txBody>
      </p:sp>
      <p:sp>
        <p:nvSpPr>
          <p:cNvPr id="3" name="内容占位符 2">
            <a:extLst>
              <a:ext uri="{FF2B5EF4-FFF2-40B4-BE49-F238E27FC236}">
                <a16:creationId xmlns:a16="http://schemas.microsoft.com/office/drawing/2014/main" id="{B823C20A-E20C-18A0-C6AD-F93ECE400298}"/>
              </a:ext>
            </a:extLst>
          </p:cNvPr>
          <p:cNvSpPr>
            <a:spLocks noGrp="1"/>
          </p:cNvSpPr>
          <p:nvPr>
            <p:ph idx="1"/>
          </p:nvPr>
        </p:nvSpPr>
        <p:spPr/>
        <p:txBody>
          <a:bodyPr/>
          <a:lstStyle/>
          <a:p>
            <a:r>
              <a:rPr lang="zh-CN" altLang="en-US"/>
              <a:t>基线</a:t>
            </a:r>
            <a:endParaRPr lang="en-US" altLang="zh-CN"/>
          </a:p>
          <a:p>
            <a:r>
              <a:rPr lang="zh-CN" altLang="en-US"/>
              <a:t>软件配置项 </a:t>
            </a:r>
            <a:r>
              <a:rPr lang="en-US" altLang="zh-CN"/>
              <a:t>configuration item</a:t>
            </a:r>
            <a:endParaRPr lang="zh-CN" altLang="en-US"/>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p:txBody>
          <a:bodyPr/>
          <a:lstStyle/>
          <a:p>
            <a:r>
              <a:rPr lang="en-US" altLang="zh-CN"/>
              <a:t>Concepts</a:t>
            </a:r>
            <a:endParaRPr lang="zh-CN" altLang="en-US"/>
          </a:p>
        </p:txBody>
      </p:sp>
    </p:spTree>
    <p:extLst>
      <p:ext uri="{BB962C8B-B14F-4D97-AF65-F5344CB8AC3E}">
        <p14:creationId xmlns:p14="http://schemas.microsoft.com/office/powerpoint/2010/main" val="1635739793"/>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zh-CN" altLang="en-US"/>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a:xfrm>
            <a:off x="696000" y="864000"/>
            <a:ext cx="10800000" cy="5400000"/>
          </a:xfrm>
        </p:spPr>
        <p:txBody>
          <a:bodyPr/>
          <a:lstStyle/>
          <a:p>
            <a:endParaRPr lang="zh-CN" altLang="en-US"/>
          </a:p>
        </p:txBody>
      </p:sp>
      <p:sp>
        <p:nvSpPr>
          <p:cNvPr id="7" name="文本占位符 6">
            <a:extLst>
              <a:ext uri="{FF2B5EF4-FFF2-40B4-BE49-F238E27FC236}">
                <a16:creationId xmlns:a16="http://schemas.microsoft.com/office/drawing/2014/main" id="{795E1505-16E0-2B93-B29E-EF9E018D3AAA}"/>
              </a:ext>
            </a:extLst>
          </p:cNvPr>
          <p:cNvSpPr>
            <a:spLocks noGrp="1"/>
          </p:cNvSpPr>
          <p:nvPr>
            <p:ph type="body" sz="quarter" idx="10"/>
          </p:nvPr>
        </p:nvSpPr>
        <p:spPr/>
        <p:txBody>
          <a:bodyPr/>
          <a:lstStyle/>
          <a:p>
            <a:endParaRPr lang="zh-CN" altLang="en-US"/>
          </a:p>
        </p:txBody>
      </p:sp>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207801321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632968330"/>
                  </a:ext>
                </a:extLst>
              </a:tr>
              <a:tr h="0">
                <a:tc>
                  <a:txBody>
                    <a:bodyPr/>
                    <a:lstStyle/>
                    <a:p>
                      <a:pPr>
                        <a:buNone/>
                      </a:pPr>
                      <a:r>
                        <a:rPr lang="zh-CN" altLang="en-US" sz="1600">
                          <a:solidFill>
                            <a:schemeClr val="bg1"/>
                          </a:solidFill>
                        </a:rPr>
                        <a:t>制定配置管理计划 </a:t>
                      </a:r>
                      <a:r>
                        <a:rPr lang="en-US" altLang="zh-CN" sz="1600">
                          <a:solidFill>
                            <a:schemeClr val="bg1"/>
                          </a:solidFill>
                        </a:rPr>
                        <a:t>CMP</a:t>
                      </a:r>
                    </a:p>
                    <a:p>
                      <a:pPr>
                        <a:buNone/>
                      </a:pPr>
                      <a:r>
                        <a:rPr lang="en-US" sz="1600">
                          <a:solidFill>
                            <a:schemeClr val="bg1"/>
                          </a:solidFill>
                        </a:rPr>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solidFill>
                            <a:schemeClr val="bg1"/>
                          </a:solidFill>
                        </a:rPr>
                        <a:t>配置标识 </a:t>
                      </a:r>
                      <a:r>
                        <a:rPr lang="en-US" altLang="zh-CN" sz="1600">
                          <a:solidFill>
                            <a:schemeClr val="bg1"/>
                          </a:solidFill>
                        </a:rPr>
                        <a:t>CI</a:t>
                      </a:r>
                    </a:p>
                    <a:p>
                      <a:pPr>
                        <a:buNone/>
                      </a:pPr>
                      <a:r>
                        <a:rPr lang="en-US" altLang="zh-CN" sz="1600">
                          <a:solidFill>
                            <a:schemeClr val="bg1"/>
                          </a:solidFill>
                        </a:rPr>
                        <a:t>Configuration </a:t>
                      </a:r>
                      <a:r>
                        <a:rPr lang="en-US" sz="1600">
                          <a:solidFill>
                            <a:schemeClr val="bg1"/>
                          </a:solidFill>
                        </a:rPr>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solidFill>
                            <a:schemeClr val="bg1"/>
                          </a:solidFill>
                        </a:rPr>
                        <a:t>配置控制</a:t>
                      </a:r>
                    </a:p>
                    <a:p>
                      <a:pPr>
                        <a:buNone/>
                      </a:pPr>
                      <a:r>
                        <a:rPr lang="it-IT" sz="1600">
                          <a:solidFill>
                            <a:schemeClr val="bg1"/>
                          </a:solidFill>
                        </a:rPr>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建立变更请求流程（</a:t>
                      </a:r>
                      <a:r>
                        <a:rPr lang="en-US" altLang="zh-CN" sz="1600">
                          <a:solidFill>
                            <a:schemeClr val="bg1"/>
                          </a:solidFill>
                        </a:rPr>
                        <a:t>CR</a:t>
                      </a:r>
                      <a:r>
                        <a:rPr lang="zh-CN" altLang="en-US" sz="1600">
                          <a:solidFill>
                            <a:schemeClr val="bg1"/>
                          </a:solidFill>
                        </a:rPr>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solidFill>
                            <a:schemeClr val="bg1"/>
                          </a:solidFill>
                        </a:rPr>
                        <a:t>状态记账</a:t>
                      </a:r>
                      <a:endParaRPr lang="en-US" altLang="zh-CN" sz="1600">
                        <a:solidFill>
                          <a:schemeClr val="bg1"/>
                        </a:solidFill>
                      </a:endParaRPr>
                    </a:p>
                    <a:p>
                      <a:pPr>
                        <a:buNone/>
                      </a:pPr>
                      <a:r>
                        <a:rPr lang="en-US" sz="1600">
                          <a:solidFill>
                            <a:schemeClr val="bg1"/>
                          </a:solidFill>
                        </a:rPr>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solidFill>
                            <a:schemeClr val="bg1"/>
                          </a:solidFill>
                        </a:rPr>
                        <a:t>配置审计</a:t>
                      </a:r>
                      <a:endParaRPr lang="en-US" altLang="zh-CN" sz="1600">
                        <a:solidFill>
                          <a:schemeClr val="bg1"/>
                        </a:solidFill>
                      </a:endParaRPr>
                    </a:p>
                    <a:p>
                      <a:pPr>
                        <a:buNone/>
                      </a:pPr>
                      <a:r>
                        <a:rPr lang="en-US" altLang="zh-CN" sz="1600">
                          <a:solidFill>
                            <a:schemeClr val="bg1"/>
                          </a:solidFill>
                        </a:rPr>
                        <a:t>Audit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功能审计（是否满足需求）</a:t>
                      </a:r>
                      <a:r>
                        <a:rPr lang="en-US" altLang="zh-CN" sz="1600">
                          <a:solidFill>
                            <a:schemeClr val="bg1"/>
                          </a:solidFill>
                        </a:rPr>
                        <a:t>+ </a:t>
                      </a:r>
                      <a:r>
                        <a:rPr lang="zh-CN" altLang="en-US" sz="1600">
                          <a:solidFill>
                            <a:schemeClr val="bg1"/>
                          </a:solidFill>
                        </a:rPr>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197810062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zh-CN" altLang="en-US"/>
              <a:t>项目变更</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lstStyle/>
          <a:p>
            <a:r>
              <a:rPr lang="zh-CN" altLang="en-US"/>
              <a:t>涉及的主体</a:t>
            </a:r>
            <a:endParaRPr lang="en-US" altLang="zh-CN"/>
          </a:p>
          <a:p>
            <a:pPr lvl="1"/>
            <a:r>
              <a:rPr lang="zh-CN" altLang="en-US"/>
              <a:t>任何干系人 </a:t>
            </a:r>
            <a:r>
              <a:rPr lang="en-US" altLang="zh-CN"/>
              <a:t>Stakeholder</a:t>
            </a:r>
            <a:r>
              <a:rPr lang="zh-CN" altLang="en-US"/>
              <a:t>：提出变更申请</a:t>
            </a:r>
          </a:p>
          <a:p>
            <a:pPr lvl="1"/>
            <a:r>
              <a:rPr lang="zh-CN" altLang="en-US"/>
              <a:t>项目经理 </a:t>
            </a:r>
            <a:r>
              <a:rPr lang="en-US" altLang="zh-CN"/>
              <a:t>Project Manager</a:t>
            </a:r>
            <a:r>
              <a:rPr lang="zh-CN" altLang="en-US"/>
              <a:t>：影响分析；召开变更委员会会议、实施变更</a:t>
            </a:r>
          </a:p>
          <a:p>
            <a:pPr lvl="1"/>
            <a:r>
              <a:rPr lang="zh-CN" altLang="en-US"/>
              <a:t>变更控制委员会 </a:t>
            </a:r>
            <a:r>
              <a:rPr lang="en-US" altLang="zh-CN">
                <a:hlinkClick r:id="rId2"/>
              </a:rPr>
              <a:t>CCB</a:t>
            </a:r>
            <a:r>
              <a:rPr lang="zh-CN" altLang="en-US"/>
              <a:t>，</a:t>
            </a:r>
            <a:r>
              <a:rPr lang="en-US" altLang="zh-CN"/>
              <a:t>Change Control Board</a:t>
            </a:r>
            <a:r>
              <a:rPr lang="zh-CN" altLang="en-US"/>
              <a:t>：决策机构；双方决策人；审查、评价、批准</a:t>
            </a:r>
          </a:p>
          <a:p>
            <a:r>
              <a:rPr lang="zh-CN" altLang="en-US"/>
              <a:t>基本过程</a:t>
            </a:r>
            <a:endParaRPr lang="en-US" altLang="zh-CN"/>
          </a:p>
          <a:p>
            <a:pPr lvl="1"/>
            <a:r>
              <a:rPr lang="zh-CN" altLang="en-US"/>
              <a:t>提交变更请求</a:t>
            </a:r>
          </a:p>
          <a:p>
            <a:pPr lvl="1"/>
            <a:r>
              <a:rPr lang="zh-CN" altLang="en-US"/>
              <a:t>进行变更影响评估（由项目经理组织团队分析对范围、进度、成本、质量等的影响）</a:t>
            </a:r>
          </a:p>
          <a:p>
            <a:pPr lvl="1"/>
            <a:r>
              <a:rPr lang="zh-CN" altLang="en-US"/>
              <a:t>提交变更控制委员会（</a:t>
            </a:r>
            <a:r>
              <a:rPr lang="en-US" altLang="zh-CN"/>
              <a:t>CCB, </a:t>
            </a:r>
            <a:r>
              <a:rPr lang="zh-CN" altLang="en-US"/>
              <a:t>）审批 → 同意或否决变更</a:t>
            </a:r>
          </a:p>
          <a:p>
            <a:pPr lvl="1"/>
            <a:r>
              <a:rPr lang="zh-CN" altLang="en-US"/>
              <a:t>若批准，则执行变更；若拒绝，则通知申请人并归档</a:t>
            </a:r>
          </a:p>
          <a:p>
            <a:pPr lvl="1"/>
            <a:r>
              <a:rPr lang="zh-CN" altLang="en-US"/>
              <a:t>更新基线与文档，关闭变更请求</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a:t>Project Change</a:t>
            </a:r>
            <a:endParaRPr lang="zh-CN" altLang="en-US"/>
          </a:p>
        </p:txBody>
      </p:sp>
    </p:spTree>
    <p:extLst>
      <p:ext uri="{BB962C8B-B14F-4D97-AF65-F5344CB8AC3E}">
        <p14:creationId xmlns:p14="http://schemas.microsoft.com/office/powerpoint/2010/main" val="6023460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F85B1D-3F75-37F8-A2B4-F14716F242D2}"/>
              </a:ext>
            </a:extLst>
          </p:cNvPr>
          <p:cNvSpPr>
            <a:spLocks noGrp="1"/>
          </p:cNvSpPr>
          <p:nvPr>
            <p:ph type="title"/>
          </p:nvPr>
        </p:nvSpPr>
        <p:spPr>
          <a:xfrm>
            <a:off x="695998" y="360000"/>
            <a:ext cx="6375921" cy="429413"/>
          </a:xfrm>
        </p:spPr>
        <p:txBody>
          <a:bodyPr/>
          <a:lstStyle/>
          <a:p>
            <a:r>
              <a:rPr lang="zh-CN" altLang="en-US"/>
              <a:t>变更控制委员会</a:t>
            </a:r>
          </a:p>
        </p:txBody>
      </p:sp>
      <p:sp>
        <p:nvSpPr>
          <p:cNvPr id="7" name="内容占位符 6">
            <a:extLst>
              <a:ext uri="{FF2B5EF4-FFF2-40B4-BE49-F238E27FC236}">
                <a16:creationId xmlns:a16="http://schemas.microsoft.com/office/drawing/2014/main" id="{3B2C8851-7D5E-DEE6-4CCF-B200139CB5B6}"/>
              </a:ext>
            </a:extLst>
          </p:cNvPr>
          <p:cNvSpPr>
            <a:spLocks noGrp="1"/>
          </p:cNvSpPr>
          <p:nvPr>
            <p:ph idx="1"/>
          </p:nvPr>
        </p:nvSpPr>
        <p:spPr>
          <a:xfrm>
            <a:off x="696000" y="864000"/>
            <a:ext cx="10800000" cy="5400000"/>
          </a:xfrm>
        </p:spPr>
        <p:txBody>
          <a:bodyPr/>
          <a:lstStyle/>
          <a:p>
            <a:r>
              <a:rPr lang="en-US" altLang="zh-CN"/>
              <a:t>the development manager,</a:t>
            </a:r>
          </a:p>
          <a:p>
            <a:r>
              <a:rPr lang="en-US" altLang="zh-CN"/>
              <a:t>a test manager,</a:t>
            </a:r>
          </a:p>
          <a:p>
            <a:r>
              <a:rPr lang="en-US" altLang="zh-CN"/>
              <a:t>a product manager</a:t>
            </a:r>
          </a:p>
          <a:p>
            <a:r>
              <a:rPr lang="en-US" altLang="zh-CN"/>
              <a:t>and the project manager.</a:t>
            </a:r>
          </a:p>
          <a:p>
            <a:r>
              <a:rPr lang="en-US" altLang="zh-CN"/>
              <a:t>In some cases, stakeholders are also involved.</a:t>
            </a:r>
            <a:endParaRPr lang="zh-CN" altLang="en-US"/>
          </a:p>
          <a:p>
            <a:endParaRPr lang="zh-CN" altLang="en-US"/>
          </a:p>
        </p:txBody>
      </p:sp>
      <p:sp>
        <p:nvSpPr>
          <p:cNvPr id="4" name="文本占位符 3">
            <a:extLst>
              <a:ext uri="{FF2B5EF4-FFF2-40B4-BE49-F238E27FC236}">
                <a16:creationId xmlns:a16="http://schemas.microsoft.com/office/drawing/2014/main" id="{658DA847-1583-5220-8500-4F539B8FD5D0}"/>
              </a:ext>
            </a:extLst>
          </p:cNvPr>
          <p:cNvSpPr>
            <a:spLocks noGrp="1"/>
          </p:cNvSpPr>
          <p:nvPr>
            <p:ph type="body" sz="quarter" idx="10"/>
          </p:nvPr>
        </p:nvSpPr>
        <p:spPr>
          <a:xfrm>
            <a:off x="7071919" y="448519"/>
            <a:ext cx="4424080" cy="338554"/>
          </a:xfrm>
        </p:spPr>
        <p:txBody>
          <a:bodyPr/>
          <a:lstStyle/>
          <a:p>
            <a:r>
              <a:rPr lang="en-US" altLang="zh-CN"/>
              <a:t>CCB</a:t>
            </a:r>
            <a:endParaRPr lang="zh-CN" altLang="en-US"/>
          </a:p>
        </p:txBody>
      </p:sp>
    </p:spTree>
    <p:extLst>
      <p:ext uri="{BB962C8B-B14F-4D97-AF65-F5344CB8AC3E}">
        <p14:creationId xmlns:p14="http://schemas.microsoft.com/office/powerpoint/2010/main" val="10740148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492482860"/>
              </p:ext>
            </p:extLst>
          </p:nvPr>
        </p:nvGraphicFramePr>
        <p:xfrm>
          <a:off x="2522297" y="1249680"/>
          <a:ext cx="7147406"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32000">
                  <a:extLst>
                    <a:ext uri="{9D8B030D-6E8A-4147-A177-3AD203B41FA5}">
                      <a16:colId xmlns:a16="http://schemas.microsoft.com/office/drawing/2014/main" val="716357521"/>
                    </a:ext>
                  </a:extLst>
                </a:gridCol>
              </a:tblGrid>
              <a:tr h="0">
                <a:tc>
                  <a:txBody>
                    <a:bodyPr/>
                    <a:lstStyle/>
                    <a:p>
                      <a:pPr algn="dist"/>
                      <a:r>
                        <a:rPr lang="zh-CN" altLang="en-US" sz="1600">
                          <a:solidFill>
                            <a:schemeClr val="bg1"/>
                          </a:solidFill>
                        </a:rPr>
                        <a:t>变更号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dist"/>
                      <a:r>
                        <a:rPr lang="zh-CN" altLang="en-US" sz="1600">
                          <a:solidFill>
                            <a:schemeClr val="bg1"/>
                          </a:solidFill>
                        </a:rPr>
                        <a:t>提出人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变更原因</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用户需求变化 </a:t>
                      </a:r>
                      <a:r>
                        <a:rPr lang="zh-CN" altLang="en-US" sz="1600">
                          <a:solidFill>
                            <a:schemeClr val="bg1"/>
                          </a:solidFill>
                          <a:sym typeface="Wingdings" panose="05000000000000000000" pitchFamily="2" charset="2"/>
                        </a:rPr>
                        <a:t> </a:t>
                      </a:r>
                      <a:r>
                        <a:rPr lang="zh-CN" altLang="en-US" sz="1600">
                          <a:solidFill>
                            <a:schemeClr val="bg1"/>
                          </a:solidFill>
                        </a:rPr>
                        <a:t>技术限制 </a:t>
                      </a:r>
                      <a:r>
                        <a:rPr lang="zh-CN" altLang="en-US" sz="1600">
                          <a:solidFill>
                            <a:schemeClr val="bg1"/>
                          </a:solidFill>
                          <a:sym typeface="Wingdings" panose="05000000000000000000" pitchFamily="2" charset="2"/>
                        </a:rPr>
                        <a:t> </a:t>
                      </a:r>
                      <a:r>
                        <a:rPr lang="zh-CN" altLang="en-US" sz="1600">
                          <a:solidFill>
                            <a:schemeClr val="bg1"/>
                          </a:solidFill>
                        </a:rPr>
                        <a:t>法律法规 </a:t>
                      </a:r>
                      <a:r>
                        <a:rPr lang="zh-CN" altLang="en-US" sz="1600">
                          <a:solidFill>
                            <a:schemeClr val="bg1"/>
                          </a:solidFill>
                          <a:sym typeface="Wingdings" panose="05000000000000000000" pitchFamily="2" charset="2"/>
                        </a:rPr>
                        <a:t> </a:t>
                      </a:r>
                      <a:r>
                        <a:rPr lang="zh-CN" altLang="en-US" sz="1600">
                          <a:solidFill>
                            <a:schemeClr val="bg1"/>
                          </a:solidFill>
                        </a:rPr>
                        <a:t>缺陷修复 </a:t>
                      </a:r>
                      <a:r>
                        <a:rPr lang="zh-CN" altLang="en-US" sz="1600">
                          <a:solidFill>
                            <a:schemeClr val="bg1"/>
                          </a:solidFill>
                          <a:sym typeface="Wingdings" panose="05000000000000000000" pitchFamily="2" charset="2"/>
                        </a:rPr>
                        <a:t> </a:t>
                      </a:r>
                      <a:r>
                        <a:rPr lang="zh-CN" altLang="en-US" sz="1600">
                          <a:solidFill>
                            <a:schemeClr val="bg1"/>
                          </a:solidFill>
                        </a:rPr>
                        <a:t>其它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dist"/>
                      <a:r>
                        <a:rPr lang="zh-CN" altLang="en-US" sz="1600">
                          <a:solidFill>
                            <a:schemeClr val="bg1"/>
                          </a:solidFill>
                        </a:rPr>
                        <a:t>原需求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dist"/>
                      <a:r>
                        <a:rPr lang="zh-CN" altLang="en-US" sz="1600">
                          <a:solidFill>
                            <a:schemeClr val="bg1"/>
                          </a:solidFill>
                        </a:rPr>
                        <a:t>新需求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dist"/>
                      <a:r>
                        <a:rPr lang="zh-CN" altLang="en-US" sz="1600">
                          <a:solidFill>
                            <a:schemeClr val="bg1"/>
                          </a:solidFill>
                        </a:rPr>
                        <a:t>影响模块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dist"/>
                      <a:r>
                        <a:rPr lang="zh-CN" altLang="en-US" sz="1600">
                          <a:solidFill>
                            <a:schemeClr val="bg1"/>
                          </a:solidFill>
                        </a:rPr>
                        <a:t>预计工作量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dist"/>
                      <a:r>
                        <a:rPr lang="zh-CN" altLang="en-US" sz="1600">
                          <a:solidFill>
                            <a:schemeClr val="bg1"/>
                          </a:solidFill>
                        </a:rPr>
                        <a:t>风险等级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高  中  低</a:t>
                      </a: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82999761"/>
                  </a:ext>
                </a:extLst>
              </a:tr>
              <a:tr h="0">
                <a:tc>
                  <a:txBody>
                    <a:bodyPr/>
                    <a:lstStyle/>
                    <a:p>
                      <a:pPr algn="dist"/>
                      <a:r>
                        <a:rPr lang="zh-CN" altLang="en-US" sz="1600">
                          <a:solidFill>
                            <a:schemeClr val="bg1"/>
                          </a:solidFill>
                        </a:rPr>
                        <a:t>建议优先级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31747142"/>
                  </a:ext>
                </a:extLst>
              </a:tr>
              <a:tr h="0">
                <a:tc>
                  <a:txBody>
                    <a:bodyPr/>
                    <a:lstStyle/>
                    <a:p>
                      <a:pPr algn="dist"/>
                      <a:r>
                        <a:rPr lang="zh-CN" altLang="en-US" sz="1600">
                          <a:solidFill>
                            <a:schemeClr val="bg1"/>
                          </a:solidFill>
                        </a:rPr>
                        <a:t>审批意见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批准 </a:t>
                      </a:r>
                      <a:r>
                        <a:rPr lang="zh-CN" altLang="en-US" sz="1600">
                          <a:solidFill>
                            <a:schemeClr val="bg1"/>
                          </a:solidFill>
                          <a:sym typeface="Wingdings" panose="05000000000000000000" pitchFamily="2" charset="2"/>
                        </a:rPr>
                        <a:t> </a:t>
                      </a:r>
                      <a:r>
                        <a:rPr lang="zh-CN" altLang="en-US" sz="1600">
                          <a:solidFill>
                            <a:schemeClr val="bg1"/>
                          </a:solidFill>
                        </a:rPr>
                        <a:t>拒绝 </a:t>
                      </a:r>
                      <a:r>
                        <a:rPr lang="zh-CN" altLang="en-US" sz="1600">
                          <a:solidFill>
                            <a:schemeClr val="bg1"/>
                          </a:solidFill>
                          <a:sym typeface="Wingdings" panose="05000000000000000000" pitchFamily="2" charset="2"/>
                        </a:rPr>
                        <a:t> </a:t>
                      </a:r>
                      <a:r>
                        <a:rPr lang="zh-CN" altLang="en-US" sz="1600">
                          <a:solidFill>
                            <a:schemeClr val="bg1"/>
                          </a:solidFill>
                        </a:rPr>
                        <a:t>延期 </a:t>
                      </a:r>
                      <a:r>
                        <a:rPr lang="zh-CN" altLang="en-US" sz="1600">
                          <a:solidFill>
                            <a:schemeClr val="bg1"/>
                          </a:solidFill>
                          <a:sym typeface="Wingdings" panose="05000000000000000000" pitchFamily="2" charset="2"/>
                        </a:rPr>
                        <a:t> </a:t>
                      </a:r>
                      <a:r>
                        <a:rPr lang="zh-CN" altLang="en-US" sz="1600">
                          <a:solidFill>
                            <a:schemeClr val="bg1"/>
                          </a:solidFill>
                        </a:rPr>
                        <a:t>需补充材料</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dist"/>
                      <a:r>
                        <a:rPr lang="zh-CN" altLang="en-US" sz="1600">
                          <a:solidFill>
                            <a:schemeClr val="bg1"/>
                          </a:solidFill>
                        </a:rPr>
                        <a:t>审批人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dist"/>
                      <a:r>
                        <a:rPr lang="zh-CN" altLang="en-US" sz="1600">
                          <a:solidFill>
                            <a:schemeClr val="bg1"/>
                          </a:solidFill>
                        </a:rPr>
                        <a:t>备注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7FAC11-BADB-4759-CE2E-89BFD2396607}"/>
              </a:ext>
            </a:extLst>
          </p:cNvPr>
          <p:cNvSpPr>
            <a:spLocks noGrp="1"/>
          </p:cNvSpPr>
          <p:nvPr>
            <p:ph type="title"/>
          </p:nvPr>
        </p:nvSpPr>
        <p:spPr>
          <a:xfrm>
            <a:off x="695998" y="360000"/>
            <a:ext cx="6375921" cy="429413"/>
          </a:xfrm>
        </p:spPr>
        <p:txBody>
          <a:bodyPr/>
          <a:lstStyle/>
          <a:p>
            <a:r>
              <a:rPr lang="zh-CN" altLang="en-US"/>
              <a:t>配置管理系统</a:t>
            </a:r>
          </a:p>
        </p:txBody>
      </p:sp>
      <p:sp>
        <p:nvSpPr>
          <p:cNvPr id="6" name="内容占位符 5">
            <a:extLst>
              <a:ext uri="{FF2B5EF4-FFF2-40B4-BE49-F238E27FC236}">
                <a16:creationId xmlns:a16="http://schemas.microsoft.com/office/drawing/2014/main" id="{6C557D3E-86C1-C25F-9E5B-09DE9CA870F0}"/>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245875D-CA61-6CC0-FB41-CE7901F426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4151490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a:xfrm>
            <a:off x="695998" y="360000"/>
            <a:ext cx="6375921" cy="429413"/>
          </a:xfrm>
        </p:spPr>
        <p:txBody>
          <a:bodyPr/>
          <a:lstStyle/>
          <a:p>
            <a:r>
              <a:rPr lang="zh-CN" altLang="en-US"/>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864000"/>
            <a:ext cx="10800000" cy="5400000"/>
          </a:xfrm>
        </p:spPr>
        <p:txBody>
          <a:bodyPr/>
          <a:lstStyle/>
          <a:p>
            <a:r>
              <a:rPr lang="zh-CN" altLang="en-US"/>
              <a:t>主版本号 </a:t>
            </a:r>
            <a:r>
              <a:rPr lang="en-US" altLang="zh-CN"/>
              <a:t>Major</a:t>
            </a:r>
            <a:r>
              <a:rPr lang="zh-CN" altLang="en-US"/>
              <a:t>：重大变更、架构调整、不兼容升级</a:t>
            </a:r>
          </a:p>
          <a:p>
            <a:r>
              <a:rPr lang="zh-CN" altLang="en-US"/>
              <a:t>次版本号 </a:t>
            </a:r>
            <a:r>
              <a:rPr lang="en-US" altLang="zh-CN"/>
              <a:t>Minor</a:t>
            </a:r>
            <a:r>
              <a:rPr lang="zh-CN" altLang="en-US"/>
              <a:t>：新增功能、小幅改进</a:t>
            </a:r>
          </a:p>
          <a:p>
            <a:r>
              <a:rPr lang="zh-CN" altLang="en-US"/>
              <a:t>修订号 </a:t>
            </a:r>
            <a:r>
              <a:rPr lang="en-US" altLang="zh-CN"/>
              <a:t>Patch</a:t>
            </a:r>
            <a:r>
              <a:rPr lang="zh-CN" altLang="en-US"/>
              <a:t>：</a:t>
            </a:r>
            <a:r>
              <a:rPr lang="en-US" altLang="zh-CN"/>
              <a:t>Bug</a:t>
            </a:r>
            <a:r>
              <a:rPr lang="zh-CN" altLang="en-US"/>
              <a:t>修复、小调整</a:t>
            </a:r>
            <a:endParaRPr lang="en-US" altLang="zh-CN"/>
          </a:p>
          <a:p>
            <a:endParaRPr lang="en-US" altLang="zh-CN"/>
          </a:p>
        </p:txBody>
      </p:sp>
      <p:sp>
        <p:nvSpPr>
          <p:cNvPr id="7" name="文本占位符 6">
            <a:extLst>
              <a:ext uri="{FF2B5EF4-FFF2-40B4-BE49-F238E27FC236}">
                <a16:creationId xmlns:a16="http://schemas.microsoft.com/office/drawing/2014/main" id="{63D59409-3CBD-2D2F-1E39-36F3A88580B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2098415879"/>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16052283"/>
                  </a:ext>
                </a:extLst>
              </a:tr>
              <a:tr h="0">
                <a:tc>
                  <a:txBody>
                    <a:bodyPr/>
                    <a:lstStyle/>
                    <a:p>
                      <a:pPr>
                        <a:buNone/>
                      </a:pPr>
                      <a:r>
                        <a:rPr lang="zh-CN" altLang="en-US">
                          <a:solidFill>
                            <a:schemeClr val="bg1"/>
                          </a:solidFill>
                        </a:rPr>
                        <a:t>草稿 </a:t>
                      </a:r>
                      <a:r>
                        <a:rPr lang="en-US">
                          <a:solidFill>
                            <a:schemeClr val="bg1"/>
                          </a:solidFill>
                        </a:rPr>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a:solidFill>
                            <a:schemeClr val="bg1"/>
                          </a:solidFill>
                          <a:latin typeface="Courier New" panose="02070309020205020404" pitchFamily="49" charset="0"/>
                        </a:rPr>
                        <a:t>0.Y</a:t>
                      </a:r>
                      <a:r>
                        <a:rPr lang="es-ES">
                          <a:solidFill>
                            <a:schemeClr val="bg1"/>
                          </a:solidFill>
                        </a:rPr>
                        <a:t> 或 </a:t>
                      </a:r>
                      <a:r>
                        <a:rPr lang="es-ES">
                          <a:solidFill>
                            <a:schemeClr val="bg1"/>
                          </a:solidFill>
                          <a:latin typeface="Courier New" panose="02070309020205020404" pitchFamily="49" charset="0"/>
                        </a:rPr>
                        <a:t>0.YZ</a:t>
                      </a:r>
                      <a:endParaRPr lang="es-E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a:solidFill>
                            <a:schemeClr val="bg1"/>
                          </a:solidFill>
                        </a:rPr>
                        <a:t>正式 </a:t>
                      </a:r>
                      <a:r>
                        <a:rPr lang="en-US">
                          <a:solidFill>
                            <a:schemeClr val="bg1"/>
                          </a:solidFill>
                        </a:rPr>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latin typeface="Courier New" panose="02070309020205020404" pitchFamily="49" charset="0"/>
                        </a:rPr>
                        <a:t>1.X</a:t>
                      </a:r>
                      <a:r>
                        <a:rPr lang="fr-FR">
                          <a:solidFill>
                            <a:schemeClr val="bg1"/>
                          </a:solidFill>
                        </a:rPr>
                        <a:t> 或 </a:t>
                      </a:r>
                      <a:r>
                        <a:rPr lang="fr-FR">
                          <a:solidFill>
                            <a:schemeClr val="bg1"/>
                          </a:solidFill>
                          <a:latin typeface="Courier New" panose="02070309020205020404" pitchFamily="49" charset="0"/>
                        </a:rPr>
                        <a:t>X.Y</a:t>
                      </a:r>
                      <a:endParaRPr lang="fr-FR">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a:solidFill>
                            <a:schemeClr val="bg1"/>
                          </a:solidFill>
                        </a:rPr>
                        <a:t>修改 </a:t>
                      </a:r>
                      <a:r>
                        <a:rPr lang="en-US">
                          <a:solidFill>
                            <a:schemeClr val="bg1"/>
                          </a:solidFill>
                        </a:rPr>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如从 </a:t>
                      </a:r>
                      <a:r>
                        <a:rPr lang="en-US" altLang="zh-CN">
                          <a:solidFill>
                            <a:schemeClr val="bg1"/>
                          </a:solidFill>
                        </a:rPr>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6375921" cy="429413"/>
          </a:xfrm>
        </p:spPr>
        <p:txBody>
          <a:bodyPr>
            <a:normAutofit/>
          </a:bodyPr>
          <a:lstStyle/>
          <a:p>
            <a:r>
              <a:rPr lang="zh-CN" altLang="en-US"/>
              <a:t>配置库</a:t>
            </a:r>
          </a:p>
        </p:txBody>
      </p:sp>
      <p:sp>
        <p:nvSpPr>
          <p:cNvPr id="7" name="内容占位符 6">
            <a:extLst>
              <a:ext uri="{FF2B5EF4-FFF2-40B4-BE49-F238E27FC236}">
                <a16:creationId xmlns:a16="http://schemas.microsoft.com/office/drawing/2014/main" id="{859E2E68-567F-ED32-2ABD-14B0145A5BFC}"/>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6BB7B779-EFD5-8646-A1A1-CA038C8A330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130191335"/>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98119768"/>
                  </a:ext>
                </a:extLst>
              </a:tr>
              <a:tr h="0">
                <a:tc>
                  <a:txBody>
                    <a:bodyPr/>
                    <a:lstStyle/>
                    <a:p>
                      <a:pPr>
                        <a:buNone/>
                      </a:pPr>
                      <a:r>
                        <a:rPr lang="zh-CN" altLang="en-US">
                          <a:solidFill>
                            <a:schemeClr val="bg1"/>
                          </a:solidFill>
                        </a:rPr>
                        <a:t>开发库（</a:t>
                      </a:r>
                      <a:r>
                        <a:rPr lang="en-US">
                          <a:solidFill>
                            <a:schemeClr val="bg1"/>
                          </a:solidFill>
                        </a:rPr>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个人或团队工作空间</a:t>
                      </a:r>
                      <a:br>
                        <a:rPr lang="zh-CN" altLang="en-US">
                          <a:solidFill>
                            <a:schemeClr val="bg1"/>
                          </a:solidFill>
                        </a:rPr>
                      </a:br>
                      <a:r>
                        <a:rPr lang="en-US" altLang="zh-CN">
                          <a:solidFill>
                            <a:schemeClr val="bg1"/>
                          </a:solidFill>
                        </a:rPr>
                        <a:t>- </a:t>
                      </a:r>
                      <a:r>
                        <a:rPr lang="zh-CN" altLang="en-US">
                          <a:solidFill>
                            <a:schemeClr val="bg1"/>
                          </a:solidFill>
                        </a:rPr>
                        <a:t>无严格版本控制</a:t>
                      </a:r>
                      <a:br>
                        <a:rPr lang="zh-CN" altLang="en-US">
                          <a:solidFill>
                            <a:schemeClr val="bg1"/>
                          </a:solidFill>
                        </a:rPr>
                      </a:br>
                      <a:r>
                        <a:rPr lang="en-US" altLang="zh-CN">
                          <a:solidFill>
                            <a:schemeClr val="bg1"/>
                          </a:solidFill>
                        </a:rPr>
                        <a:t>- </a:t>
                      </a:r>
                      <a:r>
                        <a:rPr lang="zh-CN" altLang="en-US">
                          <a:solidFill>
                            <a:schemeClr val="bg1"/>
                          </a:solidFill>
                        </a:rPr>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a:solidFill>
                            <a:schemeClr val="bg1"/>
                          </a:solidFill>
                        </a:rPr>
                        <a:t>受控库（</a:t>
                      </a:r>
                      <a:r>
                        <a:rPr lang="en-US">
                          <a:solidFill>
                            <a:schemeClr val="bg1"/>
                          </a:solidFill>
                        </a:rPr>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经审批后才能修改</a:t>
                      </a:r>
                      <a:br>
                        <a:rPr lang="zh-CN" altLang="en-US">
                          <a:solidFill>
                            <a:schemeClr val="bg1"/>
                          </a:solidFill>
                        </a:rPr>
                      </a:br>
                      <a:r>
                        <a:rPr lang="en-US" altLang="zh-CN">
                          <a:solidFill>
                            <a:schemeClr val="bg1"/>
                          </a:solidFill>
                        </a:rPr>
                        <a:t>- </a:t>
                      </a:r>
                      <a:r>
                        <a:rPr lang="zh-CN" altLang="en-US">
                          <a:solidFill>
                            <a:schemeClr val="bg1"/>
                          </a:solidFill>
                        </a:rPr>
                        <a:t>用于集成、测试</a:t>
                      </a:r>
                      <a:br>
                        <a:rPr lang="zh-CN" altLang="en-US">
                          <a:solidFill>
                            <a:schemeClr val="bg1"/>
                          </a:solidFill>
                        </a:rPr>
                      </a:br>
                      <a:r>
                        <a:rPr lang="en-US" altLang="zh-CN">
                          <a:solidFill>
                            <a:schemeClr val="bg1"/>
                          </a:solidFill>
                        </a:rPr>
                        <a:t>- </a:t>
                      </a:r>
                      <a:r>
                        <a:rPr lang="zh-CN" altLang="en-US">
                          <a:solidFill>
                            <a:schemeClr val="bg1"/>
                          </a:solidFill>
                        </a:rPr>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a:solidFill>
                            <a:schemeClr val="bg1"/>
                          </a:solidFill>
                        </a:rPr>
                        <a:t>产品库（</a:t>
                      </a:r>
                      <a:r>
                        <a:rPr lang="en-US">
                          <a:solidFill>
                            <a:schemeClr val="bg1"/>
                          </a:solidFill>
                        </a:rPr>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最终版本</a:t>
                      </a:r>
                      <a:br>
                        <a:rPr lang="zh-CN" altLang="en-US">
                          <a:solidFill>
                            <a:schemeClr val="bg1"/>
                          </a:solidFill>
                        </a:rPr>
                      </a:br>
                      <a:r>
                        <a:rPr lang="en-US" altLang="zh-CN">
                          <a:solidFill>
                            <a:schemeClr val="bg1"/>
                          </a:solidFill>
                        </a:rPr>
                        <a:t>- </a:t>
                      </a:r>
                      <a:r>
                        <a:rPr lang="zh-CN" altLang="en-US">
                          <a:solidFill>
                            <a:schemeClr val="bg1"/>
                          </a:solidFill>
                        </a:rPr>
                        <a:t>不可随意修改</a:t>
                      </a:r>
                      <a:br>
                        <a:rPr lang="zh-CN" altLang="en-US">
                          <a:solidFill>
                            <a:schemeClr val="bg1"/>
                          </a:solidFill>
                        </a:rPr>
                      </a:br>
                      <a:r>
                        <a:rPr lang="en-US" altLang="zh-CN">
                          <a:solidFill>
                            <a:schemeClr val="bg1"/>
                          </a:solidFill>
                        </a:rPr>
                        <a:t>- </a:t>
                      </a:r>
                      <a:r>
                        <a:rPr lang="zh-CN" altLang="en-US">
                          <a:solidFill>
                            <a:schemeClr val="bg1"/>
                          </a:solidFill>
                        </a:rPr>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6375921" cy="429413"/>
          </a:xfrm>
        </p:spPr>
        <p:txBody>
          <a:bodyPr>
            <a:normAutofit/>
          </a:bodyPr>
          <a:lstStyle/>
          <a:p>
            <a:r>
              <a:rPr lang="zh-CN" altLang="en-US"/>
              <a:t>发布管理和交付</a:t>
            </a:r>
          </a:p>
        </p:txBody>
      </p:sp>
      <p:sp>
        <p:nvSpPr>
          <p:cNvPr id="7" name="内容占位符 6">
            <a:extLst>
              <a:ext uri="{FF2B5EF4-FFF2-40B4-BE49-F238E27FC236}">
                <a16:creationId xmlns:a16="http://schemas.microsoft.com/office/drawing/2014/main" id="{3DF03DC4-C917-6F2B-73AE-DF6832175447}"/>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AEE779BD-DDB3-F165-4749-5BBB8590AD7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3874212858"/>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solidFill>
                            <a:schemeClr val="bg1"/>
                          </a:solidFill>
                        </a:rPr>
                        <a:t>活动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4290677"/>
                  </a:ext>
                </a:extLst>
              </a:tr>
              <a:tr h="0">
                <a:tc>
                  <a:txBody>
                    <a:bodyPr/>
                    <a:lstStyle/>
                    <a:p>
                      <a:pPr>
                        <a:buNone/>
                      </a:pPr>
                      <a:r>
                        <a:rPr lang="zh-CN" altLang="en-US">
                          <a:solidFill>
                            <a:schemeClr val="bg1"/>
                          </a:solidFill>
                        </a:rPr>
                        <a:t>打包 </a:t>
                      </a:r>
                      <a:r>
                        <a:rPr lang="en-US">
                          <a:solidFill>
                            <a:schemeClr val="bg1"/>
                          </a:solidFill>
                        </a:rPr>
                        <a:t>Packaging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将多个配置项（如代码、文档、配置文件）组合成一个可发布的单元（如安装包、镜像）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6428169"/>
                  </a:ext>
                </a:extLst>
              </a:tr>
              <a:tr h="0">
                <a:tc>
                  <a:txBody>
                    <a:bodyPr/>
                    <a:lstStyle/>
                    <a:p>
                      <a:pPr>
                        <a:buNone/>
                      </a:pPr>
                      <a:r>
                        <a:rPr lang="zh-CN" altLang="en-US">
                          <a:solidFill>
                            <a:schemeClr val="bg1"/>
                          </a:solidFill>
                        </a:rPr>
                        <a:t>复制 </a:t>
                      </a:r>
                      <a:r>
                        <a:rPr lang="en-US">
                          <a:solidFill>
                            <a:schemeClr val="bg1"/>
                          </a:solidFill>
                        </a:rPr>
                        <a:t>Replication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将发布版本复制到目标环境（如测试、生产、客户）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1879113"/>
                  </a:ext>
                </a:extLst>
              </a:tr>
              <a:tr h="0">
                <a:tc>
                  <a:txBody>
                    <a:bodyPr/>
                    <a:lstStyle/>
                    <a:p>
                      <a:pPr>
                        <a:buNone/>
                      </a:pPr>
                      <a:r>
                        <a:rPr lang="zh-CN" altLang="en-US">
                          <a:solidFill>
                            <a:schemeClr val="bg1"/>
                          </a:solidFill>
                        </a:rPr>
                        <a:t>存储 </a:t>
                      </a:r>
                      <a:r>
                        <a:rPr lang="en-US">
                          <a:solidFill>
                            <a:schemeClr val="bg1"/>
                          </a:solidFill>
                        </a:rPr>
                        <a:t>Storage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将发布版本存放在产品库或发布服务器中，供后续使用或回滚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35302203"/>
                  </a:ext>
                </a:extLst>
              </a:tr>
              <a:tr h="0">
                <a:tc>
                  <a:txBody>
                    <a:bodyPr/>
                    <a:lstStyle/>
                    <a:p>
                      <a:pPr>
                        <a:buNone/>
                      </a:pPr>
                      <a:r>
                        <a:rPr lang="zh-CN" altLang="en-US">
                          <a:solidFill>
                            <a:schemeClr val="bg1"/>
                          </a:solidFill>
                        </a:rPr>
                        <a:t>分发 </a:t>
                      </a:r>
                      <a:r>
                        <a:rPr lang="en-US">
                          <a:solidFill>
                            <a:schemeClr val="bg1"/>
                          </a:solidFill>
                        </a:rPr>
                        <a:t>Distribution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向用户或运维团队提供发布包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829072"/>
                  </a:ext>
                </a:extLst>
              </a:tr>
              <a:tr h="0">
                <a:tc>
                  <a:txBody>
                    <a:bodyPr/>
                    <a:lstStyle/>
                    <a:p>
                      <a:pPr>
                        <a:buNone/>
                      </a:pPr>
                      <a:r>
                        <a:rPr lang="zh-CN" altLang="en-US">
                          <a:solidFill>
                            <a:schemeClr val="bg1"/>
                          </a:solidFill>
                        </a:rPr>
                        <a:t>部署 </a:t>
                      </a:r>
                      <a:r>
                        <a:rPr lang="en-US">
                          <a:solidFill>
                            <a:schemeClr val="bg1"/>
                          </a:solidFill>
                        </a:rPr>
                        <a:t>Deployment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在目标环境中安装和运行发布包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657808287"/>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5" name="文本占位符 4">
            <a:extLst>
              <a:ext uri="{FF2B5EF4-FFF2-40B4-BE49-F238E27FC236}">
                <a16:creationId xmlns:a16="http://schemas.microsoft.com/office/drawing/2014/main" id="{61472ABF-54B5-61A6-F31E-E6F2728516FF}"/>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685887968"/>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a:solidFill>
                            <a:schemeClr val="bg1"/>
                          </a:solidFill>
                        </a:rPr>
                        <a:t>Item</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形成期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震荡期或磨合期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结束期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6" name="文本占位符 5">
            <a:extLst>
              <a:ext uri="{FF2B5EF4-FFF2-40B4-BE49-F238E27FC236}">
                <a16:creationId xmlns:a16="http://schemas.microsoft.com/office/drawing/2014/main" id="{32D4F82D-BEE5-7358-FBD3-8423C494A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4059632314"/>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人员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需求定义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张三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李四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王五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赵六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系统设计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系统开发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测试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6" name="文本占位符 5">
            <a:extLst>
              <a:ext uri="{FF2B5EF4-FFF2-40B4-BE49-F238E27FC236}">
                <a16:creationId xmlns:a16="http://schemas.microsoft.com/office/drawing/2014/main" id="{3C2771CF-5E35-E161-74AF-B9C648A506D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801849561"/>
              </p:ext>
            </p:extLst>
          </p:nvPr>
        </p:nvGraphicFramePr>
        <p:xfrm>
          <a:off x="695325" y="8636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a:solidFill>
                            <a:schemeClr val="bg1"/>
                          </a:solidFill>
                        </a:rPr>
                        <a:t>回避</a:t>
                      </a:r>
                      <a:r>
                        <a:rPr lang="en-US" altLang="zh-CN">
                          <a:solidFill>
                            <a:schemeClr val="bg1"/>
                          </a:solidFill>
                        </a:rPr>
                        <a:t>/</a:t>
                      </a:r>
                      <a:r>
                        <a:rPr lang="zh-CN" altLang="en-US">
                          <a:solidFill>
                            <a:schemeClr val="bg1"/>
                          </a:solidFill>
                        </a:rPr>
                        <a:t>撤退 </a:t>
                      </a:r>
                      <a:r>
                        <a:rPr lang="en-US">
                          <a:solidFill>
                            <a:schemeClr val="bg1"/>
                          </a:solidFill>
                        </a:rPr>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a:solidFill>
                            <a:schemeClr val="bg1"/>
                          </a:solidFill>
                        </a:rPr>
                        <a:t>安抚</a:t>
                      </a:r>
                      <a:r>
                        <a:rPr lang="en-US" altLang="zh-CN">
                          <a:solidFill>
                            <a:schemeClr val="bg1"/>
                          </a:solidFill>
                        </a:rPr>
                        <a:t>/</a:t>
                      </a:r>
                      <a:r>
                        <a:rPr lang="zh-CN" altLang="en-US">
                          <a:solidFill>
                            <a:schemeClr val="bg1"/>
                          </a:solidFill>
                        </a:rPr>
                        <a:t>迁就 </a:t>
                      </a:r>
                      <a:r>
                        <a:rPr lang="en-US">
                          <a:solidFill>
                            <a:schemeClr val="bg1"/>
                          </a:solidFill>
                        </a:rPr>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a:solidFill>
                            <a:schemeClr val="bg1"/>
                          </a:solidFill>
                        </a:rPr>
                        <a:t>妥协 </a:t>
                      </a:r>
                      <a:r>
                        <a:rPr lang="en-US">
                          <a:solidFill>
                            <a:schemeClr val="bg1"/>
                          </a:solidFill>
                        </a:rPr>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a:solidFill>
                            <a:schemeClr val="bg1"/>
                          </a:solidFill>
                        </a:rPr>
                        <a:t>强制 </a:t>
                      </a:r>
                      <a:r>
                        <a:rPr lang="en-US">
                          <a:solidFill>
                            <a:schemeClr val="bg1"/>
                          </a:solidFill>
                        </a:rPr>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a:solidFill>
                            <a:schemeClr val="bg1"/>
                          </a:solidFill>
                        </a:rPr>
                        <a:t>合作</a:t>
                      </a:r>
                      <a:r>
                        <a:rPr lang="en-US" altLang="zh-CN">
                          <a:solidFill>
                            <a:schemeClr val="bg1"/>
                          </a:solidFill>
                        </a:rPr>
                        <a:t>/</a:t>
                      </a:r>
                      <a:r>
                        <a:rPr lang="zh-CN" altLang="en-US">
                          <a:solidFill>
                            <a:schemeClr val="bg1"/>
                          </a:solidFill>
                        </a:rPr>
                        <a:t>解决问题 </a:t>
                      </a:r>
                      <a:r>
                        <a:rPr lang="en-US">
                          <a:solidFill>
                            <a:schemeClr val="bg1"/>
                          </a:solidFill>
                        </a:rPr>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02E25227-3B79-C11B-379B-DF53170DCED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71125211"/>
              </p:ext>
            </p:extLst>
          </p:nvPr>
        </p:nvGraphicFramePr>
        <p:xfrm>
          <a:off x="695325" y="8636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1168794"/>
                  </a:ext>
                </a:extLst>
              </a:tr>
              <a:tr h="0">
                <a:tc>
                  <a:txBody>
                    <a:bodyPr/>
                    <a:lstStyle/>
                    <a:p>
                      <a:pPr>
                        <a:buNone/>
                      </a:pPr>
                      <a:r>
                        <a:rPr lang="en-US" altLang="zh-CN">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生理需求（</a:t>
                      </a:r>
                      <a:r>
                        <a:rPr lang="en-US" altLang="zh-CN">
                          <a:solidFill>
                            <a:schemeClr val="bg1"/>
                          </a:solidFill>
                        </a:rPr>
                        <a:t>Physiological</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安全需求（</a:t>
                      </a:r>
                      <a:r>
                        <a:rPr lang="en-US" altLang="zh-CN">
                          <a:solidFill>
                            <a:schemeClr val="bg1"/>
                          </a:solidFill>
                        </a:rPr>
                        <a:t>Safety</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a:solidFill>
                            <a:schemeClr val="bg1"/>
                          </a:solidFill>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社会交往需求（</a:t>
                      </a:r>
                      <a:r>
                        <a:rPr lang="en-US">
                          <a:solidFill>
                            <a:schemeClr val="bg1"/>
                          </a:solidFill>
                        </a:rPr>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a:solidFill>
                            <a:schemeClr val="bg1"/>
                          </a:solidFill>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自尊需求（</a:t>
                      </a:r>
                      <a:r>
                        <a:rPr lang="en-US">
                          <a:solidFill>
                            <a:schemeClr val="bg1"/>
                          </a:solidFill>
                        </a:rPr>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自我实现（</a:t>
                      </a:r>
                      <a:r>
                        <a:rPr lang="en-US">
                          <a:solidFill>
                            <a:schemeClr val="bg1"/>
                          </a:solidFill>
                        </a:rPr>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9" name="文本占位符 8">
            <a:extLst>
              <a:ext uri="{FF2B5EF4-FFF2-40B4-BE49-F238E27FC236}">
                <a16:creationId xmlns:a16="http://schemas.microsoft.com/office/drawing/2014/main" id="{BF40FB67-02B3-C99F-47BA-89556E1962EF}"/>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a:t>由美国心理学家弗雷德里克</a:t>
            </a:r>
            <a:r>
              <a:rPr lang="en-US" altLang="zh-CN"/>
              <a:t>·</a:t>
            </a:r>
            <a:r>
              <a:rPr lang="zh-CN" altLang="en-US"/>
              <a:t>赫茨伯格（</a:t>
            </a:r>
            <a:r>
              <a:rPr lang="en-US" altLang="zh-CN"/>
              <a:t>Frederick Herzberg</a:t>
            </a:r>
            <a:r>
              <a:rPr lang="zh-CN" altLang="en-US"/>
              <a:t>）于</a:t>
            </a:r>
            <a:r>
              <a:rPr lang="en-US" altLang="zh-CN"/>
              <a:t>20</a:t>
            </a:r>
            <a:r>
              <a:rPr lang="zh-CN" altLang="en-US"/>
              <a:t>世纪</a:t>
            </a:r>
            <a:r>
              <a:rPr lang="en-US" altLang="zh-CN"/>
              <a:t>50</a:t>
            </a:r>
            <a:r>
              <a:rPr lang="zh-CN" altLang="en-US"/>
              <a:t>年代末提出的一种关于工作动机和员工满意度的重要理论</a:t>
            </a:r>
            <a:endParaRPr lang="en-US" altLang="zh-CN"/>
          </a:p>
          <a:p>
            <a:r>
              <a:rPr lang="zh-CN" altLang="en-US"/>
              <a:t>激励因素 </a:t>
            </a:r>
            <a:r>
              <a:rPr lang="en-US" altLang="zh-CN"/>
              <a:t>Motivators</a:t>
            </a:r>
            <a:r>
              <a:rPr lang="zh-CN" altLang="en-US"/>
              <a:t> </a:t>
            </a:r>
            <a:r>
              <a:rPr lang="en-US" altLang="zh-CN"/>
              <a:t>- </a:t>
            </a:r>
            <a:r>
              <a:rPr lang="zh-CN" altLang="en-US"/>
              <a:t>提升积极性</a:t>
            </a:r>
          </a:p>
          <a:p>
            <a:pPr lvl="1"/>
            <a:r>
              <a:rPr lang="zh-CN" altLang="en-US"/>
              <a:t>成就感（</a:t>
            </a:r>
            <a:r>
              <a:rPr lang="en-US" altLang="zh-CN"/>
              <a:t>Achievement</a:t>
            </a:r>
            <a:r>
              <a:rPr lang="zh-CN" altLang="en-US"/>
              <a:t>）</a:t>
            </a:r>
          </a:p>
          <a:p>
            <a:pPr lvl="1"/>
            <a:r>
              <a:rPr lang="zh-CN" altLang="en-US"/>
              <a:t>认可</a:t>
            </a:r>
            <a:r>
              <a:rPr lang="en-US" altLang="zh-CN"/>
              <a:t>/</a:t>
            </a:r>
            <a:r>
              <a:rPr lang="zh-CN" altLang="en-US"/>
              <a:t>赞赏（</a:t>
            </a:r>
            <a:r>
              <a:rPr lang="en-US" altLang="zh-CN"/>
              <a:t>Recognition</a:t>
            </a:r>
            <a:r>
              <a:rPr lang="zh-CN" altLang="en-US"/>
              <a:t>）</a:t>
            </a:r>
          </a:p>
          <a:p>
            <a:pPr lvl="1"/>
            <a:r>
              <a:rPr lang="zh-CN" altLang="en-US"/>
              <a:t>工作本身（</a:t>
            </a:r>
            <a:r>
              <a:rPr lang="en-US" altLang="zh-CN"/>
              <a:t>The work itself</a:t>
            </a:r>
            <a:r>
              <a:rPr lang="zh-CN" altLang="en-US"/>
              <a:t>）</a:t>
            </a:r>
          </a:p>
          <a:p>
            <a:pPr lvl="1"/>
            <a:r>
              <a:rPr lang="zh-CN" altLang="en-US"/>
              <a:t>责任感（</a:t>
            </a:r>
            <a:r>
              <a:rPr lang="en-US" altLang="zh-CN"/>
              <a:t>Responsibility</a:t>
            </a:r>
            <a:r>
              <a:rPr lang="zh-CN" altLang="en-US"/>
              <a:t>）</a:t>
            </a:r>
          </a:p>
          <a:p>
            <a:pPr lvl="1"/>
            <a:r>
              <a:rPr lang="zh-CN" altLang="en-US"/>
              <a:t>晋升机会（</a:t>
            </a:r>
            <a:r>
              <a:rPr lang="en-US" altLang="zh-CN"/>
              <a:t>Advancement</a:t>
            </a:r>
            <a:r>
              <a:rPr lang="zh-CN" altLang="en-US"/>
              <a:t>）</a:t>
            </a:r>
          </a:p>
          <a:p>
            <a:pPr lvl="1"/>
            <a:r>
              <a:rPr lang="zh-CN" altLang="en-US"/>
              <a:t>成长与发展（</a:t>
            </a:r>
            <a:r>
              <a:rPr lang="en-US" altLang="zh-CN"/>
              <a:t>Growth</a:t>
            </a:r>
            <a:r>
              <a:rPr lang="zh-CN" altLang="en-US"/>
              <a:t>）</a:t>
            </a:r>
            <a:endParaRPr lang="en-US" altLang="zh-CN"/>
          </a:p>
          <a:p>
            <a:r>
              <a:rPr lang="zh-CN" altLang="en-US"/>
              <a:t>保健因素 </a:t>
            </a:r>
            <a:r>
              <a:rPr lang="en-US" altLang="zh-CN"/>
              <a:t>Hygiene Factors</a:t>
            </a:r>
            <a:r>
              <a:rPr lang="zh-CN" altLang="en-US"/>
              <a:t> </a:t>
            </a:r>
            <a:r>
              <a:rPr lang="en-US" altLang="zh-CN"/>
              <a:t>-</a:t>
            </a:r>
            <a:r>
              <a:rPr lang="zh-CN" altLang="en-US"/>
              <a:t> 避免不满</a:t>
            </a:r>
          </a:p>
          <a:p>
            <a:pPr lvl="1"/>
            <a:r>
              <a:rPr lang="zh-CN" altLang="en-US"/>
              <a:t>公司政策与管理（</a:t>
            </a:r>
            <a:r>
              <a:rPr lang="en-US" altLang="zh-CN"/>
              <a:t>Company policy</a:t>
            </a:r>
            <a:r>
              <a:rPr lang="zh-CN" altLang="en-US"/>
              <a:t>）</a:t>
            </a:r>
          </a:p>
          <a:p>
            <a:pPr lvl="1"/>
            <a:r>
              <a:rPr lang="zh-CN" altLang="en-US"/>
              <a:t>监督方式（</a:t>
            </a:r>
            <a:r>
              <a:rPr lang="en-US" altLang="zh-CN"/>
              <a:t>Supervision</a:t>
            </a:r>
            <a:r>
              <a:rPr lang="zh-CN" altLang="en-US"/>
              <a:t>）</a:t>
            </a:r>
          </a:p>
          <a:p>
            <a:pPr lvl="1"/>
            <a:r>
              <a:rPr lang="zh-CN" altLang="en-US"/>
              <a:t>工作条件（</a:t>
            </a:r>
            <a:r>
              <a:rPr lang="en-US" altLang="zh-CN"/>
              <a:t>Working conditions</a:t>
            </a:r>
            <a:r>
              <a:rPr lang="zh-CN" altLang="en-US"/>
              <a:t>）</a:t>
            </a:r>
          </a:p>
          <a:p>
            <a:pPr lvl="1"/>
            <a:r>
              <a:rPr lang="zh-CN" altLang="en-US"/>
              <a:t>薪资待遇（</a:t>
            </a:r>
            <a:r>
              <a:rPr lang="en-US" altLang="zh-CN"/>
              <a:t>Salary</a:t>
            </a:r>
            <a:r>
              <a:rPr lang="zh-CN" altLang="en-US"/>
              <a:t>）</a:t>
            </a:r>
          </a:p>
          <a:p>
            <a:pPr lvl="1"/>
            <a:r>
              <a:rPr lang="zh-CN" altLang="en-US"/>
              <a:t>同事关系（</a:t>
            </a:r>
            <a:r>
              <a:rPr lang="en-US" altLang="zh-CN"/>
              <a:t>Interpersonal relations</a:t>
            </a:r>
            <a:r>
              <a:rPr lang="zh-CN" altLang="en-US"/>
              <a:t>）</a:t>
            </a:r>
          </a:p>
          <a:p>
            <a:pPr lvl="1"/>
            <a:r>
              <a:rPr lang="zh-CN" altLang="en-US"/>
              <a:t>地位（</a:t>
            </a:r>
            <a:r>
              <a:rPr lang="en-US" altLang="zh-CN"/>
              <a:t>Status</a:t>
            </a:r>
            <a:r>
              <a:rPr lang="zh-CN" altLang="en-US"/>
              <a:t>）</a:t>
            </a:r>
          </a:p>
          <a:p>
            <a:pPr lvl="1"/>
            <a:r>
              <a:rPr lang="zh-CN" altLang="en-US"/>
              <a:t>工作安全感（</a:t>
            </a:r>
            <a:r>
              <a:rPr lang="en-US" altLang="zh-CN"/>
              <a:t>Job security</a:t>
            </a:r>
            <a:r>
              <a:rPr lang="zh-CN" altLang="en-US"/>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zh-CN" altLang="en-US"/>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257567925"/>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4886506"/>
                  </a:ext>
                </a:extLst>
              </a:tr>
              <a:tr h="0">
                <a:tc>
                  <a:txBody>
                    <a:bodyPr/>
                    <a:lstStyle/>
                    <a:p>
                      <a:pPr>
                        <a:buNone/>
                      </a:pPr>
                      <a:r>
                        <a:rPr lang="en-US">
                          <a:solidFill>
                            <a:schemeClr val="bg1"/>
                          </a:solidFill>
                        </a:rPr>
                        <a:t>A. </a:t>
                      </a:r>
                      <a:r>
                        <a:rPr lang="zh-CN" altLang="en-US">
                          <a:solidFill>
                            <a:schemeClr val="bg1"/>
                          </a:solidFill>
                        </a:rPr>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a:solidFill>
                            <a:schemeClr val="bg1"/>
                          </a:solidFill>
                        </a:rPr>
                        <a:t>B. </a:t>
                      </a:r>
                      <a:r>
                        <a:rPr lang="zh-CN" altLang="en-US">
                          <a:solidFill>
                            <a:schemeClr val="bg1"/>
                          </a:solidFill>
                        </a:rPr>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a:solidFill>
                            <a:schemeClr val="bg1"/>
                          </a:solidFill>
                        </a:rPr>
                        <a:t>C. </a:t>
                      </a:r>
                      <a:r>
                        <a:rPr lang="zh-CN" altLang="en-US">
                          <a:solidFill>
                            <a:schemeClr val="bg1"/>
                          </a:solidFill>
                        </a:rPr>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a:solidFill>
                            <a:schemeClr val="bg1"/>
                          </a:solidFill>
                        </a:rPr>
                        <a:t>D. </a:t>
                      </a:r>
                      <a:r>
                        <a:rPr lang="zh-CN" altLang="en-US">
                          <a:solidFill>
                            <a:schemeClr val="bg1"/>
                          </a:solidFill>
                        </a:rPr>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zh-CN" altLang="en-US"/>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241047111"/>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a:solidFill>
                            <a:schemeClr val="bg1"/>
                          </a:solidFill>
                        </a:rPr>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a:solidFill>
                            <a:schemeClr val="bg1"/>
                          </a:solidFill>
                        </a:rPr>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a:solidFill>
                            <a:schemeClr val="bg1"/>
                          </a:solidFill>
                        </a:rPr>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a:solidFill>
                            <a:schemeClr val="bg1"/>
                          </a:solidFill>
                        </a:rPr>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zh-CN" altLang="en-US"/>
              <a:t>凸显模型</a:t>
            </a:r>
          </a:p>
        </p:txBody>
      </p:sp>
      <p:sp>
        <p:nvSpPr>
          <p:cNvPr id="5" name="内容占位符 4">
            <a:extLst>
              <a:ext uri="{FF2B5EF4-FFF2-40B4-BE49-F238E27FC236}">
                <a16:creationId xmlns:a16="http://schemas.microsoft.com/office/drawing/2014/main" id="{4EC3EEB4-120A-ABA9-F634-FFC69AB14466}"/>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251992994"/>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a:solidFill>
                            <a:schemeClr val="bg1"/>
                          </a:solidFill>
                        </a:rPr>
                        <a:t>权力 </a:t>
                      </a:r>
                      <a:r>
                        <a:rPr lang="en-US" sz="160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solidFill>
                            <a:schemeClr val="bg1"/>
                          </a:solidFill>
                        </a:rPr>
                        <a:t>合法性 </a:t>
                      </a:r>
                      <a:r>
                        <a:rPr lang="en-US" sz="1600">
                          <a:solidFill>
                            <a:schemeClr val="bg1"/>
                          </a:solidFill>
                        </a:rPr>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solidFill>
                            <a:schemeClr val="bg1"/>
                          </a:solidFill>
                        </a:rPr>
                        <a:t>紧迫性 </a:t>
                      </a:r>
                      <a:r>
                        <a:rPr lang="en-US" sz="1600">
                          <a:solidFill>
                            <a:schemeClr val="bg1"/>
                          </a:solidFill>
                        </a:rPr>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zh-CN" altLang="en-US"/>
              <a:t>干系人</a:t>
            </a:r>
          </a:p>
        </p:txBody>
      </p:sp>
      <p:sp>
        <p:nvSpPr>
          <p:cNvPr id="7" name="内容占位符 6">
            <a:extLst>
              <a:ext uri="{FF2B5EF4-FFF2-40B4-BE49-F238E27FC236}">
                <a16:creationId xmlns:a16="http://schemas.microsoft.com/office/drawing/2014/main" id="{49D20EC9-7695-DAC8-C504-5A1C69830A1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77755874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solidFill>
                            <a:schemeClr val="bg1"/>
                          </a:solidFill>
                        </a:rPr>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solidFill>
                            <a:schemeClr val="bg1"/>
                          </a:solidFill>
                        </a:rPr>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solidFill>
                            <a:schemeClr val="bg1"/>
                          </a:solidFill>
                        </a:rPr>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solidFill>
                            <a:schemeClr val="bg1"/>
                          </a:solidFill>
                        </a:rPr>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solidFill>
                            <a:schemeClr val="bg1"/>
                          </a:solidFill>
                        </a:rPr>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solidFill>
                            <a:schemeClr val="bg1"/>
                          </a:solidFill>
                        </a:rPr>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solidFill>
                            <a:schemeClr val="bg1"/>
                          </a:solidFill>
                        </a:rPr>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a:t>干系人 </a:t>
            </a:r>
            <a:r>
              <a:rPr lang="en-US" altLang="zh-CN"/>
              <a:t>Stakeholders</a:t>
            </a:r>
            <a:endParaRPr lang="zh-CN" altLang="en-US"/>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a:t>利益方格 </a:t>
            </a:r>
            <a:r>
              <a:rPr lang="en-US" altLang="zh-CN"/>
              <a:t>Power/Interest Grid</a:t>
            </a:r>
          </a:p>
          <a:p>
            <a:pPr lvl="1"/>
            <a:r>
              <a:rPr lang="en-US" altLang="zh-CN"/>
              <a:t>Manage closely</a:t>
            </a:r>
            <a:endParaRPr lang="zh-CN" altLang="en-US"/>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939707391"/>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a:solidFill>
                            <a:schemeClr val="bg1"/>
                          </a:solidFill>
                        </a:rPr>
                        <a:t>权力 </a:t>
                      </a:r>
                      <a:r>
                        <a:rPr lang="en-US">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利益 </a:t>
                      </a:r>
                      <a:r>
                        <a:rPr lang="en-US">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9978989"/>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重点管理 </a:t>
                      </a:r>
                      <a:r>
                        <a:rPr lang="en-US">
                          <a:solidFill>
                            <a:schemeClr val="bg1"/>
                          </a:solidFill>
                        </a:rPr>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监督 </a:t>
                      </a:r>
                      <a:r>
                        <a:rPr lang="en-US">
                          <a:solidFill>
                            <a:schemeClr val="bg1"/>
                          </a:solidFill>
                        </a:rPr>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随时告知 </a:t>
                      </a:r>
                      <a:r>
                        <a:rPr lang="en-US">
                          <a:solidFill>
                            <a:schemeClr val="bg1"/>
                          </a:solidFill>
                        </a:rPr>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令其满意 </a:t>
                      </a:r>
                      <a:r>
                        <a:rPr lang="en-US">
                          <a:solidFill>
                            <a:schemeClr val="bg1"/>
                          </a:solidFill>
                        </a:rPr>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278857"/>
            <a:ext cx="4424219" cy="2300287"/>
          </a:xfrm>
        </p:spPr>
        <p:txBody>
          <a:bodyPr/>
          <a:lstStyle/>
          <a:p>
            <a:r>
              <a:rPr lang="zh-CN" altLang="en-US"/>
              <a:t>类型</a:t>
            </a:r>
            <a:endParaRPr lang="en-US" altLang="zh-CN"/>
          </a:p>
          <a:p>
            <a:r>
              <a:rPr lang="en-US" altLang="zh-CN"/>
              <a:t>3</a:t>
            </a:r>
            <a:r>
              <a:rPr lang="zh-CN" altLang="en-US"/>
              <a:t>要素</a:t>
            </a:r>
            <a:endParaRPr lang="en-US" altLang="zh-CN"/>
          </a:p>
          <a:p>
            <a:r>
              <a:rPr lang="en-US" altLang="zh-CN"/>
              <a:t>4</a:t>
            </a:r>
            <a:r>
              <a:rPr lang="zh-CN" altLang="en-US"/>
              <a:t>过程</a:t>
            </a:r>
          </a:p>
        </p:txBody>
      </p:sp>
    </p:spTree>
    <p:extLst>
      <p:ext uri="{BB962C8B-B14F-4D97-AF65-F5344CB8AC3E}">
        <p14:creationId xmlns:p14="http://schemas.microsoft.com/office/powerpoint/2010/main" val="72748645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a:t>风险</a:t>
            </a:r>
            <a:r>
              <a:rPr lang="en-US" altLang="zh-CN"/>
              <a:t>3</a:t>
            </a:r>
            <a:r>
              <a:rPr lang="zh-CN" altLang="en-US"/>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a:t>风险</a:t>
            </a:r>
            <a:r>
              <a:rPr lang="en-US" altLang="zh-CN"/>
              <a:t>4</a:t>
            </a:r>
            <a:r>
              <a:rPr lang="zh-CN" altLang="en-US"/>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958351577"/>
              </p:ext>
            </p:extLst>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8355106"/>
                  </a:ext>
                </a:extLst>
              </a:tr>
              <a:tr h="0">
                <a:tc>
                  <a:txBody>
                    <a:bodyPr/>
                    <a:lstStyle/>
                    <a:p>
                      <a:pPr>
                        <a:buNone/>
                      </a:pPr>
                      <a:r>
                        <a:rPr lang="en-US">
                          <a:solidFill>
                            <a:schemeClr val="bg1"/>
                          </a:solidFill>
                        </a:rPr>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Strengths（</a:t>
                      </a:r>
                      <a:r>
                        <a:rPr lang="zh-CN" altLang="en-US">
                          <a:solidFill>
                            <a:schemeClr val="bg1"/>
                          </a:solidFill>
                        </a:rPr>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a:solidFill>
                            <a:schemeClr val="bg1"/>
                          </a:solidFill>
                        </a:rPr>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Weaknesses（</a:t>
                      </a:r>
                      <a:r>
                        <a:rPr lang="zh-CN" altLang="en-US">
                          <a:solidFill>
                            <a:schemeClr val="bg1"/>
                          </a:solidFill>
                        </a:rPr>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a:solidFill>
                            <a:schemeClr val="bg1"/>
                          </a:solidFill>
                        </a:rPr>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Opportunities（</a:t>
                      </a:r>
                      <a:r>
                        <a:rPr lang="zh-CN" altLang="en-US">
                          <a:solidFill>
                            <a:schemeClr val="bg1"/>
                          </a:solidFill>
                        </a:rPr>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a:solidFill>
                            <a:schemeClr val="bg1"/>
                          </a:solidFill>
                        </a:rPr>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Threats（</a:t>
                      </a:r>
                      <a:r>
                        <a:rPr lang="zh-CN" altLang="en-US">
                          <a:solidFill>
                            <a:schemeClr val="bg1"/>
                          </a:solidFill>
                        </a:rPr>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278857"/>
            <a:ext cx="4424219" cy="2300287"/>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1411665114"/>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a:solidFill>
                            <a:schemeClr val="bg1"/>
                          </a:solidFill>
                        </a:rPr>
                        <a:t>总价合同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a:solidFill>
                            <a:schemeClr val="bg1"/>
                          </a:solidFill>
                        </a:rPr>
                        <a:t>成本补偿合同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支付实际成本</a:t>
                      </a:r>
                      <a:r>
                        <a:rPr lang="en-US" altLang="zh-CN">
                          <a:solidFill>
                            <a:schemeClr val="bg1"/>
                          </a:solidFill>
                        </a:rPr>
                        <a:t>+</a:t>
                      </a:r>
                      <a:r>
                        <a:rPr lang="zh-CN" altLang="en-US">
                          <a:solidFill>
                            <a:schemeClr val="bg1"/>
                          </a:solidFill>
                        </a:rPr>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a:solidFill>
                            <a:schemeClr val="bg1"/>
                          </a:solidFill>
                        </a:rPr>
                        <a:t>工料合同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a:solidFill>
                            <a:schemeClr val="bg1"/>
                          </a:solidFill>
                        </a:rPr>
                        <a:t>采购单合同 </a:t>
                      </a:r>
                      <a:r>
                        <a:rPr lang="en-US">
                          <a:solidFill>
                            <a:schemeClr val="bg1"/>
                          </a:solidFill>
                        </a:rPr>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简单采购订单，用于一次性商品</a:t>
                      </a:r>
                      <a:r>
                        <a:rPr lang="en-US" altLang="zh-CN">
                          <a:solidFill>
                            <a:schemeClr val="bg1"/>
                          </a:solidFill>
                        </a:rPr>
                        <a:t>/</a:t>
                      </a:r>
                      <a:r>
                        <a:rPr lang="zh-CN" altLang="en-US">
                          <a:solidFill>
                            <a:schemeClr val="bg1"/>
                          </a:solidFill>
                        </a:rPr>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3DC2B38E-C50C-E802-C257-B724B944AB8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46D5E1D2-1925-5ACB-4C8E-D0A4DED3B5E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52BBC8EB-E652-22DE-9621-B0A1FD6CB1FB}"/>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10" name="文本占位符 9">
            <a:extLst>
              <a:ext uri="{FF2B5EF4-FFF2-40B4-BE49-F238E27FC236}">
                <a16:creationId xmlns:a16="http://schemas.microsoft.com/office/drawing/2014/main" id="{844D0099-3093-D1AA-9C64-D19FF4E68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23" name="内容占位符 22">
            <a:extLst>
              <a:ext uri="{FF2B5EF4-FFF2-40B4-BE49-F238E27FC236}">
                <a16:creationId xmlns:a16="http://schemas.microsoft.com/office/drawing/2014/main" id="{01496836-6604-07B3-4682-7CFB1C11BAF8}"/>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a:solidFill>
                  <a:schemeClr val="bg1"/>
                </a:solidFill>
              </a:rPr>
              <a:t>The tasks</a:t>
            </a:r>
          </a:p>
          <a:p>
            <a:r>
              <a:rPr lang="en-US" altLang="zh-CN">
                <a:solidFill>
                  <a:schemeClr val="bg1"/>
                </a:solidFill>
              </a:rPr>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solidFill>
                  <a:schemeClr val="bg1"/>
                </a:solidFill>
              </a:rPr>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solidFill>
                  <a:schemeClr val="bg1"/>
                </a:solidFill>
              </a:rPr>
              <a:t>The schedule</a:t>
            </a:r>
          </a:p>
          <a:p>
            <a:r>
              <a:rPr lang="en-US" altLang="zh-CN">
                <a:solidFill>
                  <a:schemeClr val="bg1"/>
                </a:solidFill>
              </a:rPr>
              <a:t>for the project to reach completion</a:t>
            </a:r>
            <a:endParaRPr lang="zh-CN" altLang="en-US">
              <a:solidFill>
                <a:schemeClr val="bg1"/>
              </a:solidFill>
            </a:endParaRPr>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278857"/>
            <a:ext cx="4424219" cy="2300287"/>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58F83B6B-FE72-5203-7BAE-986DE035AE0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477B985-73BD-5090-5F5E-573F20709A7F}"/>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05B514E-8462-085C-9F5A-F215DE5F33F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12C06C3B-F478-29D5-A343-E5DCC93727CD}"/>
              </a:ext>
            </a:extLst>
          </p:cNvPr>
          <p:cNvSpPr/>
          <p:nvPr/>
        </p:nvSpPr>
        <p:spPr>
          <a:xfrm>
            <a:off x="7632755"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8163AD3A-D079-198F-692B-8805A0754FAC}"/>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1126563F-EFBA-A44C-E0C4-EAD0F44A6A7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AE1CD4FB-43F9-0858-CCF6-C8225CF43C09}"/>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A720C152-7020-08D1-6031-68F39909928B}"/>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EAA668BC-18F2-4086-918C-5E40FC72A9A9}"/>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06620C-95F6-C506-A0EC-C39B4D4FFC3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C394A6D5-F639-D1D9-5BC4-C2428725B8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C519C489-6589-4E62-66EF-DEE216A0E236}"/>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795F63D4-ACB5-4A39-FF43-A7DB5A961D6D}"/>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1942087867"/>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65BE9A37-4E79-9CFF-2BCB-9B2D997C786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a:t>验收测试</a:t>
            </a:r>
            <a:endParaRPr lang="en-US" altLang="zh-CN"/>
          </a:p>
          <a:p>
            <a:r>
              <a:rPr lang="zh-CN" altLang="en-US"/>
              <a:t>系统试运行</a:t>
            </a:r>
            <a:endParaRPr lang="en-US" altLang="zh-CN"/>
          </a:p>
          <a:p>
            <a:r>
              <a:rPr lang="zh-CN" altLang="en-US"/>
              <a:t>文档验收</a:t>
            </a:r>
            <a:endParaRPr lang="en-US" altLang="zh-CN"/>
          </a:p>
          <a:p>
            <a:r>
              <a:rPr lang="zh-CN" altLang="en-US"/>
              <a:t>项目终验</a:t>
            </a:r>
          </a:p>
        </p:txBody>
      </p:sp>
      <p:sp>
        <p:nvSpPr>
          <p:cNvPr id="8" name="文本占位符 7">
            <a:extLst>
              <a:ext uri="{FF2B5EF4-FFF2-40B4-BE49-F238E27FC236}">
                <a16:creationId xmlns:a16="http://schemas.microsoft.com/office/drawing/2014/main" id="{95EC2E53-CE46-684E-9B10-860026A56E50}"/>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7" name="文本占位符 6">
            <a:extLst>
              <a:ext uri="{FF2B5EF4-FFF2-40B4-BE49-F238E27FC236}">
                <a16:creationId xmlns:a16="http://schemas.microsoft.com/office/drawing/2014/main" id="{B4164C2E-4A63-A045-248F-F84271FA76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a:t>目标评价</a:t>
            </a:r>
            <a:endParaRPr lang="en-US" altLang="zh-CN"/>
          </a:p>
          <a:p>
            <a:r>
              <a:rPr lang="zh-CN" altLang="en-US"/>
              <a:t>过程评价</a:t>
            </a:r>
            <a:endParaRPr lang="en-US" altLang="zh-CN"/>
          </a:p>
          <a:p>
            <a:r>
              <a:rPr lang="zh-CN" altLang="en-US"/>
              <a:t>效益评价</a:t>
            </a:r>
            <a:endParaRPr lang="en-US" altLang="zh-CN"/>
          </a:p>
          <a:p>
            <a:r>
              <a:rPr lang="zh-CN" altLang="en-US"/>
              <a:t>可持续评价</a:t>
            </a:r>
          </a:p>
        </p:txBody>
      </p:sp>
      <p:sp>
        <p:nvSpPr>
          <p:cNvPr id="8" name="文本占位符 7">
            <a:extLst>
              <a:ext uri="{FF2B5EF4-FFF2-40B4-BE49-F238E27FC236}">
                <a16:creationId xmlns:a16="http://schemas.microsoft.com/office/drawing/2014/main" id="{62DA4E9F-7F7A-FF5C-9A82-95E064AE3A7A}"/>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4C483833-AECE-61E3-14A7-275000C6FD1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流程图: 过程 4">
            <a:extLst>
              <a:ext uri="{FF2B5EF4-FFF2-40B4-BE49-F238E27FC236}">
                <a16:creationId xmlns:a16="http://schemas.microsoft.com/office/drawing/2014/main" id="{711AF794-8997-73F5-F137-0DBA3A11B5B3}"/>
              </a:ext>
            </a:extLst>
          </p:cNvPr>
          <p:cNvSpPr/>
          <p:nvPr/>
        </p:nvSpPr>
        <p:spPr>
          <a:xfrm>
            <a:off x="279749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班长</a:t>
            </a:r>
          </a:p>
        </p:txBody>
      </p:sp>
      <p:sp>
        <p:nvSpPr>
          <p:cNvPr id="6" name="流程图: 决策 5">
            <a:extLst>
              <a:ext uri="{FF2B5EF4-FFF2-40B4-BE49-F238E27FC236}">
                <a16:creationId xmlns:a16="http://schemas.microsoft.com/office/drawing/2014/main" id="{2474CCD6-A8B2-2E08-96D2-E8205FAAC43C}"/>
              </a:ext>
            </a:extLst>
          </p:cNvPr>
          <p:cNvSpPr/>
          <p:nvPr/>
        </p:nvSpPr>
        <p:spPr>
          <a:xfrm>
            <a:off x="5427406" y="1243954"/>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管理</a:t>
            </a:r>
          </a:p>
        </p:txBody>
      </p:sp>
      <p:sp>
        <p:nvSpPr>
          <p:cNvPr id="7" name="流程图: 过程 6">
            <a:extLst>
              <a:ext uri="{FF2B5EF4-FFF2-40B4-BE49-F238E27FC236}">
                <a16:creationId xmlns:a16="http://schemas.microsoft.com/office/drawing/2014/main" id="{DC86A98D-933E-4E8C-59D0-4F6BB890CD7A}"/>
              </a:ext>
            </a:extLst>
          </p:cNvPr>
          <p:cNvSpPr/>
          <p:nvPr/>
        </p:nvSpPr>
        <p:spPr>
          <a:xfrm>
            <a:off x="795451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9" name="直接连接符 8">
            <a:extLst>
              <a:ext uri="{FF2B5EF4-FFF2-40B4-BE49-F238E27FC236}">
                <a16:creationId xmlns:a16="http://schemas.microsoft.com/office/drawing/2014/main" id="{FCF6E865-B8F2-BF32-CE2E-98CFD0BA0EEB}"/>
              </a:ext>
            </a:extLst>
          </p:cNvPr>
          <p:cNvCxnSpPr>
            <a:stCxn id="5" idx="3"/>
            <a:endCxn id="6" idx="1"/>
          </p:cNvCxnSpPr>
          <p:nvPr/>
        </p:nvCxnSpPr>
        <p:spPr>
          <a:xfrm>
            <a:off x="4237490" y="1504509"/>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46E59816-0C97-70F1-77A6-C11109760264}"/>
              </a:ext>
            </a:extLst>
          </p:cNvPr>
          <p:cNvCxnSpPr>
            <a:stCxn id="6" idx="3"/>
            <a:endCxn id="7" idx="1"/>
          </p:cNvCxnSpPr>
          <p:nvPr/>
        </p:nvCxnSpPr>
        <p:spPr>
          <a:xfrm>
            <a:off x="6764593" y="1504509"/>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4" name="流程图: 过程 13">
            <a:extLst>
              <a:ext uri="{FF2B5EF4-FFF2-40B4-BE49-F238E27FC236}">
                <a16:creationId xmlns:a16="http://schemas.microsoft.com/office/drawing/2014/main" id="{3F7BF616-DD80-A42D-A7A5-6AE0EF3BC7B6}"/>
              </a:ext>
            </a:extLst>
          </p:cNvPr>
          <p:cNvSpPr/>
          <p:nvPr/>
        </p:nvSpPr>
        <p:spPr>
          <a:xfrm>
            <a:off x="279749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老师</a:t>
            </a:r>
          </a:p>
        </p:txBody>
      </p:sp>
      <p:sp>
        <p:nvSpPr>
          <p:cNvPr id="15" name="流程图: 决策 14">
            <a:extLst>
              <a:ext uri="{FF2B5EF4-FFF2-40B4-BE49-F238E27FC236}">
                <a16:creationId xmlns:a16="http://schemas.microsoft.com/office/drawing/2014/main" id="{39A3FD63-E50D-0000-128E-4D642D08EC47}"/>
              </a:ext>
            </a:extLst>
          </p:cNvPr>
          <p:cNvSpPr/>
          <p:nvPr/>
        </p:nvSpPr>
        <p:spPr>
          <a:xfrm>
            <a:off x="5427406" y="3746265"/>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讲授</a:t>
            </a:r>
          </a:p>
        </p:txBody>
      </p:sp>
      <p:sp>
        <p:nvSpPr>
          <p:cNvPr id="16" name="流程图: 过程 15">
            <a:extLst>
              <a:ext uri="{FF2B5EF4-FFF2-40B4-BE49-F238E27FC236}">
                <a16:creationId xmlns:a16="http://schemas.microsoft.com/office/drawing/2014/main" id="{864929D1-7A8E-05B6-2E91-3F5F41227CFE}"/>
              </a:ext>
            </a:extLst>
          </p:cNvPr>
          <p:cNvSpPr/>
          <p:nvPr/>
        </p:nvSpPr>
        <p:spPr>
          <a:xfrm>
            <a:off x="795451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专业课程</a:t>
            </a:r>
          </a:p>
        </p:txBody>
      </p:sp>
      <p:cxnSp>
        <p:nvCxnSpPr>
          <p:cNvPr id="17" name="直接连接符 16">
            <a:extLst>
              <a:ext uri="{FF2B5EF4-FFF2-40B4-BE49-F238E27FC236}">
                <a16:creationId xmlns:a16="http://schemas.microsoft.com/office/drawing/2014/main" id="{EB2C6006-7D2A-2B9A-8EF1-C9DB1C555D09}"/>
              </a:ext>
            </a:extLst>
          </p:cNvPr>
          <p:cNvCxnSpPr>
            <a:stCxn id="14" idx="3"/>
            <a:endCxn id="15" idx="1"/>
          </p:cNvCxnSpPr>
          <p:nvPr/>
        </p:nvCxnSpPr>
        <p:spPr>
          <a:xfrm>
            <a:off x="4237490" y="4006820"/>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A845A51C-93F5-2F8A-8510-2296124BE149}"/>
              </a:ext>
            </a:extLst>
          </p:cNvPr>
          <p:cNvCxnSpPr>
            <a:stCxn id="15" idx="3"/>
            <a:endCxn id="16" idx="1"/>
          </p:cNvCxnSpPr>
          <p:nvPr/>
        </p:nvCxnSpPr>
        <p:spPr>
          <a:xfrm>
            <a:off x="6764593" y="4006820"/>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1" name="流程图: 过程 20">
            <a:extLst>
              <a:ext uri="{FF2B5EF4-FFF2-40B4-BE49-F238E27FC236}">
                <a16:creationId xmlns:a16="http://schemas.microsoft.com/office/drawing/2014/main" id="{0B917CBC-5656-C6CE-701D-3ED87AC4E32F}"/>
              </a:ext>
            </a:extLst>
          </p:cNvPr>
          <p:cNvSpPr/>
          <p:nvPr/>
        </p:nvSpPr>
        <p:spPr>
          <a:xfrm>
            <a:off x="279749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2" name="流程图: 决策 21">
            <a:extLst>
              <a:ext uri="{FF2B5EF4-FFF2-40B4-BE49-F238E27FC236}">
                <a16:creationId xmlns:a16="http://schemas.microsoft.com/office/drawing/2014/main" id="{B4590885-FF8A-1993-C8F6-C1C66A20ACD8}"/>
              </a:ext>
            </a:extLst>
          </p:cNvPr>
          <p:cNvSpPr/>
          <p:nvPr/>
        </p:nvSpPr>
        <p:spPr>
          <a:xfrm>
            <a:off x="5427406" y="5243520"/>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a:t>
            </a:r>
          </a:p>
        </p:txBody>
      </p:sp>
      <p:sp>
        <p:nvSpPr>
          <p:cNvPr id="23" name="流程图: 过程 22">
            <a:extLst>
              <a:ext uri="{FF2B5EF4-FFF2-40B4-BE49-F238E27FC236}">
                <a16:creationId xmlns:a16="http://schemas.microsoft.com/office/drawing/2014/main" id="{D773FBA3-C22D-0086-2AD6-0EDDF310284D}"/>
              </a:ext>
            </a:extLst>
          </p:cNvPr>
          <p:cNvSpPr/>
          <p:nvPr/>
        </p:nvSpPr>
        <p:spPr>
          <a:xfrm>
            <a:off x="795451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选修课程</a:t>
            </a:r>
          </a:p>
        </p:txBody>
      </p:sp>
      <p:cxnSp>
        <p:nvCxnSpPr>
          <p:cNvPr id="24" name="直接连接符 23">
            <a:extLst>
              <a:ext uri="{FF2B5EF4-FFF2-40B4-BE49-F238E27FC236}">
                <a16:creationId xmlns:a16="http://schemas.microsoft.com/office/drawing/2014/main" id="{E89E8253-AFF8-F8F0-C4B6-67A4A2994E6C}"/>
              </a:ext>
            </a:extLst>
          </p:cNvPr>
          <p:cNvCxnSpPr>
            <a:stCxn id="21" idx="3"/>
            <a:endCxn id="22" idx="1"/>
          </p:cNvCxnSpPr>
          <p:nvPr/>
        </p:nvCxnSpPr>
        <p:spPr>
          <a:xfrm>
            <a:off x="4237490" y="5504075"/>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1545D277-9CB1-45C1-B154-D83C01483AD8}"/>
              </a:ext>
            </a:extLst>
          </p:cNvPr>
          <p:cNvCxnSpPr>
            <a:cxnSpLocks/>
            <a:stCxn id="22" idx="3"/>
            <a:endCxn id="23" idx="1"/>
          </p:cNvCxnSpPr>
          <p:nvPr/>
        </p:nvCxnSpPr>
        <p:spPr>
          <a:xfrm>
            <a:off x="6764593" y="5504075"/>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8" name="流程图: 过程 27">
            <a:extLst>
              <a:ext uri="{FF2B5EF4-FFF2-40B4-BE49-F238E27FC236}">
                <a16:creationId xmlns:a16="http://schemas.microsoft.com/office/drawing/2014/main" id="{105A4B9A-D769-209F-D02E-68EBB991CCA4}"/>
              </a:ext>
            </a:extLst>
          </p:cNvPr>
          <p:cNvSpPr/>
          <p:nvPr/>
        </p:nvSpPr>
        <p:spPr>
          <a:xfrm>
            <a:off x="279749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9" name="流程图: 决策 28">
            <a:extLst>
              <a:ext uri="{FF2B5EF4-FFF2-40B4-BE49-F238E27FC236}">
                <a16:creationId xmlns:a16="http://schemas.microsoft.com/office/drawing/2014/main" id="{15D4D2FE-EAF6-9192-662E-3D683202333F}"/>
              </a:ext>
            </a:extLst>
          </p:cNvPr>
          <p:cNvSpPr/>
          <p:nvPr/>
        </p:nvSpPr>
        <p:spPr>
          <a:xfrm>
            <a:off x="5427406" y="2332237"/>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属于</a:t>
            </a:r>
          </a:p>
        </p:txBody>
      </p:sp>
      <p:sp>
        <p:nvSpPr>
          <p:cNvPr id="30" name="流程图: 过程 29">
            <a:extLst>
              <a:ext uri="{FF2B5EF4-FFF2-40B4-BE49-F238E27FC236}">
                <a16:creationId xmlns:a16="http://schemas.microsoft.com/office/drawing/2014/main" id="{6BF36014-1B37-F75C-239C-06F1A431F52D}"/>
              </a:ext>
            </a:extLst>
          </p:cNvPr>
          <p:cNvSpPr/>
          <p:nvPr/>
        </p:nvSpPr>
        <p:spPr>
          <a:xfrm>
            <a:off x="795451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31" name="直接连接符 30">
            <a:extLst>
              <a:ext uri="{FF2B5EF4-FFF2-40B4-BE49-F238E27FC236}">
                <a16:creationId xmlns:a16="http://schemas.microsoft.com/office/drawing/2014/main" id="{7C92CD4A-4FBB-490F-F80F-C597033DCB94}"/>
              </a:ext>
            </a:extLst>
          </p:cNvPr>
          <p:cNvCxnSpPr>
            <a:stCxn id="28" idx="3"/>
            <a:endCxn id="29" idx="1"/>
          </p:cNvCxnSpPr>
          <p:nvPr/>
        </p:nvCxnSpPr>
        <p:spPr>
          <a:xfrm>
            <a:off x="4237490" y="2592792"/>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ADC58DB-AF99-F4DC-F849-F15FC9ED6872}"/>
              </a:ext>
            </a:extLst>
          </p:cNvPr>
          <p:cNvCxnSpPr>
            <a:stCxn id="29" idx="3"/>
            <a:endCxn id="30" idx="1"/>
          </p:cNvCxnSpPr>
          <p:nvPr/>
        </p:nvCxnSpPr>
        <p:spPr>
          <a:xfrm>
            <a:off x="6764593" y="2592792"/>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6" name="椭圆 35">
            <a:extLst>
              <a:ext uri="{FF2B5EF4-FFF2-40B4-BE49-F238E27FC236}">
                <a16:creationId xmlns:a16="http://schemas.microsoft.com/office/drawing/2014/main" id="{3F7909FB-3E1D-7BC0-54AF-E631BBD1EAE6}"/>
              </a:ext>
            </a:extLst>
          </p:cNvPr>
          <p:cNvSpPr/>
          <p:nvPr/>
        </p:nvSpPr>
        <p:spPr>
          <a:xfrm>
            <a:off x="1568743"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姓名</a:t>
            </a:r>
          </a:p>
        </p:txBody>
      </p:sp>
      <p:sp>
        <p:nvSpPr>
          <p:cNvPr id="37" name="椭圆 36">
            <a:extLst>
              <a:ext uri="{FF2B5EF4-FFF2-40B4-BE49-F238E27FC236}">
                <a16:creationId xmlns:a16="http://schemas.microsoft.com/office/drawing/2014/main" id="{5D91A46A-E30B-023E-3F4E-94313FD93BB7}"/>
              </a:ext>
            </a:extLst>
          </p:cNvPr>
          <p:cNvSpPr/>
          <p:nvPr/>
        </p:nvSpPr>
        <p:spPr>
          <a:xfrm>
            <a:off x="9650362"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a:t>
            </a:r>
          </a:p>
        </p:txBody>
      </p:sp>
      <p:sp>
        <p:nvSpPr>
          <p:cNvPr id="38" name="椭圆 37">
            <a:extLst>
              <a:ext uri="{FF2B5EF4-FFF2-40B4-BE49-F238E27FC236}">
                <a16:creationId xmlns:a16="http://schemas.microsoft.com/office/drawing/2014/main" id="{75D492AB-BC04-DF58-36A9-83BE6FECE81E}"/>
              </a:ext>
            </a:extLst>
          </p:cNvPr>
          <p:cNvSpPr/>
          <p:nvPr/>
        </p:nvSpPr>
        <p:spPr>
          <a:xfrm>
            <a:off x="1568743"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39" name="椭圆 38">
            <a:extLst>
              <a:ext uri="{FF2B5EF4-FFF2-40B4-BE49-F238E27FC236}">
                <a16:creationId xmlns:a16="http://schemas.microsoft.com/office/drawing/2014/main" id="{A63AE5DA-E65E-AE28-86B4-6BED5B46AB30}"/>
              </a:ext>
            </a:extLst>
          </p:cNvPr>
          <p:cNvSpPr/>
          <p:nvPr/>
        </p:nvSpPr>
        <p:spPr>
          <a:xfrm>
            <a:off x="1568743"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院别</a:t>
            </a:r>
          </a:p>
        </p:txBody>
      </p:sp>
      <p:cxnSp>
        <p:nvCxnSpPr>
          <p:cNvPr id="41" name="直接连接符 40">
            <a:extLst>
              <a:ext uri="{FF2B5EF4-FFF2-40B4-BE49-F238E27FC236}">
                <a16:creationId xmlns:a16="http://schemas.microsoft.com/office/drawing/2014/main" id="{7C6EAC5F-F370-24AD-98D3-9D79C3260952}"/>
              </a:ext>
            </a:extLst>
          </p:cNvPr>
          <p:cNvCxnSpPr>
            <a:stCxn id="38" idx="6"/>
            <a:endCxn id="14" idx="0"/>
          </p:cNvCxnSpPr>
          <p:nvPr/>
        </p:nvCxnSpPr>
        <p:spPr>
          <a:xfrm>
            <a:off x="2648743" y="3465736"/>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1ADEE950-9048-E1EA-9374-41E241C369C0}"/>
              </a:ext>
            </a:extLst>
          </p:cNvPr>
          <p:cNvCxnSpPr>
            <a:stCxn id="36" idx="6"/>
            <a:endCxn id="14" idx="1"/>
          </p:cNvCxnSpPr>
          <p:nvPr/>
        </p:nvCxnSpPr>
        <p:spPr>
          <a:xfrm>
            <a:off x="2648743" y="4006820"/>
            <a:ext cx="14874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73C1D36-B4A5-2EBD-2722-7424BA48E021}"/>
              </a:ext>
            </a:extLst>
          </p:cNvPr>
          <p:cNvCxnSpPr>
            <a:stCxn id="39" idx="6"/>
            <a:endCxn id="14" idx="2"/>
          </p:cNvCxnSpPr>
          <p:nvPr/>
        </p:nvCxnSpPr>
        <p:spPr>
          <a:xfrm flipV="1">
            <a:off x="2648743" y="4222820"/>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6" name="椭圆 45">
            <a:extLst>
              <a:ext uri="{FF2B5EF4-FFF2-40B4-BE49-F238E27FC236}">
                <a16:creationId xmlns:a16="http://schemas.microsoft.com/office/drawing/2014/main" id="{EA74C081-6F69-1C97-5F73-6083F83F8FCD}"/>
              </a:ext>
            </a:extLst>
          </p:cNvPr>
          <p:cNvSpPr/>
          <p:nvPr/>
        </p:nvSpPr>
        <p:spPr>
          <a:xfrm>
            <a:off x="9650362"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47" name="椭圆 46">
            <a:extLst>
              <a:ext uri="{FF2B5EF4-FFF2-40B4-BE49-F238E27FC236}">
                <a16:creationId xmlns:a16="http://schemas.microsoft.com/office/drawing/2014/main" id="{5D913AE3-1E94-D977-C225-62B56B616F95}"/>
              </a:ext>
            </a:extLst>
          </p:cNvPr>
          <p:cNvSpPr/>
          <p:nvPr/>
        </p:nvSpPr>
        <p:spPr>
          <a:xfrm>
            <a:off x="9650362"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名称</a:t>
            </a:r>
          </a:p>
        </p:txBody>
      </p:sp>
      <p:cxnSp>
        <p:nvCxnSpPr>
          <p:cNvPr id="49" name="直接连接符 48">
            <a:extLst>
              <a:ext uri="{FF2B5EF4-FFF2-40B4-BE49-F238E27FC236}">
                <a16:creationId xmlns:a16="http://schemas.microsoft.com/office/drawing/2014/main" id="{6A69ACA3-2FC2-39CE-A54D-07FC05A86D4A}"/>
              </a:ext>
            </a:extLst>
          </p:cNvPr>
          <p:cNvCxnSpPr>
            <a:stCxn id="16" idx="0"/>
            <a:endCxn id="46" idx="2"/>
          </p:cNvCxnSpPr>
          <p:nvPr/>
        </p:nvCxnSpPr>
        <p:spPr>
          <a:xfrm flipV="1">
            <a:off x="8674510" y="3465736"/>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9608C30-15ED-65A7-83EE-DCACD8396733}"/>
              </a:ext>
            </a:extLst>
          </p:cNvPr>
          <p:cNvCxnSpPr>
            <a:stCxn id="16" idx="2"/>
            <a:endCxn id="47" idx="2"/>
          </p:cNvCxnSpPr>
          <p:nvPr/>
        </p:nvCxnSpPr>
        <p:spPr>
          <a:xfrm>
            <a:off x="8674510" y="4222820"/>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E97E582-2E54-BCA6-CADD-F934859B5BB3}"/>
              </a:ext>
            </a:extLst>
          </p:cNvPr>
          <p:cNvCxnSpPr>
            <a:stCxn id="16" idx="3"/>
            <a:endCxn id="37" idx="2"/>
          </p:cNvCxnSpPr>
          <p:nvPr/>
        </p:nvCxnSpPr>
        <p:spPr>
          <a:xfrm>
            <a:off x="9394510" y="4006820"/>
            <a:ext cx="255852"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8948E9-CE0B-5E85-EE24-C225C4250989}"/>
              </a:ext>
            </a:extLst>
          </p:cNvPr>
          <p:cNvCxnSpPr>
            <a:cxnSpLocks/>
          </p:cNvCxnSpPr>
          <p:nvPr/>
        </p:nvCxnSpPr>
        <p:spPr>
          <a:xfrm>
            <a:off x="4365246"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63693EA-AC7B-1283-FDA5-69B66A666DB2}"/>
              </a:ext>
            </a:extLst>
          </p:cNvPr>
          <p:cNvCxnSpPr>
            <a:cxnSpLocks/>
          </p:cNvCxnSpPr>
          <p:nvPr/>
        </p:nvCxnSpPr>
        <p:spPr>
          <a:xfrm>
            <a:off x="7840957"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46179360-5A39-68BB-3AA4-66C7B1C0A3D2}"/>
              </a:ext>
            </a:extLst>
          </p:cNvPr>
          <p:cNvCxnSpPr>
            <a:cxnSpLocks/>
          </p:cNvCxnSpPr>
          <p:nvPr/>
        </p:nvCxnSpPr>
        <p:spPr>
          <a:xfrm>
            <a:off x="7840957" y="2484792"/>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11FCCA6A-4519-995E-FB69-B8497CA665B5}"/>
              </a:ext>
            </a:extLst>
          </p:cNvPr>
          <p:cNvCxnSpPr>
            <a:cxnSpLocks/>
          </p:cNvCxnSpPr>
          <p:nvPr/>
        </p:nvCxnSpPr>
        <p:spPr>
          <a:xfrm>
            <a:off x="4365246" y="3898820"/>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nvGrpSpPr>
          <p:cNvPr id="64" name="组合 63">
            <a:extLst>
              <a:ext uri="{FF2B5EF4-FFF2-40B4-BE49-F238E27FC236}">
                <a16:creationId xmlns:a16="http://schemas.microsoft.com/office/drawing/2014/main" id="{0BE58772-5890-7A21-EC35-94BCEC5ABEE6}"/>
              </a:ext>
            </a:extLst>
          </p:cNvPr>
          <p:cNvGrpSpPr/>
          <p:nvPr/>
        </p:nvGrpSpPr>
        <p:grpSpPr>
          <a:xfrm flipH="1">
            <a:off x="4227816" y="2538792"/>
            <a:ext cx="216000" cy="108000"/>
            <a:chOff x="4537527" y="2224237"/>
            <a:chExt cx="216000" cy="108000"/>
          </a:xfrm>
        </p:grpSpPr>
        <p:cxnSp>
          <p:nvCxnSpPr>
            <p:cNvPr id="60" name="直接连接符 59">
              <a:extLst>
                <a:ext uri="{FF2B5EF4-FFF2-40B4-BE49-F238E27FC236}">
                  <a16:creationId xmlns:a16="http://schemas.microsoft.com/office/drawing/2014/main" id="{5E8208A1-0676-7B61-C49B-A8C5249F77E1}"/>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A5350DC-F359-5C9C-7B59-AE0D3141774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EC57A04A-7C1E-00A4-9394-28540AA5E8BC}"/>
              </a:ext>
            </a:extLst>
          </p:cNvPr>
          <p:cNvGrpSpPr/>
          <p:nvPr/>
        </p:nvGrpSpPr>
        <p:grpSpPr>
          <a:xfrm>
            <a:off x="7733021" y="3952820"/>
            <a:ext cx="216000" cy="108000"/>
            <a:chOff x="4537527" y="2224237"/>
            <a:chExt cx="216000" cy="108000"/>
          </a:xfrm>
        </p:grpSpPr>
        <p:cxnSp>
          <p:nvCxnSpPr>
            <p:cNvPr id="66" name="直接连接符 65">
              <a:extLst>
                <a:ext uri="{FF2B5EF4-FFF2-40B4-BE49-F238E27FC236}">
                  <a16:creationId xmlns:a16="http://schemas.microsoft.com/office/drawing/2014/main" id="{0BEF07E5-A391-1424-862A-D3B3510EDFD7}"/>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CCCB968-2D33-AFDC-E6A7-6FB902D140C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8" name="组合 67">
            <a:extLst>
              <a:ext uri="{FF2B5EF4-FFF2-40B4-BE49-F238E27FC236}">
                <a16:creationId xmlns:a16="http://schemas.microsoft.com/office/drawing/2014/main" id="{18E35633-1C98-4862-C2B9-F2EE3599883C}"/>
              </a:ext>
            </a:extLst>
          </p:cNvPr>
          <p:cNvGrpSpPr/>
          <p:nvPr/>
        </p:nvGrpSpPr>
        <p:grpSpPr>
          <a:xfrm flipH="1">
            <a:off x="4227816" y="5450075"/>
            <a:ext cx="216000" cy="108000"/>
            <a:chOff x="4537527" y="2224237"/>
            <a:chExt cx="216000" cy="108000"/>
          </a:xfrm>
        </p:grpSpPr>
        <p:cxnSp>
          <p:nvCxnSpPr>
            <p:cNvPr id="69" name="直接连接符 68">
              <a:extLst>
                <a:ext uri="{FF2B5EF4-FFF2-40B4-BE49-F238E27FC236}">
                  <a16:creationId xmlns:a16="http://schemas.microsoft.com/office/drawing/2014/main" id="{24395E11-B4E8-6EDE-0A2B-3A62E53EBE05}"/>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B731F3E6-574A-FCA8-26D8-C884C75C3924}"/>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71" name="组合 70">
            <a:extLst>
              <a:ext uri="{FF2B5EF4-FFF2-40B4-BE49-F238E27FC236}">
                <a16:creationId xmlns:a16="http://schemas.microsoft.com/office/drawing/2014/main" id="{0B75926B-6B7A-A236-9211-6B2B9D59B18F}"/>
              </a:ext>
            </a:extLst>
          </p:cNvPr>
          <p:cNvGrpSpPr/>
          <p:nvPr/>
        </p:nvGrpSpPr>
        <p:grpSpPr>
          <a:xfrm>
            <a:off x="7733021" y="5450075"/>
            <a:ext cx="216000" cy="108000"/>
            <a:chOff x="4537527" y="2224237"/>
            <a:chExt cx="216000" cy="108000"/>
          </a:xfrm>
        </p:grpSpPr>
        <p:cxnSp>
          <p:nvCxnSpPr>
            <p:cNvPr id="72" name="直接连接符 71">
              <a:extLst>
                <a:ext uri="{FF2B5EF4-FFF2-40B4-BE49-F238E27FC236}">
                  <a16:creationId xmlns:a16="http://schemas.microsoft.com/office/drawing/2014/main" id="{A9AA9D4C-773E-B564-E7C7-55E4CDF728A9}"/>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C3A92E97-620F-E690-6B15-29993AB0E33C}"/>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sp useBgFill="1">
        <p:nvSpPr>
          <p:cNvPr id="75" name="椭圆 74">
            <a:extLst>
              <a:ext uri="{FF2B5EF4-FFF2-40B4-BE49-F238E27FC236}">
                <a16:creationId xmlns:a16="http://schemas.microsoft.com/office/drawing/2014/main" id="{DB9DE025-899F-773B-C703-CCA29567D2B3}"/>
              </a:ext>
            </a:extLst>
          </p:cNvPr>
          <p:cNvSpPr/>
          <p:nvPr/>
        </p:nvSpPr>
        <p:spPr>
          <a:xfrm>
            <a:off x="4429347" y="5450075"/>
            <a:ext cx="108000" cy="108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399479113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sz="1400"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25715</TotalTime>
  <Words>25636</Words>
  <Application>Microsoft Office PowerPoint</Application>
  <PresentationFormat>宽屏</PresentationFormat>
  <Paragraphs>4194</Paragraphs>
  <Slides>290</Slides>
  <Notes>114</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290</vt:i4>
      </vt:variant>
    </vt:vector>
  </HeadingPairs>
  <TitlesOfParts>
    <vt:vector size="299" baseType="lpstr">
      <vt:lpstr>Arial</vt:lpstr>
      <vt:lpstr>等线</vt:lpstr>
      <vt:lpstr>Roboto Mono</vt:lpstr>
      <vt:lpstr>微软雅黑 Light</vt:lpstr>
      <vt:lpstr>Courier New</vt:lpstr>
      <vt:lpstr>Montserrat</vt:lpstr>
      <vt:lpstr>Cambria Math</vt:lpstr>
      <vt:lpstr>Wingdings</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软件项目进度计划</vt:lpstr>
      <vt:lpstr>PowerPoint 演示文稿</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演示文稿</vt:lpstr>
      <vt:lpstr>PowerPoint 演示文稿</vt:lpstr>
      <vt:lpstr>资源优化</vt:lpstr>
      <vt:lpstr>资源压缩</vt:lpstr>
      <vt:lpstr>7. 进度控制</vt:lpstr>
      <vt:lpstr>PowerPoint 演示文稿</vt:lpstr>
      <vt:lpstr>软件项目质量计划</vt:lpstr>
      <vt:lpstr>PowerPoint 演示文稿</vt:lpstr>
      <vt:lpstr>六大质量特性 Quality Characteristics</vt:lpstr>
      <vt:lpstr>可靠性 Reliability</vt:lpstr>
      <vt:lpstr>PowerPoint 演示文稿</vt:lpstr>
      <vt:lpstr>质量管理</vt:lpstr>
      <vt:lpstr>七大质量管理工具</vt:lpstr>
      <vt:lpstr>软件配置管理计划</vt:lpstr>
      <vt:lpstr>PowerPoint 演示文稿</vt:lpstr>
      <vt:lpstr>PowerPoint 演示文稿</vt:lpstr>
      <vt:lpstr>PowerPoint 演示文稿</vt:lpstr>
      <vt:lpstr>软件配置管理</vt:lpstr>
      <vt:lpstr>原因</vt:lpstr>
      <vt:lpstr>PowerPoint 演示文稿</vt:lpstr>
      <vt:lpstr>概念</vt:lpstr>
      <vt:lpstr>六个活动</vt:lpstr>
      <vt:lpstr>项目变更</vt:lpstr>
      <vt:lpstr>变更控制委员会</vt:lpstr>
      <vt:lpstr>PowerPoint 演示文稿</vt:lpstr>
      <vt:lpstr>配置管理系统</vt:lpstr>
      <vt:lpstr>配置项版本管理</vt:lpstr>
      <vt:lpstr>配置库</vt:lpstr>
      <vt:lpstr>发布管理和交付</vt:lpstr>
      <vt:lpstr>软件项目团队计划</vt:lpstr>
      <vt:lpstr>PowerPoint 演示文稿</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vt:lpstr>
      <vt:lpstr>干系人管理</vt:lpstr>
      <vt:lpstr>凸显模型</vt:lpstr>
      <vt:lpstr>干系人</vt:lpstr>
      <vt:lpstr>干系人 Stakeholders</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1926</cp:revision>
  <dcterms:created xsi:type="dcterms:W3CDTF">2026-01-24T11:12:04Z</dcterms:created>
  <dcterms:modified xsi:type="dcterms:W3CDTF">2026-03-30T01:39:52Z</dcterms:modified>
</cp:coreProperties>
</file>