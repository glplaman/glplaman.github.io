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0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77"/>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03" r:id="rId123"/>
    <p:sldId id="602" r:id="rId124"/>
    <p:sldId id="605" r:id="rId125"/>
    <p:sldId id="619" r:id="rId126"/>
    <p:sldId id="618" r:id="rId127"/>
    <p:sldId id="622" r:id="rId128"/>
    <p:sldId id="620" r:id="rId129"/>
    <p:sldId id="621" r:id="rId130"/>
    <p:sldId id="623" r:id="rId131"/>
    <p:sldId id="606" r:id="rId132"/>
    <p:sldId id="607" r:id="rId133"/>
    <p:sldId id="628" r:id="rId134"/>
    <p:sldId id="627" r:id="rId135"/>
    <p:sldId id="610" r:id="rId136"/>
    <p:sldId id="634" r:id="rId137"/>
    <p:sldId id="631" r:id="rId138"/>
    <p:sldId id="632" r:id="rId139"/>
    <p:sldId id="612" r:id="rId140"/>
    <p:sldId id="613" r:id="rId141"/>
    <p:sldId id="617" r:id="rId142"/>
    <p:sldId id="633" r:id="rId143"/>
    <p:sldId id="614" r:id="rId144"/>
    <p:sldId id="635" r:id="rId145"/>
    <p:sldId id="629" r:id="rId146"/>
    <p:sldId id="630" r:id="rId147"/>
    <p:sldId id="615" r:id="rId148"/>
    <p:sldId id="616" r:id="rId149"/>
    <p:sldId id="638" r:id="rId150"/>
    <p:sldId id="637" r:id="rId151"/>
    <p:sldId id="636" r:id="rId152"/>
    <p:sldId id="299" r:id="rId153"/>
    <p:sldId id="300" r:id="rId154"/>
    <p:sldId id="301" r:id="rId155"/>
    <p:sldId id="294" r:id="rId156"/>
    <p:sldId id="569" r:id="rId157"/>
    <p:sldId id="571" r:id="rId158"/>
    <p:sldId id="570" r:id="rId159"/>
    <p:sldId id="572" r:id="rId160"/>
    <p:sldId id="573" r:id="rId161"/>
    <p:sldId id="574" r:id="rId162"/>
    <p:sldId id="575" r:id="rId163"/>
    <p:sldId id="576" r:id="rId164"/>
    <p:sldId id="577" r:id="rId165"/>
    <p:sldId id="579" r:id="rId166"/>
    <p:sldId id="580" r:id="rId167"/>
    <p:sldId id="581" r:id="rId168"/>
    <p:sldId id="445" r:id="rId169"/>
    <p:sldId id="536" r:id="rId170"/>
    <p:sldId id="443" r:id="rId171"/>
    <p:sldId id="446" r:id="rId172"/>
    <p:sldId id="447" r:id="rId173"/>
    <p:sldId id="448" r:id="rId174"/>
    <p:sldId id="449" r:id="rId175"/>
    <p:sldId id="450" r:id="rId176"/>
    <p:sldId id="451" r:id="rId177"/>
    <p:sldId id="274" r:id="rId178"/>
    <p:sldId id="535" r:id="rId179"/>
    <p:sldId id="419" r:id="rId180"/>
    <p:sldId id="420" r:id="rId181"/>
    <p:sldId id="421" r:id="rId182"/>
    <p:sldId id="422" r:id="rId183"/>
    <p:sldId id="424" r:id="rId184"/>
    <p:sldId id="423" r:id="rId185"/>
    <p:sldId id="426" r:id="rId186"/>
    <p:sldId id="267" r:id="rId187"/>
    <p:sldId id="425" r:id="rId188"/>
    <p:sldId id="429" r:id="rId189"/>
    <p:sldId id="428" r:id="rId190"/>
    <p:sldId id="430" r:id="rId191"/>
    <p:sldId id="427" r:id="rId192"/>
    <p:sldId id="440" r:id="rId193"/>
    <p:sldId id="441" r:id="rId194"/>
    <p:sldId id="442" r:id="rId195"/>
    <p:sldId id="436" r:id="rId196"/>
    <p:sldId id="437" r:id="rId197"/>
    <p:sldId id="438" r:id="rId198"/>
    <p:sldId id="439" r:id="rId199"/>
    <p:sldId id="275" r:id="rId200"/>
    <p:sldId id="529" r:id="rId201"/>
    <p:sldId id="433" r:id="rId202"/>
    <p:sldId id="434" r:id="rId203"/>
    <p:sldId id="432" r:id="rId204"/>
    <p:sldId id="452" r:id="rId205"/>
    <p:sldId id="453" r:id="rId206"/>
    <p:sldId id="276" r:id="rId207"/>
    <p:sldId id="525" r:id="rId208"/>
    <p:sldId id="526" r:id="rId209"/>
    <p:sldId id="527" r:id="rId210"/>
    <p:sldId id="467" r:id="rId211"/>
    <p:sldId id="522" r:id="rId212"/>
    <p:sldId id="626" r:id="rId213"/>
    <p:sldId id="524" r:id="rId214"/>
    <p:sldId id="466" r:id="rId215"/>
    <p:sldId id="528" r:id="rId216"/>
    <p:sldId id="625" r:id="rId217"/>
    <p:sldId id="624" r:id="rId218"/>
    <p:sldId id="523" r:id="rId219"/>
    <p:sldId id="468" r:id="rId220"/>
    <p:sldId id="470" r:id="rId221"/>
    <p:sldId id="469" r:id="rId222"/>
    <p:sldId id="277" r:id="rId223"/>
    <p:sldId id="530" r:id="rId224"/>
    <p:sldId id="313" r:id="rId225"/>
    <p:sldId id="454" r:id="rId226"/>
    <p:sldId id="455" r:id="rId227"/>
    <p:sldId id="457" r:id="rId228"/>
    <p:sldId id="458" r:id="rId229"/>
    <p:sldId id="459" r:id="rId230"/>
    <p:sldId id="456" r:id="rId231"/>
    <p:sldId id="475" r:id="rId232"/>
    <p:sldId id="460" r:id="rId233"/>
    <p:sldId id="263" r:id="rId234"/>
    <p:sldId id="264" r:id="rId235"/>
    <p:sldId id="265" r:id="rId236"/>
    <p:sldId id="461" r:id="rId237"/>
    <p:sldId id="278" r:id="rId238"/>
    <p:sldId id="531" r:id="rId239"/>
    <p:sldId id="390" r:id="rId240"/>
    <p:sldId id="435" r:id="rId241"/>
    <p:sldId id="431" r:id="rId242"/>
    <p:sldId id="391" r:id="rId243"/>
    <p:sldId id="388" r:id="rId244"/>
    <p:sldId id="389" r:id="rId245"/>
    <p:sldId id="471" r:id="rId246"/>
    <p:sldId id="279" r:id="rId247"/>
    <p:sldId id="532" r:id="rId248"/>
    <p:sldId id="463" r:id="rId249"/>
    <p:sldId id="393" r:id="rId250"/>
    <p:sldId id="392" r:id="rId251"/>
    <p:sldId id="462" r:id="rId252"/>
    <p:sldId id="394" r:id="rId253"/>
    <p:sldId id="395" r:id="rId254"/>
    <p:sldId id="396" r:id="rId255"/>
    <p:sldId id="397" r:id="rId256"/>
    <p:sldId id="398" r:id="rId257"/>
    <p:sldId id="464" r:id="rId258"/>
    <p:sldId id="465" r:id="rId259"/>
    <p:sldId id="280" r:id="rId260"/>
    <p:sldId id="533" r:id="rId261"/>
    <p:sldId id="399" r:id="rId262"/>
    <p:sldId id="287" r:id="rId263"/>
    <p:sldId id="288" r:id="rId264"/>
    <p:sldId id="289" r:id="rId265"/>
    <p:sldId id="290" r:id="rId266"/>
    <p:sldId id="281" r:id="rId267"/>
    <p:sldId id="534" r:id="rId268"/>
    <p:sldId id="400" r:id="rId269"/>
    <p:sldId id="402" r:id="rId270"/>
    <p:sldId id="401" r:id="rId271"/>
    <p:sldId id="412" r:id="rId272"/>
    <p:sldId id="472" r:id="rId273"/>
    <p:sldId id="473" r:id="rId274"/>
    <p:sldId id="474" r:id="rId275"/>
    <p:sldId id="367" r:id="rId276"/>
  </p:sldIdLst>
  <p:sldSz cx="12192000" cy="6858000"/>
  <p:notesSz cx="6858000" cy="9144000"/>
  <p:embeddedFontLst>
    <p:embeddedFont>
      <p:font typeface="Cambria Math" panose="02040503050406030204" pitchFamily="18" charset="0"/>
      <p:regular r:id="rId278"/>
    </p:embeddedFont>
    <p:embeddedFont>
      <p:font typeface="Montserrat" panose="00000500000000000000" pitchFamily="2" charset="0"/>
      <p:regular r:id="rId279"/>
    </p:embeddedFont>
    <p:embeddedFont>
      <p:font typeface="Roboto Mono" pitchFamily="2" charset="0"/>
      <p:regular r:id="rId280"/>
      <p:bold r:id="rId281"/>
    </p:embeddedFont>
    <p:embeddedFont>
      <p:font typeface="等线" panose="02010600030101010101" pitchFamily="2" charset="-122"/>
      <p:regular r:id="rId282"/>
      <p:bold r:id="rId283"/>
    </p:embeddedFont>
    <p:embeddedFont>
      <p:font typeface="微软雅黑 Light" panose="020B0502040204020203" pitchFamily="34" charset="-122"/>
      <p:regular r:id="rId28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05F73"/>
    <a:srgbClr val="E7886E"/>
    <a:srgbClr val="F6BA4F"/>
    <a:srgbClr val="6CCA94"/>
    <a:srgbClr val="6DB6E6"/>
    <a:srgbClr val="6D96E8"/>
    <a:srgbClr val="001F3F"/>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6036" autoAdjust="0"/>
  </p:normalViewPr>
  <p:slideViewPr>
    <p:cSldViewPr snapToGrid="0">
      <p:cViewPr varScale="1">
        <p:scale>
          <a:sx n="97" d="100"/>
          <a:sy n="97" d="100"/>
        </p:scale>
        <p:origin x="1074" y="9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font" Target="fonts/font2.fntdata"/><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font" Target="fonts/font3.fntdata"/><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font" Target="fonts/font4.fntdata"/><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5.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6.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7.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font" Target="fonts/font1.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dirty="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dirty="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dirty="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dirty="0"/>
            <a:t>DevOps</a:t>
          </a:r>
          <a:endParaRPr lang="zh-CN" altLang="en-US" sz="1600" dirty="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dirty="0"/>
            <a:t>AI</a:t>
          </a:r>
          <a:r>
            <a:rPr lang="zh-CN" altLang="en-US" sz="1600" dirty="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dirty="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dirty="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dirty="0"/>
            <a:t>Product Backlog </a:t>
          </a:r>
          <a:r>
            <a:rPr lang="zh-CN" altLang="en-US" dirty="0"/>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dirty="0"/>
            <a:t>Sprint Backlog </a:t>
          </a:r>
          <a:r>
            <a:rPr lang="zh-CN" altLang="en-US" dirty="0"/>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dirty="0"/>
            <a:t>Increment </a:t>
          </a:r>
          <a:r>
            <a:rPr lang="zh-CN" altLang="en-US" dirty="0"/>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DevOps</a:t>
          </a:r>
          <a:endParaRPr lang="zh-CN" altLang="en-US" sz="1600" kern="1200" dirty="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AI</a:t>
          </a:r>
          <a:r>
            <a:rPr lang="zh-CN" altLang="en-US" sz="1600" kern="1200" dirty="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9.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Do the project right</a:t>
            </a:r>
          </a:p>
          <a:p>
            <a:r>
              <a:rPr lang="en-US" altLang="zh-CN" dirty="0"/>
              <a:t>Do the right project</a:t>
            </a:r>
          </a:p>
          <a:p>
            <a:endParaRPr lang="en-US" altLang="zh-CN" dirty="0"/>
          </a:p>
          <a:p>
            <a:r>
              <a:rPr lang="en-US" altLang="zh-CN" dirty="0"/>
              <a:t>Output (</a:t>
            </a:r>
            <a:r>
              <a:rPr lang="zh-CN" altLang="en-US" dirty="0"/>
              <a:t>产出</a:t>
            </a:r>
            <a:r>
              <a:rPr lang="en-US" altLang="zh-CN" dirty="0"/>
              <a:t>) = </a:t>
            </a:r>
            <a:r>
              <a:rPr lang="zh-CN" altLang="en-US" dirty="0"/>
              <a:t>我们做了什么？（关注工作量</a:t>
            </a:r>
            <a:r>
              <a:rPr lang="en-US" altLang="zh-CN" dirty="0"/>
              <a:t>/</a:t>
            </a:r>
            <a:r>
              <a:rPr lang="zh-CN" altLang="en-US" dirty="0"/>
              <a:t>交付物）</a:t>
            </a:r>
          </a:p>
          <a:p>
            <a:r>
              <a:rPr lang="en-US" altLang="zh-CN" dirty="0"/>
              <a:t>Outcome (</a:t>
            </a:r>
            <a:r>
              <a:rPr lang="zh-CN" altLang="en-US" dirty="0"/>
              <a:t>成果</a:t>
            </a:r>
            <a:r>
              <a:rPr lang="en-US" altLang="zh-CN" dirty="0"/>
              <a:t>) = </a:t>
            </a:r>
            <a:r>
              <a:rPr lang="zh-CN" altLang="en-US" dirty="0"/>
              <a:t>我们达成了什么效果？（关注价值</a:t>
            </a:r>
            <a:r>
              <a:rPr lang="en-US" altLang="zh-CN" dirty="0"/>
              <a:t>/</a:t>
            </a:r>
            <a:r>
              <a:rPr lang="zh-CN" altLang="en-US" dirty="0"/>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dirty="0"/>
              <a:t>体现管理；好的规划，是为了更好的执行，创造价值</a:t>
            </a:r>
            <a:endParaRPr lang="en-US" altLang="zh-CN" dirty="0"/>
          </a:p>
          <a:p>
            <a:r>
              <a:rPr lang="zh-CN" altLang="en-US" dirty="0"/>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endParaRPr lang="en-US" altLang="zh-CN"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绩效域 </a:t>
            </a:r>
            <a:r>
              <a:rPr lang="en-US" altLang="zh-CN" dirty="0"/>
              <a:t>Domains </a:t>
            </a:r>
            <a:r>
              <a:rPr lang="zh-CN" altLang="en-US" dirty="0"/>
              <a:t>是雷达图：</a:t>
            </a:r>
            <a:endParaRPr lang="en-US" altLang="zh-CN" dirty="0"/>
          </a:p>
          <a:p>
            <a:r>
              <a:rPr lang="zh-CN" altLang="en-US" dirty="0"/>
              <a:t>告诉你需要同时关注哪些关键领域，这些领域之间是动态平衡的；例如：在关注交付的同时，不能忽视团队或不确定性</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over</a:t>
            </a: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用人不疑</a:t>
            </a:r>
            <a:endParaRPr lang="en-US" altLang="zh-CN" dirty="0"/>
          </a:p>
          <a:p>
            <a:r>
              <a:rPr lang="zh-CN" altLang="en-US" dirty="0"/>
              <a:t>可工作：应用</a:t>
            </a:r>
            <a:endParaRPr lang="en-US" altLang="zh-CN" dirty="0"/>
          </a:p>
          <a:p>
            <a:r>
              <a:rPr lang="en-US" altLang="zh-CN" dirty="0"/>
              <a:t>5. </a:t>
            </a:r>
            <a:r>
              <a:rPr lang="zh-CN" altLang="en-US" dirty="0"/>
              <a:t>要我学 → 我想学</a:t>
            </a:r>
            <a:endParaRPr lang="en-US" altLang="zh-CN" dirty="0"/>
          </a:p>
          <a:p>
            <a:r>
              <a:rPr lang="zh-CN" altLang="en-US" dirty="0"/>
              <a:t>复盘</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dirty="0"/>
              <a:t>用人不疑</a:t>
            </a:r>
            <a:endParaRPr lang="en-US" altLang="zh-CN" dirty="0"/>
          </a:p>
          <a:p>
            <a:r>
              <a:rPr lang="zh-CN" altLang="en-US" dirty="0"/>
              <a:t>可工作：应用</a:t>
            </a:r>
            <a:endParaRPr lang="en-US" altLang="zh-CN" dirty="0"/>
          </a:p>
          <a:p>
            <a:r>
              <a:rPr lang="zh-CN" altLang="en-US" dirty="0"/>
              <a:t>团队稳定、不加班</a:t>
            </a:r>
            <a:r>
              <a:rPr lang="en-US" altLang="zh-CN" dirty="0"/>
              <a:t>-8-</a:t>
            </a:r>
            <a:r>
              <a:rPr lang="zh-CN" altLang="en-US" dirty="0"/>
              <a:t>人文关怀</a:t>
            </a:r>
            <a:endParaRPr lang="en-US" altLang="zh-CN" dirty="0"/>
          </a:p>
          <a:p>
            <a:r>
              <a:rPr lang="zh-CN" altLang="en-US" dirty="0"/>
              <a:t>复盘</a:t>
            </a:r>
            <a:endParaRPr lang="en-US" altLang="zh-CN" dirty="0"/>
          </a:p>
          <a:p>
            <a:r>
              <a:rPr lang="en-US" altLang="zh-CN" dirty="0"/>
              <a:t>10 </a:t>
            </a:r>
            <a:r>
              <a:rPr lang="zh-CN" altLang="en-US" dirty="0"/>
              <a:t>精简机构；简洁是交付完整的核心价值，剔除多余的边角料。它是“精瘦”，不是“残疾”</a:t>
            </a:r>
            <a:endParaRPr lang="en-US" altLang="zh-CN" dirty="0"/>
          </a:p>
          <a:p>
            <a:r>
              <a:rPr lang="zh-CN" altLang="en-US" dirty="0"/>
              <a:t>项目启动时定义的“范围”（</a:t>
            </a:r>
            <a:r>
              <a:rPr lang="en-US" altLang="zh-CN" dirty="0"/>
              <a:t>Scope</a:t>
            </a:r>
            <a:r>
              <a:rPr lang="zh-CN" altLang="en-US" dirty="0"/>
              <a:t>），通常基于当时的认知、市场预测和用户访谈；</a:t>
            </a:r>
            <a:endParaRPr lang="en-US" altLang="zh-CN" dirty="0"/>
          </a:p>
          <a:p>
            <a:r>
              <a:rPr lang="zh-CN" altLang="en-US" dirty="0"/>
              <a:t>范围本质上都是一个“未经完全验证的假设；</a:t>
            </a:r>
            <a:endParaRPr lang="en-US" altLang="zh-CN" dirty="0"/>
          </a:p>
          <a:p>
            <a:r>
              <a:rPr lang="zh-CN" altLang="en-US" dirty="0"/>
              <a:t>“范围”不是一道不可逾越的铁律，而是一个待优化的假设集合；</a:t>
            </a:r>
            <a:endParaRPr lang="en-US" altLang="zh-CN" dirty="0"/>
          </a:p>
          <a:p>
            <a:r>
              <a:rPr lang="zh-CN" altLang="en-US" dirty="0"/>
              <a:t>这才是真正的以价值为导向，而不是以文档为导向</a:t>
            </a:r>
            <a:endParaRPr lang="en-US" altLang="zh-CN" dirty="0"/>
          </a:p>
          <a:p>
            <a:endParaRPr lang="en-US" altLang="zh-CN" dirty="0"/>
          </a:p>
          <a:p>
            <a:r>
              <a:rPr lang="en-US" altLang="zh-CN" dirty="0"/>
              <a:t>11</a:t>
            </a:r>
            <a:r>
              <a:rPr lang="zh-CN" altLang="en-US" dirty="0"/>
              <a:t>最具颠覆性的一条，因为它直接挑战了传统管理中的“命令与控制”（</a:t>
            </a:r>
            <a:r>
              <a:rPr lang="en-US" altLang="zh-CN" dirty="0"/>
              <a:t>Command and Control</a:t>
            </a:r>
            <a:r>
              <a:rPr lang="zh-CN" altLang="en-US" dirty="0"/>
              <a:t>）模式</a:t>
            </a:r>
            <a:endParaRPr lang="en-US" altLang="zh-CN" dirty="0"/>
          </a:p>
          <a:p>
            <a:r>
              <a:rPr lang="zh-CN" altLang="en-US" dirty="0"/>
              <a:t>自主</a:t>
            </a:r>
            <a:endParaRPr lang="en-US" altLang="zh-CN" dirty="0"/>
          </a:p>
          <a:p>
            <a:r>
              <a:rPr lang="zh-CN" altLang="en-US" dirty="0"/>
              <a:t>“涌现”意味着结果不是被预先设计好、然后强行执行的；而是在团队互动的过程中，随着对问题理解的加深，自然生长出来的</a:t>
            </a:r>
            <a:endParaRPr lang="en-US" altLang="zh-CN" dirty="0"/>
          </a:p>
          <a:p>
            <a:r>
              <a:rPr lang="en-US" altLang="zh-CN" dirty="0"/>
              <a:t>-</a:t>
            </a:r>
            <a:r>
              <a:rPr lang="zh-CN" altLang="en-US" dirty="0"/>
              <a:t>不再分配任务：不要说“</a:t>
            </a:r>
            <a:r>
              <a:rPr lang="en-US" altLang="zh-CN" dirty="0"/>
              <a:t>A</a:t>
            </a:r>
            <a:r>
              <a:rPr lang="zh-CN" altLang="en-US" dirty="0"/>
              <a:t>你做这个，</a:t>
            </a:r>
            <a:r>
              <a:rPr lang="en-US" altLang="zh-CN" dirty="0"/>
              <a:t>B</a:t>
            </a:r>
            <a:r>
              <a:rPr lang="zh-CN" altLang="en-US" dirty="0"/>
              <a:t>你做那个”。而是说“这是我们的目标，你们觉得怎么分工最合适？”</a:t>
            </a:r>
          </a:p>
          <a:p>
            <a:r>
              <a:rPr lang="en-US" altLang="zh-CN" dirty="0"/>
              <a:t>-</a:t>
            </a:r>
            <a:r>
              <a:rPr lang="zh-CN" altLang="en-US" dirty="0"/>
              <a:t>提供环境而非答案：你的工作是确保团队有合适的工具、清晰的目标、透明的信息流，以及心理安全感（敢于试错）。</a:t>
            </a:r>
          </a:p>
          <a:p>
            <a:r>
              <a:rPr lang="en-US" altLang="zh-CN" dirty="0"/>
              <a:t>-</a:t>
            </a:r>
            <a:r>
              <a:rPr lang="zh-CN" altLang="en-US" dirty="0"/>
              <a:t>信任与放手：即使你觉得团队的方法不是最优的，只要风险可控，也要让他们去尝试。失败也是学习的一部分，是从错误中“涌现”出正确方案的必经之路。</a:t>
            </a:r>
          </a:p>
          <a:p>
            <a:r>
              <a:rPr lang="en-US" altLang="zh-CN" dirty="0"/>
              <a:t>-</a:t>
            </a:r>
            <a:r>
              <a:rPr lang="zh-CN" altLang="en-US" dirty="0"/>
              <a:t>保护团队：阻挡外部的干扰和无理的需求变更，让团队能专注于创造价值。</a:t>
            </a:r>
            <a:endParaRPr lang="en-US" altLang="zh-CN" dirty="0"/>
          </a:p>
          <a:p>
            <a:r>
              <a:rPr lang="zh-CN" altLang="en-US" dirty="0"/>
              <a:t>如果是被指令驱动的团队，他们只会机械地执行预设的（可能是错误的）方案，永远无法触及那个“最好”的解</a:t>
            </a:r>
            <a:endParaRPr lang="en-US" altLang="zh-CN" dirty="0"/>
          </a:p>
          <a:p>
            <a:r>
              <a:rPr lang="zh-CN" altLang="en-US" dirty="0"/>
              <a:t>中国诗人海子的</a:t>
            </a:r>
            <a:r>
              <a:rPr lang="en-US" altLang="zh-CN" dirty="0"/>
              <a:t>《</a:t>
            </a:r>
            <a:r>
              <a:rPr lang="zh-CN" altLang="en-US" dirty="0"/>
              <a:t>面朝大海，春暖花开</a:t>
            </a:r>
            <a:r>
              <a:rPr lang="en-US" altLang="zh-CN" dirty="0"/>
              <a:t>》</a:t>
            </a:r>
            <a:endParaRPr lang="zh-CN" altLang="en-US" dirty="0"/>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PMBOK </a:t>
            </a:r>
            <a:r>
              <a:rPr lang="zh-CN" altLang="en-US" dirty="0"/>
              <a:t>第 </a:t>
            </a:r>
            <a:r>
              <a:rPr lang="en-US" altLang="zh-CN" dirty="0"/>
              <a:t>7 </a:t>
            </a:r>
            <a:r>
              <a:rPr lang="zh-CN" altLang="en-US" dirty="0"/>
              <a:t>版的 </a:t>
            </a:r>
            <a:r>
              <a:rPr lang="en-US" altLang="zh-CN" dirty="0"/>
              <a:t>12 </a:t>
            </a:r>
            <a:r>
              <a:rPr lang="zh-CN" altLang="en-US" dirty="0"/>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根据前期的项目评估报告，拟定项目申请建议书，提交评审委员会审核</a:t>
            </a:r>
            <a:endParaRPr lang="en-US" altLang="zh-CN" dirty="0"/>
          </a:p>
          <a:p>
            <a:r>
              <a:rPr lang="en-US" altLang="zh-CN" dirty="0"/>
              <a:t>2. </a:t>
            </a:r>
            <a:r>
              <a:rPr lang="zh-CN" altLang="en-US" dirty="0"/>
              <a:t>评审委员会审核后，提交立项审核报告 </a:t>
            </a:r>
            <a:r>
              <a:rPr lang="en-US" altLang="zh-CN" dirty="0"/>
              <a:t>Project Initiation Review Report</a:t>
            </a:r>
            <a:r>
              <a:rPr lang="zh-CN" altLang="en-US" dirty="0"/>
              <a:t>，决定是否准予立项</a:t>
            </a:r>
            <a:endParaRPr lang="en-US" altLang="zh-CN" dirty="0"/>
          </a:p>
          <a:p>
            <a:r>
              <a:rPr lang="zh-CN" altLang="en-US" dirty="0"/>
              <a:t>对已提交的立项申请进行正式审查，决定是否批准立项 </a:t>
            </a:r>
            <a:r>
              <a:rPr lang="en-US" altLang="zh-CN" dirty="0"/>
              <a:t>- </a:t>
            </a:r>
            <a:r>
              <a:rPr lang="zh-CN" altLang="en-US" dirty="0"/>
              <a:t>双重评估机制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tx1"/>
                </a:solidFill>
              </a:rPr>
              <a:t>立项评审报告</a:t>
            </a:r>
            <a:r>
              <a:rPr lang="zh-CN" altLang="en-US" dirty="0"/>
              <a:t> </a:t>
            </a:r>
            <a:r>
              <a:rPr lang="en-US" altLang="zh-CN" dirty="0"/>
              <a:t>- </a:t>
            </a:r>
            <a:r>
              <a:rPr lang="zh-CN" altLang="en-US" dirty="0"/>
              <a:t>由评审委员会、专家组或相关管理部门，对</a:t>
            </a:r>
            <a:r>
              <a:rPr lang="en-US" altLang="zh-CN" dirty="0"/>
              <a:t>《</a:t>
            </a:r>
            <a:r>
              <a:rPr lang="zh-CN" altLang="en-US" dirty="0"/>
              <a:t>项目立项申请建议书</a:t>
            </a:r>
            <a:r>
              <a:rPr lang="en-US" altLang="zh-CN" dirty="0"/>
              <a:t>》</a:t>
            </a:r>
            <a:r>
              <a:rPr lang="zh-CN" altLang="en-US" dirty="0"/>
              <a:t>及相关资料进行系统性审查后形成的结论性文件</a:t>
            </a:r>
            <a:r>
              <a:rPr lang="en-US" altLang="zh-CN" dirty="0"/>
              <a:t> - </a:t>
            </a:r>
            <a:r>
              <a:rPr lang="zh-CN" altLang="en-US" dirty="0"/>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招标书</a:t>
            </a:r>
            <a:r>
              <a:rPr lang="en-US" altLang="zh-CN" dirty="0"/>
              <a:t>/Tender Document</a:t>
            </a:r>
          </a:p>
          <a:p>
            <a:r>
              <a:rPr lang="zh-CN" altLang="en-US" dirty="0"/>
              <a:t>投标书</a:t>
            </a:r>
            <a:r>
              <a:rPr lang="en-US" altLang="zh-CN" dirty="0"/>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dirty="0"/>
              <a:t>招标书</a:t>
            </a:r>
            <a:r>
              <a:rPr lang="en-US" altLang="zh-CN" dirty="0"/>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dirty="0"/>
              <a:t>投标书</a:t>
            </a:r>
            <a:r>
              <a:rPr lang="en-US" altLang="zh-CN" dirty="0"/>
              <a:t>/Bid Proposal/Tender Response</a:t>
            </a:r>
          </a:p>
          <a:p>
            <a:r>
              <a:rPr lang="en-US" altLang="zh-CN" dirty="0"/>
              <a:t>SOW : Statement of work</a:t>
            </a:r>
            <a:endParaRPr lang="zh-CN" altLang="en-US" dirty="0"/>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dirty="0"/>
              <a:t>SOW : Statement of work</a:t>
            </a:r>
            <a:endParaRPr lang="zh-CN" altLang="en-US" dirty="0"/>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项目名称</a:t>
            </a:r>
          </a:p>
          <a:p>
            <a:r>
              <a:rPr lang="zh-CN" altLang="en-US" dirty="0"/>
              <a:t>项目背景 </a:t>
            </a:r>
            <a:r>
              <a:rPr lang="en-US" altLang="zh-CN" dirty="0"/>
              <a:t>/ </a:t>
            </a:r>
            <a:r>
              <a:rPr lang="zh-CN" altLang="en-US" dirty="0"/>
              <a:t>商业需求</a:t>
            </a:r>
          </a:p>
          <a:p>
            <a:r>
              <a:rPr lang="zh-CN" altLang="en-US" dirty="0"/>
              <a:t>干系人名单（关键干系人）</a:t>
            </a:r>
          </a:p>
          <a:p>
            <a:r>
              <a:rPr lang="zh-CN" altLang="en-US" dirty="0"/>
              <a:t>总体里程碑进度表</a:t>
            </a:r>
          </a:p>
          <a:p>
            <a:r>
              <a:rPr lang="zh-CN" altLang="en-US" dirty="0"/>
              <a:t>成功标准（如何才算项目成功？）</a:t>
            </a:r>
          </a:p>
          <a:p>
            <a:r>
              <a:rPr lang="zh-CN" altLang="en-US" dirty="0"/>
              <a:t>假设条件与制约因素</a:t>
            </a:r>
          </a:p>
          <a:p>
            <a:r>
              <a:rPr lang="zh-CN" altLang="en-US" dirty="0"/>
              <a:t>审批要求（谁签字生效？）</a:t>
            </a:r>
            <a:endParaRPr lang="en-US" altLang="zh-CN" dirty="0"/>
          </a:p>
          <a:p>
            <a:endParaRPr lang="en-US" altLang="zh-CN" dirty="0"/>
          </a:p>
          <a:p>
            <a:r>
              <a:rPr lang="zh-CN" altLang="en-US" dirty="0"/>
              <a:t>一句话：我们为什么要做这个项目？谁负责？花多少钱？做到什么程度算成功？这一切都经过高层拍板</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dirty="0"/>
              <a:t>项目名称</a:t>
            </a:r>
          </a:p>
          <a:p>
            <a:r>
              <a:rPr lang="zh-CN" altLang="en-US" dirty="0"/>
              <a:t>项目背景 </a:t>
            </a:r>
            <a:r>
              <a:rPr lang="en-US" altLang="zh-CN" dirty="0"/>
              <a:t>/ </a:t>
            </a:r>
            <a:r>
              <a:rPr lang="zh-CN" altLang="en-US" dirty="0"/>
              <a:t>商业需求</a:t>
            </a:r>
          </a:p>
          <a:p>
            <a:r>
              <a:rPr lang="zh-CN" altLang="en-US" dirty="0"/>
              <a:t>干系人名单（关键干系人）</a:t>
            </a:r>
          </a:p>
          <a:p>
            <a:r>
              <a:rPr lang="zh-CN" altLang="en-US" dirty="0"/>
              <a:t>总体里程碑进度表</a:t>
            </a:r>
          </a:p>
          <a:p>
            <a:r>
              <a:rPr lang="zh-CN" altLang="en-US" dirty="0"/>
              <a:t>成功标准（如何才算项目成功？）</a:t>
            </a:r>
          </a:p>
          <a:p>
            <a:r>
              <a:rPr lang="zh-CN" altLang="en-US" dirty="0"/>
              <a:t>假设条件与制约因素</a:t>
            </a:r>
          </a:p>
          <a:p>
            <a:r>
              <a:rPr lang="zh-CN" altLang="en-US" dirty="0"/>
              <a:t>审批要求（谁签字生效？）</a:t>
            </a:r>
            <a:endParaRPr lang="en-US" altLang="zh-CN" dirty="0"/>
          </a:p>
          <a:p>
            <a:endParaRPr lang="en-US" altLang="zh-CN" dirty="0"/>
          </a:p>
          <a:p>
            <a:r>
              <a:rPr lang="zh-CN" altLang="en-US" dirty="0"/>
              <a:t>一句话：我们为什么要做这个项目？谁负责？花多少钱？做到什么程度算成功？这一切都经过高层拍板</a:t>
            </a:r>
            <a:endParaRPr lang="en-US" altLang="zh-CN" dirty="0"/>
          </a:p>
          <a:p>
            <a:endParaRPr lang="zh-CN" altLang="en-US" dirty="0"/>
          </a:p>
          <a:p>
            <a:endParaRPr lang="zh-CN" altLang="en-US" dirty="0"/>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dirty="0"/>
              <a:t>项目名称</a:t>
            </a:r>
          </a:p>
          <a:p>
            <a:r>
              <a:rPr lang="zh-CN" altLang="en-US" dirty="0"/>
              <a:t>项目背景 </a:t>
            </a:r>
            <a:r>
              <a:rPr lang="en-US" altLang="zh-CN" dirty="0"/>
              <a:t>/ </a:t>
            </a:r>
            <a:r>
              <a:rPr lang="zh-CN" altLang="en-US" dirty="0"/>
              <a:t>商业需求</a:t>
            </a:r>
          </a:p>
          <a:p>
            <a:r>
              <a:rPr lang="zh-CN" altLang="en-US" dirty="0"/>
              <a:t>干系人名单（关键干系人）</a:t>
            </a:r>
          </a:p>
          <a:p>
            <a:r>
              <a:rPr lang="zh-CN" altLang="en-US" dirty="0"/>
              <a:t>总体里程碑进度表</a:t>
            </a:r>
          </a:p>
          <a:p>
            <a:r>
              <a:rPr lang="zh-CN" altLang="en-US" dirty="0"/>
              <a:t>成功标准（如何才算项目成功？）</a:t>
            </a:r>
          </a:p>
          <a:p>
            <a:r>
              <a:rPr lang="zh-CN" altLang="en-US" dirty="0"/>
              <a:t>假设条件与制约因素</a:t>
            </a:r>
          </a:p>
          <a:p>
            <a:r>
              <a:rPr lang="zh-CN" altLang="en-US" dirty="0"/>
              <a:t>审批要求（谁签字生效？）</a:t>
            </a:r>
            <a:endParaRPr lang="en-US" altLang="zh-CN" dirty="0"/>
          </a:p>
          <a:p>
            <a:endParaRPr lang="en-US" altLang="zh-CN" dirty="0"/>
          </a:p>
          <a:p>
            <a:r>
              <a:rPr lang="zh-CN" altLang="en-US" dirty="0"/>
              <a:t>一句话：我们为什么要做这个项目？谁负责？花多少钱？做到什么程度算成功？这一切都经过高层拍板</a:t>
            </a:r>
            <a:endParaRPr lang="en-US" altLang="zh-CN" dirty="0"/>
          </a:p>
          <a:p>
            <a:endParaRPr lang="zh-CN" altLang="en-US" dirty="0"/>
          </a:p>
          <a:p>
            <a:endParaRPr lang="zh-CN" altLang="en-US" dirty="0"/>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dirty="0"/>
              <a:t>项目名称</a:t>
            </a:r>
          </a:p>
          <a:p>
            <a:r>
              <a:rPr lang="zh-CN" altLang="en-US" dirty="0"/>
              <a:t>项目背景 </a:t>
            </a:r>
            <a:r>
              <a:rPr lang="en-US" altLang="zh-CN" dirty="0"/>
              <a:t>/ </a:t>
            </a:r>
            <a:r>
              <a:rPr lang="zh-CN" altLang="en-US" dirty="0"/>
              <a:t>商业需求</a:t>
            </a:r>
          </a:p>
          <a:p>
            <a:r>
              <a:rPr lang="zh-CN" altLang="en-US" dirty="0"/>
              <a:t>干系人名单（关键干系人）</a:t>
            </a:r>
          </a:p>
          <a:p>
            <a:r>
              <a:rPr lang="zh-CN" altLang="en-US" dirty="0"/>
              <a:t>总体里程碑进度表</a:t>
            </a:r>
          </a:p>
          <a:p>
            <a:r>
              <a:rPr lang="zh-CN" altLang="en-US" dirty="0"/>
              <a:t>成功标准（如何才算项目成功？）</a:t>
            </a:r>
          </a:p>
          <a:p>
            <a:r>
              <a:rPr lang="zh-CN" altLang="en-US" dirty="0"/>
              <a:t>假设条件与制约因素</a:t>
            </a:r>
          </a:p>
          <a:p>
            <a:r>
              <a:rPr lang="zh-CN" altLang="en-US" dirty="0"/>
              <a:t>审批要求（谁签字生效？）</a:t>
            </a:r>
            <a:endParaRPr lang="en-US" altLang="zh-CN" dirty="0"/>
          </a:p>
          <a:p>
            <a:endParaRPr lang="en-US" altLang="zh-CN" dirty="0"/>
          </a:p>
          <a:p>
            <a:r>
              <a:rPr lang="zh-CN" altLang="en-US" dirty="0"/>
              <a:t>一句话：我们为什么要做这个项目？谁负责？花多少钱？做到什么程度算成功？这一切都经过高层拍板</a:t>
            </a:r>
            <a:endParaRPr lang="en-US" altLang="zh-CN" dirty="0"/>
          </a:p>
          <a:p>
            <a:endParaRPr lang="zh-CN" altLang="en-US" dirty="0"/>
          </a:p>
          <a:p>
            <a:endParaRPr lang="zh-CN" altLang="en-US" dirty="0"/>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dirty="0"/>
          </a:p>
          <a:p>
            <a:r>
              <a:rPr lang="en-US" altLang="zh-CN" dirty="0"/>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dirty="0"/>
          </a:p>
          <a:p>
            <a:r>
              <a:rPr lang="en-US" altLang="zh-CN" dirty="0"/>
              <a:t>Business Acumen” is the ability to understand how businesses operate, make money, and create value — and to apply that understanding to drive decisions that support organizational strategy and financial health.</a:t>
            </a:r>
          </a:p>
          <a:p>
            <a:endParaRPr lang="en-US" altLang="zh-CN" dirty="0"/>
          </a:p>
          <a:p>
            <a:r>
              <a:rPr lang="en-US" altLang="zh-CN" dirty="0"/>
              <a:t>DAO</a:t>
            </a:r>
            <a:r>
              <a:rPr lang="zh-CN" altLang="en-US" dirty="0"/>
              <a:t>（</a:t>
            </a:r>
            <a:r>
              <a:rPr lang="en-US" altLang="zh-CN" dirty="0"/>
              <a:t>Decentralized Autonomous Organization</a:t>
            </a:r>
            <a:r>
              <a:rPr lang="zh-CN" altLang="en-US" dirty="0"/>
              <a:t>，去中心化自治组织）是</a:t>
            </a:r>
            <a:r>
              <a:rPr lang="en-US" altLang="zh-CN" dirty="0"/>
              <a:t>WEB3.0</a:t>
            </a:r>
            <a:r>
              <a:rPr lang="zh-CN" altLang="en-US" dirty="0"/>
              <a:t>时代的一个重要产物。它通过智能合约和区块链技术，实现了组织管理的去中心化。在</a:t>
            </a:r>
            <a:r>
              <a:rPr lang="en-US" altLang="zh-CN" dirty="0"/>
              <a:t>DAO</a:t>
            </a:r>
            <a:r>
              <a:rPr lang="zh-CN" altLang="en-US" dirty="0"/>
              <a:t>中，成员可以通过代币投票参与决策，每个人都有发言权，决策过程透明，资金流动也可追溯，这大大增加了信任感。</a:t>
            </a:r>
            <a:r>
              <a:rPr lang="en-US" altLang="zh-CN" dirty="0"/>
              <a:t>DAO</a:t>
            </a:r>
            <a:r>
              <a:rPr lang="zh-CN" altLang="en-US" dirty="0"/>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dirty="0"/>
              <a:t>DAO</a:t>
            </a:r>
            <a:r>
              <a:rPr lang="zh-CN" altLang="en-US" dirty="0"/>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Period</a:t>
            </a:r>
          </a:p>
          <a:p>
            <a:r>
              <a:rPr lang="en-US" altLang="zh-CN" dirty="0"/>
              <a:t>Duration</a:t>
            </a:r>
          </a:p>
          <a:p>
            <a:r>
              <a:rPr lang="en-US" altLang="zh-CN" dirty="0"/>
              <a:t>Lifecycle</a:t>
            </a:r>
          </a:p>
          <a:p>
            <a:r>
              <a:rPr lang="en-US" altLang="zh-CN" dirty="0"/>
              <a:t>SDLC software development life cycle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en-US" altLang="zh-CN" sz="1200" dirty="0">
                <a:solidFill>
                  <a:sysClr val="windowText" lastClr="000000"/>
                </a:solidFill>
              </a:rPr>
              <a:t>Scope, schedule, and cost defined early; </a:t>
            </a:r>
          </a:p>
          <a:p>
            <a:pPr>
              <a:buNone/>
            </a:pPr>
            <a:r>
              <a:rPr lang="en-US" altLang="zh-CN" sz="1200" dirty="0">
                <a:solidFill>
                  <a:sysClr val="windowText" lastClr="000000"/>
                </a:solidFill>
              </a:rPr>
              <a:t>low tolerance for change</a:t>
            </a:r>
          </a:p>
          <a:p>
            <a:pPr>
              <a:buNone/>
            </a:pPr>
            <a:r>
              <a:rPr lang="zh-CN" altLang="en-US" sz="1200" dirty="0">
                <a:solidFill>
                  <a:sysClr val="windowText" lastClr="000000"/>
                </a:solidFill>
              </a:rPr>
              <a:t>瀑布模型不是“过时”，而是“严谨”的代名词</a:t>
            </a:r>
            <a:endParaRPr lang="en-US" altLang="zh-CN" sz="1200" dirty="0">
              <a:solidFill>
                <a:sysClr val="windowText" lastClr="000000"/>
              </a:solidFill>
            </a:endParaRP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Verification: Are we building the product right?</a:t>
            </a:r>
          </a:p>
          <a:p>
            <a:r>
              <a:rPr lang="zh-CN" altLang="en-US" dirty="0"/>
              <a:t>验证：我们是否正确地构建了产品？（是否符合规格说明书？）</a:t>
            </a:r>
          </a:p>
          <a:p>
            <a:r>
              <a:rPr lang="en-US" altLang="zh-CN" dirty="0"/>
              <a:t>Validation: Are we building the right product?</a:t>
            </a:r>
          </a:p>
          <a:p>
            <a:r>
              <a:rPr lang="zh-CN" altLang="en-US" dirty="0"/>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en-US" altLang="zh-CN" sz="1200" dirty="0">
                <a:solidFill>
                  <a:sysClr val="windowText" lastClr="000000"/>
                </a:solidFill>
              </a:rPr>
              <a:t>Product refined over cycles; </a:t>
            </a:r>
          </a:p>
          <a:p>
            <a:pPr>
              <a:buNone/>
            </a:pPr>
            <a:r>
              <a:rPr lang="en-US" altLang="zh-CN" sz="1200" dirty="0">
                <a:solidFill>
                  <a:sysClr val="windowText" lastClr="000000"/>
                </a:solidFill>
              </a:rPr>
              <a:t>each iteration improves design/understanding</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en-US" altLang="zh-CN" sz="1200" dirty="0">
                <a:solidFill>
                  <a:sysClr val="windowText" lastClr="000000"/>
                </a:solidFill>
              </a:rPr>
              <a:t>Product refined over cycles; </a:t>
            </a:r>
          </a:p>
          <a:p>
            <a:pPr>
              <a:buNone/>
            </a:pPr>
            <a:r>
              <a:rPr lang="en-US" altLang="zh-CN" sz="1200" dirty="0">
                <a:solidFill>
                  <a:sysClr val="windowText" lastClr="000000"/>
                </a:solidFill>
              </a:rPr>
              <a:t>each iteration improves design/understanding</a:t>
            </a:r>
          </a:p>
          <a:p>
            <a:pPr>
              <a:buNone/>
            </a:pPr>
            <a:r>
              <a:rPr lang="zh-CN" altLang="en-US" dirty="0"/>
              <a:t>图中的 </a:t>
            </a:r>
            <a:r>
              <a:rPr lang="en-US" altLang="zh-CN" dirty="0"/>
              <a:t>Planning + Requirement + Design + Coding ≈ Scrum </a:t>
            </a:r>
            <a:r>
              <a:rPr lang="zh-CN" altLang="en-US" dirty="0"/>
              <a:t>的一个 </a:t>
            </a:r>
            <a:r>
              <a:rPr lang="en-US" altLang="zh-CN" dirty="0"/>
              <a:t>Sprint (</a:t>
            </a:r>
            <a:r>
              <a:rPr lang="zh-CN" altLang="en-US" dirty="0"/>
              <a:t>冲刺</a:t>
            </a:r>
            <a:r>
              <a:rPr lang="en-US" altLang="zh-CN" dirty="0"/>
              <a:t>)</a:t>
            </a:r>
            <a:endParaRPr lang="zh-CN" altLang="en-US" dirty="0"/>
          </a:p>
          <a:p>
            <a:pPr>
              <a:buNone/>
            </a:pPr>
            <a:r>
              <a:rPr lang="zh-CN" altLang="en-US" dirty="0"/>
              <a:t>图中的 </a:t>
            </a:r>
            <a:r>
              <a:rPr lang="en-US" altLang="zh-CN" dirty="0"/>
              <a:t>Evaluation ≈ Scrum </a:t>
            </a:r>
            <a:r>
              <a:rPr lang="zh-CN" altLang="en-US" dirty="0"/>
              <a:t>的 </a:t>
            </a:r>
            <a:r>
              <a:rPr lang="en-US" altLang="zh-CN" dirty="0"/>
              <a:t>Sprint Review (</a:t>
            </a:r>
            <a:r>
              <a:rPr lang="zh-CN" altLang="en-US" dirty="0"/>
              <a:t>评审</a:t>
            </a:r>
            <a:r>
              <a:rPr lang="en-US" altLang="zh-CN" dirty="0"/>
              <a:t>) </a:t>
            </a:r>
            <a:r>
              <a:rPr lang="zh-CN" altLang="en-US" dirty="0"/>
              <a:t>和 </a:t>
            </a:r>
            <a:r>
              <a:rPr lang="en-US" altLang="zh-CN" dirty="0"/>
              <a:t>Retrospective (</a:t>
            </a:r>
            <a:r>
              <a:rPr lang="zh-CN" altLang="en-US" dirty="0"/>
              <a:t>回顾</a:t>
            </a:r>
            <a:r>
              <a:rPr lang="en-US" altLang="zh-CN" dirty="0"/>
              <a:t>)</a:t>
            </a:r>
            <a:endParaRPr lang="zh-CN" altLang="en-US" dirty="0"/>
          </a:p>
          <a:p>
            <a:pPr>
              <a:buNone/>
            </a:pPr>
            <a:r>
              <a:rPr lang="zh-CN" altLang="en-US" dirty="0"/>
              <a:t>图中的 </a:t>
            </a:r>
            <a:r>
              <a:rPr lang="en-US" altLang="zh-CN" dirty="0"/>
              <a:t>Deployment ≈ Scrum </a:t>
            </a:r>
            <a:r>
              <a:rPr lang="zh-CN" altLang="en-US" dirty="0"/>
              <a:t>的 </a:t>
            </a:r>
            <a:r>
              <a:rPr lang="en-US" altLang="zh-CN" dirty="0"/>
              <a:t>Increment (</a:t>
            </a:r>
            <a:r>
              <a:rPr lang="zh-CN" altLang="en-US" dirty="0"/>
              <a:t>增量发布</a:t>
            </a:r>
            <a:r>
              <a:rPr lang="en-US" altLang="zh-CN" dirty="0"/>
              <a: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en-US" altLang="zh-CN" sz="1200" dirty="0">
                <a:solidFill>
                  <a:sysClr val="windowText" lastClr="000000"/>
                </a:solidFill>
              </a:rPr>
              <a:t>Product delivered in usable chunks; </a:t>
            </a:r>
          </a:p>
          <a:p>
            <a:pPr>
              <a:buNone/>
            </a:pPr>
            <a:r>
              <a:rPr lang="en-US" altLang="zh-CN" sz="1200" dirty="0">
                <a:solidFill>
                  <a:sysClr val="windowText" lastClr="000000"/>
                </a:solidFill>
              </a:rPr>
              <a:t>each increment adds functionality</a:t>
            </a:r>
          </a:p>
          <a:p>
            <a:pPr>
              <a:buNone/>
            </a:pPr>
            <a:r>
              <a:rPr lang="zh-CN" altLang="en-US" sz="1200" dirty="0">
                <a:solidFill>
                  <a:sysClr val="windowText" lastClr="000000"/>
                </a:solidFill>
              </a:rPr>
              <a:t>迭代 </a:t>
            </a:r>
            <a:r>
              <a:rPr lang="en-US" altLang="zh-CN" sz="1200" dirty="0">
                <a:solidFill>
                  <a:sysClr val="windowText" lastClr="000000"/>
                </a:solidFill>
              </a:rPr>
              <a:t>(Iteration) </a:t>
            </a:r>
            <a:r>
              <a:rPr lang="zh-CN" altLang="en-US" sz="1200" dirty="0">
                <a:solidFill>
                  <a:sysClr val="windowText" lastClr="000000"/>
                </a:solidFill>
              </a:rPr>
              <a:t>关注的是 “重复” </a:t>
            </a:r>
            <a:r>
              <a:rPr lang="en-US" altLang="zh-CN" sz="1200" dirty="0">
                <a:solidFill>
                  <a:sysClr val="windowText" lastClr="000000"/>
                </a:solidFill>
              </a:rPr>
              <a:t>(Refining / </a:t>
            </a:r>
            <a:r>
              <a:rPr lang="zh-CN" altLang="en-US" sz="1200" dirty="0">
                <a:solidFill>
                  <a:sysClr val="windowText" lastClr="000000"/>
                </a:solidFill>
              </a:rPr>
              <a:t>完善</a:t>
            </a:r>
            <a:r>
              <a:rPr lang="en-US" altLang="zh-CN" sz="1200" dirty="0">
                <a:solidFill>
                  <a:sysClr val="windowText" lastClr="000000"/>
                </a:solidFill>
              </a:rPr>
              <a:t>)</a:t>
            </a:r>
          </a:p>
          <a:p>
            <a:pPr>
              <a:buNone/>
            </a:pPr>
            <a:r>
              <a:rPr lang="zh-CN" altLang="en-US" sz="1200" dirty="0">
                <a:solidFill>
                  <a:sysClr val="windowText" lastClr="000000"/>
                </a:solidFill>
              </a:rPr>
              <a:t>增量 </a:t>
            </a:r>
            <a:r>
              <a:rPr lang="en-US" altLang="zh-CN" sz="1200" dirty="0">
                <a:solidFill>
                  <a:sysClr val="windowText" lastClr="000000"/>
                </a:solidFill>
              </a:rPr>
              <a:t>(Increment) </a:t>
            </a:r>
            <a:r>
              <a:rPr lang="zh-CN" altLang="en-US" sz="1200" dirty="0">
                <a:solidFill>
                  <a:sysClr val="windowText" lastClr="000000"/>
                </a:solidFill>
              </a:rPr>
              <a:t>关注的是 “增加” </a:t>
            </a:r>
            <a:r>
              <a:rPr lang="en-US" altLang="zh-CN" sz="1200" dirty="0">
                <a:solidFill>
                  <a:sysClr val="windowText" lastClr="000000"/>
                </a:solidFill>
              </a:rPr>
              <a:t>(Adding / </a:t>
            </a:r>
            <a:r>
              <a:rPr lang="zh-CN" altLang="en-US" sz="1200" dirty="0">
                <a:solidFill>
                  <a:sysClr val="windowText" lastClr="000000"/>
                </a:solidFill>
              </a:rPr>
              <a:t>扩充</a:t>
            </a:r>
            <a:r>
              <a:rPr lang="en-US" altLang="zh-CN" sz="1200" dirty="0">
                <a:solidFill>
                  <a:sysClr val="windowText" lastClr="000000"/>
                </a:solidFill>
              </a:rPr>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过程：边建造边边验收，不断完善功能</a:t>
            </a:r>
            <a:endParaRPr lang="en-US" altLang="zh-CN" dirty="0"/>
          </a:p>
          <a:p>
            <a:r>
              <a:rPr lang="zh-CN" altLang="en-US" dirty="0"/>
              <a:t>预测只交付</a:t>
            </a:r>
            <a:r>
              <a:rPr lang="en-US" altLang="zh-CN" dirty="0"/>
              <a:t>1</a:t>
            </a:r>
            <a:r>
              <a:rPr lang="zh-CN" altLang="en-US" dirty="0"/>
              <a:t>次</a:t>
            </a:r>
            <a:endParaRPr lang="en-US" altLang="zh-CN" dirty="0"/>
          </a:p>
          <a:p>
            <a:r>
              <a:rPr lang="zh-CN" altLang="en-US" dirty="0"/>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en-US" altLang="zh-CN" sz="1200" dirty="0">
                <a:solidFill>
                  <a:sysClr val="windowText" lastClr="000000"/>
                </a:solidFill>
              </a:rPr>
              <a:t>Combines iterative + incremental; </a:t>
            </a:r>
          </a:p>
          <a:p>
            <a:pPr>
              <a:buNone/>
            </a:pPr>
            <a:r>
              <a:rPr lang="en-US" altLang="zh-CN" sz="1200" dirty="0">
                <a:solidFill>
                  <a:sysClr val="windowText" lastClr="000000"/>
                </a:solidFill>
              </a:rPr>
              <a:t>high responsiveness to change; </a:t>
            </a:r>
          </a:p>
          <a:p>
            <a:pPr>
              <a:buNone/>
            </a:pPr>
            <a:r>
              <a:rPr lang="en-US" altLang="zh-CN" sz="1200" dirty="0">
                <a:solidFill>
                  <a:sysClr val="windowText" lastClr="000000"/>
                </a:solidFill>
              </a:rPr>
              <a:t>stakeholder feedback</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dirty="0">
                <a:solidFill>
                  <a:sysClr val="windowText" lastClr="000000"/>
                </a:solidFill>
              </a:rPr>
              <a:t>Combines iterative + incremental; </a:t>
            </a:r>
          </a:p>
          <a:p>
            <a:pPr>
              <a:buNone/>
            </a:pPr>
            <a:r>
              <a:rPr lang="en-US" altLang="zh-CN" sz="1200" dirty="0">
                <a:solidFill>
                  <a:sysClr val="windowText" lastClr="000000"/>
                </a:solidFill>
              </a:rPr>
              <a:t>high responsiveness to change; </a:t>
            </a:r>
          </a:p>
          <a:p>
            <a:pPr>
              <a:buNone/>
            </a:pPr>
            <a:r>
              <a:rPr lang="en-US" altLang="zh-CN" sz="1200" dirty="0">
                <a:solidFill>
                  <a:sysClr val="windowText" lastClr="000000"/>
                </a:solidFill>
              </a:rPr>
              <a:t>stakeholder feedback</a:t>
            </a:r>
          </a:p>
          <a:p>
            <a:endParaRPr lang="zh-CN" altLang="en-US" dirty="0"/>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特性（</a:t>
            </a:r>
            <a:r>
              <a:rPr lang="en-US" altLang="zh-CN" dirty="0"/>
              <a:t>Feature</a:t>
            </a:r>
            <a:r>
              <a:rPr lang="zh-CN" altLang="en-US" dirty="0"/>
              <a:t>）是“做什么”（业务功能单元）</a:t>
            </a:r>
          </a:p>
          <a:p>
            <a:r>
              <a:rPr lang="zh-CN" altLang="en-US" dirty="0"/>
              <a:t>增量（</a:t>
            </a:r>
            <a:r>
              <a:rPr lang="en-US" altLang="zh-CN" dirty="0"/>
              <a:t>Increment</a:t>
            </a:r>
            <a:r>
              <a:rPr lang="zh-CN" altLang="en-US" dirty="0"/>
              <a:t>）是“交付了什么”（可运行的软件版本）</a:t>
            </a:r>
            <a:endParaRPr lang="en-US" altLang="zh-CN" dirty="0"/>
          </a:p>
          <a:p>
            <a:r>
              <a:rPr lang="zh-CN" altLang="en-US" sz="1200" b="0" i="0" kern="1200" dirty="0">
                <a:solidFill>
                  <a:schemeClr val="tx1"/>
                </a:solidFill>
                <a:effectLst/>
                <a:latin typeface="+mn-lt"/>
                <a:ea typeface="+mn-ea"/>
                <a:cs typeface="+mn-cs"/>
              </a:rPr>
              <a:t>特性关注的是局部功能的完成。</a:t>
            </a:r>
          </a:p>
          <a:p>
            <a:r>
              <a:rPr lang="zh-CN" altLang="en-US" sz="1200" b="0" i="0" kern="1200" dirty="0">
                <a:solidFill>
                  <a:schemeClr val="tx1"/>
                </a:solidFill>
                <a:effectLst/>
                <a:latin typeface="+mn-lt"/>
                <a:ea typeface="+mn-ea"/>
                <a:cs typeface="+mn-cs"/>
              </a:rPr>
              <a:t>增量关注的是整体系统的可用性和稳定性。</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Empirical Process Control" (</a:t>
            </a:r>
            <a:r>
              <a:rPr lang="zh-CN" altLang="en-US" dirty="0"/>
              <a:t>经验过程控制</a:t>
            </a:r>
            <a:r>
              <a:rPr lang="en-US" altLang="zh-CN" dirty="0"/>
              <a:t>)</a:t>
            </a:r>
          </a:p>
          <a:p>
            <a:r>
              <a:rPr lang="en-US" altLang="zh-CN" dirty="0"/>
              <a:t>Technical Excellence" (</a:t>
            </a:r>
            <a:r>
              <a:rPr lang="zh-CN" altLang="en-US" dirty="0"/>
              <a:t>技术卓越</a:t>
            </a:r>
            <a:r>
              <a:rPr lang="en-US" altLang="zh-CN" dirty="0"/>
              <a:t>)</a:t>
            </a:r>
          </a:p>
          <a:p>
            <a:r>
              <a:rPr lang="en-US" altLang="zh-CN" dirty="0"/>
              <a:t>People over Processes" (</a:t>
            </a:r>
            <a:r>
              <a:rPr lang="zh-CN" altLang="en-US" dirty="0"/>
              <a:t>以人为本，胜过流程</a:t>
            </a:r>
            <a:r>
              <a:rPr lang="en-US" altLang="zh-CN" dirty="0"/>
              <a: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思想引导</a:t>
            </a:r>
            <a:endParaRPr lang="en-US" altLang="zh-CN" dirty="0"/>
          </a:p>
          <a:p>
            <a:r>
              <a:rPr lang="zh-CN" altLang="en-US" dirty="0"/>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不拆台</a:t>
            </a:r>
            <a:endParaRPr lang="en-US" altLang="zh-CN" dirty="0"/>
          </a:p>
          <a:p>
            <a:r>
              <a:rPr lang="zh-CN" altLang="en-US" dirty="0"/>
              <a:t>开发：透明。中国人，报喜不报忧</a:t>
            </a:r>
            <a:endParaRPr lang="en-US" altLang="zh-CN" dirty="0"/>
          </a:p>
          <a:p>
            <a:r>
              <a:rPr lang="zh-CN" altLang="en-US" dirty="0"/>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DoD</a:t>
            </a:r>
            <a:r>
              <a:rPr lang="zh-CN" altLang="en-US" dirty="0"/>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PM </a:t>
            </a:r>
            <a:r>
              <a:rPr lang="zh-CN" altLang="en-US" dirty="0"/>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dirty="0"/>
              <a:t>1. Why not mentor</a:t>
            </a:r>
            <a:r>
              <a:rPr lang="zh-CN" altLang="en-US" dirty="0"/>
              <a:t>？</a:t>
            </a:r>
            <a:endParaRPr lang="en-US" altLang="zh-CN" dirty="0"/>
          </a:p>
          <a:p>
            <a:r>
              <a:rPr lang="en-US" altLang="zh-CN" dirty="0"/>
              <a:t>4. Causing </a:t>
            </a:r>
            <a:r>
              <a:rPr lang="zh-CN" altLang="en-US" dirty="0"/>
              <a:t>：不是每次都亲历亲为，而是促使移除障碍的完成；完美地体现 影响力 </a:t>
            </a:r>
            <a:r>
              <a:rPr lang="en-US" altLang="zh-CN" dirty="0"/>
              <a:t>(Influence) </a:t>
            </a:r>
            <a:r>
              <a:rPr lang="zh-CN" altLang="en-US" dirty="0"/>
              <a:t>和 推动力 </a:t>
            </a:r>
            <a:r>
              <a:rPr lang="en-US" altLang="zh-CN" dirty="0"/>
              <a:t>(Facilitation)</a:t>
            </a:r>
            <a:r>
              <a:rPr lang="zh-CN" altLang="en-US" dirty="0"/>
              <a:t>，而不仅仅是 执行力 </a:t>
            </a:r>
            <a:r>
              <a:rPr lang="en-US" altLang="zh-CN" dirty="0"/>
              <a:t>(Execution)</a:t>
            </a:r>
            <a:r>
              <a:rPr lang="zh-CN" altLang="en-US" dirty="0"/>
              <a:t>。</a:t>
            </a:r>
            <a:endParaRPr lang="en-US" altLang="zh-CN" dirty="0"/>
          </a:p>
          <a:p>
            <a:r>
              <a:rPr lang="en-US" altLang="zh-CN" dirty="0"/>
              <a:t>2.</a:t>
            </a:r>
            <a:r>
              <a:rPr lang="zh-CN" altLang="en-US" dirty="0"/>
              <a:t>目标与方向</a:t>
            </a:r>
            <a:r>
              <a:rPr lang="en-US" altLang="zh-CN" dirty="0"/>
              <a:t>-</a:t>
            </a:r>
            <a:r>
              <a:rPr lang="zh-CN" altLang="en-US" dirty="0"/>
              <a:t>做什么</a:t>
            </a:r>
            <a:endParaRPr lang="en-US" altLang="zh-CN" dirty="0"/>
          </a:p>
          <a:p>
            <a:r>
              <a:rPr lang="en-US" altLang="zh-CN" dirty="0"/>
              <a:t>4. </a:t>
            </a:r>
            <a:r>
              <a:rPr lang="zh-CN" altLang="en-US" dirty="0"/>
              <a:t>执行与环境</a:t>
            </a:r>
            <a:r>
              <a:rPr lang="en-US" altLang="zh-CN" dirty="0"/>
              <a:t>-</a:t>
            </a:r>
            <a:r>
              <a:rPr lang="zh-CN" altLang="en-US" dirty="0"/>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Enact</a:t>
            </a:r>
            <a:r>
              <a:rPr lang="zh-CN" altLang="en-US" dirty="0"/>
              <a:t>：</a:t>
            </a:r>
            <a:r>
              <a:rPr lang="en-US" altLang="zh-CN" dirty="0" err="1"/>
              <a:t>en</a:t>
            </a:r>
            <a:r>
              <a:rPr lang="en-US" altLang="zh-CN" dirty="0"/>
              <a:t>-act</a:t>
            </a:r>
            <a:r>
              <a:rPr lang="zh-CN" altLang="en-US" dirty="0"/>
              <a:t>，付诸实践”、“践行” 或 “将</a:t>
            </a:r>
            <a:r>
              <a:rPr lang="en-US" altLang="zh-CN" dirty="0"/>
              <a:t>……</a:t>
            </a:r>
            <a:r>
              <a:rPr lang="zh-CN" altLang="en-US" dirty="0"/>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The Sprint is a container for all other events.</a:t>
            </a:r>
            <a:r>
              <a:rPr lang="zh-CN" altLang="en-US" dirty="0"/>
              <a:t>；冲刺类型学期</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Scrum </a:t>
            </a:r>
            <a:r>
              <a:rPr lang="zh-CN" altLang="en-US" dirty="0"/>
              <a:t>框架（包括 </a:t>
            </a:r>
            <a:r>
              <a:rPr lang="en-US" altLang="zh-CN" dirty="0"/>
              <a:t>Sprints</a:t>
            </a:r>
            <a:r>
              <a:rPr lang="zh-CN" altLang="en-US" dirty="0"/>
              <a:t>）只是提供了一个容器和机制。它创造了一个环境，让“可预测性”变得可能。但是否真的实现了可预测性，还取决于团队是否真正有效地进行了“检视（</a:t>
            </a:r>
            <a:r>
              <a:rPr lang="en-US" altLang="zh-CN" dirty="0"/>
              <a:t>inspection</a:t>
            </a:r>
            <a:r>
              <a:rPr lang="zh-CN" altLang="en-US" dirty="0"/>
              <a:t>）”和“适应（</a:t>
            </a:r>
            <a:r>
              <a:rPr lang="en-US" altLang="zh-CN" dirty="0"/>
              <a:t>adaptation</a:t>
            </a:r>
            <a:r>
              <a:rPr lang="zh-CN" altLang="en-US" dirty="0"/>
              <a:t>）</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冲刺目标不可动摇、</a:t>
            </a:r>
            <a:endParaRPr lang="en-US" altLang="zh-CN" dirty="0"/>
          </a:p>
          <a:p>
            <a:r>
              <a:rPr lang="zh-CN" altLang="en-US" dirty="0"/>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8h</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每日站会能够改善沟通、识别障碍、促进快速决策，从而消除对其他会议的需求</a:t>
            </a:r>
            <a:endParaRPr lang="en-US" altLang="zh-CN" dirty="0"/>
          </a:p>
          <a:p>
            <a:r>
              <a:rPr lang="zh-CN" altLang="en-US" dirty="0"/>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 </a:t>
            </a:r>
            <a:r>
              <a:rPr lang="en-US" altLang="zh-CN" dirty="0"/>
              <a:t>(People)</a:t>
            </a:r>
            <a:r>
              <a:rPr lang="zh-CN" altLang="en-US" dirty="0"/>
              <a:t>：团队成员之间的协作如何？沟通是否顺畅？士气如何？</a:t>
            </a:r>
          </a:p>
          <a:p>
            <a:r>
              <a:rPr lang="zh-CN" altLang="en-US" dirty="0"/>
              <a:t>流程 </a:t>
            </a:r>
            <a:r>
              <a:rPr lang="en-US" altLang="zh-CN" dirty="0"/>
              <a:t>(Process)</a:t>
            </a:r>
            <a:r>
              <a:rPr lang="zh-CN" altLang="en-US" dirty="0"/>
              <a:t>：工作流程是否高效？工具是否顺手？每日站会是否有价值？</a:t>
            </a:r>
          </a:p>
          <a:p>
            <a:r>
              <a:rPr lang="zh-CN" altLang="en-US" dirty="0"/>
              <a:t>产品 </a:t>
            </a:r>
            <a:r>
              <a:rPr lang="en-US" altLang="zh-CN" dirty="0"/>
              <a:t>(Product)</a:t>
            </a:r>
            <a:r>
              <a:rPr lang="zh-CN" altLang="en-US" dirty="0"/>
              <a:t>：交付的增量质量如何？是否满足了 </a:t>
            </a:r>
            <a:r>
              <a:rPr lang="en-US" altLang="zh-CN" dirty="0"/>
              <a:t>DoD</a:t>
            </a:r>
            <a:r>
              <a:rPr lang="zh-CN" altLang="en-US" dirty="0"/>
              <a:t>（完成定义）？用户反馈如何？</a:t>
            </a:r>
          </a:p>
          <a:p>
            <a:r>
              <a:rPr lang="zh-CN" altLang="en-US" dirty="0"/>
              <a:t>关系 </a:t>
            </a:r>
            <a:r>
              <a:rPr lang="en-US" altLang="zh-CN" dirty="0"/>
              <a:t>(Relationships)</a:t>
            </a:r>
            <a:r>
              <a:rPr lang="zh-CN" altLang="en-US" dirty="0"/>
              <a:t>：团队与利益相关者的互动如何？</a:t>
            </a:r>
            <a:endParaRPr lang="en-US" altLang="zh-CN" dirty="0"/>
          </a:p>
          <a:p>
            <a:r>
              <a:rPr lang="zh-CN" altLang="en-US" dirty="0"/>
              <a:t>确定未来的调整；反馈 </a:t>
            </a:r>
            <a:r>
              <a:rPr lang="en-US" altLang="zh-CN" dirty="0"/>
              <a:t>feedback</a:t>
            </a:r>
          </a:p>
          <a:p>
            <a:endParaRPr lang="en-US" altLang="zh-CN" dirty="0"/>
          </a:p>
          <a:p>
            <a:r>
              <a:rPr lang="zh-CN" altLang="en-US" dirty="0"/>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Concludes: </a:t>
            </a:r>
            <a:r>
              <a:rPr lang="zh-CN" altLang="en-US" dirty="0"/>
              <a:t>表示通过一个正式的仪式、活动或最后的动作，使整个过程完整地完成</a:t>
            </a:r>
            <a:endParaRPr lang="en-US" altLang="zh-CN" dirty="0"/>
          </a:p>
          <a:p>
            <a:r>
              <a:rPr lang="zh-CN" altLang="en-US" dirty="0"/>
              <a:t>总结 </a:t>
            </a:r>
            <a:r>
              <a:rPr lang="en-US" altLang="zh-CN" dirty="0"/>
              <a:t>summary</a:t>
            </a:r>
          </a:p>
          <a:p>
            <a:r>
              <a:rPr lang="zh-CN" altLang="en-US" dirty="0"/>
              <a:t>规划提升质量与效能的方法</a:t>
            </a:r>
            <a:endParaRPr lang="en-US" altLang="zh-CN" dirty="0"/>
          </a:p>
          <a:p>
            <a:r>
              <a:rPr lang="zh-CN" altLang="en-US" dirty="0"/>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dirty="0"/>
              <a:t>Product Backlog </a:t>
            </a:r>
            <a:r>
              <a:rPr lang="zh-CN" altLang="en-US" dirty="0"/>
              <a:t>是一个由 </a:t>
            </a:r>
            <a:r>
              <a:rPr lang="en-US" altLang="zh-CN" dirty="0"/>
              <a:t>PO </a:t>
            </a:r>
            <a:r>
              <a:rPr lang="zh-CN" altLang="en-US" dirty="0"/>
              <a:t>负责排序和内容、由 </a:t>
            </a:r>
            <a:r>
              <a:rPr lang="en-US" altLang="zh-CN" dirty="0"/>
              <a:t>Developers </a:t>
            </a:r>
            <a:r>
              <a:rPr lang="zh-CN" altLang="en-US" dirty="0"/>
              <a:t>负责估算和技术实现的、动态演进的“唯一工作清单”，它不仅包含功能，还包含修复和技术改进，且越靠近顶部的条目越清晰、越小。</a:t>
            </a:r>
            <a:endParaRPr lang="en-US" altLang="zh-CN" dirty="0"/>
          </a:p>
          <a:p>
            <a:r>
              <a:rPr lang="zh-CN" altLang="en-US" dirty="0"/>
              <a:t>所有条目最终服务于 </a:t>
            </a:r>
            <a:r>
              <a:rPr lang="en-US" altLang="zh-CN" dirty="0"/>
              <a:t>Product Goal</a:t>
            </a:r>
            <a:r>
              <a:rPr lang="zh-CN" altLang="en-US" dirty="0"/>
              <a:t>（产品目标）</a:t>
            </a:r>
            <a:endParaRPr lang="en-US" altLang="zh-CN" dirty="0"/>
          </a:p>
          <a:p>
            <a:r>
              <a:rPr lang="zh-CN" altLang="en-US" dirty="0"/>
              <a:t>产品待办列表是一个随着认知深入而逐渐清晰（涌现）、且经过优先级排序的列表：动态和方向</a:t>
            </a:r>
            <a:endParaRPr lang="en-US" altLang="zh-CN" dirty="0"/>
          </a:p>
          <a:p>
            <a:r>
              <a:rPr lang="zh-CN" altLang="en-US" dirty="0"/>
              <a:t>价值清晰（</a:t>
            </a:r>
            <a:r>
              <a:rPr lang="en-US" altLang="zh-CN" dirty="0"/>
              <a:t>PO </a:t>
            </a:r>
            <a:r>
              <a:rPr lang="zh-CN" altLang="en-US" dirty="0"/>
              <a:t>确认）</a:t>
            </a:r>
          </a:p>
          <a:p>
            <a:r>
              <a:rPr lang="zh-CN" altLang="en-US" dirty="0"/>
              <a:t>大小合适（</a:t>
            </a:r>
            <a:r>
              <a:rPr lang="en-US" altLang="zh-CN" dirty="0"/>
              <a:t>Dev </a:t>
            </a:r>
            <a:r>
              <a:rPr lang="zh-CN" altLang="en-US" dirty="0"/>
              <a:t>确认能在一个 </a:t>
            </a:r>
            <a:r>
              <a:rPr lang="en-US" altLang="zh-CN" dirty="0"/>
              <a:t>Sprint </a:t>
            </a:r>
            <a:r>
              <a:rPr lang="zh-CN" altLang="en-US" dirty="0"/>
              <a:t>做完）</a:t>
            </a:r>
          </a:p>
          <a:p>
            <a:r>
              <a:rPr lang="zh-CN" altLang="en-US" dirty="0"/>
              <a:t>方案可行（团队达成共识）</a:t>
            </a:r>
            <a:endParaRPr lang="en-US" altLang="zh-CN" dirty="0"/>
          </a:p>
          <a:p>
            <a:endParaRPr lang="en-US" altLang="zh-CN" dirty="0"/>
          </a:p>
          <a:p>
            <a:r>
              <a:rPr lang="en-US" altLang="zh-CN" dirty="0"/>
              <a:t>Single</a:t>
            </a:r>
            <a:r>
              <a:rPr lang="zh-CN" altLang="en-US" dirty="0"/>
              <a:t>：单一的，唯一的，从数量上限制了团队任务的来源；</a:t>
            </a:r>
            <a:r>
              <a:rPr lang="en-US" altLang="zh-CN" dirty="0"/>
              <a:t>unique</a:t>
            </a:r>
            <a:r>
              <a:rPr lang="zh-CN" altLang="en-US" dirty="0"/>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dirty="0"/>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不能破坏之前的提交</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 </a:t>
            </a:r>
            <a:r>
              <a:rPr lang="en-US" altLang="zh-CN" dirty="0"/>
              <a:t>DoD </a:t>
            </a:r>
            <a:r>
              <a:rPr lang="zh-CN" altLang="en-US" dirty="0"/>
              <a:t>：代码已审查 </a:t>
            </a:r>
            <a:r>
              <a:rPr lang="en-US" altLang="zh-CN" dirty="0"/>
              <a:t>+ </a:t>
            </a:r>
            <a:r>
              <a:rPr lang="zh-CN" altLang="en-US" dirty="0"/>
              <a:t>单元测试通过 </a:t>
            </a:r>
            <a:r>
              <a:rPr lang="en-US" altLang="zh-CN" dirty="0"/>
              <a:t>+ </a:t>
            </a:r>
            <a:r>
              <a:rPr lang="zh-CN" altLang="en-US" dirty="0"/>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Backlog</a:t>
            </a:r>
            <a:r>
              <a:rPr lang="zh-CN" altLang="en-US" dirty="0"/>
              <a:t>（产品待办列表）</a:t>
            </a:r>
          </a:p>
          <a:p>
            <a:r>
              <a:rPr lang="zh-CN" altLang="en-US" dirty="0"/>
              <a:t>定义：所有未来可能做的功能、改进、修复的集合。</a:t>
            </a:r>
          </a:p>
          <a:p>
            <a:r>
              <a:rPr lang="zh-CN" altLang="en-US" dirty="0"/>
              <a:t>特点：</a:t>
            </a:r>
          </a:p>
          <a:p>
            <a:r>
              <a:rPr lang="zh-CN" altLang="en-US" dirty="0"/>
              <a:t>包含大量条目，有些甚至还没细化。</a:t>
            </a:r>
          </a:p>
          <a:p>
            <a:r>
              <a:rPr lang="zh-CN" altLang="en-US" dirty="0"/>
              <a:t>优先级不固定，随时可以调整或删除。</a:t>
            </a:r>
          </a:p>
          <a:p>
            <a:r>
              <a:rPr lang="zh-CN" altLang="en-US" dirty="0"/>
              <a:t>通常由产品经理</a:t>
            </a:r>
            <a:r>
              <a:rPr lang="en-US" altLang="zh-CN" dirty="0"/>
              <a:t>/PO </a:t>
            </a:r>
            <a:r>
              <a:rPr lang="zh-CN" altLang="en-US" dirty="0"/>
              <a:t>维护。</a:t>
            </a:r>
          </a:p>
          <a:p>
            <a:r>
              <a:rPr lang="zh-CN" altLang="en-US" dirty="0"/>
              <a:t>是“战略层”的任务池。</a:t>
            </a:r>
            <a:endParaRPr lang="en-US" altLang="zh-CN" dirty="0"/>
          </a:p>
          <a:p>
            <a:endParaRPr lang="en-US" altLang="zh-CN" dirty="0"/>
          </a:p>
          <a:p>
            <a:r>
              <a:rPr lang="en-US" altLang="zh-CN" dirty="0"/>
              <a:t>To Do</a:t>
            </a:r>
            <a:r>
              <a:rPr lang="zh-CN" altLang="en-US" dirty="0"/>
              <a:t>（待办列）</a:t>
            </a:r>
          </a:p>
          <a:p>
            <a:r>
              <a:rPr lang="zh-CN" altLang="en-US" dirty="0"/>
              <a:t>定义：从 </a:t>
            </a:r>
            <a:r>
              <a:rPr lang="en-US" altLang="zh-CN" dirty="0"/>
              <a:t>Backlog </a:t>
            </a:r>
            <a:r>
              <a:rPr lang="zh-CN" altLang="en-US" dirty="0"/>
              <a:t>中挑选出来、准备在下一个周期（如本周</a:t>
            </a:r>
            <a:r>
              <a:rPr lang="en-US" altLang="zh-CN" dirty="0"/>
              <a:t>/</a:t>
            </a:r>
            <a:r>
              <a:rPr lang="zh-CN" altLang="en-US" dirty="0"/>
              <a:t>本迭代）开始执行的任务。</a:t>
            </a:r>
          </a:p>
          <a:p>
            <a:r>
              <a:rPr lang="zh-CN" altLang="en-US" dirty="0"/>
              <a:t>特点：</a:t>
            </a:r>
          </a:p>
          <a:p>
            <a:r>
              <a:rPr lang="zh-CN" altLang="en-US" dirty="0"/>
              <a:t>已经经过筛选、估算、排期。</a:t>
            </a:r>
          </a:p>
          <a:p>
            <a:r>
              <a:rPr lang="zh-CN" altLang="en-US" dirty="0"/>
              <a:t>优先级明确，团队承诺要完成。</a:t>
            </a:r>
          </a:p>
          <a:p>
            <a:r>
              <a:rPr lang="zh-CN" altLang="en-US" dirty="0"/>
              <a:t>通常是当前工作流的起点。</a:t>
            </a:r>
          </a:p>
          <a:p>
            <a:r>
              <a:rPr lang="zh-CN" altLang="en-US" dirty="0"/>
              <a:t>属于“战术层”的执行计划。</a:t>
            </a:r>
          </a:p>
          <a:p>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123</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dirty="0"/>
              <a:t>在项目启动阶段：</a:t>
            </a:r>
          </a:p>
          <a:p>
            <a:r>
              <a:rPr lang="zh-CN" altLang="en-US" dirty="0"/>
              <a:t>先明确业务需求（为什么做？）</a:t>
            </a:r>
          </a:p>
          <a:p>
            <a:r>
              <a:rPr lang="zh-CN" altLang="en-US" dirty="0"/>
              <a:t>再调研用户需求（谁要用？怎么用？）</a:t>
            </a:r>
          </a:p>
          <a:p>
            <a:r>
              <a:rPr lang="zh-CN" altLang="en-US" dirty="0"/>
              <a:t>最后细化功能需求（系统怎么实现？）</a:t>
            </a:r>
            <a:endParaRPr lang="en-US" altLang="zh-CN" dirty="0"/>
          </a:p>
          <a:p>
            <a:endParaRPr lang="en-US" altLang="zh-CN" dirty="0"/>
          </a:p>
          <a:p>
            <a:r>
              <a:rPr lang="zh-CN" altLang="en-US" dirty="0"/>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124</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dirty="0"/>
              <a:t>在项目启动阶段：</a:t>
            </a:r>
          </a:p>
          <a:p>
            <a:r>
              <a:rPr lang="zh-CN" altLang="en-US" dirty="0"/>
              <a:t>先明确业务需求（为什么做？）</a:t>
            </a:r>
          </a:p>
          <a:p>
            <a:r>
              <a:rPr lang="zh-CN" altLang="en-US" dirty="0"/>
              <a:t>再调研用户需求（谁要用？怎么用？）</a:t>
            </a:r>
          </a:p>
          <a:p>
            <a:r>
              <a:rPr lang="zh-CN" altLang="en-US" dirty="0"/>
              <a:t>最后细化功能需求（系统怎么实现？）</a:t>
            </a:r>
            <a:endParaRPr lang="en-US" altLang="zh-CN" dirty="0"/>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dirty="0"/>
              <a:t>不要只听“领导说”或“产品经理想”，要找到最终使用系统的人</a:t>
            </a:r>
            <a:endParaRPr lang="en-US" altLang="zh-CN" dirty="0"/>
          </a:p>
          <a:p>
            <a:r>
              <a:rPr lang="zh-CN" altLang="en-US" dirty="0"/>
              <a:t>把“决策者”当成“使用者”（如老板提需求，但一线员工不用）；</a:t>
            </a:r>
          </a:p>
          <a:p>
            <a:r>
              <a:rPr lang="zh-CN" altLang="en-US" dirty="0"/>
              <a:t>忽略间接用户（如管理员、运维人员、客户服务中心）；</a:t>
            </a:r>
          </a:p>
          <a:p>
            <a:r>
              <a:rPr lang="zh-CN" altLang="en-US" dirty="0"/>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dirty="0"/>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dirty="0"/>
              <a:t>需求追踪矩阵（</a:t>
            </a:r>
            <a:r>
              <a:rPr lang="en-US" altLang="zh-CN" dirty="0"/>
              <a:t>Requirements Traceability Matrix</a:t>
            </a:r>
            <a:r>
              <a:rPr lang="zh-CN" altLang="en-US" dirty="0"/>
              <a:t>，简称 </a:t>
            </a:r>
            <a:r>
              <a:rPr lang="en-US" altLang="zh-CN" dirty="0"/>
              <a:t>RTM</a:t>
            </a:r>
            <a:endParaRPr lang="zh-CN" altLang="en-US" dirty="0"/>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dirty="0"/>
              <a:t>| </a:t>
            </a:r>
            <a:r>
              <a:rPr lang="zh-CN" altLang="en-US" dirty="0"/>
              <a:t>角色 </a:t>
            </a:r>
            <a:r>
              <a:rPr lang="en-US" altLang="zh-CN" dirty="0"/>
              <a:t>| </a:t>
            </a:r>
            <a:r>
              <a:rPr lang="zh-CN" altLang="en-US" dirty="0"/>
              <a:t>职责 </a:t>
            </a:r>
            <a:r>
              <a:rPr lang="en-US" altLang="zh-CN" dirty="0"/>
              <a:t>|</a:t>
            </a:r>
          </a:p>
          <a:p>
            <a:r>
              <a:rPr lang="en-US" altLang="zh-CN" dirty="0"/>
              <a:t>|------|------|</a:t>
            </a:r>
          </a:p>
          <a:p>
            <a:r>
              <a:rPr lang="en-US" altLang="zh-CN" dirty="0"/>
              <a:t>| </a:t>
            </a:r>
            <a:r>
              <a:rPr lang="zh-CN" altLang="en-US" dirty="0"/>
              <a:t>主席（通常为项目经理或产品负责人） </a:t>
            </a:r>
            <a:r>
              <a:rPr lang="en-US" altLang="zh-CN" dirty="0"/>
              <a:t>| </a:t>
            </a:r>
            <a:r>
              <a:rPr lang="zh-CN" altLang="en-US" dirty="0"/>
              <a:t>主持会议、推动决策、确保流程执行 </a:t>
            </a:r>
            <a:r>
              <a:rPr lang="en-US" altLang="zh-CN" dirty="0"/>
              <a:t>|</a:t>
            </a:r>
          </a:p>
          <a:p>
            <a:r>
              <a:rPr lang="en-US" altLang="zh-CN" dirty="0"/>
              <a:t>| </a:t>
            </a:r>
            <a:r>
              <a:rPr lang="zh-CN" altLang="en-US" dirty="0"/>
              <a:t>产品经理</a:t>
            </a:r>
            <a:r>
              <a:rPr lang="en-US" altLang="zh-CN" dirty="0"/>
              <a:t>/</a:t>
            </a:r>
            <a:r>
              <a:rPr lang="zh-CN" altLang="en-US" dirty="0"/>
              <a:t>业务代表 </a:t>
            </a:r>
            <a:r>
              <a:rPr lang="en-US" altLang="zh-CN" dirty="0"/>
              <a:t>| </a:t>
            </a:r>
            <a:r>
              <a:rPr lang="zh-CN" altLang="en-US" dirty="0"/>
              <a:t>评估变更对业务目标的影响、优先级判断 </a:t>
            </a:r>
            <a:r>
              <a:rPr lang="en-US" altLang="zh-CN" dirty="0"/>
              <a:t>|</a:t>
            </a:r>
          </a:p>
          <a:p>
            <a:r>
              <a:rPr lang="en-US" altLang="zh-CN" dirty="0"/>
              <a:t>| </a:t>
            </a:r>
            <a:r>
              <a:rPr lang="zh-CN" altLang="en-US" dirty="0"/>
              <a:t>架构师</a:t>
            </a:r>
            <a:r>
              <a:rPr lang="en-US" altLang="zh-CN" dirty="0"/>
              <a:t>/</a:t>
            </a:r>
            <a:r>
              <a:rPr lang="zh-CN" altLang="en-US" dirty="0"/>
              <a:t>技术负责人 </a:t>
            </a:r>
            <a:r>
              <a:rPr lang="en-US" altLang="zh-CN" dirty="0"/>
              <a:t>| </a:t>
            </a:r>
            <a:r>
              <a:rPr lang="zh-CN" altLang="en-US" dirty="0"/>
              <a:t>评估技术可行性、架构影响、工作量估算 </a:t>
            </a:r>
            <a:r>
              <a:rPr lang="en-US" altLang="zh-CN" dirty="0"/>
              <a:t>|</a:t>
            </a:r>
          </a:p>
          <a:p>
            <a:r>
              <a:rPr lang="en-US" altLang="zh-CN" dirty="0"/>
              <a:t>| </a:t>
            </a:r>
            <a:r>
              <a:rPr lang="zh-CN" altLang="en-US" dirty="0"/>
              <a:t>测试负责人 </a:t>
            </a:r>
            <a:r>
              <a:rPr lang="en-US" altLang="zh-CN" dirty="0"/>
              <a:t>| </a:t>
            </a:r>
            <a:r>
              <a:rPr lang="zh-CN" altLang="en-US" dirty="0"/>
              <a:t>评估测试范围扩大、回归测试成本、质量风险 </a:t>
            </a:r>
            <a:r>
              <a:rPr lang="en-US" altLang="zh-CN" dirty="0"/>
              <a:t>|</a:t>
            </a:r>
          </a:p>
          <a:p>
            <a:r>
              <a:rPr lang="en-US" altLang="zh-CN" dirty="0"/>
              <a:t>| </a:t>
            </a:r>
            <a:r>
              <a:rPr lang="zh-CN" altLang="en-US" dirty="0"/>
              <a:t>配置管理员 </a:t>
            </a:r>
            <a:r>
              <a:rPr lang="en-US" altLang="zh-CN" dirty="0"/>
              <a:t>| </a:t>
            </a:r>
            <a:r>
              <a:rPr lang="zh-CN" altLang="en-US" dirty="0"/>
              <a:t>记录变更、维护基线、版本控制 </a:t>
            </a:r>
            <a:r>
              <a:rPr lang="en-US" altLang="zh-CN" dirty="0"/>
              <a:t>|</a:t>
            </a:r>
          </a:p>
          <a:p>
            <a:r>
              <a:rPr lang="en-US" altLang="zh-CN" dirty="0"/>
              <a:t>| </a:t>
            </a:r>
            <a:r>
              <a:rPr lang="zh-CN" altLang="en-US" dirty="0"/>
              <a:t>客户代表（可选） </a:t>
            </a:r>
            <a:r>
              <a:rPr lang="en-US" altLang="zh-CN" dirty="0"/>
              <a:t>| </a:t>
            </a:r>
            <a:r>
              <a:rPr lang="zh-CN" altLang="en-US" dirty="0"/>
              <a:t>在外包或定制化项目中参与决策 </a:t>
            </a:r>
            <a:r>
              <a:rPr lang="en-US" altLang="zh-CN" dirty="0"/>
              <a:t>|</a:t>
            </a:r>
          </a:p>
          <a:p>
            <a:endParaRPr lang="en-US" altLang="zh-CN" dirty="0"/>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实体</a:t>
            </a:r>
            <a:endParaRPr lang="en-US" altLang="zh-CN" dirty="0"/>
          </a:p>
          <a:p>
            <a:r>
              <a:rPr lang="zh-CN" altLang="en-US" dirty="0"/>
              <a:t>加工</a:t>
            </a:r>
            <a:r>
              <a:rPr lang="en-US" altLang="zh-CN" dirty="0"/>
              <a:t>/</a:t>
            </a:r>
            <a:r>
              <a:rPr lang="zh-CN" altLang="en-US" dirty="0"/>
              <a:t>处理</a:t>
            </a:r>
            <a:endParaRPr lang="en-US" altLang="zh-CN" dirty="0"/>
          </a:p>
          <a:p>
            <a:r>
              <a:rPr lang="zh-CN" altLang="en-US" dirty="0"/>
              <a:t>数据流</a:t>
            </a:r>
            <a:endParaRPr lang="en-US" altLang="zh-CN" dirty="0"/>
          </a:p>
          <a:p>
            <a:r>
              <a:rPr lang="zh-CN" altLang="en-US" dirty="0"/>
              <a:t>存储</a:t>
            </a:r>
            <a:endParaRPr lang="en-US" altLang="zh-CN" dirty="0"/>
          </a:p>
          <a:p>
            <a:endParaRPr lang="en-US" altLang="zh-CN" dirty="0"/>
          </a:p>
          <a:p>
            <a:r>
              <a:rPr lang="zh-CN" altLang="en-US" dirty="0"/>
              <a:t>用例图</a:t>
            </a:r>
            <a:endParaRPr lang="en-US" altLang="zh-CN" dirty="0"/>
          </a:p>
          <a:p>
            <a:r>
              <a:rPr lang="zh-CN" altLang="en-US" sz="1200" b="0" i="0" kern="1200" dirty="0">
                <a:solidFill>
                  <a:schemeClr val="tx1"/>
                </a:solidFill>
                <a:effectLst/>
                <a:latin typeface="+mn-lt"/>
                <a:ea typeface="+mn-ea"/>
                <a:cs typeface="+mn-cs"/>
              </a:rPr>
              <a:t>参与者（</a:t>
            </a:r>
            <a:r>
              <a:rPr lang="en-US" altLang="zh-CN" sz="1200" b="0" i="0" kern="1200" dirty="0">
                <a:solidFill>
                  <a:schemeClr val="tx1"/>
                </a:solidFill>
                <a:effectLst/>
                <a:latin typeface="+mn-lt"/>
                <a:ea typeface="+mn-ea"/>
                <a:cs typeface="+mn-cs"/>
              </a:rPr>
              <a:t>Actor</a:t>
            </a:r>
            <a:r>
              <a:rPr lang="zh-CN" altLang="en-US" sz="1200" b="0" i="0" kern="1200" dirty="0">
                <a:solidFill>
                  <a:schemeClr val="tx1"/>
                </a:solidFill>
                <a:effectLst/>
                <a:latin typeface="+mn-lt"/>
                <a:ea typeface="+mn-ea"/>
                <a:cs typeface="+mn-cs"/>
              </a:rPr>
              <a:t>）：系统外部的人或系统（如：用户、管理员、支付网关）。</a:t>
            </a:r>
          </a:p>
          <a:p>
            <a:r>
              <a:rPr lang="zh-CN" altLang="en-US" sz="1200" b="0" i="0" kern="1200" dirty="0">
                <a:solidFill>
                  <a:schemeClr val="tx1"/>
                </a:solidFill>
                <a:effectLst/>
                <a:latin typeface="+mn-lt"/>
                <a:ea typeface="+mn-ea"/>
                <a:cs typeface="+mn-cs"/>
              </a:rPr>
              <a:t>用例（</a:t>
            </a:r>
            <a:r>
              <a:rPr lang="en-US" altLang="zh-CN" sz="1200" b="0" i="0" kern="1200" dirty="0">
                <a:solidFill>
                  <a:schemeClr val="tx1"/>
                </a:solidFill>
                <a:effectLst/>
                <a:latin typeface="+mn-lt"/>
                <a:ea typeface="+mn-ea"/>
                <a:cs typeface="+mn-cs"/>
              </a:rPr>
              <a:t>Use Case</a:t>
            </a:r>
            <a:r>
              <a:rPr lang="zh-CN" altLang="en-US" sz="1200" b="0" i="0" kern="1200" dirty="0">
                <a:solidFill>
                  <a:schemeClr val="tx1"/>
                </a:solidFill>
                <a:effectLst/>
                <a:latin typeface="+mn-lt"/>
                <a:ea typeface="+mn-ea"/>
                <a:cs typeface="+mn-cs"/>
              </a:rPr>
              <a:t>）：系统提供的具体功能（如：登录、下单、查询订单）。</a:t>
            </a:r>
          </a:p>
          <a:p>
            <a:r>
              <a:rPr lang="zh-CN" altLang="en-US" sz="1200" b="0" i="0" kern="1200" dirty="0">
                <a:solidFill>
                  <a:schemeClr val="tx1"/>
                </a:solidFill>
                <a:effectLst/>
                <a:latin typeface="+mn-lt"/>
                <a:ea typeface="+mn-ea"/>
                <a:cs typeface="+mn-cs"/>
              </a:rPr>
              <a:t>关系：关联、包含（</a:t>
            </a:r>
            <a:r>
              <a:rPr lang="en-US" altLang="zh-CN" sz="1200" b="0" i="0" kern="1200" dirty="0">
                <a:solidFill>
                  <a:schemeClr val="tx1"/>
                </a:solidFill>
                <a:effectLst/>
                <a:latin typeface="+mn-lt"/>
                <a:ea typeface="+mn-ea"/>
                <a:cs typeface="+mn-cs"/>
              </a:rPr>
              <a:t>include</a:t>
            </a:r>
            <a:r>
              <a:rPr lang="zh-CN" altLang="en-US" sz="1200" b="0" i="0" kern="1200" dirty="0">
                <a:solidFill>
                  <a:schemeClr val="tx1"/>
                </a:solidFill>
                <a:effectLst/>
                <a:latin typeface="+mn-lt"/>
                <a:ea typeface="+mn-ea"/>
                <a:cs typeface="+mn-cs"/>
              </a:rPr>
              <a:t>）、扩展（</a:t>
            </a:r>
            <a:r>
              <a:rPr lang="en-US" altLang="zh-CN" sz="1200" b="0" i="0" kern="1200" dirty="0">
                <a:solidFill>
                  <a:schemeClr val="tx1"/>
                </a:solidFill>
                <a:effectLst/>
                <a:latin typeface="+mn-lt"/>
                <a:ea typeface="+mn-ea"/>
                <a:cs typeface="+mn-cs"/>
              </a:rPr>
              <a:t>extend</a:t>
            </a:r>
            <a:r>
              <a:rPr lang="zh-CN" altLang="en-US" sz="1200" b="0" i="0" kern="1200" dirty="0">
                <a:solidFill>
                  <a:schemeClr val="tx1"/>
                </a:solidFill>
                <a:effectLst/>
                <a:latin typeface="+mn-lt"/>
                <a:ea typeface="+mn-ea"/>
                <a:cs typeface="+mn-cs"/>
              </a:rPr>
              <a:t>）、泛化。</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E-R </a:t>
            </a:r>
            <a:r>
              <a:rPr lang="zh-CN" altLang="en-US" sz="1200" b="0" i="0" kern="1200" dirty="0">
                <a:solidFill>
                  <a:schemeClr val="tx1"/>
                </a:solidFill>
                <a:effectLst/>
                <a:latin typeface="+mn-lt"/>
                <a:ea typeface="+mn-ea"/>
                <a:cs typeface="+mn-cs"/>
              </a:rPr>
              <a:t>图：数据库的“建筑蓝图”</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内容：它只关心数据。</a:t>
            </a:r>
          </a:p>
          <a:p>
            <a:r>
              <a:rPr lang="zh-CN" altLang="en-US" sz="1200" b="0" i="0" kern="1200" dirty="0">
                <a:solidFill>
                  <a:schemeClr val="tx1"/>
                </a:solidFill>
                <a:effectLst/>
                <a:latin typeface="+mn-lt"/>
                <a:ea typeface="+mn-ea"/>
                <a:cs typeface="+mn-cs"/>
              </a:rPr>
              <a:t>实体 </a:t>
            </a:r>
            <a:r>
              <a:rPr lang="en-US" altLang="zh-CN" sz="1200" b="0" i="0" kern="1200" dirty="0">
                <a:solidFill>
                  <a:schemeClr val="tx1"/>
                </a:solidFill>
                <a:effectLst/>
                <a:latin typeface="+mn-lt"/>
                <a:ea typeface="+mn-ea"/>
                <a:cs typeface="+mn-cs"/>
              </a:rPr>
              <a:t>(Entity)</a:t>
            </a:r>
            <a:r>
              <a:rPr lang="zh-CN" altLang="en-US" sz="1200" b="0" i="0" kern="1200" dirty="0">
                <a:solidFill>
                  <a:schemeClr val="tx1"/>
                </a:solidFill>
                <a:effectLst/>
                <a:latin typeface="+mn-lt"/>
                <a:ea typeface="+mn-ea"/>
                <a:cs typeface="+mn-cs"/>
              </a:rPr>
              <a:t>：对应数据库中的表 </a:t>
            </a:r>
            <a:r>
              <a:rPr lang="en-US" altLang="zh-CN" sz="1200" b="0" i="0" kern="1200" dirty="0">
                <a:solidFill>
                  <a:schemeClr val="tx1"/>
                </a:solidFill>
                <a:effectLst/>
                <a:latin typeface="+mn-lt"/>
                <a:ea typeface="+mn-ea"/>
                <a:cs typeface="+mn-cs"/>
              </a:rPr>
              <a:t>(Table)</a:t>
            </a:r>
            <a:r>
              <a:rPr lang="zh-CN" altLang="en-US" sz="1200" b="0" i="0" kern="1200" dirty="0">
                <a:solidFill>
                  <a:schemeClr val="tx1"/>
                </a:solidFill>
                <a:effectLst/>
                <a:latin typeface="+mn-lt"/>
                <a:ea typeface="+mn-ea"/>
                <a:cs typeface="+mn-cs"/>
              </a:rPr>
              <a:t>。例如：用户表 、 订单表。</a:t>
            </a:r>
          </a:p>
          <a:p>
            <a:r>
              <a:rPr lang="zh-CN" altLang="en-US" sz="1200" b="0" i="0" kern="1200" dirty="0">
                <a:solidFill>
                  <a:schemeClr val="tx1"/>
                </a:solidFill>
                <a:effectLst/>
                <a:latin typeface="+mn-lt"/>
                <a:ea typeface="+mn-ea"/>
                <a:cs typeface="+mn-cs"/>
              </a:rPr>
              <a:t>属性 </a:t>
            </a:r>
            <a:r>
              <a:rPr lang="en-US" altLang="zh-CN" sz="1200" b="0" i="0" kern="1200" dirty="0">
                <a:solidFill>
                  <a:schemeClr val="tx1"/>
                </a:solidFill>
                <a:effectLst/>
                <a:latin typeface="+mn-lt"/>
                <a:ea typeface="+mn-ea"/>
                <a:cs typeface="+mn-cs"/>
              </a:rPr>
              <a:t>(Attribute)</a:t>
            </a:r>
            <a:r>
              <a:rPr lang="zh-CN" altLang="en-US" sz="1200" b="0" i="0" kern="1200" dirty="0">
                <a:solidFill>
                  <a:schemeClr val="tx1"/>
                </a:solidFill>
                <a:effectLst/>
                <a:latin typeface="+mn-lt"/>
                <a:ea typeface="+mn-ea"/>
                <a:cs typeface="+mn-cs"/>
              </a:rPr>
              <a:t>：对应表中的列 </a:t>
            </a:r>
            <a:r>
              <a:rPr lang="en-US" altLang="zh-CN" sz="1200" b="0" i="0" kern="1200" dirty="0">
                <a:solidFill>
                  <a:schemeClr val="tx1"/>
                </a:solidFill>
                <a:effectLst/>
                <a:latin typeface="+mn-lt"/>
                <a:ea typeface="+mn-ea"/>
                <a:cs typeface="+mn-cs"/>
              </a:rPr>
              <a:t>(Column)</a:t>
            </a:r>
            <a:r>
              <a:rPr lang="zh-CN" altLang="en-US" sz="1200" b="0" i="0" kern="1200" dirty="0">
                <a:solidFill>
                  <a:schemeClr val="tx1"/>
                </a:solidFill>
                <a:effectLst/>
                <a:latin typeface="+mn-lt"/>
                <a:ea typeface="+mn-ea"/>
                <a:cs typeface="+mn-cs"/>
              </a:rPr>
              <a:t>。例如：用户名 、 价格。</a:t>
            </a:r>
          </a:p>
          <a:p>
            <a:r>
              <a:rPr lang="zh-CN" altLang="en-US" sz="1200" b="0" i="0" kern="1200" dirty="0">
                <a:solidFill>
                  <a:schemeClr val="tx1"/>
                </a:solidFill>
                <a:effectLst/>
                <a:latin typeface="+mn-lt"/>
                <a:ea typeface="+mn-ea"/>
                <a:cs typeface="+mn-cs"/>
              </a:rPr>
              <a:t>关系 </a:t>
            </a:r>
            <a:r>
              <a:rPr lang="en-US" altLang="zh-CN" sz="1200" b="0" i="0" kern="1200" dirty="0">
                <a:solidFill>
                  <a:schemeClr val="tx1"/>
                </a:solidFill>
                <a:effectLst/>
                <a:latin typeface="+mn-lt"/>
                <a:ea typeface="+mn-ea"/>
                <a:cs typeface="+mn-cs"/>
              </a:rPr>
              <a:t>(Relationship)</a:t>
            </a:r>
            <a:r>
              <a:rPr lang="zh-CN" altLang="en-US" sz="1200" b="0" i="0" kern="1200" dirty="0">
                <a:solidFill>
                  <a:schemeClr val="tx1"/>
                </a:solidFill>
                <a:effectLst/>
                <a:latin typeface="+mn-lt"/>
                <a:ea typeface="+mn-ea"/>
                <a:cs typeface="+mn-cs"/>
              </a:rPr>
              <a:t>：对应表之间的外键约束。例如：</a:t>
            </a:r>
            <a:r>
              <a:rPr lang="en-US" altLang="zh-CN" sz="1200" b="0" i="0" kern="1200" dirty="0">
                <a:solidFill>
                  <a:schemeClr val="tx1"/>
                </a:solidFill>
                <a:effectLst/>
                <a:latin typeface="+mn-lt"/>
                <a:ea typeface="+mn-ea"/>
                <a:cs typeface="+mn-cs"/>
              </a:rPr>
              <a:t>1 </a:t>
            </a:r>
            <a:r>
              <a:rPr lang="zh-CN" altLang="en-US" sz="1200" b="0" i="0" kern="1200" dirty="0">
                <a:solidFill>
                  <a:schemeClr val="tx1"/>
                </a:solidFill>
                <a:effectLst/>
                <a:latin typeface="+mn-lt"/>
                <a:ea typeface="+mn-ea"/>
                <a:cs typeface="+mn-cs"/>
              </a:rPr>
              <a:t>个用户 对应 </a:t>
            </a:r>
            <a:r>
              <a:rPr lang="en-US" altLang="zh-CN" sz="1200" b="0" i="0" kern="1200" dirty="0">
                <a:solidFill>
                  <a:schemeClr val="tx1"/>
                </a:solidFill>
                <a:effectLst/>
                <a:latin typeface="+mn-lt"/>
                <a:ea typeface="+mn-ea"/>
                <a:cs typeface="+mn-cs"/>
              </a:rPr>
              <a:t>N </a:t>
            </a:r>
            <a:r>
              <a:rPr lang="zh-CN" altLang="en-US" sz="1200" b="0" i="0" kern="1200" dirty="0">
                <a:solidFill>
                  <a:schemeClr val="tx1"/>
                </a:solidFill>
                <a:effectLst/>
                <a:latin typeface="+mn-lt"/>
                <a:ea typeface="+mn-ea"/>
                <a:cs typeface="+mn-cs"/>
              </a:rPr>
              <a:t>个订单 </a:t>
            </a:r>
            <a:r>
              <a:rPr lang="en-US" altLang="zh-CN" sz="1200" b="0" i="0" kern="1200" dirty="0">
                <a:solidFill>
                  <a:schemeClr val="tx1"/>
                </a:solidFill>
                <a:effectLst/>
                <a:latin typeface="+mn-lt"/>
                <a:ea typeface="+mn-ea"/>
                <a:cs typeface="+mn-cs"/>
              </a:rPr>
              <a:t>(1:N)</a:t>
            </a:r>
            <a:r>
              <a:rPr lang="zh-CN" altLang="en-US" sz="1200" b="0" i="0" kern="1200" dirty="0">
                <a:solidFill>
                  <a:schemeClr val="tx1"/>
                </a:solidFill>
                <a:effectLst/>
                <a:latin typeface="+mn-lt"/>
                <a:ea typeface="+mn-ea"/>
                <a:cs typeface="+mn-cs"/>
              </a:rPr>
              <a:t>。</a:t>
            </a:r>
          </a:p>
          <a:p>
            <a:r>
              <a:rPr lang="zh-CN" altLang="en-US" sz="1200" b="0" i="0" kern="1200" dirty="0">
                <a:solidFill>
                  <a:schemeClr val="tx1"/>
                </a:solidFill>
                <a:effectLst/>
                <a:latin typeface="+mn-lt"/>
                <a:ea typeface="+mn-ea"/>
                <a:cs typeface="+mn-cs"/>
              </a:rPr>
              <a:t>产出：最终转化为 </a:t>
            </a:r>
            <a:r>
              <a:rPr lang="en-US" altLang="zh-CN" sz="1200" b="0" i="0" kern="1200" dirty="0">
                <a:solidFill>
                  <a:schemeClr val="tx1"/>
                </a:solidFill>
                <a:effectLst/>
                <a:latin typeface="+mn-lt"/>
                <a:ea typeface="+mn-ea"/>
                <a:cs typeface="+mn-cs"/>
              </a:rPr>
              <a:t>SQL </a:t>
            </a:r>
            <a:r>
              <a:rPr lang="zh-CN" altLang="en-US" sz="1200" b="0" i="0" kern="1200" dirty="0">
                <a:solidFill>
                  <a:schemeClr val="tx1"/>
                </a:solidFill>
                <a:effectLst/>
                <a:latin typeface="+mn-lt"/>
                <a:ea typeface="+mn-ea"/>
                <a:cs typeface="+mn-cs"/>
              </a:rPr>
              <a:t>脚本，用来在数据库里建表。</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UML</a:t>
            </a:r>
            <a:r>
              <a:rPr lang="zh-CN" altLang="en-US" sz="1200" b="0" i="0" kern="1200" dirty="0">
                <a:solidFill>
                  <a:schemeClr val="tx1"/>
                </a:solidFill>
                <a:effectLst/>
                <a:latin typeface="+mn-lt"/>
                <a:ea typeface="+mn-ea"/>
                <a:cs typeface="+mn-cs"/>
              </a:rPr>
              <a:t>：软件的“全景地图”；</a:t>
            </a:r>
            <a:r>
              <a:rPr lang="en-US" altLang="zh-CN" sz="1200" b="0" i="0" kern="1200" dirty="0">
                <a:solidFill>
                  <a:schemeClr val="tx1"/>
                </a:solidFill>
                <a:effectLst/>
                <a:latin typeface="+mn-lt"/>
                <a:ea typeface="+mn-ea"/>
                <a:cs typeface="+mn-cs"/>
              </a:rPr>
              <a:t>14 </a:t>
            </a:r>
            <a:r>
              <a:rPr lang="zh-CN" altLang="en-US" sz="1200" b="0" i="0" kern="1200" dirty="0">
                <a:solidFill>
                  <a:schemeClr val="tx1"/>
                </a:solidFill>
                <a:effectLst/>
                <a:latin typeface="+mn-lt"/>
                <a:ea typeface="+mn-ea"/>
                <a:cs typeface="+mn-cs"/>
              </a:rPr>
              <a:t>种图；类图 </a:t>
            </a:r>
            <a:r>
              <a:rPr lang="en-US" altLang="zh-CN" sz="1200" b="0" i="0" kern="1200" dirty="0">
                <a:solidFill>
                  <a:schemeClr val="tx1"/>
                </a:solidFill>
                <a:effectLst/>
                <a:latin typeface="+mn-lt"/>
                <a:ea typeface="+mn-ea"/>
                <a:cs typeface="+mn-cs"/>
              </a:rPr>
              <a:t>(Class Diagram)</a:t>
            </a:r>
            <a:r>
              <a:rPr lang="zh-CN" altLang="en-US" sz="1200" b="0" i="0" kern="1200" dirty="0">
                <a:solidFill>
                  <a:schemeClr val="tx1"/>
                </a:solidFill>
                <a:effectLst/>
                <a:latin typeface="+mn-lt"/>
                <a:ea typeface="+mn-ea"/>
                <a:cs typeface="+mn-cs"/>
              </a:rPr>
              <a:t>长得有点像 </a:t>
            </a:r>
            <a:r>
              <a:rPr lang="en-US" altLang="zh-CN" sz="1200" b="0" i="0" kern="1200" dirty="0">
                <a:solidFill>
                  <a:schemeClr val="tx1"/>
                </a:solidFill>
                <a:effectLst/>
                <a:latin typeface="+mn-lt"/>
                <a:ea typeface="+mn-ea"/>
                <a:cs typeface="+mn-cs"/>
              </a:rPr>
              <a:t>E-R </a:t>
            </a:r>
            <a:r>
              <a:rPr lang="zh-CN" altLang="en-US" sz="1200" b="0" i="0" kern="1200" dirty="0">
                <a:solidFill>
                  <a:schemeClr val="tx1"/>
                </a:solidFill>
                <a:effectLst/>
                <a:latin typeface="+mn-lt"/>
                <a:ea typeface="+mn-ea"/>
                <a:cs typeface="+mn-cs"/>
              </a:rPr>
              <a:t>图，但类图包含方法 </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函数</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和 行为逻辑，而 </a:t>
            </a:r>
            <a:r>
              <a:rPr lang="en-US" altLang="zh-CN" sz="1200" b="0" i="0" kern="1200" dirty="0">
                <a:solidFill>
                  <a:schemeClr val="tx1"/>
                </a:solidFill>
                <a:effectLst/>
                <a:latin typeface="+mn-lt"/>
                <a:ea typeface="+mn-ea"/>
                <a:cs typeface="+mn-cs"/>
              </a:rPr>
              <a:t>E-R </a:t>
            </a:r>
            <a:r>
              <a:rPr lang="zh-CN" altLang="en-US" sz="1200" b="0" i="0" kern="1200" dirty="0">
                <a:solidFill>
                  <a:schemeClr val="tx1"/>
                </a:solidFill>
                <a:effectLst/>
                <a:latin typeface="+mn-lt"/>
                <a:ea typeface="+mn-ea"/>
                <a:cs typeface="+mn-cs"/>
              </a:rPr>
              <a:t>图只包含数据。</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你可以画一个 </a:t>
            </a:r>
            <a:r>
              <a:rPr lang="en-US" altLang="zh-CN" sz="1200" b="0" i="0" kern="1200" dirty="0">
                <a:solidFill>
                  <a:schemeClr val="tx1"/>
                </a:solidFill>
                <a:effectLst/>
                <a:latin typeface="+mn-lt"/>
                <a:ea typeface="+mn-ea"/>
                <a:cs typeface="+mn-cs"/>
              </a:rPr>
              <a:t>UML </a:t>
            </a:r>
            <a:r>
              <a:rPr lang="zh-CN" altLang="en-US" sz="1200" b="0" i="0" kern="1200" dirty="0">
                <a:solidFill>
                  <a:schemeClr val="tx1"/>
                </a:solidFill>
                <a:effectLst/>
                <a:latin typeface="+mn-lt"/>
                <a:ea typeface="+mn-ea"/>
                <a:cs typeface="+mn-cs"/>
              </a:rPr>
              <a:t>类图，然后让工具自动把它转换成 数据库表（</a:t>
            </a:r>
            <a:r>
              <a:rPr lang="en-US" altLang="zh-CN" sz="1200" b="0" i="0" kern="1200" dirty="0">
                <a:solidFill>
                  <a:schemeClr val="tx1"/>
                </a:solidFill>
                <a:effectLst/>
                <a:latin typeface="+mn-lt"/>
                <a:ea typeface="+mn-ea"/>
                <a:cs typeface="+mn-cs"/>
              </a:rPr>
              <a:t>ORM </a:t>
            </a:r>
            <a:r>
              <a:rPr lang="zh-CN" altLang="en-US" sz="1200" b="0" i="0" kern="1200" dirty="0">
                <a:solidFill>
                  <a:schemeClr val="tx1"/>
                </a:solidFill>
                <a:effectLst/>
                <a:latin typeface="+mn-lt"/>
                <a:ea typeface="+mn-ea"/>
                <a:cs typeface="+mn-cs"/>
              </a:rPr>
              <a:t>映射）</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Object-Relational Mapping</a:t>
            </a:r>
            <a:endParaRPr lang="zh-CN" altLang="en-US" sz="1200" b="0" i="0" kern="1200" dirty="0">
              <a:solidFill>
                <a:schemeClr val="tx1"/>
              </a:solidFill>
              <a:effectLst/>
              <a:latin typeface="+mn-lt"/>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dirty="0"/>
              <a:t>顶层、中间和底层</a:t>
            </a:r>
            <a:r>
              <a:rPr lang="en-US" altLang="zh-CN" dirty="0"/>
              <a:t>DFD</a:t>
            </a:r>
          </a:p>
          <a:p>
            <a:r>
              <a:rPr lang="en-US" altLang="zh-CN" dirty="0"/>
              <a:t>DFD</a:t>
            </a:r>
            <a:r>
              <a:rPr lang="zh-CN" altLang="en-US" dirty="0"/>
              <a:t>看数据，流程图看步骤，用例图看用户，时序图看交互，</a:t>
            </a:r>
            <a:r>
              <a:rPr lang="en-US" altLang="zh-CN" dirty="0"/>
              <a:t>E-R</a:t>
            </a:r>
            <a:r>
              <a:rPr lang="zh-CN" altLang="en-US" dirty="0"/>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展示了如何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MVP (</a:t>
            </a:r>
            <a:r>
              <a:rPr lang="zh-CN" altLang="en-US" dirty="0"/>
              <a:t>最小可行性产品</a:t>
            </a:r>
            <a:r>
              <a:rPr lang="en-US" altLang="zh-CN" dirty="0"/>
              <a:t>) </a:t>
            </a:r>
            <a:r>
              <a:rPr lang="zh-CN" altLang="en-US" dirty="0"/>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Organize Email</a:t>
            </a:r>
            <a:r>
              <a:rPr lang="zh-CN" altLang="en-US" dirty="0"/>
              <a:t>（组织邮件）</a:t>
            </a:r>
            <a:endParaRPr lang="en-US" altLang="zh-CN" dirty="0"/>
          </a:p>
          <a:p>
            <a:r>
              <a:rPr lang="zh-CN" altLang="en-US" dirty="0"/>
              <a:t>用户目标：“我想让我的邮箱井井有条，方便以后查找。”</a:t>
            </a:r>
            <a:endParaRPr lang="en-US" altLang="zh-CN" dirty="0"/>
          </a:p>
          <a:p>
            <a:endParaRPr lang="en-US" altLang="zh-CN" dirty="0"/>
          </a:p>
          <a:p>
            <a:r>
              <a:rPr lang="en-US" altLang="zh-CN" dirty="0"/>
              <a:t>Manage Email</a:t>
            </a:r>
            <a:r>
              <a:rPr lang="zh-CN" altLang="en-US" dirty="0"/>
              <a:t>（管理邮件）</a:t>
            </a:r>
            <a:endParaRPr lang="en-US" altLang="zh-CN" dirty="0"/>
          </a:p>
          <a:p>
            <a:r>
              <a:rPr lang="zh-CN" altLang="en-US" dirty="0"/>
              <a:t>用户目标：“我要处理这些邮件</a:t>
            </a:r>
            <a:r>
              <a:rPr lang="en-US" altLang="zh-CN" dirty="0"/>
              <a:t>——</a:t>
            </a:r>
            <a:r>
              <a:rPr lang="zh-CN" altLang="en-US" dirty="0"/>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在实际工作中，我们通常先用“用户地图”梳理流程（确定做什么 </a:t>
            </a:r>
            <a:r>
              <a:rPr lang="en-US" altLang="zh-CN" dirty="0"/>
              <a:t>Feature</a:t>
            </a:r>
            <a:r>
              <a:rPr lang="zh-CN" altLang="en-US" dirty="0"/>
              <a:t>），然后再用“工作分解图”把 </a:t>
            </a:r>
            <a:r>
              <a:rPr lang="en-US" altLang="zh-CN" dirty="0"/>
              <a:t>Feature </a:t>
            </a:r>
            <a:r>
              <a:rPr lang="zh-CN" altLang="en-US" dirty="0"/>
              <a:t>拆成 </a:t>
            </a:r>
            <a:r>
              <a:rPr lang="en-US" altLang="zh-CN" dirty="0"/>
              <a:t>Story </a:t>
            </a:r>
            <a:r>
              <a:rPr lang="zh-CN" altLang="en-US" dirty="0"/>
              <a:t>和 </a:t>
            </a:r>
            <a:r>
              <a:rPr lang="en-US" altLang="zh-CN" dirty="0"/>
              <a:t>Task</a:t>
            </a:r>
            <a:r>
              <a:rPr lang="zh-CN" altLang="en-US" dirty="0"/>
              <a:t>（确定怎么干）。</a:t>
            </a:r>
            <a:endParaRPr lang="en-US" altLang="zh-CN" dirty="0"/>
          </a:p>
          <a:p>
            <a:r>
              <a:rPr lang="zh-CN" altLang="en-US" dirty="0"/>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160</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Epic</a:t>
            </a:r>
            <a:r>
              <a:rPr lang="zh-CN" altLang="en-US" dirty="0"/>
              <a:t>：通常是战略级目标，可能跨越数月、多个团队、多个发布版本。</a:t>
            </a:r>
          </a:p>
          <a:p>
            <a:r>
              <a:rPr lang="zh-CN" altLang="en-US" dirty="0"/>
              <a:t>例：“构建完整的在线支付系统”</a:t>
            </a:r>
          </a:p>
          <a:p>
            <a:r>
              <a:rPr lang="en-US" altLang="zh-CN" dirty="0"/>
              <a:t>Feature</a:t>
            </a:r>
            <a:r>
              <a:rPr lang="zh-CN" altLang="en-US" dirty="0"/>
              <a:t>：是 </a:t>
            </a:r>
            <a:r>
              <a:rPr lang="en-US" altLang="zh-CN" dirty="0"/>
              <a:t>Epic </a:t>
            </a:r>
            <a:r>
              <a:rPr lang="zh-CN" altLang="en-US" dirty="0"/>
              <a:t>下的一个功能性子集，通常可以在一个或几个迭代内完成，代表一个独立可用的功能模块。</a:t>
            </a:r>
          </a:p>
          <a:p>
            <a:r>
              <a:rPr lang="zh-CN" altLang="en-US" dirty="0"/>
              <a:t>例：“支持信用卡支付”、“支持支付宝扫码支付”、“支持分期付款”</a:t>
            </a:r>
          </a:p>
          <a:p>
            <a:r>
              <a:rPr lang="en-US" altLang="zh-CN" dirty="0"/>
              <a:t>User Story</a:t>
            </a:r>
            <a:r>
              <a:rPr lang="zh-CN" altLang="en-US" dirty="0"/>
              <a:t>：是从用户角度描述的具体功能点，可在单个迭代内完成。</a:t>
            </a:r>
          </a:p>
          <a:p>
            <a:r>
              <a:rPr lang="zh-CN" altLang="en-US" dirty="0"/>
              <a:t>例：“作为用户，我可以在 </a:t>
            </a:r>
            <a:r>
              <a:rPr lang="en-US" altLang="zh-CN" dirty="0"/>
              <a:t>checkout </a:t>
            </a:r>
            <a:r>
              <a:rPr lang="zh-CN" altLang="en-US" dirty="0"/>
              <a:t>页面选择信用卡支付方式”</a:t>
            </a:r>
            <a:endParaRPr lang="en-US" altLang="zh-CN" dirty="0"/>
          </a:p>
          <a:p>
            <a:endParaRPr lang="en-US" altLang="zh-CN" dirty="0"/>
          </a:p>
          <a:p>
            <a:r>
              <a:rPr lang="zh-CN" altLang="en-US" dirty="0"/>
              <a:t>以“网上买书”为例</a:t>
            </a:r>
          </a:p>
          <a:p>
            <a:r>
              <a:rPr lang="en-US" altLang="zh-CN" dirty="0"/>
              <a:t>1. </a:t>
            </a:r>
            <a:r>
              <a:rPr lang="zh-CN" altLang="en-US" dirty="0"/>
              <a:t>用户地图视角 </a:t>
            </a:r>
            <a:r>
              <a:rPr lang="en-US" altLang="zh-CN" dirty="0"/>
              <a:t>(</a:t>
            </a:r>
            <a:r>
              <a:rPr lang="zh-CN" altLang="en-US" dirty="0"/>
              <a:t>用户怎么买书？</a:t>
            </a:r>
            <a:r>
              <a:rPr lang="en-US" altLang="zh-CN" dirty="0"/>
              <a:t>)</a:t>
            </a:r>
          </a:p>
          <a:p>
            <a:r>
              <a:rPr lang="en-US" altLang="zh-CN" dirty="0"/>
              <a:t>Activity (</a:t>
            </a:r>
            <a:r>
              <a:rPr lang="zh-CN" altLang="en-US" dirty="0"/>
              <a:t>活动</a:t>
            </a:r>
            <a:r>
              <a:rPr lang="en-US" altLang="zh-CN" dirty="0"/>
              <a:t>): </a:t>
            </a:r>
            <a:r>
              <a:rPr lang="zh-CN" altLang="en-US" dirty="0"/>
              <a:t>购买书籍</a:t>
            </a:r>
          </a:p>
          <a:p>
            <a:r>
              <a:rPr lang="en-US" altLang="zh-CN" dirty="0"/>
              <a:t>Task (</a:t>
            </a:r>
            <a:r>
              <a:rPr lang="zh-CN" altLang="en-US" dirty="0"/>
              <a:t>用户任务</a:t>
            </a:r>
            <a:r>
              <a:rPr lang="en-US" altLang="zh-CN" dirty="0"/>
              <a:t>): </a:t>
            </a:r>
            <a:r>
              <a:rPr lang="zh-CN" altLang="en-US" dirty="0"/>
              <a:t>搜索书籍 </a:t>
            </a:r>
            <a:r>
              <a:rPr lang="en-US" altLang="zh-CN" dirty="0"/>
              <a:t>-&gt; </a:t>
            </a:r>
            <a:r>
              <a:rPr lang="zh-CN" altLang="en-US" dirty="0"/>
              <a:t>查看详情 </a:t>
            </a:r>
            <a:r>
              <a:rPr lang="en-US" altLang="zh-CN" dirty="0"/>
              <a:t>-&gt; </a:t>
            </a:r>
            <a:r>
              <a:rPr lang="zh-CN" altLang="en-US" dirty="0"/>
              <a:t>加入购物车 </a:t>
            </a:r>
            <a:r>
              <a:rPr lang="en-US" altLang="zh-CN" dirty="0"/>
              <a:t>-&gt; </a:t>
            </a:r>
            <a:r>
              <a:rPr lang="zh-CN" altLang="en-US" dirty="0"/>
              <a:t>支付</a:t>
            </a:r>
          </a:p>
          <a:p>
            <a:r>
              <a:rPr lang="en-US" altLang="zh-CN" dirty="0"/>
              <a:t>Feature (</a:t>
            </a:r>
            <a:r>
              <a:rPr lang="zh-CN" altLang="en-US" dirty="0"/>
              <a:t>特性</a:t>
            </a:r>
            <a:r>
              <a:rPr lang="en-US" altLang="zh-CN" dirty="0"/>
              <a:t>/</a:t>
            </a:r>
            <a:r>
              <a:rPr lang="zh-CN" altLang="en-US" dirty="0"/>
              <a:t>功能</a:t>
            </a:r>
            <a:r>
              <a:rPr lang="en-US" altLang="zh-CN" dirty="0"/>
              <a:t>): </a:t>
            </a:r>
            <a:r>
              <a:rPr lang="zh-CN" altLang="en-US" dirty="0"/>
              <a:t>搜索框、商品详情页、购物车图标、支付宝接口</a:t>
            </a:r>
          </a:p>
          <a:p>
            <a:r>
              <a:rPr lang="en-US" altLang="zh-CN" dirty="0"/>
              <a:t>(</a:t>
            </a:r>
            <a:r>
              <a:rPr lang="zh-CN" altLang="en-US" dirty="0"/>
              <a:t>这里是从左到右的时间流</a:t>
            </a:r>
            <a:r>
              <a:rPr lang="en-US" altLang="zh-CN" dirty="0"/>
              <a:t>)</a:t>
            </a:r>
          </a:p>
          <a:p>
            <a:endParaRPr lang="en-US" altLang="zh-CN" dirty="0"/>
          </a:p>
          <a:p>
            <a:r>
              <a:rPr lang="en-US" altLang="zh-CN" dirty="0"/>
              <a:t>2. </a:t>
            </a:r>
            <a:r>
              <a:rPr lang="zh-CN" altLang="en-US" dirty="0"/>
              <a:t>工作分解视角 </a:t>
            </a:r>
            <a:r>
              <a:rPr lang="en-US" altLang="zh-CN" dirty="0"/>
              <a:t>(</a:t>
            </a:r>
            <a:r>
              <a:rPr lang="zh-CN" altLang="en-US" dirty="0"/>
              <a:t>团队怎么做“购物车”这个功能？</a:t>
            </a:r>
            <a:r>
              <a:rPr lang="en-US" altLang="zh-CN" dirty="0"/>
              <a:t>)</a:t>
            </a:r>
          </a:p>
          <a:p>
            <a:r>
              <a:rPr lang="en-US" altLang="zh-CN" dirty="0"/>
              <a:t>Epic: </a:t>
            </a:r>
            <a:r>
              <a:rPr lang="zh-CN" altLang="en-US" dirty="0"/>
              <a:t>构建电商平台</a:t>
            </a:r>
          </a:p>
          <a:p>
            <a:r>
              <a:rPr lang="en-US" altLang="zh-CN" dirty="0"/>
              <a:t>Feature: </a:t>
            </a:r>
            <a:r>
              <a:rPr lang="zh-CN" altLang="en-US" dirty="0"/>
              <a:t>购物车模块</a:t>
            </a:r>
          </a:p>
          <a:p>
            <a:r>
              <a:rPr lang="en-US" altLang="zh-CN" dirty="0"/>
              <a:t>User Story: </a:t>
            </a:r>
            <a:r>
              <a:rPr lang="zh-CN" altLang="en-US" dirty="0"/>
              <a:t>作为用户，我想把书加入购物车，以便稍后一起结账。</a:t>
            </a:r>
          </a:p>
          <a:p>
            <a:r>
              <a:rPr lang="en-US" altLang="zh-CN" dirty="0"/>
              <a:t>Task (</a:t>
            </a:r>
            <a:r>
              <a:rPr lang="zh-CN" altLang="en-US" dirty="0"/>
              <a:t>开发任务</a:t>
            </a:r>
            <a:r>
              <a:rPr lang="en-US" altLang="zh-CN" dirty="0"/>
              <a:t>):</a:t>
            </a:r>
          </a:p>
          <a:p>
            <a:r>
              <a:rPr lang="zh-CN" altLang="en-US" dirty="0"/>
              <a:t>后端：创建 </a:t>
            </a:r>
            <a:r>
              <a:rPr lang="en-US" altLang="zh-CN" dirty="0"/>
              <a:t>Cart </a:t>
            </a:r>
            <a:r>
              <a:rPr lang="zh-CN" altLang="en-US" dirty="0"/>
              <a:t>数据库表</a:t>
            </a:r>
          </a:p>
          <a:p>
            <a:r>
              <a:rPr lang="zh-CN" altLang="en-US" dirty="0"/>
              <a:t>前端：绘制购物车图标</a:t>
            </a:r>
          </a:p>
          <a:p>
            <a:r>
              <a:rPr lang="zh-CN" altLang="en-US" dirty="0"/>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161</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通常是战略级目标，可能跨越数月、多个团队、多个发布版本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34</a:t>
            </a:r>
            <a:r>
              <a:rPr lang="zh-CN" altLang="en-US" dirty="0"/>
              <a:t>：优化交互体验 </a:t>
            </a:r>
            <a:r>
              <a:rPr lang="en-US" altLang="zh-CN" dirty="0"/>
              <a:t>&amp; </a:t>
            </a:r>
            <a:r>
              <a:rPr lang="zh-CN" altLang="en-US" dirty="0"/>
              <a:t>减少操作步骤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229447463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定义完成标准 → 避免“我以为你做完了”的误会</a:t>
            </a:r>
          </a:p>
          <a:p>
            <a:r>
              <a:rPr lang="zh-CN" altLang="en-US" dirty="0"/>
              <a:t>促进团队共识 → 让所有人对“做什么、为什么做”达成一致</a:t>
            </a:r>
          </a:p>
          <a:p>
            <a:r>
              <a:rPr lang="zh-CN" altLang="en-US" dirty="0"/>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170</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172</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193</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208</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209</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241</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244</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06.xml"/><Relationship Id="rId13" Type="http://schemas.openxmlformats.org/officeDocument/2006/relationships/slide" Target="slide259.xml"/><Relationship Id="rId3" Type="http://schemas.openxmlformats.org/officeDocument/2006/relationships/slide" Target="slide41.xml"/><Relationship Id="rId7" Type="http://schemas.openxmlformats.org/officeDocument/2006/relationships/slide" Target="slide199.xml"/><Relationship Id="rId12" Type="http://schemas.openxmlformats.org/officeDocument/2006/relationships/slide" Target="slide246.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77.xml"/><Relationship Id="rId11" Type="http://schemas.openxmlformats.org/officeDocument/2006/relationships/slide" Target="slide266.xml"/><Relationship Id="rId5" Type="http://schemas.openxmlformats.org/officeDocument/2006/relationships/slide" Target="slide168.xml"/><Relationship Id="rId10" Type="http://schemas.openxmlformats.org/officeDocument/2006/relationships/slide" Target="slide237.xml"/><Relationship Id="rId4" Type="http://schemas.openxmlformats.org/officeDocument/2006/relationships/slide" Target="slide120.xml"/><Relationship Id="rId9" Type="http://schemas.openxmlformats.org/officeDocument/2006/relationships/slide" Target="slide2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5.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9.svg"/><Relationship Id="rId13" Type="http://schemas.openxmlformats.org/officeDocument/2006/relationships/image" Target="../media/image24.png"/><Relationship Id="rId18" Type="http://schemas.openxmlformats.org/officeDocument/2006/relationships/image" Target="../media/image29.svg"/><Relationship Id="rId3" Type="http://schemas.openxmlformats.org/officeDocument/2006/relationships/image" Target="../media/image14.png"/><Relationship Id="rId7" Type="http://schemas.openxmlformats.org/officeDocument/2006/relationships/image" Target="../media/image18.png"/><Relationship Id="rId12" Type="http://schemas.openxmlformats.org/officeDocument/2006/relationships/image" Target="../media/image23.svg"/><Relationship Id="rId17" Type="http://schemas.openxmlformats.org/officeDocument/2006/relationships/image" Target="../media/image28.png"/><Relationship Id="rId2" Type="http://schemas.openxmlformats.org/officeDocument/2006/relationships/notesSlide" Target="../notesSlides/notesSlide12.xml"/><Relationship Id="rId16" Type="http://schemas.openxmlformats.org/officeDocument/2006/relationships/image" Target="../media/image27.svg"/><Relationship Id="rId1" Type="http://schemas.openxmlformats.org/officeDocument/2006/relationships/slideLayout" Target="../slideLayouts/slideLayout2.xml"/><Relationship Id="rId6" Type="http://schemas.openxmlformats.org/officeDocument/2006/relationships/image" Target="../media/image17.svg"/><Relationship Id="rId11" Type="http://schemas.openxmlformats.org/officeDocument/2006/relationships/image" Target="../media/image22.png"/><Relationship Id="rId5" Type="http://schemas.openxmlformats.org/officeDocument/2006/relationships/image" Target="../media/image16.png"/><Relationship Id="rId15" Type="http://schemas.openxmlformats.org/officeDocument/2006/relationships/image" Target="../media/image2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 Id="rId14" Type="http://schemas.openxmlformats.org/officeDocument/2006/relationships/image" Target="../media/image25.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0.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47.svg"/><Relationship Id="rId13" Type="http://schemas.openxmlformats.org/officeDocument/2006/relationships/image" Target="../media/image52.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51.svg"/><Relationship Id="rId2" Type="http://schemas.openxmlformats.org/officeDocument/2006/relationships/notesSlide" Target="../notesSlides/notesSlide44.xml"/><Relationship Id="rId16" Type="http://schemas.openxmlformats.org/officeDocument/2006/relationships/image" Target="../media/image55.svg"/><Relationship Id="rId1" Type="http://schemas.openxmlformats.org/officeDocument/2006/relationships/slideLayout" Target="../slideLayouts/slideLayout5.xml"/><Relationship Id="rId6" Type="http://schemas.openxmlformats.org/officeDocument/2006/relationships/image" Target="../media/image45.svg"/><Relationship Id="rId11" Type="http://schemas.openxmlformats.org/officeDocument/2006/relationships/image" Target="../media/image50.png"/><Relationship Id="rId5" Type="http://schemas.openxmlformats.org/officeDocument/2006/relationships/image" Target="../media/image44.png"/><Relationship Id="rId15" Type="http://schemas.openxmlformats.org/officeDocument/2006/relationships/image" Target="../media/image54.png"/><Relationship Id="rId10" Type="http://schemas.openxmlformats.org/officeDocument/2006/relationships/image" Target="../media/image49.svg"/><Relationship Id="rId4" Type="http://schemas.openxmlformats.org/officeDocument/2006/relationships/image" Target="../media/image43.svg"/><Relationship Id="rId9" Type="http://schemas.openxmlformats.org/officeDocument/2006/relationships/image" Target="../media/image48.png"/><Relationship Id="rId14" Type="http://schemas.openxmlformats.org/officeDocument/2006/relationships/image" Target="../media/image53.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hyperlink" Target="https://www.projectmanager.com/training/write-scope-work"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hyperlink" Target="https://www.testmuai.com/learning-hub/behavior-driven-development/" TargetMode="Externa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image" Target="../media/image60.png"/><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diagramLayout" Target="../diagrams/layout8.xml"/><Relationship Id="rId7" Type="http://schemas.openxmlformats.org/officeDocument/2006/relationships/image" Target="../media/image26.png"/><Relationship Id="rId12" Type="http://schemas.openxmlformats.org/officeDocument/2006/relationships/image" Target="../media/image63.sv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11" Type="http://schemas.openxmlformats.org/officeDocument/2006/relationships/image" Target="../media/image62.png"/><Relationship Id="rId5" Type="http://schemas.openxmlformats.org/officeDocument/2006/relationships/diagramColors" Target="../diagrams/colors8.xml"/><Relationship Id="rId10" Type="http://schemas.openxmlformats.org/officeDocument/2006/relationships/image" Target="../media/image21.svg"/><Relationship Id="rId4" Type="http://schemas.openxmlformats.org/officeDocument/2006/relationships/diagramQuickStyle" Target="../diagrams/quickStyle8.xml"/><Relationship Id="rId9" Type="http://schemas.openxmlformats.org/officeDocument/2006/relationships/image" Target="../media/image20.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solidFill>
                  <a:schemeClr val="bg1"/>
                </a:solidFill>
              </a:rPr>
              <a:t>3</a:t>
            </a:r>
            <a:endParaRPr lang="zh-CN" altLang="en-US" dirty="0">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solidFill>
                  <a:schemeClr val="bg1"/>
                </a:solidFill>
              </a:rPr>
              <a:t>4</a:t>
            </a:r>
            <a:endParaRPr lang="zh-CN" altLang="en-US" dirty="0">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solidFill>
                  <a:schemeClr val="bg1"/>
                </a:solidFill>
              </a:rPr>
              <a:t>3</a:t>
            </a:r>
            <a:endParaRPr lang="zh-CN" altLang="en-US" dirty="0">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solidFill>
                  <a:schemeClr val="bg1"/>
                </a:solidFill>
              </a:rPr>
              <a:t>3</a:t>
            </a:r>
            <a:endParaRPr lang="zh-CN" altLang="en-US" dirty="0">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solidFill>
                  <a:schemeClr val="bg1"/>
                </a:solidFill>
              </a:rPr>
              <a:t>6</a:t>
            </a:r>
            <a:endParaRPr lang="zh-CN" altLang="en-US" dirty="0">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solidFill>
                  <a:schemeClr val="bg1"/>
                </a:solidFill>
              </a:rPr>
              <a:t>2</a:t>
            </a:r>
            <a:endParaRPr lang="zh-CN" altLang="en-US" dirty="0">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solidFill>
                  <a:schemeClr val="bg1"/>
                </a:solidFill>
              </a:rPr>
              <a:t>Section 1</a:t>
            </a:r>
            <a:endParaRPr lang="zh-CN" altLang="en-US" dirty="0">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solidFill>
                  <a:schemeClr val="bg1"/>
                </a:solidFill>
              </a:rPr>
              <a:t>Section 2</a:t>
            </a:r>
            <a:endParaRPr lang="zh-CN" altLang="en-US" dirty="0">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solidFill>
                  <a:schemeClr val="bg1"/>
                </a:solidFill>
              </a:rPr>
              <a:t>Section 3</a:t>
            </a:r>
            <a:endParaRPr lang="zh-CN" altLang="en-US" dirty="0">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solidFill>
                  <a:schemeClr val="bg1"/>
                </a:solidFill>
              </a:rPr>
              <a:t>Section 4</a:t>
            </a:r>
            <a:endParaRPr lang="zh-CN" altLang="en-US" dirty="0">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solidFill>
                  <a:schemeClr val="bg1"/>
                </a:solidFill>
              </a:rPr>
              <a:t>Section 5</a:t>
            </a:r>
            <a:endParaRPr lang="zh-CN" altLang="en-US" dirty="0">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solidFill>
                  <a:schemeClr val="bg1"/>
                </a:solidFill>
              </a:rPr>
              <a:t>Section 6</a:t>
            </a:r>
            <a:endParaRPr lang="zh-CN" altLang="en-US" dirty="0">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solidFill>
                  <a:schemeClr val="bg1"/>
                </a:solidFill>
              </a:rPr>
              <a:t>Section 7</a:t>
            </a:r>
            <a:endParaRPr lang="zh-CN" altLang="en-US" dirty="0">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solidFill>
                  <a:schemeClr val="bg1"/>
                </a:solidFill>
              </a:rPr>
              <a:t>Section 8</a:t>
            </a:r>
            <a:endParaRPr lang="zh-CN" altLang="en-US" dirty="0">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solidFill>
                  <a:schemeClr val="bg1"/>
                </a:solidFill>
              </a:rPr>
              <a:t>Section 9</a:t>
            </a:r>
            <a:endParaRPr lang="zh-CN" altLang="en-US" dirty="0">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solidFill>
                  <a:schemeClr val="bg1"/>
                </a:solidFill>
              </a:rPr>
              <a:t>Section 10</a:t>
            </a:r>
            <a:endParaRPr lang="zh-CN" altLang="en-US" dirty="0">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solidFill>
                  <a:schemeClr val="bg1"/>
                </a:solidFill>
              </a:rPr>
              <a:t>Section 11</a:t>
            </a:r>
            <a:endParaRPr lang="zh-CN" altLang="en-US" dirty="0">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solidFill>
                  <a:schemeClr val="bg1"/>
                </a:solidFill>
              </a:rPr>
              <a:t>Section 12</a:t>
            </a:r>
            <a:endParaRPr lang="zh-CN" altLang="en-US" dirty="0">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a:t>
            </a:r>
            <a:endParaRPr lang="en-US" altLang="zh-CN" dirty="0"/>
          </a:p>
          <a:p>
            <a:pPr lvl="1"/>
            <a:r>
              <a:rPr lang="zh-CN" altLang="en-US" dirty="0"/>
              <a:t>为了创造一个唯一的产品或提供一个唯一的服务而进行的临时性的努力</a:t>
            </a:r>
            <a:endParaRPr lang="en-US" altLang="zh-CN" dirty="0"/>
          </a:p>
          <a:p>
            <a:pPr lvl="1"/>
            <a:r>
              <a:rPr lang="en-US" altLang="zh-CN" dirty="0"/>
              <a:t>A project is a temporary endeavor undertaken to create a unique product, service, or </a:t>
            </a:r>
            <a:r>
              <a:rPr lang="en-US" altLang="zh-CN" dirty="0">
                <a:solidFill>
                  <a:srgbClr val="FFFF00"/>
                </a:solidFill>
              </a:rPr>
              <a:t>result</a:t>
            </a:r>
            <a:r>
              <a:rPr lang="en-US" altLang="zh-CN" dirty="0"/>
              <a:t>.</a:t>
            </a:r>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dirty="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dirty="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solidFill>
                  <a:schemeClr val="bg1"/>
                </a:solidFill>
              </a:rPr>
              <a:t>搬家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野炊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生日聚会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婚礼 </a:t>
            </a:r>
            <a:r>
              <a:rPr lang="zh-CN" altLang="en-US" dirty="0">
                <a:solidFill>
                  <a:schemeClr val="bg1"/>
                </a:solidFill>
                <a:sym typeface="Wingdings" panose="05000000000000000000" pitchFamily="2" charset="2"/>
              </a:rPr>
              <a:t></a:t>
            </a:r>
            <a:endParaRPr lang="en-US" altLang="zh-CN" dirty="0">
              <a:solidFill>
                <a:schemeClr val="bg1"/>
              </a:solidFill>
            </a:endParaRPr>
          </a:p>
          <a:p>
            <a:pPr algn="r"/>
            <a:endParaRPr lang="en-US" altLang="zh-CN" dirty="0">
              <a:solidFill>
                <a:schemeClr val="bg1"/>
              </a:solidFill>
            </a:endParaRPr>
          </a:p>
          <a:p>
            <a:pPr algn="r"/>
            <a:r>
              <a:rPr lang="zh-CN" altLang="en-US" dirty="0">
                <a:solidFill>
                  <a:schemeClr val="bg1"/>
                </a:solidFill>
              </a:rPr>
              <a:t>认证考试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学历教育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驾照考试 </a:t>
            </a:r>
            <a:r>
              <a:rPr lang="zh-CN" altLang="en-US" dirty="0">
                <a:solidFill>
                  <a:schemeClr val="bg1"/>
                </a:solidFill>
                <a:sym typeface="Wingdings" panose="05000000000000000000" pitchFamily="2" charset="2"/>
              </a:rPr>
              <a:t></a:t>
            </a:r>
            <a:endParaRPr lang="zh-CN" altLang="en-US" dirty="0">
              <a:solidFill>
                <a:schemeClr val="bg1"/>
              </a:solidFill>
            </a:endParaRPr>
          </a:p>
          <a:p>
            <a:pPr algn="r"/>
            <a:endParaRPr lang="en-US" altLang="zh-CN" dirty="0">
              <a:solidFill>
                <a:schemeClr val="bg1"/>
              </a:solidFill>
            </a:endParaRPr>
          </a:p>
          <a:p>
            <a:pPr algn="r"/>
            <a:r>
              <a:rPr lang="zh-CN" altLang="en-US" dirty="0">
                <a:solidFill>
                  <a:schemeClr val="bg1"/>
                </a:solidFill>
              </a:rPr>
              <a:t>毕业设计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电商小程序 </a:t>
            </a:r>
            <a:r>
              <a:rPr lang="zh-CN" altLang="en-US" dirty="0">
                <a:solidFill>
                  <a:schemeClr val="bg1"/>
                </a:solidFill>
                <a:sym typeface="Wingdings" panose="05000000000000000000" pitchFamily="2" charset="2"/>
              </a:rPr>
              <a:t></a:t>
            </a:r>
            <a:endParaRPr lang="en-US" altLang="zh-CN" dirty="0">
              <a:solidFill>
                <a:schemeClr val="bg1"/>
              </a:solidFill>
            </a:endParaRPr>
          </a:p>
          <a:p>
            <a:pPr algn="r"/>
            <a:r>
              <a:rPr lang="zh-CN" altLang="en-US" dirty="0">
                <a:solidFill>
                  <a:schemeClr val="bg1"/>
                </a:solidFill>
              </a:rPr>
              <a:t>后台管理系统 </a:t>
            </a:r>
            <a:r>
              <a:rPr lang="zh-CN" altLang="en-US" dirty="0">
                <a:solidFill>
                  <a:schemeClr val="bg1"/>
                </a:solidFill>
                <a:sym typeface="Wingdings" panose="05000000000000000000" pitchFamily="2" charset="2"/>
              </a:rPr>
              <a:t></a:t>
            </a:r>
            <a:endParaRPr lang="en-US" altLang="zh-CN" dirty="0">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dirty="0">
                <a:solidFill>
                  <a:schemeClr val="bg1"/>
                </a:solidFill>
                <a:sym typeface="Wingdings" panose="05000000000000000000" pitchFamily="2" charset="2"/>
              </a:rPr>
              <a:t> </a:t>
            </a:r>
            <a:r>
              <a:rPr lang="zh-CN" altLang="en-US" dirty="0">
                <a:solidFill>
                  <a:schemeClr val="bg1"/>
                </a:solidFill>
              </a:rPr>
              <a:t>保洁</a:t>
            </a:r>
            <a:endParaRPr lang="en-US" altLang="zh-CN" dirty="0">
              <a:solidFill>
                <a:schemeClr val="bg1"/>
              </a:solidFill>
            </a:endParaRPr>
          </a:p>
          <a:p>
            <a:r>
              <a:rPr lang="zh-CN" altLang="en-US" dirty="0">
                <a:solidFill>
                  <a:schemeClr val="bg1"/>
                </a:solidFill>
                <a:sym typeface="Wingdings" panose="05000000000000000000" pitchFamily="2" charset="2"/>
              </a:rPr>
              <a:t> </a:t>
            </a:r>
            <a:r>
              <a:rPr lang="zh-CN" altLang="en-US" dirty="0">
                <a:solidFill>
                  <a:schemeClr val="bg1"/>
                </a:solidFill>
              </a:rPr>
              <a:t>安保</a:t>
            </a:r>
            <a:endParaRPr lang="en-US" altLang="zh-CN" dirty="0">
              <a:solidFill>
                <a:schemeClr val="bg1"/>
              </a:solidFill>
            </a:endParaRPr>
          </a:p>
          <a:p>
            <a:endParaRPr lang="en-US" altLang="zh-CN" dirty="0">
              <a:solidFill>
                <a:schemeClr val="bg1"/>
              </a:solidFill>
            </a:endParaRPr>
          </a:p>
          <a:p>
            <a:r>
              <a:rPr lang="zh-CN" altLang="en-US" dirty="0">
                <a:solidFill>
                  <a:schemeClr val="bg1"/>
                </a:solidFill>
                <a:sym typeface="Wingdings" panose="05000000000000000000" pitchFamily="2" charset="2"/>
              </a:rPr>
              <a:t> </a:t>
            </a:r>
            <a:r>
              <a:rPr lang="zh-CN" altLang="en-US" dirty="0">
                <a:solidFill>
                  <a:schemeClr val="bg1"/>
                </a:solidFill>
              </a:rPr>
              <a:t>上课</a:t>
            </a:r>
            <a:endParaRPr lang="en-US" altLang="zh-CN" dirty="0">
              <a:solidFill>
                <a:schemeClr val="bg1"/>
              </a:solidFill>
            </a:endParaRPr>
          </a:p>
          <a:p>
            <a:r>
              <a:rPr lang="zh-CN" altLang="en-US" dirty="0">
                <a:solidFill>
                  <a:schemeClr val="bg1"/>
                </a:solidFill>
                <a:sym typeface="Wingdings" panose="05000000000000000000" pitchFamily="2" charset="2"/>
              </a:rPr>
              <a:t> 党团日</a:t>
            </a:r>
            <a:endParaRPr lang="en-US" altLang="zh-CN" dirty="0">
              <a:solidFill>
                <a:schemeClr val="bg1"/>
              </a:solidFill>
              <a:sym typeface="Wingdings" panose="05000000000000000000" pitchFamily="2" charset="2"/>
            </a:endParaRPr>
          </a:p>
          <a:p>
            <a:r>
              <a:rPr lang="zh-CN" altLang="en-US" dirty="0">
                <a:solidFill>
                  <a:schemeClr val="bg1"/>
                </a:solidFill>
                <a:sym typeface="Wingdings" panose="05000000000000000000" pitchFamily="2" charset="2"/>
              </a:rPr>
              <a:t> 班会</a:t>
            </a:r>
            <a:endParaRPr lang="en-US" altLang="zh-CN" dirty="0">
              <a:solidFill>
                <a:schemeClr val="bg1"/>
              </a:solidFill>
            </a:endParaRPr>
          </a:p>
          <a:p>
            <a:r>
              <a:rPr lang="zh-CN" altLang="en-US" dirty="0">
                <a:solidFill>
                  <a:schemeClr val="bg1"/>
                </a:solidFill>
              </a:rPr>
              <a:t> </a:t>
            </a:r>
            <a:endParaRPr lang="en-US" altLang="zh-CN" dirty="0">
              <a:solidFill>
                <a:schemeClr val="bg1"/>
              </a:solidFill>
            </a:endParaRPr>
          </a:p>
          <a:p>
            <a:r>
              <a:rPr lang="zh-CN" altLang="en-US" dirty="0">
                <a:solidFill>
                  <a:schemeClr val="bg1"/>
                </a:solidFill>
                <a:sym typeface="Wingdings" panose="05000000000000000000" pitchFamily="2" charset="2"/>
              </a:rPr>
              <a:t> 电商客服</a:t>
            </a:r>
            <a:endParaRPr lang="en-US" altLang="zh-CN" dirty="0">
              <a:solidFill>
                <a:schemeClr val="bg1"/>
              </a:solidFill>
              <a:sym typeface="Wingdings" panose="05000000000000000000" pitchFamily="2" charset="2"/>
            </a:endParaRPr>
          </a:p>
          <a:p>
            <a:r>
              <a:rPr lang="zh-CN" altLang="en-US" dirty="0">
                <a:solidFill>
                  <a:schemeClr val="bg1"/>
                </a:solidFill>
                <a:sym typeface="Wingdings" panose="05000000000000000000" pitchFamily="2" charset="2"/>
              </a:rPr>
              <a:t> </a:t>
            </a:r>
            <a:r>
              <a:rPr lang="zh-CN" altLang="en-US" dirty="0">
                <a:solidFill>
                  <a:schemeClr val="bg1"/>
                </a:solidFill>
              </a:rPr>
              <a:t>系统运维</a:t>
            </a:r>
            <a:endParaRPr lang="en-US" altLang="zh-CN" dirty="0">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dirty="0">
                <a:solidFill>
                  <a:schemeClr val="bg1"/>
                </a:solidFill>
              </a:rPr>
              <a:t>Project</a:t>
            </a:r>
            <a:endParaRPr lang="zh-CN" altLang="en-US" sz="1600" dirty="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dirty="0">
                <a:solidFill>
                  <a:schemeClr val="bg1"/>
                </a:solidFill>
              </a:rPr>
              <a:t>Operation</a:t>
            </a:r>
            <a:endParaRPr lang="zh-CN" altLang="en-US" sz="1600" dirty="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dirty="0">
                <a:solidFill>
                  <a:schemeClr val="bg1"/>
                </a:solidFill>
              </a:rPr>
              <a:t>1</a:t>
            </a:r>
            <a:endParaRPr lang="zh-CN" altLang="en-US" dirty="0">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dirty="0">
                <a:solidFill>
                  <a:schemeClr val="bg1"/>
                </a:solidFill>
              </a:rPr>
              <a:t>2</a:t>
            </a:r>
            <a:endParaRPr lang="zh-CN" altLang="en-US" dirty="0">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dirty="0">
                <a:solidFill>
                  <a:schemeClr val="bg1"/>
                </a:solidFill>
              </a:rPr>
              <a:t>3</a:t>
            </a:r>
            <a:endParaRPr lang="zh-CN" altLang="en-US" dirty="0">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dirty="0">
                <a:solidFill>
                  <a:schemeClr val="bg1"/>
                </a:solidFill>
              </a:rPr>
              <a:t>4</a:t>
            </a:r>
            <a:endParaRPr lang="zh-CN" altLang="en-US" dirty="0">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dirty="0">
                <a:latin typeface="微软雅黑 Light" panose="020B0502040204020203" pitchFamily="34" charset="-122"/>
                <a:ea typeface="微软雅黑 Light" panose="020B0502040204020203" pitchFamily="34" charset="-122"/>
              </a:rPr>
              <a:t>资源</a:t>
            </a:r>
            <a:r>
              <a:rPr lang="zh-CN" altLang="en-US" sz="1600">
                <a:latin typeface="微软雅黑 Light" panose="020B0502040204020203" pitchFamily="34" charset="-122"/>
                <a:ea typeface="微软雅黑 Light" panose="020B0502040204020203" pitchFamily="34" charset="-122"/>
              </a:rPr>
              <a:t>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dirty="0">
                <a:solidFill>
                  <a:schemeClr val="bg1"/>
                </a:solidFill>
              </a:rPr>
              <a:t>5</a:t>
            </a:r>
            <a:endParaRPr lang="zh-CN" altLang="en-US" dirty="0">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dirty="0">
                <a:solidFill>
                  <a:schemeClr val="bg1"/>
                </a:solidFill>
              </a:rPr>
              <a:t>6</a:t>
            </a:r>
            <a:endParaRPr lang="zh-CN" altLang="en-US" dirty="0">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solidFill>
                  <a:schemeClr val="bg1"/>
                </a:solidFill>
              </a:rPr>
              <a:t>… …</a:t>
            </a:r>
            <a:endParaRPr lang="zh-CN" altLang="en-US" dirty="0">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dirty="0">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dirty="0">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dirty="0">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endParaRPr lang="zh-CN" altLang="en-US" dirty="0"/>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dirty="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提供虚拟机、存储、网络等底层资源（如 </a:t>
                      </a:r>
                      <a:r>
                        <a:rPr lang="en-US" altLang="zh-CN" sz="1600" dirty="0">
                          <a:solidFill>
                            <a:schemeClr val="bg1"/>
                          </a:solidFill>
                        </a:rPr>
                        <a:t>AWS EC2</a:t>
                      </a:r>
                      <a:r>
                        <a:rPr lang="zh-CN" altLang="en-US" sz="1600" dirty="0">
                          <a:solidFill>
                            <a:schemeClr val="bg1"/>
                          </a:solidFill>
                        </a:rPr>
                        <a:t>、阿里云 </a:t>
                      </a:r>
                      <a:r>
                        <a:rPr lang="en-US" altLang="zh-CN" sz="1600" dirty="0">
                          <a:solidFill>
                            <a:schemeClr val="bg1"/>
                          </a:solidFill>
                        </a:rPr>
                        <a:t>ECS</a:t>
                      </a:r>
                      <a:r>
                        <a:rPr lang="zh-CN" altLang="en-US"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dirty="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dirty="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提供开发、部署、运行环境（如 </a:t>
                      </a:r>
                      <a:r>
                        <a:rPr lang="en-US" sz="1600" dirty="0">
                          <a:solidFill>
                            <a:schemeClr val="bg1"/>
                          </a:solidFill>
                        </a:rPr>
                        <a:t>Google App </a:t>
                      </a:r>
                      <a:r>
                        <a:rPr lang="en-US" sz="1600" dirty="0" err="1">
                          <a:solidFill>
                            <a:schemeClr val="bg1"/>
                          </a:solidFill>
                        </a:rPr>
                        <a:t>Engine、Heroku</a:t>
                      </a:r>
                      <a:r>
                        <a:rPr lang="en-US"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SaaS </a:t>
                      </a:r>
                      <a:r>
                        <a:rPr lang="zh-CN" altLang="en-US" sz="1600" dirty="0">
                          <a:solidFill>
                            <a:schemeClr val="bg1"/>
                          </a:solidFill>
                        </a:rPr>
                        <a:t>开发者常使用 </a:t>
                      </a:r>
                      <a:r>
                        <a:rPr lang="en-US" sz="1600" dirty="0">
                          <a:solidFill>
                            <a:schemeClr val="bg1"/>
                          </a:solidFill>
                        </a:rPr>
                        <a:t>PaaS </a:t>
                      </a:r>
                      <a:r>
                        <a:rPr lang="zh-CN" altLang="en-US" sz="1600" dirty="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dirty="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直接面向终端用户的完整应用（如钉钉、</a:t>
                      </a:r>
                      <a:r>
                        <a:rPr lang="en-US" sz="1600" dirty="0" err="1">
                          <a:solidFill>
                            <a:schemeClr val="bg1"/>
                          </a:solidFill>
                        </a:rPr>
                        <a:t>Salesforce、Notion</a:t>
                      </a:r>
                      <a:r>
                        <a:rPr lang="en-US"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hlinkClick r:id="rId3"/>
              </a:rPr>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endParaRPr lang="en-US" altLang="zh-CN" dirty="0"/>
          </a:p>
          <a:p>
            <a:pPr lvl="1"/>
            <a:r>
              <a:rPr lang="zh-CN" altLang="en-US" dirty="0"/>
              <a:t>其它：</a:t>
            </a:r>
            <a:r>
              <a:rPr lang="en-US" altLang="zh-CN" dirty="0" err="1">
                <a:hlinkClick r:id="rId4"/>
              </a:rPr>
              <a:t>Supabase</a:t>
            </a:r>
            <a:r>
              <a:rPr lang="zh-CN" altLang="en-US" dirty="0"/>
              <a:t>、</a:t>
            </a:r>
            <a:r>
              <a:rPr lang="en-US" altLang="zh-CN" dirty="0">
                <a:hlinkClick r:id="rId5"/>
              </a:rPr>
              <a:t>GitHub</a:t>
            </a:r>
            <a:r>
              <a:rPr lang="en-US" altLang="zh-CN" dirty="0"/>
              <a:t> </a:t>
            </a:r>
            <a:endParaRPr lang="zh-CN" altLang="en-US" dirty="0"/>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dirty="0"/>
              <a:t>基于经验，现在需要系统学习</a:t>
            </a:r>
            <a:endParaRPr lang="en-US" altLang="zh-CN" dirty="0"/>
          </a:p>
          <a:p>
            <a:r>
              <a:rPr lang="en-US" altLang="zh-CN" dirty="0"/>
              <a:t>PMP</a:t>
            </a:r>
          </a:p>
          <a:p>
            <a:pPr lvl="1"/>
            <a:r>
              <a:rPr lang="en-US" altLang="zh-CN" dirty="0"/>
              <a:t>100</a:t>
            </a:r>
            <a:r>
              <a:rPr lang="zh-CN" altLang="en-US" dirty="0"/>
              <a:t>多个国家认可</a:t>
            </a:r>
            <a:endParaRPr lang="en-US" altLang="zh-CN" dirty="0"/>
          </a:p>
          <a:p>
            <a:pPr lvl="1"/>
            <a:r>
              <a:rPr lang="zh-CN" altLang="en-US" dirty="0"/>
              <a:t>基于 </a:t>
            </a:r>
            <a:r>
              <a:rPr lang="en-US" altLang="zh-CN" dirty="0"/>
              <a:t>PMBOK 7th</a:t>
            </a:r>
            <a:r>
              <a:rPr lang="zh-CN" altLang="en-US" dirty="0"/>
              <a:t>，同时结合了</a:t>
            </a:r>
            <a:r>
              <a:rPr lang="en-US" altLang="zh-CN" dirty="0"/>
              <a:t>《</a:t>
            </a:r>
            <a:r>
              <a:rPr lang="zh-CN" altLang="en-US" dirty="0"/>
              <a:t>敏捷实践指南</a:t>
            </a:r>
            <a:r>
              <a:rPr lang="en-US" altLang="zh-CN" dirty="0"/>
              <a:t>》</a:t>
            </a:r>
            <a:r>
              <a:rPr lang="zh-CN" altLang="en-US" dirty="0"/>
              <a:t>。</a:t>
            </a:r>
          </a:p>
          <a:p>
            <a:pPr lvl="1"/>
            <a:r>
              <a:rPr lang="zh-CN" altLang="en-US" dirty="0"/>
              <a:t>考试中很少再考某个过程的输入输出是什么（</a:t>
            </a:r>
            <a:r>
              <a:rPr lang="en-US" altLang="zh-CN" dirty="0"/>
              <a:t>ITTO</a:t>
            </a:r>
            <a:r>
              <a:rPr lang="zh-CN" altLang="en-US" dirty="0"/>
              <a:t>记忆题大幅减少）</a:t>
            </a:r>
          </a:p>
          <a:p>
            <a:pPr lvl="1"/>
            <a:r>
              <a:rPr lang="zh-CN" altLang="en-US" dirty="0"/>
              <a:t>更多考的是情景题：面对这种情况，项目经理应该秉持什么原则？优先关注哪个绩效域？</a:t>
            </a:r>
          </a:p>
          <a:p>
            <a:pPr lvl="1"/>
            <a:r>
              <a:rPr lang="zh-CN" altLang="en-US" dirty="0"/>
              <a:t>敏捷和混合题型占比高达 </a:t>
            </a:r>
            <a:r>
              <a:rPr lang="en-US" altLang="zh-CN" dirty="0"/>
              <a:t>50%</a:t>
            </a:r>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dirty="0"/>
              <a:t>PMBOK</a:t>
            </a:r>
            <a:endParaRPr lang="zh-CN" altLang="en-US" dirty="0"/>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Title</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solidFill>
                            <a:schemeClr val="bg1"/>
                          </a:solidFill>
                        </a:rPr>
                        <a:t>项目管理委员会</a:t>
                      </a:r>
                      <a:endParaRPr lang="en-US" altLang="zh-CN"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solidFill>
                            <a:schemeClr val="bg1"/>
                          </a:solidFill>
                        </a:rPr>
                        <a:t>Project Management Body of Knowledge, 6th Edition</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solidFill>
                            <a:schemeClr val="bg1"/>
                          </a:solidFill>
                        </a:rPr>
                        <a:t>项目管理知识体系，第</a:t>
                      </a:r>
                      <a:r>
                        <a:rPr lang="en-US" altLang="zh-CN" sz="1600" dirty="0">
                          <a:solidFill>
                            <a:schemeClr val="bg1"/>
                          </a:solidFill>
                        </a:rPr>
                        <a:t>6</a:t>
                      </a:r>
                      <a:r>
                        <a:rPr lang="zh-CN" altLang="en-US" sz="1600" dirty="0">
                          <a:solidFill>
                            <a:schemeClr val="bg1"/>
                          </a:solidFill>
                        </a:rPr>
                        <a:t>版</a:t>
                      </a:r>
                      <a:endParaRPr lang="en-US" altLang="zh-CN"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solidFill>
                            <a:schemeClr val="bg1"/>
                          </a:solidFill>
                        </a:rPr>
                        <a:t>Project Management Body of Knowledge, 7th Edition</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solidFill>
                            <a:schemeClr val="bg1"/>
                          </a:solidFill>
                        </a:rPr>
                        <a:t>项目管理知识体系，第</a:t>
                      </a:r>
                      <a:r>
                        <a:rPr lang="en-US" altLang="zh-CN" sz="1600" dirty="0">
                          <a:solidFill>
                            <a:schemeClr val="bg1"/>
                          </a:solidFill>
                        </a:rPr>
                        <a:t>7</a:t>
                      </a:r>
                      <a:r>
                        <a:rPr lang="zh-CN" altLang="en-US" sz="1600" dirty="0">
                          <a:solidFill>
                            <a:schemeClr val="bg1"/>
                          </a:solidFill>
                        </a:rPr>
                        <a:t>版</a:t>
                      </a:r>
                      <a:endParaRPr lang="en-US" altLang="zh-CN" sz="1600" dirty="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Item</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dirty="0">
                          <a:solidFill>
                            <a:schemeClr val="bg1"/>
                          </a:solidFill>
                        </a:rPr>
                        <a:t>PMP</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PMI</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6</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PMBOK 7</a:t>
                      </a:r>
                      <a:r>
                        <a:rPr lang="en-US" altLang="zh-CN" sz="1600" b="0" i="0" baseline="30000" dirty="0">
                          <a:solidFill>
                            <a:schemeClr val="bg1"/>
                          </a:solidFill>
                          <a:latin typeface="Montserrat" panose="00000500000000000000" pitchFamily="2" charset="0"/>
                          <a:ea typeface="微软雅黑 Light" panose="020B0502040204020203" pitchFamily="34" charset="-122"/>
                        </a:rPr>
                        <a:t>th</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dirty="0">
                          <a:solidFill>
                            <a:schemeClr val="bg1"/>
                          </a:solidFill>
                        </a:rPr>
                        <a:t>Philosophy</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基于过程 </a:t>
                      </a:r>
                      <a:r>
                        <a:rPr lang="en-US" sz="1600" dirty="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基于原则 </a:t>
                      </a:r>
                      <a:r>
                        <a:rPr lang="en-US" sz="1600" dirty="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dirty="0">
                          <a:solidFill>
                            <a:schemeClr val="bg1"/>
                          </a:solidFill>
                        </a:rPr>
                        <a:t>Structure</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solidFill>
                            <a:schemeClr val="bg1"/>
                          </a:solidFill>
                        </a:rPr>
                        <a:t>5</a:t>
                      </a:r>
                      <a:r>
                        <a:rPr lang="zh-CN" altLang="en-US" sz="1600" dirty="0">
                          <a:solidFill>
                            <a:schemeClr val="bg1"/>
                          </a:solidFill>
                        </a:rPr>
                        <a:t>大过程组 </a:t>
                      </a:r>
                      <a:r>
                        <a:rPr lang="en-US" altLang="zh-CN" sz="1600" dirty="0">
                          <a:solidFill>
                            <a:schemeClr val="bg1"/>
                          </a:solidFill>
                        </a:rPr>
                        <a:t>+ 10</a:t>
                      </a:r>
                      <a:r>
                        <a:rPr lang="zh-CN" altLang="en-US" sz="1600" dirty="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solidFill>
                            <a:schemeClr val="bg1"/>
                          </a:solidFill>
                        </a:rPr>
                        <a:t>12</a:t>
                      </a:r>
                      <a:r>
                        <a:rPr lang="zh-CN" altLang="en-US" sz="1600" dirty="0">
                          <a:solidFill>
                            <a:schemeClr val="bg1"/>
                          </a:solidFill>
                        </a:rPr>
                        <a:t>项原则 </a:t>
                      </a:r>
                      <a:r>
                        <a:rPr lang="en-US" altLang="zh-CN" sz="1600" dirty="0">
                          <a:solidFill>
                            <a:schemeClr val="bg1"/>
                          </a:solidFill>
                        </a:rPr>
                        <a:t>+ 8</a:t>
                      </a:r>
                      <a:r>
                        <a:rPr lang="zh-CN" altLang="en-US" sz="1600" dirty="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dirty="0">
                          <a:solidFill>
                            <a:schemeClr val="bg1"/>
                          </a:solidFill>
                        </a:rPr>
                        <a:t>Focus</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产出 </a:t>
                      </a:r>
                      <a:r>
                        <a:rPr lang="en-US" sz="1600" dirty="0">
                          <a:solidFill>
                            <a:schemeClr val="bg1"/>
                          </a:solidFill>
                        </a:rPr>
                        <a:t>Outputs</a:t>
                      </a:r>
                      <a:endParaRPr lang="en-US" altLang="zh-CN" sz="1600" dirty="0">
                        <a:solidFill>
                          <a:schemeClr val="bg1"/>
                        </a:solidFill>
                      </a:endParaRPr>
                    </a:p>
                    <a:p>
                      <a:pPr algn="l">
                        <a:lnSpc>
                          <a:spcPct val="100000"/>
                        </a:lnSpc>
                        <a:buNone/>
                      </a:pPr>
                      <a:r>
                        <a:rPr lang="zh-CN" altLang="en-US" sz="1600" dirty="0">
                          <a:solidFill>
                            <a:schemeClr val="bg1"/>
                          </a:solidFill>
                        </a:rPr>
                        <a:t>交付了什么文件</a:t>
                      </a:r>
                      <a:r>
                        <a:rPr lang="en-US" altLang="zh-CN" sz="1600" dirty="0">
                          <a:solidFill>
                            <a:schemeClr val="bg1"/>
                          </a:solidFill>
                        </a:rPr>
                        <a:t>/</a:t>
                      </a:r>
                      <a:r>
                        <a:rPr lang="zh-CN" altLang="en-US" sz="1600" dirty="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成果 </a:t>
                      </a:r>
                      <a:r>
                        <a:rPr lang="en-US" sz="1600" dirty="0">
                          <a:solidFill>
                            <a:schemeClr val="bg1"/>
                          </a:solidFill>
                        </a:rPr>
                        <a:t>Outcomes &amp; </a:t>
                      </a:r>
                      <a:r>
                        <a:rPr lang="zh-CN" altLang="en-US" sz="1600" dirty="0">
                          <a:solidFill>
                            <a:schemeClr val="bg1"/>
                          </a:solidFill>
                        </a:rPr>
                        <a:t>价值 </a:t>
                      </a:r>
                      <a:r>
                        <a:rPr lang="en-US" sz="1600" dirty="0">
                          <a:solidFill>
                            <a:schemeClr val="bg1"/>
                          </a:solidFill>
                        </a:rPr>
                        <a:t>Value </a:t>
                      </a:r>
                      <a:br>
                        <a:rPr lang="en-US" sz="1600" dirty="0">
                          <a:solidFill>
                            <a:schemeClr val="bg1"/>
                          </a:solidFill>
                        </a:rPr>
                      </a:br>
                      <a:r>
                        <a:rPr lang="zh-CN" altLang="en-US" sz="1600" dirty="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dirty="0">
                          <a:solidFill>
                            <a:schemeClr val="bg1"/>
                          </a:solidFill>
                        </a:rPr>
                        <a:t>Methodology Scope</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偏向预测型 </a:t>
                      </a:r>
                      <a:r>
                        <a:rPr lang="en-US" altLang="zh-CN" sz="1600" dirty="0">
                          <a:solidFill>
                            <a:schemeClr val="bg1"/>
                          </a:solidFill>
                        </a:rPr>
                        <a:t>(</a:t>
                      </a:r>
                      <a:r>
                        <a:rPr lang="zh-CN" altLang="en-US" sz="1600" dirty="0">
                          <a:solidFill>
                            <a:schemeClr val="bg1"/>
                          </a:solidFill>
                        </a:rPr>
                        <a:t>瀑布式</a:t>
                      </a:r>
                      <a:r>
                        <a:rPr lang="en-US" altLang="zh-CN" sz="1600" dirty="0">
                          <a:solidFill>
                            <a:schemeClr val="bg1"/>
                          </a:solidFill>
                        </a:rPr>
                        <a:t>)</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全生命周期适用 </a:t>
                      </a:r>
                      <a:r>
                        <a:rPr lang="en-US" altLang="zh-CN" sz="1600" dirty="0">
                          <a:solidFill>
                            <a:schemeClr val="bg1"/>
                          </a:solidFill>
                        </a:rPr>
                        <a:t>(</a:t>
                      </a:r>
                      <a:r>
                        <a:rPr lang="zh-CN" altLang="en-US" sz="1600" dirty="0">
                          <a:solidFill>
                            <a:schemeClr val="bg1"/>
                          </a:solidFill>
                        </a:rPr>
                        <a:t>预测型、敏捷型、混合型融合</a:t>
                      </a:r>
                      <a:r>
                        <a:rPr lang="en-US" altLang="zh-CN" sz="1600" dirty="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dirty="0">
                          <a:solidFill>
                            <a:schemeClr val="bg1"/>
                          </a:solidFill>
                        </a:rPr>
                        <a:t>PM</a:t>
                      </a:r>
                      <a:r>
                        <a:rPr lang="zh-CN" altLang="en-US" sz="1600" dirty="0">
                          <a:solidFill>
                            <a:schemeClr val="bg1"/>
                          </a:solidFill>
                        </a:rPr>
                        <a:t> </a:t>
                      </a:r>
                      <a:r>
                        <a:rPr lang="en-US" altLang="zh-CN" sz="1600" dirty="0">
                          <a:solidFill>
                            <a:schemeClr val="bg1"/>
                          </a:solidFill>
                        </a:rPr>
                        <a:t>role</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dirty="0">
                          <a:solidFill>
                            <a:schemeClr val="bg1"/>
                          </a:solidFill>
                        </a:rPr>
                        <a:t>Tailoring</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高度灵活，强调根据环境裁剪 </a:t>
                      </a:r>
                      <a:r>
                        <a:rPr lang="en-US" altLang="zh-CN" sz="1600" dirty="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dirty="0">
                          <a:solidFill>
                            <a:schemeClr val="bg1"/>
                          </a:solidFill>
                        </a:rPr>
                        <a:t>Definition of Success</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按时、按预算、按范围交付 </a:t>
                      </a:r>
                      <a:r>
                        <a:rPr lang="en-US" altLang="zh-CN" sz="1600" dirty="0">
                          <a:solidFill>
                            <a:schemeClr val="bg1"/>
                          </a:solidFill>
                        </a:rPr>
                        <a:t>(</a:t>
                      </a:r>
                      <a:r>
                        <a:rPr lang="zh-CN" altLang="en-US" sz="1600" dirty="0">
                          <a:solidFill>
                            <a:schemeClr val="bg1"/>
                          </a:solidFill>
                        </a:rPr>
                        <a:t>铁三角</a:t>
                      </a:r>
                      <a:r>
                        <a:rPr lang="en-US" altLang="zh-CN" sz="1600" dirty="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dirty="0">
                          <a:solidFill>
                            <a:schemeClr val="bg1"/>
                          </a:solidFill>
                        </a:rPr>
                        <a:t>Format &amp; Length</a:t>
                      </a:r>
                      <a:endParaRPr lang="zh-CN" alt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厚书，充满</a:t>
                      </a:r>
                      <a:r>
                        <a:rPr lang="en-US" altLang="zh-CN" sz="1600" dirty="0">
                          <a:solidFill>
                            <a:schemeClr val="bg1"/>
                          </a:solidFill>
                        </a:rPr>
                        <a:t>ITTO (</a:t>
                      </a:r>
                      <a:r>
                        <a:rPr lang="zh-CN" altLang="en-US" sz="1600" dirty="0">
                          <a:solidFill>
                            <a:schemeClr val="bg1"/>
                          </a:solidFill>
                        </a:rPr>
                        <a:t>输入</a:t>
                      </a:r>
                      <a:r>
                        <a:rPr lang="en-US" altLang="zh-CN" sz="1600" dirty="0">
                          <a:solidFill>
                            <a:schemeClr val="bg1"/>
                          </a:solidFill>
                        </a:rPr>
                        <a:t>/</a:t>
                      </a:r>
                      <a:r>
                        <a:rPr lang="zh-CN" altLang="en-US" sz="1600" dirty="0">
                          <a:solidFill>
                            <a:schemeClr val="bg1"/>
                          </a:solidFill>
                        </a:rPr>
                        <a:t>工具</a:t>
                      </a:r>
                      <a:r>
                        <a:rPr lang="en-US" altLang="zh-CN" sz="1600" dirty="0">
                          <a:solidFill>
                            <a:schemeClr val="bg1"/>
                          </a:solidFill>
                        </a:rPr>
                        <a:t>/</a:t>
                      </a:r>
                      <a:r>
                        <a:rPr lang="zh-CN" altLang="en-US" sz="1600" dirty="0">
                          <a:solidFill>
                            <a:schemeClr val="bg1"/>
                          </a:solidFill>
                        </a:rPr>
                        <a:t>输出</a:t>
                      </a:r>
                      <a:r>
                        <a:rPr lang="en-US" altLang="zh-CN" sz="1600" dirty="0">
                          <a:solidFill>
                            <a:schemeClr val="bg1"/>
                          </a:solidFill>
                        </a:rPr>
                        <a:t>) </a:t>
                      </a:r>
                      <a:r>
                        <a:rPr lang="zh-CN" altLang="en-US" sz="1600" dirty="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dirty="0">
                          <a:solidFill>
                            <a:schemeClr val="bg1"/>
                          </a:solidFill>
                        </a:rPr>
                        <a:t>更薄，更像指导手册，去除了大量</a:t>
                      </a:r>
                      <a:r>
                        <a:rPr lang="en-US" altLang="zh-CN" sz="1600" dirty="0">
                          <a:solidFill>
                            <a:schemeClr val="bg1"/>
                          </a:solidFill>
                        </a:rPr>
                        <a:t>ITTO</a:t>
                      </a:r>
                      <a:r>
                        <a:rPr lang="zh-CN" altLang="en-US" sz="1600" dirty="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dirty="0">
                          <a:solidFill>
                            <a:srgbClr val="FFFF00"/>
                          </a:solidFill>
                        </a:rPr>
                        <a:t>In a word</a:t>
                      </a:r>
                      <a:endParaRPr lang="zh-CN" altLang="en-US" sz="1600" dirty="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solidFill>
                            <a:srgbClr val="FFFF00"/>
                          </a:solidFill>
                        </a:rPr>
                        <a:t>Do the project right</a:t>
                      </a:r>
                      <a:endParaRPr lang="zh-CN" altLang="en-US" sz="1600" dirty="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solidFill>
                            <a:srgbClr val="FFFF00"/>
                          </a:solidFill>
                        </a:rPr>
                        <a:t>Do the right project</a:t>
                      </a:r>
                      <a:endParaRPr lang="zh-CN" altLang="en-US" sz="1600" dirty="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dirty="0"/>
              <a:t>3.1 PMBOK </a:t>
            </a:r>
            <a:r>
              <a:rPr lang="zh-CN" altLang="zh-CN" dirty="0"/>
              <a:t>第</a:t>
            </a:r>
            <a:r>
              <a:rPr lang="en-US" altLang="zh-CN" dirty="0"/>
              <a:t>6</a:t>
            </a:r>
            <a:r>
              <a:rPr lang="zh-CN" altLang="zh-CN" dirty="0"/>
              <a:t>版</a:t>
            </a:r>
            <a:endParaRPr lang="zh-CN" altLang="en-US" dirty="0"/>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endParaRPr lang="en-US" altLang="zh-CN" dirty="0"/>
          </a:p>
          <a:p>
            <a:endParaRPr lang="zh-CN" altLang="en-US" dirty="0"/>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Initiating</a:t>
            </a:r>
            <a:endParaRPr lang="zh-CN" altLang="en-US" sz="1400" dirty="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Planning</a:t>
            </a:r>
            <a:endParaRPr lang="zh-CN" altLang="en-US" sz="1400" dirty="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Monitoring &amp; Controlling</a:t>
            </a:r>
            <a:endParaRPr lang="zh-CN" altLang="en-US" sz="1400" dirty="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Executing</a:t>
            </a:r>
            <a:endParaRPr lang="zh-CN" altLang="en-US" sz="1400" dirty="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Closing</a:t>
            </a:r>
            <a:endParaRPr lang="zh-CN" altLang="en-US" sz="1400" dirty="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dirty="0"/>
              <a:t>3.1.1 </a:t>
            </a:r>
            <a:r>
              <a:rPr lang="zh-CN" altLang="en-US" dirty="0"/>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dirty="0"/>
              <a:t>含</a:t>
            </a:r>
            <a:r>
              <a:rPr lang="en-US" altLang="zh-CN" dirty="0"/>
              <a:t>49</a:t>
            </a:r>
            <a:r>
              <a:rPr lang="zh-CN" altLang="en-US" dirty="0"/>
              <a:t>个过程（表</a:t>
            </a:r>
            <a:r>
              <a:rPr lang="en-US" altLang="zh-CN" dirty="0"/>
              <a:t>1-1</a:t>
            </a:r>
            <a:r>
              <a:rPr lang="zh-CN" altLang="en-US" dirty="0"/>
              <a:t>，</a:t>
            </a:r>
            <a:r>
              <a:rPr lang="en-US" altLang="zh-CN" dirty="0"/>
              <a:t>P19</a:t>
            </a:r>
            <a:r>
              <a:rPr lang="zh-CN" altLang="en-US" dirty="0"/>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dirty="0"/>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Process</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dirty="0">
                          <a:solidFill>
                            <a:schemeClr val="bg1"/>
                          </a:solidFill>
                        </a:rPr>
                        <a:t>启动 </a:t>
                      </a:r>
                      <a:r>
                        <a:rPr lang="en-US" altLang="zh-CN" sz="1600" b="0" baseline="0" dirty="0">
                          <a:solidFill>
                            <a:schemeClr val="bg1"/>
                          </a:solidFill>
                        </a:rPr>
                        <a:t>Initiating</a:t>
                      </a:r>
                      <a:endParaRPr lang="en-US" altLang="zh-CN"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dirty="0">
                          <a:solidFill>
                            <a:schemeClr val="bg1"/>
                          </a:solidFill>
                        </a:rPr>
                        <a:t>定义新项目或阶段，获得授权</a:t>
                      </a:r>
                    </a:p>
                    <a:p>
                      <a:pPr>
                        <a:lnSpc>
                          <a:spcPct val="100000"/>
                        </a:lnSpc>
                        <a:buNone/>
                      </a:pPr>
                      <a:r>
                        <a:rPr lang="zh-CN" altLang="en-US" sz="1600" b="0" baseline="0" dirty="0">
                          <a:solidFill>
                            <a:schemeClr val="bg1"/>
                          </a:solidFill>
                        </a:rPr>
                        <a:t>关键输出：项目章程、识别干系人</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2</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dirty="0">
                          <a:solidFill>
                            <a:schemeClr val="bg1"/>
                          </a:solidFill>
                        </a:rPr>
                        <a:t>规划 </a:t>
                      </a:r>
                      <a:r>
                        <a:rPr lang="en-US" altLang="zh-CN" sz="1600" b="0" baseline="0" dirty="0">
                          <a:solidFill>
                            <a:schemeClr val="bg1"/>
                          </a:solidFill>
                        </a:rPr>
                        <a:t>Planning</a:t>
                      </a:r>
                      <a:endParaRPr lang="en-US" altLang="zh-CN"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dirty="0">
                          <a:solidFill>
                            <a:schemeClr val="bg1"/>
                          </a:solidFill>
                        </a:rPr>
                        <a:t>制定范围、进度、成本、质量、风险等计划</a:t>
                      </a:r>
                    </a:p>
                    <a:p>
                      <a:pPr>
                        <a:lnSpc>
                          <a:spcPct val="100000"/>
                        </a:lnSpc>
                        <a:buNone/>
                      </a:pPr>
                      <a:r>
                        <a:rPr lang="zh-CN" altLang="en-US" sz="1600" b="0" baseline="0" dirty="0">
                          <a:solidFill>
                            <a:schemeClr val="bg1"/>
                          </a:solidFill>
                        </a:rPr>
                        <a:t>过程占比最大，强调滚动式规划</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24</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dirty="0">
                          <a:solidFill>
                            <a:schemeClr val="bg1"/>
                          </a:solidFill>
                        </a:rPr>
                        <a:t>执行 </a:t>
                      </a:r>
                      <a:r>
                        <a:rPr lang="en-US" altLang="zh-CN" sz="1600" b="0" baseline="0" dirty="0">
                          <a:solidFill>
                            <a:schemeClr val="bg1"/>
                          </a:solidFill>
                        </a:rPr>
                        <a:t>Executing</a:t>
                      </a:r>
                      <a:endParaRPr lang="en-US" altLang="zh-CN"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dirty="0">
                          <a:solidFill>
                            <a:schemeClr val="bg1"/>
                          </a:solidFill>
                        </a:rPr>
                        <a:t>完成项目工作，满足范围说明书要求</a:t>
                      </a:r>
                    </a:p>
                    <a:p>
                      <a:pPr>
                        <a:lnSpc>
                          <a:spcPct val="100000"/>
                        </a:lnSpc>
                        <a:buNone/>
                      </a:pPr>
                      <a:r>
                        <a:rPr lang="zh-CN" altLang="en-US" sz="1600" b="0" baseline="0" dirty="0">
                          <a:solidFill>
                            <a:schemeClr val="bg1"/>
                          </a:solidFill>
                        </a:rPr>
                        <a:t>包括团队建设、质量保证、采购实施等</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10</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dirty="0">
                          <a:solidFill>
                            <a:schemeClr val="bg1"/>
                          </a:solidFill>
                        </a:rPr>
                        <a:t>监控 </a:t>
                      </a:r>
                      <a:r>
                        <a:rPr lang="en-US" altLang="zh-CN" sz="1600" b="0" baseline="0" dirty="0">
                          <a:solidFill>
                            <a:schemeClr val="bg1"/>
                          </a:solidFill>
                        </a:rPr>
                        <a:t>Monitoring &amp; Controlling</a:t>
                      </a:r>
                      <a:endParaRPr lang="en-US" altLang="zh-CN"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dirty="0">
                          <a:solidFill>
                            <a:schemeClr val="bg1"/>
                          </a:solidFill>
                        </a:rPr>
                        <a:t>跟踪、审查和调整项目进展与绩效</a:t>
                      </a:r>
                    </a:p>
                    <a:p>
                      <a:pPr>
                        <a:lnSpc>
                          <a:spcPct val="100000"/>
                        </a:lnSpc>
                        <a:buNone/>
                      </a:pPr>
                      <a:r>
                        <a:rPr lang="zh-CN" altLang="en-US" sz="1600" b="0" baseline="0" dirty="0">
                          <a:solidFill>
                            <a:schemeClr val="bg1"/>
                          </a:solidFill>
                        </a:rPr>
                        <a:t>核心：变更控制和偏差分析</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12</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5</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dirty="0">
                          <a:solidFill>
                            <a:schemeClr val="bg1"/>
                          </a:solidFill>
                        </a:rPr>
                        <a:t>结束 </a:t>
                      </a:r>
                      <a:r>
                        <a:rPr lang="en-US" altLang="zh-CN" sz="1600" b="0" baseline="0" dirty="0">
                          <a:solidFill>
                            <a:schemeClr val="bg1"/>
                          </a:solidFill>
                        </a:rPr>
                        <a:t>Closing</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dirty="0">
                          <a:solidFill>
                            <a:schemeClr val="bg1"/>
                          </a:solidFill>
                        </a:rPr>
                        <a:t>正式结束项目或阶段</a:t>
                      </a:r>
                      <a:endParaRPr lang="en-US" altLang="zh-CN" sz="1600" b="0" baseline="0" dirty="0">
                        <a:solidFill>
                          <a:schemeClr val="bg1"/>
                        </a:solidFill>
                      </a:endParaRPr>
                    </a:p>
                    <a:p>
                      <a:pPr>
                        <a:lnSpc>
                          <a:spcPct val="100000"/>
                        </a:lnSpc>
                        <a:buNone/>
                      </a:pPr>
                      <a:r>
                        <a:rPr lang="zh-CN" altLang="en-US" sz="1600" b="0" baseline="0" dirty="0">
                          <a:solidFill>
                            <a:schemeClr val="bg1"/>
                          </a:solidFill>
                        </a:rPr>
                        <a:t>移交成果，总结经验</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1</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dirty="0"/>
              <a:t>3.1.2 </a:t>
            </a:r>
            <a:r>
              <a:rPr lang="zh-CN" altLang="en-US" dirty="0"/>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dirty="0"/>
              <a:t>每个领域涉及诺干过程</a:t>
            </a:r>
            <a:endParaRPr lang="en-US" altLang="zh-CN" dirty="0"/>
          </a:p>
          <a:p>
            <a:r>
              <a:rPr lang="zh-CN" altLang="en-US" dirty="0"/>
              <a:t>每个过程都有详细的 </a:t>
            </a:r>
            <a:r>
              <a:rPr lang="en-US" altLang="zh-CN" dirty="0"/>
              <a:t>ITTO (</a:t>
            </a:r>
            <a:r>
              <a:rPr lang="zh-CN" altLang="en-US" dirty="0"/>
              <a:t>输入 </a:t>
            </a:r>
            <a:r>
              <a:rPr lang="en-US" altLang="zh-CN" dirty="0"/>
              <a:t>Input</a:t>
            </a:r>
            <a:r>
              <a:rPr lang="zh-CN" altLang="en-US" dirty="0"/>
              <a:t>、工具 </a:t>
            </a:r>
            <a:r>
              <a:rPr lang="en-US" altLang="zh-CN" dirty="0"/>
              <a:t>Tools </a:t>
            </a:r>
            <a:r>
              <a:rPr lang="zh-CN" altLang="en-US" dirty="0"/>
              <a:t>与技术 </a:t>
            </a:r>
            <a:r>
              <a:rPr lang="en-US" altLang="zh-CN" dirty="0"/>
              <a:t>Techniques</a:t>
            </a:r>
            <a:r>
              <a:rPr lang="zh-CN" altLang="en-US" dirty="0"/>
              <a:t>、输出 </a:t>
            </a:r>
            <a:r>
              <a:rPr lang="en-US" altLang="zh-CN" dirty="0"/>
              <a:t>Output)</a:t>
            </a:r>
          </a:p>
          <a:p>
            <a:pPr lvl="1"/>
            <a:r>
              <a:rPr lang="zh-CN" altLang="en-US" dirty="0"/>
              <a:t>如成本管理（图</a:t>
            </a:r>
            <a:r>
              <a:rPr lang="en-US" altLang="zh-CN" dirty="0"/>
              <a:t>1-8</a:t>
            </a:r>
            <a:r>
              <a:rPr lang="zh-CN" altLang="en-US" dirty="0"/>
              <a:t>，</a:t>
            </a:r>
            <a:r>
              <a:rPr lang="en-US" altLang="zh-CN" dirty="0"/>
              <a:t>P14</a:t>
            </a:r>
            <a:r>
              <a:rPr lang="zh-CN" altLang="en-US" dirty="0"/>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Areas</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1</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项目集成管理 </a:t>
                      </a:r>
                      <a:r>
                        <a:rPr lang="en-US" altLang="zh-CN" sz="1600" baseline="0" dirty="0">
                          <a:solidFill>
                            <a:schemeClr val="bg1"/>
                          </a:solidFill>
                        </a:rPr>
                        <a:t>Integration </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统一协调各过程，如制定章程、项目管理计划、变更控制</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2</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项目范围管理 </a:t>
                      </a:r>
                      <a:r>
                        <a:rPr lang="en-US" altLang="zh-CN" sz="1600" baseline="0" dirty="0">
                          <a:solidFill>
                            <a:schemeClr val="bg1"/>
                          </a:solidFill>
                        </a:rPr>
                        <a:t>Scope</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定义和控制做哪些工作，防止范围蔓延</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3</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项目进度管理 </a:t>
                      </a:r>
                      <a:r>
                        <a:rPr lang="en-US" altLang="zh-CN" sz="1600" baseline="0" dirty="0">
                          <a:solidFill>
                            <a:schemeClr val="bg1"/>
                          </a:solidFill>
                        </a:rPr>
                        <a:t>Schedule </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活动定义、排序、估算、制定进度计划</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4</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项目成本管理 </a:t>
                      </a:r>
                      <a:r>
                        <a:rPr lang="en-US" altLang="zh-CN" sz="1600" baseline="0" dirty="0">
                          <a:solidFill>
                            <a:schemeClr val="bg1"/>
                          </a:solidFill>
                        </a:rPr>
                        <a:t>Cost</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估算、预算、控制成本</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5</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项目质量管理 </a:t>
                      </a:r>
                      <a:r>
                        <a:rPr lang="en-US" altLang="zh-CN" sz="1600" baseline="0" dirty="0">
                          <a:solidFill>
                            <a:schemeClr val="bg1"/>
                          </a:solidFill>
                        </a:rPr>
                        <a:t>Quality</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规划质量、管理质量、控制质量</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6</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项目资源管理 </a:t>
                      </a:r>
                      <a:r>
                        <a:rPr lang="en-US" altLang="zh-CN" sz="1600" baseline="0" dirty="0">
                          <a:solidFill>
                            <a:schemeClr val="bg1"/>
                          </a:solidFill>
                        </a:rPr>
                        <a:t>Resource</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获取、发展、管理团队及实物资源</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7</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项目沟通管理 </a:t>
                      </a:r>
                      <a:r>
                        <a:rPr lang="en-US" altLang="zh-CN" sz="1600" baseline="0" dirty="0">
                          <a:solidFill>
                            <a:schemeClr val="bg1"/>
                          </a:solidFill>
                        </a:rPr>
                        <a:t>Communication</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规划、管理、监督沟通</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8</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项目风险管理 </a:t>
                      </a:r>
                      <a:r>
                        <a:rPr lang="en-US" altLang="zh-CN" sz="1600" baseline="0" dirty="0">
                          <a:solidFill>
                            <a:schemeClr val="bg1"/>
                          </a:solidFill>
                        </a:rPr>
                        <a:t>Risk</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识别、分析、应对不确定性</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9</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项目采购管理 </a:t>
                      </a:r>
                      <a:r>
                        <a:rPr lang="en-US" altLang="zh-CN" sz="1600" baseline="0" dirty="0">
                          <a:solidFill>
                            <a:schemeClr val="bg1"/>
                          </a:solidFill>
                        </a:rPr>
                        <a:t>Procurement</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从外部获取产品</a:t>
                      </a:r>
                      <a:r>
                        <a:rPr lang="en-US" altLang="zh-CN" sz="1600" baseline="0" dirty="0">
                          <a:solidFill>
                            <a:schemeClr val="bg1"/>
                          </a:solidFill>
                        </a:rPr>
                        <a:t>/</a:t>
                      </a:r>
                      <a:r>
                        <a:rPr lang="zh-CN" altLang="en-US" sz="1600" baseline="0" dirty="0">
                          <a:solidFill>
                            <a:schemeClr val="bg1"/>
                          </a:solidFill>
                        </a:rPr>
                        <a:t>服务</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dirty="0">
                          <a:solidFill>
                            <a:schemeClr val="bg1"/>
                          </a:solidFill>
                          <a:latin typeface="Montserrat" panose="00000500000000000000" pitchFamily="2" charset="0"/>
                          <a:ea typeface="微软雅黑 Light" panose="020B0502040204020203" pitchFamily="34" charset="-122"/>
                        </a:rPr>
                        <a:t>10</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项目干系人管理 </a:t>
                      </a:r>
                      <a:r>
                        <a:rPr lang="en-US" altLang="zh-CN" sz="1600" baseline="0" dirty="0">
                          <a:solidFill>
                            <a:schemeClr val="bg1"/>
                          </a:solidFill>
                        </a:rPr>
                        <a:t>Stakeholder</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dirty="0">
                          <a:solidFill>
                            <a:schemeClr val="bg1"/>
                          </a:solidFill>
                        </a:rPr>
                        <a:t>识别干系人、制定参与策略、管理期望</a:t>
                      </a:r>
                      <a:endParaRPr lang="zh-CN" altLang="en-US" sz="1600" b="0" i="0" baseline="0" dirty="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r>
              <a:rPr lang="en-US" altLang="zh-CN" dirty="0"/>
              <a:t>PMBOK </a:t>
            </a:r>
            <a:r>
              <a:rPr lang="zh-CN" altLang="en-US" dirty="0"/>
              <a:t>第八版（</a:t>
            </a:r>
            <a:r>
              <a:rPr lang="en-US" altLang="zh-CN" dirty="0"/>
              <a:t>2025</a:t>
            </a:r>
            <a:r>
              <a:rPr lang="zh-CN" altLang="en-US" dirty="0"/>
              <a:t>年</a:t>
            </a:r>
            <a:r>
              <a:rPr lang="en-US" altLang="zh-CN" dirty="0"/>
              <a:t>11</a:t>
            </a:r>
            <a:r>
              <a:rPr lang="zh-CN" altLang="en-US" dirty="0"/>
              <a:t>月发布）把</a:t>
            </a:r>
            <a:r>
              <a:rPr lang="en-US" altLang="zh-CN" dirty="0"/>
              <a:t>8</a:t>
            </a:r>
            <a:r>
              <a:rPr lang="zh-CN" altLang="en-US" dirty="0"/>
              <a:t>大绩效域又改成了</a:t>
            </a:r>
            <a:r>
              <a:rPr lang="en-US" altLang="zh-CN" dirty="0"/>
              <a:t>7</a:t>
            </a:r>
            <a:r>
              <a:rPr lang="zh-CN" altLang="en-US" dirty="0"/>
              <a:t>大绩效域</a:t>
            </a:r>
            <a:endParaRPr lang="en-US" altLang="zh-CN" dirty="0"/>
          </a:p>
          <a:p>
            <a:r>
              <a:rPr lang="zh-CN" altLang="en-US" dirty="0"/>
              <a:t>体系框架动态发展</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dirty="0"/>
              <a:t>3.2.1 </a:t>
            </a:r>
            <a:r>
              <a:rPr lang="zh-CN" altLang="en-US" dirty="0"/>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dirty="0"/>
              <a:t>12 Principles/PMBOK 7th</a:t>
            </a:r>
            <a:endParaRPr lang="zh-CN" altLang="en-US" dirty="0"/>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dirty="0">
                          <a:solidFill>
                            <a:schemeClr val="bg1"/>
                          </a:solidFill>
                          <a:effectLst/>
                        </a:rPr>
                        <a:t>1</a:t>
                      </a:r>
                      <a:endParaRPr lang="zh-CN" altLang="en-US" sz="1400" b="0" dirty="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尽职、尊重和关心</a:t>
                      </a:r>
                      <a:r>
                        <a:rPr lang="en-US" altLang="zh-CN" sz="1400" b="0" dirty="0">
                          <a:solidFill>
                            <a:schemeClr val="bg1"/>
                          </a:solidFill>
                          <a:effectLst/>
                        </a:rPr>
                        <a:t>(</a:t>
                      </a:r>
                      <a:r>
                        <a:rPr lang="zh-CN" altLang="en-US" sz="1400" b="0" dirty="0">
                          <a:solidFill>
                            <a:schemeClr val="bg1"/>
                          </a:solidFill>
                          <a:effectLst/>
                        </a:rPr>
                        <a:t>管家精神</a:t>
                      </a:r>
                      <a:r>
                        <a:rPr lang="en-US" altLang="zh-CN" sz="1400" b="0" dirty="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dirty="0">
                          <a:solidFill>
                            <a:schemeClr val="bg1"/>
                          </a:solidFill>
                          <a:effectLst/>
                        </a:rPr>
                        <a:t>Be a diligent, respectful, and caring </a:t>
                      </a:r>
                      <a:r>
                        <a:rPr lang="en-US" sz="1400" b="1" dirty="0">
                          <a:solidFill>
                            <a:schemeClr val="bg1"/>
                          </a:solidFill>
                          <a:effectLst/>
                        </a:rPr>
                        <a:t>steward</a:t>
                      </a:r>
                      <a:r>
                        <a:rPr lang="en-US" sz="1400" b="0" dirty="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核心： 建立信任与</a:t>
                      </a:r>
                      <a:r>
                        <a:rPr lang="zh-CN" altLang="en-US" sz="1400" b="1" dirty="0">
                          <a:solidFill>
                            <a:schemeClr val="bg1"/>
                          </a:solidFill>
                          <a:effectLst/>
                        </a:rPr>
                        <a:t>责任感</a:t>
                      </a:r>
                      <a:r>
                        <a:rPr lang="zh-CN" altLang="en-US" sz="1400" b="0" dirty="0">
                          <a:solidFill>
                            <a:schemeClr val="bg1"/>
                          </a:solidFill>
                          <a:effectLst/>
                        </a:rPr>
                        <a:t>。</a:t>
                      </a:r>
                      <a:br>
                        <a:rPr lang="zh-CN" altLang="en-US" sz="1400" b="0" dirty="0">
                          <a:solidFill>
                            <a:schemeClr val="bg1"/>
                          </a:solidFill>
                          <a:effectLst/>
                        </a:rPr>
                      </a:br>
                      <a:r>
                        <a:rPr lang="zh-CN" altLang="en-US" sz="1400" b="0" dirty="0">
                          <a:solidFill>
                            <a:schemeClr val="bg1"/>
                          </a:solidFill>
                          <a:effectLst/>
                        </a:rPr>
                        <a:t>项目经理应像“管家”一样，以诚信、关怀</a:t>
                      </a:r>
                      <a:r>
                        <a:rPr lang="zh-CN" altLang="en-US" sz="1400" b="0" kern="1200" dirty="0">
                          <a:solidFill>
                            <a:schemeClr val="bg1"/>
                          </a:solidFill>
                          <a:effectLst/>
                          <a:latin typeface="+mn-lt"/>
                          <a:ea typeface="+mn-ea"/>
                          <a:cs typeface="+mn-cs"/>
                        </a:rPr>
                        <a:t>和尊重的</a:t>
                      </a:r>
                      <a:r>
                        <a:rPr lang="zh-CN" altLang="en-US" sz="1400" b="0" dirty="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dirty="0">
                          <a:solidFill>
                            <a:schemeClr val="bg1"/>
                          </a:solidFill>
                          <a:effectLst/>
                        </a:rPr>
                        <a:t>2</a:t>
                      </a:r>
                      <a:endParaRPr lang="zh-CN" altLang="en-US" sz="1400" b="0" dirty="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dirty="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核心： 团队效能高于个人总和。</a:t>
                      </a:r>
                      <a:br>
                        <a:rPr lang="zh-CN" altLang="en-US" sz="1400" b="0" dirty="0">
                          <a:solidFill>
                            <a:schemeClr val="bg1"/>
                          </a:solidFill>
                          <a:effectLst/>
                        </a:rPr>
                      </a:br>
                      <a:r>
                        <a:rPr lang="zh-CN" altLang="en-US" sz="1400" b="0" dirty="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dirty="0">
                          <a:solidFill>
                            <a:schemeClr val="bg1"/>
                          </a:solidFill>
                          <a:effectLst/>
                        </a:rPr>
                        <a:t>3</a:t>
                      </a:r>
                      <a:endParaRPr lang="zh-CN" altLang="en-US" sz="1400" b="0" dirty="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dirty="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核心： 双向沟通与期望管理。</a:t>
                      </a:r>
                      <a:br>
                        <a:rPr lang="zh-CN" altLang="en-US" sz="1400" b="0" dirty="0">
                          <a:solidFill>
                            <a:schemeClr val="bg1"/>
                          </a:solidFill>
                          <a:effectLst/>
                        </a:rPr>
                      </a:br>
                      <a:r>
                        <a:rPr lang="zh-CN" altLang="en-US" sz="1400" b="1" dirty="0">
                          <a:solidFill>
                            <a:schemeClr val="bg1"/>
                          </a:solidFill>
                          <a:effectLst/>
                        </a:rPr>
                        <a:t>主动</a:t>
                      </a:r>
                      <a:r>
                        <a:rPr lang="zh-CN" altLang="en-US" sz="1400" b="0" dirty="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dirty="0">
                          <a:solidFill>
                            <a:schemeClr val="bg1"/>
                          </a:solidFill>
                          <a:effectLst/>
                        </a:rPr>
                        <a:t>4</a:t>
                      </a:r>
                      <a:endParaRPr lang="zh-CN" altLang="en-US" sz="1400" b="0" dirty="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dirty="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核心： 价值是最终目标。</a:t>
                      </a:r>
                      <a:br>
                        <a:rPr lang="zh-CN" altLang="en-US" sz="1400" b="0" dirty="0">
                          <a:solidFill>
                            <a:schemeClr val="bg1"/>
                          </a:solidFill>
                          <a:effectLst/>
                        </a:rPr>
                      </a:br>
                      <a:r>
                        <a:rPr lang="zh-CN" altLang="en-US" sz="1400" b="0" dirty="0">
                          <a:solidFill>
                            <a:schemeClr val="bg1"/>
                          </a:solidFill>
                          <a:effectLst/>
                        </a:rPr>
                        <a:t>项目的存在是为了创造价值（商业价值、社会效益等）。所有决策和行动都应以“是否最大化价值”为衡量标准，</a:t>
                      </a:r>
                      <a:r>
                        <a:rPr lang="zh-CN" altLang="en-US" sz="1400" b="1" dirty="0">
                          <a:solidFill>
                            <a:schemeClr val="bg1"/>
                          </a:solidFill>
                          <a:effectLst/>
                        </a:rPr>
                        <a:t>避免为了做项目而做项目</a:t>
                      </a:r>
                      <a:r>
                        <a:rPr lang="zh-CN" altLang="en-US" sz="1400" b="0" dirty="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dirty="0">
                          <a:solidFill>
                            <a:schemeClr val="bg1"/>
                          </a:solidFill>
                          <a:effectLst/>
                        </a:rPr>
                        <a:t>5</a:t>
                      </a:r>
                      <a:endParaRPr lang="zh-CN" altLang="en-US" sz="1400" b="0" dirty="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dirty="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核心： 系统思维 </a:t>
                      </a:r>
                      <a:r>
                        <a:rPr lang="en-US" altLang="zh-CN" sz="1400" b="0" dirty="0">
                          <a:solidFill>
                            <a:schemeClr val="bg1"/>
                          </a:solidFill>
                          <a:effectLst/>
                        </a:rPr>
                        <a:t>(Systems Thinking)</a:t>
                      </a:r>
                      <a:r>
                        <a:rPr lang="zh-CN" altLang="en-US" sz="1400" b="0" dirty="0">
                          <a:solidFill>
                            <a:schemeClr val="bg1"/>
                          </a:solidFill>
                          <a:effectLst/>
                        </a:rPr>
                        <a:t>。</a:t>
                      </a:r>
                      <a:br>
                        <a:rPr lang="zh-CN" altLang="en-US" sz="1400" b="0" dirty="0">
                          <a:solidFill>
                            <a:schemeClr val="bg1"/>
                          </a:solidFill>
                          <a:effectLst/>
                        </a:rPr>
                      </a:br>
                      <a:r>
                        <a:rPr lang="zh-CN" altLang="en-US" sz="1400" b="0" dirty="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dirty="0">
                          <a:solidFill>
                            <a:schemeClr val="bg1"/>
                          </a:solidFill>
                          <a:effectLst/>
                        </a:rPr>
                        <a:t>6</a:t>
                      </a:r>
                      <a:endParaRPr lang="zh-CN" altLang="en-US" sz="1400" b="0" dirty="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dirty="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dirty="0">
                          <a:solidFill>
                            <a:schemeClr val="bg1"/>
                          </a:solidFill>
                          <a:effectLst/>
                        </a:rPr>
                        <a:t>核心： 领导力人人可为。</a:t>
                      </a:r>
                      <a:br>
                        <a:rPr lang="zh-CN" altLang="en-US" sz="1400" b="0" dirty="0">
                          <a:solidFill>
                            <a:schemeClr val="bg1"/>
                          </a:solidFill>
                          <a:effectLst/>
                        </a:rPr>
                      </a:br>
                      <a:r>
                        <a:rPr lang="zh-CN" altLang="en-US" sz="1400" b="0" dirty="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dirty="0"/>
              <a:t>3.2.1 </a:t>
            </a:r>
            <a:r>
              <a:rPr lang="zh-CN" altLang="en-US" dirty="0"/>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dirty="0"/>
              <a:t>12 Principles/PMBOK 7th</a:t>
            </a:r>
            <a:endParaRPr lang="zh-CN" altLang="en-US" dirty="0"/>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dirty="0">
                          <a:solidFill>
                            <a:schemeClr val="bg1"/>
                          </a:solidFill>
                        </a:rPr>
                        <a:t>7</a:t>
                      </a:r>
                      <a:endParaRPr lang="zh-CN" altLang="en-US" sz="14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dirty="0">
                          <a:solidFill>
                            <a:schemeClr val="bg1"/>
                          </a:solidFill>
                        </a:rPr>
                        <a:t>Tailor</a:t>
                      </a:r>
                      <a:r>
                        <a:rPr lang="en-US" sz="1400" dirty="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核心： 没有“一刀切”的方法。</a:t>
                      </a:r>
                      <a:br>
                        <a:rPr lang="zh-CN" altLang="en-US" sz="1400" dirty="0">
                          <a:solidFill>
                            <a:schemeClr val="bg1"/>
                          </a:solidFill>
                        </a:rPr>
                      </a:br>
                      <a:r>
                        <a:rPr lang="zh-CN" altLang="en-US" sz="1400" dirty="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dirty="0">
                          <a:solidFill>
                            <a:schemeClr val="bg1"/>
                          </a:solidFill>
                        </a:rPr>
                        <a:t>8</a:t>
                      </a:r>
                      <a:endParaRPr lang="zh-CN" altLang="en-US" sz="14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dirty="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核心： 预防胜于检查。</a:t>
                      </a:r>
                      <a:br>
                        <a:rPr lang="zh-CN" altLang="en-US" sz="1400" dirty="0">
                          <a:solidFill>
                            <a:schemeClr val="bg1"/>
                          </a:solidFill>
                        </a:rPr>
                      </a:br>
                      <a:r>
                        <a:rPr lang="zh-CN" altLang="en-US" sz="1400" dirty="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dirty="0">
                          <a:solidFill>
                            <a:schemeClr val="bg1"/>
                          </a:solidFill>
                        </a:rPr>
                        <a:t>9</a:t>
                      </a:r>
                      <a:endParaRPr lang="zh-CN" altLang="en-US" sz="14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dirty="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核心： 在混乱中寻找路径。</a:t>
                      </a:r>
                      <a:br>
                        <a:rPr lang="zh-CN" altLang="en-US" sz="1400" dirty="0">
                          <a:solidFill>
                            <a:schemeClr val="bg1"/>
                          </a:solidFill>
                        </a:rPr>
                      </a:br>
                      <a:r>
                        <a:rPr lang="zh-CN" altLang="en-US" sz="1400" dirty="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dirty="0">
                          <a:solidFill>
                            <a:schemeClr val="bg1"/>
                          </a:solidFill>
                        </a:rPr>
                        <a:t>10</a:t>
                      </a:r>
                      <a:endParaRPr lang="zh-CN" altLang="en-US" sz="14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dirty="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核心： 拥抱不确定性。</a:t>
                      </a:r>
                      <a:br>
                        <a:rPr lang="zh-CN" altLang="en-US" sz="1400" dirty="0">
                          <a:solidFill>
                            <a:schemeClr val="bg1"/>
                          </a:solidFill>
                        </a:rPr>
                      </a:br>
                      <a:r>
                        <a:rPr lang="zh-CN" altLang="en-US" sz="1400" dirty="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dirty="0">
                          <a:solidFill>
                            <a:schemeClr val="bg1"/>
                          </a:solidFill>
                        </a:rPr>
                        <a:t>11</a:t>
                      </a:r>
                      <a:endParaRPr lang="zh-CN" altLang="en-US" sz="14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dirty="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核心： 在变化中生存与发展。</a:t>
                      </a:r>
                      <a:br>
                        <a:rPr lang="zh-CN" altLang="en-US" sz="1400" dirty="0">
                          <a:solidFill>
                            <a:schemeClr val="bg1"/>
                          </a:solidFill>
                        </a:rPr>
                      </a:br>
                      <a:r>
                        <a:rPr lang="zh-CN" altLang="en-US" sz="1400" dirty="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dirty="0">
                          <a:solidFill>
                            <a:schemeClr val="bg1"/>
                          </a:solidFill>
                        </a:rPr>
                        <a:t>12</a:t>
                      </a:r>
                      <a:endParaRPr lang="zh-CN" altLang="en-US" sz="14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dirty="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solidFill>
                            <a:schemeClr val="bg1"/>
                          </a:solidFill>
                        </a:rPr>
                        <a:t>核心： 项目即变革。</a:t>
                      </a:r>
                      <a:br>
                        <a:rPr lang="zh-CN" altLang="en-US" sz="1400" dirty="0">
                          <a:solidFill>
                            <a:schemeClr val="bg1"/>
                          </a:solidFill>
                        </a:rPr>
                      </a:br>
                      <a:r>
                        <a:rPr lang="zh-CN" altLang="en-US" sz="1400" dirty="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solidFill>
                  <a:srgbClr val="FFFF00"/>
                </a:solidFill>
              </a:rPr>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dirty="0"/>
              <a:t>8 Performance Domains/PMBOK 7th</a:t>
            </a:r>
            <a:endParaRPr lang="zh-CN" altLang="en-US" dirty="0"/>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dirty="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dirty="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dirty="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dirty="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dirty="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bg1"/>
                          </a:solidFill>
                        </a:rPr>
                        <a:t>应对</a:t>
                      </a:r>
                      <a:r>
                        <a:rPr lang="en-US" altLang="zh-CN" sz="1400" dirty="0">
                          <a:solidFill>
                            <a:schemeClr val="bg1"/>
                          </a:solidFill>
                        </a:rPr>
                        <a:t>VUCA</a:t>
                      </a:r>
                      <a:r>
                        <a:rPr lang="zh-CN" altLang="en-US" sz="1400" dirty="0">
                          <a:solidFill>
                            <a:schemeClr val="bg1"/>
                          </a:solidFill>
                        </a:rPr>
                        <a:t>，制定应对策略。</a:t>
                      </a:r>
                      <a:endParaRPr lang="en-US" altLang="zh-CN" sz="1400" dirty="0">
                        <a:solidFill>
                          <a:schemeClr val="bg1"/>
                        </a:solidFill>
                      </a:endParaRPr>
                    </a:p>
                    <a:p>
                      <a:pPr algn="l">
                        <a:buNone/>
                      </a:pPr>
                      <a:r>
                        <a:rPr lang="zh-CN" altLang="en-US" sz="1400" dirty="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endParaRPr lang="zh-CN" altLang="en-US" dirty="0"/>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dirty="0"/>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dirty="0"/>
              <a:t>干系人绩效域</a:t>
            </a:r>
            <a:endParaRPr lang="en-US" altLang="zh-CN" sz="1400" dirty="0"/>
          </a:p>
          <a:p>
            <a:pPr algn="ctr"/>
            <a:r>
              <a:rPr lang="en-US" altLang="zh-CN" sz="1400" dirty="0"/>
              <a:t>Stakeholder</a:t>
            </a:r>
            <a:endParaRPr lang="zh-CN" altLang="en-US" sz="14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dirty="0"/>
              <a:t>团队绩效域</a:t>
            </a:r>
            <a:endParaRPr lang="en-US" altLang="zh-CN" sz="1400" dirty="0"/>
          </a:p>
          <a:p>
            <a:pPr algn="ctr"/>
            <a:r>
              <a:rPr lang="en-US" altLang="zh-CN" sz="1400" dirty="0"/>
              <a:t>Team</a:t>
            </a:r>
            <a:endParaRPr lang="zh-CN" altLang="en-US" sz="14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dirty="0"/>
              <a:t>开发方法和生命周期绩效域</a:t>
            </a:r>
            <a:endParaRPr lang="en-US" altLang="zh-CN" sz="1400" dirty="0"/>
          </a:p>
          <a:p>
            <a:pPr algn="ctr"/>
            <a:r>
              <a:rPr lang="en-US" altLang="zh-CN" sz="1400" dirty="0"/>
              <a:t>Development Approach and Life Cycle</a:t>
            </a:r>
            <a:endParaRPr lang="zh-CN" altLang="en-US" sz="14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dirty="0"/>
              <a:t>规划绩效域</a:t>
            </a:r>
            <a:endParaRPr lang="en-US" altLang="zh-CN" sz="1400" dirty="0"/>
          </a:p>
          <a:p>
            <a:pPr algn="ctr"/>
            <a:r>
              <a:rPr lang="en-US" altLang="zh-CN" sz="1400" dirty="0"/>
              <a:t>Planning </a:t>
            </a:r>
            <a:endParaRPr lang="zh-CN" altLang="en-US" sz="14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dirty="0"/>
              <a:t>项目工作绩效域</a:t>
            </a:r>
            <a:endParaRPr lang="en-US" altLang="zh-CN" sz="1400" dirty="0"/>
          </a:p>
          <a:p>
            <a:pPr algn="ctr"/>
            <a:r>
              <a:rPr lang="en-US" altLang="zh-CN" sz="1400" dirty="0"/>
              <a:t>Project Work</a:t>
            </a:r>
            <a:endParaRPr lang="zh-CN" altLang="en-US" sz="14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dirty="0"/>
              <a:t>交付绩效域</a:t>
            </a:r>
            <a:endParaRPr lang="en-US" altLang="zh-CN" sz="1400" dirty="0"/>
          </a:p>
          <a:p>
            <a:pPr algn="ctr"/>
            <a:r>
              <a:rPr lang="en-US" altLang="zh-CN" sz="1400" dirty="0"/>
              <a:t>Delivery </a:t>
            </a:r>
            <a:endParaRPr lang="zh-CN" altLang="en-US" sz="14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dirty="0"/>
              <a:t>测量绩效域</a:t>
            </a:r>
            <a:endParaRPr lang="en-US" altLang="zh-CN" sz="1400" dirty="0"/>
          </a:p>
          <a:p>
            <a:pPr algn="ctr"/>
            <a:r>
              <a:rPr lang="en-US" altLang="zh-CN" sz="1400" dirty="0"/>
              <a:t>Measurement</a:t>
            </a:r>
            <a:endParaRPr lang="zh-CN" altLang="en-US" sz="14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dirty="0"/>
              <a:t>不确定性绩效域</a:t>
            </a:r>
            <a:endParaRPr lang="en-US" altLang="zh-CN" sz="1400" dirty="0"/>
          </a:p>
          <a:p>
            <a:pPr algn="ctr"/>
            <a:r>
              <a:rPr lang="en-US" altLang="zh-CN" sz="1400" dirty="0"/>
              <a:t>Uncertainty </a:t>
            </a:r>
            <a:endParaRPr lang="zh-CN" altLang="en-US" sz="14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dirty="0"/>
              <a:t>VUCA</a:t>
            </a:r>
            <a:endParaRPr lang="zh-CN" altLang="en-US" dirty="0"/>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dirty="0"/>
              <a:t>描述当今商业环境的特征</a:t>
            </a:r>
            <a:endParaRPr lang="en-US" altLang="zh-CN" dirty="0"/>
          </a:p>
          <a:p>
            <a:r>
              <a:rPr lang="en-US" altLang="zh-CN" dirty="0"/>
              <a:t>PMBOK </a:t>
            </a:r>
            <a:r>
              <a:rPr lang="zh-CN" altLang="en-US" dirty="0"/>
              <a:t>指南的演变史，就是一部对抗 </a:t>
            </a:r>
            <a:r>
              <a:rPr lang="en-US" altLang="zh-CN" dirty="0"/>
              <a:t>VUCA</a:t>
            </a:r>
            <a:r>
              <a:rPr lang="zh-CN" altLang="en-US" dirty="0"/>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dirty="0">
                          <a:solidFill>
                            <a:schemeClr val="bg1"/>
                          </a:solidFill>
                        </a:rPr>
                        <a:t>Char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dirty="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变化发生的速度极快，幅度极大</a:t>
                      </a:r>
                      <a:endParaRPr lang="en-US" altLang="zh-CN" sz="160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dirty="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缺乏信息，难以预测未来，因果关系不明</a:t>
                      </a:r>
                    </a:p>
                    <a:p>
                      <a:pPr algn="l">
                        <a:lnSpc>
                          <a:spcPct val="100000"/>
                        </a:lnSpc>
                        <a:buNone/>
                      </a:pPr>
                      <a:r>
                        <a:rPr lang="zh-CN" altLang="en-US" sz="1600" dirty="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dirty="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影响因素众多，相互交织，牵一发而动全身</a:t>
                      </a:r>
                    </a:p>
                    <a:p>
                      <a:pPr algn="l">
                        <a:lnSpc>
                          <a:spcPct val="100000"/>
                        </a:lnSpc>
                        <a:buNone/>
                      </a:pPr>
                      <a:r>
                        <a:rPr lang="zh-CN" altLang="en-US" sz="1600" dirty="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dirty="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情况模棱两可，容易产生误解，没有先例可循</a:t>
                      </a:r>
                    </a:p>
                    <a:p>
                      <a:pPr algn="l">
                        <a:lnSpc>
                          <a:spcPct val="100000"/>
                        </a:lnSpc>
                        <a:buNone/>
                      </a:pPr>
                      <a:r>
                        <a:rPr lang="zh-CN" altLang="en-US" sz="1600" dirty="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dirty="0"/>
              <a:t>4.1 </a:t>
            </a:r>
            <a:r>
              <a:rPr lang="zh-CN" altLang="en-US" dirty="0"/>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dirty="0"/>
              <a:t>Agile Development</a:t>
            </a:r>
            <a:endParaRPr lang="zh-CN" altLang="en-US" dirty="0"/>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Why</a:t>
            </a:r>
            <a:endParaRPr lang="zh-CN" altLang="en-US" sz="1600" kern="1200" dirty="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solidFill>
                  <a:schemeClr val="bg1"/>
                </a:solidFill>
              </a:rPr>
              <a:t>Case 1 Client </a:t>
            </a:r>
            <a:r>
              <a:rPr lang="zh-CN" altLang="en-US" sz="1400" dirty="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B</a:t>
            </a:r>
            <a:endParaRPr lang="zh-CN" altLang="en-US" sz="1200" dirty="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solidFill>
                  <a:schemeClr val="bg1"/>
                </a:solidFill>
              </a:rPr>
              <a:t>Case 2 Client </a:t>
            </a:r>
            <a:r>
              <a:rPr lang="zh-CN" altLang="en-US" sz="1400" dirty="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 </a:t>
            </a:r>
            <a:r>
              <a:rPr lang="zh-CN" altLang="en-US" sz="1200" dirty="0">
                <a:solidFill>
                  <a:schemeClr val="bg1"/>
                </a:solidFill>
              </a:rPr>
              <a:t>→ </a:t>
            </a:r>
            <a:r>
              <a:rPr lang="en-US" altLang="zh-CN" sz="1200" dirty="0">
                <a:solidFill>
                  <a:schemeClr val="bg1"/>
                </a:solidFill>
              </a:rPr>
              <a:t>B</a:t>
            </a:r>
            <a:endParaRPr lang="zh-CN" altLang="en-US" sz="1200" dirty="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solidFill>
                  <a:schemeClr val="bg1"/>
                </a:solidFill>
              </a:rPr>
              <a:t>Case 3 Client </a:t>
            </a:r>
            <a:r>
              <a:rPr lang="zh-CN" altLang="en-US" sz="1400" dirty="0">
                <a:solidFill>
                  <a:schemeClr val="bg1"/>
                </a:solidFill>
              </a:rPr>
              <a:t>知道并清晰传达需求</a:t>
            </a:r>
            <a:endParaRPr lang="en-US" altLang="zh-CN" sz="1400" dirty="0">
              <a:solidFill>
                <a:schemeClr val="bg1"/>
              </a:solidFill>
            </a:endParaRPr>
          </a:p>
          <a:p>
            <a:r>
              <a:rPr lang="zh-CN" altLang="en-US" sz="1400" dirty="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bg1"/>
                </a:solidFill>
              </a:rPr>
              <a:t>？？？</a:t>
            </a:r>
            <a:r>
              <a:rPr lang="en-US" altLang="zh-CN" sz="1200" dirty="0">
                <a:solidFill>
                  <a:schemeClr val="bg1"/>
                </a:solidFill>
              </a:rPr>
              <a:t>/ B</a:t>
            </a:r>
            <a:endParaRPr lang="zh-CN" altLang="en-US" sz="1200" dirty="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solidFill>
                  <a:schemeClr val="bg1"/>
                </a:solidFill>
              </a:rPr>
              <a:t>Case 4 </a:t>
            </a:r>
            <a:r>
              <a:rPr lang="zh-CN" altLang="en-US" sz="1400" dirty="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solidFill>
                  <a:schemeClr val="bg1"/>
                </a:solidFill>
              </a:rPr>
              <a:t>Case 5 </a:t>
            </a:r>
            <a:r>
              <a:rPr lang="zh-CN" altLang="en-US" sz="1400" dirty="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dirty="0"/>
              <a:t>4.2 </a:t>
            </a:r>
            <a:r>
              <a:rPr lang="zh-CN" altLang="en-US" dirty="0"/>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a:t>
            </a:r>
            <a:r>
              <a:rPr lang="en-US" altLang="zh-CN" b="1" dirty="0">
                <a:solidFill>
                  <a:srgbClr val="FFFF00"/>
                </a:solidFill>
              </a:rPr>
              <a:t>Software</a:t>
            </a:r>
            <a:r>
              <a:rPr lang="en-US" altLang="zh-CN" dirty="0"/>
              <a:t>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dirty="0"/>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endParaRPr lang="en-US" altLang="zh-CN" dirty="0"/>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dirty="0">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dirty="0">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dirty="0">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dirty="0">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dirty="0">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dirty="0">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dirty="0">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dirty="0"/>
              <a:t>over</a:t>
            </a:r>
            <a:endParaRPr lang="zh-CN" altLang="en-US" dirty="0"/>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dirty="0"/>
              <a:t>Over</a:t>
            </a:r>
            <a:endParaRPr lang="zh-CN" altLang="en-US" sz="1600" dirty="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dirty="0"/>
              <a:t>over</a:t>
            </a:r>
            <a:endParaRPr lang="zh-CN" altLang="en-US" dirty="0"/>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dirty="0"/>
              <a:t>over</a:t>
            </a:r>
            <a:endParaRPr lang="zh-CN" altLang="en-US" dirty="0"/>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dirty="0">
                          <a:solidFill>
                            <a:schemeClr val="bg1"/>
                          </a:solidFill>
                        </a:rPr>
                        <a:t>1</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dirty="0">
                          <a:solidFill>
                            <a:schemeClr val="bg1"/>
                          </a:solidFill>
                        </a:rPr>
                        <a:t>2</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dirty="0">
                          <a:solidFill>
                            <a:schemeClr val="bg1"/>
                          </a:solidFill>
                        </a:rPr>
                        <a:t>3</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dirty="0">
                          <a:solidFill>
                            <a:schemeClr val="bg1"/>
                          </a:solidFill>
                        </a:rPr>
                        <a:t>4</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Responding to change over following a plan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dirty="0"/>
              <a:t>4.2.2 </a:t>
            </a:r>
            <a:r>
              <a:rPr lang="zh-CN" altLang="en-US" dirty="0"/>
              <a:t>敏捷宣言十二项原则</a:t>
            </a:r>
            <a:endParaRPr lang="en-US" altLang="zh-CN" dirty="0"/>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dirty="0"/>
              <a:t>第 </a:t>
            </a:r>
            <a:r>
              <a:rPr lang="en-US" altLang="zh-CN" dirty="0"/>
              <a:t>1-3 </a:t>
            </a:r>
            <a:r>
              <a:rPr lang="zh-CN" altLang="en-US" dirty="0"/>
              <a:t>条：关注“做什么”（交付价值、应对变化、快速产出）</a:t>
            </a:r>
          </a:p>
          <a:p>
            <a:r>
              <a:rPr lang="zh-CN" altLang="en-US" dirty="0"/>
              <a:t>第 </a:t>
            </a:r>
            <a:r>
              <a:rPr lang="en-US" altLang="zh-CN" dirty="0"/>
              <a:t>4-6 </a:t>
            </a:r>
            <a:r>
              <a:rPr lang="zh-CN" altLang="en-US" dirty="0"/>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dirty="0"/>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dirty="0">
                          <a:solidFill>
                            <a:schemeClr val="bg1"/>
                          </a:solidFill>
                          <a:effectLst/>
                        </a:rPr>
                        <a:t>Chinese </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dirty="0">
                          <a:solidFill>
                            <a:schemeClr val="bg1"/>
                          </a:solidFill>
                          <a:effectLst/>
                        </a:rPr>
                        <a:t>1</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Our highest </a:t>
                      </a:r>
                      <a:r>
                        <a:rPr lang="en-US" sz="1400" b="1" dirty="0">
                          <a:solidFill>
                            <a:srgbClr val="FFFF00"/>
                          </a:solidFill>
                          <a:effectLst/>
                        </a:rPr>
                        <a:t>priority</a:t>
                      </a:r>
                      <a:r>
                        <a:rPr lang="en-US" sz="1400" b="0" dirty="0">
                          <a:solidFill>
                            <a:schemeClr val="bg1"/>
                          </a:solidFill>
                          <a:effectLst/>
                        </a:rPr>
                        <a:t> is to satisfy the customer through early and continuous delivery of </a:t>
                      </a:r>
                      <a:r>
                        <a:rPr lang="en-US" sz="1400" b="1" dirty="0">
                          <a:solidFill>
                            <a:srgbClr val="FFFF00"/>
                          </a:solidFill>
                          <a:effectLst/>
                        </a:rPr>
                        <a:t>valuable</a:t>
                      </a:r>
                      <a:r>
                        <a:rPr lang="en-US" sz="1400" b="0" dirty="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价值交付</a:t>
                      </a:r>
                      <a:br>
                        <a:rPr lang="zh-CN" altLang="en-US" sz="1400" b="0" dirty="0">
                          <a:solidFill>
                            <a:schemeClr val="bg1"/>
                          </a:solidFill>
                          <a:effectLst/>
                        </a:rPr>
                      </a:br>
                      <a:r>
                        <a:rPr lang="en-US" sz="1400" b="0" dirty="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dirty="0">
                          <a:solidFill>
                            <a:schemeClr val="bg1"/>
                          </a:solidFill>
                          <a:effectLst/>
                        </a:rPr>
                        <a:t>2</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Welcome changing requirements, even late in development. Agile processes </a:t>
                      </a:r>
                      <a:r>
                        <a:rPr lang="en-US" sz="1400" b="1" dirty="0">
                          <a:solidFill>
                            <a:srgbClr val="FFFF00"/>
                          </a:solidFill>
                          <a:effectLst/>
                        </a:rPr>
                        <a:t>harness</a:t>
                      </a:r>
                      <a:r>
                        <a:rPr lang="en-US" sz="1400" b="0" dirty="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拥抱变化</a:t>
                      </a:r>
                      <a:br>
                        <a:rPr lang="zh-CN" altLang="en-US" sz="1400" b="0" dirty="0">
                          <a:solidFill>
                            <a:schemeClr val="bg1"/>
                          </a:solidFill>
                          <a:effectLst/>
                        </a:rPr>
                      </a:br>
                      <a:r>
                        <a:rPr lang="en-US" sz="1400" b="0" dirty="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dirty="0">
                          <a:solidFill>
                            <a:schemeClr val="bg1"/>
                          </a:solidFill>
                          <a:effectLst/>
                        </a:rPr>
                        <a:t>3</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Deliver working software frequently, from a couple of weeks to a couple of months, with a </a:t>
                      </a:r>
                      <a:r>
                        <a:rPr lang="en-US" sz="1400" b="1" dirty="0">
                          <a:solidFill>
                            <a:srgbClr val="FFFF00"/>
                          </a:solidFill>
                          <a:effectLst/>
                        </a:rPr>
                        <a:t>preference</a:t>
                      </a:r>
                      <a:r>
                        <a:rPr lang="en-US" sz="1400" b="0" dirty="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频繁迭代</a:t>
                      </a:r>
                      <a:br>
                        <a:rPr lang="zh-CN" altLang="en-US" sz="1400" b="0" dirty="0">
                          <a:solidFill>
                            <a:schemeClr val="bg1"/>
                          </a:solidFill>
                          <a:effectLst/>
                        </a:rPr>
                      </a:br>
                      <a:r>
                        <a:rPr lang="en-US" sz="1400" b="0" dirty="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dirty="0">
                          <a:solidFill>
                            <a:schemeClr val="bg1"/>
                          </a:solidFill>
                          <a:effectLst/>
                        </a:rPr>
                        <a:t>4</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Business people and developers must work </a:t>
                      </a:r>
                      <a:r>
                        <a:rPr lang="en-US" sz="1400" b="1" dirty="0">
                          <a:solidFill>
                            <a:srgbClr val="FFFF00"/>
                          </a:solidFill>
                          <a:effectLst/>
                        </a:rPr>
                        <a:t>together</a:t>
                      </a:r>
                      <a:r>
                        <a:rPr lang="en-US" sz="1400" b="0" dirty="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协作沟通</a:t>
                      </a:r>
                      <a:br>
                        <a:rPr lang="zh-CN" altLang="en-US" sz="1400" b="0" dirty="0">
                          <a:solidFill>
                            <a:schemeClr val="bg1"/>
                          </a:solidFill>
                          <a:effectLst/>
                        </a:rPr>
                      </a:br>
                      <a:r>
                        <a:rPr lang="en-US" sz="1400" b="0" dirty="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dirty="0">
                          <a:solidFill>
                            <a:schemeClr val="bg1"/>
                          </a:solidFill>
                          <a:effectLst/>
                        </a:rPr>
                        <a:t>5</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Build projects around </a:t>
                      </a:r>
                      <a:r>
                        <a:rPr lang="en-US" sz="1400" b="1" dirty="0">
                          <a:solidFill>
                            <a:srgbClr val="FFFF00"/>
                          </a:solidFill>
                          <a:effectLst/>
                        </a:rPr>
                        <a:t>motivated</a:t>
                      </a:r>
                      <a:r>
                        <a:rPr lang="en-US" sz="1400" b="0" dirty="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信任与激励</a:t>
                      </a:r>
                      <a:br>
                        <a:rPr lang="zh-CN" altLang="en-US" sz="1400" b="0" dirty="0">
                          <a:solidFill>
                            <a:schemeClr val="bg1"/>
                          </a:solidFill>
                          <a:effectLst/>
                        </a:rPr>
                      </a:br>
                      <a:r>
                        <a:rPr lang="en-US" sz="1400" b="0" dirty="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dirty="0">
                          <a:solidFill>
                            <a:schemeClr val="bg1"/>
                          </a:solidFill>
                          <a:effectLst/>
                        </a:rPr>
                        <a:t>6</a:t>
                      </a:r>
                      <a:endParaRPr lang="zh-CN" altLang="en-US" sz="1400" b="0" dirty="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The most efficient and effective method of </a:t>
                      </a:r>
                      <a:r>
                        <a:rPr lang="en-US" sz="1400" b="1" dirty="0">
                          <a:solidFill>
                            <a:srgbClr val="FFFF00"/>
                          </a:solidFill>
                          <a:effectLst/>
                        </a:rPr>
                        <a:t>conveying</a:t>
                      </a:r>
                      <a:r>
                        <a:rPr lang="en-US" sz="1400" b="0" dirty="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高效沟通</a:t>
                      </a:r>
                      <a:br>
                        <a:rPr lang="zh-CN" altLang="en-US" sz="1400" b="0" dirty="0">
                          <a:solidFill>
                            <a:schemeClr val="bg1"/>
                          </a:solidFill>
                          <a:effectLst/>
                        </a:rPr>
                      </a:br>
                      <a:r>
                        <a:rPr lang="en-US" sz="1400" b="0" dirty="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dirty="0"/>
              <a:t>4.2.2 </a:t>
            </a:r>
            <a:r>
              <a:rPr lang="zh-CN" altLang="en-US" dirty="0"/>
              <a:t>敏捷宣言十二项原则</a:t>
            </a:r>
            <a:endParaRPr lang="en-US" altLang="zh-CN" dirty="0"/>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dirty="0"/>
              <a:t>第 </a:t>
            </a:r>
            <a:r>
              <a:rPr lang="en-US" altLang="zh-CN" dirty="0"/>
              <a:t>7-9 </a:t>
            </a:r>
            <a:r>
              <a:rPr lang="zh-CN" altLang="en-US" dirty="0"/>
              <a:t>条：关注“做得怎么样”（进度标准、节奏、质量）</a:t>
            </a:r>
          </a:p>
          <a:p>
            <a:r>
              <a:rPr lang="zh-CN" altLang="en-US" dirty="0"/>
              <a:t>第 </a:t>
            </a:r>
            <a:r>
              <a:rPr lang="en-US" altLang="zh-CN" dirty="0"/>
              <a:t>10-12 </a:t>
            </a:r>
            <a:r>
              <a:rPr lang="zh-CN" altLang="en-US" dirty="0"/>
              <a:t>条：关注“如何进化”（做减法、自组织、复盘）</a:t>
            </a:r>
          </a:p>
          <a:p>
            <a:endParaRPr lang="zh-CN" altLang="en-US" dirty="0"/>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dirty="0"/>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dirty="0">
                          <a:solidFill>
                            <a:schemeClr val="bg1"/>
                          </a:solidFill>
                          <a:effectLst/>
                        </a:rPr>
                        <a:t>Chinese </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dirty="0">
                          <a:solidFill>
                            <a:schemeClr val="bg1"/>
                          </a:solidFill>
                          <a:effectLst/>
                        </a:rPr>
                        <a:t>7</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dirty="0">
                          <a:solidFill>
                            <a:srgbClr val="FFFF00"/>
                          </a:solidFill>
                          <a:effectLst/>
                        </a:rPr>
                        <a:t>Working</a:t>
                      </a:r>
                      <a:r>
                        <a:rPr lang="en-US" sz="1400" b="0" dirty="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结果导向</a:t>
                      </a:r>
                      <a:br>
                        <a:rPr lang="zh-CN" altLang="en-US" sz="1400" b="0" dirty="0">
                          <a:solidFill>
                            <a:schemeClr val="bg1"/>
                          </a:solidFill>
                          <a:effectLst/>
                        </a:rPr>
                      </a:br>
                      <a:r>
                        <a:rPr lang="en-US" sz="1400" b="0" dirty="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dirty="0">
                          <a:solidFill>
                            <a:schemeClr val="bg1"/>
                          </a:solidFill>
                          <a:effectLst/>
                        </a:rPr>
                        <a:t>8</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Agile processes </a:t>
                      </a:r>
                      <a:r>
                        <a:rPr lang="en-US" sz="1400" b="1" dirty="0">
                          <a:solidFill>
                            <a:srgbClr val="FFFF00"/>
                          </a:solidFill>
                          <a:effectLst/>
                        </a:rPr>
                        <a:t>promote</a:t>
                      </a:r>
                      <a:r>
                        <a:rPr lang="en-US" sz="1400" b="0" dirty="0">
                          <a:solidFill>
                            <a:schemeClr val="bg1"/>
                          </a:solidFill>
                          <a:effectLst/>
                        </a:rPr>
                        <a:t> </a:t>
                      </a:r>
                      <a:r>
                        <a:rPr lang="en-US" sz="1400" b="1" dirty="0">
                          <a:solidFill>
                            <a:srgbClr val="FFFF00"/>
                          </a:solidFill>
                          <a:effectLst/>
                        </a:rPr>
                        <a:t>sustainable</a:t>
                      </a:r>
                      <a:r>
                        <a:rPr lang="en-US" sz="1400" b="0" dirty="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可持续发展</a:t>
                      </a:r>
                      <a:br>
                        <a:rPr lang="zh-CN" altLang="en-US" sz="1400" b="0" dirty="0">
                          <a:solidFill>
                            <a:schemeClr val="bg1"/>
                          </a:solidFill>
                          <a:effectLst/>
                        </a:rPr>
                      </a:br>
                      <a:r>
                        <a:rPr lang="en-US" sz="1400" b="1" dirty="0">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dirty="0">
                          <a:solidFill>
                            <a:schemeClr val="bg1"/>
                          </a:solidFill>
                          <a:effectLst/>
                        </a:rPr>
                        <a:t>9</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dirty="0">
                          <a:solidFill>
                            <a:srgbClr val="FFFF00"/>
                          </a:solidFill>
                          <a:effectLst/>
                        </a:rPr>
                        <a:t>Continuous</a:t>
                      </a:r>
                      <a:r>
                        <a:rPr lang="en-US" sz="1400" b="0" dirty="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技术卓越</a:t>
                      </a:r>
                      <a:br>
                        <a:rPr lang="zh-CN" altLang="en-US" sz="1400" b="0" dirty="0">
                          <a:solidFill>
                            <a:schemeClr val="bg1"/>
                          </a:solidFill>
                          <a:effectLst/>
                        </a:rPr>
                      </a:br>
                      <a:r>
                        <a:rPr lang="en-US" sz="1400" b="0" dirty="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dirty="0">
                          <a:solidFill>
                            <a:schemeClr val="bg1"/>
                          </a:solidFill>
                          <a:effectLst/>
                        </a:rPr>
                        <a:t>10</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dirty="0">
                          <a:solidFill>
                            <a:srgbClr val="FFFF00"/>
                          </a:solidFill>
                          <a:effectLst/>
                        </a:rPr>
                        <a:t>Simplicity</a:t>
                      </a:r>
                      <a:r>
                        <a:rPr lang="en-US" sz="1400" b="0" dirty="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简洁 </a:t>
                      </a:r>
                      <a:r>
                        <a:rPr lang="en-US" altLang="zh-CN" sz="1400" b="0" dirty="0">
                          <a:solidFill>
                            <a:schemeClr val="bg1"/>
                          </a:solidFill>
                          <a:effectLst/>
                        </a:rPr>
                        <a:t>- </a:t>
                      </a:r>
                      <a:r>
                        <a:rPr lang="zh-CN" altLang="en-US" sz="1400" b="0" dirty="0">
                          <a:solidFill>
                            <a:schemeClr val="bg1"/>
                          </a:solidFill>
                          <a:effectLst/>
                        </a:rPr>
                        <a:t>最大化未完成工作量的艺术 </a:t>
                      </a:r>
                      <a:r>
                        <a:rPr lang="en-US" altLang="zh-CN" sz="1400" b="0" dirty="0">
                          <a:solidFill>
                            <a:schemeClr val="bg1"/>
                          </a:solidFill>
                          <a:effectLst/>
                        </a:rPr>
                        <a:t>- </a:t>
                      </a:r>
                      <a:r>
                        <a:rPr lang="zh-CN" altLang="en-US" sz="1400" b="0" dirty="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极简主义</a:t>
                      </a:r>
                      <a:br>
                        <a:rPr lang="zh-CN" altLang="en-US" sz="1400" b="0" dirty="0">
                          <a:solidFill>
                            <a:schemeClr val="bg1"/>
                          </a:solidFill>
                          <a:effectLst/>
                        </a:rPr>
                      </a:br>
                      <a:r>
                        <a:rPr lang="en-US" sz="1400" b="0" dirty="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dirty="0">
                          <a:solidFill>
                            <a:schemeClr val="bg1"/>
                          </a:solidFill>
                          <a:effectLst/>
                        </a:rPr>
                        <a:t>11</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The best architectures, requirements, and designs </a:t>
                      </a:r>
                      <a:r>
                        <a:rPr lang="en-US" sz="1400" b="1" dirty="0">
                          <a:solidFill>
                            <a:srgbClr val="FFFF00"/>
                          </a:solidFill>
                          <a:effectLst/>
                        </a:rPr>
                        <a:t>emerge</a:t>
                      </a:r>
                      <a:r>
                        <a:rPr lang="en-US" sz="1400" b="0" dirty="0">
                          <a:solidFill>
                            <a:schemeClr val="bg1"/>
                          </a:solidFill>
                          <a:effectLst/>
                        </a:rPr>
                        <a:t> from </a:t>
                      </a:r>
                      <a:r>
                        <a:rPr lang="en-US" sz="1400" b="1" dirty="0">
                          <a:solidFill>
                            <a:srgbClr val="FFFF00"/>
                          </a:solidFill>
                          <a:effectLst/>
                        </a:rPr>
                        <a:t>self-organizing</a:t>
                      </a:r>
                      <a:r>
                        <a:rPr lang="en-US" sz="1400" b="0" dirty="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自组织</a:t>
                      </a:r>
                      <a:br>
                        <a:rPr lang="zh-CN" altLang="en-US" sz="1400" b="0" dirty="0">
                          <a:solidFill>
                            <a:schemeClr val="bg1"/>
                          </a:solidFill>
                          <a:effectLst/>
                        </a:rPr>
                      </a:br>
                      <a:r>
                        <a:rPr lang="en-US" sz="1400" b="0" dirty="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dirty="0">
                          <a:solidFill>
                            <a:schemeClr val="bg1"/>
                          </a:solidFill>
                          <a:effectLst/>
                        </a:rPr>
                        <a:t>12</a:t>
                      </a:r>
                      <a:endParaRPr lang="zh-CN" altLang="en-US" sz="1400" b="0" dirty="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dirty="0">
                          <a:solidFill>
                            <a:schemeClr val="bg1"/>
                          </a:solidFill>
                          <a:effectLst/>
                        </a:rPr>
                        <a:t>At regular intervals, the team </a:t>
                      </a:r>
                      <a:r>
                        <a:rPr lang="en-US" sz="1400" b="1" dirty="0">
                          <a:solidFill>
                            <a:srgbClr val="FFFF00"/>
                          </a:solidFill>
                          <a:effectLst/>
                        </a:rPr>
                        <a:t>reflects</a:t>
                      </a:r>
                      <a:r>
                        <a:rPr lang="en-US" sz="1400" b="0" dirty="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dirty="0">
                          <a:solidFill>
                            <a:schemeClr val="bg1"/>
                          </a:solidFill>
                          <a:effectLst/>
                        </a:rPr>
                        <a:t>持续改进</a:t>
                      </a:r>
                      <a:br>
                        <a:rPr lang="zh-CN" altLang="en-US" sz="1400" b="0" dirty="0">
                          <a:solidFill>
                            <a:schemeClr val="bg1"/>
                          </a:solidFill>
                          <a:effectLst/>
                        </a:rPr>
                      </a:br>
                      <a:r>
                        <a:rPr lang="en-US" sz="1400" b="0" dirty="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dirty="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狭义</a:t>
                      </a:r>
                      <a:endParaRPr lang="en-US" altLang="zh-CN" sz="1600" dirty="0">
                        <a:solidFill>
                          <a:schemeClr val="bg1"/>
                        </a:solidFill>
                      </a:endParaRPr>
                    </a:p>
                    <a:p>
                      <a:pPr algn="l">
                        <a:lnSpc>
                          <a:spcPct val="100000"/>
                        </a:lnSpc>
                        <a:buNone/>
                      </a:pPr>
                      <a:r>
                        <a:rPr lang="zh-CN" altLang="en-US" sz="1600" dirty="0">
                          <a:solidFill>
                            <a:schemeClr val="bg1"/>
                          </a:solidFill>
                        </a:rPr>
                        <a:t>主要针对软件开发、</a:t>
                      </a:r>
                      <a:r>
                        <a:rPr lang="en-US" altLang="zh-CN" sz="1600" dirty="0">
                          <a:solidFill>
                            <a:schemeClr val="bg1"/>
                          </a:solidFill>
                        </a:rPr>
                        <a:t>IT </a:t>
                      </a:r>
                      <a:r>
                        <a:rPr lang="zh-CN" altLang="en-US" sz="1600" dirty="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广义</a:t>
                      </a:r>
                      <a:endParaRPr lang="en-US" altLang="zh-CN" sz="1600" dirty="0">
                        <a:solidFill>
                          <a:schemeClr val="bg1"/>
                        </a:solidFill>
                      </a:endParaRPr>
                    </a:p>
                    <a:p>
                      <a:pPr algn="l">
                        <a:lnSpc>
                          <a:spcPct val="100000"/>
                        </a:lnSpc>
                        <a:buNone/>
                      </a:pPr>
                      <a:r>
                        <a:rPr lang="zh-CN" altLang="en-US" sz="1600" dirty="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dirty="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怎么做软件</a:t>
                      </a:r>
                      <a:endParaRPr lang="en-US" altLang="zh-CN" sz="1600" dirty="0">
                        <a:solidFill>
                          <a:schemeClr val="bg1"/>
                        </a:solidFill>
                      </a:endParaRPr>
                    </a:p>
                    <a:p>
                      <a:pPr algn="l">
                        <a:lnSpc>
                          <a:spcPct val="100000"/>
                        </a:lnSpc>
                        <a:buNone/>
                      </a:pPr>
                      <a:r>
                        <a:rPr lang="zh-CN" altLang="en-US" sz="1600" dirty="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怎么管项目</a:t>
                      </a:r>
                      <a:endParaRPr lang="en-US" altLang="zh-CN" sz="1600" dirty="0">
                        <a:solidFill>
                          <a:schemeClr val="bg1"/>
                        </a:solidFill>
                      </a:endParaRPr>
                    </a:p>
                    <a:p>
                      <a:pPr algn="l">
                        <a:lnSpc>
                          <a:spcPct val="100000"/>
                        </a:lnSpc>
                        <a:buNone/>
                      </a:pPr>
                      <a:r>
                        <a:rPr lang="zh-CN" altLang="en-US" sz="1600" dirty="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dirty="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行动导向</a:t>
                      </a:r>
                      <a:endParaRPr lang="en-US" altLang="zh-CN" sz="1600" dirty="0">
                        <a:solidFill>
                          <a:schemeClr val="bg1"/>
                        </a:solidFill>
                      </a:endParaRPr>
                    </a:p>
                    <a:p>
                      <a:pPr algn="l">
                        <a:lnSpc>
                          <a:spcPct val="100000"/>
                        </a:lnSpc>
                        <a:buNone/>
                      </a:pPr>
                      <a:r>
                        <a:rPr lang="zh-CN" altLang="en-US" sz="1600" dirty="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思维导向</a:t>
                      </a:r>
                      <a:endParaRPr lang="en-US" altLang="zh-CN" sz="1600" dirty="0">
                        <a:solidFill>
                          <a:schemeClr val="bg1"/>
                        </a:solidFill>
                      </a:endParaRPr>
                    </a:p>
                    <a:p>
                      <a:pPr algn="l">
                        <a:lnSpc>
                          <a:spcPct val="100000"/>
                        </a:lnSpc>
                        <a:buNone/>
                      </a:pPr>
                      <a:r>
                        <a:rPr lang="zh-CN" altLang="en-US" sz="1600" dirty="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dirty="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隐含对立</a:t>
                      </a:r>
                      <a:endParaRPr lang="en-US" altLang="zh-CN" sz="1600" dirty="0">
                        <a:solidFill>
                          <a:schemeClr val="bg1"/>
                        </a:solidFill>
                      </a:endParaRPr>
                    </a:p>
                    <a:p>
                      <a:pPr algn="l">
                        <a:lnSpc>
                          <a:spcPct val="100000"/>
                        </a:lnSpc>
                        <a:buNone/>
                      </a:pPr>
                      <a:r>
                        <a:rPr lang="zh-CN" altLang="en-US" sz="1600" dirty="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solidFill>
                            <a:schemeClr val="bg1"/>
                          </a:solidFill>
                        </a:rPr>
                        <a:t>包容融合</a:t>
                      </a:r>
                      <a:endParaRPr lang="en-US" altLang="zh-CN" sz="1600" dirty="0">
                        <a:solidFill>
                          <a:schemeClr val="bg1"/>
                        </a:solidFill>
                      </a:endParaRPr>
                    </a:p>
                    <a:p>
                      <a:pPr algn="l">
                        <a:lnSpc>
                          <a:spcPct val="100000"/>
                        </a:lnSpc>
                        <a:buNone/>
                      </a:pPr>
                      <a:r>
                        <a:rPr lang="zh-CN" altLang="en-US" sz="1600" dirty="0">
                          <a:solidFill>
                            <a:schemeClr val="bg1"/>
                          </a:solidFill>
                        </a:rPr>
                        <a:t>认为瀑布、敏捷、混合都是工具，视情况裁</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solidFill>
                  <a:schemeClr val="bg1"/>
                </a:solidFill>
              </a:rPr>
              <a:t>课后思考 </a:t>
            </a:r>
            <a:r>
              <a:rPr lang="en-US" altLang="zh-CN" dirty="0">
                <a:solidFill>
                  <a:schemeClr val="bg1"/>
                </a:solidFill>
              </a:rPr>
              <a:t>Homework</a:t>
            </a:r>
            <a:endParaRPr lang="zh-CN" altLang="en-US" dirty="0">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dirty="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dirty="0"/>
              <a:t>Section 2 Project Initialization</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dirty="0"/>
              <a:t>2.1 </a:t>
            </a:r>
            <a:r>
              <a:rPr lang="zh-CN" altLang="en-US" dirty="0"/>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dirty="0"/>
              <a:t>项目启动</a:t>
            </a:r>
            <a:endParaRPr lang="en-US" altLang="zh-CN" dirty="0"/>
          </a:p>
          <a:p>
            <a:r>
              <a:rPr lang="zh-CN" altLang="en-US" dirty="0"/>
              <a:t>项目可行性分析</a:t>
            </a:r>
            <a:endParaRPr lang="en-US" altLang="zh-CN" dirty="0"/>
          </a:p>
          <a:p>
            <a:r>
              <a:rPr lang="zh-CN" altLang="en-US" dirty="0"/>
              <a:t>项目经济性分析</a:t>
            </a:r>
            <a:endParaRPr lang="en-US" altLang="zh-CN" dirty="0"/>
          </a:p>
          <a:p>
            <a:r>
              <a:rPr lang="zh-CN" altLang="en-US" dirty="0"/>
              <a:t>目的</a:t>
            </a:r>
            <a:endParaRPr lang="en-US" altLang="zh-CN" dirty="0"/>
          </a:p>
          <a:p>
            <a:pPr lvl="1"/>
            <a:r>
              <a:rPr lang="zh-CN" altLang="en-US" dirty="0"/>
              <a:t>初步判断项目的可行性、必要性、资源需求等。</a:t>
            </a:r>
          </a:p>
          <a:p>
            <a:pPr lvl="1"/>
            <a:r>
              <a:rPr lang="zh-CN" altLang="en-US" dirty="0"/>
              <a:t>属于前期调研</a:t>
            </a:r>
            <a:r>
              <a:rPr lang="en-US" altLang="zh-CN" dirty="0"/>
              <a:t>/</a:t>
            </a:r>
            <a:r>
              <a:rPr lang="zh-CN" altLang="en-US" dirty="0"/>
              <a:t>预研性质</a:t>
            </a:r>
            <a:endParaRPr lang="en-US" altLang="zh-CN" dirty="0"/>
          </a:p>
          <a:p>
            <a:r>
              <a:rPr lang="zh-CN" altLang="en-US" dirty="0"/>
              <a:t>输出</a:t>
            </a:r>
            <a:endParaRPr lang="en-US" altLang="zh-CN" dirty="0"/>
          </a:p>
          <a:p>
            <a:pPr lvl="1"/>
            <a:r>
              <a:rPr lang="zh-CN" altLang="en-US" dirty="0"/>
              <a:t>项目评估报告</a:t>
            </a:r>
          </a:p>
          <a:p>
            <a:endParaRPr lang="zh-CN" altLang="en-US" dirty="0"/>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dirty="0"/>
              <a:t>Evaluation</a:t>
            </a:r>
            <a:endParaRPr lang="zh-CN" altLang="en-US" dirty="0"/>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dirty="0"/>
              <a:t>2.1.1 </a:t>
            </a:r>
            <a:r>
              <a:rPr lang="zh-CN" altLang="en-US" dirty="0"/>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dirty="0" err="1"/>
              <a:t>Input</a:t>
            </a:r>
            <a:r>
              <a:rPr lang="en-US" altLang="zh-CN" baseline="-25000" dirty="0" err="1"/>
              <a:t>t</a:t>
            </a:r>
            <a:r>
              <a:rPr lang="zh-CN" altLang="en-US" dirty="0"/>
              <a:t>：第</a:t>
            </a:r>
            <a:r>
              <a:rPr lang="en-US" altLang="zh-CN" dirty="0"/>
              <a:t>t</a:t>
            </a:r>
            <a:r>
              <a:rPr lang="zh-CN" altLang="en-US" dirty="0"/>
              <a:t>年的现金流入量</a:t>
            </a:r>
            <a:endParaRPr lang="en-US" altLang="zh-CN" dirty="0"/>
          </a:p>
          <a:p>
            <a:r>
              <a:rPr lang="en-US" altLang="zh-CN" dirty="0" err="1"/>
              <a:t>Output</a:t>
            </a:r>
            <a:r>
              <a:rPr lang="en-US" altLang="zh-CN" baseline="-25000" dirty="0" err="1"/>
              <a:t>t</a:t>
            </a:r>
            <a:r>
              <a:rPr lang="zh-CN" altLang="en-US" dirty="0"/>
              <a:t>：第</a:t>
            </a:r>
            <a:r>
              <a:rPr lang="en-US" altLang="zh-CN" dirty="0"/>
              <a:t>t</a:t>
            </a:r>
            <a:r>
              <a:rPr lang="zh-CN" altLang="en-US" dirty="0"/>
              <a:t>年的现金流出量</a:t>
            </a:r>
            <a:endParaRPr lang="en-US" altLang="zh-CN" dirty="0"/>
          </a:p>
          <a:p>
            <a:r>
              <a:rPr lang="en-US" altLang="zh-CN" dirty="0" err="1"/>
              <a:t>CF</a:t>
            </a:r>
            <a:r>
              <a:rPr lang="en-US" altLang="zh-CN" baseline="-25000" dirty="0" err="1"/>
              <a:t>t</a:t>
            </a:r>
            <a:r>
              <a:rPr lang="zh-CN" altLang="en-US" dirty="0"/>
              <a:t>：</a:t>
            </a:r>
            <a:r>
              <a:rPr lang="en-US" altLang="zh-CN" dirty="0"/>
              <a:t>Current Flow at time t</a:t>
            </a:r>
            <a:r>
              <a:rPr lang="zh-CN" altLang="en-US" dirty="0"/>
              <a:t>，当前净现金流 </a:t>
            </a:r>
            <a:r>
              <a:rPr lang="en-US" altLang="zh-CN" dirty="0"/>
              <a:t>= I</a:t>
            </a:r>
            <a:r>
              <a:rPr lang="en-US" altLang="zh-CN" baseline="-25000" dirty="0"/>
              <a:t>t</a:t>
            </a:r>
            <a:r>
              <a:rPr lang="en-US" altLang="zh-CN" dirty="0"/>
              <a:t> - O</a:t>
            </a:r>
            <a:r>
              <a:rPr lang="en-US" altLang="zh-CN" baseline="-25000" dirty="0"/>
              <a:t>t</a:t>
            </a:r>
            <a:endParaRPr lang="en-US" altLang="zh-CN" dirty="0"/>
          </a:p>
          <a:p>
            <a:r>
              <a:rPr lang="en-US" altLang="zh-CN" dirty="0"/>
              <a:t>r</a:t>
            </a:r>
            <a:r>
              <a:rPr lang="zh-CN" altLang="en-US" dirty="0"/>
              <a:t>：贴现率</a:t>
            </a:r>
            <a:endParaRPr lang="en-US" altLang="zh-CN" dirty="0"/>
          </a:p>
          <a:p>
            <a:r>
              <a:rPr lang="en-US" altLang="zh-CN" dirty="0"/>
              <a:t>NPV</a:t>
            </a:r>
            <a:r>
              <a:rPr lang="zh-CN" altLang="en-US" dirty="0"/>
              <a:t>：</a:t>
            </a:r>
            <a:r>
              <a:rPr lang="en-US" altLang="zh-CN" dirty="0"/>
              <a:t>Net Present Value</a:t>
            </a:r>
            <a:r>
              <a:rPr lang="zh-CN" altLang="en-US" dirty="0"/>
              <a:t>，净现金值</a:t>
            </a:r>
            <a:endParaRPr lang="en-US" altLang="zh-CN" dirty="0"/>
          </a:p>
          <a:p>
            <a:endParaRPr lang="zh-CN" altLang="en-US" dirty="0"/>
          </a:p>
          <a:p>
            <a:endParaRPr lang="zh-CN" altLang="en-US" dirty="0"/>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dirty="0"/>
              <a:t>NPV</a:t>
            </a:r>
            <a:endParaRPr lang="zh-CN" altLang="en-US" dirty="0"/>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dirty="0">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dirty="0"/>
              <a:t>2.1.1 </a:t>
            </a:r>
            <a:r>
              <a:rPr lang="zh-CN" altLang="en-US" dirty="0"/>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dirty="0"/>
              <a:t>NPV</a:t>
            </a:r>
            <a:endParaRPr lang="zh-CN" altLang="en-US" dirty="0"/>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dirty="0">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dirty="0">
                          <a:solidFill>
                            <a:schemeClr val="bg1"/>
                          </a:solidFill>
                        </a:rPr>
                        <a:t>t</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a:solidFill>
                            <a:schemeClr val="bg1"/>
                          </a:solidFill>
                        </a:rPr>
                        <a:t>Input</a:t>
                      </a:r>
                      <a:r>
                        <a:rPr lang="zh-CN" altLang="en-US" sz="16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a:solidFill>
                            <a:schemeClr val="bg1"/>
                          </a:solidFill>
                        </a:rPr>
                        <a:t>Output</a:t>
                      </a:r>
                      <a:r>
                        <a:rPr lang="zh-CN" altLang="en-US" sz="16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a:solidFill>
                            <a:schemeClr val="bg1"/>
                          </a:solidFill>
                        </a:rPr>
                        <a:t>Input-Output</a:t>
                      </a:r>
                      <a:r>
                        <a:rPr lang="zh-CN" altLang="en-US" sz="16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err="1">
                          <a:solidFill>
                            <a:schemeClr val="bg1"/>
                          </a:solidFill>
                        </a:rPr>
                        <a:t>NPVt</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dirty="0">
                          <a:solidFill>
                            <a:schemeClr val="bg1"/>
                          </a:solidFill>
                        </a:rPr>
                        <a:t>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75.95</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-25.95</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-25.95</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dirty="0">
                          <a:solidFill>
                            <a:schemeClr val="bg1"/>
                          </a:solidFill>
                        </a:rPr>
                        <a:t>t1</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dirty="0">
                          <a:solidFill>
                            <a:schemeClr val="bg1"/>
                          </a:solidFill>
                        </a:rPr>
                        <a:t>t2</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50/(1+8%)</a:t>
                      </a:r>
                      <a:r>
                        <a:rPr lang="en-US" altLang="zh-CN" sz="1600" baseline="30000" dirty="0">
                          <a:solidFill>
                            <a:schemeClr val="bg1"/>
                          </a:solidFill>
                        </a:rPr>
                        <a:t>2</a:t>
                      </a:r>
                      <a:endParaRPr lang="zh-CN" altLang="en-US" sz="1600" baseline="300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dirty="0"/>
              <a:t>2.1.1 </a:t>
            </a:r>
            <a:r>
              <a:rPr lang="zh-CN" altLang="en-US" dirty="0"/>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dirty="0"/>
              <a:t>例</a:t>
            </a:r>
            <a:r>
              <a:rPr lang="en-US" altLang="zh-CN" dirty="0"/>
              <a:t>2. </a:t>
            </a:r>
            <a:r>
              <a:rPr lang="zh-CN" altLang="en-US" dirty="0"/>
              <a:t>某软件公司准备投标某项目，项目的合同金额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，求</a:t>
            </a:r>
            <a:r>
              <a:rPr lang="en-US" altLang="zh-CN" dirty="0"/>
              <a:t>NPV</a:t>
            </a:r>
            <a:r>
              <a:rPr lang="zh-CN" altLang="en-US" dirty="0"/>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dirty="0"/>
              <a:t>NPV</a:t>
            </a:r>
            <a:endParaRPr lang="zh-CN" altLang="en-US" dirty="0"/>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dirty="0">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dirty="0">
                          <a:solidFill>
                            <a:schemeClr val="bg1"/>
                          </a:solidFill>
                        </a:rPr>
                        <a:t>t</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a:solidFill>
                            <a:schemeClr val="bg1"/>
                          </a:solidFill>
                        </a:rPr>
                        <a:t>Input</a:t>
                      </a:r>
                      <a:r>
                        <a:rPr lang="zh-CN" altLang="en-US" sz="16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a:solidFill>
                            <a:schemeClr val="bg1"/>
                          </a:solidFill>
                        </a:rPr>
                        <a:t>Output</a:t>
                      </a:r>
                      <a:r>
                        <a:rPr lang="zh-CN" altLang="en-US" sz="16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a:solidFill>
                            <a:schemeClr val="bg1"/>
                          </a:solidFill>
                        </a:rPr>
                        <a:t>Input-Output</a:t>
                      </a:r>
                      <a:r>
                        <a:rPr lang="zh-CN" altLang="en-US" sz="16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dirty="0" err="1">
                          <a:solidFill>
                            <a:schemeClr val="bg1"/>
                          </a:solidFill>
                        </a:rPr>
                        <a:t>NPVt</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dirty="0">
                          <a:solidFill>
                            <a:schemeClr val="bg1"/>
                          </a:solidFill>
                        </a:rPr>
                        <a:t>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dirty="0">
                          <a:solidFill>
                            <a:schemeClr val="bg1"/>
                          </a:solidFill>
                        </a:rPr>
                        <a:t>t1</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dirty="0">
                          <a:solidFill>
                            <a:schemeClr val="bg1"/>
                          </a:solidFill>
                        </a:rPr>
                        <a:t>t2</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dirty="0">
                          <a:solidFill>
                            <a:schemeClr val="bg1"/>
                          </a:solidFill>
                        </a:rPr>
                        <a:t>50/(1+8%)</a:t>
                      </a:r>
                      <a:r>
                        <a:rPr lang="en-US" altLang="zh-CN" sz="1600" baseline="30000" dirty="0">
                          <a:solidFill>
                            <a:schemeClr val="bg1"/>
                          </a:solidFill>
                        </a:rPr>
                        <a:t>2</a:t>
                      </a:r>
                      <a:endParaRPr lang="zh-CN" altLang="en-US" sz="1600" baseline="300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dirty="0"/>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dirty="0"/>
              <a:t>Project Approval</a:t>
            </a:r>
            <a:endParaRPr lang="zh-CN" altLang="en-US" dirty="0"/>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dirty="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dirty="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dirty="0"/>
              <a:t>2.3 </a:t>
            </a:r>
            <a:r>
              <a:rPr lang="zh-CN" altLang="en-US" dirty="0"/>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dirty="0"/>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dirty="0"/>
              <a:t>Bidding</a:t>
            </a:r>
            <a:endParaRPr lang="zh-CN" altLang="en-US" dirty="0"/>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dirty="0">
                <a:solidFill>
                  <a:schemeClr val="bg1"/>
                </a:solidFill>
              </a:rPr>
              <a:t>+ </a:t>
            </a:r>
            <a:r>
              <a:rPr lang="zh-CN" altLang="en-US" sz="1400" dirty="0">
                <a:solidFill>
                  <a:schemeClr val="bg1"/>
                </a:solidFill>
              </a:rPr>
              <a:t>工作任务说明书 </a:t>
            </a:r>
            <a:r>
              <a:rPr lang="en-US" altLang="zh-CN" sz="1400" dirty="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dirty="0"/>
              <a:t>2.3.1 </a:t>
            </a:r>
            <a:r>
              <a:rPr lang="zh-CN" altLang="en-US" dirty="0"/>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dirty="0"/>
              <a:t>IFB - Invitation for Bid</a:t>
            </a:r>
            <a:r>
              <a:rPr lang="zh-CN" altLang="en-US" dirty="0"/>
              <a:t>（投标邀请）</a:t>
            </a:r>
            <a:endParaRPr lang="en-US" altLang="zh-CN" dirty="0"/>
          </a:p>
          <a:p>
            <a:pPr lvl="1"/>
            <a:r>
              <a:rPr lang="zh-CN" altLang="en-US" dirty="0"/>
              <a:t>最正式，全面考察</a:t>
            </a:r>
          </a:p>
          <a:p>
            <a:r>
              <a:rPr lang="en-US" altLang="zh-CN" dirty="0"/>
              <a:t>RFP - Request for Proposal</a:t>
            </a:r>
            <a:r>
              <a:rPr lang="zh-CN" altLang="en-US" dirty="0"/>
              <a:t>（建议书提交邀请）</a:t>
            </a:r>
            <a:endParaRPr lang="en-US" altLang="zh-CN" dirty="0"/>
          </a:p>
          <a:p>
            <a:pPr lvl="1"/>
            <a:r>
              <a:rPr lang="zh-CN" altLang="en-US" dirty="0"/>
              <a:t>看看你的方案</a:t>
            </a:r>
          </a:p>
          <a:p>
            <a:r>
              <a:rPr lang="en-US" altLang="zh-CN" dirty="0"/>
              <a:t>RFQ - Request for Quotation</a:t>
            </a:r>
            <a:r>
              <a:rPr lang="zh-CN" altLang="en-US" dirty="0"/>
              <a:t>（报价邀请）</a:t>
            </a:r>
            <a:endParaRPr lang="en-US" altLang="zh-CN" dirty="0"/>
          </a:p>
          <a:p>
            <a:pPr lvl="1"/>
            <a:r>
              <a:rPr lang="zh-CN" altLang="en-US" dirty="0"/>
              <a:t>看看你的报价</a:t>
            </a:r>
            <a:endParaRPr lang="en-US" altLang="zh-CN" dirty="0"/>
          </a:p>
          <a:p>
            <a:r>
              <a:rPr lang="en-US" altLang="zh-CN" dirty="0"/>
              <a:t>IFN – Invitation for Negotiation</a:t>
            </a:r>
            <a:r>
              <a:rPr lang="zh-CN" altLang="en-US" dirty="0"/>
              <a:t>（谈判邀请）</a:t>
            </a:r>
            <a:endParaRPr lang="en-US" altLang="zh-CN" dirty="0"/>
          </a:p>
          <a:p>
            <a:pPr lvl="1"/>
            <a:r>
              <a:rPr lang="zh-CN" altLang="en-US" dirty="0"/>
              <a:t>非正式</a:t>
            </a:r>
          </a:p>
          <a:p>
            <a:endParaRPr lang="zh-CN" altLang="en-US" dirty="0"/>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dirty="0"/>
              <a:t>Tender Document</a:t>
            </a:r>
            <a:endParaRPr lang="zh-CN" altLang="en-US" dirty="0"/>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dirty="0">
                <a:solidFill>
                  <a:schemeClr val="bg1"/>
                </a:solidFill>
              </a:rPr>
              <a:t>+ </a:t>
            </a:r>
            <a:r>
              <a:rPr lang="zh-CN" altLang="en-US" sz="1400" dirty="0">
                <a:solidFill>
                  <a:schemeClr val="bg1"/>
                </a:solidFill>
              </a:rPr>
              <a:t>工作任务说明书 </a:t>
            </a:r>
            <a:r>
              <a:rPr lang="en-US" altLang="zh-CN" sz="1400" dirty="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dirty="0"/>
              <a:t>2.3.2 </a:t>
            </a:r>
            <a:r>
              <a:rPr lang="zh-CN" altLang="en-US" dirty="0"/>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dirty="0"/>
              <a:t>建议书 </a:t>
            </a:r>
            <a:r>
              <a:rPr lang="en-US" altLang="zh-CN" dirty="0"/>
              <a:t>Proposal</a:t>
            </a:r>
          </a:p>
          <a:p>
            <a:r>
              <a:rPr lang="zh-CN" altLang="en-US" dirty="0"/>
              <a:t>报价单 </a:t>
            </a:r>
            <a:r>
              <a:rPr lang="en-US" altLang="zh-CN" dirty="0"/>
              <a:t>Quotation</a:t>
            </a:r>
            <a:endParaRPr lang="zh-CN" altLang="en-US" dirty="0"/>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dirty="0"/>
              <a:t>Bid Proposal</a:t>
            </a:r>
            <a:endParaRPr lang="zh-CN" altLang="en-US" dirty="0"/>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dirty="0">
                <a:solidFill>
                  <a:schemeClr val="bg1"/>
                </a:solidFill>
              </a:rPr>
              <a:t>+ </a:t>
            </a:r>
            <a:r>
              <a:rPr lang="zh-CN" altLang="en-US" sz="1400" dirty="0">
                <a:solidFill>
                  <a:schemeClr val="bg1"/>
                </a:solidFill>
              </a:rPr>
              <a:t>工作任务说明书 </a:t>
            </a:r>
            <a:r>
              <a:rPr lang="en-US" altLang="zh-CN" sz="1400" dirty="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dirty="0"/>
              <a:t>2.3.3 </a:t>
            </a:r>
            <a:r>
              <a:rPr lang="zh-CN" altLang="en-US" dirty="0"/>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dirty="0"/>
              <a:t>更好的管理和约束双方的权力和义务</a:t>
            </a:r>
            <a:endParaRPr lang="en-US" altLang="zh-CN" dirty="0"/>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dirty="0"/>
              <a:t>Contract</a:t>
            </a:r>
            <a:endParaRPr lang="zh-CN" altLang="en-US" dirty="0"/>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dirty="0">
                <a:solidFill>
                  <a:schemeClr val="bg1"/>
                </a:solidFill>
              </a:rPr>
              <a:t>+ </a:t>
            </a:r>
            <a:r>
              <a:rPr lang="zh-CN" altLang="en-US" sz="1400" dirty="0">
                <a:solidFill>
                  <a:schemeClr val="bg1"/>
                </a:solidFill>
              </a:rPr>
              <a:t>工作任务说明书 </a:t>
            </a:r>
            <a:r>
              <a:rPr lang="en-US" altLang="zh-CN" sz="1400" dirty="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endParaRPr lang="zh-CN" altLang="en-US" dirty="0"/>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dirty="0"/>
              <a:t>指项目执行组织高层批准的一份以书面签署的确认项目存在的文件，包括对项目的确认、对项目经理的授权和项目目标的概述</a:t>
            </a:r>
            <a:endParaRPr lang="en-US" altLang="zh-CN" dirty="0"/>
          </a:p>
          <a:p>
            <a:pPr lvl="1"/>
            <a:r>
              <a:rPr lang="zh-CN" altLang="en-US" dirty="0"/>
              <a:t>为项目提供合法性基础：正式文档；正式批准项目启动</a:t>
            </a:r>
            <a:endParaRPr lang="en-US" altLang="zh-CN" dirty="0"/>
          </a:p>
          <a:p>
            <a:pPr lvl="1"/>
            <a:r>
              <a:rPr lang="zh-CN" altLang="en-US" dirty="0"/>
              <a:t>谁签发谁修改：项目发起人、出资人、高层管理签发</a:t>
            </a:r>
            <a:endParaRPr lang="en-US" altLang="zh-CN" dirty="0"/>
          </a:p>
          <a:p>
            <a:pPr lvl="1"/>
            <a:r>
              <a:rPr lang="zh-CN" altLang="en-US" dirty="0"/>
              <a:t>不能频繁修改</a:t>
            </a:r>
            <a:endParaRPr lang="en-US" altLang="zh-CN" dirty="0"/>
          </a:p>
          <a:p>
            <a:r>
              <a:rPr lang="zh-CN" altLang="en-US" dirty="0"/>
              <a:t>说明</a:t>
            </a:r>
          </a:p>
          <a:p>
            <a:pPr lvl="1"/>
            <a:r>
              <a:rPr lang="zh-CN" altLang="en-US" dirty="0"/>
              <a:t>不要写成论文：控制在 </a:t>
            </a:r>
            <a:r>
              <a:rPr lang="en-US" altLang="zh-CN" dirty="0"/>
              <a:t>2~5 </a:t>
            </a:r>
            <a:r>
              <a:rPr lang="zh-CN" altLang="en-US" dirty="0"/>
              <a:t>页内，重点突出目标、授权、范围、预算</a:t>
            </a:r>
          </a:p>
          <a:p>
            <a:pPr lvl="1"/>
            <a:r>
              <a:rPr lang="zh-CN" altLang="en-US" dirty="0"/>
              <a:t>保持相对稳定：如需重大变更（如目标调整、预算翻倍），必须重新走审批流程</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endParaRPr lang="zh-CN" altLang="en-US" dirty="0"/>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dirty="0"/>
              <a:t>项目名称</a:t>
            </a:r>
            <a:endParaRPr lang="en-US" altLang="zh-CN" dirty="0"/>
          </a:p>
          <a:p>
            <a:r>
              <a:rPr lang="zh-CN" altLang="en-US" dirty="0"/>
              <a:t>项目发起人及联系方式</a:t>
            </a:r>
            <a:endParaRPr lang="en-US" altLang="zh-CN" dirty="0"/>
          </a:p>
          <a:p>
            <a:r>
              <a:rPr lang="zh-CN" altLang="en-US" dirty="0"/>
              <a:t>项目经理及联系方式</a:t>
            </a:r>
            <a:endParaRPr lang="en-US" altLang="zh-CN" dirty="0"/>
          </a:p>
          <a:p>
            <a:r>
              <a:rPr lang="zh-CN" altLang="en-US" dirty="0"/>
              <a:t>项目目标</a:t>
            </a:r>
            <a:endParaRPr lang="en-US" altLang="zh-CN" dirty="0"/>
          </a:p>
          <a:p>
            <a:r>
              <a:rPr lang="zh-CN" altLang="en-US" dirty="0"/>
              <a:t>业务范围</a:t>
            </a:r>
            <a:endParaRPr lang="en-US" altLang="zh-CN" dirty="0"/>
          </a:p>
          <a:p>
            <a:r>
              <a:rPr lang="zh-CN" altLang="en-US" dirty="0"/>
              <a:t>工作描述</a:t>
            </a:r>
            <a:r>
              <a:rPr lang="en-US" altLang="zh-CN" dirty="0"/>
              <a:t>/ </a:t>
            </a:r>
            <a:r>
              <a:rPr lang="zh-CN" altLang="en-US" dirty="0"/>
              <a:t>主要交付物概述</a:t>
            </a:r>
            <a:endParaRPr lang="en-US" altLang="zh-CN" dirty="0"/>
          </a:p>
          <a:p>
            <a:r>
              <a:rPr lang="zh-CN" altLang="en-US" dirty="0"/>
              <a:t>可交付成果（明确列出最终产出物）</a:t>
            </a:r>
            <a:endParaRPr lang="en-US" altLang="zh-CN" dirty="0"/>
          </a:p>
          <a:p>
            <a:r>
              <a:rPr lang="zh-CN" altLang="en-US" dirty="0"/>
              <a:t>时间安排</a:t>
            </a:r>
            <a:r>
              <a:rPr lang="en-US" altLang="zh-CN" dirty="0"/>
              <a:t>/ </a:t>
            </a:r>
            <a:r>
              <a:rPr lang="zh-CN" altLang="en-US" dirty="0"/>
              <a:t>高层级里程碑计划（非详细进度，而是关键节点）</a:t>
            </a:r>
            <a:endParaRPr lang="en-US" altLang="zh-CN" dirty="0"/>
          </a:p>
          <a:p>
            <a:r>
              <a:rPr lang="zh-CN" altLang="en-US" dirty="0"/>
              <a:t>项目预算</a:t>
            </a:r>
            <a:endParaRPr lang="en-US" altLang="zh-CN" dirty="0"/>
          </a:p>
          <a:p>
            <a:r>
              <a:rPr lang="zh-CN" altLang="en-US" dirty="0"/>
              <a:t>成员</a:t>
            </a:r>
            <a:r>
              <a:rPr lang="en-US" altLang="zh-CN" dirty="0"/>
              <a:t>/ </a:t>
            </a:r>
            <a:r>
              <a:rPr lang="zh-CN" altLang="en-US" dirty="0"/>
              <a:t>核心团队角色与职责概要</a:t>
            </a:r>
            <a:endParaRPr lang="en-US" altLang="zh-CN" dirty="0"/>
          </a:p>
          <a:p>
            <a:r>
              <a:rPr lang="zh-CN" altLang="en-US" dirty="0"/>
              <a:t>项目审批要求（谁有权批准变更？验收标准是什么？）</a:t>
            </a:r>
            <a:endParaRPr lang="en-US" altLang="zh-CN" dirty="0"/>
          </a:p>
          <a:p>
            <a:endParaRPr lang="zh-CN" altLang="en-US" dirty="0"/>
          </a:p>
          <a:p>
            <a:r>
              <a:rPr lang="zh-CN" altLang="en-US" dirty="0"/>
              <a:t>项目退出标准 </a:t>
            </a:r>
            <a:r>
              <a:rPr lang="en-US" altLang="zh-CN" dirty="0"/>
              <a:t>/ </a:t>
            </a:r>
            <a:r>
              <a:rPr lang="zh-CN" altLang="en-US" dirty="0"/>
              <a:t>成功标准（如何判断项目成功？）</a:t>
            </a:r>
          </a:p>
          <a:p>
            <a:r>
              <a:rPr lang="zh-CN" altLang="en-US" dirty="0"/>
              <a:t>主要风险摘要（高层级风险识别，如市场、技术、资源等）</a:t>
            </a:r>
          </a:p>
          <a:p>
            <a:r>
              <a:rPr lang="zh-CN" altLang="en-US" dirty="0"/>
              <a:t>假设条件与制约因素</a:t>
            </a:r>
          </a:p>
          <a:p>
            <a:r>
              <a:rPr lang="zh-CN" altLang="en-US" dirty="0"/>
              <a:t>项目授权声明（正式任命项目经理，赋予其动用组织资源的权力）</a:t>
            </a:r>
          </a:p>
          <a:p>
            <a:r>
              <a:rPr lang="zh-CN" altLang="en-US" dirty="0"/>
              <a:t>干系人清单（初步）（关键内外部干系人及其期望</a:t>
            </a:r>
            <a:r>
              <a:rPr lang="en-US" altLang="zh-CN" dirty="0"/>
              <a:t>/</a:t>
            </a:r>
            <a:r>
              <a:rPr lang="zh-CN" altLang="en-US" dirty="0"/>
              <a:t>影响力）</a:t>
            </a:r>
          </a:p>
          <a:p>
            <a:r>
              <a:rPr lang="zh-CN" altLang="en-US" dirty="0"/>
              <a:t>参考文件 </a:t>
            </a:r>
            <a:r>
              <a:rPr lang="en-US" altLang="zh-CN" dirty="0"/>
              <a:t>/ </a:t>
            </a:r>
            <a:r>
              <a:rPr lang="zh-CN" altLang="en-US" dirty="0"/>
              <a:t>依据（如合同、可行性研究报告、战略规划等）</a:t>
            </a:r>
            <a:endParaRPr lang="en-US" altLang="zh-CN" dirty="0"/>
          </a:p>
          <a:p>
            <a:r>
              <a:rPr lang="zh-CN" altLang="en-US" dirty="0"/>
              <a:t>供应商 </a:t>
            </a:r>
            <a:r>
              <a:rPr lang="en-US" altLang="zh-CN" dirty="0"/>
              <a:t>/ </a:t>
            </a:r>
            <a:r>
              <a:rPr lang="zh-CN" altLang="en-US" dirty="0"/>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dirty="0"/>
              <a:t>Charter</a:t>
            </a:r>
            <a:endParaRPr lang="zh-CN" altLang="en-US" dirty="0"/>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dirty="0"/>
              <a:t>2.4.1 </a:t>
            </a:r>
            <a:r>
              <a:rPr lang="zh-CN" altLang="en-US" dirty="0"/>
              <a:t>项目章程 </a:t>
            </a:r>
            <a:r>
              <a:rPr lang="en-US" altLang="zh-CN" dirty="0"/>
              <a:t>- </a:t>
            </a:r>
            <a:r>
              <a:rPr lang="zh-CN" altLang="en-US" dirty="0"/>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dirty="0"/>
              <a:t>高层级、战略性风险</a:t>
            </a:r>
            <a:endParaRPr lang="en-US" altLang="zh-CN" dirty="0"/>
          </a:p>
          <a:p>
            <a:r>
              <a:rPr lang="zh-CN" altLang="en-US" dirty="0"/>
              <a:t>可能直接导致项目失败或严重偏离目标的重大威胁或重大机会</a:t>
            </a:r>
            <a:endParaRPr lang="en-US" altLang="zh-CN" dirty="0"/>
          </a:p>
          <a:p>
            <a:r>
              <a:rPr lang="zh-CN" altLang="en-US" dirty="0"/>
              <a:t>不是详细的风险分析或计划</a:t>
            </a:r>
            <a:endParaRPr lang="en-US" altLang="zh-CN" dirty="0"/>
          </a:p>
          <a:p>
            <a:r>
              <a:rPr lang="zh-CN" altLang="en-US" dirty="0"/>
              <a:t>作用</a:t>
            </a:r>
            <a:endParaRPr lang="en-US" altLang="zh-CN" dirty="0"/>
          </a:p>
          <a:p>
            <a:pPr lvl="1"/>
            <a:r>
              <a:rPr lang="zh-CN" altLang="en-US" dirty="0"/>
              <a:t>预警机制：提醒发起人和管理层，这个项目不是稳赢的，存在哪些致命隐患</a:t>
            </a:r>
          </a:p>
          <a:p>
            <a:pPr lvl="1"/>
            <a:r>
              <a:rPr lang="zh-CN" altLang="en-US" dirty="0"/>
              <a:t>决策依据：帮助发起人判断是否值得批准该项目（例如：技术风险太高，是否还要投钱？）</a:t>
            </a:r>
          </a:p>
          <a:p>
            <a:pPr lvl="1"/>
            <a:r>
              <a:rPr lang="zh-CN" altLang="en-US" dirty="0"/>
              <a:t>资源预留：为后续制定应急储备（</a:t>
            </a:r>
            <a:r>
              <a:rPr lang="en-US" altLang="zh-CN" dirty="0"/>
              <a:t>Contingency Reserve</a:t>
            </a:r>
            <a:r>
              <a:rPr lang="zh-CN" altLang="en-US" dirty="0"/>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dirty="0"/>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bg1"/>
                          </a:solidFill>
                        </a:rPr>
                        <a:t>技术风险 </a:t>
                      </a:r>
                      <a:r>
                        <a:rPr lang="en-US" altLang="zh-CN" sz="1600" dirty="0">
                          <a:solidFill>
                            <a:schemeClr val="bg1"/>
                          </a:solidFill>
                        </a:rPr>
                        <a:t>Technology</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尚未在大规模数据下验证，过渡依赖热门</a:t>
                      </a:r>
                      <a:r>
                        <a:rPr lang="en-US" altLang="zh-CN" sz="1600" dirty="0">
                          <a:solidFill>
                            <a:schemeClr val="bg1"/>
                          </a:solidFill>
                        </a:rPr>
                        <a:t>AI</a:t>
                      </a:r>
                      <a:r>
                        <a:rPr lang="zh-CN" altLang="en-US" sz="1600" dirty="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bg1"/>
                          </a:solidFill>
                        </a:rPr>
                        <a:t>市场</a:t>
                      </a:r>
                      <a:r>
                        <a:rPr lang="en-US" altLang="zh-CN" sz="1600" dirty="0">
                          <a:solidFill>
                            <a:schemeClr val="bg1"/>
                          </a:solidFill>
                        </a:rPr>
                        <a:t>/</a:t>
                      </a:r>
                      <a:r>
                        <a:rPr lang="zh-CN" altLang="en-US" sz="1600" dirty="0">
                          <a:solidFill>
                            <a:schemeClr val="bg1"/>
                          </a:solidFill>
                        </a:rPr>
                        <a:t>商业风险 </a:t>
                      </a:r>
                      <a:r>
                        <a:rPr lang="en-US" altLang="zh-CN" sz="1600" dirty="0">
                          <a:solidFill>
                            <a:schemeClr val="bg1"/>
                          </a:solidFill>
                        </a:rPr>
                        <a:t>Market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竞争对手可能在项目上线前</a:t>
                      </a:r>
                      <a:r>
                        <a:rPr lang="en-US" altLang="zh-CN" sz="1600" dirty="0">
                          <a:solidFill>
                            <a:schemeClr val="bg1"/>
                          </a:solidFill>
                        </a:rPr>
                        <a:t>3</a:t>
                      </a:r>
                      <a:r>
                        <a:rPr lang="zh-CN" altLang="en-US" sz="1600" dirty="0">
                          <a:solidFill>
                            <a:schemeClr val="bg1"/>
                          </a:solidFill>
                        </a:rPr>
                        <a:t>个月发布同类低价产品，导致市场份额预期下降</a:t>
                      </a:r>
                      <a:r>
                        <a:rPr lang="en-US" altLang="zh-CN" sz="1600" dirty="0">
                          <a:solidFill>
                            <a:schemeClr val="bg1"/>
                          </a:solidFill>
                        </a:rPr>
                        <a:t>50%</a:t>
                      </a:r>
                      <a:r>
                        <a:rPr lang="zh-CN" altLang="en-US"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dirty="0">
                          <a:solidFill>
                            <a:schemeClr val="bg1"/>
                          </a:solidFill>
                        </a:rPr>
                        <a:t>资源风险 </a:t>
                      </a:r>
                      <a:r>
                        <a:rPr lang="en-US" altLang="zh-CN" sz="1600" dirty="0">
                          <a:solidFill>
                            <a:schemeClr val="bg1"/>
                          </a:solidFill>
                        </a:rPr>
                        <a:t>Resource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dirty="0">
                          <a:solidFill>
                            <a:schemeClr val="bg1"/>
                          </a:solidFill>
                        </a:rPr>
                        <a:t>合规</a:t>
                      </a:r>
                      <a:r>
                        <a:rPr lang="en-US" altLang="zh-CN" sz="1600" dirty="0">
                          <a:solidFill>
                            <a:schemeClr val="bg1"/>
                          </a:solidFill>
                        </a:rPr>
                        <a:t>/</a:t>
                      </a:r>
                      <a:r>
                        <a:rPr lang="zh-CN" altLang="en-US" sz="1600" dirty="0">
                          <a:solidFill>
                            <a:schemeClr val="bg1"/>
                          </a:solidFill>
                        </a:rPr>
                        <a:t>法律风险 </a:t>
                      </a:r>
                      <a:r>
                        <a:rPr lang="en-US" altLang="zh-CN" sz="1600" dirty="0">
                          <a:solidFill>
                            <a:schemeClr val="bg1"/>
                          </a:solidFill>
                        </a:rPr>
                        <a:t>Compliance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dirty="0">
                          <a:solidFill>
                            <a:schemeClr val="bg1"/>
                          </a:solidFill>
                        </a:rPr>
                        <a:t>外部依赖风险 </a:t>
                      </a:r>
                      <a:r>
                        <a:rPr lang="en-US" altLang="zh-CN" sz="1600" dirty="0">
                          <a:solidFill>
                            <a:schemeClr val="bg1"/>
                          </a:solidFill>
                        </a:rPr>
                        <a:t>Dependence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项目依赖第三方供应商的</a:t>
                      </a:r>
                      <a:r>
                        <a:rPr lang="en-US" altLang="zh-CN" sz="1600" dirty="0">
                          <a:solidFill>
                            <a:schemeClr val="bg1"/>
                          </a:solidFill>
                        </a:rPr>
                        <a:t>API</a:t>
                      </a:r>
                      <a:r>
                        <a:rPr lang="zh-CN" altLang="en-US" sz="1600" dirty="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dirty="0"/>
              <a:t>2.4.1 </a:t>
            </a:r>
            <a:r>
              <a:rPr lang="zh-CN" altLang="en-US" dirty="0"/>
              <a:t>项目章程 </a:t>
            </a:r>
            <a:r>
              <a:rPr lang="en-US" altLang="zh-CN" dirty="0"/>
              <a:t>- </a:t>
            </a:r>
            <a:r>
              <a:rPr lang="zh-CN" altLang="en-US" dirty="0"/>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dirty="0"/>
              <a:t>更多合规</a:t>
            </a:r>
            <a:r>
              <a:rPr lang="en-US" altLang="zh-CN" dirty="0"/>
              <a:t>/</a:t>
            </a:r>
            <a:r>
              <a:rPr lang="zh-CN" altLang="en-US" dirty="0"/>
              <a:t>法律风险 </a:t>
            </a:r>
            <a:r>
              <a:rPr lang="en-US" altLang="zh-CN" dirty="0"/>
              <a:t>Compliance</a:t>
            </a:r>
            <a:endParaRPr lang="zh-CN" altLang="en-US" dirty="0"/>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dirty="0"/>
              <a:t>Charter</a:t>
            </a:r>
            <a:endParaRPr lang="zh-CN" altLang="en-US" dirty="0"/>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dirty="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医疗项目未在预计时间内获得药监局</a:t>
                      </a:r>
                      <a:r>
                        <a:rPr lang="en-US" altLang="zh-CN" sz="1600" dirty="0">
                          <a:solidFill>
                            <a:schemeClr val="bg1"/>
                          </a:solidFill>
                        </a:rPr>
                        <a:t>(NMPA)</a:t>
                      </a:r>
                      <a:r>
                        <a:rPr lang="zh-CN" altLang="en-US" sz="1600" dirty="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dirty="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dirty="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dirty="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dirty="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dirty="0"/>
              <a:t>2.4.2 </a:t>
            </a:r>
            <a:r>
              <a:rPr lang="zh-CN" altLang="en-US" dirty="0"/>
              <a:t>项目章程 </a:t>
            </a:r>
            <a:r>
              <a:rPr lang="en-US" altLang="zh-CN" dirty="0"/>
              <a:t>- </a:t>
            </a:r>
            <a:r>
              <a:rPr lang="zh-CN" altLang="en-US" dirty="0"/>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dirty="0"/>
              <a:t>假设条件</a:t>
            </a:r>
            <a:endParaRPr lang="en-US" altLang="zh-CN" dirty="0"/>
          </a:p>
          <a:p>
            <a:pPr lvl="1"/>
            <a:r>
              <a:rPr lang="zh-CN" altLang="en-US" dirty="0"/>
              <a:t>定义：制定计划时，被认为是真实、实际或确定的因素，但实际上并未得到证实。</a:t>
            </a:r>
          </a:p>
          <a:p>
            <a:pPr lvl="1"/>
            <a:r>
              <a:rPr lang="zh-CN" altLang="en-US" dirty="0"/>
              <a:t>本质：我们赌它会是这样。如果假设错误，就会变成风险。</a:t>
            </a:r>
            <a:endParaRPr lang="en-US" altLang="zh-CN" dirty="0"/>
          </a:p>
          <a:p>
            <a:r>
              <a:rPr lang="zh-CN" altLang="en-US" dirty="0"/>
              <a:t>制约因素</a:t>
            </a:r>
            <a:endParaRPr lang="en-US" altLang="zh-CN" dirty="0"/>
          </a:p>
          <a:p>
            <a:pPr lvl="1"/>
            <a:r>
              <a:rPr lang="zh-CN" altLang="en-US" dirty="0"/>
              <a:t>定义：限制项目团队行动的强制性限制。团队必须在这些框框内工作，没有商量余地。</a:t>
            </a:r>
          </a:p>
          <a:p>
            <a:pPr lvl="1"/>
            <a:r>
              <a:rPr lang="zh-CN" altLang="en-US" dirty="0"/>
              <a:t>本质：“我们必须在这个范围内做”。</a:t>
            </a:r>
          </a:p>
          <a:p>
            <a:pPr lvl="1"/>
            <a:endParaRPr lang="zh-CN" altLang="en-US" dirty="0"/>
          </a:p>
          <a:p>
            <a:endParaRPr lang="zh-CN" altLang="en-US" dirty="0"/>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dirty="0"/>
              <a:t>Charter</a:t>
            </a:r>
            <a:endParaRPr lang="zh-CN" altLang="en-US" dirty="0"/>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会变成风险 </a:t>
                      </a:r>
                      <a:r>
                        <a:rPr lang="en-US" altLang="zh-CN" sz="1600" dirty="0">
                          <a:solidFill>
                            <a:schemeClr val="bg1"/>
                          </a:solidFill>
                        </a:rPr>
                        <a:t>(</a:t>
                      </a:r>
                      <a:r>
                        <a:rPr lang="en-US" sz="1600" dirty="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dirty="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dirty="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我们假定</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我们必须</a:t>
                      </a:r>
                      <a:r>
                        <a:rPr lang="en-US" altLang="zh-CN" sz="1600" dirty="0">
                          <a:solidFill>
                            <a:schemeClr val="bg1"/>
                          </a:solidFill>
                        </a:rPr>
                        <a:t>...” / “</a:t>
                      </a:r>
                      <a:r>
                        <a:rPr lang="zh-CN" altLang="en-US" sz="1600" dirty="0">
                          <a:solidFill>
                            <a:schemeClr val="bg1"/>
                          </a:solidFill>
                        </a:rPr>
                        <a:t>不能超过</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dirty="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dirty="0"/>
              <a:t>2.4.2 </a:t>
            </a:r>
            <a:r>
              <a:rPr lang="zh-CN" altLang="en-US" dirty="0"/>
              <a:t>项目章程 </a:t>
            </a:r>
            <a:r>
              <a:rPr lang="en-US" altLang="zh-CN" dirty="0"/>
              <a:t>– </a:t>
            </a:r>
            <a:r>
              <a:rPr lang="zh-CN" altLang="en-US" dirty="0"/>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dirty="0"/>
              <a:t>主要风险 </a:t>
            </a:r>
            <a:r>
              <a:rPr lang="en-US" altLang="zh-CN" dirty="0"/>
              <a:t>Key Risks</a:t>
            </a:r>
          </a:p>
          <a:p>
            <a:pPr lvl="1"/>
            <a:r>
              <a:rPr lang="zh-CN" altLang="en-US" dirty="0"/>
              <a:t>关键资源依赖：核心架构师到位延迟，存在前期设计延期及资源闲置风险。</a:t>
            </a:r>
          </a:p>
          <a:p>
            <a:pPr lvl="1"/>
            <a:r>
              <a:rPr lang="zh-CN" altLang="en-US" dirty="0"/>
              <a:t>合规不确定性：新数据隐私法规可能导致技术方案返工。</a:t>
            </a:r>
          </a:p>
          <a:p>
            <a:pPr lvl="1"/>
            <a:r>
              <a:rPr lang="zh-CN" altLang="en-US" dirty="0"/>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dirty="0"/>
              <a:t>Charter</a:t>
            </a:r>
            <a:endParaRPr lang="zh-CN" altLang="en-US" dirty="0"/>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dirty="0"/>
              <a:t>2.4.3 </a:t>
            </a:r>
            <a:r>
              <a:rPr lang="zh-CN" altLang="en-US" dirty="0"/>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dirty="0"/>
              <a:t>职责</a:t>
            </a:r>
            <a:endParaRPr lang="en-US" altLang="zh-CN" dirty="0"/>
          </a:p>
          <a:p>
            <a:pPr lvl="1"/>
            <a:r>
              <a:rPr lang="zh-CN" altLang="en-US" dirty="0"/>
              <a:t>开发计划</a:t>
            </a:r>
            <a:endParaRPr lang="en-US" altLang="zh-CN" dirty="0"/>
          </a:p>
          <a:p>
            <a:pPr lvl="1"/>
            <a:r>
              <a:rPr lang="zh-CN" altLang="en-US" dirty="0"/>
              <a:t>组织实施</a:t>
            </a:r>
            <a:endParaRPr lang="en-US" altLang="zh-CN" dirty="0"/>
          </a:p>
          <a:p>
            <a:pPr lvl="1"/>
            <a:r>
              <a:rPr lang="zh-CN" altLang="en-US" dirty="0"/>
              <a:t>项目控制</a:t>
            </a:r>
            <a:endParaRPr lang="en-US" altLang="zh-CN" dirty="0"/>
          </a:p>
          <a:p>
            <a:endParaRPr lang="zh-CN" altLang="en-US" dirty="0"/>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dirty="0"/>
              <a:t>Project manager</a:t>
            </a:r>
            <a:endParaRPr lang="zh-CN" altLang="en-US" dirty="0"/>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dirty="0"/>
              <a:t>2.4.3.1 </a:t>
            </a:r>
            <a:r>
              <a:rPr lang="zh-CN" altLang="en-US" dirty="0"/>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dirty="0"/>
              <a:t>PMI</a:t>
            </a:r>
            <a:r>
              <a:rPr lang="zh-CN" altLang="en-US" dirty="0"/>
              <a:t>人才三角 </a:t>
            </a:r>
            <a:r>
              <a:rPr lang="en-US" altLang="zh-CN" dirty="0"/>
              <a:t>- PMI Talent Triangle</a:t>
            </a:r>
          </a:p>
          <a:p>
            <a:r>
              <a:rPr lang="zh-CN" altLang="en-US" dirty="0"/>
              <a:t>三者同等重要、缺一不可</a:t>
            </a:r>
            <a:endParaRPr lang="en-US" altLang="zh-CN" dirty="0"/>
          </a:p>
          <a:p>
            <a:endParaRPr lang="zh-CN" altLang="en-US" dirty="0"/>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dirty="0"/>
              <a:t>Project manager</a:t>
            </a:r>
            <a:endParaRPr lang="zh-CN" altLang="en-US" dirty="0"/>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bg1"/>
                          </a:solidFill>
                        </a:rPr>
                        <a:t>技术项目管理</a:t>
                      </a:r>
                      <a:endParaRPr lang="en-US" altLang="zh-CN" sz="1600" dirty="0">
                        <a:solidFill>
                          <a:schemeClr val="bg1"/>
                        </a:solidFill>
                      </a:endParaRPr>
                    </a:p>
                    <a:p>
                      <a:pPr>
                        <a:buNone/>
                      </a:pPr>
                      <a:r>
                        <a:rPr lang="en-US" altLang="zh-CN" sz="1600" dirty="0">
                          <a:solidFill>
                            <a:schemeClr val="bg1"/>
                          </a:solidFill>
                        </a:rPr>
                        <a:t>Technical Project Management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与项目、项目集和项目组合管理特定领域相关的知识、技能和行为</a:t>
                      </a:r>
                      <a:endParaRPr lang="en-US" altLang="zh-CN" sz="1600" dirty="0">
                        <a:solidFill>
                          <a:schemeClr val="bg1"/>
                        </a:solidFill>
                      </a:endParaRPr>
                    </a:p>
                    <a:p>
                      <a:pPr>
                        <a:buNone/>
                      </a:pPr>
                      <a:r>
                        <a:rPr lang="zh-CN" altLang="en-US" sz="1600" dirty="0">
                          <a:solidFill>
                            <a:schemeClr val="bg1"/>
                          </a:solidFill>
                        </a:rPr>
                        <a:t>即执行你岗位</a:t>
                      </a:r>
                      <a:r>
                        <a:rPr lang="en-US" altLang="zh-CN" sz="1600" dirty="0">
                          <a:solidFill>
                            <a:schemeClr val="bg1"/>
                          </a:solidFill>
                        </a:rPr>
                        <a:t>/</a:t>
                      </a:r>
                      <a:r>
                        <a:rPr lang="zh-CN" altLang="en-US" sz="1600" dirty="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bg1"/>
                          </a:solidFill>
                        </a:rPr>
                        <a:t>领导力</a:t>
                      </a:r>
                      <a:endParaRPr lang="en-US" altLang="zh-CN" sz="1600" dirty="0">
                        <a:solidFill>
                          <a:schemeClr val="bg1"/>
                        </a:solidFill>
                      </a:endParaRPr>
                    </a:p>
                    <a:p>
                      <a:pPr>
                        <a:buNone/>
                      </a:pPr>
                      <a:r>
                        <a:rPr lang="en-US" altLang="zh-CN" sz="1600" dirty="0">
                          <a:solidFill>
                            <a:schemeClr val="bg1"/>
                          </a:solidFill>
                        </a:rPr>
                        <a:t>Leadership</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涉及引导、激励和</a:t>
                      </a:r>
                      <a:r>
                        <a:rPr lang="en-US" altLang="zh-CN" sz="1600" dirty="0">
                          <a:solidFill>
                            <a:schemeClr val="bg1"/>
                          </a:solidFill>
                        </a:rPr>
                        <a:t>/</a:t>
                      </a:r>
                      <a:r>
                        <a:rPr lang="zh-CN" altLang="en-US" sz="1600" dirty="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dirty="0">
                          <a:solidFill>
                            <a:schemeClr val="bg1"/>
                          </a:solidFill>
                        </a:rPr>
                        <a:t>战略与商业管理</a:t>
                      </a:r>
                      <a:endParaRPr lang="en-US" altLang="zh-CN" sz="1600" dirty="0">
                        <a:solidFill>
                          <a:schemeClr val="bg1"/>
                        </a:solidFill>
                      </a:endParaRPr>
                    </a:p>
                    <a:p>
                      <a:pPr>
                        <a:buNone/>
                      </a:pPr>
                      <a:r>
                        <a:rPr lang="en-US" altLang="zh-CN" sz="1600" dirty="0">
                          <a:solidFill>
                            <a:schemeClr val="bg1"/>
                          </a:solidFill>
                        </a:rPr>
                        <a:t>Strategic and Business Management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对行业</a:t>
                      </a:r>
                      <a:r>
                        <a:rPr lang="en-US" altLang="zh-CN" sz="1600" dirty="0">
                          <a:solidFill>
                            <a:schemeClr val="bg1"/>
                          </a:solidFill>
                        </a:rPr>
                        <a:t>/</a:t>
                      </a:r>
                      <a:r>
                        <a:rPr lang="zh-CN" altLang="en-US" sz="1600" dirty="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dirty="0"/>
              <a:t>2.4.3.2 </a:t>
            </a:r>
            <a:r>
              <a:rPr lang="zh-CN" altLang="en-US" dirty="0"/>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dirty="0"/>
              <a:t>PMI</a:t>
            </a:r>
            <a:r>
              <a:rPr lang="zh-CN" altLang="en-US" dirty="0"/>
              <a:t>人才三角演进版</a:t>
            </a:r>
            <a:endParaRPr lang="en-US" altLang="zh-CN" dirty="0"/>
          </a:p>
          <a:p>
            <a:endParaRPr lang="zh-CN" altLang="en-US" dirty="0"/>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dirty="0"/>
              <a:t>Project manager</a:t>
            </a:r>
            <a:endParaRPr lang="zh-CN" altLang="en-US" dirty="0"/>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bg1"/>
                          </a:solidFill>
                        </a:rPr>
                        <a:t>工作方式</a:t>
                      </a:r>
                      <a:endParaRPr lang="en-US" altLang="zh-CN" sz="1600" dirty="0">
                        <a:solidFill>
                          <a:schemeClr val="bg1"/>
                        </a:solidFill>
                      </a:endParaRPr>
                    </a:p>
                    <a:p>
                      <a:pPr>
                        <a:buNone/>
                      </a:pPr>
                      <a:r>
                        <a:rPr lang="en-US" altLang="zh-CN" sz="1600" dirty="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涵盖交付价值的方法、工具、技术和途径 </a:t>
                      </a:r>
                      <a:r>
                        <a:rPr lang="en-US" altLang="zh-CN" sz="1600" dirty="0">
                          <a:solidFill>
                            <a:schemeClr val="bg1"/>
                          </a:solidFill>
                        </a:rPr>
                        <a:t>- </a:t>
                      </a:r>
                      <a:r>
                        <a:rPr lang="zh-CN" altLang="en-US" sz="1600" dirty="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dirty="0">
                          <a:solidFill>
                            <a:schemeClr val="bg1"/>
                          </a:solidFill>
                        </a:rPr>
                        <a:t>能力技能</a:t>
                      </a:r>
                      <a:endParaRPr lang="en-US" altLang="zh-CN" sz="1600" dirty="0">
                        <a:solidFill>
                          <a:schemeClr val="bg1"/>
                        </a:solidFill>
                      </a:endParaRPr>
                    </a:p>
                    <a:p>
                      <a:pPr>
                        <a:buNone/>
                      </a:pPr>
                      <a:r>
                        <a:rPr lang="en-US" altLang="zh-CN" sz="1600" dirty="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指使个人能够影响、激励、协作和领导的人际能力</a:t>
                      </a:r>
                      <a:r>
                        <a:rPr lang="en-US" altLang="zh-CN" sz="1600" dirty="0">
                          <a:solidFill>
                            <a:schemeClr val="bg1"/>
                          </a:solidFill>
                        </a:rPr>
                        <a:t> - </a:t>
                      </a:r>
                      <a:r>
                        <a:rPr lang="zh-CN" altLang="en-US" sz="1600" dirty="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dirty="0">
                          <a:solidFill>
                            <a:schemeClr val="bg1"/>
                          </a:solidFill>
                        </a:rPr>
                        <a:t>商业洞察力</a:t>
                      </a:r>
                      <a:endParaRPr lang="en-US" altLang="zh-CN" sz="1600" dirty="0">
                        <a:solidFill>
                          <a:schemeClr val="bg1"/>
                        </a:solidFill>
                      </a:endParaRPr>
                    </a:p>
                    <a:p>
                      <a:pPr>
                        <a:buNone/>
                      </a:pPr>
                      <a:r>
                        <a:rPr lang="en-US" altLang="zh-CN" sz="1600" dirty="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dirty="0"/>
              <a:t>2.4.3.3 </a:t>
            </a:r>
            <a:r>
              <a:rPr lang="zh-CN" altLang="en-US" dirty="0"/>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dirty="0"/>
              <a:t>标志着项目管理</a:t>
            </a:r>
            <a:endParaRPr lang="en-US" altLang="zh-CN" dirty="0"/>
          </a:p>
          <a:p>
            <a:pPr lvl="1"/>
            <a:r>
              <a:rPr lang="zh-CN" altLang="en-US" dirty="0"/>
              <a:t>从“技术驱动”迈向“价值驱动”</a:t>
            </a:r>
            <a:endParaRPr lang="en-US" altLang="zh-CN" dirty="0"/>
          </a:p>
          <a:p>
            <a:pPr lvl="1"/>
            <a:r>
              <a:rPr lang="zh-CN" altLang="en-US" dirty="0"/>
              <a:t>从“岗位能力”转向“通用胜任力”</a:t>
            </a:r>
            <a:endParaRPr lang="en-US" altLang="zh-CN" dirty="0"/>
          </a:p>
          <a:p>
            <a:r>
              <a:rPr lang="zh-CN" altLang="en-US" dirty="0"/>
              <a:t>最终目标</a:t>
            </a:r>
            <a:endParaRPr lang="en-US" altLang="zh-CN" dirty="0"/>
          </a:p>
          <a:p>
            <a:pPr lvl="1"/>
            <a:r>
              <a:rPr lang="zh-CN" altLang="en-US" dirty="0"/>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dirty="0"/>
              <a:t>Project manager</a:t>
            </a:r>
            <a:endParaRPr lang="zh-CN" altLang="en-US" dirty="0"/>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Technical Project Management</a:t>
                      </a:r>
                      <a:br>
                        <a:rPr lang="en-US" sz="1600" dirty="0">
                          <a:solidFill>
                            <a:schemeClr val="bg1"/>
                          </a:solidFill>
                        </a:rPr>
                      </a:br>
                      <a:r>
                        <a:rPr lang="zh-CN" altLang="en-US" sz="1600" dirty="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Ways of Working</a:t>
                      </a:r>
                      <a:br>
                        <a:rPr lang="en-US" sz="1600" dirty="0">
                          <a:solidFill>
                            <a:schemeClr val="bg1"/>
                          </a:solidFill>
                        </a:rPr>
                      </a:br>
                      <a:r>
                        <a:rPr lang="en-US" sz="1600" dirty="0" err="1">
                          <a:solidFill>
                            <a:schemeClr val="bg1"/>
                          </a:solidFill>
                        </a:rPr>
                        <a:t>工作方式</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dirty="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Leadership</a:t>
                      </a:r>
                    </a:p>
                    <a:p>
                      <a:pPr>
                        <a:buNone/>
                      </a:pPr>
                      <a:r>
                        <a:rPr lang="zh-CN" altLang="en-US" sz="1600" dirty="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Power Skills</a:t>
                      </a:r>
                      <a:br>
                        <a:rPr lang="en-US" sz="1600" dirty="0">
                          <a:solidFill>
                            <a:schemeClr val="bg1"/>
                          </a:solidFill>
                        </a:rPr>
                      </a:br>
                      <a:r>
                        <a:rPr lang="zh-CN" altLang="en-US" sz="1600" dirty="0">
                          <a:solidFill>
                            <a:schemeClr val="bg1"/>
                          </a:solidFill>
                        </a:rPr>
                        <a:t>权力技能 </a:t>
                      </a:r>
                      <a:r>
                        <a:rPr lang="en-US" altLang="zh-CN" sz="1600" dirty="0">
                          <a:solidFill>
                            <a:schemeClr val="bg1"/>
                          </a:solidFill>
                        </a:rPr>
                        <a:t>/ </a:t>
                      </a:r>
                      <a:r>
                        <a:rPr lang="zh-CN" altLang="en-US" sz="1600" dirty="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dirty="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Strategic and Business Management</a:t>
                      </a:r>
                      <a:br>
                        <a:rPr lang="en-US" sz="1600" dirty="0">
                          <a:solidFill>
                            <a:schemeClr val="bg1"/>
                          </a:solidFill>
                        </a:rPr>
                      </a:br>
                      <a:r>
                        <a:rPr lang="zh-CN" altLang="en-US" sz="1600" dirty="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Business Acumen</a:t>
                      </a:r>
                      <a:br>
                        <a:rPr lang="en-US" sz="1600" dirty="0">
                          <a:solidFill>
                            <a:schemeClr val="bg1"/>
                          </a:solidFill>
                        </a:rPr>
                      </a:br>
                      <a:r>
                        <a:rPr lang="zh-CN" altLang="en-US" sz="1600" dirty="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dirty="0"/>
              <a:t>2.5 </a:t>
            </a:r>
            <a:r>
              <a:rPr lang="zh-CN" altLang="en-US" dirty="0"/>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dirty="0"/>
              <a:t>描述开发主要阶段</a:t>
            </a:r>
            <a:endParaRPr lang="en-US" altLang="zh-CN" dirty="0"/>
          </a:p>
          <a:p>
            <a:r>
              <a:rPr lang="zh-CN" altLang="en-US" dirty="0"/>
              <a:t>定义每个阶段要完成的主要过程和活动</a:t>
            </a:r>
            <a:endParaRPr lang="en-US" altLang="zh-CN" dirty="0"/>
          </a:p>
          <a:p>
            <a:r>
              <a:rPr lang="zh-CN" altLang="en-US" dirty="0"/>
              <a:t>规范每个阶段的输入和输出</a:t>
            </a:r>
            <a:endParaRPr lang="en-US" altLang="zh-CN" dirty="0"/>
          </a:p>
          <a:p>
            <a:endParaRPr lang="zh-CN" altLang="en-US" dirty="0"/>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dirty="0"/>
              <a:t>Project Life Cycle Types</a:t>
            </a:r>
            <a:endParaRPr lang="zh-CN" altLang="en-US" dirty="0"/>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dirty="0"/>
              <a:t>2.5 </a:t>
            </a:r>
            <a:r>
              <a:rPr lang="zh-CN" altLang="en-US" dirty="0"/>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dirty="0"/>
              <a:t>Project Life Cycle Types</a:t>
            </a:r>
            <a:endParaRPr lang="zh-CN" altLang="en-US" dirty="0"/>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bg1"/>
                          </a:solidFill>
                        </a:rPr>
                        <a:t>预测型 </a:t>
                      </a:r>
                      <a:r>
                        <a:rPr lang="en-US" sz="1600" dirty="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dirty="0">
                          <a:solidFill>
                            <a:schemeClr val="bg1"/>
                          </a:solidFill>
                        </a:rPr>
                        <a:t>迭代型 </a:t>
                      </a:r>
                      <a:r>
                        <a:rPr lang="en-US" sz="1600" dirty="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dirty="0">
                          <a:solidFill>
                            <a:schemeClr val="bg1"/>
                          </a:solidFill>
                        </a:rPr>
                        <a:t>增量型 </a:t>
                      </a:r>
                      <a:r>
                        <a:rPr lang="en-US" sz="1600" dirty="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dirty="0">
                          <a:solidFill>
                            <a:schemeClr val="bg1"/>
                          </a:solidFill>
                        </a:rPr>
                        <a:t>敏捷型 </a:t>
                      </a:r>
                      <a:r>
                        <a:rPr lang="en-US" sz="1600" dirty="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dirty="0">
                  <a:solidFill>
                    <a:schemeClr val="bg1"/>
                  </a:solidFill>
                </a:rPr>
                <a:t>Degree of Change</a:t>
              </a:r>
              <a:endParaRPr lang="zh-CN" altLang="en-US" sz="1200" dirty="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dirty="0">
                  <a:solidFill>
                    <a:schemeClr val="bg1"/>
                  </a:solidFill>
                </a:rPr>
                <a:t>Frequency of Delivery</a:t>
              </a:r>
              <a:endParaRPr lang="zh-CN" altLang="en-US" sz="1200" dirty="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dirty="0">
                  <a:solidFill>
                    <a:schemeClr val="bg1"/>
                  </a:solidFill>
                </a:rPr>
                <a:t>Predictive</a:t>
              </a:r>
              <a:endParaRPr lang="zh-CN" altLang="en-US" sz="1400" dirty="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dirty="0">
                  <a:solidFill>
                    <a:schemeClr val="bg1"/>
                  </a:solidFill>
                </a:rPr>
                <a:t>Iterative</a:t>
              </a:r>
              <a:endParaRPr lang="zh-CN" altLang="en-US" sz="1400" dirty="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solidFill>
                    <a:schemeClr val="bg1"/>
                  </a:solidFill>
                </a:rPr>
                <a:t>Incremental</a:t>
              </a:r>
              <a:endParaRPr lang="zh-CN" altLang="en-US" sz="1400" dirty="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dirty="0">
                  <a:solidFill>
                    <a:schemeClr val="bg1"/>
                  </a:solidFill>
                </a:rPr>
                <a:t>Agile</a:t>
              </a:r>
              <a:endParaRPr lang="zh-CN" altLang="en-US" sz="1400" dirty="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endParaRPr lang="zh-CN" altLang="en-US" dirty="0"/>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dirty="0"/>
              <a:t>范围、进度、成本早期定义；对变化容忍度低</a:t>
            </a:r>
            <a:endParaRPr lang="en-US" altLang="zh-CN" dirty="0"/>
          </a:p>
          <a:p>
            <a:pPr lvl="1"/>
            <a:r>
              <a:rPr lang="en-US" altLang="zh-CN" dirty="0"/>
              <a:t>Scope, schedule, and cost defined early; low tolerance for change</a:t>
            </a:r>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在项目启动阶段就锁定范围、时间、成本（铁三角），后续严格执行</a:t>
            </a:r>
          </a:p>
          <a:p>
            <a:pPr lvl="1"/>
            <a:r>
              <a:rPr lang="zh-CN" altLang="en-US" dirty="0"/>
              <a:t>变更被视为“异常”，需要走严格的变更控制流程</a:t>
            </a:r>
            <a:endParaRPr lang="en-US" altLang="zh-CN" dirty="0"/>
          </a:p>
          <a:p>
            <a:r>
              <a:rPr lang="zh-CN" altLang="en-US" dirty="0"/>
              <a:t>适用场景</a:t>
            </a:r>
            <a:endParaRPr lang="en-US" altLang="zh-CN" dirty="0"/>
          </a:p>
          <a:p>
            <a:pPr lvl="1"/>
            <a:r>
              <a:rPr lang="zh-CN" altLang="en-US" dirty="0"/>
              <a:t>需求稳定、技术成熟、法规约束强的项目（如建筑、航天、医疗设备）</a:t>
            </a:r>
          </a:p>
          <a:p>
            <a:r>
              <a:rPr lang="zh-CN" altLang="en-US" dirty="0"/>
              <a:t>风险：</a:t>
            </a:r>
          </a:p>
          <a:p>
            <a:pPr lvl="1"/>
            <a:r>
              <a:rPr lang="zh-CN" altLang="en-US" dirty="0"/>
              <a:t>如果前期判断错误，后期修正代价极高</a:t>
            </a:r>
          </a:p>
          <a:p>
            <a:pPr lvl="1"/>
            <a:r>
              <a:rPr lang="zh-CN" altLang="en-US" dirty="0"/>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endParaRPr lang="en-US" altLang="zh-CN" dirty="0"/>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dirty="0"/>
              <a:t>2.5.1.1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dirty="0"/>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solidFill>
                    <a:schemeClr val="bg1"/>
                  </a:solidFill>
                </a:rPr>
                <a:t>Requirement gathering &amp; analysis</a:t>
              </a:r>
              <a:endParaRPr lang="zh-CN" altLang="en-US" dirty="0">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solidFill>
                    <a:schemeClr val="bg1"/>
                  </a:solidFill>
                </a:rPr>
                <a:t>System design</a:t>
              </a:r>
              <a:endParaRPr lang="zh-CN" altLang="en-US" dirty="0">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solidFill>
                    <a:schemeClr val="bg1"/>
                  </a:solidFill>
                </a:rPr>
                <a:t>Implementation</a:t>
              </a:r>
              <a:endParaRPr lang="zh-CN" altLang="en-US" dirty="0">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dirty="0">
                  <a:solidFill>
                    <a:schemeClr val="bg1"/>
                  </a:solidFill>
                </a:rPr>
                <a:t>Integration &amp; Test</a:t>
              </a:r>
              <a:endParaRPr lang="zh-CN" altLang="en-US" dirty="0">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dirty="0">
                  <a:solidFill>
                    <a:schemeClr val="bg1"/>
                  </a:solidFill>
                </a:rPr>
                <a:t>Deployment </a:t>
              </a:r>
              <a:endParaRPr lang="zh-CN" altLang="en-US" dirty="0">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solidFill>
                    <a:schemeClr val="bg1"/>
                  </a:solidFill>
                </a:rPr>
                <a:t>Maintenance</a:t>
              </a:r>
              <a:endParaRPr lang="zh-CN" altLang="en-US" dirty="0">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dirty="0"/>
              <a:t>2.5.1.2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特点</a:t>
            </a:r>
            <a:endParaRPr lang="en-US" altLang="zh-CN" dirty="0"/>
          </a:p>
          <a:p>
            <a:pPr lvl="1"/>
            <a:r>
              <a:rPr lang="zh-CN" altLang="en-US" dirty="0"/>
              <a:t>测试计划在开发早期就制定</a:t>
            </a:r>
            <a:endParaRPr lang="zh-CN" altLang="en-US" dirty="0">
              <a:solidFill>
                <a:srgbClr val="FF0000"/>
              </a:solidFill>
            </a:endParaRPr>
          </a:p>
          <a:p>
            <a:pPr lvl="1"/>
            <a:r>
              <a:rPr lang="zh-CN" altLang="en-US" dirty="0"/>
              <a:t>强调尽早测试理念</a:t>
            </a:r>
          </a:p>
          <a:p>
            <a:pPr lvl="1"/>
            <a:r>
              <a:rPr lang="zh-CN" altLang="en-US" dirty="0"/>
              <a:t>仍为线性模型，灵活性有限</a:t>
            </a:r>
            <a:endParaRPr lang="en-US" altLang="zh-CN" dirty="0"/>
          </a:p>
          <a:p>
            <a:r>
              <a:rPr lang="zh-CN" altLang="en-US" dirty="0"/>
              <a:t>适用</a:t>
            </a:r>
            <a:endParaRPr lang="en-US" altLang="zh-CN" dirty="0"/>
          </a:p>
          <a:p>
            <a:pPr lvl="1"/>
            <a:r>
              <a:rPr lang="zh-CN" altLang="en-US" dirty="0"/>
              <a:t>需求明确、不能出错、且需要严格验证的项目</a:t>
            </a:r>
            <a:endParaRPr lang="en-US" altLang="zh-CN" dirty="0"/>
          </a:p>
          <a:p>
            <a:pPr lvl="1"/>
            <a:r>
              <a:rPr lang="zh-CN" altLang="en-US" dirty="0"/>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dirty="0"/>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dirty="0">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bg1"/>
                          </a:solidFill>
                        </a:rPr>
                        <a:t>测试目的</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dirty="0">
                          <a:solidFill>
                            <a:schemeClr val="bg1"/>
                          </a:solidFill>
                        </a:rPr>
                        <a:t>测试计划</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dirty="0">
                          <a:solidFill>
                            <a:schemeClr val="bg1"/>
                          </a:solidFill>
                        </a:rPr>
                        <a:t>测试执行</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dirty="0"/>
              <a:t>2.5.2 </a:t>
            </a:r>
            <a:r>
              <a:rPr lang="zh-CN" altLang="en-US" dirty="0"/>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dirty="0"/>
              <a:t>通过迭代向基础软件产品中添加后续功能，直到最终系统完成</a:t>
            </a:r>
            <a:endParaRPr lang="en-US" altLang="zh-CN" dirty="0"/>
          </a:p>
          <a:p>
            <a:pPr lvl="1"/>
            <a:r>
              <a:rPr lang="zh-CN" altLang="en-US" dirty="0"/>
              <a:t>产品通过循环逐步 </a:t>
            </a:r>
            <a:r>
              <a:rPr lang="en-US" altLang="zh-CN" dirty="0"/>
              <a:t>refinement</a:t>
            </a:r>
          </a:p>
          <a:p>
            <a:pPr lvl="1"/>
            <a:r>
              <a:rPr lang="zh-CN" altLang="en-US" dirty="0"/>
              <a:t>每次迭代改进设计或理解</a:t>
            </a:r>
            <a:endParaRPr lang="en-US" altLang="zh-CN" dirty="0"/>
          </a:p>
          <a:p>
            <a:pPr lvl="1"/>
            <a:r>
              <a:rPr lang="en-US" altLang="zh-CN" dirty="0"/>
              <a:t>Product refined over cycles; each iteration improves design/understanding</a:t>
            </a:r>
          </a:p>
          <a:p>
            <a:r>
              <a:rPr lang="zh-CN" altLang="en-US" dirty="0"/>
              <a:t>不追求一次性做对，而是通过多次循环（迭代）不断优化设计方案或对问题的理解</a:t>
            </a:r>
            <a:endParaRPr lang="en-US" altLang="zh-CN" dirty="0"/>
          </a:p>
          <a:p>
            <a:pPr lvl="1"/>
            <a:r>
              <a:rPr lang="zh-CN" altLang="en-US" dirty="0"/>
              <a:t>也被称为循环模型</a:t>
            </a:r>
          </a:p>
          <a:p>
            <a:r>
              <a:rPr lang="zh-CN" altLang="en-US" dirty="0"/>
              <a:t>典型例子</a:t>
            </a:r>
            <a:endParaRPr lang="en-US" altLang="zh-CN" dirty="0"/>
          </a:p>
          <a:p>
            <a:pPr lvl="1"/>
            <a:r>
              <a:rPr lang="zh-CN" altLang="en-US" dirty="0"/>
              <a:t>科研实验</a:t>
            </a:r>
            <a:endParaRPr lang="en-US" altLang="zh-CN" dirty="0"/>
          </a:p>
          <a:p>
            <a:pPr lvl="1"/>
            <a:r>
              <a:rPr lang="zh-CN" altLang="en-US" dirty="0"/>
              <a:t>算法优化</a:t>
            </a:r>
            <a:endParaRPr lang="en-US" altLang="zh-CN" dirty="0"/>
          </a:p>
          <a:p>
            <a:pPr lvl="1"/>
            <a:r>
              <a:rPr lang="en-US" altLang="zh-CN" dirty="0"/>
              <a:t>UI/UX </a:t>
            </a:r>
            <a:r>
              <a:rPr lang="zh-CN" altLang="en-US" dirty="0"/>
              <a:t>原型测试</a:t>
            </a:r>
          </a:p>
          <a:p>
            <a:r>
              <a:rPr lang="zh-CN" altLang="en-US" dirty="0"/>
              <a:t>局限</a:t>
            </a:r>
            <a:endParaRPr lang="en-US" altLang="zh-CN" dirty="0"/>
          </a:p>
          <a:p>
            <a:pPr lvl="1"/>
            <a:r>
              <a:rPr lang="zh-CN" altLang="en-US" dirty="0"/>
              <a:t>虽然内部在进化，但外部用户看不到价值，缺乏反馈闭环</a:t>
            </a:r>
          </a:p>
          <a:p>
            <a:endParaRPr lang="zh-CN" altLang="en-US" dirty="0"/>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dirty="0"/>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Initialization</a:t>
              </a:r>
              <a:endParaRPr lang="zh-CN" altLang="en-US" sz="1600" kern="1200" dirty="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Planning</a:t>
              </a:r>
              <a:endParaRPr lang="zh-CN" altLang="en-US" sz="1600" kern="1200" dirty="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Requirement Gathering</a:t>
              </a:r>
              <a:endParaRPr lang="zh-CN" altLang="en-US" sz="1600" kern="1200" dirty="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Design</a:t>
              </a:r>
              <a:endParaRPr lang="zh-CN" altLang="en-US" sz="1600" kern="1200" dirty="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Evaluation</a:t>
              </a:r>
              <a:endParaRPr lang="zh-CN" altLang="en-US" sz="1600" kern="1200" dirty="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Planning</a:t>
              </a:r>
              <a:endParaRPr lang="zh-CN" altLang="en-US" sz="1600" kern="1200" dirty="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Coding</a:t>
              </a:r>
              <a:endParaRPr lang="zh-CN" altLang="en-US" sz="1600" kern="1200" dirty="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Deployment</a:t>
            </a:r>
            <a:endParaRPr lang="zh-CN" altLang="en-US" sz="1600" kern="1200" dirty="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dirty="0"/>
              <a:t>2.5.3 </a:t>
            </a:r>
            <a:r>
              <a:rPr lang="zh-CN" altLang="en-US" dirty="0"/>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dirty="0"/>
              <a:t>复杂的项目划分为更小、独立的模块，这些模块被称为增量</a:t>
            </a:r>
            <a:endParaRPr lang="en-US" altLang="zh-CN" dirty="0"/>
          </a:p>
          <a:p>
            <a:pPr lvl="1"/>
            <a:r>
              <a:rPr lang="zh-CN" altLang="en-US" dirty="0"/>
              <a:t>每完成一块就</a:t>
            </a:r>
            <a:r>
              <a:rPr lang="zh-CN" altLang="en-US" dirty="0">
                <a:solidFill>
                  <a:srgbClr val="FFFF00"/>
                </a:solidFill>
              </a:rPr>
              <a:t>交付</a:t>
            </a:r>
            <a:r>
              <a:rPr lang="zh-CN" altLang="en-US" dirty="0"/>
              <a:t>一部分功能</a:t>
            </a:r>
          </a:p>
          <a:p>
            <a:pPr lvl="1"/>
            <a:r>
              <a:rPr lang="zh-CN" altLang="en-US" dirty="0"/>
              <a:t>每个增量增加功能</a:t>
            </a:r>
          </a:p>
          <a:p>
            <a:pPr lvl="1"/>
            <a:r>
              <a:rPr lang="en-US" altLang="zh-CN" dirty="0"/>
              <a:t>Product delivered in usable chunks; each increment adds functionality</a:t>
            </a:r>
          </a:p>
          <a:p>
            <a:r>
              <a:rPr lang="zh-CN" altLang="en-US" dirty="0"/>
              <a:t>用户能尽早使用部分功能，团队也能获得早期反馈</a:t>
            </a:r>
            <a:endParaRPr lang="en-US" altLang="zh-CN" dirty="0"/>
          </a:p>
          <a:p>
            <a:pPr lvl="1"/>
            <a:r>
              <a:rPr lang="zh-CN" altLang="en-US" dirty="0"/>
              <a:t>快速交付价值 → 速度</a:t>
            </a:r>
            <a:endParaRPr lang="en-US" altLang="zh-CN" dirty="0"/>
          </a:p>
          <a:p>
            <a:pPr lvl="1"/>
            <a:r>
              <a:rPr lang="zh-CN" altLang="en-US" dirty="0"/>
              <a:t>持续评估、反馈和调整是这个模型的核心，能够迅速识别和纠正错误</a:t>
            </a:r>
          </a:p>
          <a:p>
            <a:r>
              <a:rPr lang="zh-CN" altLang="en-US" dirty="0"/>
              <a:t>典型例子</a:t>
            </a:r>
          </a:p>
          <a:p>
            <a:pPr lvl="1"/>
            <a:r>
              <a:rPr lang="zh-CN" altLang="en-US" dirty="0"/>
              <a:t>软件模块化开发（先上线登录注册，再上线支付）</a:t>
            </a:r>
            <a:endParaRPr lang="en-US" altLang="zh-CN" dirty="0"/>
          </a:p>
          <a:p>
            <a:pPr lvl="1"/>
            <a:r>
              <a:rPr lang="zh-CN" altLang="en-US" dirty="0"/>
              <a:t>房地产分期交房</a:t>
            </a:r>
            <a:endParaRPr lang="en-US" altLang="zh-CN" dirty="0"/>
          </a:p>
          <a:p>
            <a:pPr lvl="1"/>
            <a:r>
              <a:rPr lang="zh-CN" altLang="en-US" dirty="0"/>
              <a:t>拼图</a:t>
            </a:r>
          </a:p>
          <a:p>
            <a:r>
              <a:rPr lang="zh-CN" altLang="en-US" dirty="0"/>
              <a:t>局限</a:t>
            </a:r>
          </a:p>
          <a:p>
            <a:pPr lvl="1"/>
            <a:r>
              <a:rPr lang="zh-CN" altLang="en-US" dirty="0"/>
              <a:t>如果整体架构没想清楚，可能导致拼凑式系统，后期难以维护</a:t>
            </a:r>
          </a:p>
          <a:p>
            <a:pPr lvl="1"/>
            <a:r>
              <a:rPr lang="zh-CN" altLang="en-US" dirty="0"/>
              <a:t>缺乏反复修正的机制，可能方向跑偏</a:t>
            </a:r>
          </a:p>
          <a:p>
            <a:pPr lvl="1"/>
            <a:endParaRPr lang="zh-CN" altLang="en-US" dirty="0"/>
          </a:p>
          <a:p>
            <a:endParaRPr lang="en-US" altLang="zh-CN" dirty="0"/>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dirty="0"/>
              <a:t>Incremental Mode</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dirty="0"/>
              <a:t>2.5.3 </a:t>
            </a:r>
            <a:r>
              <a:rPr lang="zh-CN" altLang="en-US" dirty="0"/>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dirty="0"/>
              <a:t>过程</a:t>
            </a:r>
            <a:endParaRPr lang="en-US" altLang="zh-CN" dirty="0"/>
          </a:p>
          <a:p>
            <a:pPr lvl="1"/>
            <a:r>
              <a:rPr lang="zh-CN" altLang="en-US" dirty="0"/>
              <a:t>需求收集 </a:t>
            </a:r>
            <a:r>
              <a:rPr lang="en-US" altLang="zh-CN" dirty="0"/>
              <a:t>Requirements Gathering</a:t>
            </a:r>
            <a:endParaRPr lang="zh-CN" altLang="en-US" dirty="0"/>
          </a:p>
          <a:p>
            <a:pPr lvl="1"/>
            <a:r>
              <a:rPr lang="zh-CN" altLang="en-US" dirty="0"/>
              <a:t>设计 </a:t>
            </a:r>
            <a:r>
              <a:rPr lang="en-US" altLang="zh-CN" dirty="0"/>
              <a:t>Design</a:t>
            </a:r>
          </a:p>
          <a:p>
            <a:pPr lvl="1"/>
            <a:r>
              <a:rPr lang="zh-CN" altLang="en-US" dirty="0"/>
              <a:t>实现 </a:t>
            </a:r>
            <a:r>
              <a:rPr lang="en-US" altLang="zh-CN" dirty="0"/>
              <a:t>Implementation</a:t>
            </a:r>
          </a:p>
          <a:p>
            <a:pPr lvl="1"/>
            <a:r>
              <a:rPr lang="zh-CN" altLang="en-US" dirty="0"/>
              <a:t>测试 </a:t>
            </a:r>
            <a:r>
              <a:rPr lang="en-US" altLang="zh-CN" dirty="0"/>
              <a:t>Testing</a:t>
            </a:r>
          </a:p>
          <a:p>
            <a:pPr lvl="1"/>
            <a:r>
              <a:rPr lang="zh-CN" altLang="en-US" dirty="0"/>
              <a:t>集成 </a:t>
            </a:r>
            <a:r>
              <a:rPr lang="en-US" altLang="zh-CN" dirty="0"/>
              <a:t>Integration</a:t>
            </a:r>
          </a:p>
          <a:p>
            <a:pPr lvl="1"/>
            <a:r>
              <a:rPr lang="zh-CN" altLang="en-US" dirty="0"/>
              <a:t>评估和反馈 </a:t>
            </a:r>
            <a:r>
              <a:rPr lang="en-US" altLang="zh-CN" dirty="0"/>
              <a:t>Evaluation and Feedback</a:t>
            </a:r>
          </a:p>
          <a:p>
            <a:pPr lvl="1"/>
            <a:r>
              <a:rPr lang="zh-CN" altLang="en-US" dirty="0"/>
              <a:t>迭代过程 </a:t>
            </a:r>
            <a:r>
              <a:rPr lang="en-US" altLang="zh-CN" dirty="0"/>
              <a:t>Iterative Process</a:t>
            </a:r>
            <a:endParaRPr lang="zh-CN" altLang="en-US" dirty="0"/>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dirty="0"/>
              <a:t>Incremental Mode</a:t>
            </a:r>
            <a:endParaRPr lang="zh-CN" altLang="en-US" dirty="0"/>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迭代 </a:t>
                      </a:r>
                      <a:r>
                        <a:rPr lang="en-US" sz="16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增量 </a:t>
                      </a:r>
                      <a:r>
                        <a:rPr lang="en-US" sz="1600" dirty="0">
                          <a:solidFill>
                            <a:schemeClr val="bg1"/>
                          </a:solidFill>
                        </a:rPr>
                        <a:t>Increment</a:t>
                      </a:r>
                      <a:r>
                        <a:rPr lang="en-US" altLang="zh-CN" sz="1600" dirty="0">
                          <a:solidFill>
                            <a:schemeClr val="bg1"/>
                          </a:solidFill>
                        </a:rPr>
                        <a:t>al</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dirty="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重复 </a:t>
                      </a:r>
                      <a:r>
                        <a:rPr lang="en-US" altLang="zh-CN" sz="1600" dirty="0">
                          <a:solidFill>
                            <a:schemeClr val="bg1"/>
                          </a:solidFill>
                        </a:rPr>
                        <a:t>(</a:t>
                      </a:r>
                      <a:r>
                        <a:rPr lang="en-US" sz="1600" dirty="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增加 </a:t>
                      </a:r>
                      <a:r>
                        <a:rPr lang="en-US" altLang="zh-CN" sz="1600" dirty="0">
                          <a:solidFill>
                            <a:schemeClr val="bg1"/>
                          </a:solidFill>
                        </a:rPr>
                        <a:t>(</a:t>
                      </a:r>
                      <a:r>
                        <a:rPr lang="en-US" sz="1600" dirty="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dirty="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质量 </a:t>
                      </a:r>
                      <a:r>
                        <a:rPr lang="en-US" altLang="zh-CN" sz="1600" dirty="0">
                          <a:solidFill>
                            <a:schemeClr val="bg1"/>
                          </a:solidFill>
                        </a:rPr>
                        <a:t>(</a:t>
                      </a:r>
                      <a:r>
                        <a:rPr lang="en-US" sz="1600" dirty="0">
                          <a:solidFill>
                            <a:schemeClr val="bg1"/>
                          </a:solidFill>
                        </a:rPr>
                        <a:t>Quality)：</a:t>
                      </a:r>
                      <a:r>
                        <a:rPr lang="zh-CN" altLang="en-US" sz="1600" dirty="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范围 </a:t>
                      </a:r>
                      <a:r>
                        <a:rPr lang="en-US" altLang="zh-CN" sz="1600" dirty="0">
                          <a:solidFill>
                            <a:schemeClr val="bg1"/>
                          </a:solidFill>
                        </a:rPr>
                        <a:t>(</a:t>
                      </a:r>
                      <a:r>
                        <a:rPr lang="en-US" sz="1600" dirty="0">
                          <a:solidFill>
                            <a:schemeClr val="bg1"/>
                          </a:solidFill>
                        </a:rPr>
                        <a:t>Scope)：</a:t>
                      </a:r>
                      <a:r>
                        <a:rPr lang="zh-CN" altLang="en-US" sz="1600" dirty="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dirty="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dirty="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dirty="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哇，这个功能比上次快了很多</a:t>
                      </a:r>
                      <a:r>
                        <a:rPr lang="en-US" altLang="zh-CN" sz="1600" dirty="0">
                          <a:solidFill>
                            <a:schemeClr val="bg1"/>
                          </a:solidFill>
                        </a:rPr>
                        <a:t>/</a:t>
                      </a:r>
                      <a:r>
                        <a:rPr lang="zh-CN" altLang="en-US" sz="1600" dirty="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dirty="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solidFill>
                            <a:schemeClr val="bg1"/>
                          </a:solidFill>
                        </a:rPr>
                        <a:t>Iterate (</a:t>
                      </a:r>
                      <a:r>
                        <a:rPr lang="zh-CN" altLang="en-US" sz="1600" dirty="0">
                          <a:solidFill>
                            <a:schemeClr val="bg1"/>
                          </a:solidFill>
                        </a:rPr>
                        <a:t>重做</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solidFill>
                            <a:schemeClr val="bg1"/>
                          </a:solidFill>
                        </a:rPr>
                        <a:t>Increment (</a:t>
                      </a:r>
                      <a:r>
                        <a:rPr lang="zh-CN" altLang="en-US" sz="1600" dirty="0">
                          <a:solidFill>
                            <a:schemeClr val="bg1"/>
                          </a:solidFill>
                        </a:rPr>
                        <a:t>增长</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dirty="0"/>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dirty="0"/>
              <a:t>2.5.4 </a:t>
            </a:r>
            <a:r>
              <a:rPr lang="zh-CN" altLang="en-US" dirty="0"/>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dirty="0"/>
              <a:t>本质</a:t>
            </a:r>
          </a:p>
          <a:p>
            <a:pPr lvl="1"/>
            <a:r>
              <a:rPr lang="zh-CN" altLang="en-US" dirty="0"/>
              <a:t>敏捷 </a:t>
            </a:r>
            <a:r>
              <a:rPr lang="en-US" altLang="zh-CN" dirty="0"/>
              <a:t>= </a:t>
            </a:r>
            <a:r>
              <a:rPr lang="zh-CN" altLang="en-US" dirty="0"/>
              <a:t>迭代 </a:t>
            </a:r>
            <a:r>
              <a:rPr lang="en-US" altLang="zh-CN" dirty="0"/>
              <a:t>× </a:t>
            </a:r>
            <a:r>
              <a:rPr lang="zh-CN" altLang="en-US" dirty="0"/>
              <a:t>增量 </a:t>
            </a:r>
            <a:r>
              <a:rPr lang="en-US" altLang="zh-CN" dirty="0"/>
              <a:t>× </a:t>
            </a:r>
            <a:r>
              <a:rPr lang="zh-CN" altLang="en-US" dirty="0"/>
              <a:t>反馈 </a:t>
            </a:r>
            <a:r>
              <a:rPr lang="en-US" altLang="zh-CN" dirty="0"/>
              <a:t>feedback</a:t>
            </a:r>
            <a:endParaRPr lang="zh-CN" altLang="en-US" dirty="0"/>
          </a:p>
          <a:p>
            <a:pPr lvl="1"/>
            <a:r>
              <a:rPr lang="zh-CN" altLang="en-US" dirty="0"/>
              <a:t>它是一个自适应系统，而非固定流程</a:t>
            </a:r>
          </a:p>
          <a:p>
            <a:r>
              <a:rPr lang="zh-CN" altLang="en-US" dirty="0"/>
              <a:t>高响应变化；依赖干系人反馈</a:t>
            </a:r>
            <a:endParaRPr lang="en-US" altLang="zh-CN" dirty="0"/>
          </a:p>
          <a:p>
            <a:pPr lvl="1"/>
            <a:r>
              <a:rPr lang="en-US" altLang="zh-CN" dirty="0"/>
              <a:t>Combines iterative + incremental; high responsiveness to change; stakeholder feedback</a:t>
            </a:r>
          </a:p>
          <a:p>
            <a:r>
              <a:rPr lang="zh-CN" altLang="en-US" dirty="0"/>
              <a:t>不是简单叠加，而是有机融合：</a:t>
            </a:r>
          </a:p>
          <a:p>
            <a:pPr lvl="2"/>
            <a:r>
              <a:rPr lang="zh-CN" altLang="en-US" dirty="0"/>
              <a:t>用迭代来应对不确定性（不断试错、调整方向）</a:t>
            </a:r>
          </a:p>
          <a:p>
            <a:pPr lvl="2"/>
            <a:r>
              <a:rPr lang="zh-CN" altLang="en-US" dirty="0"/>
              <a:t>用增量来确保价值流动（每个迭代都交付可用成果）</a:t>
            </a:r>
          </a:p>
          <a:p>
            <a:pPr lvl="2"/>
            <a:r>
              <a:rPr lang="zh-CN" altLang="en-US" dirty="0"/>
              <a:t>用反馈来驱动决策（客户</a:t>
            </a:r>
            <a:r>
              <a:rPr lang="en-US" altLang="zh-CN" dirty="0"/>
              <a:t>/</a:t>
            </a:r>
            <a:r>
              <a:rPr lang="zh-CN" altLang="en-US" dirty="0"/>
              <a:t>用户参与评审，决定下一步做什么）</a:t>
            </a:r>
          </a:p>
          <a:p>
            <a:pPr lvl="1"/>
            <a:r>
              <a:rPr lang="zh-CN" altLang="en-US" dirty="0"/>
              <a:t>高响应变化是结果，频繁反馈是手段。</a:t>
            </a:r>
          </a:p>
          <a:p>
            <a:r>
              <a:rPr lang="zh-CN" altLang="en-US" dirty="0"/>
              <a:t>目标</a:t>
            </a:r>
          </a:p>
          <a:p>
            <a:pPr lvl="1"/>
            <a:r>
              <a:rPr lang="zh-CN" altLang="en-US" dirty="0"/>
              <a:t>最大化客户价值</a:t>
            </a:r>
            <a:endParaRPr lang="en-US" altLang="zh-CN" dirty="0"/>
          </a:p>
          <a:p>
            <a:pPr lvl="1"/>
            <a:r>
              <a:rPr lang="zh-CN" altLang="en-US" dirty="0"/>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dirty="0"/>
              <a:t>2.5.4 </a:t>
            </a:r>
            <a:r>
              <a:rPr lang="zh-CN" altLang="en-US" dirty="0"/>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dirty="0"/>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节奏</a:t>
                      </a:r>
                      <a:r>
                        <a:rPr lang="en-US" altLang="zh-CN" sz="1600" dirty="0">
                          <a:solidFill>
                            <a:schemeClr val="bg1"/>
                          </a:solidFill>
                        </a:rPr>
                        <a:t>/</a:t>
                      </a:r>
                      <a:r>
                        <a:rPr lang="zh-CN" altLang="en-US" sz="16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dirty="0">
                          <a:solidFill>
                            <a:schemeClr val="bg1"/>
                          </a:solidFill>
                        </a:rPr>
                        <a:t>Scrum </a:t>
                      </a:r>
                      <a:r>
                        <a:rPr lang="zh-CN" altLang="en-US" sz="1600" dirty="0">
                          <a:solidFill>
                            <a:schemeClr val="bg1"/>
                          </a:solidFill>
                        </a:rPr>
                        <a:t>敏捷</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固定 </a:t>
                      </a:r>
                      <a:r>
                        <a:rPr lang="en-US" sz="1600" dirty="0">
                          <a:solidFill>
                            <a:schemeClr val="bg1"/>
                          </a:solidFill>
                        </a:rPr>
                        <a:t>Sprint (2-4</a:t>
                      </a:r>
                      <a:r>
                        <a:rPr lang="zh-CN" altLang="en-US" sz="1600" dirty="0">
                          <a:solidFill>
                            <a:schemeClr val="bg1"/>
                          </a:solidFill>
                        </a:rPr>
                        <a:t>周</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严格 </a:t>
                      </a:r>
                      <a:r>
                        <a:rPr lang="en-US" altLang="zh-CN" sz="1600" dirty="0">
                          <a:solidFill>
                            <a:schemeClr val="bg1"/>
                          </a:solidFill>
                        </a:rPr>
                        <a:t>(</a:t>
                      </a:r>
                      <a:r>
                        <a:rPr lang="en-US" sz="1600" dirty="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dirty="0">
                          <a:solidFill>
                            <a:schemeClr val="bg1"/>
                          </a:solidFill>
                        </a:rPr>
                        <a:t>Kanban </a:t>
                      </a:r>
                      <a:r>
                        <a:rPr lang="zh-CN" altLang="en-US" sz="1600" dirty="0">
                          <a:solidFill>
                            <a:schemeClr val="bg1"/>
                          </a:solidFill>
                        </a:rPr>
                        <a:t>看板</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持续流动 </a:t>
                      </a:r>
                      <a:r>
                        <a:rPr lang="en-US" altLang="zh-CN" sz="1600" dirty="0">
                          <a:solidFill>
                            <a:schemeClr val="bg1"/>
                          </a:solidFill>
                        </a:rPr>
                        <a:t>(</a:t>
                      </a:r>
                      <a:r>
                        <a:rPr lang="zh-CN" altLang="en-US" sz="1600" dirty="0">
                          <a:solidFill>
                            <a:schemeClr val="bg1"/>
                          </a:solidFill>
                        </a:rPr>
                        <a:t>无固定周期</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灵活 </a:t>
                      </a:r>
                      <a:r>
                        <a:rPr lang="en-US" altLang="zh-CN" sz="1600" dirty="0">
                          <a:solidFill>
                            <a:schemeClr val="bg1"/>
                          </a:solidFill>
                        </a:rPr>
                        <a:t>(</a:t>
                      </a:r>
                      <a:r>
                        <a:rPr lang="zh-CN" altLang="en-US" sz="1600" dirty="0">
                          <a:solidFill>
                            <a:schemeClr val="bg1"/>
                          </a:solidFill>
                        </a:rPr>
                        <a:t>无特定角色</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dirty="0">
                          <a:solidFill>
                            <a:schemeClr val="bg1"/>
                          </a:solidFill>
                        </a:rPr>
                        <a:t>XP </a:t>
                      </a:r>
                      <a:r>
                        <a:rPr lang="zh-CN" altLang="en-US" sz="1600" dirty="0">
                          <a:solidFill>
                            <a:schemeClr val="bg1"/>
                          </a:solidFill>
                        </a:rPr>
                        <a:t>极限编程</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通常配合 </a:t>
                      </a:r>
                      <a:r>
                        <a:rPr lang="en-US" sz="1600" dirty="0">
                          <a:solidFill>
                            <a:schemeClr val="bg1"/>
                          </a:solidFill>
                        </a:rPr>
                        <a:t>Scrum </a:t>
                      </a:r>
                      <a:r>
                        <a:rPr lang="zh-CN" altLang="en-US" sz="1600" dirty="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灵活 </a:t>
                      </a:r>
                      <a:r>
                        <a:rPr lang="en-US" altLang="zh-CN" sz="1600" dirty="0">
                          <a:solidFill>
                            <a:schemeClr val="bg1"/>
                          </a:solidFill>
                        </a:rPr>
                        <a:t>(</a:t>
                      </a:r>
                      <a:r>
                        <a:rPr lang="zh-CN" altLang="en-US" sz="1600" dirty="0">
                          <a:solidFill>
                            <a:schemeClr val="bg1"/>
                          </a:solidFill>
                        </a:rPr>
                        <a:t>强调结对</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dirty="0">
                          <a:solidFill>
                            <a:schemeClr val="bg1"/>
                          </a:solidFill>
                        </a:rPr>
                        <a:t>FDD </a:t>
                      </a:r>
                      <a:r>
                        <a:rPr lang="zh-CN" altLang="en-US" sz="1600" dirty="0">
                          <a:solidFill>
                            <a:schemeClr val="bg1"/>
                          </a:solidFill>
                        </a:rPr>
                        <a:t>特性驱动</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较正式 </a:t>
                      </a:r>
                      <a:r>
                        <a:rPr lang="en-US" altLang="zh-CN" sz="1600" dirty="0">
                          <a:solidFill>
                            <a:schemeClr val="bg1"/>
                          </a:solidFill>
                        </a:rPr>
                        <a:t>(</a:t>
                      </a:r>
                      <a:r>
                        <a:rPr lang="zh-CN" altLang="en-US" sz="1600" dirty="0">
                          <a:solidFill>
                            <a:schemeClr val="bg1"/>
                          </a:solidFill>
                        </a:rPr>
                        <a:t>首席程序员等</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dirty="0">
                          <a:solidFill>
                            <a:schemeClr val="bg1"/>
                          </a:solidFill>
                        </a:rPr>
                        <a:t>Crystal </a:t>
                      </a:r>
                      <a:r>
                        <a:rPr lang="zh-CN" altLang="en-US" sz="1600" dirty="0">
                          <a:solidFill>
                            <a:schemeClr val="bg1"/>
                          </a:solidFill>
                        </a:rPr>
                        <a:t>水晶</a:t>
                      </a:r>
                      <a:endParaRPr 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dirty="0"/>
              <a:t>2.5.4.1 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dirty="0"/>
              <a:t>源于橄榄球比赛中的争球（</a:t>
            </a:r>
            <a:r>
              <a:rPr lang="en-US" altLang="zh-CN" dirty="0"/>
              <a:t>Scrum</a:t>
            </a:r>
            <a:r>
              <a:rPr lang="zh-CN" altLang="en-US" dirty="0"/>
              <a:t>）</a:t>
            </a:r>
            <a:endParaRPr lang="en-US" altLang="zh-CN" dirty="0"/>
          </a:p>
          <a:p>
            <a:r>
              <a:rPr lang="zh-CN" altLang="en-US" dirty="0"/>
              <a:t>在橄榄球中，争球是比赛暂停后重新开始的方式：双方前锋队员紧密围拢，低头抵肩，形成密集阵型，共同协作以争夺控球权</a:t>
            </a:r>
            <a:endParaRPr lang="en-US" altLang="zh-CN" dirty="0"/>
          </a:p>
          <a:p>
            <a:r>
              <a:rPr lang="en-US" altLang="zh-CN" dirty="0"/>
              <a:t>1986</a:t>
            </a:r>
            <a:r>
              <a:rPr lang="zh-CN" altLang="en-US" dirty="0"/>
              <a:t>年被哈佛大学教授竹内弘高和野中郁次郎引入管理学领域。在</a:t>
            </a:r>
            <a:r>
              <a:rPr lang="en-US" altLang="zh-CN" dirty="0"/>
              <a:t>《</a:t>
            </a:r>
            <a:r>
              <a:rPr lang="zh-CN" altLang="en-US" dirty="0"/>
              <a:t>哈佛商业评论</a:t>
            </a:r>
            <a:r>
              <a:rPr lang="en-US" altLang="zh-CN" dirty="0"/>
              <a:t>》</a:t>
            </a:r>
            <a:r>
              <a:rPr lang="zh-CN" altLang="en-US" dirty="0"/>
              <a:t>发表的</a:t>
            </a:r>
            <a:r>
              <a:rPr lang="en-US" altLang="zh-CN" dirty="0"/>
              <a:t>《</a:t>
            </a:r>
            <a:r>
              <a:rPr lang="zh-CN" altLang="en-US" dirty="0"/>
              <a:t>新新产品开发游戏</a:t>
            </a:r>
            <a:r>
              <a:rPr lang="en-US" altLang="zh-CN" dirty="0"/>
              <a:t>》</a:t>
            </a:r>
            <a:r>
              <a:rPr lang="zh-CN" altLang="en-US" dirty="0"/>
              <a:t>一文中，用来比喻高效团队的工作方式：团队作为一个整体，在明确的目标下紧密协作、灵活应变、共同前进</a:t>
            </a:r>
            <a:endParaRPr lang="en-US" altLang="zh-CN" dirty="0"/>
          </a:p>
          <a:p>
            <a:r>
              <a:rPr lang="zh-CN" altLang="en-US" dirty="0"/>
              <a:t>这一比喻随后被杰夫</a:t>
            </a:r>
            <a:r>
              <a:rPr lang="en-US" altLang="zh-CN" dirty="0"/>
              <a:t>·</a:t>
            </a:r>
            <a:r>
              <a:rPr lang="zh-CN" altLang="en-US" dirty="0"/>
              <a:t>萨瑟兰等人借鉴，并融合了迭代、增量开发等思想</a:t>
            </a:r>
            <a:endParaRPr lang="en-US" altLang="zh-CN" dirty="0"/>
          </a:p>
          <a:p>
            <a:r>
              <a:rPr lang="en-US" altLang="zh-CN" dirty="0"/>
              <a:t>1990s</a:t>
            </a:r>
            <a:r>
              <a:rPr lang="zh-CN" altLang="en-US" dirty="0"/>
              <a:t>，形成了现代的</a:t>
            </a:r>
            <a:r>
              <a:rPr lang="en-US" altLang="zh-CN" dirty="0"/>
              <a:t>Scrum</a:t>
            </a:r>
            <a:r>
              <a:rPr lang="zh-CN" altLang="en-US" dirty="0"/>
              <a:t>敏捷开发框架</a:t>
            </a:r>
            <a:endParaRPr lang="en-US" altLang="zh-CN" dirty="0"/>
          </a:p>
          <a:p>
            <a:r>
              <a:rPr lang="zh-CN" altLang="en-US" dirty="0"/>
              <a:t>其核心精神与橄榄球争球高度一致：强调团队的自组织、跨职能协作、快速响应变化，以及为了同一个目标而并肩努力</a:t>
            </a:r>
            <a:endParaRPr lang="en-US" altLang="zh-CN" dirty="0"/>
          </a:p>
          <a:p>
            <a:r>
              <a:rPr lang="en-US" altLang="zh-CN" dirty="0"/>
              <a:t>Scrum</a:t>
            </a:r>
            <a:r>
              <a:rPr lang="zh-CN" altLang="en-US" dirty="0"/>
              <a:t>一词不仅是一个名称，更形象地传达了其团队协作与敏捷的核心哲学</a:t>
            </a:r>
            <a:endParaRPr lang="en-US" altLang="zh-CN" dirty="0"/>
          </a:p>
          <a:p>
            <a:endParaRPr lang="en-US" altLang="zh-CN" dirty="0"/>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dirty="0"/>
              <a:t>2.5.4.2 </a:t>
            </a:r>
            <a:r>
              <a:rPr lang="zh-CN" altLang="en-US" dirty="0"/>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dirty="0"/>
              <a:t>看板是日语中的一个词</a:t>
            </a:r>
            <a:endParaRPr lang="en-US" altLang="zh-CN" dirty="0"/>
          </a:p>
          <a:p>
            <a:r>
              <a:rPr lang="en-US" altLang="zh-CN" dirty="0"/>
              <a:t>1940s</a:t>
            </a:r>
            <a:r>
              <a:rPr lang="zh-CN" altLang="en-US" dirty="0"/>
              <a:t>，日本丰田汽车公司提出</a:t>
            </a:r>
            <a:endParaRPr lang="en-US" altLang="zh-CN" dirty="0"/>
          </a:p>
          <a:p>
            <a:pPr lvl="1"/>
            <a:r>
              <a:rPr lang="zh-CN" altLang="en-US" dirty="0"/>
              <a:t>为了</a:t>
            </a:r>
            <a:r>
              <a:rPr lang="zh-CN" altLang="en-US" dirty="0">
                <a:solidFill>
                  <a:srgbClr val="FFFF00"/>
                </a:solidFill>
              </a:rPr>
              <a:t>管理制造过程</a:t>
            </a:r>
            <a:r>
              <a:rPr lang="zh-CN" altLang="en-US" dirty="0"/>
              <a:t>而发明</a:t>
            </a:r>
            <a:endParaRPr lang="en-US" altLang="zh-CN" dirty="0"/>
          </a:p>
          <a:p>
            <a:pPr lvl="1"/>
            <a:r>
              <a:rPr lang="zh-CN" altLang="en-US" dirty="0"/>
              <a:t>包含完成产品所需所有信息的卡片，记录了产品从开始到完成的每个阶段</a:t>
            </a:r>
            <a:endParaRPr lang="en-US" altLang="zh-CN" dirty="0"/>
          </a:p>
          <a:p>
            <a:r>
              <a:rPr lang="zh-CN" altLang="en-US" dirty="0"/>
              <a:t>这个框架或方法在软件测试中广泛应用，尤其是在敏捷方法中</a:t>
            </a:r>
            <a:endParaRPr lang="en-US" altLang="zh-CN" dirty="0"/>
          </a:p>
          <a:p>
            <a:r>
              <a:rPr lang="zh-CN" altLang="en-US" dirty="0"/>
              <a:t>强调持续改进和工作流程开放性的视觉项目管理模型</a:t>
            </a:r>
            <a:endParaRPr lang="en-US" altLang="zh-CN" dirty="0"/>
          </a:p>
          <a:p>
            <a:r>
              <a:rPr lang="zh-CN" altLang="en-US" dirty="0"/>
              <a:t>在软件测试中，看板的主要作用是展示项目状态，以便清楚地了解待办事项中等待被选择的工作，正在进行的任务，以及已完成的工作</a:t>
            </a:r>
            <a:endParaRPr lang="en-US" altLang="zh-CN" dirty="0"/>
          </a:p>
          <a:p>
            <a:r>
              <a:rPr lang="zh-CN" altLang="en-US" dirty="0"/>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dirty="0"/>
              <a:t>Kanban</a:t>
            </a:r>
            <a:endParaRPr lang="zh-CN" altLang="en-US" dirty="0"/>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dirty="0"/>
              <a:t>2.5.4.2 </a:t>
            </a:r>
            <a:r>
              <a:rPr lang="zh-CN" altLang="en-US" dirty="0"/>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dirty="0"/>
              <a:t>Kanban</a:t>
            </a:r>
            <a:endParaRPr lang="zh-CN" altLang="en-US" dirty="0"/>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dirty="0">
                          <a:solidFill>
                            <a:schemeClr val="bg1"/>
                          </a:solidFill>
                        </a:rPr>
                        <a:t>Column</a:t>
                      </a:r>
                      <a:endParaRPr lang="zh-CN" altLang="en-US" sz="16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Icon</a:t>
                      </a:r>
                      <a:endParaRPr lang="zh-CN" altLang="en-US" sz="16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Role</a:t>
                      </a:r>
                      <a:endParaRPr lang="zh-CN" altLang="en-US" sz="16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dirty="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尚未开始的工作项（如用户故事、</a:t>
                      </a:r>
                      <a:r>
                        <a:rPr lang="en-US" altLang="zh-CN" sz="1600" dirty="0">
                          <a:solidFill>
                            <a:schemeClr val="bg1"/>
                          </a:solidFill>
                        </a:rPr>
                        <a:t>Bug</a:t>
                      </a:r>
                      <a:r>
                        <a:rPr lang="zh-CN" altLang="en-US" sz="1600" dirty="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dirty="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dirty="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架构</a:t>
                      </a:r>
                      <a:r>
                        <a:rPr lang="en-US" altLang="zh-CN" sz="1600" dirty="0">
                          <a:solidFill>
                            <a:schemeClr val="bg1"/>
                          </a:solidFill>
                        </a:rPr>
                        <a:t>/</a:t>
                      </a:r>
                      <a:r>
                        <a:rPr lang="zh-CN" altLang="en-US" sz="1600" dirty="0">
                          <a:solidFill>
                            <a:schemeClr val="bg1"/>
                          </a:solidFill>
                        </a:rPr>
                        <a:t>界面</a:t>
                      </a:r>
                      <a:r>
                        <a:rPr lang="en-US" altLang="zh-CN" sz="1600" dirty="0">
                          <a:solidFill>
                            <a:schemeClr val="bg1"/>
                          </a:solidFill>
                        </a:rPr>
                        <a:t>/</a:t>
                      </a:r>
                      <a:r>
                        <a:rPr lang="zh-CN" altLang="en-US" sz="1600" dirty="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dirty="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核心价值创造环节，通常 </a:t>
                      </a:r>
                      <a:r>
                        <a:rPr lang="en-US" altLang="zh-CN" sz="1600" dirty="0">
                          <a:solidFill>
                            <a:schemeClr val="bg1"/>
                          </a:solidFill>
                        </a:rPr>
                        <a:t>WIP </a:t>
                      </a:r>
                      <a:r>
                        <a:rPr lang="zh-CN" altLang="en-US" sz="1600" dirty="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dirty="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QA </a:t>
                      </a:r>
                      <a:r>
                        <a:rPr lang="zh-CN" altLang="en-US" sz="1600" dirty="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dirty="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用户</a:t>
                      </a:r>
                      <a:r>
                        <a:rPr lang="en-US" altLang="zh-CN" sz="1600" dirty="0">
                          <a:solidFill>
                            <a:schemeClr val="bg1"/>
                          </a:solidFill>
                        </a:rPr>
                        <a:t>/</a:t>
                      </a:r>
                      <a:r>
                        <a:rPr lang="en-US" sz="1600" dirty="0">
                          <a:solidFill>
                            <a:schemeClr val="bg1"/>
                          </a:solidFill>
                        </a:rPr>
                        <a:t>PO </a:t>
                      </a:r>
                      <a:r>
                        <a:rPr lang="zh-CN" altLang="en-US" sz="1600" dirty="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dirty="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自动或手动部署到预发</a:t>
                      </a:r>
                      <a:r>
                        <a:rPr lang="en-US" altLang="zh-CN" sz="1600" dirty="0">
                          <a:solidFill>
                            <a:schemeClr val="bg1"/>
                          </a:solidFill>
                        </a:rPr>
                        <a:t>/</a:t>
                      </a:r>
                      <a:r>
                        <a:rPr lang="zh-CN" altLang="en-US" sz="1600" dirty="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dirty="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价值交付终点，也是 </a:t>
                      </a:r>
                      <a:r>
                        <a:rPr lang="en-US" altLang="zh-CN" sz="1600" dirty="0">
                          <a:solidFill>
                            <a:schemeClr val="bg1"/>
                          </a:solidFill>
                        </a:rPr>
                        <a:t>Outcome </a:t>
                      </a:r>
                      <a:r>
                        <a:rPr lang="zh-CN" altLang="en-US" sz="1600" dirty="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endParaRPr lang="zh-CN" altLang="en-US" dirty="0"/>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dirty="0">
                <a:hlinkClick r:id="rId3"/>
              </a:rPr>
              <a:t>极限编程 </a:t>
            </a:r>
            <a:r>
              <a:rPr lang="en-US" altLang="zh-CN" dirty="0">
                <a:hlinkClick r:id="rId3"/>
              </a:rPr>
              <a:t>XP</a:t>
            </a:r>
            <a:endParaRPr lang="en-US" altLang="zh-CN" dirty="0"/>
          </a:p>
          <a:p>
            <a:r>
              <a:rPr lang="zh-CN" altLang="en-US" dirty="0"/>
              <a:t>敏捷开发家族中最具体、最严格、最具工程实践性的方法论</a:t>
            </a:r>
            <a:endParaRPr lang="en-US" altLang="zh-CN" dirty="0"/>
          </a:p>
          <a:p>
            <a:r>
              <a:rPr lang="en-US" altLang="zh-CN" dirty="0"/>
              <a:t>1990s</a:t>
            </a:r>
            <a:r>
              <a:rPr lang="zh-CN" altLang="en-US" dirty="0"/>
              <a:t>，</a:t>
            </a:r>
            <a:r>
              <a:rPr lang="en-US" altLang="zh-CN" dirty="0"/>
              <a:t>Kent Beck</a:t>
            </a:r>
            <a:r>
              <a:rPr lang="zh-CN" altLang="en-US" dirty="0"/>
              <a:t>提出</a:t>
            </a:r>
            <a:endParaRPr lang="en-US" altLang="zh-CN" dirty="0"/>
          </a:p>
          <a:p>
            <a:pPr lvl="1"/>
            <a:r>
              <a:rPr lang="zh-CN" altLang="en-US" dirty="0"/>
              <a:t>把软件开发中所有</a:t>
            </a:r>
            <a:r>
              <a:rPr lang="zh-CN" altLang="en-US" dirty="0">
                <a:solidFill>
                  <a:srgbClr val="FFFF00"/>
                </a:solidFill>
              </a:rPr>
              <a:t>有益</a:t>
            </a:r>
            <a:r>
              <a:rPr lang="zh-CN" altLang="en-US" dirty="0"/>
              <a:t>的做法，都做到</a:t>
            </a:r>
            <a:r>
              <a:rPr lang="zh-CN" altLang="en-US" dirty="0">
                <a:solidFill>
                  <a:srgbClr val="FFFF00"/>
                </a:solidFill>
              </a:rPr>
              <a:t>极致</a:t>
            </a:r>
            <a:endParaRPr lang="en-US" altLang="zh-CN" dirty="0">
              <a:solidFill>
                <a:srgbClr val="FFFF00"/>
              </a:solidFill>
            </a:endParaRPr>
          </a:p>
          <a:p>
            <a:r>
              <a:rPr lang="zh-CN" altLang="en-US" dirty="0"/>
              <a:t>适用场景：需求不明确、变化极快、风险高、对</a:t>
            </a:r>
            <a:r>
              <a:rPr lang="zh-CN" altLang="en-US" dirty="0">
                <a:solidFill>
                  <a:srgbClr val="FFFF00"/>
                </a:solidFill>
              </a:rPr>
              <a:t>代码质量</a:t>
            </a:r>
            <a:r>
              <a:rPr lang="zh-CN" altLang="en-US" dirty="0"/>
              <a:t>要求高</a:t>
            </a:r>
            <a:endParaRPr lang="en-US" altLang="zh-CN" dirty="0"/>
          </a:p>
          <a:p>
            <a:endParaRPr lang="zh-CN" altLang="en-US" dirty="0"/>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dirty="0"/>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endParaRPr lang="zh-CN" altLang="en-US" dirty="0"/>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dirty="0"/>
              <a:t>13</a:t>
            </a:r>
            <a:r>
              <a:rPr lang="zh-CN" altLang="en-US" dirty="0"/>
              <a:t>个敏捷实践</a:t>
            </a:r>
            <a:endParaRPr lang="en-US" altLang="zh-CN" dirty="0"/>
          </a:p>
          <a:p>
            <a:pPr lvl="1"/>
            <a:r>
              <a:rPr lang="zh-CN" altLang="en-US" dirty="0"/>
              <a:t>统一团队</a:t>
            </a:r>
            <a:endParaRPr lang="en-US" altLang="zh-CN" dirty="0"/>
          </a:p>
          <a:p>
            <a:pPr lvl="1"/>
            <a:r>
              <a:rPr lang="zh-CN" altLang="en-US" dirty="0"/>
              <a:t>策划游戏</a:t>
            </a:r>
            <a:endParaRPr lang="en-US" altLang="zh-CN" dirty="0"/>
          </a:p>
          <a:p>
            <a:pPr lvl="1"/>
            <a:r>
              <a:rPr lang="zh-CN" altLang="en-US" dirty="0"/>
              <a:t>小型发布</a:t>
            </a:r>
            <a:endParaRPr lang="en-US" altLang="zh-CN" dirty="0"/>
          </a:p>
          <a:p>
            <a:pPr lvl="1"/>
            <a:r>
              <a:rPr lang="zh-CN" altLang="en-US" dirty="0"/>
              <a:t>客户验收</a:t>
            </a:r>
            <a:endParaRPr lang="en-US" altLang="zh-CN" dirty="0"/>
          </a:p>
          <a:p>
            <a:pPr lvl="1"/>
            <a:r>
              <a:rPr lang="zh-CN" altLang="en-US" dirty="0"/>
              <a:t>代码集体所有</a:t>
            </a:r>
            <a:endParaRPr lang="en-US" altLang="zh-CN" dirty="0"/>
          </a:p>
          <a:p>
            <a:pPr lvl="1"/>
            <a:r>
              <a:rPr lang="zh-CN" altLang="en-US" dirty="0"/>
              <a:t>编码标准</a:t>
            </a:r>
            <a:endParaRPr lang="en-US" altLang="zh-CN" dirty="0"/>
          </a:p>
          <a:p>
            <a:pPr lvl="1"/>
            <a:r>
              <a:rPr lang="zh-CN" altLang="en-US" dirty="0"/>
              <a:t>恒定速率</a:t>
            </a:r>
            <a:endParaRPr lang="en-US" altLang="zh-CN" dirty="0"/>
          </a:p>
          <a:p>
            <a:pPr lvl="1"/>
            <a:r>
              <a:rPr lang="zh-CN" altLang="en-US" dirty="0"/>
              <a:t>系统隐喻</a:t>
            </a:r>
            <a:endParaRPr lang="en-US" altLang="zh-CN" dirty="0"/>
          </a:p>
          <a:p>
            <a:pPr lvl="1"/>
            <a:r>
              <a:rPr lang="zh-CN" altLang="en-US" dirty="0"/>
              <a:t>持续集成</a:t>
            </a:r>
            <a:endParaRPr lang="en-US" altLang="zh-CN" dirty="0"/>
          </a:p>
          <a:p>
            <a:pPr lvl="1"/>
            <a:r>
              <a:rPr lang="zh-CN" altLang="en-US" dirty="0"/>
              <a:t>简单设计</a:t>
            </a:r>
            <a:endParaRPr lang="en-US" altLang="zh-CN" dirty="0"/>
          </a:p>
          <a:p>
            <a:pPr lvl="1"/>
            <a:r>
              <a:rPr lang="zh-CN" altLang="en-US" dirty="0"/>
              <a:t>结对编程</a:t>
            </a:r>
            <a:endParaRPr lang="en-US" altLang="zh-CN" dirty="0"/>
          </a:p>
          <a:p>
            <a:pPr lvl="1"/>
            <a:r>
              <a:rPr lang="zh-CN" altLang="en-US" dirty="0"/>
              <a:t>测试驱动开发</a:t>
            </a:r>
            <a:endParaRPr lang="en-US" altLang="zh-CN" dirty="0"/>
          </a:p>
          <a:p>
            <a:pPr lvl="1"/>
            <a:r>
              <a:rPr lang="zh-CN" altLang="en-US" dirty="0"/>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dirty="0"/>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endParaRPr lang="zh-CN" altLang="en-US" dirty="0"/>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dirty="0"/>
              <a:t>4</a:t>
            </a:r>
            <a:r>
              <a:rPr lang="zh-CN" altLang="en-US" dirty="0"/>
              <a:t>大价值观 </a:t>
            </a:r>
            <a:r>
              <a:rPr lang="en-US" altLang="zh-CN" dirty="0"/>
              <a:t>Values</a:t>
            </a:r>
          </a:p>
          <a:p>
            <a:pPr lvl="1"/>
            <a:r>
              <a:rPr lang="zh-CN" altLang="en-US" dirty="0"/>
              <a:t>沟通 </a:t>
            </a:r>
            <a:r>
              <a:rPr lang="en-US" altLang="zh-CN" dirty="0"/>
              <a:t>Communication</a:t>
            </a:r>
            <a:r>
              <a:rPr lang="zh-CN" altLang="en-US" dirty="0"/>
              <a:t>：面对面交流胜过文档。程序员必须结对，必须和客户坐在一起</a:t>
            </a:r>
          </a:p>
          <a:p>
            <a:pPr lvl="1"/>
            <a:r>
              <a:rPr lang="zh-CN" altLang="en-US" dirty="0"/>
              <a:t>简单 </a:t>
            </a:r>
            <a:r>
              <a:rPr lang="en-US" altLang="zh-CN" dirty="0"/>
              <a:t>Simplicity</a:t>
            </a:r>
            <a:r>
              <a:rPr lang="zh-CN" altLang="en-US" dirty="0"/>
              <a:t>：只做当前需要做的事；不要过度设计，不要为未来可能的需求写代码</a:t>
            </a:r>
          </a:p>
          <a:p>
            <a:pPr lvl="1"/>
            <a:r>
              <a:rPr lang="zh-CN" altLang="en-US" dirty="0"/>
              <a:t>反馈 </a:t>
            </a:r>
            <a:r>
              <a:rPr lang="en-US" altLang="zh-CN" dirty="0"/>
              <a:t>Feedback</a:t>
            </a:r>
            <a:r>
              <a:rPr lang="zh-CN" altLang="en-US" dirty="0"/>
              <a:t>：快速获得反馈。通过单元测试、持续集成、短迭代，立刻知道代码有没有错</a:t>
            </a:r>
          </a:p>
          <a:p>
            <a:pPr lvl="1"/>
            <a:r>
              <a:rPr lang="zh-CN" altLang="en-US" dirty="0"/>
              <a:t>勇气 </a:t>
            </a:r>
            <a:r>
              <a:rPr lang="en-US" altLang="zh-CN" dirty="0"/>
              <a:t>Courage</a:t>
            </a:r>
            <a:r>
              <a:rPr lang="zh-CN" altLang="en-US" dirty="0"/>
              <a:t>：敢于重构代码，敢于说“不”，敢于在发现错误时立刻停下来修复，而不是掩盖</a:t>
            </a:r>
          </a:p>
          <a:p>
            <a:pPr lvl="1"/>
            <a:r>
              <a:rPr lang="zh-CN" altLang="en-US" dirty="0"/>
              <a:t>尊重 </a:t>
            </a:r>
            <a:r>
              <a:rPr lang="en-US" altLang="zh-CN" dirty="0"/>
              <a:t>Respect</a:t>
            </a:r>
            <a:r>
              <a:rPr lang="zh-CN" altLang="en-US" dirty="0"/>
              <a:t>：</a:t>
            </a:r>
            <a:r>
              <a:rPr lang="en-US" altLang="zh-CN" dirty="0"/>
              <a:t>+</a:t>
            </a:r>
            <a:endParaRPr lang="zh-CN" altLang="en-US" dirty="0"/>
          </a:p>
          <a:p>
            <a:endParaRPr lang="zh-CN" altLang="en-US" dirty="0"/>
          </a:p>
          <a:p>
            <a:endParaRPr lang="zh-CN" altLang="en-US" dirty="0"/>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dirty="0"/>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dirty="0"/>
              <a:t>2.5.4.4 </a:t>
            </a:r>
            <a:r>
              <a:rPr lang="zh-CN" altLang="en-US" dirty="0"/>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dirty="0"/>
              <a:t>FDD</a:t>
            </a:r>
          </a:p>
          <a:p>
            <a:r>
              <a:rPr lang="en-US" altLang="zh-CN" dirty="0"/>
              <a:t>1990s</a:t>
            </a:r>
            <a:r>
              <a:rPr lang="zh-CN" altLang="en-US" dirty="0"/>
              <a:t>，</a:t>
            </a:r>
            <a:r>
              <a:rPr lang="en-US" altLang="zh-CN" dirty="0"/>
              <a:t>Jeff De Luca</a:t>
            </a:r>
            <a:r>
              <a:rPr lang="zh-CN" altLang="en-US" dirty="0"/>
              <a:t> 和 </a:t>
            </a:r>
            <a:r>
              <a:rPr lang="en-US" altLang="zh-CN" dirty="0"/>
              <a:t>Peter Coad</a:t>
            </a:r>
            <a:r>
              <a:rPr lang="zh-CN" altLang="en-US" dirty="0"/>
              <a:t> 提出</a:t>
            </a:r>
            <a:endParaRPr lang="en-US" altLang="zh-CN" dirty="0"/>
          </a:p>
          <a:p>
            <a:pPr lvl="1"/>
            <a:r>
              <a:rPr lang="zh-CN" altLang="en-US" dirty="0"/>
              <a:t>最初是为了解决大型银行系统（如新加坡大华银行）开发中遇到的复杂性和延期问题</a:t>
            </a:r>
            <a:endParaRPr lang="en-US" altLang="zh-CN" dirty="0"/>
          </a:p>
          <a:p>
            <a:r>
              <a:rPr lang="zh-CN" altLang="en-US" dirty="0"/>
              <a:t>主要目标是向客户提供及时更新且功能完善的软件</a:t>
            </a:r>
            <a:endParaRPr lang="en-US" altLang="zh-CN" dirty="0"/>
          </a:p>
          <a:p>
            <a:r>
              <a:rPr lang="zh-CN" altLang="en-US" dirty="0"/>
              <a:t>在</a:t>
            </a:r>
            <a:r>
              <a:rPr lang="en-US" altLang="zh-CN" dirty="0"/>
              <a:t>FDD</a:t>
            </a:r>
            <a:r>
              <a:rPr lang="zh-CN" altLang="en-US" dirty="0"/>
              <a:t>的所有级别，都需要进行报告和进度跟踪</a:t>
            </a:r>
            <a:endParaRPr lang="en-US" altLang="zh-CN" dirty="0"/>
          </a:p>
          <a:p>
            <a:r>
              <a:rPr lang="zh-CN" altLang="en-US" dirty="0"/>
              <a:t>设计和构建功能是此方法的核心</a:t>
            </a:r>
            <a:endParaRPr lang="en-US" altLang="zh-CN" dirty="0"/>
          </a:p>
          <a:p>
            <a:r>
              <a:rPr lang="en-US" altLang="zh-CN" dirty="0"/>
              <a:t>FDD</a:t>
            </a:r>
            <a:r>
              <a:rPr lang="zh-CN" altLang="en-US" dirty="0"/>
              <a:t>的生命周期：</a:t>
            </a:r>
          </a:p>
          <a:p>
            <a:pPr lvl="1"/>
            <a:r>
              <a:rPr lang="zh-CN" altLang="en-US" dirty="0"/>
              <a:t>构建整个模型 </a:t>
            </a:r>
            <a:r>
              <a:rPr lang="en-US" altLang="zh-CN" dirty="0"/>
              <a:t>- First of all entire model is built</a:t>
            </a:r>
          </a:p>
          <a:p>
            <a:pPr lvl="1"/>
            <a:r>
              <a:rPr lang="zh-CN" altLang="en-US" dirty="0"/>
              <a:t>模型完成后，准备特征列表 </a:t>
            </a:r>
            <a:r>
              <a:rPr lang="en-US" altLang="zh-CN" dirty="0"/>
              <a:t>- After the model is done, the feature list is prepared</a:t>
            </a:r>
          </a:p>
          <a:p>
            <a:pPr lvl="1"/>
            <a:r>
              <a:rPr lang="zh-CN" altLang="en-US" dirty="0"/>
              <a:t>然后根据功能制定计划 </a:t>
            </a:r>
            <a:r>
              <a:rPr lang="en-US" altLang="zh-CN" dirty="0"/>
              <a:t>- Then plan according to feature</a:t>
            </a:r>
          </a:p>
          <a:p>
            <a:pPr lvl="1"/>
            <a:r>
              <a:rPr lang="zh-CN" altLang="en-US" dirty="0"/>
              <a:t>根据特性设计 </a:t>
            </a:r>
            <a:r>
              <a:rPr lang="en-US" altLang="zh-CN" dirty="0"/>
              <a:t>- Design according to feature </a:t>
            </a:r>
          </a:p>
          <a:p>
            <a:pPr lvl="1"/>
            <a:r>
              <a:rPr lang="zh-CN" altLang="en-US" dirty="0"/>
              <a:t>最后根据功能构建 </a:t>
            </a:r>
            <a:r>
              <a:rPr lang="en-US" altLang="zh-CN" dirty="0"/>
              <a:t>- At last build according to feature</a:t>
            </a:r>
            <a:endParaRPr lang="zh-CN" altLang="en-US" dirty="0"/>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dirty="0"/>
              <a:t>Feature Driven Development</a:t>
            </a:r>
            <a:endParaRPr lang="zh-CN" altLang="en-US" dirty="0"/>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dirty="0"/>
              <a:t>2.5.4.4 </a:t>
            </a:r>
            <a:r>
              <a:rPr lang="zh-CN" altLang="en-US" dirty="0"/>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dirty="0">
                <a:solidFill>
                  <a:srgbClr val="FFFF00"/>
                </a:solidFill>
              </a:rPr>
              <a:t>特性</a:t>
            </a:r>
            <a:r>
              <a:rPr lang="zh-CN" altLang="en-US" dirty="0"/>
              <a:t>不是模糊的需求，而是一个小的、客户可见的、有价值的功能单元</a:t>
            </a:r>
            <a:endParaRPr lang="en-US" altLang="zh-CN" dirty="0"/>
          </a:p>
          <a:p>
            <a:r>
              <a:rPr lang="zh-CN" altLang="en-US" dirty="0"/>
              <a:t>不是“模块”，不是任务，更不是技术实现，而是</a:t>
            </a:r>
            <a:r>
              <a:rPr lang="zh-CN" altLang="en-US" b="1" dirty="0"/>
              <a:t>业务价值的最小交付切片</a:t>
            </a:r>
            <a:endParaRPr lang="en-US" altLang="zh-CN" dirty="0"/>
          </a:p>
          <a:p>
            <a:r>
              <a:rPr lang="zh-CN" altLang="en-US" dirty="0"/>
              <a:t>有一个严格的定义格式</a:t>
            </a:r>
            <a:endParaRPr lang="en-US" altLang="zh-CN" dirty="0"/>
          </a:p>
          <a:p>
            <a:pPr lvl="1"/>
            <a:r>
              <a:rPr lang="zh-CN" altLang="en-US" dirty="0"/>
              <a:t>动作 </a:t>
            </a:r>
            <a:r>
              <a:rPr lang="en-US" altLang="zh-CN" dirty="0"/>
              <a:t>Verb</a:t>
            </a:r>
            <a:r>
              <a:rPr lang="zh-CN" altLang="en-US" dirty="0"/>
              <a:t>：描述系统要执行的操作（如：计算、验证、生成、记录）。</a:t>
            </a:r>
          </a:p>
          <a:p>
            <a:pPr lvl="1"/>
            <a:r>
              <a:rPr lang="zh-CN" altLang="en-US" dirty="0"/>
              <a:t>结果 </a:t>
            </a:r>
            <a:r>
              <a:rPr lang="en-US" altLang="zh-CN" dirty="0"/>
              <a:t>Result</a:t>
            </a:r>
            <a:r>
              <a:rPr lang="zh-CN" altLang="en-US" dirty="0"/>
              <a:t>：描述操作产生的具体产出或状态变化。</a:t>
            </a:r>
          </a:p>
          <a:p>
            <a:pPr lvl="1"/>
            <a:r>
              <a:rPr lang="zh-CN" altLang="en-US" dirty="0"/>
              <a:t>对象 </a:t>
            </a:r>
            <a:r>
              <a:rPr lang="en-US" altLang="zh-CN" dirty="0"/>
              <a:t>Object</a:t>
            </a:r>
            <a:r>
              <a:rPr lang="zh-CN" altLang="en-US" dirty="0"/>
              <a:t>：描述操作针对的具体业务实体（如：订单、用户、报告）。</a:t>
            </a:r>
          </a:p>
          <a:p>
            <a:endParaRPr lang="zh-CN" altLang="en-US" dirty="0"/>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dirty="0"/>
              <a:t>Feature Driven Development</a:t>
            </a:r>
            <a:endParaRPr lang="zh-CN" altLang="en-US" dirty="0"/>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FFFF00"/>
                </a:solidFill>
              </a:rPr>
              <a:t>&lt;</a:t>
            </a:r>
            <a:r>
              <a:rPr lang="zh-CN" altLang="en-US" sz="2400" dirty="0">
                <a:solidFill>
                  <a:srgbClr val="FFFF00"/>
                </a:solidFill>
              </a:rPr>
              <a:t>动作</a:t>
            </a:r>
            <a:r>
              <a:rPr lang="en-US" altLang="zh-CN" sz="2400" dirty="0">
                <a:solidFill>
                  <a:srgbClr val="FFFF00"/>
                </a:solidFill>
              </a:rPr>
              <a:t>&gt; + &lt;</a:t>
            </a:r>
            <a:r>
              <a:rPr lang="zh-CN" altLang="en-US" sz="2400" dirty="0">
                <a:solidFill>
                  <a:srgbClr val="FFFF00"/>
                </a:solidFill>
              </a:rPr>
              <a:t>结果</a:t>
            </a:r>
            <a:r>
              <a:rPr lang="en-US" altLang="zh-CN" sz="2400" dirty="0">
                <a:solidFill>
                  <a:srgbClr val="FFFF00"/>
                </a:solidFill>
              </a:rPr>
              <a:t>&gt; + &lt;</a:t>
            </a:r>
            <a:r>
              <a:rPr lang="zh-CN" altLang="en-US" sz="2400" dirty="0">
                <a:solidFill>
                  <a:srgbClr val="FFFF00"/>
                </a:solidFill>
              </a:rPr>
              <a:t>对象</a:t>
            </a:r>
            <a:r>
              <a:rPr lang="en-US" altLang="zh-CN" sz="2400" dirty="0">
                <a:solidFill>
                  <a:srgbClr val="FFFF00"/>
                </a:solidFill>
              </a:rPr>
              <a:t>&gt;</a:t>
            </a:r>
            <a:br>
              <a:rPr lang="zh-CN" altLang="en-US" sz="2400" dirty="0">
                <a:solidFill>
                  <a:srgbClr val="FFFF00"/>
                </a:solidFill>
              </a:rPr>
            </a:br>
            <a:r>
              <a:rPr lang="en-US" altLang="zh-CN" sz="2400" dirty="0">
                <a:solidFill>
                  <a:srgbClr val="FFFF00"/>
                </a:solidFill>
              </a:rPr>
              <a:t>(Verb-Result-Object)</a:t>
            </a:r>
            <a:endParaRPr lang="zh-CN" altLang="en-US" sz="2400" dirty="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dirty="0"/>
              <a:t>2.5.4.4 </a:t>
            </a:r>
            <a:r>
              <a:rPr lang="zh-CN" altLang="en-US" dirty="0"/>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dirty="0"/>
              <a:t>银行系统的“登录”功能</a:t>
            </a:r>
          </a:p>
          <a:p>
            <a:endParaRPr lang="zh-CN" altLang="en-US" dirty="0"/>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dirty="0"/>
              <a:t>Feature Driven Development</a:t>
            </a:r>
            <a:endParaRPr lang="zh-CN" altLang="en-US" dirty="0"/>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dirty="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dirty="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编写登录界面的 </a:t>
                      </a:r>
                      <a:r>
                        <a:rPr lang="en-US" altLang="zh-CN" sz="1600" dirty="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dirty="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验证 </a:t>
                      </a:r>
                      <a:r>
                        <a:rPr lang="en-US" altLang="zh-CN" sz="1600" dirty="0">
                          <a:solidFill>
                            <a:schemeClr val="bg1"/>
                          </a:solidFill>
                        </a:rPr>
                        <a:t>(</a:t>
                      </a:r>
                      <a:r>
                        <a:rPr lang="zh-CN" altLang="en-US" sz="1600" dirty="0">
                          <a:solidFill>
                            <a:schemeClr val="bg1"/>
                          </a:solidFill>
                        </a:rPr>
                        <a:t>动作</a:t>
                      </a:r>
                      <a:r>
                        <a:rPr lang="en-US" altLang="zh-CN" sz="1600" dirty="0">
                          <a:solidFill>
                            <a:schemeClr val="bg1"/>
                          </a:solidFill>
                        </a:rPr>
                        <a:t>) </a:t>
                      </a:r>
                      <a:r>
                        <a:rPr lang="zh-CN" altLang="en-US" sz="1600" dirty="0">
                          <a:solidFill>
                            <a:schemeClr val="bg1"/>
                          </a:solidFill>
                        </a:rPr>
                        <a:t>用户输入的密码 </a:t>
                      </a:r>
                      <a:r>
                        <a:rPr lang="en-US" altLang="zh-CN" sz="1600" dirty="0">
                          <a:solidFill>
                            <a:schemeClr val="bg1"/>
                          </a:solidFill>
                        </a:rPr>
                        <a:t>(</a:t>
                      </a:r>
                      <a:r>
                        <a:rPr lang="zh-CN" altLang="en-US" sz="1600" dirty="0">
                          <a:solidFill>
                            <a:schemeClr val="bg1"/>
                          </a:solidFill>
                        </a:rPr>
                        <a:t>结果</a:t>
                      </a:r>
                      <a:r>
                        <a:rPr lang="en-US" altLang="zh-CN" sz="1600" dirty="0">
                          <a:solidFill>
                            <a:schemeClr val="bg1"/>
                          </a:solidFill>
                        </a:rPr>
                        <a:t>/</a:t>
                      </a:r>
                      <a:r>
                        <a:rPr lang="zh-CN" altLang="en-US" sz="1600" dirty="0">
                          <a:solidFill>
                            <a:schemeClr val="bg1"/>
                          </a:solidFill>
                        </a:rPr>
                        <a:t>对象</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dirty="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锁定 </a:t>
                      </a:r>
                      <a:r>
                        <a:rPr lang="en-US" altLang="zh-CN" sz="1600" dirty="0">
                          <a:solidFill>
                            <a:schemeClr val="bg1"/>
                          </a:solidFill>
                        </a:rPr>
                        <a:t>(</a:t>
                      </a:r>
                      <a:r>
                        <a:rPr lang="zh-CN" altLang="en-US" sz="1600" dirty="0">
                          <a:solidFill>
                            <a:schemeClr val="bg1"/>
                          </a:solidFill>
                        </a:rPr>
                        <a:t>动作</a:t>
                      </a:r>
                      <a:r>
                        <a:rPr lang="en-US" altLang="zh-CN" sz="1600" dirty="0">
                          <a:solidFill>
                            <a:schemeClr val="bg1"/>
                          </a:solidFill>
                        </a:rPr>
                        <a:t>) </a:t>
                      </a:r>
                      <a:r>
                        <a:rPr lang="zh-CN" altLang="en-US" sz="1600" dirty="0">
                          <a:solidFill>
                            <a:schemeClr val="bg1"/>
                          </a:solidFill>
                        </a:rPr>
                        <a:t>账户在 </a:t>
                      </a:r>
                      <a:r>
                        <a:rPr lang="en-US" altLang="zh-CN" sz="1600" dirty="0">
                          <a:solidFill>
                            <a:schemeClr val="bg1"/>
                          </a:solidFill>
                        </a:rPr>
                        <a:t>(</a:t>
                      </a:r>
                      <a:r>
                        <a:rPr lang="zh-CN" altLang="en-US" sz="1600" dirty="0">
                          <a:solidFill>
                            <a:schemeClr val="bg1"/>
                          </a:solidFill>
                        </a:rPr>
                        <a:t>结果</a:t>
                      </a:r>
                      <a:r>
                        <a:rPr lang="en-US" altLang="zh-CN" sz="1600" dirty="0">
                          <a:solidFill>
                            <a:schemeClr val="bg1"/>
                          </a:solidFill>
                        </a:rPr>
                        <a:t>) 5 </a:t>
                      </a:r>
                      <a:r>
                        <a:rPr lang="zh-CN" altLang="en-US" sz="1600" dirty="0">
                          <a:solidFill>
                            <a:schemeClr val="bg1"/>
                          </a:solidFill>
                        </a:rPr>
                        <a:t>次失败尝试后 </a:t>
                      </a:r>
                      <a:r>
                        <a:rPr lang="en-US" altLang="zh-CN" sz="1600" dirty="0">
                          <a:solidFill>
                            <a:schemeClr val="bg1"/>
                          </a:solidFill>
                        </a:rPr>
                        <a:t>(</a:t>
                      </a:r>
                      <a:r>
                        <a:rPr lang="zh-CN" altLang="en-US" sz="1600" dirty="0">
                          <a:solidFill>
                            <a:schemeClr val="bg1"/>
                          </a:solidFill>
                        </a:rPr>
                        <a:t>对象</a:t>
                      </a:r>
                      <a:r>
                        <a:rPr lang="en-US" altLang="zh-CN" sz="1600" dirty="0">
                          <a:solidFill>
                            <a:schemeClr val="bg1"/>
                          </a:solidFill>
                        </a:rPr>
                        <a:t>/</a:t>
                      </a:r>
                      <a:r>
                        <a:rPr lang="zh-CN" altLang="en-US" sz="1600" dirty="0">
                          <a:solidFill>
                            <a:schemeClr val="bg1"/>
                          </a:solidFill>
                        </a:rPr>
                        <a:t>条件</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dirty="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生成 </a:t>
                      </a:r>
                      <a:r>
                        <a:rPr lang="en-US" altLang="zh-CN" sz="1600" dirty="0">
                          <a:solidFill>
                            <a:schemeClr val="bg1"/>
                          </a:solidFill>
                        </a:rPr>
                        <a:t>(</a:t>
                      </a:r>
                      <a:r>
                        <a:rPr lang="zh-CN" altLang="en-US" sz="1600" dirty="0">
                          <a:solidFill>
                            <a:schemeClr val="bg1"/>
                          </a:solidFill>
                        </a:rPr>
                        <a:t>动作</a:t>
                      </a:r>
                      <a:r>
                        <a:rPr lang="en-US" altLang="zh-CN" sz="1600" dirty="0">
                          <a:solidFill>
                            <a:schemeClr val="bg1"/>
                          </a:solidFill>
                        </a:rPr>
                        <a:t>) </a:t>
                      </a:r>
                      <a:r>
                        <a:rPr lang="zh-CN" altLang="en-US" sz="1600" dirty="0">
                          <a:solidFill>
                            <a:schemeClr val="bg1"/>
                          </a:solidFill>
                        </a:rPr>
                        <a:t>临时登录会话令牌 </a:t>
                      </a:r>
                      <a:r>
                        <a:rPr lang="en-US" altLang="zh-CN" sz="1600" dirty="0">
                          <a:solidFill>
                            <a:schemeClr val="bg1"/>
                          </a:solidFill>
                        </a:rPr>
                        <a:t>(</a:t>
                      </a:r>
                      <a:r>
                        <a:rPr lang="zh-CN" altLang="en-US" sz="1600" dirty="0">
                          <a:solidFill>
                            <a:schemeClr val="bg1"/>
                          </a:solidFill>
                        </a:rPr>
                        <a:t>结果</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dirty="0"/>
              <a:t>2.5.4.5 </a:t>
            </a:r>
            <a:r>
              <a:rPr lang="zh-CN" altLang="en-US" dirty="0"/>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dirty="0"/>
              <a:t>1990s</a:t>
            </a:r>
            <a:r>
              <a:rPr lang="zh-CN" altLang="en-US" dirty="0"/>
              <a:t>，</a:t>
            </a:r>
            <a:r>
              <a:rPr lang="en-US" altLang="zh-CN" dirty="0"/>
              <a:t>Listair Cockburn</a:t>
            </a:r>
            <a:r>
              <a:rPr lang="zh-CN" altLang="en-US" dirty="0"/>
              <a:t>提出</a:t>
            </a:r>
            <a:endParaRPr lang="en-US" altLang="zh-CN" dirty="0"/>
          </a:p>
          <a:p>
            <a:r>
              <a:rPr lang="zh-CN" altLang="en-US" dirty="0"/>
              <a:t>方法论家族</a:t>
            </a:r>
            <a:endParaRPr lang="en-US" altLang="zh-CN" dirty="0"/>
          </a:p>
          <a:p>
            <a:r>
              <a:rPr lang="zh-CN" altLang="en-US" dirty="0"/>
              <a:t>是开发软件中最轻量级和灵活的方法之一</a:t>
            </a:r>
            <a:endParaRPr lang="en-US" altLang="zh-CN" dirty="0"/>
          </a:p>
          <a:p>
            <a:r>
              <a:rPr lang="zh-CN" altLang="en-US" dirty="0"/>
              <a:t>它由多个敏捷流程组成，包括清晰、水晶黄、水晶橙以及其他具有独特特征的方法</a:t>
            </a:r>
            <a:endParaRPr lang="en-US" altLang="zh-CN" dirty="0"/>
          </a:p>
          <a:p>
            <a:r>
              <a:rPr lang="zh-CN" altLang="en-US" dirty="0"/>
              <a:t>用水晶来比喻这个模型，有两层含义：</a:t>
            </a:r>
          </a:p>
          <a:p>
            <a:pPr lvl="1"/>
            <a:r>
              <a:rPr lang="zh-CN" altLang="en-US" dirty="0"/>
              <a:t>透明性：像水晶一样透明，强调团队内部的沟通清晰、可见</a:t>
            </a:r>
          </a:p>
          <a:p>
            <a:pPr lvl="1"/>
            <a:r>
              <a:rPr lang="zh-CN" altLang="en-US" dirty="0"/>
              <a:t>多面性：像水晶有多个切面一样，</a:t>
            </a:r>
            <a:r>
              <a:rPr lang="en-US" altLang="zh-CN" dirty="0"/>
              <a:t>Crystal </a:t>
            </a:r>
            <a:r>
              <a:rPr lang="zh-CN" altLang="en-US" dirty="0"/>
              <a:t>家族有多种颜色（变体），针对不同大小的项目</a:t>
            </a:r>
          </a:p>
          <a:p>
            <a:r>
              <a:rPr lang="zh-CN" altLang="en-US" dirty="0"/>
              <a:t>核心理念</a:t>
            </a:r>
          </a:p>
          <a:p>
            <a:pPr lvl="1"/>
            <a:r>
              <a:rPr lang="zh-CN" altLang="en-US" dirty="0"/>
              <a:t>方法和流程应该根据项目的规模 </a:t>
            </a:r>
            <a:r>
              <a:rPr lang="en-US" altLang="zh-CN" dirty="0"/>
              <a:t>Size</a:t>
            </a:r>
            <a:r>
              <a:rPr lang="zh-CN" altLang="en-US" dirty="0"/>
              <a:t>、团队人数和系统的关键性 </a:t>
            </a:r>
            <a:r>
              <a:rPr lang="en-US" altLang="zh-CN" dirty="0"/>
              <a:t>Criticality </a:t>
            </a:r>
            <a:r>
              <a:rPr lang="zh-CN" altLang="en-US" dirty="0"/>
              <a:t>进行量身定制</a:t>
            </a:r>
            <a:endParaRPr lang="en-US" altLang="zh-CN" dirty="0"/>
          </a:p>
          <a:p>
            <a:pPr lvl="1"/>
            <a:r>
              <a:rPr lang="zh-CN" altLang="en-US" dirty="0"/>
              <a:t>不能一刀切</a:t>
            </a:r>
            <a:endParaRPr lang="en-US" altLang="zh-CN" dirty="0"/>
          </a:p>
          <a:p>
            <a:r>
              <a:rPr lang="zh-CN" altLang="en-US" dirty="0"/>
              <a:t>强调：人及人与人之间的互动，比流程和工具更重要</a:t>
            </a:r>
            <a:endParaRPr lang="en-US" altLang="zh-CN" dirty="0"/>
          </a:p>
          <a:p>
            <a:pPr lvl="1"/>
            <a:endParaRPr lang="zh-CN" altLang="en-US" dirty="0"/>
          </a:p>
          <a:p>
            <a:endParaRPr lang="zh-CN" altLang="en-US" dirty="0"/>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dirty="0"/>
              <a:t>Crystal</a:t>
            </a:r>
            <a:endParaRPr lang="zh-CN" altLang="en-US" dirty="0"/>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dirty="0"/>
              <a:t>2.5.4.5 </a:t>
            </a:r>
            <a:r>
              <a:rPr lang="zh-CN" altLang="en-US" dirty="0"/>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dirty="0"/>
              <a:t>根据团队人数和系统失败后的后果（关键性），将方法分为不同的颜色</a:t>
            </a:r>
            <a:endParaRPr lang="en-US" altLang="zh-CN" dirty="0"/>
          </a:p>
          <a:p>
            <a:r>
              <a:rPr lang="zh-CN" altLang="en-US" dirty="0"/>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dirty="0"/>
              <a:t>Crystal</a:t>
            </a:r>
            <a:endParaRPr lang="zh-CN" altLang="en-US" dirty="0"/>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关键性 </a:t>
                      </a:r>
                      <a:r>
                        <a:rPr lang="en-US" sz="16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dirty="0">
                          <a:solidFill>
                            <a:schemeClr val="bg1"/>
                          </a:solidFill>
                        </a:rPr>
                        <a:t>Crystal Clear</a:t>
                      </a:r>
                      <a:br>
                        <a:rPr lang="en-US" sz="1600" dirty="0">
                          <a:solidFill>
                            <a:schemeClr val="bg1"/>
                          </a:solidFill>
                        </a:rPr>
                      </a:br>
                      <a:r>
                        <a:rPr lang="zh-CN" altLang="en-US" sz="1600" dirty="0">
                          <a:solidFill>
                            <a:schemeClr val="bg1"/>
                          </a:solidFill>
                        </a:rPr>
                        <a:t>透明水晶</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1 ~ 8 </a:t>
                      </a:r>
                      <a:r>
                        <a:rPr lang="zh-CN" altLang="en-US" sz="1600" dirty="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低 </a:t>
                      </a:r>
                      <a:r>
                        <a:rPr lang="en-US" altLang="zh-CN" sz="1600" dirty="0">
                          <a:solidFill>
                            <a:schemeClr val="bg1"/>
                          </a:solidFill>
                        </a:rPr>
                        <a:t>(</a:t>
                      </a:r>
                      <a:r>
                        <a:rPr lang="zh-CN" altLang="en-US" sz="1600" dirty="0">
                          <a:solidFill>
                            <a:schemeClr val="bg1"/>
                          </a:solidFill>
                        </a:rPr>
                        <a:t>舒适型</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最轻量级。几乎不需要文档，靠面对面沟通</a:t>
                      </a:r>
                      <a:endParaRPr lang="en-US" altLang="zh-CN" sz="1600" dirty="0">
                        <a:solidFill>
                          <a:schemeClr val="bg1"/>
                        </a:solidFill>
                      </a:endParaRPr>
                    </a:p>
                    <a:p>
                      <a:pPr algn="l">
                        <a:buNone/>
                      </a:pPr>
                      <a:r>
                        <a:rPr lang="zh-CN" altLang="en-US" sz="1600" dirty="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dirty="0">
                          <a:solidFill>
                            <a:schemeClr val="bg1"/>
                          </a:solidFill>
                        </a:rPr>
                        <a:t>Crystal Yellow</a:t>
                      </a:r>
                      <a:br>
                        <a:rPr lang="en-US" sz="1600" dirty="0">
                          <a:solidFill>
                            <a:schemeClr val="bg1"/>
                          </a:solidFill>
                        </a:rPr>
                      </a:br>
                      <a:r>
                        <a:rPr lang="zh-CN" altLang="en-US" sz="1600" dirty="0">
                          <a:solidFill>
                            <a:schemeClr val="bg1"/>
                          </a:solidFill>
                        </a:rPr>
                        <a:t>黄水晶</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10 ~ 20 </a:t>
                      </a:r>
                      <a:r>
                        <a:rPr lang="zh-CN" altLang="en-US" sz="1600" dirty="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中 </a:t>
                      </a:r>
                      <a:r>
                        <a:rPr lang="en-US" altLang="zh-CN" sz="1600" dirty="0">
                          <a:solidFill>
                            <a:schemeClr val="bg1"/>
                          </a:solidFill>
                        </a:rPr>
                        <a:t>(</a:t>
                      </a:r>
                      <a:r>
                        <a:rPr lang="zh-CN" altLang="en-US" sz="1600" dirty="0">
                          <a:solidFill>
                            <a:schemeClr val="bg1"/>
                          </a:solidFill>
                        </a:rPr>
                        <a:t>重要型</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需要少量的文档和定期的里程碑检查</a:t>
                      </a:r>
                      <a:endParaRPr lang="en-US" altLang="zh-CN" sz="1600" dirty="0">
                        <a:solidFill>
                          <a:schemeClr val="bg1"/>
                        </a:solidFill>
                      </a:endParaRPr>
                    </a:p>
                    <a:p>
                      <a:pPr algn="l">
                        <a:buNone/>
                      </a:pPr>
                      <a:r>
                        <a:rPr lang="zh-CN" altLang="en-US" sz="1600" dirty="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dirty="0">
                          <a:solidFill>
                            <a:schemeClr val="bg1"/>
                          </a:solidFill>
                        </a:rPr>
                        <a:t>Crystal Orange</a:t>
                      </a:r>
                      <a:br>
                        <a:rPr lang="en-US" sz="1600" dirty="0">
                          <a:solidFill>
                            <a:schemeClr val="bg1"/>
                          </a:solidFill>
                        </a:rPr>
                      </a:br>
                      <a:r>
                        <a:rPr lang="zh-CN" altLang="en-US" sz="1600" dirty="0">
                          <a:solidFill>
                            <a:schemeClr val="bg1"/>
                          </a:solidFill>
                        </a:rPr>
                        <a:t>橙水晶</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20 ~ 50 </a:t>
                      </a:r>
                      <a:r>
                        <a:rPr lang="zh-CN" altLang="en-US" sz="1600" dirty="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高 </a:t>
                      </a:r>
                      <a:r>
                        <a:rPr lang="en-US" altLang="zh-CN" sz="1600" dirty="0">
                          <a:solidFill>
                            <a:schemeClr val="bg1"/>
                          </a:solidFill>
                        </a:rPr>
                        <a:t>(</a:t>
                      </a:r>
                      <a:r>
                        <a:rPr lang="zh-CN" altLang="en-US" sz="1600" dirty="0">
                          <a:solidFill>
                            <a:schemeClr val="bg1"/>
                          </a:solidFill>
                        </a:rPr>
                        <a:t>关键型</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需要更正式的架构设计、详细的文档和严格的测试</a:t>
                      </a:r>
                      <a:endParaRPr lang="en-US" altLang="zh-CN" sz="1600" dirty="0">
                        <a:solidFill>
                          <a:schemeClr val="bg1"/>
                        </a:solidFill>
                      </a:endParaRPr>
                    </a:p>
                    <a:p>
                      <a:pPr algn="l">
                        <a:buNone/>
                      </a:pPr>
                      <a:r>
                        <a:rPr lang="zh-CN" altLang="en-US" sz="1600" dirty="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dirty="0">
                          <a:solidFill>
                            <a:schemeClr val="bg1"/>
                          </a:solidFill>
                        </a:rPr>
                        <a:t>Crystal Red</a:t>
                      </a:r>
                      <a:br>
                        <a:rPr lang="en-US" sz="1600" dirty="0">
                          <a:solidFill>
                            <a:schemeClr val="bg1"/>
                          </a:solidFill>
                        </a:rPr>
                      </a:br>
                      <a:r>
                        <a:rPr lang="zh-CN" altLang="en-US" sz="1600" dirty="0">
                          <a:solidFill>
                            <a:schemeClr val="bg1"/>
                          </a:solidFill>
                        </a:rPr>
                        <a:t>红水晶</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50 ~ 100 </a:t>
                      </a:r>
                      <a:r>
                        <a:rPr lang="zh-CN" altLang="en-US" sz="1600" dirty="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极高 </a:t>
                      </a:r>
                      <a:r>
                        <a:rPr lang="en-US" altLang="zh-CN" sz="1600" dirty="0">
                          <a:solidFill>
                            <a:schemeClr val="bg1"/>
                          </a:solidFill>
                        </a:rPr>
                        <a:t>(</a:t>
                      </a:r>
                      <a:r>
                        <a:rPr lang="zh-CN" altLang="en-US" sz="1600" dirty="0">
                          <a:solidFill>
                            <a:schemeClr val="bg1"/>
                          </a:solidFill>
                        </a:rPr>
                        <a:t>生命攸关</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非常严格，接近传统瀑布模型的严谨性，但保留敏捷迭代</a:t>
                      </a:r>
                      <a:endParaRPr lang="en-US" altLang="zh-CN" sz="1600" dirty="0">
                        <a:solidFill>
                          <a:schemeClr val="bg1"/>
                        </a:solidFill>
                      </a:endParaRPr>
                    </a:p>
                    <a:p>
                      <a:pPr algn="l">
                        <a:buNone/>
                      </a:pPr>
                      <a:r>
                        <a:rPr lang="zh-CN" altLang="en-US" sz="1600" dirty="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还有 </a:t>
                      </a:r>
                      <a:r>
                        <a:rPr lang="en-US" altLang="zh-CN" sz="1600" dirty="0">
                          <a:solidFill>
                            <a:schemeClr val="bg1"/>
                          </a:solidFill>
                        </a:rPr>
                        <a:t>Diamond (</a:t>
                      </a:r>
                      <a:r>
                        <a:rPr lang="zh-CN" altLang="en-US" sz="1600" dirty="0">
                          <a:solidFill>
                            <a:schemeClr val="bg1"/>
                          </a:solidFill>
                        </a:rPr>
                        <a:t>钻石</a:t>
                      </a:r>
                      <a:r>
                        <a:rPr lang="en-US" altLang="zh-CN" sz="1600" dirty="0">
                          <a:solidFill>
                            <a:schemeClr val="bg1"/>
                          </a:solidFill>
                        </a:rPr>
                        <a:t>) </a:t>
                      </a:r>
                      <a:r>
                        <a:rPr lang="zh-CN" altLang="en-US" sz="1600" dirty="0">
                          <a:solidFill>
                            <a:schemeClr val="bg1"/>
                          </a:solidFill>
                        </a:rPr>
                        <a:t>等更重的变体</a:t>
                      </a:r>
                      <a:endParaRPr lang="en-US" altLang="zh-CN" sz="1600" dirty="0">
                        <a:solidFill>
                          <a:schemeClr val="bg1"/>
                        </a:solidFill>
                      </a:endParaRPr>
                    </a:p>
                    <a:p>
                      <a:pPr algn="l">
                        <a:buNone/>
                      </a:pPr>
                      <a:r>
                        <a:rPr lang="zh-CN" altLang="en-US" sz="1600" dirty="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dirty="0">
                          <a:solidFill>
                            <a:schemeClr val="bg1"/>
                          </a:solidFill>
                        </a:rPr>
                        <a:t>XP</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dirty="0">
                          <a:solidFill>
                            <a:schemeClr val="bg1"/>
                          </a:solidFill>
                        </a:rPr>
                        <a:t>Crystal</a:t>
                      </a:r>
                      <a:endParaRPr lang="en-US" altLang="zh-CN"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流程框架 </a:t>
                      </a:r>
                      <a:r>
                        <a:rPr lang="en-US" altLang="zh-CN" sz="1600" dirty="0">
                          <a:solidFill>
                            <a:schemeClr val="bg1"/>
                          </a:solidFill>
                        </a:rPr>
                        <a:t>(</a:t>
                      </a:r>
                      <a:r>
                        <a:rPr lang="zh-CN" altLang="en-US" sz="1600" dirty="0">
                          <a:solidFill>
                            <a:schemeClr val="bg1"/>
                          </a:solidFill>
                        </a:rPr>
                        <a:t>角色、会议、工件</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工程实践 </a:t>
                      </a:r>
                      <a:r>
                        <a:rPr lang="en-US" altLang="zh-CN" sz="1600" dirty="0">
                          <a:solidFill>
                            <a:schemeClr val="bg1"/>
                          </a:solidFill>
                        </a:rPr>
                        <a:t>(</a:t>
                      </a:r>
                      <a:r>
                        <a:rPr lang="zh-CN" altLang="en-US" sz="1600" dirty="0">
                          <a:solidFill>
                            <a:schemeClr val="bg1"/>
                          </a:solidFill>
                        </a:rPr>
                        <a:t>结对编程、</a:t>
                      </a:r>
                      <a:r>
                        <a:rPr lang="en-US" altLang="zh-CN" sz="1600" dirty="0">
                          <a:solidFill>
                            <a:schemeClr val="bg1"/>
                          </a:solidFill>
                        </a:rPr>
                        <a:t>TDD</a:t>
                      </a:r>
                      <a:r>
                        <a:rPr lang="zh-CN" altLang="en-US" sz="1600" dirty="0">
                          <a:solidFill>
                            <a:schemeClr val="bg1"/>
                          </a:solidFill>
                        </a:rPr>
                        <a:t>、重构</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人与沟通 </a:t>
                      </a:r>
                      <a:r>
                        <a:rPr lang="en-US" altLang="zh-CN" sz="1600" dirty="0">
                          <a:solidFill>
                            <a:schemeClr val="bg1"/>
                          </a:solidFill>
                        </a:rPr>
                        <a:t>(</a:t>
                      </a:r>
                      <a:r>
                        <a:rPr lang="zh-CN" altLang="en-US" sz="1600" dirty="0">
                          <a:solidFill>
                            <a:schemeClr val="bg1"/>
                          </a:solidFill>
                        </a:rPr>
                        <a:t>根据情境调整</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dirty="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中等 </a:t>
                      </a:r>
                      <a:r>
                        <a:rPr lang="en-US" altLang="zh-CN" sz="1600" dirty="0">
                          <a:solidFill>
                            <a:schemeClr val="bg1"/>
                          </a:solidFill>
                        </a:rPr>
                        <a:t>(</a:t>
                      </a:r>
                      <a:r>
                        <a:rPr lang="zh-CN" altLang="en-US" sz="1600" dirty="0">
                          <a:solidFill>
                            <a:schemeClr val="bg1"/>
                          </a:solidFill>
                        </a:rPr>
                        <a:t>规则相对固定</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低 </a:t>
                      </a:r>
                      <a:r>
                        <a:rPr lang="en-US" altLang="zh-CN" sz="1600" dirty="0">
                          <a:solidFill>
                            <a:schemeClr val="bg1"/>
                          </a:solidFill>
                        </a:rPr>
                        <a:t>(</a:t>
                      </a:r>
                      <a:r>
                        <a:rPr lang="zh-CN" altLang="en-US" sz="1600" dirty="0">
                          <a:solidFill>
                            <a:schemeClr val="bg1"/>
                          </a:solidFill>
                        </a:rPr>
                        <a:t>必须遵守严格的技术实践</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极高 </a:t>
                      </a:r>
                      <a:r>
                        <a:rPr lang="en-US" altLang="zh-CN" sz="1600" dirty="0">
                          <a:solidFill>
                            <a:schemeClr val="bg1"/>
                          </a:solidFill>
                        </a:rPr>
                        <a:t>(</a:t>
                      </a:r>
                      <a:r>
                        <a:rPr lang="zh-CN" altLang="en-US" sz="1600" dirty="0">
                          <a:solidFill>
                            <a:schemeClr val="bg1"/>
                          </a:solidFill>
                        </a:rPr>
                        <a:t>没有固定规则，按需定制</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dirty="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dirty="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适中 </a:t>
                      </a:r>
                      <a:r>
                        <a:rPr lang="en-US" altLang="zh-CN" sz="1600" dirty="0">
                          <a:solidFill>
                            <a:schemeClr val="bg1"/>
                          </a:solidFill>
                        </a:rPr>
                        <a:t>(</a:t>
                      </a:r>
                      <a:r>
                        <a:rPr lang="en-US" sz="1600" dirty="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低 </a:t>
                      </a:r>
                      <a:r>
                        <a:rPr lang="en-US" altLang="zh-CN" sz="1600" dirty="0">
                          <a:solidFill>
                            <a:schemeClr val="bg1"/>
                          </a:solidFill>
                        </a:rPr>
                        <a:t>(</a:t>
                      </a:r>
                      <a:r>
                        <a:rPr lang="zh-CN" altLang="en-US" sz="1600" dirty="0">
                          <a:solidFill>
                            <a:schemeClr val="bg1"/>
                          </a:solidFill>
                        </a:rPr>
                        <a:t>代码即文档</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动态调整 </a:t>
                      </a:r>
                      <a:r>
                        <a:rPr lang="en-US" altLang="zh-CN" sz="1600" dirty="0">
                          <a:solidFill>
                            <a:schemeClr val="bg1"/>
                          </a:solidFill>
                        </a:rPr>
                        <a:t>(Clear </a:t>
                      </a:r>
                      <a:r>
                        <a:rPr lang="zh-CN" altLang="en-US" sz="1600" dirty="0">
                          <a:solidFill>
                            <a:schemeClr val="bg1"/>
                          </a:solidFill>
                        </a:rPr>
                        <a:t>几乎无文档，</a:t>
                      </a:r>
                      <a:r>
                        <a:rPr lang="en-US" altLang="zh-CN" sz="1600" dirty="0">
                          <a:solidFill>
                            <a:schemeClr val="bg1"/>
                          </a:solidFill>
                        </a:rPr>
                        <a:t>Red </a:t>
                      </a:r>
                      <a:r>
                        <a:rPr lang="zh-CN" altLang="en-US" sz="1600" dirty="0">
                          <a:solidFill>
                            <a:schemeClr val="bg1"/>
                          </a:solidFill>
                        </a:rPr>
                        <a:t>大量文档</a:t>
                      </a:r>
                      <a:r>
                        <a:rPr lang="en-US" altLang="zh-CN" sz="1600" dirty="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dirty="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dirty="0"/>
              <a:t>2.6 </a:t>
            </a:r>
            <a:r>
              <a:rPr lang="zh-CN" altLang="en-US" dirty="0"/>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a:t>
            </a:r>
            <a:r>
              <a:rPr lang="en-US" altLang="zh-CN" b="1" dirty="0">
                <a:solidFill>
                  <a:srgbClr val="FFFF00"/>
                </a:solidFill>
              </a:rPr>
              <a:t>framework</a:t>
            </a:r>
            <a:r>
              <a:rPr lang="en-US" altLang="zh-CN" dirty="0"/>
              <a:t>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dirty="0"/>
              <a:t>Scrum</a:t>
            </a:r>
            <a:endParaRPr lang="zh-CN" altLang="en-US" dirty="0"/>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dirty="0"/>
              <a:t>2.6.1 </a:t>
            </a:r>
            <a:r>
              <a:rPr lang="zh-CN" altLang="en-US" dirty="0"/>
              <a:t>敏捷理念 </a:t>
            </a:r>
            <a:r>
              <a:rPr lang="en-US" altLang="zh-CN" dirty="0"/>
              <a:t>Scrum Theory</a:t>
            </a:r>
            <a:endParaRPr lang="zh-CN" altLang="en-US" dirty="0"/>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a:t>
            </a:r>
            <a:r>
              <a:rPr lang="en-US" altLang="zh-CN" b="1" dirty="0">
                <a:solidFill>
                  <a:srgbClr val="FFFF00"/>
                </a:solidFill>
              </a:rPr>
              <a:t>visible</a:t>
            </a:r>
            <a:r>
              <a:rPr lang="en-US" altLang="zh-CN" dirty="0"/>
              <a:t>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a:t>
            </a:r>
            <a:r>
              <a:rPr lang="en-US" altLang="zh-CN" b="1" dirty="0">
                <a:solidFill>
                  <a:srgbClr val="FFFF00"/>
                </a:solidFill>
              </a:rPr>
              <a:t>frequently</a:t>
            </a:r>
            <a:r>
              <a:rPr lang="en-US" altLang="zh-CN" dirty="0"/>
              <a:t> and </a:t>
            </a:r>
            <a:r>
              <a:rPr lang="en-US" altLang="zh-CN" b="1" dirty="0">
                <a:solidFill>
                  <a:srgbClr val="FFFF00"/>
                </a:solidFill>
              </a:rPr>
              <a:t>diligently</a:t>
            </a:r>
            <a:r>
              <a:rPr lang="en-US" altLang="zh-CN" dirty="0"/>
              <a:t>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a:t>
            </a:r>
            <a:r>
              <a:rPr lang="en-US" altLang="zh-CN" b="1" dirty="0">
                <a:solidFill>
                  <a:srgbClr val="FFFF00"/>
                </a:solidFill>
              </a:rPr>
              <a:t>deviate</a:t>
            </a:r>
            <a:r>
              <a:rPr lang="en-US" altLang="zh-CN" dirty="0"/>
              <a:t> outside acceptable limits</a:t>
            </a:r>
          </a:p>
          <a:p>
            <a:pPr lvl="1"/>
            <a:r>
              <a:rPr lang="en-US" altLang="zh-CN" dirty="0"/>
              <a:t>Case2</a:t>
            </a:r>
            <a:r>
              <a:rPr lang="zh-CN" altLang="en-US" dirty="0"/>
              <a:t>：</a:t>
            </a:r>
            <a:r>
              <a:rPr lang="en-US" altLang="zh-CN" dirty="0"/>
              <a:t>the resulting product is </a:t>
            </a:r>
            <a:r>
              <a:rPr lang="en-US" altLang="zh-CN" b="1" dirty="0">
                <a:solidFill>
                  <a:srgbClr val="FFFF00"/>
                </a:solidFill>
              </a:rPr>
              <a:t>unacceptable</a:t>
            </a:r>
          </a:p>
          <a:p>
            <a:pPr lvl="1"/>
            <a:r>
              <a:rPr lang="en-US" altLang="zh-CN" dirty="0"/>
              <a:t>Case3</a:t>
            </a:r>
            <a:r>
              <a:rPr lang="zh-CN" altLang="en-US" dirty="0"/>
              <a:t>：</a:t>
            </a:r>
            <a:r>
              <a:rPr lang="en-US" altLang="zh-CN" dirty="0"/>
              <a:t>expected to adapt </a:t>
            </a:r>
            <a:r>
              <a:rPr lang="en-US" altLang="zh-CN" b="1" dirty="0">
                <a:solidFill>
                  <a:srgbClr val="FFFF00"/>
                </a:solidFill>
              </a:rPr>
              <a:t>the</a:t>
            </a:r>
            <a:r>
              <a:rPr lang="en-US" altLang="zh-CN" dirty="0"/>
              <a:t> </a:t>
            </a:r>
            <a:r>
              <a:rPr lang="en-US" altLang="zh-CN" b="1" dirty="0">
                <a:solidFill>
                  <a:srgbClr val="FFFF00"/>
                </a:solidFill>
              </a:rPr>
              <a:t>moment</a:t>
            </a:r>
            <a:r>
              <a:rPr lang="en-US" altLang="zh-CN" dirty="0"/>
              <a:t> it learns anything new through inspection</a:t>
            </a:r>
            <a:endParaRPr lang="en-US" altLang="zh-CN" b="1" dirty="0">
              <a:solidFill>
                <a:srgbClr val="FF0000"/>
              </a:solidFill>
            </a:endParaRPr>
          </a:p>
          <a:p>
            <a:pPr lvl="1"/>
            <a:r>
              <a:rPr lang="en-US" altLang="zh-CN" dirty="0"/>
              <a:t>becomes more difficult when the people involved are </a:t>
            </a:r>
            <a:r>
              <a:rPr lang="en-US" altLang="zh-CN" b="1" dirty="0">
                <a:solidFill>
                  <a:srgbClr val="FFFF00"/>
                </a:solidFill>
              </a:rPr>
              <a:t>not</a:t>
            </a:r>
            <a:r>
              <a:rPr lang="en-US" altLang="zh-CN" dirty="0"/>
              <a: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dirty="0"/>
              <a:t>2.6.1 </a:t>
            </a:r>
            <a:r>
              <a:rPr lang="zh-CN" altLang="en-US" dirty="0"/>
              <a:t>敏捷理念 </a:t>
            </a:r>
            <a:r>
              <a:rPr lang="en-US" altLang="zh-CN" dirty="0"/>
              <a:t>Scrum Theory</a:t>
            </a:r>
            <a:endParaRPr lang="zh-CN" altLang="en-US" dirty="0"/>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dirty="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dirty="0">
                  <a:solidFill>
                    <a:schemeClr val="bg1"/>
                  </a:solidFill>
                </a:rPr>
                <a:t>工作项（如 </a:t>
              </a:r>
              <a:r>
                <a:rPr lang="en-US" altLang="zh-CN" sz="1600" dirty="0">
                  <a:solidFill>
                    <a:schemeClr val="bg1"/>
                  </a:solidFill>
                </a:rPr>
                <a:t>Product Backlog</a:t>
              </a:r>
              <a:r>
                <a:rPr lang="zh-CN" altLang="en-US" sz="1600" dirty="0">
                  <a:solidFill>
                    <a:schemeClr val="bg1"/>
                  </a:solidFill>
                </a:rPr>
                <a:t>）的内容、状态和优先级必须公开</a:t>
              </a:r>
            </a:p>
            <a:p>
              <a:pPr marL="285750" indent="-285750" algn="just">
                <a:buFont typeface="Arial" panose="020B0604020202020204" pitchFamily="34" charset="0"/>
                <a:buChar char="•"/>
              </a:pPr>
              <a:r>
                <a:rPr lang="zh-CN" altLang="en-US" sz="1600" dirty="0">
                  <a:solidFill>
                    <a:schemeClr val="bg1"/>
                  </a:solidFill>
                </a:rPr>
                <a:t>团队使用统一的术语（如完成定义 </a:t>
              </a:r>
              <a:r>
                <a:rPr lang="en-US" altLang="zh-CN" sz="1600" dirty="0">
                  <a:solidFill>
                    <a:schemeClr val="bg1"/>
                  </a:solidFill>
                </a:rPr>
                <a:t>- Definition of Done</a:t>
              </a:r>
              <a:r>
                <a:rPr lang="zh-CN" altLang="en-US" sz="1600" dirty="0">
                  <a:solidFill>
                    <a:schemeClr val="bg1"/>
                  </a:solidFill>
                </a:rPr>
                <a:t>）</a:t>
              </a:r>
            </a:p>
            <a:p>
              <a:pPr marL="285750" indent="-285750" algn="just">
                <a:buFont typeface="Arial" panose="020B0604020202020204" pitchFamily="34" charset="0"/>
                <a:buChar char="•"/>
              </a:pPr>
              <a:r>
                <a:rPr lang="zh-CN" altLang="en-US" sz="1600" dirty="0">
                  <a:solidFill>
                    <a:schemeClr val="bg1"/>
                  </a:solidFill>
                </a:rPr>
                <a:t>进度通过可视化工具（如 </a:t>
              </a:r>
              <a:r>
                <a:rPr lang="en-US" altLang="zh-CN" sz="1600" dirty="0">
                  <a:solidFill>
                    <a:schemeClr val="bg1"/>
                  </a:solidFill>
                </a:rPr>
                <a:t>Sprint Burndown Chart</a:t>
              </a:r>
              <a:r>
                <a:rPr lang="zh-CN" altLang="en-US" sz="1600" dirty="0">
                  <a:solidFill>
                    <a:schemeClr val="bg1"/>
                  </a:solidFill>
                </a:rPr>
                <a:t>、看板）展示</a:t>
              </a:r>
            </a:p>
            <a:p>
              <a:pPr marL="285750" indent="-285750" algn="just">
                <a:buFont typeface="Arial" panose="020B0604020202020204" pitchFamily="34" charset="0"/>
                <a:buChar char="•"/>
              </a:pPr>
              <a:r>
                <a:rPr lang="zh-CN" altLang="en-US" sz="1600" dirty="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t>透明性 </a:t>
              </a:r>
              <a:r>
                <a:rPr lang="en-US" altLang="zh-CN" sz="1600" dirty="0"/>
                <a:t>Transparency</a:t>
              </a:r>
              <a:endParaRPr lang="zh-CN" altLang="en-US" sz="1600" dirty="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dirty="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dirty="0">
                  <a:solidFill>
                    <a:schemeClr val="bg1"/>
                  </a:solidFill>
                </a:rPr>
                <a:t>如果发现产品方向偏离，可在下个 </a:t>
              </a:r>
              <a:r>
                <a:rPr lang="en-US" altLang="zh-CN" sz="1600" dirty="0">
                  <a:solidFill>
                    <a:schemeClr val="bg1"/>
                  </a:solidFill>
                </a:rPr>
                <a:t>Sprint </a:t>
              </a:r>
              <a:r>
                <a:rPr lang="zh-CN" altLang="en-US" sz="1600" dirty="0">
                  <a:solidFill>
                    <a:schemeClr val="bg1"/>
                  </a:solidFill>
                </a:rPr>
                <a:t>调整 </a:t>
              </a:r>
              <a:r>
                <a:rPr lang="en-US" altLang="zh-CN" sz="1600" dirty="0">
                  <a:solidFill>
                    <a:schemeClr val="bg1"/>
                  </a:solidFill>
                </a:rPr>
                <a:t>Backlog</a:t>
              </a:r>
              <a:endParaRPr lang="zh-CN" altLang="en-US" sz="1600" dirty="0">
                <a:solidFill>
                  <a:schemeClr val="bg1"/>
                </a:solidFill>
              </a:endParaRPr>
            </a:p>
            <a:p>
              <a:pPr marL="285750" indent="-285750" algn="just">
                <a:buFont typeface="Arial" panose="020B0604020202020204" pitchFamily="34" charset="0"/>
                <a:buChar char="•"/>
              </a:pPr>
              <a:r>
                <a:rPr lang="zh-CN" altLang="en-US" sz="1600" dirty="0">
                  <a:solidFill>
                    <a:schemeClr val="bg1"/>
                  </a:solidFill>
                </a:rPr>
                <a:t>如果流程效率低，可在 </a:t>
              </a:r>
              <a:r>
                <a:rPr lang="en-US" altLang="zh-CN" sz="1600" dirty="0">
                  <a:solidFill>
                    <a:schemeClr val="bg1"/>
                  </a:solidFill>
                </a:rPr>
                <a:t>Retrospective </a:t>
              </a:r>
              <a:r>
                <a:rPr lang="zh-CN" altLang="en-US" sz="1600" dirty="0">
                  <a:solidFill>
                    <a:schemeClr val="bg1"/>
                  </a:solidFill>
                </a:rPr>
                <a:t>后改进工作方式</a:t>
              </a:r>
            </a:p>
            <a:p>
              <a:pPr marL="285750" indent="-285750" algn="just">
                <a:buFont typeface="Arial" panose="020B0604020202020204" pitchFamily="34" charset="0"/>
                <a:buChar char="•"/>
              </a:pPr>
              <a:r>
                <a:rPr lang="zh-CN" altLang="en-US" sz="1600" dirty="0">
                  <a:solidFill>
                    <a:schemeClr val="bg1"/>
                  </a:solidFill>
                </a:rPr>
                <a:t>适应必须在可接受的时间窗口内发生（通常在下一个 </a:t>
              </a:r>
              <a:r>
                <a:rPr lang="en-US" altLang="zh-CN" sz="1600" dirty="0">
                  <a:solidFill>
                    <a:schemeClr val="bg1"/>
                  </a:solidFill>
                </a:rPr>
                <a:t>Sprint </a:t>
              </a:r>
              <a:r>
                <a:rPr lang="zh-CN" altLang="en-US" sz="1600" dirty="0">
                  <a:solidFill>
                    <a:schemeClr val="bg1"/>
                  </a:solidFill>
                </a:rPr>
                <a:t>开始前）</a:t>
              </a:r>
            </a:p>
            <a:p>
              <a:pPr marL="285750" indent="-285750" algn="just">
                <a:buFont typeface="Arial" panose="020B0604020202020204" pitchFamily="34" charset="0"/>
                <a:buChar char="•"/>
              </a:pPr>
              <a:r>
                <a:rPr lang="zh-CN" altLang="en-US" sz="1600" dirty="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t>适应 </a:t>
              </a:r>
              <a:r>
                <a:rPr lang="en-US" altLang="zh-CN" sz="1600" dirty="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dirty="0">
                  <a:solidFill>
                    <a:schemeClr val="bg1"/>
                  </a:solidFill>
                </a:rPr>
                <a:t>Scrum </a:t>
              </a:r>
              <a:r>
                <a:rPr lang="zh-CN" altLang="en-US" sz="1600" dirty="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dirty="0">
                  <a:solidFill>
                    <a:schemeClr val="bg1"/>
                  </a:solidFill>
                </a:rPr>
                <a:t>在固定时间点进行：</a:t>
              </a:r>
            </a:p>
            <a:p>
              <a:pPr marL="285750" indent="-285750" algn="just">
                <a:buFont typeface="Arial" panose="020B0604020202020204" pitchFamily="34" charset="0"/>
                <a:buChar char="•"/>
              </a:pPr>
              <a:r>
                <a:rPr lang="en-US" altLang="zh-CN" sz="1600" dirty="0">
                  <a:solidFill>
                    <a:schemeClr val="bg1"/>
                  </a:solidFill>
                </a:rPr>
                <a:t>Daily Scrum</a:t>
              </a:r>
              <a:r>
                <a:rPr lang="zh-CN" altLang="en-US" sz="1600" dirty="0">
                  <a:solidFill>
                    <a:schemeClr val="bg1"/>
                  </a:solidFill>
                </a:rPr>
                <a:t>：每日检视进度与障碍</a:t>
              </a:r>
            </a:p>
            <a:p>
              <a:pPr marL="285750" indent="-285750" algn="just">
                <a:buFont typeface="Arial" panose="020B0604020202020204" pitchFamily="34" charset="0"/>
                <a:buChar char="•"/>
              </a:pPr>
              <a:r>
                <a:rPr lang="en-US" altLang="zh-CN" sz="1600" dirty="0">
                  <a:solidFill>
                    <a:schemeClr val="bg1"/>
                  </a:solidFill>
                </a:rPr>
                <a:t>Sprint Review</a:t>
              </a:r>
              <a:r>
                <a:rPr lang="zh-CN" altLang="en-US" sz="1600" dirty="0">
                  <a:solidFill>
                    <a:schemeClr val="bg1"/>
                  </a:solidFill>
                </a:rPr>
                <a:t>：检视可交付成果是否满足目标</a:t>
              </a:r>
            </a:p>
            <a:p>
              <a:pPr marL="285750" indent="-285750" algn="just">
                <a:buFont typeface="Arial" panose="020B0604020202020204" pitchFamily="34" charset="0"/>
                <a:buChar char="•"/>
              </a:pPr>
              <a:r>
                <a:rPr lang="en-US" altLang="zh-CN" sz="1600" dirty="0">
                  <a:solidFill>
                    <a:schemeClr val="bg1"/>
                  </a:solidFill>
                </a:rPr>
                <a:t>Sprint Retrospective</a:t>
              </a:r>
              <a:r>
                <a:rPr lang="zh-CN" altLang="en-US" sz="1600" dirty="0">
                  <a:solidFill>
                    <a:schemeClr val="bg1"/>
                  </a:solidFill>
                </a:rPr>
                <a:t>：检视流程与协作方式</a:t>
              </a:r>
            </a:p>
            <a:p>
              <a:pPr marL="285750" indent="-285750" algn="just">
                <a:buFont typeface="Arial" panose="020B0604020202020204" pitchFamily="34" charset="0"/>
                <a:buChar char="•"/>
              </a:pPr>
              <a:r>
                <a:rPr lang="zh-CN" altLang="en-US" sz="1600" dirty="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dirty="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dirty="0"/>
              <a:t>2.6.2 </a:t>
            </a:r>
            <a:r>
              <a:rPr lang="zh-CN" altLang="en-US" dirty="0"/>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dirty="0"/>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dirty="0">
                          <a:solidFill>
                            <a:schemeClr val="bg1"/>
                          </a:solidFill>
                        </a:rPr>
                        <a:t>5</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bg1"/>
                          </a:solidFill>
                        </a:rPr>
                        <a:t>价值观 </a:t>
                      </a:r>
                      <a:r>
                        <a:rPr lang="en-US" altLang="zh-CN" sz="1600" dirty="0">
                          <a:solidFill>
                            <a:schemeClr val="bg1"/>
                          </a:solidFill>
                        </a:rPr>
                        <a:t>Values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承诺 </a:t>
                      </a:r>
                      <a:r>
                        <a:rPr lang="en-US" altLang="zh-CN" sz="1600" dirty="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专注 </a:t>
                      </a:r>
                      <a:r>
                        <a:rPr lang="en-US" altLang="zh-CN" sz="1600" dirty="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开放</a:t>
                      </a:r>
                      <a:r>
                        <a:rPr lang="en-US" altLang="zh-CN" sz="1600" dirty="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尊重</a:t>
                      </a:r>
                      <a:r>
                        <a:rPr lang="en-US" altLang="zh-CN" sz="1600" dirty="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勇气</a:t>
                      </a:r>
                      <a:r>
                        <a:rPr lang="en-US" altLang="zh-CN" sz="1600" dirty="0">
                          <a:solidFill>
                            <a:schemeClr val="bg1"/>
                          </a:solidFill>
                        </a:rPr>
                        <a:t> Courage</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bg1"/>
                          </a:solidFill>
                        </a:rPr>
                        <a:t>团队 </a:t>
                      </a:r>
                      <a:r>
                        <a:rPr lang="en-US" altLang="zh-CN" sz="1600" dirty="0">
                          <a:solidFill>
                            <a:schemeClr val="bg1"/>
                          </a:solidFill>
                        </a:rPr>
                        <a:t>Team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开发者 </a:t>
                      </a:r>
                      <a:r>
                        <a:rPr lang="en-US" altLang="zh-CN" sz="1600" dirty="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产品负责人 </a:t>
                      </a:r>
                      <a:r>
                        <a:rPr lang="en-US" altLang="zh-CN" sz="1600" dirty="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敏捷教练 </a:t>
                      </a:r>
                      <a:r>
                        <a:rPr lang="en-US" altLang="zh-CN" sz="1600" dirty="0">
                          <a:solidFill>
                            <a:schemeClr val="bg1"/>
                          </a:solidFill>
                        </a:rPr>
                        <a:t>Scrum Master</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dirty="0">
                          <a:solidFill>
                            <a:schemeClr val="bg1"/>
                          </a:solidFill>
                        </a:rPr>
                        <a:t>5</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bg1"/>
                          </a:solidFill>
                        </a:rPr>
                        <a:t>事件 </a:t>
                      </a:r>
                      <a:r>
                        <a:rPr lang="en-US" altLang="zh-CN" sz="1600" dirty="0">
                          <a:solidFill>
                            <a:schemeClr val="bg1"/>
                          </a:solidFill>
                        </a:rPr>
                        <a:t>Events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冲刺 </a:t>
                      </a:r>
                      <a:r>
                        <a:rPr lang="en-US" altLang="zh-CN" sz="1600" b="0" i="0" u="none" strike="noStrike" kern="1200" dirty="0">
                          <a:solidFill>
                            <a:schemeClr val="bg1"/>
                          </a:solidFill>
                          <a:effectLst/>
                          <a:latin typeface="+mn-lt"/>
                          <a:ea typeface="+mn-ea"/>
                          <a:cs typeface="+mn-cs"/>
                        </a:rPr>
                        <a:t>The Sprint </a:t>
                      </a:r>
                      <a:endParaRPr lang="zh-CN" altLang="en-US" sz="1600" b="0" i="0" u="none" strike="noStrike" kern="1200" dirty="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冲刺规划 </a:t>
                      </a:r>
                      <a:r>
                        <a:rPr lang="en-US" altLang="zh-CN" sz="1600" b="0" i="0" u="none" strike="noStrike" kern="1200" dirty="0">
                          <a:solidFill>
                            <a:schemeClr val="bg1"/>
                          </a:solidFill>
                          <a:effectLst/>
                          <a:latin typeface="+mn-lt"/>
                          <a:ea typeface="+mn-ea"/>
                          <a:cs typeface="+mn-cs"/>
                        </a:rPr>
                        <a:t>Sprint Planning </a:t>
                      </a:r>
                      <a:endParaRPr lang="zh-CN" altLang="en-US" sz="1600" b="0" i="0" u="none" strike="noStrike" kern="1200" dirty="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每日站会 </a:t>
                      </a:r>
                      <a:r>
                        <a:rPr lang="en-US" altLang="zh-CN" sz="1600" b="0" i="0" u="none" strike="noStrike" kern="1200" dirty="0">
                          <a:solidFill>
                            <a:schemeClr val="bg1"/>
                          </a:solidFill>
                          <a:effectLst/>
                          <a:latin typeface="+mn-lt"/>
                          <a:ea typeface="+mn-ea"/>
                          <a:cs typeface="+mn-cs"/>
                        </a:rPr>
                        <a:t>Daily Scrum </a:t>
                      </a:r>
                      <a:endParaRPr lang="zh-CN" altLang="en-US" sz="1600" b="0" i="0" u="none" strike="noStrike" kern="1200" dirty="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冲刺评审 </a:t>
                      </a:r>
                      <a:r>
                        <a:rPr lang="en-US" altLang="zh-CN" sz="1600" b="0" i="0" u="none" strike="noStrike" kern="1200" dirty="0">
                          <a:solidFill>
                            <a:schemeClr val="bg1"/>
                          </a:solidFill>
                          <a:effectLst/>
                          <a:latin typeface="+mn-lt"/>
                          <a:ea typeface="+mn-ea"/>
                          <a:cs typeface="+mn-cs"/>
                        </a:rPr>
                        <a:t>Sprint Review </a:t>
                      </a:r>
                      <a:endParaRPr lang="zh-CN" altLang="en-US" sz="1600" b="0" i="0" u="none" strike="noStrike" kern="1200" dirty="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冲刺回顾 </a:t>
                      </a:r>
                      <a:r>
                        <a:rPr lang="en-US" altLang="zh-CN" sz="1600" b="0" i="0" u="none" strike="noStrike" kern="1200" dirty="0">
                          <a:solidFill>
                            <a:schemeClr val="bg1"/>
                          </a:solidFill>
                          <a:effectLst/>
                          <a:latin typeface="+mn-lt"/>
                          <a:ea typeface="+mn-ea"/>
                          <a:cs typeface="+mn-cs"/>
                        </a:rPr>
                        <a:t>Sprint Retrospective </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solidFill>
                            <a:schemeClr val="bg1"/>
                          </a:solidFill>
                        </a:rPr>
                        <a:t>工件 </a:t>
                      </a:r>
                      <a:r>
                        <a:rPr lang="en-US" altLang="zh-CN" sz="1600" dirty="0">
                          <a:solidFill>
                            <a:schemeClr val="bg1"/>
                          </a:solidFill>
                        </a:rPr>
                        <a:t>Aircrafts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产品待办事项 </a:t>
                      </a:r>
                      <a:r>
                        <a:rPr lang="en-US" altLang="zh-CN" sz="1600" b="0" i="0" u="none" strike="noStrike" kern="1200" dirty="0">
                          <a:solidFill>
                            <a:schemeClr val="bg1"/>
                          </a:solidFill>
                          <a:effectLst/>
                          <a:latin typeface="+mn-lt"/>
                          <a:ea typeface="+mn-ea"/>
                          <a:cs typeface="+mn-cs"/>
                        </a:rPr>
                        <a:t>Product Backlog </a:t>
                      </a:r>
                      <a:endParaRPr lang="zh-CN" altLang="en-US" sz="1600" b="0" i="0" u="none" strike="noStrike" kern="1200" dirty="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迭代待办列表 </a:t>
                      </a:r>
                      <a:r>
                        <a:rPr lang="en-US" altLang="zh-CN" sz="1600" b="0" i="0" u="none" strike="noStrike" kern="1200" dirty="0">
                          <a:solidFill>
                            <a:schemeClr val="bg1"/>
                          </a:solidFill>
                          <a:effectLst/>
                          <a:latin typeface="+mn-lt"/>
                          <a:ea typeface="+mn-ea"/>
                          <a:cs typeface="+mn-cs"/>
                        </a:rPr>
                        <a:t>Sprint Backlog </a:t>
                      </a:r>
                      <a:endParaRPr lang="zh-CN" altLang="en-US" sz="1600" b="0" i="0" u="none" strike="noStrike" kern="1200" dirty="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dirty="0">
                          <a:solidFill>
                            <a:schemeClr val="bg1"/>
                          </a:solidFill>
                          <a:effectLst/>
                          <a:latin typeface="+mn-lt"/>
                          <a:ea typeface="+mn-ea"/>
                          <a:cs typeface="+mn-cs"/>
                        </a:rPr>
                        <a:t>增加 </a:t>
                      </a:r>
                      <a:r>
                        <a:rPr lang="en-US" altLang="zh-CN" sz="1600" b="0" i="0" u="none" strike="noStrike" kern="1200" dirty="0">
                          <a:solidFill>
                            <a:schemeClr val="bg1"/>
                          </a:solidFill>
                          <a:effectLst/>
                          <a:latin typeface="+mn-lt"/>
                          <a:ea typeface="+mn-ea"/>
                          <a:cs typeface="+mn-cs"/>
                        </a:rPr>
                        <a:t>Increment </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dirty="0">
                <a:solidFill>
                  <a:srgbClr val="FFFF00"/>
                </a:solidFill>
              </a:rPr>
              <a:t>Product Backlog</a:t>
            </a:r>
            <a:endParaRPr lang="zh-CN" altLang="en-US" sz="1600" u="sng" dirty="0">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dirty="0">
                <a:solidFill>
                  <a:srgbClr val="FFFF00"/>
                </a:solidFill>
              </a:rPr>
              <a:t>Sprint Backlog</a:t>
            </a:r>
            <a:endParaRPr lang="zh-CN" altLang="en-US" sz="1600" u="sng" dirty="0">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dirty="0">
                <a:solidFill>
                  <a:srgbClr val="FFFF00"/>
                </a:solidFill>
              </a:rPr>
              <a:t>Increment</a:t>
            </a:r>
            <a:endParaRPr lang="zh-CN" altLang="en-US" sz="1600" u="sng" dirty="0">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dirty="0">
                <a:solidFill>
                  <a:schemeClr val="bg1"/>
                </a:solidFill>
              </a:rPr>
              <a:t>Sprint planning</a:t>
            </a:r>
            <a:endParaRPr lang="zh-CN" altLang="en-US" sz="1600" b="1" dirty="0">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dirty="0">
                <a:solidFill>
                  <a:schemeClr val="bg1"/>
                </a:solidFill>
              </a:rPr>
              <a:t>Review</a:t>
            </a:r>
            <a:endParaRPr lang="zh-CN" altLang="en-US" sz="1600" b="1" dirty="0">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dirty="0">
                <a:solidFill>
                  <a:schemeClr val="bg1"/>
                </a:solidFill>
              </a:rPr>
              <a:t>Sprint</a:t>
            </a:r>
          </a:p>
          <a:p>
            <a:pPr algn="ctr"/>
            <a:r>
              <a:rPr lang="en-US" altLang="zh-CN" sz="1600" dirty="0">
                <a:solidFill>
                  <a:schemeClr val="bg1"/>
                </a:solidFill>
              </a:rPr>
              <a:t>2 to 4 weeks</a:t>
            </a:r>
            <a:endParaRPr lang="zh-CN" altLang="en-US" sz="1600" dirty="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dirty="0">
                <a:solidFill>
                  <a:schemeClr val="bg1"/>
                </a:solidFill>
              </a:rPr>
              <a:t>15min</a:t>
            </a:r>
            <a:endParaRPr lang="zh-CN" altLang="en-US" sz="1600" dirty="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dirty="0">
                <a:solidFill>
                  <a:schemeClr val="bg1"/>
                </a:solidFill>
              </a:rPr>
              <a:t>Retrospective</a:t>
            </a:r>
            <a:endParaRPr lang="zh-CN" altLang="en-US" sz="1600" b="1" dirty="0">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dirty="0">
                <a:solidFill>
                  <a:schemeClr val="bg1"/>
                </a:solidFill>
              </a:rPr>
              <a:t>Daily scrum</a:t>
            </a:r>
            <a:endParaRPr lang="zh-CN" altLang="en-US" sz="1600" b="1" dirty="0">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dirty="0">
                <a:solidFill>
                  <a:schemeClr val="bg1"/>
                </a:solidFill>
              </a:rPr>
              <a:t>SM/PM</a:t>
            </a:r>
            <a:endParaRPr lang="zh-CN" altLang="en-US" sz="1600" dirty="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dirty="0">
                <a:solidFill>
                  <a:schemeClr val="bg1"/>
                </a:solidFill>
              </a:rPr>
              <a:t>PO</a:t>
            </a:r>
            <a:endParaRPr lang="zh-CN" altLang="en-US" sz="1600" dirty="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dirty="0">
                <a:solidFill>
                  <a:schemeClr val="bg1"/>
                </a:solidFill>
              </a:rPr>
              <a:t>Developer</a:t>
            </a:r>
            <a:endParaRPr lang="zh-CN" altLang="en-US" sz="1600" dirty="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dirty="0"/>
              <a:t>2.6.3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dirty="0"/>
              <a:t>5</a:t>
            </a:r>
            <a:r>
              <a:rPr lang="zh-CN" altLang="en-US" dirty="0"/>
              <a:t>个价值 </a:t>
            </a:r>
            <a:r>
              <a:rPr lang="en-US" altLang="zh-CN" dirty="0"/>
              <a:t>values</a:t>
            </a:r>
          </a:p>
          <a:p>
            <a:r>
              <a:rPr lang="en-US" altLang="zh-CN" dirty="0"/>
              <a:t>Successful use of Scrum depends on people becoming more proficient in living five values: </a:t>
            </a:r>
          </a:p>
          <a:p>
            <a:pPr lvl="1"/>
            <a:r>
              <a:rPr lang="en-US" altLang="zh-CN" dirty="0"/>
              <a:t>Commitment</a:t>
            </a:r>
            <a:r>
              <a:rPr lang="zh-CN" altLang="en-US" dirty="0"/>
              <a:t>：</a:t>
            </a:r>
            <a:r>
              <a:rPr lang="en-US" altLang="zh-CN" dirty="0"/>
              <a:t>supporting each other</a:t>
            </a:r>
          </a:p>
          <a:p>
            <a:pPr lvl="1"/>
            <a:r>
              <a:rPr lang="en-US" altLang="zh-CN" dirty="0"/>
              <a:t>Focus</a:t>
            </a:r>
            <a:r>
              <a:rPr lang="zh-CN" altLang="en-US" dirty="0"/>
              <a:t>：</a:t>
            </a:r>
            <a:r>
              <a:rPr lang="en-US" altLang="zh-CN" dirty="0"/>
              <a:t>the work of the Sprint</a:t>
            </a:r>
          </a:p>
          <a:p>
            <a:pPr lvl="1"/>
            <a:r>
              <a:rPr lang="en-US" altLang="zh-CN" dirty="0"/>
              <a:t>Openness</a:t>
            </a:r>
            <a:r>
              <a:rPr lang="zh-CN" altLang="en-US" dirty="0"/>
              <a:t>：</a:t>
            </a:r>
            <a:r>
              <a:rPr lang="en-US" altLang="zh-CN" dirty="0"/>
              <a:t> about the work and the challenges</a:t>
            </a:r>
          </a:p>
          <a:p>
            <a:pPr lvl="1"/>
            <a:r>
              <a:rPr lang="en-US" altLang="zh-CN" dirty="0"/>
              <a:t>Respect</a:t>
            </a:r>
            <a:r>
              <a:rPr lang="zh-CN" altLang="en-US" dirty="0"/>
              <a:t>：</a:t>
            </a:r>
            <a:r>
              <a:rPr lang="en-US" altLang="zh-CN" dirty="0"/>
              <a:t> to be capable, independent people</a:t>
            </a:r>
          </a:p>
          <a:p>
            <a:pPr lvl="1"/>
            <a:r>
              <a:rPr lang="en-US" altLang="zh-CN" dirty="0"/>
              <a:t>Courage</a:t>
            </a:r>
            <a:r>
              <a:rPr lang="zh-CN" altLang="en-US" dirty="0"/>
              <a:t>：</a:t>
            </a:r>
            <a:r>
              <a:rPr lang="en-US" altLang="zh-CN" dirty="0"/>
              <a:t>to do the right thing, to work on tough problems</a:t>
            </a:r>
          </a:p>
          <a:p>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dirty="0">
                  <a:solidFill>
                    <a:schemeClr val="bg1"/>
                  </a:solidFill>
                </a:rPr>
                <a:t>Commitment</a:t>
              </a:r>
            </a:p>
            <a:p>
              <a:pPr algn="ctr"/>
              <a:r>
                <a:rPr lang="zh-CN" altLang="en-US" sz="1600" dirty="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rPr>
                <a:t>1</a:t>
              </a:r>
              <a:endParaRPr lang="zh-CN" altLang="en-US" dirty="0">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dirty="0">
                  <a:solidFill>
                    <a:schemeClr val="bg1"/>
                  </a:solidFill>
                </a:rPr>
                <a:t>Focus</a:t>
              </a:r>
            </a:p>
            <a:p>
              <a:pPr algn="ctr"/>
              <a:r>
                <a:rPr lang="zh-CN" altLang="en-US" sz="1600" dirty="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rPr>
                <a:t>2</a:t>
              </a:r>
              <a:endParaRPr lang="zh-CN" altLang="en-US" dirty="0">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dirty="0">
                  <a:solidFill>
                    <a:schemeClr val="bg1"/>
                  </a:solidFill>
                </a:rPr>
                <a:t>Openness</a:t>
              </a:r>
            </a:p>
            <a:p>
              <a:pPr algn="ctr"/>
              <a:r>
                <a:rPr lang="zh-CN" altLang="en-US" sz="1600" dirty="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rPr>
                <a:t>3</a:t>
              </a:r>
              <a:endParaRPr lang="zh-CN" altLang="en-US" dirty="0">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dirty="0">
                  <a:solidFill>
                    <a:schemeClr val="bg1"/>
                  </a:solidFill>
                </a:rPr>
                <a:t>Respect</a:t>
              </a:r>
            </a:p>
            <a:p>
              <a:pPr algn="ctr"/>
              <a:r>
                <a:rPr lang="zh-CN" altLang="en-US" sz="1600" dirty="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rPr>
                <a:t>4</a:t>
              </a:r>
              <a:endParaRPr lang="zh-CN" altLang="en-US" dirty="0">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dirty="0">
                  <a:solidFill>
                    <a:schemeClr val="bg1"/>
                  </a:solidFill>
                </a:rPr>
                <a:t>Courage</a:t>
              </a:r>
              <a:endParaRPr lang="zh-CN" altLang="en-US" sz="1600" b="1" dirty="0">
                <a:solidFill>
                  <a:schemeClr val="bg1"/>
                </a:solidFill>
              </a:endParaRPr>
            </a:p>
            <a:p>
              <a:pPr algn="ctr"/>
              <a:r>
                <a:rPr lang="zh-CN" altLang="en-US" sz="1600" dirty="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dirty="0">
                  <a:solidFill>
                    <a:schemeClr val="bg1"/>
                  </a:solidFill>
                </a:rPr>
                <a:t>5</a:t>
              </a:r>
              <a:endParaRPr lang="zh-CN" altLang="en-US" dirty="0">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dirty="0"/>
              <a:t>2.6.4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dirty="0"/>
              <a:t>3</a:t>
            </a:r>
            <a:r>
              <a:rPr lang="zh-CN" altLang="en-US" dirty="0"/>
              <a:t>个角色 </a:t>
            </a:r>
            <a:r>
              <a:rPr lang="en-US" altLang="zh-CN" dirty="0"/>
              <a:t>Roles</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dirty="0"/>
              <a:t>Scrum /Agile</a:t>
            </a:r>
            <a:endParaRPr lang="zh-CN" altLang="en-US" dirty="0"/>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dirty="0"/>
              <a:t>Scrum Team</a:t>
            </a:r>
          </a:p>
          <a:p>
            <a:pPr marL="0" lvl="0" indent="0" algn="ctr" defTabSz="711200">
              <a:lnSpc>
                <a:spcPct val="100000"/>
              </a:lnSpc>
              <a:spcBef>
                <a:spcPct val="0"/>
              </a:spcBef>
              <a:spcAft>
                <a:spcPts val="0"/>
              </a:spcAft>
              <a:buNone/>
            </a:pPr>
            <a:r>
              <a:rPr lang="zh-CN" altLang="en-US" sz="1600" kern="1200" dirty="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dirty="0"/>
              <a:t>Developer</a:t>
            </a:r>
          </a:p>
          <a:p>
            <a:pPr marL="0" lvl="0" indent="0" algn="ctr" defTabSz="711200">
              <a:lnSpc>
                <a:spcPct val="100000"/>
              </a:lnSpc>
              <a:spcBef>
                <a:spcPct val="0"/>
              </a:spcBef>
              <a:spcAft>
                <a:spcPts val="0"/>
              </a:spcAft>
              <a:buNone/>
            </a:pPr>
            <a:r>
              <a:rPr lang="zh-CN" altLang="en-US" sz="1600" kern="1200" dirty="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endParaRPr lang="zh-CN" altLang="en-US" sz="1600" kern="1200" dirty="0"/>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dirty="0"/>
              <a:t>Product Owner</a:t>
            </a:r>
          </a:p>
          <a:p>
            <a:pPr marL="0" lvl="0" indent="0" algn="ctr" defTabSz="711200">
              <a:lnSpc>
                <a:spcPct val="100000"/>
              </a:lnSpc>
              <a:spcBef>
                <a:spcPct val="0"/>
              </a:spcBef>
              <a:spcAft>
                <a:spcPts val="0"/>
              </a:spcAft>
              <a:buNone/>
            </a:pPr>
            <a:r>
              <a:rPr lang="zh-CN" altLang="en-US" sz="1600" kern="1200" dirty="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dirty="0"/>
              <a:t>2.6.4.1 </a:t>
            </a:r>
            <a:r>
              <a:rPr lang="zh-CN" altLang="en-US" dirty="0"/>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dirty="0"/>
              <a:t>制定计划，确定冲刺代办列表</a:t>
            </a:r>
            <a:endParaRPr lang="en-US" altLang="zh-CN" dirty="0"/>
          </a:p>
          <a:p>
            <a:pPr lvl="1"/>
            <a:r>
              <a:rPr lang="en-US" altLang="zh-CN" dirty="0"/>
              <a:t>Creating a plan for the Sprint, the Sprint Backlog</a:t>
            </a:r>
          </a:p>
          <a:p>
            <a:pPr lvl="0"/>
            <a:r>
              <a:rPr lang="zh-CN" altLang="en-US" dirty="0"/>
              <a:t>根据完成定义，坚守质量标准</a:t>
            </a:r>
            <a:endParaRPr lang="en-US" altLang="zh-CN" dirty="0"/>
          </a:p>
          <a:p>
            <a:pPr lvl="1"/>
            <a:r>
              <a:rPr lang="en-US" altLang="zh-CN" dirty="0"/>
              <a:t>Instilling quality by adhering to a </a:t>
            </a:r>
            <a:r>
              <a:rPr lang="en-US" altLang="zh-CN" b="1" dirty="0">
                <a:solidFill>
                  <a:srgbClr val="FFFF00"/>
                </a:solidFill>
              </a:rPr>
              <a:t>Definition of Done</a:t>
            </a:r>
            <a:r>
              <a:rPr lang="zh-CN" altLang="en-US" b="1" dirty="0">
                <a:solidFill>
                  <a:srgbClr val="FFFF00"/>
                </a:solidFill>
              </a:rPr>
              <a:t>（</a:t>
            </a:r>
            <a:r>
              <a:rPr lang="en-US" altLang="zh-CN" b="1" dirty="0">
                <a:solidFill>
                  <a:srgbClr val="FFFF00"/>
                </a:solidFill>
              </a:rPr>
              <a:t>DOD</a:t>
            </a:r>
            <a:r>
              <a:rPr lang="zh-CN" altLang="en-US" b="1" dirty="0">
                <a:solidFill>
                  <a:srgbClr val="FFFF00"/>
                </a:solidFill>
              </a:rPr>
              <a:t>）</a:t>
            </a:r>
            <a:endParaRPr lang="en-US" altLang="zh-CN" b="1" dirty="0">
              <a:solidFill>
                <a:srgbClr val="FFFF00"/>
              </a:solidFill>
            </a:endParaRPr>
          </a:p>
          <a:p>
            <a:pPr lvl="0"/>
            <a:r>
              <a:rPr lang="zh-CN" altLang="en-US" dirty="0"/>
              <a:t>根据目标调整计划</a:t>
            </a:r>
            <a:endParaRPr lang="en-US" altLang="zh-CN" dirty="0"/>
          </a:p>
          <a:p>
            <a:pPr lvl="1"/>
            <a:r>
              <a:rPr lang="en-US" altLang="zh-CN" dirty="0"/>
              <a:t>Adapting their plan each day toward the Sprint Goal</a:t>
            </a:r>
          </a:p>
          <a:p>
            <a:r>
              <a:rPr lang="zh-CN" altLang="en-US" dirty="0"/>
              <a:t>作为专业人员，要互相负责</a:t>
            </a:r>
            <a:endParaRPr lang="en-US" altLang="zh-CN" dirty="0"/>
          </a:p>
          <a:p>
            <a:pPr lvl="1"/>
            <a:r>
              <a:rPr lang="en-US" altLang="zh-CN" dirty="0"/>
              <a:t>Holding each other accountable as professionals.</a:t>
            </a:r>
          </a:p>
          <a:p>
            <a:pPr lvl="1"/>
            <a:endParaRPr lang="en-US" altLang="zh-CN" dirty="0"/>
          </a:p>
          <a:p>
            <a:pPr lvl="0"/>
            <a:r>
              <a:rPr lang="zh-CN" altLang="en-US" dirty="0"/>
              <a:t>将冲刺目标转化为增量交付的任何方面的人员</a:t>
            </a:r>
            <a:endParaRPr lang="en-US" altLang="zh-CN" dirty="0"/>
          </a:p>
          <a:p>
            <a:pPr lvl="0"/>
            <a:r>
              <a:rPr lang="zh-CN" altLang="en-US" dirty="0"/>
              <a:t>创造增量</a:t>
            </a:r>
            <a:r>
              <a:rPr lang="en-US" altLang="zh-CN" dirty="0"/>
              <a:t>/</a:t>
            </a:r>
            <a:r>
              <a:rPr lang="zh-CN" altLang="en-US" dirty="0"/>
              <a:t>价值</a:t>
            </a:r>
            <a:endParaRPr lang="en-US" altLang="zh-CN" dirty="0"/>
          </a:p>
          <a:p>
            <a:pPr lvl="0"/>
            <a:r>
              <a:rPr lang="zh-CN" altLang="en-US" dirty="0"/>
              <a:t>不仅仅是单纯的开发团队</a:t>
            </a:r>
            <a:endParaRPr lang="en-US" altLang="zh-CN" dirty="0"/>
          </a:p>
          <a:p>
            <a:pPr lvl="0"/>
            <a:r>
              <a:rPr lang="en-US" altLang="zh-CN" dirty="0"/>
              <a:t>5-9</a:t>
            </a:r>
            <a:r>
              <a:rPr lang="zh-CN" altLang="en-US" dirty="0"/>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dirty="0"/>
              <a:t>Developer</a:t>
            </a:r>
            <a:endParaRPr lang="zh-CN" altLang="en-US" dirty="0"/>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endParaRPr lang="zh-CN" altLang="en-US" dirty="0"/>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dirty="0"/>
              <a:t>开发并明确地表达产品目标</a:t>
            </a:r>
            <a:endParaRPr lang="en-US" altLang="zh-CN" dirty="0"/>
          </a:p>
          <a:p>
            <a:pPr lvl="1"/>
            <a:r>
              <a:rPr lang="en-US" altLang="zh-CN" b="1" dirty="0">
                <a:solidFill>
                  <a:srgbClr val="FFFF00"/>
                </a:solidFill>
              </a:rPr>
              <a:t>Developing</a:t>
            </a:r>
            <a:r>
              <a:rPr lang="en-US" altLang="zh-CN" dirty="0"/>
              <a:t> and </a:t>
            </a:r>
            <a:r>
              <a:rPr lang="en-US" altLang="zh-CN" b="1" dirty="0">
                <a:solidFill>
                  <a:srgbClr val="FFFF00"/>
                </a:solidFill>
              </a:rPr>
              <a:t>explicitly</a:t>
            </a:r>
            <a:r>
              <a:rPr lang="en-US" altLang="zh-CN" dirty="0">
                <a:solidFill>
                  <a:srgbClr val="FFFF00"/>
                </a:solidFill>
              </a:rPr>
              <a:t> </a:t>
            </a:r>
            <a:r>
              <a:rPr lang="en-US" altLang="zh-CN" b="1" dirty="0">
                <a:solidFill>
                  <a:srgbClr val="FFFF00"/>
                </a:solidFill>
              </a:rPr>
              <a:t>communicating</a:t>
            </a:r>
            <a:r>
              <a:rPr lang="en-US" altLang="zh-CN" dirty="0"/>
              <a:t> the Product Goal</a:t>
            </a:r>
          </a:p>
          <a:p>
            <a:r>
              <a:rPr lang="zh-CN" altLang="en-US" dirty="0"/>
              <a:t>创建并清晰地传达产品代办事项</a:t>
            </a:r>
            <a:endParaRPr lang="en-US" altLang="zh-CN" dirty="0"/>
          </a:p>
          <a:p>
            <a:pPr lvl="1"/>
            <a:r>
              <a:rPr lang="en-US" altLang="zh-CN" dirty="0"/>
              <a:t>Creating and </a:t>
            </a:r>
            <a:r>
              <a:rPr lang="en-US" altLang="zh-CN" b="1" dirty="0">
                <a:solidFill>
                  <a:srgbClr val="FFFF00"/>
                </a:solidFill>
              </a:rPr>
              <a:t>clearly</a:t>
            </a:r>
            <a:r>
              <a:rPr lang="en-US" altLang="zh-CN" dirty="0"/>
              <a:t> communicating Product Backlog items</a:t>
            </a:r>
          </a:p>
          <a:p>
            <a:r>
              <a:rPr lang="zh-CN" altLang="en-US" dirty="0"/>
              <a:t>对产品代办事项排序</a:t>
            </a:r>
            <a:endParaRPr lang="en-US" altLang="zh-CN" dirty="0"/>
          </a:p>
          <a:p>
            <a:pPr lvl="1"/>
            <a:r>
              <a:rPr lang="en-US" altLang="zh-CN" dirty="0"/>
              <a:t>Ordering Product Backlog items</a:t>
            </a:r>
          </a:p>
          <a:p>
            <a:r>
              <a:rPr lang="zh-CN" altLang="en-US" dirty="0"/>
              <a:t>确保产品代办事项透明、可见和可理解</a:t>
            </a:r>
            <a:endParaRPr lang="en-US" altLang="zh-CN" dirty="0"/>
          </a:p>
          <a:p>
            <a:pPr lvl="1"/>
            <a:r>
              <a:rPr lang="en-US" altLang="zh-CN" dirty="0"/>
              <a:t>Ensuring that the Product Backlog is transparent, visible and understood</a:t>
            </a:r>
          </a:p>
          <a:p>
            <a:pPr lvl="1"/>
            <a:endParaRPr lang="en-US" altLang="zh-CN" dirty="0"/>
          </a:p>
          <a:p>
            <a:pPr lvl="0"/>
            <a:r>
              <a:rPr lang="en-US" altLang="zh-CN" dirty="0"/>
              <a:t>PO</a:t>
            </a:r>
          </a:p>
          <a:p>
            <a:pPr lvl="0"/>
            <a:r>
              <a:rPr lang="zh-CN" altLang="en-US" dirty="0"/>
              <a:t>是一个人，而不是一个委员会</a:t>
            </a:r>
            <a:endParaRPr lang="en-US" altLang="zh-CN" dirty="0"/>
          </a:p>
          <a:p>
            <a:pPr lvl="0"/>
            <a:r>
              <a:rPr lang="zh-CN" altLang="en-US" dirty="0"/>
              <a:t>可以委托其它人，但最终负责人还是他</a:t>
            </a:r>
            <a:endParaRPr lang="en-US" altLang="zh-CN" dirty="0"/>
          </a:p>
          <a:p>
            <a:pPr lvl="1"/>
            <a:endParaRPr lang="zh-CN" altLang="en-US" dirty="0"/>
          </a:p>
          <a:p>
            <a:endParaRPr lang="zh-CN" altLang="en-US" dirty="0"/>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dirty="0"/>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dirty="0"/>
              <a:t>2.6.4.3 </a:t>
            </a:r>
            <a:r>
              <a:rPr lang="zh-CN" altLang="en-US" dirty="0"/>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也称项目经理 </a:t>
            </a:r>
            <a:r>
              <a:rPr lang="en-US" altLang="zh-CN" dirty="0"/>
              <a:t>PM</a:t>
            </a:r>
          </a:p>
          <a:p>
            <a:r>
              <a:rPr lang="zh-CN" altLang="en-US" dirty="0"/>
              <a:t>真正的领导者：组建团队、主持冲刺会议、移除开发障碍</a:t>
            </a:r>
            <a:endParaRPr lang="en-US" altLang="zh-CN" dirty="0"/>
          </a:p>
          <a:p>
            <a:r>
              <a:rPr lang="zh-CN" altLang="en-US" dirty="0"/>
              <a:t>仆人式领导 </a:t>
            </a:r>
            <a:r>
              <a:rPr lang="en-US" altLang="zh-CN" dirty="0"/>
              <a:t>a servant-leader</a:t>
            </a:r>
          </a:p>
          <a:p>
            <a:r>
              <a:rPr lang="zh-CN" altLang="en-US" dirty="0"/>
              <a:t>促成者 </a:t>
            </a:r>
            <a:r>
              <a:rPr lang="en-US" altLang="zh-CN" dirty="0"/>
              <a:t> Facilitator</a:t>
            </a:r>
          </a:p>
          <a:p>
            <a:r>
              <a:rPr lang="zh-CN" altLang="en-US" dirty="0"/>
              <a:t>不是团队的保姆或超级英雄</a:t>
            </a:r>
            <a:endParaRPr lang="en-US" altLang="zh-CN" dirty="0"/>
          </a:p>
          <a:p>
            <a:endParaRPr lang="en-US" altLang="zh-CN" dirty="0"/>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dirty="0"/>
              <a:t>Scrum Master</a:t>
            </a:r>
            <a:endParaRPr lang="zh-CN" altLang="en-US" dirty="0"/>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dirty="0"/>
              <a:t>2.6.4.3 </a:t>
            </a:r>
            <a:r>
              <a:rPr lang="zh-CN" altLang="en-US" dirty="0"/>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dirty="0"/>
              <a:t>作为教练在自管理和跨职能方面辅导团队成员</a:t>
            </a:r>
            <a:endParaRPr lang="en-US" altLang="zh-CN" dirty="0"/>
          </a:p>
          <a:p>
            <a:pPr lvl="1"/>
            <a:r>
              <a:rPr lang="en-US" altLang="zh-CN" b="1" dirty="0">
                <a:solidFill>
                  <a:srgbClr val="FFFF00"/>
                </a:solidFill>
              </a:rPr>
              <a:t>Coaching</a:t>
            </a:r>
            <a:r>
              <a:rPr lang="en-US" altLang="zh-CN" dirty="0"/>
              <a:t> the team members in self-management and cross-functionality</a:t>
            </a:r>
          </a:p>
          <a:p>
            <a:r>
              <a:rPr lang="zh-CN" altLang="en-US" dirty="0"/>
              <a:t>帮助团队专注于创建符合 </a:t>
            </a:r>
            <a:r>
              <a:rPr lang="en-US" altLang="zh-CN" dirty="0"/>
              <a:t>DOD </a:t>
            </a:r>
            <a:r>
              <a:rPr lang="zh-CN" altLang="en-US" dirty="0"/>
              <a:t>的高价值增量</a:t>
            </a:r>
            <a:endParaRPr lang="en-US" altLang="zh-CN" dirty="0"/>
          </a:p>
          <a:p>
            <a:pPr lvl="1"/>
            <a:r>
              <a:rPr lang="en-US" altLang="zh-CN" dirty="0"/>
              <a:t>Helping the Scrum Team focus on creating high-value Increments that meet the Definition of Done</a:t>
            </a:r>
          </a:p>
          <a:p>
            <a:r>
              <a:rPr lang="zh-CN" altLang="en-US" dirty="0"/>
              <a:t>促使移除团队工作进展中的障碍</a:t>
            </a:r>
            <a:endParaRPr lang="en-US" altLang="zh-CN" dirty="0"/>
          </a:p>
          <a:p>
            <a:pPr lvl="1"/>
            <a:r>
              <a:rPr lang="en-US" altLang="zh-CN" b="1" dirty="0">
                <a:solidFill>
                  <a:srgbClr val="FFFF00"/>
                </a:solidFill>
              </a:rPr>
              <a:t>Causing</a:t>
            </a:r>
            <a:r>
              <a:rPr lang="en-US" altLang="zh-CN" dirty="0"/>
              <a:t> the removal of </a:t>
            </a:r>
            <a:r>
              <a:rPr lang="en-US" altLang="zh-CN" b="1" dirty="0">
                <a:solidFill>
                  <a:srgbClr val="FFFF00"/>
                </a:solidFill>
              </a:rPr>
              <a:t>impediments</a:t>
            </a:r>
            <a:r>
              <a:rPr lang="en-US" altLang="zh-CN" dirty="0"/>
              <a:t> to the Scrum Team’s progress</a:t>
            </a:r>
          </a:p>
          <a:p>
            <a:r>
              <a:rPr lang="zh-CN" altLang="en-US" dirty="0"/>
              <a:t>确保所有 </a:t>
            </a:r>
            <a:r>
              <a:rPr lang="en-US" altLang="zh-CN" dirty="0"/>
              <a:t>Scrum </a:t>
            </a:r>
            <a:r>
              <a:rPr lang="zh-CN" altLang="en-US" dirty="0"/>
              <a:t>事件都发生并且是积极的、富有成效的，并在冲刺时间盒内完成</a:t>
            </a:r>
            <a:endParaRPr lang="en-US" altLang="zh-CN" dirty="0"/>
          </a:p>
          <a:p>
            <a:pPr lvl="1"/>
            <a:r>
              <a:rPr lang="en-US" altLang="zh-CN" dirty="0"/>
              <a:t>Ensuring that all Scrum events take place and are positive, productive, and kept within the timebox</a:t>
            </a:r>
          </a:p>
          <a:p>
            <a:endParaRPr lang="en-US" altLang="zh-CN" dirty="0"/>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dirty="0"/>
              <a:t>Scrum Master</a:t>
            </a:r>
            <a:endParaRPr lang="zh-CN" altLang="en-US" dirty="0"/>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dirty="0">
                <a:solidFill>
                  <a:schemeClr val="bg1"/>
                </a:solidFill>
              </a:rPr>
              <a:t>- </a:t>
            </a:r>
            <a:r>
              <a:rPr lang="zh-CN" altLang="en-US" dirty="0">
                <a:solidFill>
                  <a:schemeClr val="bg1"/>
                </a:solidFill>
              </a:rPr>
              <a:t>服务 </a:t>
            </a:r>
            <a:r>
              <a:rPr lang="en-US" altLang="zh-CN" dirty="0">
                <a:solidFill>
                  <a:schemeClr val="bg1"/>
                </a:solidFill>
              </a:rPr>
              <a:t>Scrum Team</a:t>
            </a:r>
            <a:endParaRPr lang="zh-CN" altLang="en-US" dirty="0">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dirty="0"/>
              <a:t>2.6.4.3 </a:t>
            </a:r>
            <a:r>
              <a:rPr lang="zh-CN" altLang="en-US" dirty="0"/>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帮助找到有效定义产品目标和管理产品代办事项的技巧</a:t>
            </a:r>
            <a:endParaRPr lang="en-US" altLang="zh-CN" dirty="0"/>
          </a:p>
          <a:p>
            <a:pPr lvl="1"/>
            <a:r>
              <a:rPr lang="en-US" altLang="zh-CN" dirty="0"/>
              <a:t>Helping find techniques for effective Product Goal definition and Product Backlog management	</a:t>
            </a:r>
          </a:p>
          <a:p>
            <a:r>
              <a:rPr lang="zh-CN" altLang="en-US" dirty="0"/>
              <a:t>帮助团队理解为何需要清晰且简明的产品代办事项</a:t>
            </a:r>
            <a:endParaRPr lang="en-US" altLang="zh-CN" dirty="0"/>
          </a:p>
          <a:p>
            <a:pPr lvl="1"/>
            <a:r>
              <a:rPr lang="en-US" altLang="zh-CN" dirty="0"/>
              <a:t>Helping the Scrum Team understand the need for clear and concise Product Backlog items</a:t>
            </a:r>
          </a:p>
          <a:p>
            <a:r>
              <a:rPr lang="zh-CN" altLang="en-US" dirty="0"/>
              <a:t>帮助建立针对复杂环境的基于经验主义的产品规划</a:t>
            </a:r>
            <a:endParaRPr lang="en-US" altLang="zh-CN" dirty="0"/>
          </a:p>
          <a:p>
            <a:pPr lvl="1"/>
            <a:r>
              <a:rPr lang="en-US" altLang="zh-CN" dirty="0"/>
              <a:t>Helping establish empirical product planning for a complex environment</a:t>
            </a:r>
          </a:p>
          <a:p>
            <a:r>
              <a:rPr lang="zh-CN" altLang="en-US" dirty="0"/>
              <a:t>当需要或被要求时，引导干系人之间的协作</a:t>
            </a:r>
            <a:endParaRPr lang="en-US" altLang="zh-CN" dirty="0"/>
          </a:p>
          <a:p>
            <a:pPr lvl="1"/>
            <a:r>
              <a:rPr lang="en-US" altLang="zh-CN" dirty="0"/>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dirty="0"/>
              <a:t>Scrum Master</a:t>
            </a:r>
            <a:endParaRPr lang="zh-CN" altLang="en-US" dirty="0"/>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solidFill>
                  <a:schemeClr val="bg1"/>
                </a:solidFill>
              </a:rPr>
              <a:t>- </a:t>
            </a:r>
            <a:r>
              <a:rPr lang="zh-CN" altLang="en-US" dirty="0">
                <a:solidFill>
                  <a:schemeClr val="bg1"/>
                </a:solidFill>
              </a:rPr>
              <a:t>服务 </a:t>
            </a:r>
            <a:r>
              <a:rPr lang="en-US" altLang="zh-CN" dirty="0">
                <a:solidFill>
                  <a:schemeClr val="bg1"/>
                </a:solidFill>
              </a:rPr>
              <a:t>Product Owner</a:t>
            </a:r>
            <a:endParaRPr lang="zh-CN" altLang="en-US" dirty="0">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dirty="0"/>
              <a:t>2.6.4.3 </a:t>
            </a:r>
            <a:r>
              <a:rPr lang="zh-CN" altLang="en-US" dirty="0"/>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a:t>
            </a:r>
            <a:r>
              <a:rPr lang="en-US" altLang="zh-CN" b="1" dirty="0"/>
              <a:t>enact</a:t>
            </a:r>
            <a:r>
              <a:rPr lang="en-US" altLang="zh-CN" dirty="0"/>
              <a: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dirty="0"/>
              <a:t>Scrum Master</a:t>
            </a:r>
            <a:endParaRPr lang="zh-CN" altLang="en-US" dirty="0"/>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solidFill>
                  <a:schemeClr val="bg1"/>
                </a:solidFill>
              </a:rPr>
              <a:t>- </a:t>
            </a:r>
            <a:r>
              <a:rPr lang="zh-CN" altLang="en-US" dirty="0">
                <a:solidFill>
                  <a:schemeClr val="bg1"/>
                </a:solidFill>
              </a:rPr>
              <a:t>服务 </a:t>
            </a:r>
            <a:r>
              <a:rPr lang="en-US" altLang="zh-CN" dirty="0">
                <a:solidFill>
                  <a:schemeClr val="bg1"/>
                </a:solidFill>
              </a:rPr>
              <a:t>organization</a:t>
            </a:r>
            <a:endParaRPr lang="zh-CN" altLang="en-US" dirty="0">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dirty="0">
                <a:solidFill>
                  <a:schemeClr val="bg1"/>
                </a:solidFill>
              </a:rPr>
              <a:t>形成</a:t>
            </a:r>
            <a:endParaRPr lang="en-US" altLang="zh-CN" dirty="0">
              <a:solidFill>
                <a:schemeClr val="bg1"/>
              </a:solidFill>
            </a:endParaRPr>
          </a:p>
          <a:p>
            <a:r>
              <a:rPr lang="en-US" altLang="zh-CN" dirty="0">
                <a:solidFill>
                  <a:schemeClr val="bg1"/>
                </a:solidFill>
              </a:rPr>
              <a:t>Forming</a:t>
            </a:r>
            <a:endParaRPr lang="zh-CN" altLang="en-US" dirty="0">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dirty="0">
                <a:solidFill>
                  <a:schemeClr val="bg1"/>
                </a:solidFill>
              </a:rPr>
              <a:t>指导</a:t>
            </a:r>
            <a:endParaRPr lang="en-US" altLang="zh-CN" dirty="0">
              <a:solidFill>
                <a:schemeClr val="bg1"/>
              </a:solidFill>
            </a:endParaRPr>
          </a:p>
          <a:p>
            <a:r>
              <a:rPr lang="en-US" altLang="zh-CN" dirty="0">
                <a:solidFill>
                  <a:schemeClr val="bg1"/>
                </a:solidFill>
              </a:rPr>
              <a:t>Guiding</a:t>
            </a:r>
            <a:endParaRPr lang="zh-CN" altLang="en-US" dirty="0">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dirty="0">
                <a:solidFill>
                  <a:schemeClr val="bg1"/>
                </a:solidFill>
              </a:rPr>
              <a:t>震荡</a:t>
            </a:r>
            <a:endParaRPr lang="en-US" altLang="zh-CN" dirty="0">
              <a:solidFill>
                <a:schemeClr val="bg1"/>
              </a:solidFill>
            </a:endParaRPr>
          </a:p>
          <a:p>
            <a:r>
              <a:rPr lang="en-US" altLang="zh-CN" dirty="0">
                <a:solidFill>
                  <a:schemeClr val="bg1"/>
                </a:solidFill>
              </a:rPr>
              <a:t>Storming</a:t>
            </a:r>
            <a:endParaRPr lang="zh-CN" altLang="en-US" dirty="0">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dirty="0">
                <a:solidFill>
                  <a:schemeClr val="bg1"/>
                </a:solidFill>
              </a:rPr>
              <a:t>教练</a:t>
            </a:r>
            <a:endParaRPr lang="en-US" altLang="zh-CN" dirty="0">
              <a:solidFill>
                <a:schemeClr val="bg1"/>
              </a:solidFill>
            </a:endParaRPr>
          </a:p>
          <a:p>
            <a:r>
              <a:rPr lang="en-US" altLang="zh-CN" dirty="0">
                <a:solidFill>
                  <a:schemeClr val="bg1"/>
                </a:solidFill>
              </a:rPr>
              <a:t>Coaching</a:t>
            </a:r>
            <a:endParaRPr lang="zh-CN" altLang="en-US" dirty="0">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dirty="0">
                <a:solidFill>
                  <a:schemeClr val="bg1"/>
                </a:solidFill>
              </a:rPr>
              <a:t>规范</a:t>
            </a:r>
            <a:endParaRPr lang="en-US" altLang="zh-CN" dirty="0">
              <a:solidFill>
                <a:schemeClr val="bg1"/>
              </a:solidFill>
            </a:endParaRPr>
          </a:p>
          <a:p>
            <a:r>
              <a:rPr lang="en-US" altLang="zh-CN" dirty="0">
                <a:solidFill>
                  <a:schemeClr val="bg1"/>
                </a:solidFill>
              </a:rPr>
              <a:t>Norming</a:t>
            </a:r>
            <a:endParaRPr lang="zh-CN" altLang="en-US" dirty="0">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dirty="0">
                <a:solidFill>
                  <a:schemeClr val="bg1"/>
                </a:solidFill>
              </a:rPr>
              <a:t>参与</a:t>
            </a:r>
            <a:endParaRPr lang="en-US" altLang="zh-CN" dirty="0">
              <a:solidFill>
                <a:schemeClr val="bg1"/>
              </a:solidFill>
            </a:endParaRPr>
          </a:p>
          <a:p>
            <a:r>
              <a:rPr lang="en-US" altLang="zh-CN" dirty="0">
                <a:solidFill>
                  <a:schemeClr val="bg1"/>
                </a:solidFill>
              </a:rPr>
              <a:t>Participating </a:t>
            </a:r>
            <a:endParaRPr lang="zh-CN" altLang="en-US" dirty="0">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dirty="0">
                <a:solidFill>
                  <a:schemeClr val="bg1"/>
                </a:solidFill>
              </a:rPr>
              <a:t>成熟</a:t>
            </a:r>
            <a:endParaRPr lang="en-US" altLang="zh-CN" dirty="0">
              <a:solidFill>
                <a:schemeClr val="bg1"/>
              </a:solidFill>
            </a:endParaRPr>
          </a:p>
          <a:p>
            <a:r>
              <a:rPr lang="en-US" altLang="zh-CN" dirty="0">
                <a:solidFill>
                  <a:schemeClr val="bg1"/>
                </a:solidFill>
              </a:rPr>
              <a:t>Performing</a:t>
            </a:r>
            <a:endParaRPr lang="zh-CN" altLang="en-US" dirty="0">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dirty="0">
                <a:solidFill>
                  <a:schemeClr val="bg1"/>
                </a:solidFill>
              </a:rPr>
              <a:t>授权</a:t>
            </a:r>
            <a:endParaRPr lang="en-US" altLang="zh-CN" dirty="0">
              <a:solidFill>
                <a:schemeClr val="bg1"/>
              </a:solidFill>
            </a:endParaRPr>
          </a:p>
          <a:p>
            <a:r>
              <a:rPr lang="en-US" altLang="zh-CN" dirty="0">
                <a:solidFill>
                  <a:schemeClr val="bg1"/>
                </a:solidFill>
              </a:rPr>
              <a:t>Empowering</a:t>
            </a:r>
            <a:endParaRPr lang="zh-CN" altLang="en-US" dirty="0">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dirty="0">
                <a:solidFill>
                  <a:schemeClr val="bg1"/>
                </a:solidFill>
              </a:rPr>
              <a:t>解散</a:t>
            </a:r>
            <a:endParaRPr lang="en-US" altLang="zh-CN" dirty="0">
              <a:solidFill>
                <a:schemeClr val="bg1"/>
              </a:solidFill>
            </a:endParaRPr>
          </a:p>
          <a:p>
            <a:r>
              <a:rPr lang="en-US" altLang="zh-CN" dirty="0">
                <a:solidFill>
                  <a:schemeClr val="bg1"/>
                </a:solidFill>
              </a:rPr>
              <a:t>Adjourning</a:t>
            </a:r>
            <a:endParaRPr lang="zh-CN" altLang="en-US" dirty="0">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dirty="0"/>
              <a:t>2.6.5 </a:t>
            </a:r>
            <a:r>
              <a:rPr lang="zh-CN" altLang="en-US" dirty="0"/>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dirty="0"/>
              <a:t>5</a:t>
            </a:r>
            <a:r>
              <a:rPr lang="zh-CN" altLang="en-US" dirty="0"/>
              <a:t>个事件 </a:t>
            </a:r>
            <a:r>
              <a:rPr lang="en-US" altLang="zh-CN" dirty="0"/>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dirty="0"/>
              <a:t>Scrum Events</a:t>
            </a:r>
            <a:endParaRPr lang="zh-CN" altLang="en-US" dirty="0"/>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dirty="0"/>
              <a:t>Sprint</a:t>
            </a:r>
            <a:endParaRPr lang="zh-CN" altLang="en-US" sz="1600" kern="1200" dirty="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dirty="0">
                <a:solidFill>
                  <a:schemeClr val="bg1"/>
                </a:solidFill>
              </a:rPr>
              <a:t>冲刺</a:t>
            </a:r>
            <a:endParaRPr lang="en-US" altLang="zh-CN" sz="1600" b="1" kern="1200" dirty="0">
              <a:solidFill>
                <a:schemeClr val="bg1"/>
              </a:solidFill>
            </a:endParaRPr>
          </a:p>
          <a:p>
            <a:pPr marL="0" lvl="0" indent="0" algn="l" defTabSz="711200">
              <a:lnSpc>
                <a:spcPct val="90000"/>
              </a:lnSpc>
              <a:spcBef>
                <a:spcPct val="0"/>
              </a:spcBef>
              <a:spcAft>
                <a:spcPct val="35000"/>
              </a:spcAft>
              <a:buNone/>
            </a:pPr>
            <a:r>
              <a:rPr lang="zh-CN" altLang="en-US" sz="1400" dirty="0">
                <a:solidFill>
                  <a:schemeClr val="bg1"/>
                </a:solidFill>
              </a:rPr>
              <a:t>容器</a:t>
            </a:r>
            <a:endParaRPr lang="en-US" altLang="zh-CN" sz="1400" dirty="0">
              <a:solidFill>
                <a:schemeClr val="bg1"/>
              </a:solidFill>
            </a:endParaRPr>
          </a:p>
          <a:p>
            <a:pPr marL="0" lvl="0" indent="0" algn="l" defTabSz="711200">
              <a:lnSpc>
                <a:spcPct val="90000"/>
              </a:lnSpc>
              <a:spcBef>
                <a:spcPct val="0"/>
              </a:spcBef>
              <a:spcAft>
                <a:spcPct val="35000"/>
              </a:spcAft>
              <a:buNone/>
            </a:pPr>
            <a:r>
              <a:rPr lang="zh-CN" altLang="en-US" sz="1400" kern="1200" dirty="0">
                <a:solidFill>
                  <a:schemeClr val="bg1"/>
                </a:solidFill>
              </a:rPr>
              <a:t>时间盒 </a:t>
            </a:r>
            <a:r>
              <a:rPr lang="en-US" altLang="zh-CN" sz="1400" kern="1200" dirty="0">
                <a:solidFill>
                  <a:schemeClr val="bg1"/>
                </a:solidFill>
              </a:rPr>
              <a:t>Time-box</a:t>
            </a:r>
          </a:p>
          <a:p>
            <a:pPr defTabSz="711200">
              <a:lnSpc>
                <a:spcPct val="90000"/>
              </a:lnSpc>
              <a:spcBef>
                <a:spcPct val="0"/>
              </a:spcBef>
              <a:spcAft>
                <a:spcPct val="35000"/>
              </a:spcAft>
            </a:pPr>
            <a:r>
              <a:rPr lang="en-US" altLang="zh-CN" sz="1400" dirty="0">
                <a:solidFill>
                  <a:schemeClr val="bg1"/>
                </a:solidFill>
              </a:rPr>
              <a:t>PO </a:t>
            </a:r>
            <a:r>
              <a:rPr lang="zh-CN" altLang="en-US" sz="1400" dirty="0">
                <a:solidFill>
                  <a:schemeClr val="bg1"/>
                </a:solidFill>
              </a:rPr>
              <a:t>可以取消冲刺</a:t>
            </a:r>
          </a:p>
          <a:p>
            <a:pPr marL="0" lvl="0" indent="0" algn="l" defTabSz="711200">
              <a:lnSpc>
                <a:spcPct val="90000"/>
              </a:lnSpc>
              <a:spcBef>
                <a:spcPct val="0"/>
              </a:spcBef>
              <a:spcAft>
                <a:spcPct val="35000"/>
              </a:spcAft>
              <a:buNone/>
            </a:pPr>
            <a:r>
              <a:rPr lang="en-US" altLang="zh-CN" sz="1400" dirty="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dirty="0"/>
              <a:t>Spring Planning</a:t>
            </a:r>
            <a:endParaRPr lang="zh-CN" altLang="en-US" sz="1600" kern="1200" dirty="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dirty="0">
                <a:solidFill>
                  <a:schemeClr val="bg1"/>
                </a:solidFill>
              </a:rPr>
              <a:t>规划</a:t>
            </a:r>
            <a:endParaRPr lang="en-US" altLang="zh-CN" sz="1600" b="1" kern="1200" dirty="0">
              <a:solidFill>
                <a:schemeClr val="bg1"/>
              </a:solidFill>
            </a:endParaRPr>
          </a:p>
          <a:p>
            <a:pPr marL="0" lvl="0" indent="0" algn="l" defTabSz="711200">
              <a:lnSpc>
                <a:spcPct val="90000"/>
              </a:lnSpc>
              <a:spcBef>
                <a:spcPct val="0"/>
              </a:spcBef>
              <a:spcAft>
                <a:spcPct val="35000"/>
              </a:spcAft>
              <a:buNone/>
            </a:pPr>
            <a:r>
              <a:rPr lang="zh-CN" altLang="en-US" sz="1400" dirty="0">
                <a:solidFill>
                  <a:schemeClr val="bg1"/>
                </a:solidFill>
              </a:rPr>
              <a:t>会议</a:t>
            </a:r>
            <a:endParaRPr lang="en-US" altLang="zh-CN" sz="1400" kern="12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第一个事件</a:t>
            </a:r>
            <a:endParaRPr lang="en-US" altLang="zh-CN" sz="1400" dirty="0">
              <a:solidFill>
                <a:schemeClr val="bg1"/>
              </a:solidFill>
            </a:endParaRPr>
          </a:p>
          <a:p>
            <a:pPr lvl="0" defTabSz="711200">
              <a:lnSpc>
                <a:spcPct val="90000"/>
              </a:lnSpc>
              <a:spcBef>
                <a:spcPct val="0"/>
              </a:spcBef>
              <a:spcAft>
                <a:spcPct val="35000"/>
              </a:spcAft>
            </a:pPr>
            <a:r>
              <a:rPr lang="en-US" altLang="zh-CN" sz="1400" dirty="0">
                <a:solidFill>
                  <a:schemeClr val="bg1"/>
                </a:solidFill>
              </a:rPr>
              <a:t>Why </a:t>
            </a:r>
            <a:r>
              <a:rPr lang="zh-CN" altLang="en-US" sz="1400" dirty="0">
                <a:solidFill>
                  <a:schemeClr val="bg1"/>
                </a:solidFill>
              </a:rPr>
              <a:t>为什么</a:t>
            </a:r>
            <a:endParaRPr lang="en-US" altLang="zh-CN" sz="1400" dirty="0">
              <a:solidFill>
                <a:schemeClr val="bg1"/>
              </a:solidFill>
            </a:endParaRPr>
          </a:p>
          <a:p>
            <a:pPr lvl="0" defTabSz="711200">
              <a:lnSpc>
                <a:spcPct val="90000"/>
              </a:lnSpc>
              <a:spcBef>
                <a:spcPct val="0"/>
              </a:spcBef>
              <a:spcAft>
                <a:spcPct val="35000"/>
              </a:spcAft>
            </a:pPr>
            <a:r>
              <a:rPr lang="en-US" altLang="zh-CN" sz="1400" dirty="0">
                <a:solidFill>
                  <a:schemeClr val="bg1"/>
                </a:solidFill>
              </a:rPr>
              <a:t>What </a:t>
            </a:r>
            <a:r>
              <a:rPr lang="zh-CN" altLang="en-US" sz="1400" dirty="0">
                <a:solidFill>
                  <a:schemeClr val="bg1"/>
                </a:solidFill>
              </a:rPr>
              <a:t>做什么</a:t>
            </a:r>
            <a:endParaRPr lang="en-US" altLang="zh-CN" sz="1400" dirty="0">
              <a:solidFill>
                <a:schemeClr val="bg1"/>
              </a:solidFill>
            </a:endParaRPr>
          </a:p>
          <a:p>
            <a:pPr lvl="0" defTabSz="711200">
              <a:lnSpc>
                <a:spcPct val="90000"/>
              </a:lnSpc>
              <a:spcBef>
                <a:spcPct val="0"/>
              </a:spcBef>
              <a:spcAft>
                <a:spcPct val="35000"/>
              </a:spcAft>
            </a:pPr>
            <a:r>
              <a:rPr lang="en-US" altLang="zh-CN" sz="1400" dirty="0">
                <a:solidFill>
                  <a:schemeClr val="bg1"/>
                </a:solidFill>
              </a:rPr>
              <a:t>How </a:t>
            </a:r>
            <a:r>
              <a:rPr lang="zh-CN" altLang="en-US" sz="1400" dirty="0">
                <a:solidFill>
                  <a:schemeClr val="bg1"/>
                </a:solidFill>
              </a:rPr>
              <a:t>如何做</a:t>
            </a:r>
            <a:endParaRPr lang="en-US" altLang="zh-CN" sz="1400" dirty="0">
              <a:solidFill>
                <a:schemeClr val="bg1"/>
              </a:solidFill>
            </a:endParaRPr>
          </a:p>
          <a:p>
            <a:pPr marL="0" lvl="0" indent="0" algn="l" defTabSz="711200">
              <a:lnSpc>
                <a:spcPct val="90000"/>
              </a:lnSpc>
              <a:spcBef>
                <a:spcPct val="0"/>
              </a:spcBef>
              <a:spcAft>
                <a:spcPct val="35000"/>
              </a:spcAft>
              <a:buNone/>
            </a:pPr>
            <a:r>
              <a:rPr lang="en-US" altLang="zh-CN" sz="1400" kern="1200" dirty="0">
                <a:solidFill>
                  <a:schemeClr val="bg1"/>
                </a:solidFill>
              </a:rPr>
              <a:t>8h</a:t>
            </a:r>
          </a:p>
          <a:p>
            <a:pPr marL="0" lvl="0" indent="0" algn="l" defTabSz="711200">
              <a:lnSpc>
                <a:spcPct val="90000"/>
              </a:lnSpc>
              <a:spcBef>
                <a:spcPct val="0"/>
              </a:spcBef>
              <a:spcAft>
                <a:spcPct val="35000"/>
              </a:spcAft>
              <a:buNone/>
            </a:pPr>
            <a:endParaRPr lang="en-US" altLang="zh-CN" sz="1400" dirty="0">
              <a:solidFill>
                <a:schemeClr val="bg1"/>
              </a:solidFill>
            </a:endParaRPr>
          </a:p>
          <a:p>
            <a:pPr marL="0" lvl="0" indent="0" algn="l" defTabSz="711200">
              <a:lnSpc>
                <a:spcPct val="90000"/>
              </a:lnSpc>
              <a:spcBef>
                <a:spcPct val="0"/>
              </a:spcBef>
              <a:spcAft>
                <a:spcPct val="35000"/>
              </a:spcAft>
              <a:buNone/>
            </a:pPr>
            <a:endParaRPr lang="zh-CN" altLang="en-US" sz="1400" kern="1200" dirty="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dirty="0"/>
              <a:t>Daily Scrum</a:t>
            </a:r>
            <a:endParaRPr lang="zh-CN" altLang="en-US" sz="1600" kern="1200" dirty="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dirty="0">
                <a:solidFill>
                  <a:schemeClr val="bg1"/>
                </a:solidFill>
              </a:rPr>
              <a:t>每日站会</a:t>
            </a:r>
            <a:endParaRPr lang="en-US" altLang="zh-CN" sz="1600" b="1" kern="12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固定时间和地点</a:t>
            </a:r>
            <a:endParaRPr lang="en-US" altLang="zh-CN" sz="14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检查进度</a:t>
            </a:r>
            <a:endParaRPr lang="en-US" altLang="zh-CN" sz="14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同步信息</a:t>
            </a:r>
            <a:endParaRPr lang="en-US" altLang="zh-CN" sz="14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调整计划及工作</a:t>
            </a:r>
          </a:p>
          <a:p>
            <a:pPr marL="0" lvl="0" indent="0" algn="l" defTabSz="711200">
              <a:lnSpc>
                <a:spcPct val="90000"/>
              </a:lnSpc>
              <a:spcBef>
                <a:spcPct val="0"/>
              </a:spcBef>
              <a:spcAft>
                <a:spcPct val="35000"/>
              </a:spcAft>
              <a:buNone/>
            </a:pPr>
            <a:r>
              <a:rPr lang="en-US" altLang="zh-CN" sz="1400" kern="1200" dirty="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dirty="0"/>
              <a:t>Review</a:t>
            </a:r>
            <a:endParaRPr lang="zh-CN" altLang="en-US" sz="1600" kern="1200" dirty="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dirty="0">
                <a:solidFill>
                  <a:schemeClr val="bg1"/>
                </a:solidFill>
              </a:rPr>
              <a:t>评审</a:t>
            </a:r>
            <a:endParaRPr lang="en-US" altLang="zh-CN" sz="1600" b="1" kern="1200" dirty="0">
              <a:solidFill>
                <a:schemeClr val="bg1"/>
              </a:solidFill>
            </a:endParaRPr>
          </a:p>
          <a:p>
            <a:pPr marL="0" lvl="0" indent="0" algn="l" defTabSz="711200">
              <a:lnSpc>
                <a:spcPct val="90000"/>
              </a:lnSpc>
              <a:spcBef>
                <a:spcPct val="0"/>
              </a:spcBef>
              <a:spcAft>
                <a:spcPct val="35000"/>
              </a:spcAft>
              <a:buNone/>
            </a:pPr>
            <a:r>
              <a:rPr lang="zh-CN" altLang="en-US" sz="1400" kern="1200" dirty="0">
                <a:solidFill>
                  <a:schemeClr val="bg1"/>
                </a:solidFill>
              </a:rPr>
              <a:t>监视冲刺成果</a:t>
            </a:r>
            <a:endParaRPr lang="en-US" altLang="zh-CN" sz="1400" kern="1200" dirty="0">
              <a:solidFill>
                <a:schemeClr val="bg1"/>
              </a:solidFill>
            </a:endParaRPr>
          </a:p>
          <a:p>
            <a:pPr marL="0" lvl="0" indent="0" algn="l" defTabSz="711200">
              <a:lnSpc>
                <a:spcPct val="90000"/>
              </a:lnSpc>
              <a:spcBef>
                <a:spcPct val="0"/>
              </a:spcBef>
              <a:spcAft>
                <a:spcPct val="35000"/>
              </a:spcAft>
              <a:buNone/>
            </a:pPr>
            <a:r>
              <a:rPr lang="zh-CN" altLang="en-US" sz="1400" dirty="0">
                <a:solidFill>
                  <a:schemeClr val="bg1"/>
                </a:solidFill>
              </a:rPr>
              <a:t>搜集反馈</a:t>
            </a:r>
            <a:endParaRPr lang="en-US" altLang="zh-CN" sz="1400" dirty="0">
              <a:solidFill>
                <a:schemeClr val="bg1"/>
              </a:solidFill>
            </a:endParaRPr>
          </a:p>
          <a:p>
            <a:pPr marL="0" lvl="0" indent="0" algn="l" defTabSz="711200">
              <a:lnSpc>
                <a:spcPct val="90000"/>
              </a:lnSpc>
              <a:spcBef>
                <a:spcPct val="0"/>
              </a:spcBef>
              <a:spcAft>
                <a:spcPct val="35000"/>
              </a:spcAft>
              <a:buNone/>
            </a:pPr>
            <a:r>
              <a:rPr lang="zh-CN" altLang="en-US" sz="1400" dirty="0">
                <a:solidFill>
                  <a:schemeClr val="bg1"/>
                </a:solidFill>
              </a:rPr>
              <a:t>调整方向</a:t>
            </a:r>
            <a:endParaRPr lang="en-US" altLang="zh-CN" sz="1400" dirty="0">
              <a:solidFill>
                <a:schemeClr val="bg1"/>
              </a:solidFill>
            </a:endParaRPr>
          </a:p>
          <a:p>
            <a:pPr marL="0" lvl="0" indent="0" algn="l" defTabSz="711200">
              <a:lnSpc>
                <a:spcPct val="90000"/>
              </a:lnSpc>
              <a:spcBef>
                <a:spcPct val="0"/>
              </a:spcBef>
              <a:spcAft>
                <a:spcPct val="35000"/>
              </a:spcAft>
              <a:buNone/>
            </a:pPr>
            <a:r>
              <a:rPr lang="zh-CN" altLang="en-US" sz="1400" kern="1200" dirty="0">
                <a:solidFill>
                  <a:schemeClr val="bg1"/>
                </a:solidFill>
              </a:rPr>
              <a:t>促进协作和透明</a:t>
            </a:r>
            <a:endParaRPr lang="en-US" altLang="zh-CN" sz="1400" kern="1200" dirty="0">
              <a:solidFill>
                <a:schemeClr val="bg1"/>
              </a:solidFill>
            </a:endParaRPr>
          </a:p>
          <a:p>
            <a:pPr defTabSz="711200">
              <a:lnSpc>
                <a:spcPct val="90000"/>
              </a:lnSpc>
              <a:spcBef>
                <a:spcPct val="0"/>
              </a:spcBef>
              <a:spcAft>
                <a:spcPct val="35000"/>
              </a:spcAft>
            </a:pPr>
            <a:r>
              <a:rPr lang="zh-CN" altLang="en-US" sz="1400" dirty="0">
                <a:solidFill>
                  <a:schemeClr val="bg1"/>
                </a:solidFill>
              </a:rPr>
              <a:t>非仅仅展示</a:t>
            </a:r>
          </a:p>
          <a:p>
            <a:pPr marL="0" lvl="0" indent="0" algn="l" defTabSz="711200">
              <a:lnSpc>
                <a:spcPct val="90000"/>
              </a:lnSpc>
              <a:spcBef>
                <a:spcPct val="0"/>
              </a:spcBef>
              <a:spcAft>
                <a:spcPct val="35000"/>
              </a:spcAft>
              <a:buNone/>
            </a:pPr>
            <a:r>
              <a:rPr lang="en-US" altLang="zh-CN" sz="1400" kern="1200" dirty="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dirty="0"/>
              <a:t>Retrospective</a:t>
            </a:r>
            <a:endParaRPr lang="zh-CN" altLang="en-US" sz="1600" kern="1200" dirty="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dirty="0">
                <a:solidFill>
                  <a:schemeClr val="bg1"/>
                </a:solidFill>
              </a:rPr>
              <a:t>回顾</a:t>
            </a:r>
            <a:endParaRPr lang="en-US" altLang="zh-CN" sz="1600" b="1" kern="12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最后一个事件</a:t>
            </a:r>
            <a:endParaRPr lang="en-US" altLang="zh-CN" sz="1400" dirty="0">
              <a:solidFill>
                <a:schemeClr val="bg1"/>
              </a:solidFill>
            </a:endParaRPr>
          </a:p>
          <a:p>
            <a:pPr lvl="0" defTabSz="711200">
              <a:lnSpc>
                <a:spcPct val="90000"/>
              </a:lnSpc>
              <a:spcBef>
                <a:spcPct val="0"/>
              </a:spcBef>
              <a:spcAft>
                <a:spcPct val="35000"/>
              </a:spcAft>
            </a:pPr>
            <a:r>
              <a:rPr lang="zh-CN" altLang="en-US" sz="1400" dirty="0">
                <a:solidFill>
                  <a:schemeClr val="bg1"/>
                </a:solidFill>
              </a:rPr>
              <a:t>监视整个 </a:t>
            </a:r>
            <a:r>
              <a:rPr lang="en-US" altLang="zh-CN" sz="1400" dirty="0">
                <a:solidFill>
                  <a:schemeClr val="bg1"/>
                </a:solidFill>
              </a:rPr>
              <a:t>Sprint</a:t>
            </a:r>
          </a:p>
          <a:p>
            <a:pPr lvl="0" defTabSz="711200">
              <a:lnSpc>
                <a:spcPct val="90000"/>
              </a:lnSpc>
              <a:spcBef>
                <a:spcPct val="0"/>
              </a:spcBef>
              <a:spcAft>
                <a:spcPct val="35000"/>
              </a:spcAft>
            </a:pPr>
            <a:r>
              <a:rPr lang="zh-CN" altLang="en-US" sz="1400" dirty="0">
                <a:solidFill>
                  <a:schemeClr val="bg1"/>
                </a:solidFill>
              </a:rPr>
              <a:t>仅团队成员参加</a:t>
            </a:r>
            <a:endParaRPr lang="en-US" altLang="zh-CN" sz="1400" dirty="0">
              <a:solidFill>
                <a:schemeClr val="bg1"/>
              </a:solidFill>
            </a:endParaRPr>
          </a:p>
          <a:p>
            <a:pPr marL="0" lvl="0" indent="0" algn="l" defTabSz="711200">
              <a:lnSpc>
                <a:spcPct val="90000"/>
              </a:lnSpc>
              <a:spcBef>
                <a:spcPct val="0"/>
              </a:spcBef>
              <a:spcAft>
                <a:spcPct val="35000"/>
              </a:spcAft>
              <a:buNone/>
            </a:pPr>
            <a:r>
              <a:rPr lang="en-US" altLang="zh-CN" sz="1400" dirty="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dirty="0"/>
              <a:t>2.6.5.1 </a:t>
            </a:r>
            <a:r>
              <a:rPr lang="zh-CN" altLang="en-US" dirty="0"/>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dirty="0"/>
              <a:t>No changes are made that would endanger the </a:t>
            </a:r>
            <a:r>
              <a:rPr lang="en-US" altLang="zh-CN" b="1" dirty="0">
                <a:solidFill>
                  <a:srgbClr val="FFFF00"/>
                </a:solidFill>
              </a:rPr>
              <a:t>Sprint</a:t>
            </a:r>
            <a:r>
              <a:rPr lang="en-US" altLang="zh-CN" b="1" dirty="0">
                <a:solidFill>
                  <a:srgbClr val="FF0000"/>
                </a:solidFill>
              </a:rPr>
              <a:t> </a:t>
            </a:r>
            <a:r>
              <a:rPr lang="en-US" altLang="zh-CN" b="1" dirty="0">
                <a:solidFill>
                  <a:srgbClr val="FFFF00"/>
                </a:solidFill>
              </a:rPr>
              <a:t>Goal</a:t>
            </a:r>
          </a:p>
          <a:p>
            <a:r>
              <a:rPr lang="en-US" altLang="zh-CN" dirty="0"/>
              <a:t>Quality does not decrease</a:t>
            </a:r>
          </a:p>
          <a:p>
            <a:r>
              <a:rPr lang="en-US" altLang="zh-CN" dirty="0"/>
              <a:t>The Product Backlog is </a:t>
            </a:r>
            <a:r>
              <a:rPr lang="en-US" altLang="zh-CN" b="1" dirty="0">
                <a:solidFill>
                  <a:srgbClr val="FFFF00"/>
                </a:solidFill>
              </a:rPr>
              <a:t>refined</a:t>
            </a:r>
            <a:r>
              <a:rPr lang="en-US" altLang="zh-CN" dirty="0"/>
              <a:t> as needed</a:t>
            </a:r>
          </a:p>
          <a:p>
            <a:r>
              <a:rPr lang="en-US" altLang="zh-CN" dirty="0"/>
              <a:t>Scope may be clarified and renegotiated with the Product Owner as more is learned</a:t>
            </a:r>
          </a:p>
          <a:p>
            <a:endParaRPr lang="en-US" altLang="zh-CN" dirty="0"/>
          </a:p>
          <a:p>
            <a:r>
              <a:rPr lang="en-US" altLang="zh-CN" dirty="0"/>
              <a:t>A Sprint could be cancelled if the Sprint Goal becomes </a:t>
            </a:r>
            <a:r>
              <a:rPr lang="en-US" altLang="zh-CN" b="1" dirty="0">
                <a:solidFill>
                  <a:srgbClr val="FFFF00"/>
                </a:solidFill>
              </a:rPr>
              <a:t>obsolete</a:t>
            </a:r>
            <a:endParaRPr lang="en-US" altLang="zh-CN" dirty="0">
              <a:solidFill>
                <a:srgbClr val="FFFF00"/>
              </a:solidFill>
            </a:endParaRPr>
          </a:p>
          <a:p>
            <a:r>
              <a:rPr lang="en-US" altLang="zh-CN" dirty="0"/>
              <a:t>Only the Product Owner has the authority to cancel the Sprint</a:t>
            </a:r>
          </a:p>
          <a:p>
            <a:endParaRPr lang="en-US" altLang="zh-CN" dirty="0"/>
          </a:p>
          <a:p>
            <a:r>
              <a:rPr lang="en-US" altLang="zh-CN" dirty="0"/>
              <a:t>Tips</a:t>
            </a:r>
          </a:p>
          <a:p>
            <a:pPr lvl="1"/>
            <a:r>
              <a:rPr lang="zh-CN" altLang="en-US" dirty="0"/>
              <a:t>自然月 </a:t>
            </a:r>
            <a:r>
              <a:rPr lang="en-US" altLang="zh-CN" dirty="0"/>
              <a:t>Calendar Month vs </a:t>
            </a:r>
            <a:r>
              <a:rPr lang="zh-CN" altLang="en-US" dirty="0"/>
              <a:t>滚动月</a:t>
            </a:r>
            <a:r>
              <a:rPr lang="en-US" altLang="zh-CN" dirty="0"/>
              <a:t>Rolling Month</a:t>
            </a:r>
            <a:endParaRPr lang="zh-CN" altLang="en-US" dirty="0"/>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dirty="0"/>
              <a:t>Sprint</a:t>
            </a:r>
            <a:endParaRPr lang="zh-CN" altLang="en-US" dirty="0"/>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dirty="0"/>
              <a:t>2.6.5.2 </a:t>
            </a:r>
            <a:r>
              <a:rPr lang="zh-CN" altLang="en-US" dirty="0"/>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dirty="0"/>
              <a:t>Topics</a:t>
            </a:r>
            <a:r>
              <a:rPr lang="zh-CN" altLang="en-US" dirty="0"/>
              <a:t>：</a:t>
            </a:r>
            <a:endParaRPr lang="en-US" altLang="zh-CN" dirty="0"/>
          </a:p>
          <a:p>
            <a:pPr lvl="1"/>
            <a:r>
              <a:rPr lang="en-US" altLang="zh-CN" dirty="0"/>
              <a:t>Topic One: </a:t>
            </a:r>
            <a:r>
              <a:rPr lang="en-US" altLang="zh-CN" b="1" dirty="0">
                <a:solidFill>
                  <a:srgbClr val="FFFF00"/>
                </a:solidFill>
              </a:rPr>
              <a:t>Why</a:t>
            </a:r>
            <a:r>
              <a:rPr lang="en-US" altLang="zh-CN" dirty="0"/>
              <a:t> is this Sprint valuable?</a:t>
            </a:r>
          </a:p>
          <a:p>
            <a:pPr lvl="1"/>
            <a:r>
              <a:rPr lang="en-US" altLang="zh-CN" dirty="0"/>
              <a:t>Topic Two: </a:t>
            </a:r>
            <a:r>
              <a:rPr lang="en-US" altLang="zh-CN" b="1" dirty="0">
                <a:solidFill>
                  <a:srgbClr val="FFFF00"/>
                </a:solidFill>
              </a:rPr>
              <a:t>What</a:t>
            </a:r>
            <a:r>
              <a:rPr lang="en-US" altLang="zh-CN" dirty="0"/>
              <a:t> can be Done this Sprint?</a:t>
            </a:r>
          </a:p>
          <a:p>
            <a:pPr lvl="1"/>
            <a:r>
              <a:rPr lang="en-US" altLang="zh-CN" dirty="0"/>
              <a:t>Topic Three: </a:t>
            </a:r>
            <a:r>
              <a:rPr lang="en-US" altLang="zh-CN" b="1" dirty="0">
                <a:solidFill>
                  <a:srgbClr val="FFFF00"/>
                </a:solidFill>
              </a:rPr>
              <a:t>How</a:t>
            </a:r>
            <a:r>
              <a:rPr lang="en-US" altLang="zh-CN" dirty="0"/>
              <a:t> will the chosen work get done?</a:t>
            </a:r>
          </a:p>
          <a:p>
            <a:r>
              <a:rPr lang="en-US" altLang="zh-CN" dirty="0"/>
              <a:t>is timeboxed to a </a:t>
            </a:r>
            <a:r>
              <a:rPr lang="en-US" altLang="zh-CN" b="1" dirty="0">
                <a:solidFill>
                  <a:srgbClr val="FFFF00"/>
                </a:solidFill>
              </a:rPr>
              <a:t>maximum</a:t>
            </a:r>
            <a:r>
              <a:rPr lang="en-US" altLang="zh-CN" dirty="0"/>
              <a:t> of eight hours for a one-month Sprint</a:t>
            </a:r>
            <a:endParaRPr lang="zh-CN" altLang="en-US" dirty="0"/>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dirty="0"/>
              <a:t>Sprint planning</a:t>
            </a:r>
            <a:endParaRPr lang="zh-CN" altLang="en-US" dirty="0"/>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endParaRPr lang="zh-CN" altLang="en-US" dirty="0"/>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dirty="0"/>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dirty="0"/>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dirty="0"/>
              <a:t>2.6.5.4 </a:t>
            </a:r>
            <a:r>
              <a:rPr lang="zh-CN" altLang="en-US" dirty="0"/>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dirty="0"/>
              <a:t>inspect the </a:t>
            </a:r>
            <a:r>
              <a:rPr lang="en-US" altLang="zh-CN" b="1" dirty="0">
                <a:solidFill>
                  <a:srgbClr val="FFFF00"/>
                </a:solidFill>
              </a:rPr>
              <a:t>outcome</a:t>
            </a:r>
            <a:r>
              <a:rPr lang="en-US" altLang="zh-CN" dirty="0"/>
              <a:t> of the Sprint and determine future </a:t>
            </a:r>
            <a:r>
              <a:rPr lang="en-US" altLang="zh-CN" dirty="0">
                <a:solidFill>
                  <a:srgbClr val="FFFF00"/>
                </a:solidFill>
              </a:rPr>
              <a:t>adaptations</a:t>
            </a:r>
          </a:p>
          <a:p>
            <a:r>
              <a:rPr lang="en-US" altLang="zh-CN" dirty="0"/>
              <a:t>presents the results of their work to key stakeholders</a:t>
            </a:r>
          </a:p>
          <a:p>
            <a:r>
              <a:rPr lang="en-US" altLang="zh-CN" dirty="0"/>
              <a:t>progress toward the Product Goal is discussed</a:t>
            </a:r>
          </a:p>
          <a:p>
            <a:r>
              <a:rPr lang="en-US" altLang="zh-CN" dirty="0"/>
              <a:t>The Product Backlog may also be adjusted to meet new opportunities</a:t>
            </a:r>
          </a:p>
          <a:p>
            <a:r>
              <a:rPr lang="en-US" altLang="zh-CN" b="1" dirty="0">
                <a:solidFill>
                  <a:srgbClr val="FFFF00"/>
                </a:solidFill>
              </a:rPr>
              <a:t>avoid</a:t>
            </a:r>
            <a:r>
              <a:rPr lang="en-US" altLang="zh-CN" dirty="0"/>
              <a:t> limiting it to a presentation</a:t>
            </a:r>
          </a:p>
          <a:p>
            <a:r>
              <a:rPr lang="en-US" altLang="zh-CN" dirty="0"/>
              <a:t>the second to last event of the Sprint</a:t>
            </a:r>
          </a:p>
          <a:p>
            <a:r>
              <a:rPr lang="en-US" altLang="zh-CN" dirty="0"/>
              <a:t>is timeboxed to a maximum of four hours for a one-month Sprint</a:t>
            </a:r>
          </a:p>
          <a:p>
            <a:endParaRPr lang="zh-CN" altLang="en-US" dirty="0"/>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dirty="0"/>
              <a:t>Sprint Review</a:t>
            </a:r>
            <a:endParaRPr lang="zh-CN" altLang="en-US" dirty="0"/>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dirty="0"/>
              <a:t>2.6.5.5 </a:t>
            </a:r>
            <a:r>
              <a:rPr lang="zh-CN" altLang="en-US" dirty="0"/>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dirty="0"/>
              <a:t>The Sprint Retrospective </a:t>
            </a:r>
            <a:r>
              <a:rPr lang="en-US" altLang="zh-CN" b="1" dirty="0">
                <a:solidFill>
                  <a:srgbClr val="FFFF00"/>
                </a:solidFill>
              </a:rPr>
              <a:t>concludes</a:t>
            </a:r>
            <a:r>
              <a:rPr lang="en-US" altLang="zh-CN" dirty="0"/>
              <a:t> the Sprint</a:t>
            </a:r>
          </a:p>
          <a:p>
            <a:r>
              <a:rPr lang="en-US" altLang="zh-CN" b="1" dirty="0">
                <a:solidFill>
                  <a:srgbClr val="FFFF00"/>
                </a:solidFill>
              </a:rPr>
              <a:t>Purpose</a:t>
            </a:r>
            <a:r>
              <a:rPr lang="zh-CN" altLang="en-US" dirty="0"/>
              <a:t>：</a:t>
            </a:r>
            <a:r>
              <a:rPr lang="en-US" altLang="zh-CN" dirty="0"/>
              <a:t>to plan ways to increase quality and effectiveness</a:t>
            </a:r>
          </a:p>
          <a:p>
            <a:r>
              <a:rPr lang="en-US" altLang="zh-CN" dirty="0"/>
              <a:t>Discusses</a:t>
            </a:r>
          </a:p>
          <a:p>
            <a:pPr lvl="1"/>
            <a:r>
              <a:rPr lang="en-US" altLang="zh-CN" dirty="0"/>
              <a:t>what went well during the Sprint</a:t>
            </a:r>
          </a:p>
          <a:p>
            <a:pPr lvl="1"/>
            <a:r>
              <a:rPr lang="en-US" altLang="zh-CN" dirty="0"/>
              <a:t>what problems it encountered</a:t>
            </a:r>
          </a:p>
          <a:p>
            <a:pPr lvl="1"/>
            <a:r>
              <a:rPr lang="en-US" altLang="zh-CN" dirty="0"/>
              <a:t>how those problems were (or were not) solved</a:t>
            </a:r>
          </a:p>
          <a:p>
            <a:r>
              <a:rPr lang="en-US" altLang="zh-CN" b="1" dirty="0">
                <a:solidFill>
                  <a:srgbClr val="FFFF00"/>
                </a:solidFill>
              </a:rPr>
              <a:t>identifies</a:t>
            </a:r>
            <a:r>
              <a:rPr lang="en-US" altLang="zh-CN" dirty="0"/>
              <a:t> the most helpful changes … for the next Sprint</a:t>
            </a:r>
          </a:p>
          <a:p>
            <a:r>
              <a:rPr lang="en-US" altLang="zh-CN" dirty="0"/>
              <a:t>is timeboxed to a maximum of three hours for a one month Sprint</a:t>
            </a:r>
          </a:p>
          <a:p>
            <a:endParaRPr lang="zh-CN" altLang="en-US" dirty="0"/>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dirty="0"/>
              <a:t>Sprint Retrospective</a:t>
            </a:r>
            <a:endParaRPr lang="zh-CN" altLang="en-US" dirty="0"/>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dirty="0"/>
              <a:t>2.6.6 </a:t>
            </a:r>
            <a:r>
              <a:rPr lang="zh-CN" altLang="en-US" dirty="0"/>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dirty="0"/>
              <a:t>3</a:t>
            </a:r>
            <a:r>
              <a:rPr lang="zh-CN" altLang="en-US" dirty="0"/>
              <a:t>个工件 </a:t>
            </a:r>
            <a:r>
              <a:rPr lang="en-US" altLang="zh-CN" dirty="0"/>
              <a:t>Aircrafts</a:t>
            </a:r>
          </a:p>
          <a:p>
            <a:r>
              <a:rPr lang="zh-CN" altLang="en-US" dirty="0"/>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dirty="0"/>
              <a:t>Scrum Artifacts</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dirty="0">
                <a:solidFill>
                  <a:schemeClr val="bg1"/>
                </a:solidFill>
              </a:rPr>
              <a:t>To do lists</a:t>
            </a:r>
            <a:endParaRPr lang="zh-CN" altLang="en-US" sz="1200" dirty="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dirty="0"/>
              <a:t>2.6.6.1 </a:t>
            </a:r>
            <a:r>
              <a:rPr lang="zh-CN" altLang="en-US" dirty="0"/>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dirty="0"/>
              <a:t>Product Backlog </a:t>
            </a:r>
            <a:r>
              <a:rPr lang="zh-CN" altLang="en-US" dirty="0"/>
              <a:t>产品待办事项 </a:t>
            </a:r>
            <a:endParaRPr lang="en-US" altLang="zh-CN" dirty="0"/>
          </a:p>
          <a:p>
            <a:pPr lvl="1"/>
            <a:r>
              <a:rPr lang="zh-CN" altLang="en-US" dirty="0"/>
              <a:t>包含产品目标 </a:t>
            </a:r>
            <a:r>
              <a:rPr lang="en-US" altLang="zh-CN" dirty="0"/>
              <a:t>Product Goal </a:t>
            </a:r>
            <a:r>
              <a:rPr lang="zh-CN" altLang="en-US" dirty="0"/>
              <a:t>以及为实现该目标需要做的事项 </a:t>
            </a:r>
            <a:r>
              <a:rPr lang="en-US" altLang="zh-CN" dirty="0"/>
              <a:t>items</a:t>
            </a:r>
          </a:p>
          <a:p>
            <a:pPr lvl="1"/>
            <a:r>
              <a:rPr lang="zh-CN" altLang="en-US" dirty="0"/>
              <a:t>涌现 </a:t>
            </a:r>
            <a:r>
              <a:rPr lang="en-US" altLang="zh-CN" dirty="0">
                <a:solidFill>
                  <a:srgbClr val="FFFF00"/>
                </a:solidFill>
              </a:rPr>
              <a:t>Emergent</a:t>
            </a:r>
            <a:r>
              <a:rPr lang="zh-CN" altLang="en-US" dirty="0"/>
              <a:t>，随着项目深入而逐渐清晰</a:t>
            </a:r>
          </a:p>
          <a:p>
            <a:pPr lvl="1"/>
            <a:r>
              <a:rPr lang="zh-CN" altLang="en-US" dirty="0"/>
              <a:t>有序清单 </a:t>
            </a:r>
            <a:r>
              <a:rPr lang="en-US" altLang="zh-CN" dirty="0">
                <a:solidFill>
                  <a:srgbClr val="FFFF00"/>
                </a:solidFill>
              </a:rPr>
              <a:t>ordered</a:t>
            </a:r>
            <a:r>
              <a:rPr lang="zh-CN" altLang="en-US" dirty="0"/>
              <a:t>，通常按价值、风险、必要性排序</a:t>
            </a:r>
            <a:endParaRPr lang="en-US" altLang="zh-CN" dirty="0"/>
          </a:p>
          <a:p>
            <a:pPr lvl="1"/>
            <a:r>
              <a:rPr lang="en-US" altLang="zh-CN" dirty="0"/>
              <a:t>Team </a:t>
            </a:r>
            <a:r>
              <a:rPr lang="zh-CN" altLang="en-US" dirty="0"/>
              <a:t>工作的单一 </a:t>
            </a:r>
            <a:r>
              <a:rPr lang="en-US" altLang="zh-CN" b="1" dirty="0"/>
              <a:t>single</a:t>
            </a:r>
            <a:r>
              <a:rPr lang="en-US" altLang="zh-CN" dirty="0"/>
              <a:t> </a:t>
            </a:r>
            <a:r>
              <a:rPr lang="zh-CN" altLang="en-US" dirty="0"/>
              <a:t>来源；不在其中的事项，可以不执行</a:t>
            </a:r>
            <a:endParaRPr lang="en-US" altLang="zh-CN" dirty="0"/>
          </a:p>
          <a:p>
            <a:pPr lvl="1"/>
            <a:r>
              <a:rPr lang="en-US" altLang="zh-CN" dirty="0"/>
              <a:t>PO </a:t>
            </a:r>
            <a:r>
              <a:rPr lang="zh-CN" altLang="en-US" dirty="0"/>
              <a:t>负责排序</a:t>
            </a:r>
            <a:endParaRPr lang="en-US" altLang="zh-CN" dirty="0"/>
          </a:p>
          <a:p>
            <a:pPr lvl="1"/>
            <a:r>
              <a:rPr lang="en-US" altLang="zh-CN" dirty="0"/>
              <a:t>Developer </a:t>
            </a:r>
            <a:r>
              <a:rPr lang="zh-CN" altLang="en-US" dirty="0"/>
              <a:t>决定每个 </a:t>
            </a:r>
            <a:r>
              <a:rPr lang="en-US" altLang="zh-CN" dirty="0"/>
              <a:t>item </a:t>
            </a:r>
            <a:r>
              <a:rPr lang="zh-CN" altLang="en-US" dirty="0"/>
              <a:t>的规模 </a:t>
            </a:r>
            <a:r>
              <a:rPr lang="en-US" altLang="zh-CN" b="1" dirty="0"/>
              <a:t>Size</a:t>
            </a:r>
            <a:endParaRPr lang="en-US" altLang="zh-CN" dirty="0"/>
          </a:p>
          <a:p>
            <a:pPr lvl="1"/>
            <a:r>
              <a:rPr lang="en-US" altLang="zh-CN" dirty="0"/>
              <a:t>PO </a:t>
            </a:r>
            <a:r>
              <a:rPr lang="zh-CN" altLang="en-US" dirty="0"/>
              <a:t>可以影响但不是命令</a:t>
            </a:r>
            <a:endParaRPr lang="en-US" altLang="zh-CN" dirty="0"/>
          </a:p>
          <a:p>
            <a:pPr lvl="1"/>
            <a:r>
              <a:rPr lang="zh-CN" altLang="en-US" dirty="0"/>
              <a:t>一个 </a:t>
            </a:r>
            <a:r>
              <a:rPr lang="en-US" altLang="zh-CN" dirty="0"/>
              <a:t>Sprint </a:t>
            </a:r>
            <a:r>
              <a:rPr lang="zh-CN" altLang="en-US" dirty="0"/>
              <a:t>内可以完成</a:t>
            </a:r>
            <a:endParaRPr lang="en-US" altLang="zh-CN" dirty="0"/>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dirty="0"/>
              <a:t>Product Backlog/Scrum Artifacts</a:t>
            </a:r>
            <a:endParaRPr lang="zh-CN" altLang="en-US" dirty="0"/>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dirty="0">
                <a:solidFill>
                  <a:schemeClr val="bg1"/>
                </a:solidFill>
              </a:rPr>
              <a:t>PO </a:t>
            </a:r>
            <a:r>
              <a:rPr lang="zh-CN" altLang="en-US" sz="1400" dirty="0">
                <a:solidFill>
                  <a:schemeClr val="bg1"/>
                </a:solidFill>
              </a:rPr>
              <a:t>列举 </a:t>
            </a:r>
            <a:r>
              <a:rPr lang="en-US" altLang="zh-CN" sz="1400" dirty="0">
                <a:solidFill>
                  <a:schemeClr val="bg1"/>
                </a:solidFill>
              </a:rPr>
              <a:t>items</a:t>
            </a:r>
            <a:endParaRPr lang="zh-CN" altLang="en-US" sz="1400" dirty="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dirty="0">
                <a:solidFill>
                  <a:schemeClr val="bg1"/>
                </a:solidFill>
              </a:rPr>
              <a:t>Developer </a:t>
            </a:r>
            <a:r>
              <a:rPr lang="zh-CN" altLang="en-US" sz="1400" dirty="0">
                <a:solidFill>
                  <a:schemeClr val="bg1"/>
                </a:solidFill>
              </a:rPr>
              <a:t>决定 </a:t>
            </a:r>
            <a:r>
              <a:rPr lang="en-US" altLang="zh-CN" sz="1400" dirty="0">
                <a:solidFill>
                  <a:schemeClr val="bg1"/>
                </a:solidFill>
              </a:rPr>
              <a:t>size</a:t>
            </a:r>
            <a:endParaRPr lang="zh-CN" altLang="en-US" sz="1400" dirty="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dirty="0">
                <a:solidFill>
                  <a:schemeClr val="bg1"/>
                </a:solidFill>
              </a:rPr>
              <a:t>PO </a:t>
            </a:r>
            <a:r>
              <a:rPr lang="zh-CN" altLang="en-US" sz="1400" dirty="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dirty="0">
                <a:solidFill>
                  <a:schemeClr val="bg1"/>
                </a:solidFill>
              </a:rPr>
              <a:t>Backlog</a:t>
            </a:r>
            <a:endParaRPr lang="zh-CN" altLang="en-US" sz="1400" dirty="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dirty="0">
                <a:solidFill>
                  <a:schemeClr val="bg1"/>
                </a:solidFill>
              </a:rPr>
              <a:t>Battle</a:t>
            </a:r>
            <a:endParaRPr lang="zh-CN" altLang="en-US" sz="1400" dirty="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dirty="0">
                <a:solidFill>
                  <a:schemeClr val="bg1"/>
                </a:solidFill>
              </a:rPr>
              <a:t>SM</a:t>
            </a:r>
            <a:endParaRPr lang="zh-CN" altLang="en-US" sz="1400" dirty="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dirty="0"/>
              <a:t>2.6.6.2 </a:t>
            </a:r>
            <a:r>
              <a:rPr lang="zh-CN" altLang="en-US" dirty="0"/>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dirty="0"/>
              <a:t>一份计划 </a:t>
            </a:r>
            <a:r>
              <a:rPr lang="en-US" altLang="zh-CN" dirty="0"/>
              <a:t>Plan</a:t>
            </a:r>
          </a:p>
          <a:p>
            <a:pPr lvl="0"/>
            <a:r>
              <a:rPr lang="zh-CN" altLang="en-US" dirty="0"/>
              <a:t>组成 </a:t>
            </a:r>
            <a:r>
              <a:rPr lang="en-US" altLang="zh-CN" dirty="0"/>
              <a:t>composition</a:t>
            </a:r>
          </a:p>
          <a:p>
            <a:pPr lvl="1"/>
            <a:r>
              <a:rPr lang="en-US" altLang="zh-CN" dirty="0"/>
              <a:t>Why</a:t>
            </a:r>
            <a:r>
              <a:rPr lang="zh-CN" altLang="en-US" dirty="0"/>
              <a:t>：实现冲刺目标 </a:t>
            </a:r>
            <a:r>
              <a:rPr lang="en-US" altLang="zh-CN" dirty="0"/>
              <a:t>Sprint Goal</a:t>
            </a:r>
          </a:p>
          <a:p>
            <a:pPr lvl="1"/>
            <a:r>
              <a:rPr lang="en-US" altLang="zh-CN" dirty="0"/>
              <a:t>What</a:t>
            </a:r>
            <a:r>
              <a:rPr lang="zh-CN" altLang="en-US" dirty="0"/>
              <a:t>：从产品代办事项中选出的事项集合 </a:t>
            </a:r>
            <a:r>
              <a:rPr lang="en-US" altLang="zh-CN" dirty="0"/>
              <a:t>Set</a:t>
            </a:r>
          </a:p>
          <a:p>
            <a:pPr lvl="1"/>
            <a:r>
              <a:rPr lang="en-US" altLang="zh-CN" dirty="0"/>
              <a:t>How</a:t>
            </a:r>
            <a:r>
              <a:rPr lang="zh-CN" altLang="en-US" dirty="0"/>
              <a:t>：为了实现交付需要制定可行 </a:t>
            </a:r>
            <a:r>
              <a:rPr lang="en-US" altLang="zh-CN" dirty="0"/>
              <a:t>Actionable </a:t>
            </a:r>
            <a:r>
              <a:rPr lang="zh-CN" altLang="en-US" dirty="0"/>
              <a:t>的计划</a:t>
            </a:r>
            <a:endParaRPr lang="en-US" altLang="zh-CN" dirty="0"/>
          </a:p>
          <a:p>
            <a:r>
              <a:rPr lang="zh-CN" altLang="en-US" dirty="0"/>
              <a:t>在冲刺计划 </a:t>
            </a:r>
            <a:r>
              <a:rPr lang="en-US" altLang="zh-CN" dirty="0"/>
              <a:t>Sprint planning </a:t>
            </a:r>
            <a:r>
              <a:rPr lang="zh-CN" altLang="en-US" dirty="0"/>
              <a:t>中确定</a:t>
            </a:r>
            <a:endParaRPr lang="en-US" altLang="zh-CN" dirty="0"/>
          </a:p>
          <a:p>
            <a:r>
              <a:rPr lang="zh-CN" altLang="en-US" dirty="0"/>
              <a:t>由 </a:t>
            </a:r>
            <a:r>
              <a:rPr lang="en-US" altLang="zh-CN" dirty="0"/>
              <a:t>Developer </a:t>
            </a:r>
            <a:r>
              <a:rPr lang="zh-CN" altLang="en-US" dirty="0"/>
              <a:t>制定并实施 </a:t>
            </a:r>
            <a:r>
              <a:rPr lang="en-US" altLang="zh-CN" dirty="0">
                <a:solidFill>
                  <a:srgbClr val="FFFF00"/>
                </a:solidFill>
              </a:rPr>
              <a:t>by and for</a:t>
            </a:r>
            <a:r>
              <a:rPr lang="zh-CN" altLang="en-US" dirty="0"/>
              <a:t>；体现自组织 </a:t>
            </a:r>
            <a:r>
              <a:rPr lang="en-US" altLang="zh-CN" dirty="0"/>
              <a:t>Self-Management</a:t>
            </a:r>
          </a:p>
          <a:p>
            <a:r>
              <a:rPr lang="zh-CN" altLang="en-US" dirty="0"/>
              <a:t>彼此连贯 </a:t>
            </a:r>
            <a:r>
              <a:rPr lang="en-US" altLang="zh-CN" dirty="0"/>
              <a:t>Coherence</a:t>
            </a:r>
            <a:r>
              <a:rPr lang="zh-CN" altLang="en-US" dirty="0"/>
              <a:t>，聚焦冲刺目标</a:t>
            </a:r>
            <a:endParaRPr lang="en-US" altLang="zh-CN" dirty="0"/>
          </a:p>
          <a:p>
            <a:r>
              <a:rPr lang="zh-CN" altLang="en-US" dirty="0"/>
              <a:t>随着认知的深入，可以更新 </a:t>
            </a:r>
            <a:r>
              <a:rPr lang="en-US" altLang="zh-CN" dirty="0">
                <a:solidFill>
                  <a:srgbClr val="FFFF00"/>
                </a:solidFill>
              </a:rPr>
              <a:t>updated throughout</a:t>
            </a:r>
            <a:r>
              <a:rPr lang="zh-CN" altLang="en-US" dirty="0"/>
              <a:t>，以保持计划的真实性和有效性</a:t>
            </a:r>
            <a:endParaRPr lang="en-US" altLang="zh-CN" dirty="0"/>
          </a:p>
          <a:p>
            <a:r>
              <a:rPr lang="zh-CN" altLang="en-US" dirty="0"/>
              <a:t>工作偏离时，需要和 </a:t>
            </a:r>
            <a:r>
              <a:rPr lang="en-US" altLang="zh-CN" dirty="0"/>
              <a:t>PO </a:t>
            </a:r>
            <a:r>
              <a:rPr lang="zh-CN" altLang="en-US" dirty="0"/>
              <a:t>重新协商调整冲刺范围，不能影响冲刺目标；否则可能需要取消 </a:t>
            </a:r>
            <a:r>
              <a:rPr lang="en-US" altLang="zh-CN" dirty="0"/>
              <a:t>Sprint </a:t>
            </a:r>
            <a:r>
              <a:rPr lang="zh-CN" altLang="en-US" dirty="0"/>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dirty="0"/>
              <a:t>Sprint Backlog/Scrum Artifacts</a:t>
            </a:r>
            <a:endParaRPr lang="zh-CN" altLang="en-US" dirty="0"/>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dirty="0"/>
              <a:t>2.6.6.3 </a:t>
            </a:r>
            <a:r>
              <a:rPr lang="zh-CN" altLang="en-US" dirty="0"/>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dirty="0"/>
              <a:t>为实现目标的坚实基石 </a:t>
            </a:r>
            <a:r>
              <a:rPr lang="en-US" altLang="zh-CN" dirty="0"/>
              <a:t>concrete stepping stone</a:t>
            </a:r>
          </a:p>
          <a:p>
            <a:pPr lvl="0"/>
            <a:r>
              <a:rPr lang="zh-CN" altLang="en-US" dirty="0"/>
              <a:t>必须有用 </a:t>
            </a:r>
            <a:r>
              <a:rPr lang="en-US" altLang="zh-CN" dirty="0">
                <a:solidFill>
                  <a:srgbClr val="FFFF00"/>
                </a:solidFill>
              </a:rPr>
              <a:t>Usable</a:t>
            </a:r>
            <a:r>
              <a:rPr lang="zh-CN" altLang="en-US" dirty="0"/>
              <a:t>，且经过检验 </a:t>
            </a:r>
            <a:r>
              <a:rPr lang="en-US" altLang="zh-CN" dirty="0">
                <a:solidFill>
                  <a:srgbClr val="FFFF00"/>
                </a:solidFill>
              </a:rPr>
              <a:t>Verified</a:t>
            </a:r>
            <a:r>
              <a:rPr lang="zh-CN" altLang="en-US" dirty="0"/>
              <a:t>，价值累加 </a:t>
            </a:r>
            <a:r>
              <a:rPr lang="en-US" altLang="zh-CN" dirty="0">
                <a:solidFill>
                  <a:srgbClr val="FFFF00"/>
                </a:solidFill>
              </a:rPr>
              <a:t>Additive</a:t>
            </a:r>
          </a:p>
          <a:p>
            <a:pPr lvl="0"/>
            <a:r>
              <a:rPr lang="zh-CN" altLang="en-US" dirty="0"/>
              <a:t>确保之前所有的增量能一起工作 </a:t>
            </a:r>
            <a:r>
              <a:rPr lang="en-US" altLang="zh-CN" dirty="0">
                <a:solidFill>
                  <a:srgbClr val="FFFF00"/>
                </a:solidFill>
              </a:rPr>
              <a:t>Work</a:t>
            </a:r>
            <a:r>
              <a:rPr lang="en-US" altLang="zh-CN" dirty="0"/>
              <a:t> </a:t>
            </a:r>
            <a:r>
              <a:rPr lang="en-US" altLang="zh-CN" dirty="0">
                <a:solidFill>
                  <a:srgbClr val="FFFF00"/>
                </a:solidFill>
              </a:rPr>
              <a:t>Together</a:t>
            </a:r>
          </a:p>
          <a:p>
            <a:pPr lvl="0"/>
            <a:r>
              <a:rPr lang="zh-CN" altLang="en-US" dirty="0"/>
              <a:t>一个冲刺可以实现多个 </a:t>
            </a:r>
            <a:r>
              <a:rPr lang="en-US" altLang="zh-CN" dirty="0"/>
              <a:t>Multiple </a:t>
            </a:r>
            <a:r>
              <a:rPr lang="zh-CN" altLang="en-US" dirty="0"/>
              <a:t>增量</a:t>
            </a:r>
            <a:endParaRPr lang="en-US" altLang="zh-CN" dirty="0"/>
          </a:p>
          <a:p>
            <a:pPr lvl="0"/>
            <a:r>
              <a:rPr lang="zh-CN" altLang="en-US" dirty="0"/>
              <a:t>完成定义 </a:t>
            </a:r>
            <a:r>
              <a:rPr lang="en-US" altLang="zh-CN" dirty="0"/>
              <a:t>DOD(Definition of Done)</a:t>
            </a:r>
          </a:p>
          <a:p>
            <a:pPr lvl="1"/>
            <a:r>
              <a:rPr lang="zh-CN" altLang="en-US" dirty="0"/>
              <a:t>只有符合完成定义 </a:t>
            </a:r>
            <a:r>
              <a:rPr lang="en-US" altLang="zh-CN" dirty="0"/>
              <a:t>DOD</a:t>
            </a:r>
            <a:r>
              <a:rPr lang="zh-CN" altLang="en-US" dirty="0"/>
              <a:t>，才可被视作增量的一部分</a:t>
            </a:r>
            <a:endParaRPr lang="en-US" altLang="zh-CN" dirty="0"/>
          </a:p>
          <a:p>
            <a:pPr lvl="1"/>
            <a:r>
              <a:rPr lang="zh-CN" altLang="en-US" dirty="0"/>
              <a:t>一旦一个 </a:t>
            </a:r>
            <a:r>
              <a:rPr lang="en-US" altLang="zh-CN" dirty="0"/>
              <a:t>item </a:t>
            </a:r>
            <a:r>
              <a:rPr lang="zh-CN" altLang="en-US" dirty="0"/>
              <a:t>满足了完成定义，一个增量就诞生了</a:t>
            </a:r>
            <a:endParaRPr lang="en-US" altLang="zh-CN" dirty="0"/>
          </a:p>
          <a:p>
            <a:pPr lvl="1"/>
            <a:r>
              <a:rPr lang="zh-CN" altLang="en-US" dirty="0"/>
              <a:t>可以提前交付 </a:t>
            </a:r>
            <a:r>
              <a:rPr lang="en-US" altLang="zh-CN" dirty="0"/>
              <a:t>prior to</a:t>
            </a:r>
            <a:r>
              <a:rPr lang="zh-CN" altLang="en-US" dirty="0"/>
              <a:t>，不用等到冲刺结束</a:t>
            </a:r>
            <a:r>
              <a:rPr lang="en-US" altLang="zh-CN" dirty="0"/>
              <a:t>/</a:t>
            </a:r>
            <a:r>
              <a:rPr lang="zh-CN" altLang="en-US" dirty="0"/>
              <a:t>不需要冲刺审核通过</a:t>
            </a:r>
            <a:endParaRPr lang="en-US" altLang="zh-CN" dirty="0"/>
          </a:p>
          <a:p>
            <a:pPr lvl="1"/>
            <a:r>
              <a:rPr lang="zh-CN" altLang="en-US" dirty="0"/>
              <a:t>没有完成定义的 </a:t>
            </a:r>
            <a:r>
              <a:rPr lang="en-US" altLang="zh-CN" dirty="0"/>
              <a:t>item </a:t>
            </a:r>
            <a:r>
              <a:rPr lang="zh-CN" altLang="en-US" dirty="0"/>
              <a:t>不能发布，甚至不用在审查会议上展示，但需要重新在产品代办事项中考虑</a:t>
            </a:r>
            <a:endParaRPr lang="en-US" altLang="zh-CN" dirty="0"/>
          </a:p>
          <a:p>
            <a:pPr lvl="1"/>
            <a:r>
              <a:rPr lang="en-US" altLang="zh-CN" dirty="0"/>
              <a:t>DOD </a:t>
            </a:r>
            <a:r>
              <a:rPr lang="zh-CN" altLang="en-US" dirty="0"/>
              <a:t>可以由组织制定，所有团队遵守 </a:t>
            </a:r>
            <a:r>
              <a:rPr lang="en-US" altLang="zh-CN" dirty="0"/>
              <a:t>– </a:t>
            </a:r>
            <a:r>
              <a:rPr lang="zh-CN" altLang="en-US" dirty="0"/>
              <a:t>最低标准 </a:t>
            </a:r>
            <a:r>
              <a:rPr lang="en-US" altLang="zh-CN" dirty="0"/>
              <a:t>as a minimum</a:t>
            </a:r>
          </a:p>
          <a:p>
            <a:pPr lvl="1"/>
            <a:r>
              <a:rPr lang="zh-CN" altLang="en-US" dirty="0"/>
              <a:t>也可以由某个团队制定并遵守 </a:t>
            </a:r>
            <a:r>
              <a:rPr lang="en-US" altLang="zh-CN" dirty="0"/>
              <a:t>– </a:t>
            </a:r>
            <a:r>
              <a:rPr lang="zh-CN" altLang="en-US" dirty="0"/>
              <a:t>定制标准</a:t>
            </a:r>
            <a:endParaRPr lang="en-US" altLang="zh-CN" dirty="0"/>
          </a:p>
          <a:p>
            <a:pPr lvl="1"/>
            <a:r>
              <a:rPr lang="zh-CN" altLang="en-US" dirty="0"/>
              <a:t>通常是</a:t>
            </a:r>
            <a:r>
              <a:rPr lang="en-US" altLang="zh-CN" dirty="0"/>
              <a:t>2</a:t>
            </a:r>
            <a:r>
              <a:rPr lang="zh-CN" altLang="en-US" dirty="0"/>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dirty="0"/>
              <a:t>Increment/Scrum Artifacts</a:t>
            </a:r>
            <a:endParaRPr lang="zh-CN" altLang="en-US" dirty="0"/>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dirty="0"/>
              <a:t>2.7 </a:t>
            </a:r>
            <a:r>
              <a:rPr lang="zh-CN" altLang="en-US" dirty="0"/>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dirty="0"/>
              <a:t>每次敏捷迭代被称为冲刺</a:t>
            </a:r>
          </a:p>
          <a:p>
            <a:pPr lvl="1"/>
            <a:r>
              <a:rPr lang="en-US" altLang="zh-CN" dirty="0"/>
              <a:t>Each iteration of a scrum is termed as Sprint.</a:t>
            </a:r>
          </a:p>
          <a:p>
            <a:r>
              <a:rPr lang="zh-CN" altLang="en-US" dirty="0"/>
              <a:t>产品待办事项列表是包含创建最终产品所需所有信息的列表</a:t>
            </a:r>
          </a:p>
          <a:p>
            <a:pPr lvl="1"/>
            <a:r>
              <a:rPr lang="en-US" altLang="zh-CN" dirty="0"/>
              <a:t>A </a:t>
            </a:r>
            <a:r>
              <a:rPr lang="en-US" altLang="zh-CN" dirty="0">
                <a:solidFill>
                  <a:srgbClr val="FFFF00"/>
                </a:solidFill>
              </a:rPr>
              <a:t>product</a:t>
            </a:r>
            <a:r>
              <a:rPr lang="en-US" altLang="zh-CN" dirty="0"/>
              <a:t> </a:t>
            </a:r>
            <a:r>
              <a:rPr lang="en-US" altLang="zh-CN" dirty="0">
                <a:solidFill>
                  <a:srgbClr val="FFFF00"/>
                </a:solidFill>
              </a:rPr>
              <a:t>backlog</a:t>
            </a:r>
            <a:r>
              <a:rPr lang="en-US" altLang="zh-CN" dirty="0"/>
              <a:t> is a list that contains all of the information needed to create the final product.</a:t>
            </a:r>
          </a:p>
          <a:p>
            <a:r>
              <a:rPr lang="zh-CN" altLang="en-US" dirty="0"/>
              <a:t>每个迭代周期，从产品待办事项中挑选出顶级用户故事，并将其翻译到迭代待办事项中</a:t>
            </a:r>
          </a:p>
          <a:p>
            <a:pPr lvl="1"/>
            <a:r>
              <a:rPr lang="en-US" altLang="zh-CN" dirty="0"/>
              <a:t>The top user stories from the Product backlog are chosen and translated into </a:t>
            </a:r>
            <a:r>
              <a:rPr lang="en-US" altLang="zh-CN" dirty="0">
                <a:solidFill>
                  <a:srgbClr val="FFFF00"/>
                </a:solidFill>
              </a:rPr>
              <a:t>Sprint</a:t>
            </a:r>
            <a:r>
              <a:rPr lang="en-US" altLang="zh-CN" dirty="0"/>
              <a:t> </a:t>
            </a:r>
            <a:r>
              <a:rPr lang="en-US" altLang="zh-CN" dirty="0">
                <a:solidFill>
                  <a:srgbClr val="FFFF00"/>
                </a:solidFill>
              </a:rPr>
              <a:t>backlogs</a:t>
            </a:r>
            <a:r>
              <a:rPr lang="en-US" altLang="zh-CN" dirty="0"/>
              <a:t> during each Sprint.</a:t>
            </a:r>
          </a:p>
          <a:p>
            <a:r>
              <a:rPr lang="zh-CN" altLang="en-US" dirty="0"/>
              <a:t>团队处理已建立的冲刺待办事项</a:t>
            </a:r>
          </a:p>
          <a:p>
            <a:pPr lvl="1"/>
            <a:r>
              <a:rPr lang="en-US" altLang="zh-CN" dirty="0"/>
              <a:t>The team works on the sprint backlog that has been established.</a:t>
            </a:r>
          </a:p>
          <a:p>
            <a:r>
              <a:rPr lang="zh-CN" altLang="en-US" dirty="0"/>
              <a:t>团队会双重检查日常工作</a:t>
            </a:r>
          </a:p>
          <a:p>
            <a:pPr lvl="1"/>
            <a:r>
              <a:rPr lang="en-US" altLang="zh-CN" dirty="0"/>
              <a:t>The team double-checks the everyday job.</a:t>
            </a:r>
          </a:p>
          <a:p>
            <a:r>
              <a:rPr lang="zh-CN" altLang="en-US" dirty="0"/>
              <a:t>团队在冲刺结束时交付产品功能</a:t>
            </a:r>
          </a:p>
          <a:p>
            <a:pPr lvl="1"/>
            <a:r>
              <a:rPr lang="en-US" altLang="zh-CN" dirty="0"/>
              <a:t>The team delivers product functionality at the end of the sprint.</a:t>
            </a:r>
          </a:p>
          <a:p>
            <a:endParaRPr lang="zh-CN" altLang="en-US" dirty="0"/>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dirty="0"/>
              <a:t>Process flow</a:t>
            </a:r>
            <a:endParaRPr lang="zh-CN" altLang="en-US" dirty="0"/>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dirty="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dirty="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dirty="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dirty="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产品经理 </a:t>
                      </a:r>
                      <a:r>
                        <a:rPr lang="en-US" altLang="zh-CN" sz="1600" dirty="0">
                          <a:solidFill>
                            <a:schemeClr val="bg1"/>
                          </a:solidFill>
                        </a:rPr>
                        <a:t>/ </a:t>
                      </a:r>
                      <a:r>
                        <a:rPr lang="en-US" sz="1600" dirty="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dirty="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持续添加</a:t>
                      </a:r>
                      <a:r>
                        <a:rPr lang="en-US" altLang="zh-CN" sz="1600" dirty="0">
                          <a:solidFill>
                            <a:schemeClr val="bg1"/>
                          </a:solidFill>
                        </a:rPr>
                        <a:t>/</a:t>
                      </a:r>
                      <a:r>
                        <a:rPr lang="zh-CN" altLang="en-US" sz="1600" dirty="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dirty="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dirty="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业务</a:t>
                      </a:r>
                      <a:r>
                        <a:rPr lang="en-US" altLang="zh-CN" sz="1600" dirty="0">
                          <a:solidFill>
                            <a:schemeClr val="bg1"/>
                          </a:solidFill>
                        </a:rPr>
                        <a:t>/</a:t>
                      </a:r>
                      <a:r>
                        <a:rPr lang="zh-CN" altLang="en-US" sz="1600" dirty="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产品</a:t>
                      </a:r>
                      <a:r>
                        <a:rPr lang="en-US" altLang="zh-CN" sz="1600" dirty="0">
                          <a:solidFill>
                            <a:schemeClr val="bg1"/>
                          </a:solidFill>
                        </a:rPr>
                        <a:t>/</a:t>
                      </a:r>
                      <a:r>
                        <a:rPr lang="zh-CN" altLang="en-US" sz="1600" dirty="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dirty="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代码 </a:t>
                      </a:r>
                      <a:r>
                        <a:rPr lang="en-US" altLang="zh-CN" sz="1600" dirty="0">
                          <a:solidFill>
                            <a:schemeClr val="bg1"/>
                          </a:solidFill>
                        </a:rPr>
                        <a:t>+ </a:t>
                      </a:r>
                      <a:r>
                        <a:rPr lang="zh-CN" altLang="en-US" sz="1600" dirty="0">
                          <a:solidFill>
                            <a:schemeClr val="bg1"/>
                          </a:solidFill>
                        </a:rPr>
                        <a:t>测试 </a:t>
                      </a:r>
                      <a:r>
                        <a:rPr lang="en-US" altLang="zh-CN" sz="1600" dirty="0">
                          <a:solidFill>
                            <a:schemeClr val="bg1"/>
                          </a:solidFill>
                        </a:rPr>
                        <a:t>+ </a:t>
                      </a:r>
                      <a:r>
                        <a:rPr lang="zh-CN" altLang="en-US" sz="1600" dirty="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所有已完成的特性 </a:t>
                      </a:r>
                      <a:r>
                        <a:rPr lang="en-US" altLang="zh-CN" sz="1600" dirty="0">
                          <a:solidFill>
                            <a:schemeClr val="bg1"/>
                          </a:solidFill>
                        </a:rPr>
                        <a:t>+ </a:t>
                      </a:r>
                      <a:r>
                        <a:rPr lang="zh-CN" altLang="en-US" sz="1600" dirty="0">
                          <a:solidFill>
                            <a:schemeClr val="bg1"/>
                          </a:solidFill>
                        </a:rPr>
                        <a:t>旧功能 </a:t>
                      </a:r>
                      <a:r>
                        <a:rPr lang="en-US" altLang="zh-CN" sz="1600" dirty="0">
                          <a:solidFill>
                            <a:schemeClr val="bg1"/>
                          </a:solidFill>
                        </a:rPr>
                        <a:t>+ </a:t>
                      </a:r>
                      <a:r>
                        <a:rPr lang="zh-CN" altLang="en-US" sz="1600" dirty="0">
                          <a:solidFill>
                            <a:schemeClr val="bg1"/>
                          </a:solidFill>
                        </a:rPr>
                        <a:t>修复的</a:t>
                      </a:r>
                      <a:r>
                        <a:rPr lang="en-US" altLang="zh-CN" sz="1600" dirty="0">
                          <a:solidFill>
                            <a:schemeClr val="bg1"/>
                          </a:solidFill>
                        </a:rPr>
                        <a:t>Bug + </a:t>
                      </a:r>
                      <a:r>
                        <a:rPr lang="zh-CN" altLang="en-US" sz="1600" dirty="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dirty="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dirty="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强累积（</a:t>
                      </a:r>
                      <a:r>
                        <a:rPr lang="en-US" sz="1600" dirty="0">
                          <a:solidFill>
                            <a:schemeClr val="bg1"/>
                          </a:solidFill>
                        </a:rPr>
                        <a:t>Increment 2 = Increment 1 + </a:t>
                      </a:r>
                      <a:r>
                        <a:rPr lang="zh-CN" altLang="en-US" sz="1600" dirty="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dirty="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较大（通常是一个迭代</a:t>
                      </a:r>
                      <a:r>
                        <a:rPr lang="en-US" altLang="zh-CN" sz="1600" dirty="0">
                          <a:solidFill>
                            <a:schemeClr val="bg1"/>
                          </a:solidFill>
                        </a:rPr>
                        <a:t>/Sprint</a:t>
                      </a:r>
                      <a:r>
                        <a:rPr lang="zh-CN" altLang="en-US" sz="1600" dirty="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dirty="0">
                          <a:solidFill>
                            <a:schemeClr val="bg1"/>
                          </a:solidFill>
                        </a:rPr>
                        <a:t>FDD</a:t>
                      </a:r>
                      <a:r>
                        <a:rPr lang="zh-CN" altLang="en-US" sz="1600" dirty="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FDD</a:t>
                      </a:r>
                      <a:r>
                        <a:rPr lang="zh-CN" altLang="en-US" sz="1600" dirty="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FDD</a:t>
                      </a:r>
                      <a:r>
                        <a:rPr lang="zh-CN" altLang="en-US" sz="1600" dirty="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dirty="0"/>
              <a:t>需求管理</a:t>
            </a:r>
            <a:endParaRPr lang="en-US" altLang="zh-CN" dirty="0"/>
          </a:p>
          <a:p>
            <a:r>
              <a:rPr lang="zh-CN" altLang="en-US" dirty="0"/>
              <a:t>传统项目需求分析</a:t>
            </a:r>
            <a:endParaRPr lang="en-US" altLang="zh-CN" dirty="0"/>
          </a:p>
          <a:p>
            <a:r>
              <a:rPr lang="zh-CN" altLang="en-US" dirty="0"/>
              <a:t>敏捷项目需求分析</a:t>
            </a:r>
            <a:endParaRPr lang="en-US" altLang="zh-CN" dirty="0"/>
          </a:p>
          <a:p>
            <a:r>
              <a:rPr lang="zh-CN" altLang="en-US" dirty="0"/>
              <a:t>工作范围</a:t>
            </a:r>
            <a:endParaRPr lang="en-US" altLang="zh-CN" dirty="0"/>
          </a:p>
          <a:p>
            <a:r>
              <a:rPr lang="zh-CN" altLang="en-US" dirty="0"/>
              <a:t>任务分解</a:t>
            </a:r>
            <a:endParaRPr lang="en-US" altLang="zh-CN" dirty="0"/>
          </a:p>
          <a:p>
            <a:r>
              <a:rPr lang="zh-CN" altLang="en-US" dirty="0"/>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dirty="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dirty="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dirty="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dirty="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dirty="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dirty="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dirty="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dirty="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dirty="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dirty="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dirty="0"/>
              <a:t>1. </a:t>
            </a:r>
            <a:r>
              <a:rPr lang="zh-CN" altLang="en-US" dirty="0"/>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spTree>
    <p:extLst>
      <p:ext uri="{BB962C8B-B14F-4D97-AF65-F5344CB8AC3E}">
        <p14:creationId xmlns:p14="http://schemas.microsoft.com/office/powerpoint/2010/main" val="7221205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dirty="0"/>
              <a:t>1.1 </a:t>
            </a:r>
            <a:r>
              <a:rPr lang="zh-CN" altLang="en-US" dirty="0"/>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dirty="0"/>
              <a:t>业务需求 </a:t>
            </a:r>
            <a:r>
              <a:rPr lang="en-US" altLang="zh-CN" dirty="0"/>
              <a:t>business requirement</a:t>
            </a:r>
          </a:p>
          <a:p>
            <a:pPr lvl="1"/>
            <a:r>
              <a:rPr lang="zh-CN" altLang="en-US" dirty="0"/>
              <a:t>关注商业价值、战略目标、投资回报等</a:t>
            </a:r>
            <a:endParaRPr lang="en-US" altLang="zh-CN" dirty="0"/>
          </a:p>
          <a:p>
            <a:pPr lvl="1"/>
            <a:r>
              <a:rPr lang="en-US" altLang="zh-CN" dirty="0"/>
              <a:t>Why?</a:t>
            </a:r>
          </a:p>
          <a:p>
            <a:r>
              <a:rPr lang="zh-CN" altLang="en-US" dirty="0"/>
              <a:t>用户需求 </a:t>
            </a:r>
            <a:r>
              <a:rPr lang="en-US" altLang="zh-CN" dirty="0"/>
              <a:t>user requirement</a:t>
            </a:r>
          </a:p>
          <a:p>
            <a:pPr lvl="1"/>
            <a:r>
              <a:rPr lang="en-US" altLang="zh-CN" dirty="0"/>
              <a:t>C</a:t>
            </a:r>
            <a:r>
              <a:rPr lang="zh-CN" altLang="en-US" dirty="0"/>
              <a:t>端的需求</a:t>
            </a:r>
            <a:endParaRPr lang="en-US" altLang="zh-CN" dirty="0"/>
          </a:p>
          <a:p>
            <a:pPr lvl="1"/>
            <a:r>
              <a:rPr lang="en-US" altLang="zh-CN" dirty="0"/>
              <a:t>What?</a:t>
            </a:r>
          </a:p>
          <a:p>
            <a:r>
              <a:rPr lang="zh-CN" altLang="en-US" dirty="0"/>
              <a:t>功能需求 </a:t>
            </a:r>
            <a:r>
              <a:rPr lang="en-US" altLang="zh-CN" dirty="0"/>
              <a:t>functional requirement</a:t>
            </a:r>
          </a:p>
          <a:p>
            <a:pPr lvl="1"/>
            <a:r>
              <a:rPr lang="zh-CN" altLang="en-US" dirty="0"/>
              <a:t>必须具备哪些具体功能来满足用户需求</a:t>
            </a:r>
            <a:endParaRPr lang="en-US" altLang="zh-CN" dirty="0"/>
          </a:p>
          <a:p>
            <a:pPr lvl="1"/>
            <a:r>
              <a:rPr lang="en-US" altLang="zh-CN" dirty="0"/>
              <a:t>How?</a:t>
            </a:r>
          </a:p>
          <a:p>
            <a:endParaRPr lang="en-US" altLang="zh-CN" dirty="0"/>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spTree>
    <p:extLst>
      <p:ext uri="{BB962C8B-B14F-4D97-AF65-F5344CB8AC3E}">
        <p14:creationId xmlns:p14="http://schemas.microsoft.com/office/powerpoint/2010/main" val="11548554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dirty="0">
                <a:solidFill>
                  <a:schemeClr val="bg1"/>
                </a:solidFill>
              </a:rPr>
              <a:t>背景：某电商公司计划开发一键退货功能。</a:t>
            </a:r>
          </a:p>
          <a:p>
            <a:r>
              <a:rPr lang="zh-CN" altLang="en-US" b="1" dirty="0">
                <a:solidFill>
                  <a:schemeClr val="bg1"/>
                </a:solidFill>
              </a:rPr>
              <a:t>描述</a:t>
            </a:r>
            <a:r>
              <a:rPr lang="en-US" altLang="zh-CN" b="1" dirty="0">
                <a:solidFill>
                  <a:schemeClr val="bg1"/>
                </a:solidFill>
              </a:rPr>
              <a:t>1</a:t>
            </a:r>
            <a:r>
              <a:rPr lang="zh-CN" altLang="en-US" dirty="0">
                <a:solidFill>
                  <a:schemeClr val="bg1"/>
                </a:solidFill>
              </a:rPr>
              <a:t>：为了降低客服人力成本（预计减少</a:t>
            </a:r>
            <a:r>
              <a:rPr lang="en-US" altLang="zh-CN" dirty="0">
                <a:solidFill>
                  <a:schemeClr val="bg1"/>
                </a:solidFill>
              </a:rPr>
              <a:t>30%</a:t>
            </a:r>
            <a:r>
              <a:rPr lang="zh-CN" altLang="en-US" dirty="0">
                <a:solidFill>
                  <a:schemeClr val="bg1"/>
                </a:solidFill>
              </a:rPr>
              <a:t>），并提升客户复购率，公司决定优化售后流程</a:t>
            </a:r>
            <a:br>
              <a:rPr lang="zh-CN" altLang="en-US" dirty="0">
                <a:solidFill>
                  <a:schemeClr val="bg1"/>
                </a:solidFill>
              </a:rPr>
            </a:br>
            <a:endParaRPr lang="en-US" altLang="zh-CN" dirty="0">
              <a:solidFill>
                <a:schemeClr val="bg1"/>
              </a:solidFill>
            </a:endParaRPr>
          </a:p>
          <a:p>
            <a:r>
              <a:rPr lang="zh-CN" altLang="en-US" b="1" dirty="0">
                <a:solidFill>
                  <a:schemeClr val="bg1"/>
                </a:solidFill>
              </a:rPr>
              <a:t>描述</a:t>
            </a:r>
            <a:r>
              <a:rPr lang="en-US" altLang="zh-CN" b="1" dirty="0">
                <a:solidFill>
                  <a:schemeClr val="bg1"/>
                </a:solidFill>
              </a:rPr>
              <a:t>2</a:t>
            </a:r>
            <a:r>
              <a:rPr lang="zh-CN" altLang="en-US" dirty="0">
                <a:solidFill>
                  <a:schemeClr val="bg1"/>
                </a:solidFill>
              </a:rPr>
              <a:t>：</a:t>
            </a:r>
            <a:r>
              <a:rPr lang="zh-CN" altLang="en-US" b="1" dirty="0">
                <a:solidFill>
                  <a:schemeClr val="bg1"/>
                </a:solidFill>
              </a:rPr>
              <a:t>用户反馈</a:t>
            </a:r>
            <a:r>
              <a:rPr lang="zh-CN" altLang="en-US" dirty="0">
                <a:solidFill>
                  <a:schemeClr val="bg1"/>
                </a:solidFill>
              </a:rPr>
              <a:t>希望在收到商品不满意时，不用打电话给客服解释半天，只需要在手机上点一下，快递员就能上门取件，马上退钱</a:t>
            </a:r>
            <a:endParaRPr lang="en-US" altLang="zh-CN" dirty="0">
              <a:solidFill>
                <a:schemeClr val="bg1"/>
              </a:solidFill>
            </a:endParaRPr>
          </a:p>
          <a:p>
            <a:br>
              <a:rPr lang="zh-CN" altLang="en-US" dirty="0">
                <a:solidFill>
                  <a:schemeClr val="bg1"/>
                </a:solidFill>
              </a:rPr>
            </a:br>
            <a:r>
              <a:rPr lang="zh-CN" altLang="en-US" b="1" dirty="0">
                <a:solidFill>
                  <a:schemeClr val="bg1"/>
                </a:solidFill>
              </a:rPr>
              <a:t>描述</a:t>
            </a:r>
            <a:r>
              <a:rPr lang="en-US" altLang="zh-CN" b="1" dirty="0">
                <a:solidFill>
                  <a:schemeClr val="bg1"/>
                </a:solidFill>
              </a:rPr>
              <a:t>3</a:t>
            </a:r>
            <a:r>
              <a:rPr lang="zh-CN" altLang="en-US" dirty="0">
                <a:solidFill>
                  <a:schemeClr val="bg1"/>
                </a:solidFill>
              </a:rPr>
              <a:t>：</a:t>
            </a:r>
            <a:r>
              <a:rPr lang="zh-CN" altLang="en-US" b="1" dirty="0">
                <a:solidFill>
                  <a:schemeClr val="bg1"/>
                </a:solidFill>
              </a:rPr>
              <a:t>系统开发人员设计方案：</a:t>
            </a:r>
            <a:r>
              <a:rPr lang="zh-CN" altLang="en-US" dirty="0">
                <a:solidFill>
                  <a:schemeClr val="bg1"/>
                </a:solidFill>
              </a:rPr>
              <a:t>当用户点击申请退货按钮且订单状态为已签收未满</a:t>
            </a:r>
            <a:r>
              <a:rPr lang="en-US" altLang="zh-CN" dirty="0">
                <a:solidFill>
                  <a:schemeClr val="bg1"/>
                </a:solidFill>
              </a:rPr>
              <a:t>7</a:t>
            </a:r>
            <a:r>
              <a:rPr lang="zh-CN" altLang="en-US" dirty="0">
                <a:solidFill>
                  <a:schemeClr val="bg1"/>
                </a:solidFill>
              </a:rPr>
              <a:t>天时，系统应自动调用物流接口生成取件码，并在数据库中将该订单状态更新为退货中，同时触发财务系统原路退款</a:t>
            </a:r>
            <a:br>
              <a:rPr lang="zh-CN" altLang="en-US" dirty="0">
                <a:solidFill>
                  <a:schemeClr val="bg1"/>
                </a:solidFill>
              </a:rPr>
            </a:br>
            <a:endParaRPr lang="en-US" altLang="zh-CN" dirty="0">
              <a:solidFill>
                <a:schemeClr val="bg1"/>
              </a:solidFill>
            </a:endParaRPr>
          </a:p>
          <a:p>
            <a:r>
              <a:rPr lang="zh-CN" altLang="en-US" dirty="0">
                <a:solidFill>
                  <a:schemeClr val="bg1"/>
                </a:solidFill>
              </a:rPr>
              <a:t>以上描述分别属于哪类需求？</a:t>
            </a:r>
            <a:endParaRPr lang="en-US" altLang="zh-CN" dirty="0">
              <a:solidFill>
                <a:schemeClr val="bg1"/>
              </a:solidFill>
            </a:endParaRPr>
          </a:p>
          <a:p>
            <a:br>
              <a:rPr lang="zh-CN" altLang="en-US" dirty="0">
                <a:solidFill>
                  <a:schemeClr val="bg1"/>
                </a:solidFill>
              </a:rPr>
            </a:br>
            <a:r>
              <a:rPr lang="en-US" altLang="zh-CN" dirty="0">
                <a:solidFill>
                  <a:schemeClr val="bg1"/>
                </a:solidFill>
              </a:rPr>
              <a:t>A. </a:t>
            </a:r>
            <a:r>
              <a:rPr lang="zh-CN" altLang="en-US" dirty="0">
                <a:solidFill>
                  <a:schemeClr val="bg1"/>
                </a:solidFill>
              </a:rPr>
              <a:t>业务需求</a:t>
            </a:r>
            <a:br>
              <a:rPr lang="zh-CN" altLang="en-US" dirty="0">
                <a:solidFill>
                  <a:schemeClr val="bg1"/>
                </a:solidFill>
              </a:rPr>
            </a:br>
            <a:r>
              <a:rPr lang="en-US" altLang="zh-CN" dirty="0">
                <a:solidFill>
                  <a:schemeClr val="bg1"/>
                </a:solidFill>
              </a:rPr>
              <a:t>B. </a:t>
            </a:r>
            <a:r>
              <a:rPr lang="zh-CN" altLang="en-US" dirty="0">
                <a:solidFill>
                  <a:schemeClr val="bg1"/>
                </a:solidFill>
              </a:rPr>
              <a:t>用户需求</a:t>
            </a:r>
            <a:br>
              <a:rPr lang="zh-CN" altLang="en-US" dirty="0">
                <a:solidFill>
                  <a:schemeClr val="bg1"/>
                </a:solidFill>
              </a:rPr>
            </a:br>
            <a:r>
              <a:rPr lang="en-US" altLang="zh-CN" dirty="0">
                <a:solidFill>
                  <a:schemeClr val="bg1"/>
                </a:solidFill>
              </a:rPr>
              <a:t>C. </a:t>
            </a:r>
            <a:r>
              <a:rPr lang="zh-CN" altLang="en-US" dirty="0">
                <a:solidFill>
                  <a:schemeClr val="bg1"/>
                </a:solidFill>
              </a:rPr>
              <a:t>功能需求</a:t>
            </a:r>
            <a:br>
              <a:rPr lang="zh-CN" altLang="en-US" dirty="0">
                <a:solidFill>
                  <a:schemeClr val="bg1"/>
                </a:solidFill>
              </a:rPr>
            </a:br>
            <a:r>
              <a:rPr lang="en-US" altLang="zh-CN" dirty="0">
                <a:solidFill>
                  <a:schemeClr val="bg1"/>
                </a:solidFill>
              </a:rPr>
              <a:t>D. </a:t>
            </a:r>
            <a:r>
              <a:rPr lang="zh-CN" altLang="en-US" dirty="0">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dirty="0"/>
              <a:t>1.2 </a:t>
            </a:r>
            <a:r>
              <a:rPr lang="zh-CN" altLang="en-US" dirty="0"/>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dirty="0"/>
              <a:t>5</a:t>
            </a:r>
            <a:r>
              <a:rPr lang="zh-CN" altLang="en-US" dirty="0"/>
              <a:t>个过程</a:t>
            </a:r>
            <a:endParaRPr lang="en-US" altLang="zh-CN" dirty="0"/>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dirty="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dirty="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dirty="0"/>
              <a:t>1.2.1 </a:t>
            </a:r>
            <a:r>
              <a:rPr lang="zh-CN" altLang="en-US" dirty="0"/>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dirty="0"/>
              <a:t>访谈：面对面沟通、电话、专题会议类 </a:t>
            </a:r>
            <a:r>
              <a:rPr lang="en-US" altLang="zh-CN" dirty="0"/>
              <a:t>…</a:t>
            </a:r>
          </a:p>
          <a:p>
            <a:r>
              <a:rPr lang="zh-CN" altLang="en-US" dirty="0"/>
              <a:t>文档：问卷、数据筛选、电子邮件 </a:t>
            </a:r>
            <a:r>
              <a:rPr lang="en-US" altLang="zh-CN" dirty="0"/>
              <a:t>…</a:t>
            </a:r>
          </a:p>
          <a:p>
            <a:r>
              <a:rPr lang="zh-CN" altLang="en-US" dirty="0"/>
              <a:t>注意：</a:t>
            </a:r>
            <a:endParaRPr lang="en-US" altLang="zh-CN" dirty="0"/>
          </a:p>
          <a:p>
            <a:pPr lvl="1"/>
            <a:r>
              <a:rPr lang="zh-CN" altLang="en-US" dirty="0"/>
              <a:t>识别真正的用户</a:t>
            </a:r>
            <a:r>
              <a:rPr lang="en-US" altLang="zh-CN" dirty="0"/>
              <a:t>/</a:t>
            </a:r>
            <a:r>
              <a:rPr lang="zh-CN" altLang="en-US" dirty="0"/>
              <a:t>干系人</a:t>
            </a:r>
            <a:endParaRPr lang="en-US" altLang="zh-CN" dirty="0"/>
          </a:p>
          <a:p>
            <a:pPr lvl="1"/>
            <a:r>
              <a:rPr lang="zh-CN" altLang="en-US" dirty="0"/>
              <a:t>正确理解用户需求</a:t>
            </a:r>
            <a:endParaRPr lang="en-US" altLang="zh-CN" dirty="0"/>
          </a:p>
          <a:p>
            <a:pPr lvl="1"/>
            <a:r>
              <a:rPr lang="zh-CN" altLang="en-US" dirty="0"/>
              <a:t>耐心</a:t>
            </a:r>
            <a:endParaRPr lang="en-US" altLang="zh-CN" dirty="0"/>
          </a:p>
          <a:p>
            <a:pPr lvl="1"/>
            <a:r>
              <a:rPr lang="zh-CN" altLang="en-US" dirty="0"/>
              <a:t>引导并说服</a:t>
            </a:r>
            <a:endParaRPr lang="en-US" altLang="zh-CN" dirty="0"/>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spTree>
    <p:extLst>
      <p:ext uri="{BB962C8B-B14F-4D97-AF65-F5344CB8AC3E}">
        <p14:creationId xmlns:p14="http://schemas.microsoft.com/office/powerpoint/2010/main" val="220953606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dirty="0"/>
              <a:t>1.2.2 </a:t>
            </a:r>
            <a:r>
              <a:rPr lang="zh-CN" altLang="en-US" dirty="0"/>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dirty="0"/>
              <a:t>也称系统建模</a:t>
            </a:r>
            <a:endParaRPr lang="en-US" altLang="zh-CN" dirty="0"/>
          </a:p>
          <a:p>
            <a:r>
              <a:rPr lang="zh-CN" altLang="en-US" dirty="0"/>
              <a:t>为最终用户所看到的系统建立一个概念模型，是对需求的抽象描述</a:t>
            </a:r>
            <a:endParaRPr lang="en-US" altLang="zh-CN" dirty="0"/>
          </a:p>
          <a:p>
            <a:r>
              <a:rPr lang="zh-CN" altLang="en-US" dirty="0"/>
              <a:t>尽可能全面、详细</a:t>
            </a:r>
            <a:endParaRPr lang="en-US" altLang="zh-CN" dirty="0"/>
          </a:p>
          <a:p>
            <a:r>
              <a:rPr lang="zh-CN" altLang="en-US" dirty="0"/>
              <a:t>工具类：</a:t>
            </a:r>
            <a:r>
              <a:rPr lang="en-US" altLang="zh-CN" dirty="0"/>
              <a:t>DFD</a:t>
            </a:r>
            <a:r>
              <a:rPr lang="zh-CN" altLang="en-US" dirty="0"/>
              <a:t>看数据，流程图看步骤，用例图看用户，时序图看交互，</a:t>
            </a:r>
            <a:r>
              <a:rPr lang="en-US" altLang="zh-CN" dirty="0"/>
              <a:t>E-R</a:t>
            </a:r>
            <a:r>
              <a:rPr lang="zh-CN" altLang="en-US" dirty="0"/>
              <a:t>图看结构</a:t>
            </a:r>
            <a:r>
              <a:rPr lang="en-US" altLang="zh-CN" dirty="0"/>
              <a:t>…</a:t>
            </a:r>
          </a:p>
          <a:p>
            <a:pPr lvl="1"/>
            <a:r>
              <a:rPr lang="zh-CN" altLang="en-US" dirty="0"/>
              <a:t>用例图（</a:t>
            </a:r>
            <a:r>
              <a:rPr lang="en-US" altLang="zh-CN" dirty="0"/>
              <a:t>Use Case Diagram</a:t>
            </a:r>
            <a:r>
              <a:rPr lang="zh-CN" altLang="en-US" dirty="0"/>
              <a:t>）→ 描述“谁用什么功能”</a:t>
            </a:r>
            <a:endParaRPr lang="en-US" altLang="zh-CN" dirty="0"/>
          </a:p>
          <a:p>
            <a:pPr lvl="1"/>
            <a:r>
              <a:rPr lang="zh-CN" altLang="en-US" dirty="0"/>
              <a:t>活动图 </a:t>
            </a:r>
            <a:r>
              <a:rPr lang="en-US" altLang="zh-CN" dirty="0"/>
              <a:t>/ </a:t>
            </a:r>
            <a:r>
              <a:rPr lang="zh-CN" altLang="en-US" dirty="0"/>
              <a:t>流程图（</a:t>
            </a:r>
            <a:r>
              <a:rPr lang="en-US" altLang="zh-CN" dirty="0"/>
              <a:t>Activity Diagram</a:t>
            </a:r>
            <a:r>
              <a:rPr lang="zh-CN" altLang="en-US" dirty="0"/>
              <a:t>）→ 描述“业务流程怎么走”</a:t>
            </a:r>
            <a:endParaRPr lang="en-US" altLang="zh-CN" dirty="0"/>
          </a:p>
          <a:p>
            <a:pPr lvl="1"/>
            <a:r>
              <a:rPr lang="zh-CN" altLang="en-US" dirty="0"/>
              <a:t>状态图（</a:t>
            </a:r>
            <a:r>
              <a:rPr lang="en-US" altLang="zh-CN" dirty="0"/>
              <a:t>State Diagram</a:t>
            </a:r>
            <a:r>
              <a:rPr lang="zh-CN" altLang="en-US" dirty="0"/>
              <a:t>）→ 描述“对象生命周期变化”</a:t>
            </a:r>
            <a:endParaRPr lang="en-US" altLang="zh-CN" dirty="0"/>
          </a:p>
          <a:p>
            <a:pPr lvl="1"/>
            <a:r>
              <a:rPr lang="zh-CN" altLang="en-US" dirty="0"/>
              <a:t>实体关系图（</a:t>
            </a:r>
            <a:r>
              <a:rPr lang="en-US" altLang="zh-CN" dirty="0"/>
              <a:t>ERD</a:t>
            </a:r>
            <a:r>
              <a:rPr lang="zh-CN" altLang="en-US" dirty="0"/>
              <a:t>）→ 描述“数据怎么组织”</a:t>
            </a:r>
            <a:endParaRPr lang="en-US" altLang="zh-CN" dirty="0"/>
          </a:p>
          <a:p>
            <a:pPr lvl="1"/>
            <a:r>
              <a:rPr lang="zh-CN" altLang="en-US" dirty="0"/>
              <a:t>原型图 </a:t>
            </a:r>
            <a:r>
              <a:rPr lang="en-US" altLang="zh-CN" dirty="0"/>
              <a:t>/ </a:t>
            </a:r>
            <a:r>
              <a:rPr lang="zh-CN" altLang="en-US" dirty="0"/>
              <a:t>线框图（</a:t>
            </a:r>
            <a:r>
              <a:rPr lang="en-US" altLang="zh-CN" dirty="0"/>
              <a:t>Wireframe</a:t>
            </a:r>
            <a:r>
              <a:rPr lang="zh-CN" altLang="en-US" dirty="0"/>
              <a:t>）→ 描述“界面长什么样”</a:t>
            </a:r>
            <a:endParaRPr lang="en-US" altLang="zh-CN" dirty="0"/>
          </a:p>
          <a:p>
            <a:endParaRPr lang="en-US" altLang="zh-CN" dirty="0"/>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spTree>
    <p:extLst>
      <p:ext uri="{BB962C8B-B14F-4D97-AF65-F5344CB8AC3E}">
        <p14:creationId xmlns:p14="http://schemas.microsoft.com/office/powerpoint/2010/main" val="361651869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dirty="0"/>
              <a:t>1.2.3 </a:t>
            </a:r>
            <a:r>
              <a:rPr lang="zh-CN" altLang="en-US" dirty="0"/>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a:p>
            <a:r>
              <a:rPr lang="en-US" altLang="zh-CN" dirty="0"/>
              <a:t>SOW - </a:t>
            </a:r>
            <a:r>
              <a:rPr lang="en-US" altLang="zh-CN" dirty="0">
                <a:hlinkClick r:id="rId4"/>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solidFill>
                  <a:srgbClr val="FFFF00"/>
                </a:solidFill>
              </a:rPr>
              <a:t>战略级</a:t>
            </a:r>
            <a:r>
              <a:rPr lang="zh-CN" altLang="en-US" dirty="0"/>
              <a:t>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spTree>
    <p:extLst>
      <p:ext uri="{BB962C8B-B14F-4D97-AF65-F5344CB8AC3E}">
        <p14:creationId xmlns:p14="http://schemas.microsoft.com/office/powerpoint/2010/main" val="212548841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096562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bg1"/>
                          </a:solidFill>
                        </a:rPr>
                        <a:t>SRS</a:t>
                      </a:r>
                      <a:endParaRPr lang="zh-CN" altLang="en-US"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bg1"/>
                          </a:solidFill>
                        </a:rPr>
                        <a:t>1. </a:t>
                      </a:r>
                      <a:r>
                        <a:rPr lang="zh-CN" altLang="en-US" dirty="0">
                          <a:solidFill>
                            <a:schemeClr val="bg1"/>
                          </a:solidFill>
                        </a:rPr>
                        <a:t>引言</a:t>
                      </a:r>
                    </a:p>
                    <a:p>
                      <a:r>
                        <a:rPr lang="zh-CN" altLang="en-US" dirty="0">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dirty="0">
                          <a:solidFill>
                            <a:schemeClr val="bg1"/>
                          </a:solidFill>
                        </a:rPr>
                        <a:t>2. </a:t>
                      </a:r>
                      <a:r>
                        <a:rPr lang="zh-CN" altLang="en-US" dirty="0">
                          <a:solidFill>
                            <a:schemeClr val="bg1"/>
                          </a:solidFill>
                        </a:rPr>
                        <a:t>总体描述</a:t>
                      </a:r>
                    </a:p>
                    <a:p>
                      <a:r>
                        <a:rPr lang="zh-CN" altLang="en-US" dirty="0">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dirty="0">
                          <a:solidFill>
                            <a:schemeClr val="bg1"/>
                          </a:solidFill>
                        </a:rPr>
                        <a:t>3. </a:t>
                      </a:r>
                      <a:r>
                        <a:rPr lang="zh-CN" altLang="en-US" dirty="0">
                          <a:solidFill>
                            <a:schemeClr val="bg1"/>
                          </a:solidFill>
                        </a:rPr>
                        <a:t>功能需求</a:t>
                      </a:r>
                    </a:p>
                    <a:p>
                      <a:r>
                        <a:rPr lang="zh-CN" altLang="en-US" dirty="0">
                          <a:solidFill>
                            <a:schemeClr val="bg1"/>
                          </a:solidFill>
                        </a:rPr>
                        <a:t>按模块划分，每个功能包含： * 功能编号 * 功能名称 * 描述 * 输入</a:t>
                      </a:r>
                      <a:r>
                        <a:rPr lang="en-US" altLang="zh-CN" dirty="0">
                          <a:solidFill>
                            <a:schemeClr val="bg1"/>
                          </a:solidFill>
                        </a:rPr>
                        <a:t>/</a:t>
                      </a:r>
                      <a:r>
                        <a:rPr lang="zh-CN" altLang="en-US" dirty="0">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dirty="0">
                          <a:solidFill>
                            <a:schemeClr val="bg1"/>
                          </a:solidFill>
                        </a:rPr>
                        <a:t>4. </a:t>
                      </a:r>
                      <a:r>
                        <a:rPr lang="zh-CN" altLang="en-US" dirty="0">
                          <a:solidFill>
                            <a:schemeClr val="bg1"/>
                          </a:solidFill>
                        </a:rPr>
                        <a:t>非功能需求</a:t>
                      </a:r>
                    </a:p>
                    <a:p>
                      <a:r>
                        <a:rPr lang="zh-CN" altLang="en-US" dirty="0">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dirty="0">
                          <a:solidFill>
                            <a:schemeClr val="bg1"/>
                          </a:solidFill>
                        </a:rPr>
                        <a:t>5. </a:t>
                      </a:r>
                      <a:r>
                        <a:rPr lang="zh-CN" altLang="en-US" dirty="0">
                          <a:solidFill>
                            <a:schemeClr val="bg1"/>
                          </a:solidFill>
                        </a:rPr>
                        <a:t>数据需求</a:t>
                      </a:r>
                    </a:p>
                    <a:p>
                      <a:r>
                        <a:rPr lang="zh-CN" altLang="en-US" dirty="0">
                          <a:solidFill>
                            <a:schemeClr val="bg1"/>
                          </a:solidFill>
                        </a:rPr>
                        <a:t>数据字典、</a:t>
                      </a:r>
                      <a:r>
                        <a:rPr lang="en-US" altLang="zh-CN" dirty="0">
                          <a:solidFill>
                            <a:schemeClr val="bg1"/>
                          </a:solidFill>
                        </a:rPr>
                        <a:t>E-R </a:t>
                      </a:r>
                      <a:r>
                        <a:rPr lang="zh-CN" altLang="en-US" dirty="0">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dirty="0">
                          <a:solidFill>
                            <a:schemeClr val="bg1"/>
                          </a:solidFill>
                        </a:rPr>
                        <a:t>6. </a:t>
                      </a:r>
                      <a:r>
                        <a:rPr lang="zh-CN" altLang="en-US" dirty="0">
                          <a:solidFill>
                            <a:schemeClr val="bg1"/>
                          </a:solidFill>
                        </a:rPr>
                        <a:t>接口需求</a:t>
                      </a:r>
                    </a:p>
                    <a:p>
                      <a:r>
                        <a:rPr lang="zh-CN" altLang="en-US" dirty="0">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bg1"/>
                          </a:solidFill>
                        </a:rPr>
                        <a:t>7. </a:t>
                      </a:r>
                      <a:r>
                        <a:rPr lang="zh-CN" altLang="en-US" dirty="0">
                          <a:solidFill>
                            <a:schemeClr val="bg1"/>
                          </a:solidFill>
                        </a:rPr>
                        <a:t>附录</a:t>
                      </a:r>
                      <a:endParaRPr lang="en-US" altLang="zh-CN" dirty="0">
                        <a:solidFill>
                          <a:schemeClr val="bg1"/>
                        </a:solidFill>
                      </a:endParaRPr>
                    </a:p>
                    <a:p>
                      <a:r>
                        <a:rPr lang="zh-CN" altLang="en-US" dirty="0">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endParaRPr lang="zh-CN" altLang="en-US" dirty="0"/>
          </a:p>
        </p:txBody>
      </p:sp>
      <p:sp>
        <p:nvSpPr>
          <p:cNvPr id="3" name="内容占位符 2">
            <a:extLst>
              <a:ext uri="{FF2B5EF4-FFF2-40B4-BE49-F238E27FC236}">
                <a16:creationId xmlns:a16="http://schemas.microsoft.com/office/drawing/2014/main" id="{45B25367-1BFA-B305-5873-DE1566075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dirty="0"/>
          </a:p>
        </p:txBody>
      </p:sp>
      <p:graphicFrame>
        <p:nvGraphicFramePr>
          <p:cNvPr id="8" name="表格 7">
            <a:extLst>
              <a:ext uri="{FF2B5EF4-FFF2-40B4-BE49-F238E27FC236}">
                <a16:creationId xmlns:a16="http://schemas.microsoft.com/office/drawing/2014/main" id="{94E48FC1-EA4A-68B4-B88E-A1CB4D5DEBCD}"/>
              </a:ext>
            </a:extLst>
          </p:cNvPr>
          <p:cNvGraphicFramePr>
            <a:graphicFrameLocks noGrp="1"/>
          </p:cNvGraphicFramePr>
          <p:nvPr>
            <p:extLst>
              <p:ext uri="{D42A27DB-BD31-4B8C-83A1-F6EECF244321}">
                <p14:modId xmlns:p14="http://schemas.microsoft.com/office/powerpoint/2010/main" val="1972164886"/>
              </p:ext>
            </p:extLst>
          </p:nvPr>
        </p:nvGraphicFramePr>
        <p:xfrm>
          <a:off x="695324" y="1136751"/>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dirty="0">
                          <a:solidFill>
                            <a:schemeClr val="bg1"/>
                          </a:solidFill>
                        </a:rPr>
                        <a:t>正确性 </a:t>
                      </a:r>
                      <a:r>
                        <a:rPr lang="en-US" sz="1600" dirty="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用户访谈确认、业务流程图比对</a:t>
                      </a:r>
                      <a:br>
                        <a:rPr lang="zh-CN" altLang="en-US" sz="1600" dirty="0">
                          <a:solidFill>
                            <a:schemeClr val="bg1"/>
                          </a:solidFill>
                        </a:rPr>
                      </a:br>
                      <a:r>
                        <a:rPr lang="zh-CN" altLang="en-US" sz="1600" dirty="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dirty="0">
                          <a:solidFill>
                            <a:schemeClr val="bg1"/>
                          </a:solidFill>
                        </a:rPr>
                        <a:t>完整性 </a:t>
                      </a:r>
                      <a:r>
                        <a:rPr lang="en-US" sz="1600" dirty="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需求追踪矩阵（</a:t>
                      </a:r>
                      <a:r>
                        <a:rPr lang="en-US" altLang="zh-CN" sz="1600" dirty="0">
                          <a:solidFill>
                            <a:schemeClr val="bg1"/>
                          </a:solidFill>
                        </a:rPr>
                        <a:t>RTM</a:t>
                      </a:r>
                      <a:r>
                        <a:rPr lang="zh-CN" altLang="en-US" sz="1600" dirty="0">
                          <a:solidFill>
                            <a:schemeClr val="bg1"/>
                          </a:solidFill>
                        </a:rPr>
                        <a:t>、用例全覆盖检查</a:t>
                      </a:r>
                      <a:br>
                        <a:rPr lang="zh-CN" altLang="en-US" sz="1600" dirty="0">
                          <a:solidFill>
                            <a:schemeClr val="bg1"/>
                          </a:solidFill>
                        </a:rPr>
                      </a:br>
                      <a:r>
                        <a:rPr lang="en-US" altLang="zh-CN" sz="1600" dirty="0">
                          <a:solidFill>
                            <a:schemeClr val="bg1"/>
                          </a:solidFill>
                        </a:rPr>
                        <a:t>FURPS+ </a:t>
                      </a:r>
                      <a:r>
                        <a:rPr lang="zh-CN" altLang="en-US" sz="1600" dirty="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dirty="0">
                          <a:solidFill>
                            <a:schemeClr val="bg1"/>
                          </a:solidFill>
                        </a:rPr>
                        <a:t>一致性 </a:t>
                      </a:r>
                      <a:r>
                        <a:rPr lang="en-US" sz="1600" dirty="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需求交叉审查、术语表（</a:t>
                      </a:r>
                      <a:r>
                        <a:rPr lang="en-US" altLang="zh-CN" sz="1600" dirty="0">
                          <a:solidFill>
                            <a:schemeClr val="bg1"/>
                          </a:solidFill>
                        </a:rPr>
                        <a:t>Glossary</a:t>
                      </a:r>
                      <a:r>
                        <a:rPr lang="zh-CN" altLang="en-US" sz="1600" dirty="0">
                          <a:solidFill>
                            <a:schemeClr val="bg1"/>
                          </a:solidFill>
                        </a:rPr>
                        <a:t>）</a:t>
                      </a:r>
                      <a:br>
                        <a:rPr lang="zh-CN" altLang="en-US" sz="1600" dirty="0">
                          <a:solidFill>
                            <a:schemeClr val="bg1"/>
                          </a:solidFill>
                        </a:rPr>
                      </a:br>
                      <a:r>
                        <a:rPr lang="zh-CN" altLang="en-US" sz="1600" dirty="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dirty="0">
                          <a:solidFill>
                            <a:schemeClr val="bg1"/>
                          </a:solidFill>
                        </a:rPr>
                        <a:t>可行性 </a:t>
                      </a:r>
                      <a:r>
                        <a:rPr lang="en-US" sz="1600" dirty="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技术上能否实现？成本</a:t>
                      </a:r>
                      <a:r>
                        <a:rPr lang="en-US" altLang="zh-CN" sz="1600" dirty="0">
                          <a:solidFill>
                            <a:schemeClr val="bg1"/>
                          </a:solidFill>
                        </a:rPr>
                        <a:t>/</a:t>
                      </a:r>
                      <a:r>
                        <a:rPr lang="zh-CN" altLang="en-US" sz="1600" dirty="0">
                          <a:solidFill>
                            <a:schemeClr val="bg1"/>
                          </a:solidFill>
                        </a:rPr>
                        <a:t>时间是否可控？避免“</a:t>
                      </a:r>
                      <a:r>
                        <a:rPr lang="zh-CN" altLang="en-US" sz="1600" dirty="0">
                          <a:solidFill>
                            <a:srgbClr val="FFFF00"/>
                          </a:solidFill>
                        </a:rPr>
                        <a:t>为了开发而开发</a:t>
                      </a:r>
                      <a:r>
                        <a:rPr lang="zh-CN" altLang="en-US" sz="1600" dirty="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技术预研（</a:t>
                      </a:r>
                      <a:r>
                        <a:rPr lang="en-US" altLang="zh-CN" sz="1600" dirty="0">
                          <a:solidFill>
                            <a:schemeClr val="bg1"/>
                          </a:solidFill>
                        </a:rPr>
                        <a:t>PoC</a:t>
                      </a:r>
                      <a:r>
                        <a:rPr lang="zh-CN" altLang="en-US" sz="1600" dirty="0">
                          <a:solidFill>
                            <a:schemeClr val="bg1"/>
                          </a:solidFill>
                        </a:rPr>
                        <a:t>）、架构师评估</a:t>
                      </a:r>
                      <a:br>
                        <a:rPr lang="zh-CN" altLang="en-US" sz="1600" dirty="0">
                          <a:solidFill>
                            <a:schemeClr val="bg1"/>
                          </a:solidFill>
                        </a:rPr>
                      </a:br>
                      <a:r>
                        <a:rPr lang="en-US" altLang="zh-CN" sz="1600" dirty="0">
                          <a:solidFill>
                            <a:schemeClr val="bg1"/>
                          </a:solidFill>
                        </a:rPr>
                        <a:t>ROI </a:t>
                      </a:r>
                      <a:r>
                        <a:rPr lang="zh-CN" altLang="en-US" sz="1600" dirty="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dirty="0">
                          <a:solidFill>
                            <a:schemeClr val="bg1"/>
                          </a:solidFill>
                        </a:rPr>
                        <a:t>必要性 </a:t>
                      </a:r>
                      <a:r>
                        <a:rPr lang="en-US" sz="1600" dirty="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该需求是否真正影响核心价值？是否属于 </a:t>
                      </a:r>
                      <a:r>
                        <a:rPr lang="en-US" altLang="zh-CN" sz="1600" dirty="0">
                          <a:solidFill>
                            <a:schemeClr val="bg1"/>
                          </a:solidFill>
                        </a:rPr>
                        <a:t>MVP </a:t>
                      </a:r>
                      <a:r>
                        <a:rPr lang="zh-CN" altLang="en-US" sz="1600" dirty="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err="1">
                          <a:solidFill>
                            <a:schemeClr val="bg1"/>
                          </a:solidFill>
                        </a:rPr>
                        <a:t>MoSCoW</a:t>
                      </a:r>
                      <a:r>
                        <a:rPr lang="en-US" sz="1600" dirty="0">
                          <a:solidFill>
                            <a:schemeClr val="bg1"/>
                          </a:solidFill>
                        </a:rPr>
                        <a:t> </a:t>
                      </a:r>
                      <a:r>
                        <a:rPr lang="zh-CN" altLang="en-US" sz="1600" dirty="0">
                          <a:solidFill>
                            <a:schemeClr val="bg1"/>
                          </a:solidFill>
                        </a:rPr>
                        <a:t>优先级排序、</a:t>
                      </a:r>
                      <a:r>
                        <a:rPr lang="en-US" sz="1600" dirty="0">
                          <a:solidFill>
                            <a:schemeClr val="bg1"/>
                          </a:solidFill>
                        </a:rPr>
                        <a:t>Kano </a:t>
                      </a:r>
                      <a:r>
                        <a:rPr lang="zh-CN" altLang="en-US" sz="1600" dirty="0">
                          <a:solidFill>
                            <a:schemeClr val="bg1"/>
                          </a:solidFill>
                        </a:rPr>
                        <a:t>模型分析</a:t>
                      </a:r>
                      <a:br>
                        <a:rPr lang="zh-CN" altLang="en-US" sz="1600" dirty="0">
                          <a:solidFill>
                            <a:schemeClr val="bg1"/>
                          </a:solidFill>
                        </a:rPr>
                      </a:br>
                      <a:r>
                        <a:rPr lang="zh-CN" altLang="en-US" sz="1600" dirty="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dirty="0">
                          <a:solidFill>
                            <a:schemeClr val="bg1"/>
                          </a:solidFill>
                        </a:rPr>
                        <a:t>可检验性 </a:t>
                      </a:r>
                      <a:r>
                        <a:rPr lang="en-US" sz="1600" dirty="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bg1"/>
                          </a:solidFill>
                        </a:rPr>
                        <a:t>Acceptance Criteria </a:t>
                      </a:r>
                      <a:r>
                        <a:rPr lang="zh-CN" altLang="en-US" sz="1600" dirty="0">
                          <a:solidFill>
                            <a:schemeClr val="bg1"/>
                          </a:solidFill>
                        </a:rPr>
                        <a:t>编写、</a:t>
                      </a:r>
                      <a:r>
                        <a:rPr lang="en-US" sz="1600" dirty="0">
                          <a:solidFill>
                            <a:schemeClr val="bg1"/>
                          </a:solidFill>
                        </a:rPr>
                        <a:t>Gherkin </a:t>
                      </a:r>
                      <a:r>
                        <a:rPr lang="zh-CN" altLang="en-US" sz="1600" dirty="0">
                          <a:solidFill>
                            <a:schemeClr val="bg1"/>
                          </a:solidFill>
                        </a:rPr>
                        <a:t>语法</a:t>
                      </a:r>
                      <a:br>
                        <a:rPr lang="en-US" sz="1600" dirty="0">
                          <a:solidFill>
                            <a:schemeClr val="bg1"/>
                          </a:solidFill>
                        </a:rPr>
                      </a:br>
                      <a:r>
                        <a:rPr lang="zh-CN" altLang="en-US" sz="1600" dirty="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dirty="0">
                          <a:solidFill>
                            <a:schemeClr val="bg1"/>
                          </a:solidFill>
                        </a:rPr>
                        <a:t>可跟踪性 </a:t>
                      </a:r>
                      <a:r>
                        <a:rPr lang="en-US" sz="1600" dirty="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需求能否</a:t>
                      </a:r>
                      <a:r>
                        <a:rPr lang="zh-CN" altLang="en-US" sz="1600" dirty="0">
                          <a:solidFill>
                            <a:srgbClr val="FFFF00"/>
                          </a:solidFill>
                        </a:rPr>
                        <a:t>溯源</a:t>
                      </a:r>
                      <a:r>
                        <a:rPr lang="zh-CN" altLang="en-US" sz="1600" dirty="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需求追踪矩阵 </a:t>
                      </a:r>
                      <a:r>
                        <a:rPr lang="en-US" sz="1600" dirty="0">
                          <a:solidFill>
                            <a:srgbClr val="FFFF00"/>
                          </a:solidFill>
                        </a:rPr>
                        <a:t>RTM</a:t>
                      </a:r>
                      <a:r>
                        <a:rPr lang="zh-CN" altLang="en-US" sz="1600" dirty="0">
                          <a:solidFill>
                            <a:schemeClr val="bg1"/>
                          </a:solidFill>
                        </a:rPr>
                        <a:t>、</a:t>
                      </a:r>
                      <a:r>
                        <a:rPr lang="en-US" altLang="zh-CN" sz="1600" dirty="0">
                          <a:solidFill>
                            <a:schemeClr val="bg1"/>
                          </a:solidFill>
                        </a:rPr>
                        <a:t>Jira/TAPD </a:t>
                      </a:r>
                      <a:r>
                        <a:rPr lang="zh-CN" altLang="en-US" sz="1600" dirty="0">
                          <a:solidFill>
                            <a:schemeClr val="bg1"/>
                          </a:solidFill>
                        </a:rPr>
                        <a:t>等工具链路</a:t>
                      </a:r>
                      <a:br>
                        <a:rPr lang="en-US" sz="1600" dirty="0">
                          <a:solidFill>
                            <a:schemeClr val="bg1"/>
                          </a:solidFill>
                        </a:rPr>
                      </a:br>
                      <a:r>
                        <a:rPr lang="en-US" sz="1600" dirty="0">
                          <a:solidFill>
                            <a:srgbClr val="FFFF00"/>
                          </a:solidFill>
                        </a:rPr>
                        <a:t>Git</a:t>
                      </a:r>
                      <a:r>
                        <a:rPr lang="en-US" sz="1600" dirty="0">
                          <a:solidFill>
                            <a:schemeClr val="bg1"/>
                          </a:solidFill>
                        </a:rPr>
                        <a:t>/</a:t>
                      </a:r>
                      <a:r>
                        <a:rPr lang="en-US" sz="1600" dirty="0">
                          <a:solidFill>
                            <a:srgbClr val="FFFF00"/>
                          </a:solidFill>
                        </a:rPr>
                        <a:t>GitHub</a:t>
                      </a:r>
                      <a:r>
                        <a:rPr lang="en-US" sz="1600" dirty="0">
                          <a:solidFill>
                            <a:schemeClr val="bg1"/>
                          </a:solidFill>
                        </a:rPr>
                        <a:t> </a:t>
                      </a:r>
                      <a:r>
                        <a:rPr lang="zh-CN" altLang="en-US" sz="1600" dirty="0">
                          <a:solidFill>
                            <a:schemeClr val="bg1"/>
                          </a:solidFill>
                        </a:rPr>
                        <a:t>版本控制 </a:t>
                      </a:r>
                      <a:r>
                        <a:rPr lang="en-US" altLang="zh-CN" sz="1600" dirty="0">
                          <a:solidFill>
                            <a:schemeClr val="bg1"/>
                          </a:solidFill>
                        </a:rPr>
                        <a:t>+ </a:t>
                      </a:r>
                      <a:r>
                        <a:rPr lang="en-US" sz="1600" dirty="0">
                          <a:solidFill>
                            <a:schemeClr val="bg1"/>
                          </a:solidFill>
                        </a:rPr>
                        <a:t>Commit Message </a:t>
                      </a:r>
                      <a:r>
                        <a:rPr lang="zh-CN" altLang="en-US" sz="1600" dirty="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dirty="0">
                          <a:solidFill>
                            <a:schemeClr val="bg1"/>
                          </a:solidFill>
                        </a:rPr>
                        <a:t>签字确认 </a:t>
                      </a:r>
                      <a:r>
                        <a:rPr lang="en-US" sz="1600" dirty="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电子签名系统、会议评审纪要 </a:t>
                      </a:r>
                      <a:r>
                        <a:rPr lang="en-US" altLang="zh-CN" sz="1600" dirty="0">
                          <a:solidFill>
                            <a:schemeClr val="bg1"/>
                          </a:solidFill>
                        </a:rPr>
                        <a:t>+ </a:t>
                      </a:r>
                      <a:r>
                        <a:rPr lang="zh-CN" altLang="en-US" sz="1600" dirty="0">
                          <a:solidFill>
                            <a:schemeClr val="bg1"/>
                          </a:solidFill>
                        </a:rPr>
                        <a:t>邮件确认</a:t>
                      </a:r>
                      <a:br>
                        <a:rPr lang="zh-CN" altLang="en-US" sz="1600" dirty="0">
                          <a:solidFill>
                            <a:schemeClr val="bg1"/>
                          </a:solidFill>
                        </a:rPr>
                      </a:br>
                      <a:r>
                        <a:rPr lang="zh-CN" altLang="en-US" sz="1600" dirty="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Tree>
    <p:extLst>
      <p:ext uri="{BB962C8B-B14F-4D97-AF65-F5344CB8AC3E}">
        <p14:creationId xmlns:p14="http://schemas.microsoft.com/office/powerpoint/2010/main" val="364978927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dirty="0"/>
              <a:t>1.2.5 </a:t>
            </a:r>
            <a:r>
              <a:rPr lang="zh-CN" altLang="en-US" dirty="0"/>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a:t>
            </a:r>
            <a:r>
              <a:rPr lang="zh-CN" altLang="en-US" dirty="0">
                <a:solidFill>
                  <a:srgbClr val="FFFF00"/>
                </a:solidFill>
              </a:rPr>
              <a:t>由浅入深</a:t>
            </a:r>
            <a:r>
              <a:rPr lang="zh-CN" altLang="en-US" dirty="0"/>
              <a:t>、</a:t>
            </a:r>
            <a:r>
              <a:rPr lang="zh-CN" altLang="en-US" dirty="0">
                <a:solidFill>
                  <a:srgbClr val="FFFF00"/>
                </a:solidFill>
              </a:rPr>
              <a:t>逐步深入</a:t>
            </a:r>
            <a:r>
              <a:rPr lang="zh-CN" altLang="en-US" dirty="0"/>
              <a:t>、</a:t>
            </a:r>
            <a:r>
              <a:rPr lang="zh-CN" altLang="en-US" dirty="0">
                <a:solidFill>
                  <a:srgbClr val="FFFF00"/>
                </a:solidFill>
              </a:rPr>
              <a:t>逐步明晰</a:t>
            </a:r>
            <a:endParaRPr lang="en-US" altLang="zh-CN" dirty="0">
              <a:solidFill>
                <a:srgbClr val="FFFF00"/>
              </a:solidFill>
            </a:endParaRPr>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dirty="0"/>
              <a:t>Requirement</a:t>
            </a:r>
            <a:endParaRPr lang="zh-CN" altLang="en-US" dirty="0"/>
          </a:p>
        </p:txBody>
      </p:sp>
    </p:spTree>
    <p:extLst>
      <p:ext uri="{BB962C8B-B14F-4D97-AF65-F5344CB8AC3E}">
        <p14:creationId xmlns:p14="http://schemas.microsoft.com/office/powerpoint/2010/main" val="185101994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基于</a:t>
            </a:r>
            <a:r>
              <a:rPr lang="en-US" altLang="zh-CN" sz="1400" dirty="0">
                <a:solidFill>
                  <a:schemeClr val="bg1"/>
                </a:solidFill>
              </a:rPr>
              <a:t>UML</a:t>
            </a:r>
            <a:endParaRPr lang="zh-CN" altLang="en-US" sz="1400" dirty="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系统流程图 </a:t>
            </a:r>
            <a:r>
              <a:rPr lang="en-US" altLang="zh-CN" sz="1400" dirty="0">
                <a:solidFill>
                  <a:schemeClr val="bg1"/>
                </a:solidFill>
              </a:rPr>
              <a:t>System Flowchart</a:t>
            </a:r>
            <a:endParaRPr lang="zh-CN" altLang="en-US" sz="1400" dirty="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数据流 </a:t>
            </a:r>
            <a:r>
              <a:rPr lang="en-US" altLang="zh-CN" sz="1400" dirty="0">
                <a:solidFill>
                  <a:schemeClr val="bg1"/>
                </a:solidFill>
              </a:rPr>
              <a:t>Data Flow Diagram</a:t>
            </a:r>
            <a:endParaRPr lang="zh-CN" altLang="en-US" sz="1400" dirty="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dirty="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用例图 </a:t>
            </a:r>
            <a:r>
              <a:rPr lang="en-US" altLang="zh-CN" sz="1400" dirty="0">
                <a:solidFill>
                  <a:schemeClr val="bg1"/>
                </a:solidFill>
              </a:rPr>
              <a:t>Use Case</a:t>
            </a:r>
            <a:endParaRPr lang="zh-CN" altLang="en-US" sz="1400" dirty="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活动图 </a:t>
            </a:r>
            <a:r>
              <a:rPr lang="en-US" altLang="zh-CN" sz="1400" dirty="0">
                <a:solidFill>
                  <a:schemeClr val="bg1"/>
                </a:solidFill>
              </a:rPr>
              <a:t>Activity</a:t>
            </a:r>
            <a:endParaRPr lang="zh-CN" altLang="en-US" sz="1400" dirty="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dirty="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dirty="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序列图 </a:t>
            </a:r>
            <a:r>
              <a:rPr lang="en-US" altLang="zh-CN" sz="1400" dirty="0">
                <a:solidFill>
                  <a:schemeClr val="bg1"/>
                </a:solidFill>
              </a:rPr>
              <a:t>Sequence</a:t>
            </a:r>
            <a:endParaRPr lang="zh-CN" altLang="en-US" sz="1400" dirty="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状态图 </a:t>
            </a:r>
            <a:r>
              <a:rPr lang="en-US" altLang="zh-CN" sz="1400" dirty="0">
                <a:solidFill>
                  <a:schemeClr val="bg1"/>
                </a:solidFill>
              </a:rPr>
              <a:t>State Machine</a:t>
            </a:r>
            <a:endParaRPr lang="zh-CN" altLang="en-US" sz="1400" dirty="0">
              <a:solidFill>
                <a:schemeClr val="bg1"/>
              </a:solidFill>
            </a:endParaRPr>
          </a:p>
        </p:txBody>
      </p:sp>
      <p:cxnSp>
        <p:nvCxnSpPr>
          <p:cNvPr id="54" name="连接符: 肘形 53">
            <a:extLst>
              <a:ext uri="{FF2B5EF4-FFF2-40B4-BE49-F238E27FC236}">
                <a16:creationId xmlns:a16="http://schemas.microsoft.com/office/drawing/2014/main" id="{9F88E447-0781-C52F-74F7-4F53F66F5ADB}"/>
              </a:ext>
            </a:extLst>
          </p:cNvPr>
          <p:cNvCxnSpPr>
            <a:cxnSpLocks/>
          </p:cNvCxnSpPr>
          <p:nvPr/>
        </p:nvCxnSpPr>
        <p:spPr>
          <a:xfrm rot="10800000" flipV="1">
            <a:off x="4617109" y="3654525"/>
            <a:ext cx="1" cy="1627234"/>
          </a:xfrm>
          <a:prstGeom prst="bentConnector3">
            <a:avLst>
              <a:gd name="adj1" fmla="val 228601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影响地图 </a:t>
            </a:r>
            <a:r>
              <a:rPr lang="en-US" altLang="zh-CN" sz="1400" dirty="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需求池 </a:t>
            </a:r>
            <a:r>
              <a:rPr lang="en-US" altLang="zh-CN" sz="1400" dirty="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用户故事地图 </a:t>
            </a:r>
            <a:r>
              <a:rPr lang="en-US" altLang="zh-CN" sz="1400" dirty="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用户故事编写 </a:t>
            </a:r>
            <a:r>
              <a:rPr lang="en-US" altLang="zh-CN" sz="1400" dirty="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dirty="0">
                <a:solidFill>
                  <a:schemeClr val="bg1"/>
                </a:solidFill>
              </a:rPr>
              <a:t>INVEST </a:t>
            </a:r>
            <a:r>
              <a:rPr lang="zh-CN" altLang="en-US" sz="1400" dirty="0">
                <a:solidFill>
                  <a:schemeClr val="bg1"/>
                </a:solidFill>
              </a:rPr>
              <a:t>原则</a:t>
            </a:r>
            <a:endParaRPr lang="en-US" altLang="zh-CN" sz="1400" dirty="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dirty="0">
                <a:solidFill>
                  <a:schemeClr val="bg1"/>
                </a:solidFill>
              </a:rPr>
              <a:t>行为驱动开发 </a:t>
            </a:r>
            <a:r>
              <a:rPr lang="en-US" altLang="zh-CN" sz="1400" dirty="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95194384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dirty="0"/>
              <a:t>2. </a:t>
            </a:r>
            <a:r>
              <a:rPr lang="zh-CN" altLang="en-US" dirty="0"/>
              <a:t>传统项目需求分析方法</a:t>
            </a:r>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en-US" altLang="zh-CN" dirty="0"/>
              <a:t>4</a:t>
            </a:r>
            <a:r>
              <a:rPr lang="zh-CN" altLang="en-US" dirty="0"/>
              <a:t>个元素：实体 </a:t>
            </a:r>
            <a:r>
              <a:rPr lang="en-US" altLang="zh-CN" dirty="0"/>
              <a:t>External Entity </a:t>
            </a:r>
            <a:r>
              <a:rPr lang="zh-CN" altLang="en-US" dirty="0"/>
              <a:t>、过程 </a:t>
            </a:r>
            <a:r>
              <a:rPr lang="en-US" altLang="zh-CN" dirty="0"/>
              <a:t>Process </a:t>
            </a:r>
            <a:r>
              <a:rPr lang="zh-CN" altLang="en-US" dirty="0"/>
              <a:t>、数据流 </a:t>
            </a:r>
            <a:r>
              <a:rPr lang="en-US" altLang="zh-CN" dirty="0"/>
              <a:t>Data Flow </a:t>
            </a:r>
            <a:r>
              <a:rPr lang="zh-CN" altLang="en-US" dirty="0"/>
              <a:t>、存储 </a:t>
            </a:r>
            <a:r>
              <a:rPr lang="en-US" altLang="zh-CN" dirty="0"/>
              <a:t>Storage</a:t>
            </a:r>
          </a:p>
          <a:p>
            <a:r>
              <a:rPr lang="zh-CN" altLang="en-US" dirty="0"/>
              <a:t>系统流程图 </a:t>
            </a:r>
            <a:r>
              <a:rPr lang="en-US" altLang="zh-CN" dirty="0"/>
              <a:t>System Flowchart</a:t>
            </a:r>
          </a:p>
          <a:p>
            <a:pPr lvl="1"/>
            <a:r>
              <a:rPr lang="zh-CN" altLang="en-US" dirty="0"/>
              <a:t>使用标准流程图符号（开始</a:t>
            </a:r>
            <a:r>
              <a:rPr lang="en-US" altLang="zh-CN" dirty="0"/>
              <a:t>/</a:t>
            </a:r>
            <a:r>
              <a:rPr lang="zh-CN" altLang="en-US" dirty="0"/>
              <a:t>结束、处理、判断、输入</a:t>
            </a:r>
            <a:r>
              <a:rPr lang="en-US" altLang="zh-CN" dirty="0"/>
              <a:t>/</a:t>
            </a:r>
            <a:r>
              <a:rPr lang="zh-CN" altLang="en-US" dirty="0"/>
              <a:t>输出等</a:t>
            </a:r>
            <a:endParaRPr lang="en-US" altLang="zh-CN" dirty="0"/>
          </a:p>
          <a:p>
            <a:r>
              <a:rPr lang="zh-CN" altLang="en-US" dirty="0"/>
              <a:t>统一建模语言 </a:t>
            </a:r>
            <a:r>
              <a:rPr lang="en-US" altLang="zh-CN" dirty="0"/>
              <a:t>UML(Unified Modeling Language)</a:t>
            </a:r>
          </a:p>
          <a:p>
            <a:pPr lvl="1"/>
            <a:r>
              <a:rPr lang="en-US" altLang="zh-CN" dirty="0"/>
              <a:t>E-R</a:t>
            </a:r>
            <a:r>
              <a:rPr lang="zh-CN" altLang="en-US" dirty="0"/>
              <a:t>图，</a:t>
            </a:r>
            <a:r>
              <a:rPr lang="en-US" altLang="zh-CN" dirty="0"/>
              <a:t>Entity-Relationship Diagram</a:t>
            </a:r>
            <a:r>
              <a:rPr lang="zh-CN" altLang="en-US" dirty="0"/>
              <a:t>，实体</a:t>
            </a:r>
            <a:r>
              <a:rPr lang="en-US" altLang="zh-CN" dirty="0"/>
              <a:t>-</a:t>
            </a:r>
            <a:r>
              <a:rPr lang="zh-CN" altLang="en-US" dirty="0"/>
              <a:t>关系图</a:t>
            </a:r>
            <a:endParaRPr lang="en-US" altLang="zh-CN" dirty="0"/>
          </a:p>
          <a:p>
            <a:pPr lvl="2"/>
            <a:r>
              <a:rPr lang="zh-CN" altLang="en-US" dirty="0"/>
              <a:t>实体 </a:t>
            </a:r>
            <a:r>
              <a:rPr lang="en-US" altLang="zh-CN" dirty="0"/>
              <a:t>Entity</a:t>
            </a:r>
            <a:endParaRPr lang="zh-CN" altLang="en-US" dirty="0"/>
          </a:p>
          <a:p>
            <a:pPr lvl="2"/>
            <a:r>
              <a:rPr lang="zh-CN" altLang="en-US" dirty="0"/>
              <a:t>属性 </a:t>
            </a:r>
            <a:r>
              <a:rPr lang="en-US" altLang="zh-CN" dirty="0"/>
              <a:t>Attribute</a:t>
            </a:r>
            <a:endParaRPr lang="zh-CN" altLang="en-US" dirty="0"/>
          </a:p>
          <a:p>
            <a:pPr lvl="2"/>
            <a:r>
              <a:rPr lang="zh-CN" altLang="en-US" dirty="0"/>
              <a:t>关系 </a:t>
            </a:r>
            <a:r>
              <a:rPr lang="en-US" altLang="zh-CN" dirty="0"/>
              <a:t>Relationship</a:t>
            </a:r>
            <a:r>
              <a:rPr lang="zh-CN" altLang="en-US" dirty="0"/>
              <a:t>，一对一、一对多、多对多</a:t>
            </a:r>
            <a:endParaRPr lang="en-US" altLang="zh-CN" dirty="0"/>
          </a:p>
          <a:p>
            <a:pPr lvl="1"/>
            <a:r>
              <a:rPr lang="zh-CN" altLang="en-US" dirty="0"/>
              <a:t>用例图 </a:t>
            </a:r>
            <a:r>
              <a:rPr lang="en-US" altLang="zh-CN" dirty="0"/>
              <a:t>Use Case Diagram</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spTree>
    <p:extLst>
      <p:ext uri="{BB962C8B-B14F-4D97-AF65-F5344CB8AC3E}">
        <p14:creationId xmlns:p14="http://schemas.microsoft.com/office/powerpoint/2010/main" val="195388134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dirty="0"/>
              <a:t>3.1 </a:t>
            </a:r>
            <a:r>
              <a:rPr lang="zh-CN" altLang="en-US" dirty="0"/>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a:t>
            </a:r>
            <a:r>
              <a:rPr lang="zh-CN" altLang="en-US" dirty="0">
                <a:solidFill>
                  <a:srgbClr val="FFFF00"/>
                </a:solidFill>
              </a:rPr>
              <a:t>逆向推导</a:t>
            </a:r>
            <a:r>
              <a:rPr lang="zh-CN" altLang="en-US" dirty="0"/>
              <a:t>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dirty="0"/>
              <a:t>Impact Mapping/Agile</a:t>
            </a:r>
            <a:endParaRPr lang="zh-CN" altLang="en-US" dirty="0"/>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业务目标</a:t>
            </a: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功能项</a:t>
            </a: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dirty="0">
                <a:solidFill>
                  <a:schemeClr val="bg1"/>
                </a:solidFill>
              </a:rPr>
              <a:t>Why</a:t>
            </a:r>
            <a:endParaRPr lang="zh-CN" altLang="en-US" dirty="0">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813377" y="4436379"/>
            <a:ext cx="646331" cy="369332"/>
          </a:xfrm>
          <a:prstGeom prst="rect">
            <a:avLst/>
          </a:prstGeom>
          <a:noFill/>
        </p:spPr>
        <p:txBody>
          <a:bodyPr wrap="none" rtlCol="0">
            <a:spAutoFit/>
          </a:bodyPr>
          <a:lstStyle/>
          <a:p>
            <a:r>
              <a:rPr lang="zh-CN" altLang="en-US" dirty="0">
                <a:solidFill>
                  <a:schemeClr val="bg1"/>
                </a:solidFill>
              </a:rPr>
              <a:t>影响</a:t>
            </a: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dirty="0">
                <a:solidFill>
                  <a:schemeClr val="bg1"/>
                </a:solidFill>
              </a:rPr>
              <a:t>Who</a:t>
            </a:r>
            <a:endParaRPr lang="zh-CN" altLang="en-US" dirty="0">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dirty="0">
                <a:solidFill>
                  <a:schemeClr val="bg1"/>
                </a:solidFill>
              </a:rPr>
              <a:t>How</a:t>
            </a:r>
            <a:endParaRPr lang="zh-CN" altLang="en-US" dirty="0">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dirty="0">
                <a:solidFill>
                  <a:schemeClr val="bg1"/>
                </a:solidFill>
              </a:rPr>
              <a:t>What</a:t>
            </a:r>
            <a:endParaRPr lang="zh-CN" altLang="en-US" dirty="0">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626423" y="4436379"/>
            <a:ext cx="646331" cy="369332"/>
          </a:xfrm>
          <a:prstGeom prst="rect">
            <a:avLst/>
          </a:prstGeom>
          <a:noFill/>
        </p:spPr>
        <p:txBody>
          <a:bodyPr wrap="none" rtlCol="0">
            <a:spAutoFit/>
          </a:bodyPr>
          <a:lstStyle/>
          <a:p>
            <a:r>
              <a:rPr lang="zh-CN" altLang="en-US" dirty="0">
                <a:solidFill>
                  <a:schemeClr val="bg1"/>
                </a:solidFill>
              </a:rPr>
              <a:t>角色</a:t>
            </a:r>
          </a:p>
        </p:txBody>
      </p:sp>
    </p:spTree>
    <p:extLst>
      <p:ext uri="{BB962C8B-B14F-4D97-AF65-F5344CB8AC3E}">
        <p14:creationId xmlns:p14="http://schemas.microsoft.com/office/powerpoint/2010/main" val="136726951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7C5DE3B4-C658-2907-394C-943C2E37962E}"/>
              </a:ext>
            </a:extLst>
          </p:cNvPr>
          <p:cNvSpPr txBox="1"/>
          <p:nvPr/>
        </p:nvSpPr>
        <p:spPr>
          <a:xfrm>
            <a:off x="696000" y="551289"/>
            <a:ext cx="10800000" cy="5755422"/>
          </a:xfrm>
          <a:prstGeom prst="rect">
            <a:avLst/>
          </a:prstGeom>
          <a:noFill/>
        </p:spPr>
        <p:txBody>
          <a:bodyPr wrap="square" rtlCol="0">
            <a:spAutoFit/>
          </a:bodyPr>
          <a:lstStyle/>
          <a:p>
            <a:pPr algn="just" fontAlgn="base"/>
            <a:r>
              <a:rPr lang="en-US" altLang="zh-CN" sz="2000" dirty="0">
                <a:solidFill>
                  <a:srgbClr val="FFFF00"/>
                </a:solidFill>
              </a:rPr>
              <a:t>Goal</a:t>
            </a:r>
          </a:p>
          <a:p>
            <a:pPr algn="just" fontAlgn="base"/>
            <a:r>
              <a:rPr lang="en-US" altLang="zh-CN" dirty="0">
                <a:solidFill>
                  <a:schemeClr val="bg1"/>
                </a:solidFill>
              </a:rPr>
              <a:t>The central of an impact map answers the most important question: </a:t>
            </a:r>
            <a:r>
              <a:rPr lang="en-US" altLang="zh-CN" dirty="0">
                <a:solidFill>
                  <a:srgbClr val="FFFF00"/>
                </a:solidFill>
              </a:rPr>
              <a:t>Why</a:t>
            </a:r>
            <a:r>
              <a:rPr lang="en-US" altLang="zh-CN" dirty="0">
                <a:solidFill>
                  <a:schemeClr val="bg1"/>
                </a:solidFill>
              </a:rPr>
              <a:t> are we doing this? This is the goal we are trying to achieve.</a:t>
            </a:r>
          </a:p>
          <a:p>
            <a:pPr algn="just" fontAlgn="base"/>
            <a:endParaRPr lang="en-US" altLang="zh-CN" dirty="0">
              <a:solidFill>
                <a:schemeClr val="bg1"/>
              </a:solidFill>
            </a:endParaRPr>
          </a:p>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p>
          <a:p>
            <a:pPr algn="just" fontAlgn="base"/>
            <a:endParaRPr lang="en-US" altLang="zh-CN" dirty="0">
              <a:solidFill>
                <a:schemeClr val="bg1"/>
              </a:solidFill>
            </a:endParaRPr>
          </a:p>
          <a:p>
            <a:pPr algn="just" fontAlgn="base"/>
            <a:r>
              <a:rPr lang="en-US" altLang="zh-CN" sz="2000" dirty="0">
                <a:solidFill>
                  <a:srgbClr val="FFFF00"/>
                </a:solidFill>
              </a:rPr>
              <a:t>Impacts</a:t>
            </a:r>
          </a:p>
          <a:p>
            <a:pPr algn="just" fontAlgn="base"/>
            <a:r>
              <a:rPr lang="en-US" altLang="zh-CN" dirty="0">
                <a:solidFill>
                  <a:schemeClr val="bg1"/>
                </a:solidFill>
              </a:rPr>
              <a:t>The second branch level of an impact map sets the actors in the perspective of our business goal. It answers the following questions: </a:t>
            </a:r>
            <a:r>
              <a:rPr lang="en-US" altLang="zh-CN" dirty="0">
                <a:solidFill>
                  <a:srgbClr val="FFFF00"/>
                </a:solidFill>
              </a:rPr>
              <a:t>How</a:t>
            </a:r>
            <a:r>
              <a:rPr lang="en-US" altLang="zh-CN" dirty="0">
                <a:solidFill>
                  <a:schemeClr val="bg1"/>
                </a:solidFill>
              </a:rPr>
              <a:t> should our actors’ behaviors change? </a:t>
            </a:r>
            <a:r>
              <a:rPr lang="en-US" altLang="zh-CN" dirty="0">
                <a:solidFill>
                  <a:srgbClr val="FFFF00"/>
                </a:solidFill>
              </a:rPr>
              <a:t>How</a:t>
            </a:r>
            <a:r>
              <a:rPr lang="en-US" altLang="zh-CN" dirty="0">
                <a:solidFill>
                  <a:schemeClr val="bg1"/>
                </a:solidFill>
              </a:rPr>
              <a:t> can they help us to achieve the goal? How can they obstruct or prevent us from succeeding? These are the impacts that we’re trying to create.</a:t>
            </a:r>
          </a:p>
          <a:p>
            <a:pPr algn="just" fontAlgn="base"/>
            <a:endParaRPr lang="en-US" altLang="zh-CN" dirty="0">
              <a:solidFill>
                <a:schemeClr val="bg1"/>
              </a:solidFill>
            </a:endParaRPr>
          </a:p>
          <a:p>
            <a:pPr algn="just" fontAlgn="base"/>
            <a:r>
              <a:rPr lang="en-US" altLang="zh-CN" sz="2000" dirty="0">
                <a:solidFill>
                  <a:srgbClr val="FFFF00"/>
                </a:solidFill>
              </a:rPr>
              <a:t>Deliverables</a:t>
            </a:r>
          </a:p>
          <a:p>
            <a:pPr algn="just" fontAlgn="base"/>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sz="1600" dirty="0">
              <a:solidFill>
                <a:schemeClr val="bg1"/>
              </a:solidFill>
            </a:endParaRPr>
          </a:p>
        </p:txBody>
      </p:sp>
    </p:spTree>
    <p:extLst>
      <p:ext uri="{BB962C8B-B14F-4D97-AF65-F5344CB8AC3E}">
        <p14:creationId xmlns:p14="http://schemas.microsoft.com/office/powerpoint/2010/main" val="81677351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dirty="0">
                          <a:solidFill>
                            <a:schemeClr val="bg1"/>
                          </a:solidFill>
                        </a:rPr>
                        <a:t>Push updates on the app</a:t>
                      </a:r>
                      <a:br>
                        <a:rPr lang="en-US" sz="1600" dirty="0">
                          <a:solidFill>
                            <a:schemeClr val="bg1"/>
                          </a:solidFill>
                        </a:rPr>
                      </a:br>
                      <a:r>
                        <a:rPr lang="en-US" sz="1600" dirty="0" err="1">
                          <a:solidFill>
                            <a:schemeClr val="bg1"/>
                          </a:solidFill>
                        </a:rPr>
                        <a:t>App</a:t>
                      </a:r>
                      <a:r>
                        <a:rPr lang="en-US" sz="1600" dirty="0">
                          <a:solidFill>
                            <a:schemeClr val="bg1"/>
                          </a:solidFill>
                        </a:rPr>
                        <a:t> </a:t>
                      </a:r>
                      <a:r>
                        <a:rPr lang="zh-CN" altLang="en-US" sz="1600" dirty="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主动提醒用户有新内容</a:t>
                      </a:r>
                      <a:r>
                        <a:rPr lang="en-US" altLang="zh-CN" sz="1600" dirty="0">
                          <a:solidFill>
                            <a:schemeClr val="bg1"/>
                          </a:solidFill>
                        </a:rPr>
                        <a:t>/</a:t>
                      </a:r>
                      <a:r>
                        <a:rPr lang="zh-CN" altLang="en-US" sz="1600" dirty="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提高日活</a:t>
                      </a:r>
                      <a:r>
                        <a:rPr lang="en-US" altLang="zh-CN" sz="1600" dirty="0">
                          <a:solidFill>
                            <a:schemeClr val="bg1"/>
                          </a:solidFill>
                        </a:rPr>
                        <a:t>/</a:t>
                      </a:r>
                      <a:r>
                        <a:rPr lang="zh-CN" altLang="en-US" sz="1600" dirty="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dirty="0">
                          <a:solidFill>
                            <a:schemeClr val="bg1"/>
                          </a:solidFill>
                        </a:rPr>
                        <a:t>Special offers every month</a:t>
                      </a:r>
                      <a:br>
                        <a:rPr lang="en-US" sz="1600" dirty="0">
                          <a:solidFill>
                            <a:schemeClr val="bg1"/>
                          </a:solidFill>
                        </a:rPr>
                      </a:br>
                      <a:r>
                        <a:rPr lang="zh-CN" altLang="en-US" sz="1600" dirty="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dirty="0">
                          <a:solidFill>
                            <a:schemeClr val="bg1"/>
                          </a:solidFill>
                        </a:rPr>
                        <a:t>Better layout when browsing events</a:t>
                      </a:r>
                      <a:br>
                        <a:rPr lang="en-US" sz="1600" dirty="0">
                          <a:solidFill>
                            <a:schemeClr val="bg1"/>
                          </a:solidFill>
                        </a:rPr>
                      </a:br>
                      <a:r>
                        <a:rPr lang="zh-CN" altLang="en-US" sz="1600" dirty="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间接支持“</a:t>
                      </a:r>
                      <a:r>
                        <a:rPr lang="en-US" sz="1600" dirty="0">
                          <a:solidFill>
                            <a:schemeClr val="bg1"/>
                          </a:solidFill>
                        </a:rPr>
                        <a:t>Stay longer”</a:t>
                      </a:r>
                      <a:r>
                        <a:rPr lang="zh-CN" altLang="en-US" sz="1600" dirty="0">
                          <a:solidFill>
                            <a:schemeClr val="bg1"/>
                          </a:solidFill>
                        </a:rPr>
                        <a:t>和“</a:t>
                      </a:r>
                      <a:r>
                        <a:rPr lang="en-US" sz="1600" dirty="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dirty="0"/>
              <a:t>3.2 </a:t>
            </a:r>
            <a:r>
              <a:rPr lang="zh-CN" altLang="en-US" dirty="0"/>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dirty="0"/>
              <a:t>Product Backlog/Agile</a:t>
            </a:r>
            <a:endParaRPr lang="zh-CN" altLang="en-US" dirty="0"/>
          </a:p>
        </p:txBody>
      </p:sp>
    </p:spTree>
    <p:extLst>
      <p:ext uri="{BB962C8B-B14F-4D97-AF65-F5344CB8AC3E}">
        <p14:creationId xmlns:p14="http://schemas.microsoft.com/office/powerpoint/2010/main" val="285993620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dirty="0"/>
              <a:t>3.3 </a:t>
            </a:r>
            <a:r>
              <a:rPr lang="zh-CN" altLang="en-US" dirty="0"/>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r>
              <a:rPr lang="zh-CN" altLang="en-US" dirty="0"/>
              <a:t>敏捷项目中，使用</a:t>
            </a:r>
            <a:r>
              <a:rPr lang="zh-CN" altLang="en-US" dirty="0">
                <a:hlinkClick r:id="rId2"/>
              </a:rPr>
              <a:t>用户故事 </a:t>
            </a:r>
            <a:r>
              <a:rPr lang="en-US" altLang="zh-CN" dirty="0">
                <a:hlinkClick r:id="rId2"/>
              </a:rPr>
              <a:t>User Story </a:t>
            </a:r>
            <a:r>
              <a:rPr lang="zh-CN" altLang="en-US" dirty="0"/>
              <a:t>描述需求</a:t>
            </a:r>
            <a:endParaRPr lang="en-US" altLang="zh-CN" dirty="0"/>
          </a:p>
          <a:p>
            <a:pPr lvl="1"/>
            <a:r>
              <a:rPr lang="en-US" altLang="zh-CN" dirty="0"/>
              <a:t>In Agile process, user requirements are expressed as </a:t>
            </a:r>
            <a:r>
              <a:rPr lang="en-US" altLang="zh-CN" b="1" dirty="0">
                <a:solidFill>
                  <a:srgbClr val="FFFF00"/>
                </a:solidFill>
              </a:rPr>
              <a:t>user</a:t>
            </a:r>
            <a:r>
              <a:rPr lang="en-US" altLang="zh-CN" dirty="0">
                <a:solidFill>
                  <a:srgbClr val="FFFF00"/>
                </a:solidFill>
              </a:rPr>
              <a:t> </a:t>
            </a:r>
            <a:r>
              <a:rPr lang="en-US" altLang="zh-CN" b="1" dirty="0">
                <a:solidFill>
                  <a:srgbClr val="FFFF00"/>
                </a:solidFill>
              </a:rPr>
              <a:t>stories</a:t>
            </a:r>
            <a:r>
              <a:rPr lang="en-US" altLang="zh-CN" dirty="0"/>
              <a:t>.</a:t>
            </a:r>
          </a:p>
          <a:p>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dirty="0"/>
              <a:t>User Story Mapping/Agile</a:t>
            </a:r>
            <a:endParaRPr lang="zh-CN" altLang="en-US" dirty="0"/>
          </a:p>
        </p:txBody>
      </p:sp>
    </p:spTree>
    <p:extLst>
      <p:ext uri="{BB962C8B-B14F-4D97-AF65-F5344CB8AC3E}">
        <p14:creationId xmlns:p14="http://schemas.microsoft.com/office/powerpoint/2010/main" val="123922431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dirty="0"/>
              <a:t>3.3 </a:t>
            </a:r>
            <a:r>
              <a:rPr lang="zh-CN" altLang="en-US" dirty="0"/>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用户活动 </a:t>
            </a:r>
            <a:r>
              <a:rPr lang="en-US" altLang="zh-CN" dirty="0"/>
              <a:t>User activities</a:t>
            </a:r>
            <a:r>
              <a:rPr lang="zh-CN" altLang="en-US" dirty="0"/>
              <a:t>：高层级的用户目标或阶段，如注册、浏览商品、下单</a:t>
            </a:r>
          </a:p>
          <a:p>
            <a:r>
              <a:rPr lang="zh-CN" altLang="en-US" dirty="0"/>
              <a:t>用户任务 </a:t>
            </a:r>
            <a:r>
              <a:rPr lang="en-US" altLang="zh-CN" dirty="0"/>
              <a:t>User task</a:t>
            </a:r>
            <a:r>
              <a:rPr lang="zh-CN" altLang="en-US" dirty="0"/>
              <a:t>：完成该活动所需的具体操作步骤</a:t>
            </a:r>
          </a:p>
          <a:p>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r>
              <a:rPr lang="zh-CN" altLang="en-US" dirty="0">
                <a:solidFill>
                  <a:srgbClr val="FFFF00"/>
                </a:solidFill>
              </a:rPr>
              <a:t>强烈建议指定具体的用户</a:t>
            </a:r>
            <a:r>
              <a:rPr lang="en-US" altLang="zh-CN" dirty="0">
                <a:solidFill>
                  <a:srgbClr val="FFFF00"/>
                </a:solidFill>
              </a:rPr>
              <a:t>*</a:t>
            </a:r>
            <a:endParaRPr lang="zh-CN" altLang="en-US" dirty="0">
              <a:solidFill>
                <a:srgbClr val="FFFF00"/>
              </a:solidFill>
            </a:endParaRPr>
          </a:p>
          <a:p>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dirty="0"/>
              <a:t>User Story Mapping/Agile</a:t>
            </a:r>
            <a:endParaRPr lang="zh-CN" altLang="en-US" dirty="0"/>
          </a:p>
        </p:txBody>
      </p:sp>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219200" y="4500053"/>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161283" y="3205315"/>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161283" y="3642850"/>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161283" y="458942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161283" y="504618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161283" y="550294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161283" y="5959699"/>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304428" y="3642850"/>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304428" y="458942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304428" y="504618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447573" y="3610905"/>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447573" y="455748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endParaRPr lang="zh-CN" altLang="en-US" sz="1400" dirty="0">
              <a:solidFill>
                <a:schemeClr val="tx1"/>
              </a:solidFill>
            </a:endParaRPr>
          </a:p>
        </p:txBody>
      </p:sp>
      <p:sp>
        <p:nvSpPr>
          <p:cNvPr id="32" name="矩形 31">
            <a:extLst>
              <a:ext uri="{FF2B5EF4-FFF2-40B4-BE49-F238E27FC236}">
                <a16:creationId xmlns:a16="http://schemas.microsoft.com/office/drawing/2014/main" id="{96D3A98D-9C21-D19B-7EBD-D963D58D335B}"/>
              </a:ext>
            </a:extLst>
          </p:cNvPr>
          <p:cNvSpPr/>
          <p:nvPr/>
        </p:nvSpPr>
        <p:spPr>
          <a:xfrm>
            <a:off x="6447573" y="501424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endParaRPr lang="zh-CN" altLang="en-US" sz="1400" dirty="0">
              <a:solidFill>
                <a:schemeClr val="tx1"/>
              </a:solidFill>
            </a:endParaRPr>
          </a:p>
        </p:txBody>
      </p:sp>
      <p:sp>
        <p:nvSpPr>
          <p:cNvPr id="33" name="矩形 32">
            <a:extLst>
              <a:ext uri="{FF2B5EF4-FFF2-40B4-BE49-F238E27FC236}">
                <a16:creationId xmlns:a16="http://schemas.microsoft.com/office/drawing/2014/main" id="{F0955BCE-A227-D95A-0419-4A9CC59B8D36}"/>
              </a:ext>
            </a:extLst>
          </p:cNvPr>
          <p:cNvSpPr/>
          <p:nvPr/>
        </p:nvSpPr>
        <p:spPr>
          <a:xfrm>
            <a:off x="6447573" y="5470997"/>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endParaRPr lang="zh-CN" altLang="en-US" sz="1400" dirty="0">
              <a:solidFill>
                <a:schemeClr val="tx1"/>
              </a:solidFill>
            </a:endParaRPr>
          </a:p>
        </p:txBody>
      </p:sp>
      <p:sp>
        <p:nvSpPr>
          <p:cNvPr id="35" name="矩形 34">
            <a:extLst>
              <a:ext uri="{FF2B5EF4-FFF2-40B4-BE49-F238E27FC236}">
                <a16:creationId xmlns:a16="http://schemas.microsoft.com/office/drawing/2014/main" id="{B1B49939-65FA-3633-1A72-D669D114F1E1}"/>
              </a:ext>
            </a:extLst>
          </p:cNvPr>
          <p:cNvSpPr/>
          <p:nvPr/>
        </p:nvSpPr>
        <p:spPr>
          <a:xfrm>
            <a:off x="8590717" y="3609580"/>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590717" y="455615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endParaRPr lang="zh-CN" altLang="en-US" sz="1400" dirty="0">
              <a:solidFill>
                <a:schemeClr val="tx1"/>
              </a:solidFill>
            </a:endParaRPr>
          </a:p>
        </p:txBody>
      </p:sp>
      <p:sp>
        <p:nvSpPr>
          <p:cNvPr id="37" name="矩形 36">
            <a:extLst>
              <a:ext uri="{FF2B5EF4-FFF2-40B4-BE49-F238E27FC236}">
                <a16:creationId xmlns:a16="http://schemas.microsoft.com/office/drawing/2014/main" id="{E7A1FF42-1847-2DCB-08B7-1AFAA0105169}"/>
              </a:ext>
            </a:extLst>
          </p:cNvPr>
          <p:cNvSpPr/>
          <p:nvPr/>
        </p:nvSpPr>
        <p:spPr>
          <a:xfrm>
            <a:off x="8590717" y="501291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endParaRPr lang="zh-CN" altLang="en-US" sz="1400" dirty="0">
              <a:solidFill>
                <a:schemeClr val="tx1"/>
              </a:solidFill>
            </a:endParaRPr>
          </a:p>
        </p:txBody>
      </p:sp>
      <p:sp>
        <p:nvSpPr>
          <p:cNvPr id="41" name="文本框 40">
            <a:extLst>
              <a:ext uri="{FF2B5EF4-FFF2-40B4-BE49-F238E27FC236}">
                <a16:creationId xmlns:a16="http://schemas.microsoft.com/office/drawing/2014/main" id="{995627AD-191C-41E1-237F-7D0A8F46E67D}"/>
              </a:ext>
            </a:extLst>
          </p:cNvPr>
          <p:cNvSpPr txBox="1"/>
          <p:nvPr/>
        </p:nvSpPr>
        <p:spPr>
          <a:xfrm>
            <a:off x="695325" y="3231427"/>
            <a:ext cx="1433406" cy="307777"/>
          </a:xfrm>
          <a:prstGeom prst="rect">
            <a:avLst/>
          </a:prstGeom>
          <a:noFill/>
        </p:spPr>
        <p:txBody>
          <a:bodyPr wrap="none" rtlCol="0">
            <a:spAutoFit/>
          </a:bodyPr>
          <a:lstStyle/>
          <a:p>
            <a:pPr algn="r"/>
            <a:r>
              <a:rPr lang="en-US" altLang="zh-CN" sz="1400" dirty="0">
                <a:solidFill>
                  <a:schemeClr val="bg1"/>
                </a:solidFill>
              </a:rPr>
              <a:t>User activities</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112106" y="3668962"/>
            <a:ext cx="1016625" cy="307777"/>
          </a:xfrm>
          <a:prstGeom prst="rect">
            <a:avLst/>
          </a:prstGeom>
          <a:noFill/>
        </p:spPr>
        <p:txBody>
          <a:bodyPr wrap="none" rtlCol="0">
            <a:spAutoFit/>
          </a:bodyPr>
          <a:lstStyle/>
          <a:p>
            <a:pPr algn="r"/>
            <a:r>
              <a:rPr lang="en-US" altLang="zh-CN" sz="1400" dirty="0">
                <a:solidFill>
                  <a:schemeClr val="bg1"/>
                </a:solidFill>
              </a:rPr>
              <a:t>User task</a:t>
            </a:r>
            <a:endParaRPr lang="zh-CN" altLang="en-US" sz="1400" dirty="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153784" y="4615540"/>
            <a:ext cx="974947" cy="307777"/>
          </a:xfrm>
          <a:prstGeom prst="rect">
            <a:avLst/>
          </a:prstGeom>
          <a:noFill/>
        </p:spPr>
        <p:txBody>
          <a:bodyPr wrap="none" rtlCol="0">
            <a:spAutoFit/>
          </a:bodyPr>
          <a:lstStyle/>
          <a:p>
            <a:pPr algn="r"/>
            <a:r>
              <a:rPr lang="en-US" altLang="zh-CN" sz="1400" dirty="0">
                <a:solidFill>
                  <a:schemeClr val="bg1"/>
                </a:solidFill>
              </a:rPr>
              <a:t>Features</a:t>
            </a:r>
            <a:endParaRPr lang="zh-CN" altLang="en-US" sz="1400" dirty="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447573" y="3205315"/>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304428" y="3205315"/>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590717" y="3205315"/>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161283" y="405067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304428" y="405067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447573" y="401873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590717" y="40174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dirty="0"/>
              <a:t>3.4 </a:t>
            </a:r>
            <a:r>
              <a:rPr lang="zh-CN" altLang="en-US" dirty="0"/>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dirty="0"/>
              <a:t>用户故事编写 </a:t>
            </a:r>
            <a:r>
              <a:rPr lang="en-US" altLang="zh-CN" dirty="0"/>
              <a:t>User Story Writing</a:t>
            </a:r>
          </a:p>
          <a:p>
            <a:r>
              <a:rPr lang="zh-CN" altLang="en-US" dirty="0"/>
              <a:t>完整模板 </a:t>
            </a:r>
            <a:r>
              <a:rPr lang="en-US" altLang="zh-CN" dirty="0"/>
              <a:t>A Complete User story Template</a:t>
            </a:r>
          </a:p>
          <a:p>
            <a:endParaRPr lang="en-US" altLang="zh-CN" dirty="0"/>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dirty="0"/>
              <a:t>User Story Writing/Agile</a:t>
            </a:r>
            <a:endParaRPr lang="zh-CN" altLang="en-US" dirty="0"/>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dirty="0">
                <a:solidFill>
                  <a:schemeClr val="bg1"/>
                </a:solidFill>
              </a:rPr>
              <a:t>AS A {user | persona | system},</a:t>
            </a:r>
          </a:p>
          <a:p>
            <a:pPr marL="0" lvl="1">
              <a:lnSpc>
                <a:spcPct val="150000"/>
              </a:lnSpc>
            </a:pPr>
            <a:r>
              <a:rPr lang="en-US" altLang="zh-CN" dirty="0">
                <a:solidFill>
                  <a:schemeClr val="bg1"/>
                </a:solidFill>
              </a:rPr>
              <a:t>[INSTEAD OF {current condition}]</a:t>
            </a:r>
          </a:p>
          <a:p>
            <a:pPr marL="0" lvl="1">
              <a:lnSpc>
                <a:spcPct val="150000"/>
              </a:lnSpc>
            </a:pPr>
            <a:r>
              <a:rPr lang="en-US" altLang="zh-CN" dirty="0">
                <a:solidFill>
                  <a:schemeClr val="bg1"/>
                </a:solidFill>
              </a:rPr>
              <a:t>I WANT TO {action} [IN {mode} TIME | IN {differentiating performance units} TO {utility performance units}</a:t>
            </a:r>
          </a:p>
          <a:p>
            <a:pPr marL="0" lvl="1">
              <a:lnSpc>
                <a:spcPct val="150000"/>
              </a:lnSpc>
            </a:pPr>
            <a:r>
              <a:rPr lang="en-US" altLang="zh-CN" dirty="0">
                <a:solidFill>
                  <a:schemeClr val="bg1"/>
                </a:solidFill>
              </a:rPr>
              <a:t>[SO THAT {value or justification}]</a:t>
            </a:r>
          </a:p>
          <a:p>
            <a:pPr marL="0" lvl="1">
              <a:lnSpc>
                <a:spcPct val="150000"/>
              </a:lnSpc>
            </a:pPr>
            <a:r>
              <a:rPr lang="en-US" altLang="zh-CN" dirty="0">
                <a:solidFill>
                  <a:schemeClr val="bg1"/>
                </a:solidFill>
              </a:rPr>
              <a:t>[NO LATER THAN {best by date}]</a:t>
            </a:r>
            <a:endParaRPr lang="zh-CN" altLang="en-US" sz="1600" dirty="0">
              <a:solidFill>
                <a:schemeClr val="bg1"/>
              </a:solidFill>
            </a:endParaRPr>
          </a:p>
        </p:txBody>
      </p:sp>
    </p:spTree>
    <p:extLst>
      <p:ext uri="{BB962C8B-B14F-4D97-AF65-F5344CB8AC3E}">
        <p14:creationId xmlns:p14="http://schemas.microsoft.com/office/powerpoint/2010/main" val="26869836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bg1"/>
                          </a:solidFill>
                        </a:rPr>
                        <a:t>Story name</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Story ID</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dirty="0">
                          <a:solidFill>
                            <a:schemeClr val="bg1"/>
                          </a:solidFill>
                        </a:rPr>
                        <a:t>As a …</a:t>
                      </a:r>
                    </a:p>
                    <a:p>
                      <a:pPr>
                        <a:lnSpc>
                          <a:spcPct val="100000"/>
                        </a:lnSpc>
                      </a:pPr>
                      <a:r>
                        <a:rPr lang="en-US" altLang="zh-CN" sz="1600" dirty="0">
                          <a:solidFill>
                            <a:schemeClr val="bg1"/>
                          </a:solidFill>
                        </a:rPr>
                        <a:t>I want to…</a:t>
                      </a:r>
                    </a:p>
                    <a:p>
                      <a:pPr>
                        <a:lnSpc>
                          <a:spcPct val="100000"/>
                        </a:lnSpc>
                      </a:pPr>
                      <a:r>
                        <a:rPr lang="en-US" altLang="zh-CN" sz="1600" dirty="0">
                          <a:solidFill>
                            <a:schemeClr val="bg1"/>
                          </a:solidFill>
                        </a:rPr>
                        <a:t>So that …</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bg1"/>
                          </a:solidFill>
                        </a:rPr>
                        <a:t>Priorities </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High 1 2 3 4 5 low</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Iteration number</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bg1"/>
                          </a:solidFill>
                        </a:rPr>
                        <a:t>Date started</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Date</a:t>
                      </a:r>
                      <a:r>
                        <a:rPr lang="zh-CN" altLang="en-US" sz="1600" dirty="0">
                          <a:solidFill>
                            <a:schemeClr val="bg1"/>
                          </a:solidFill>
                        </a:rPr>
                        <a:t> </a:t>
                      </a:r>
                      <a:r>
                        <a:rPr lang="en-US" altLang="zh-CN" sz="1600" dirty="0">
                          <a:solidFill>
                            <a:schemeClr val="bg1"/>
                          </a:solidFill>
                        </a:rPr>
                        <a:t>finished</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bg1"/>
                          </a:solidFill>
                        </a:rPr>
                        <a:t>Notes:</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dirty="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用户故事 </a:t>
                      </a:r>
                      <a:r>
                        <a:rPr lang="en-US" sz="1600" dirty="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验收标准示例 </a:t>
                      </a:r>
                      <a:r>
                        <a:rPr lang="en-US" sz="1600" dirty="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dirty="0">
                          <a:solidFill>
                            <a:schemeClr val="bg1"/>
                          </a:solidFill>
                        </a:rPr>
                        <a:t>P0 (</a:t>
                      </a:r>
                      <a:r>
                        <a:rPr lang="zh-CN" altLang="en-US" sz="1600" dirty="0">
                          <a:solidFill>
                            <a:schemeClr val="bg1"/>
                          </a:solidFill>
                        </a:rPr>
                        <a:t>高</a:t>
                      </a:r>
                      <a:r>
                        <a:rPr lang="en-US" altLang="zh-CN" sz="1600" dirty="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通过关键词搜索商品</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1. </a:t>
                      </a:r>
                      <a:r>
                        <a:rPr lang="zh-CN" altLang="en-US" sz="1600" dirty="0">
                          <a:solidFill>
                            <a:schemeClr val="bg1"/>
                          </a:solidFill>
                        </a:rPr>
                        <a:t>支持模糊匹配</a:t>
                      </a:r>
                      <a:br>
                        <a:rPr lang="zh-CN" altLang="en-US" sz="1600" dirty="0">
                          <a:solidFill>
                            <a:schemeClr val="bg1"/>
                          </a:solidFill>
                        </a:rPr>
                      </a:br>
                      <a:r>
                        <a:rPr lang="en-US" altLang="zh-CN" sz="1600" dirty="0">
                          <a:solidFill>
                            <a:schemeClr val="bg1"/>
                          </a:solidFill>
                        </a:rPr>
                        <a:t>2. </a:t>
                      </a:r>
                      <a:r>
                        <a:rPr lang="zh-CN" altLang="en-US" sz="1600" dirty="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dirty="0">
                          <a:solidFill>
                            <a:schemeClr val="bg1"/>
                          </a:solidFill>
                        </a:rPr>
                        <a:t>P0 (</a:t>
                      </a:r>
                      <a:r>
                        <a:rPr lang="zh-CN" altLang="en-US" sz="1600" dirty="0">
                          <a:solidFill>
                            <a:schemeClr val="bg1"/>
                          </a:solidFill>
                        </a:rPr>
                        <a:t>高</a:t>
                      </a:r>
                      <a:r>
                        <a:rPr lang="en-US" altLang="zh-CN" sz="1600" dirty="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查看商品的详细图片和描述</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1. </a:t>
                      </a:r>
                      <a:r>
                        <a:rPr lang="zh-CN" altLang="en-US" sz="1600" dirty="0">
                          <a:solidFill>
                            <a:schemeClr val="bg1"/>
                          </a:solidFill>
                        </a:rPr>
                        <a:t>图片支持放大查看</a:t>
                      </a:r>
                      <a:br>
                        <a:rPr lang="zh-CN" altLang="en-US" sz="1600" dirty="0">
                          <a:solidFill>
                            <a:schemeClr val="bg1"/>
                          </a:solidFill>
                        </a:rPr>
                      </a:br>
                      <a:r>
                        <a:rPr lang="en-US" altLang="zh-CN" sz="1600" dirty="0">
                          <a:solidFill>
                            <a:schemeClr val="bg1"/>
                          </a:solidFill>
                        </a:rPr>
                        <a:t>2. </a:t>
                      </a:r>
                      <a:r>
                        <a:rPr lang="zh-CN" altLang="en-US" sz="1600" dirty="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dirty="0">
                          <a:solidFill>
                            <a:schemeClr val="bg1"/>
                          </a:solidFill>
                        </a:rPr>
                        <a:t>P1 (</a:t>
                      </a:r>
                      <a:r>
                        <a:rPr lang="zh-CN" altLang="en-US" sz="1600" dirty="0">
                          <a:solidFill>
                            <a:schemeClr val="bg1"/>
                          </a:solidFill>
                        </a:rPr>
                        <a:t>中</a:t>
                      </a:r>
                      <a:r>
                        <a:rPr lang="en-US" altLang="zh-CN" sz="1600" dirty="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按价格或销量对搜索结果排序</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1. </a:t>
                      </a:r>
                      <a:r>
                        <a:rPr lang="zh-CN" altLang="en-US" sz="1600" dirty="0">
                          <a:solidFill>
                            <a:schemeClr val="bg1"/>
                          </a:solidFill>
                        </a:rPr>
                        <a:t>支持升序</a:t>
                      </a:r>
                      <a:r>
                        <a:rPr lang="en-US" altLang="zh-CN" sz="1600" dirty="0">
                          <a:solidFill>
                            <a:schemeClr val="bg1"/>
                          </a:solidFill>
                        </a:rPr>
                        <a:t>/</a:t>
                      </a:r>
                      <a:r>
                        <a:rPr lang="zh-CN" altLang="en-US" sz="1600" dirty="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dirty="0">
                          <a:solidFill>
                            <a:schemeClr val="bg1"/>
                          </a:solidFill>
                        </a:rPr>
                        <a:t>P2 (</a:t>
                      </a:r>
                      <a:r>
                        <a:rPr lang="zh-CN" altLang="en-US" sz="1600" dirty="0">
                          <a:solidFill>
                            <a:schemeClr val="bg1"/>
                          </a:solidFill>
                        </a:rPr>
                        <a:t>低</a:t>
                      </a:r>
                      <a:r>
                        <a:rPr lang="en-US" altLang="zh-CN" sz="1600" dirty="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dirty="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查看其他用户的商品评价</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dirty="0">
                          <a:solidFill>
                            <a:schemeClr val="bg1"/>
                          </a:solidFill>
                        </a:rPr>
                        <a:t>1. </a:t>
                      </a:r>
                      <a:r>
                        <a:rPr lang="zh-CN" altLang="en-US" sz="1600" dirty="0">
                          <a:solidFill>
                            <a:schemeClr val="bg1"/>
                          </a:solidFill>
                        </a:rPr>
                        <a:t>显示评分星级</a:t>
                      </a:r>
                      <a:br>
                        <a:rPr lang="zh-CN" altLang="en-US" sz="1600" dirty="0">
                          <a:solidFill>
                            <a:schemeClr val="bg1"/>
                          </a:solidFill>
                        </a:rPr>
                      </a:br>
                      <a:r>
                        <a:rPr lang="en-US" altLang="zh-CN" sz="1600" dirty="0">
                          <a:solidFill>
                            <a:schemeClr val="bg1"/>
                          </a:solidFill>
                        </a:rPr>
                        <a:t>2. </a:t>
                      </a:r>
                      <a:r>
                        <a:rPr lang="zh-CN" altLang="en-US" sz="1600" dirty="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dirty="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bg1"/>
                          </a:solidFill>
                        </a:rPr>
                        <a:t>用户故事 </a:t>
                      </a:r>
                      <a:r>
                        <a:rPr lang="en-US" sz="1600" dirty="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bg1"/>
                          </a:solidFill>
                        </a:rPr>
                        <a:t>验收标准示例 </a:t>
                      </a:r>
                      <a:r>
                        <a:rPr lang="en-US" sz="1600" dirty="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dirty="0">
                          <a:solidFill>
                            <a:schemeClr val="bg1"/>
                          </a:solidFill>
                        </a:rPr>
                        <a:t>P0 (</a:t>
                      </a:r>
                      <a:r>
                        <a:rPr lang="zh-CN" altLang="en-US" sz="1600" dirty="0">
                          <a:solidFill>
                            <a:schemeClr val="bg1"/>
                          </a:solidFill>
                        </a:rPr>
                        <a:t>高</a:t>
                      </a:r>
                      <a:r>
                        <a:rPr lang="en-US" altLang="zh-CN" sz="1600" dirty="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选择商品的颜色、尺寸等规格</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dirty="0">
                          <a:solidFill>
                            <a:schemeClr val="bg1"/>
                          </a:solidFill>
                        </a:rPr>
                        <a:t>1. </a:t>
                      </a:r>
                      <a:r>
                        <a:rPr lang="zh-CN" altLang="en-US" sz="1600" dirty="0">
                          <a:solidFill>
                            <a:schemeClr val="bg1"/>
                          </a:solidFill>
                        </a:rPr>
                        <a:t>缺货规格置灰不可选</a:t>
                      </a:r>
                      <a:br>
                        <a:rPr lang="zh-CN" altLang="en-US" sz="1600" dirty="0">
                          <a:solidFill>
                            <a:schemeClr val="bg1"/>
                          </a:solidFill>
                        </a:rPr>
                      </a:br>
                      <a:r>
                        <a:rPr lang="en-US" altLang="zh-CN" sz="1600" dirty="0">
                          <a:solidFill>
                            <a:schemeClr val="bg1"/>
                          </a:solidFill>
                        </a:rPr>
                        <a:t>2. </a:t>
                      </a:r>
                      <a:r>
                        <a:rPr lang="zh-CN" altLang="en-US" sz="1600" dirty="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dirty="0">
                          <a:solidFill>
                            <a:schemeClr val="bg1"/>
                          </a:solidFill>
                        </a:rPr>
                        <a:t>P0 (</a:t>
                      </a:r>
                      <a:r>
                        <a:rPr lang="zh-CN" altLang="en-US" sz="1600" dirty="0">
                          <a:solidFill>
                            <a:schemeClr val="bg1"/>
                          </a:solidFill>
                        </a:rPr>
                        <a:t>高</a:t>
                      </a:r>
                      <a:r>
                        <a:rPr lang="en-US" altLang="zh-CN" sz="1600" dirty="0">
                          <a:solidFill>
                            <a:schemeClr val="bg1"/>
                          </a:solidFill>
                        </a:rPr>
                        <a:t>)</a:t>
                      </a:r>
                    </a:p>
                  </a:txBody>
                  <a:tcPr anchor="ctr">
                    <a:lnL>
                      <a:noFill/>
                    </a:lnL>
                    <a:lnR>
                      <a:noFill/>
                    </a:lnR>
                    <a:lnT>
                      <a:noFill/>
                    </a:lnT>
                    <a:lnB>
                      <a:noFill/>
                    </a:lnB>
                    <a:noFill/>
                  </a:tcPr>
                </a:tc>
                <a:tc>
                  <a:txBody>
                    <a:bodyPr/>
                    <a:lstStyle/>
                    <a:p>
                      <a:pPr algn="l">
                        <a:buNone/>
                      </a:pPr>
                      <a:r>
                        <a:rPr lang="zh-CN" altLang="en-US" sz="1600" dirty="0">
                          <a:solidFill>
                            <a:schemeClr val="bg1"/>
                          </a:solidFill>
                        </a:rPr>
                        <a:t>购物者</a:t>
                      </a:r>
                    </a:p>
                  </a:txBody>
                  <a:tcPr anchor="ctr">
                    <a:lnL>
                      <a:noFill/>
                    </a:lnL>
                    <a:lnR>
                      <a:noFill/>
                    </a:lnR>
                    <a:lnT>
                      <a:noFill/>
                    </a:lnT>
                    <a:lnB>
                      <a:noFill/>
                    </a:lnB>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设定购买数量并添加到购物车</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dirty="0">
                          <a:solidFill>
                            <a:schemeClr val="bg1"/>
                          </a:solidFill>
                        </a:rPr>
                        <a:t>1. </a:t>
                      </a:r>
                      <a:r>
                        <a:rPr lang="zh-CN" altLang="en-US" sz="1600" dirty="0">
                          <a:solidFill>
                            <a:schemeClr val="bg1"/>
                          </a:solidFill>
                        </a:rPr>
                        <a:t>数量不能超过库存上限</a:t>
                      </a:r>
                      <a:br>
                        <a:rPr lang="zh-CN" altLang="en-US" sz="1600" dirty="0">
                          <a:solidFill>
                            <a:schemeClr val="bg1"/>
                          </a:solidFill>
                        </a:rPr>
                      </a:br>
                      <a:r>
                        <a:rPr lang="en-US" altLang="zh-CN" sz="1600" dirty="0">
                          <a:solidFill>
                            <a:schemeClr val="bg1"/>
                          </a:solidFill>
                        </a:rPr>
                        <a:t>2. </a:t>
                      </a:r>
                      <a:r>
                        <a:rPr lang="zh-CN" altLang="en-US" sz="1600" dirty="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dirty="0">
                          <a:solidFill>
                            <a:schemeClr val="bg1"/>
                          </a:solidFill>
                        </a:rPr>
                        <a:t>P1 (</a:t>
                      </a:r>
                      <a:r>
                        <a:rPr lang="zh-CN" altLang="en-US" sz="1600" dirty="0">
                          <a:solidFill>
                            <a:schemeClr val="bg1"/>
                          </a:solidFill>
                        </a:rPr>
                        <a:t>中</a:t>
                      </a:r>
                      <a:r>
                        <a:rPr lang="en-US" altLang="zh-CN" sz="1600" dirty="0">
                          <a:solidFill>
                            <a:schemeClr val="bg1"/>
                          </a:solidFill>
                        </a:rPr>
                        <a:t>)</a:t>
                      </a:r>
                    </a:p>
                  </a:txBody>
                  <a:tcPr anchor="ctr">
                    <a:lnL>
                      <a:noFill/>
                    </a:lnL>
                    <a:lnR>
                      <a:noFill/>
                    </a:lnR>
                    <a:lnT>
                      <a:noFill/>
                    </a:lnT>
                    <a:lnB>
                      <a:noFill/>
                    </a:lnB>
                    <a:noFill/>
                  </a:tcPr>
                </a:tc>
                <a:tc>
                  <a:txBody>
                    <a:bodyPr/>
                    <a:lstStyle/>
                    <a:p>
                      <a:pPr algn="l">
                        <a:buNone/>
                      </a:pPr>
                      <a:r>
                        <a:rPr lang="zh-CN" altLang="en-US" sz="1600" dirty="0">
                          <a:solidFill>
                            <a:schemeClr val="bg1"/>
                          </a:solidFill>
                        </a:rPr>
                        <a:t>购物者</a:t>
                      </a:r>
                    </a:p>
                  </a:txBody>
                  <a:tcPr anchor="ctr">
                    <a:lnL>
                      <a:noFill/>
                    </a:lnL>
                    <a:lnR>
                      <a:noFill/>
                    </a:lnR>
                    <a:lnT>
                      <a:noFill/>
                    </a:lnT>
                    <a:lnB>
                      <a:noFill/>
                    </a:lnB>
                    <a:noFill/>
                  </a:tcPr>
                </a:tc>
                <a:tc>
                  <a:txBody>
                    <a:bodyPr/>
                    <a:lstStyle/>
                    <a:p>
                      <a:pPr algn="l">
                        <a:buNone/>
                      </a:pPr>
                      <a:r>
                        <a:rPr lang="zh-CN" altLang="en-US" sz="1600" dirty="0">
                          <a:solidFill>
                            <a:srgbClr val="FFFF00"/>
                          </a:solidFill>
                        </a:rPr>
                        <a:t>作为</a:t>
                      </a:r>
                      <a:r>
                        <a:rPr lang="zh-CN" altLang="en-US" sz="1600" dirty="0">
                          <a:solidFill>
                            <a:schemeClr val="bg1"/>
                          </a:solidFill>
                        </a:rPr>
                        <a:t> 购物者</a:t>
                      </a:r>
                      <a:br>
                        <a:rPr lang="zh-CN" altLang="en-US" sz="1600" dirty="0">
                          <a:solidFill>
                            <a:schemeClr val="bg1"/>
                          </a:solidFill>
                        </a:rPr>
                      </a:br>
                      <a:r>
                        <a:rPr lang="zh-CN" altLang="en-US" sz="1600" dirty="0">
                          <a:solidFill>
                            <a:srgbClr val="FFFF00"/>
                          </a:solidFill>
                        </a:rPr>
                        <a:t>我想要</a:t>
                      </a:r>
                      <a:r>
                        <a:rPr lang="zh-CN" altLang="en-US" sz="1600" dirty="0">
                          <a:solidFill>
                            <a:schemeClr val="bg1"/>
                          </a:solidFill>
                        </a:rPr>
                        <a:t> 在购物车修改已选商品数量或删除商品</a:t>
                      </a:r>
                      <a:br>
                        <a:rPr lang="zh-CN" altLang="en-US" sz="1600" dirty="0">
                          <a:solidFill>
                            <a:schemeClr val="bg1"/>
                          </a:solidFill>
                        </a:rPr>
                      </a:br>
                      <a:r>
                        <a:rPr lang="zh-CN" altLang="en-US" sz="1600" dirty="0">
                          <a:solidFill>
                            <a:srgbClr val="FFFF00"/>
                          </a:solidFill>
                        </a:rPr>
                        <a:t>以便</a:t>
                      </a:r>
                      <a:r>
                        <a:rPr lang="zh-CN" altLang="en-US" sz="1600" dirty="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dirty="0">
                          <a:solidFill>
                            <a:schemeClr val="bg1"/>
                          </a:solidFill>
                        </a:rPr>
                        <a:t>1. </a:t>
                      </a:r>
                      <a:r>
                        <a:rPr lang="zh-CN" altLang="en-US" sz="1600" dirty="0">
                          <a:solidFill>
                            <a:schemeClr val="bg1"/>
                          </a:solidFill>
                        </a:rPr>
                        <a:t>删除需二次确认</a:t>
                      </a:r>
                      <a:br>
                        <a:rPr lang="zh-CN" altLang="en-US" sz="1600" dirty="0">
                          <a:solidFill>
                            <a:schemeClr val="bg1"/>
                          </a:solidFill>
                        </a:rPr>
                      </a:br>
                      <a:r>
                        <a:rPr lang="en-US" altLang="zh-CN" sz="1600" dirty="0">
                          <a:solidFill>
                            <a:schemeClr val="bg1"/>
                          </a:solidFill>
                        </a:rPr>
                        <a:t>2. </a:t>
                      </a:r>
                      <a:r>
                        <a:rPr lang="zh-CN" altLang="en-US" sz="1600" dirty="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dirty="0"/>
              <a:t>3.5 INVEST </a:t>
            </a:r>
            <a:r>
              <a:rPr lang="zh-CN" altLang="en-US" dirty="0"/>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  </a:t>
            </a:r>
            <a:r>
              <a:rPr lang="en-US" altLang="zh-CN" dirty="0"/>
              <a:t>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dirty="0"/>
              <a:t>INVEST/Agile</a:t>
            </a:r>
            <a:endParaRPr lang="zh-CN" altLang="en-US" dirty="0"/>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1475265194"/>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dirty="0">
                          <a:solidFill>
                            <a:schemeClr val="bg1"/>
                          </a:solidFill>
                        </a:rPr>
                        <a:t>I</a:t>
                      </a:r>
                      <a:endParaRPr lang="zh-CN" altLang="en-US" sz="32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dirty="0">
                          <a:solidFill>
                            <a:schemeClr val="bg1"/>
                          </a:solidFill>
                        </a:rPr>
                        <a:t>N</a:t>
                      </a:r>
                      <a:endParaRPr lang="zh-CN" altLang="en-US" sz="32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dirty="0">
                          <a:solidFill>
                            <a:schemeClr val="bg1"/>
                          </a:solidFill>
                        </a:rPr>
                        <a:t>V</a:t>
                      </a:r>
                      <a:endParaRPr lang="zh-CN" altLang="en-US" sz="32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dirty="0">
                          <a:solidFill>
                            <a:schemeClr val="bg1"/>
                          </a:solidFill>
                        </a:rPr>
                        <a:t>E</a:t>
                      </a:r>
                      <a:endParaRPr lang="zh-CN" altLang="en-US" sz="32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dirty="0">
                          <a:solidFill>
                            <a:schemeClr val="bg1"/>
                          </a:solidFill>
                        </a:rPr>
                        <a:t>S</a:t>
                      </a:r>
                      <a:endParaRPr lang="zh-CN" altLang="en-US" sz="32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dirty="0">
                          <a:solidFill>
                            <a:schemeClr val="bg1"/>
                          </a:solidFill>
                        </a:rPr>
                        <a:t>T</a:t>
                      </a:r>
                      <a:endParaRPr lang="zh-CN" altLang="en-US" sz="32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2000" b="0" dirty="0">
                          <a:solidFill>
                            <a:schemeClr val="bg1"/>
                          </a:solidFill>
                        </a:rPr>
                        <a:t>Independent</a:t>
                      </a:r>
                    </a:p>
                    <a:p>
                      <a:pPr algn="l"/>
                      <a:r>
                        <a:rPr lang="zh-CN" altLang="en-US" sz="2000" b="0" dirty="0">
                          <a:solidFill>
                            <a:schemeClr val="bg1"/>
                          </a:solidFill>
                        </a:rPr>
                        <a:t>独立的</a:t>
                      </a:r>
                      <a:endParaRPr lang="en-US" altLang="zh-CN" sz="2000" b="0" dirty="0">
                        <a:solidFill>
                          <a:schemeClr val="bg1"/>
                        </a:solidFill>
                      </a:endParaRPr>
                    </a:p>
                    <a:p>
                      <a:pPr algn="l"/>
                      <a:endParaRPr lang="en-US" altLang="zh-CN" sz="2000" b="0" dirty="0">
                        <a:solidFill>
                          <a:schemeClr val="bg1"/>
                        </a:solidFill>
                      </a:endParaRPr>
                    </a:p>
                    <a:p>
                      <a:pPr algn="l"/>
                      <a:r>
                        <a:rPr lang="zh-CN" altLang="en-US" sz="1600" b="0" dirty="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2000" b="0" dirty="0">
                          <a:solidFill>
                            <a:schemeClr val="bg1"/>
                          </a:solidFill>
                        </a:rPr>
                        <a:t>Negotiable</a:t>
                      </a:r>
                    </a:p>
                    <a:p>
                      <a:pPr algn="l"/>
                      <a:r>
                        <a:rPr lang="zh-CN" altLang="en-US" sz="2000" b="0" dirty="0">
                          <a:solidFill>
                            <a:schemeClr val="bg1"/>
                          </a:solidFill>
                        </a:rPr>
                        <a:t>可协商的</a:t>
                      </a:r>
                      <a:endParaRPr lang="en-US" altLang="zh-CN" sz="2000" b="0" dirty="0">
                        <a:solidFill>
                          <a:schemeClr val="bg1"/>
                        </a:solidFill>
                      </a:endParaRPr>
                    </a:p>
                    <a:p>
                      <a:pPr algn="l"/>
                      <a:endParaRPr lang="en-US" altLang="zh-CN" sz="2000" b="0" dirty="0">
                        <a:solidFill>
                          <a:schemeClr val="bg1"/>
                        </a:solidFill>
                      </a:endParaRPr>
                    </a:p>
                    <a:p>
                      <a:pPr algn="l"/>
                      <a:r>
                        <a:rPr lang="zh-CN" altLang="en-US" sz="1600" b="0" dirty="0">
                          <a:solidFill>
                            <a:schemeClr val="bg1"/>
                          </a:solidFill>
                        </a:rPr>
                        <a:t>非详细合同条款</a:t>
                      </a:r>
                      <a:endParaRPr lang="en-US" altLang="zh-CN" sz="1600" b="0" dirty="0">
                        <a:solidFill>
                          <a:schemeClr val="bg1"/>
                        </a:solidFill>
                      </a:endParaRPr>
                    </a:p>
                    <a:p>
                      <a:pPr algn="l"/>
                      <a:endParaRPr lang="zh-CN" altLang="en-US" sz="1600" b="0" dirty="0">
                        <a:solidFill>
                          <a:schemeClr val="bg1"/>
                        </a:solidFill>
                      </a:endParaRP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b="0" dirty="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000" b="0" dirty="0">
                          <a:solidFill>
                            <a:schemeClr val="bg1"/>
                          </a:solidFill>
                        </a:rPr>
                        <a:t>有价值的</a:t>
                      </a: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为用户提供价值</a:t>
                      </a:r>
                      <a:endParaRPr lang="en-US" altLang="zh-CN" sz="16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600" b="0" dirty="0">
                        <a:solidFill>
                          <a:schemeClr val="bg1"/>
                        </a:solidFill>
                      </a:endParaRP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b="0" dirty="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000" b="0" dirty="0">
                          <a:solidFill>
                            <a:schemeClr val="bg1"/>
                          </a:solidFill>
                        </a:rPr>
                        <a:t>可估算的</a:t>
                      </a: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足够清晰以便能够估算工作量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b="0" dirty="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000" b="0" dirty="0">
                          <a:solidFill>
                            <a:schemeClr val="bg1"/>
                          </a:solidFill>
                        </a:rPr>
                        <a:t>小的</a:t>
                      </a: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dirty="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b="0" dirty="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000" b="0" dirty="0">
                          <a:solidFill>
                            <a:schemeClr val="bg1"/>
                          </a:solidFill>
                        </a:rPr>
                        <a:t>可测试的</a:t>
                      </a: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2000" b="0"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可测试且应尽早制定测试方案</a:t>
                      </a:r>
                      <a:endParaRPr lang="zh-CN" altLang="en-US" sz="2000" b="0" dirty="0">
                        <a:solidFill>
                          <a:schemeClr val="bg1"/>
                        </a:solidFill>
                      </a:endParaRP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dirty="0"/>
              <a:t>3.6 </a:t>
            </a:r>
            <a:r>
              <a:rPr lang="zh-CN" altLang="en-US" dirty="0"/>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2"/>
              </a:rPr>
              <a:t>Behavior-Driven Development</a:t>
            </a:r>
            <a:endParaRPr lang="en-US" altLang="zh-CN" dirty="0"/>
          </a:p>
          <a:p>
            <a:r>
              <a:rPr lang="zh-CN" altLang="en-US" dirty="0"/>
              <a:t>一个非常重要的实践方法论</a:t>
            </a:r>
            <a:endParaRPr lang="en-US" altLang="zh-CN" dirty="0"/>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endParaRPr lang="zh-CN" altLang="en-US" dirty="0"/>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dirty="0"/>
              <a:t>BDD/Agile</a:t>
            </a:r>
            <a:endParaRPr lang="zh-CN" altLang="en-US" dirty="0"/>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1543959575"/>
              </p:ext>
            </p:extLst>
          </p:nvPr>
        </p:nvGraphicFramePr>
        <p:xfrm>
          <a:off x="695325" y="3461683"/>
          <a:ext cx="10801350" cy="1463040"/>
        </p:xfrm>
        <a:graphic>
          <a:graphicData uri="http://schemas.openxmlformats.org/drawingml/2006/table">
            <a:tbl>
              <a:tblPr/>
              <a:tblGrid>
                <a:gridCol w="3600450">
                  <a:extLst>
                    <a:ext uri="{9D8B030D-6E8A-4147-A177-3AD203B41FA5}">
                      <a16:colId xmlns:a16="http://schemas.microsoft.com/office/drawing/2014/main" val="3679276519"/>
                    </a:ext>
                  </a:extLst>
                </a:gridCol>
                <a:gridCol w="3600450">
                  <a:extLst>
                    <a:ext uri="{9D8B030D-6E8A-4147-A177-3AD203B41FA5}">
                      <a16:colId xmlns:a16="http://schemas.microsoft.com/office/drawing/2014/main" val="1452707159"/>
                    </a:ext>
                  </a:extLst>
                </a:gridCol>
                <a:gridCol w="3600450">
                  <a:extLst>
                    <a:ext uri="{9D8B030D-6E8A-4147-A177-3AD203B41FA5}">
                      <a16:colId xmlns:a16="http://schemas.microsoft.com/office/drawing/2014/main" val="2421228598"/>
                    </a:ext>
                  </a:extLst>
                </a:gridCol>
              </a:tblGrid>
              <a:tr h="0">
                <a:tc>
                  <a:txBody>
                    <a:bodyPr/>
                    <a:lstStyle/>
                    <a:p>
                      <a:pPr>
                        <a:buNone/>
                      </a:pPr>
                      <a:r>
                        <a:rPr lang="en-US" altLang="zh-CN" dirty="0">
                          <a:solidFill>
                            <a:schemeClr val="bg1"/>
                          </a:solidFill>
                        </a:rPr>
                        <a:t>Role</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zh-CN" altLang="en-US" dirty="0">
                          <a:solidFill>
                            <a:schemeClr val="bg1"/>
                          </a:solidFill>
                        </a:rPr>
                        <a:t>英文</a:t>
                      </a: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dirty="0">
                          <a:solidFill>
                            <a:schemeClr val="bg1"/>
                          </a:solidFill>
                        </a:rPr>
                        <a:t>Customer / Business</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客户 </a:t>
                      </a:r>
                      <a:r>
                        <a:rPr lang="en-US" altLang="zh-CN" dirty="0">
                          <a:solidFill>
                            <a:schemeClr val="bg1"/>
                          </a:solidFill>
                        </a:rPr>
                        <a:t>/ </a:t>
                      </a:r>
                      <a:r>
                        <a:rPr lang="zh-CN" altLang="en-US" dirty="0">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dirty="0">
                          <a:solidFill>
                            <a:schemeClr val="bg1"/>
                          </a:solidFill>
                        </a:rPr>
                        <a:t>Developer</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dirty="0">
                          <a:solidFill>
                            <a:schemeClr val="bg1"/>
                          </a:solidFill>
                        </a:rPr>
                        <a:t>Tester / QA</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dirty="0"/>
              <a:t>3.6 </a:t>
            </a:r>
            <a:r>
              <a:rPr lang="zh-CN" altLang="en-US" dirty="0"/>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dirty="0"/>
              <a:t>表达方式：</a:t>
            </a:r>
            <a:r>
              <a:rPr lang="en-US" altLang="zh-CN" dirty="0"/>
              <a:t>Gherkin </a:t>
            </a:r>
            <a:r>
              <a:rPr lang="zh-CN" altLang="en-US" dirty="0"/>
              <a:t>语法（</a:t>
            </a:r>
            <a:r>
              <a:rPr lang="en-US" altLang="zh-CN" dirty="0"/>
              <a:t>Given-When-Then</a:t>
            </a:r>
            <a:r>
              <a:rPr lang="zh-CN" altLang="en-US" dirty="0"/>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dirty="0"/>
              <a:t>BDD/Agile</a:t>
            </a:r>
            <a:endParaRPr lang="zh-CN" altLang="en-US" dirty="0"/>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dirty="0">
                  <a:solidFill>
                    <a:schemeClr val="bg1"/>
                  </a:solidFill>
                </a:rPr>
                <a:t>Scenario: [ description ]</a:t>
              </a:r>
              <a:endParaRPr lang="zh-CN" altLang="en-US" dirty="0">
                <a:solidFill>
                  <a:schemeClr val="bg1"/>
                </a:solidFill>
              </a:endParaRPr>
            </a:p>
            <a:p>
              <a:pPr marL="720000">
                <a:spcAft>
                  <a:spcPts val="600"/>
                </a:spcAft>
              </a:pPr>
              <a:r>
                <a:rPr lang="en-US" altLang="zh-CN" dirty="0">
                  <a:solidFill>
                    <a:schemeClr val="bg1"/>
                  </a:solidFill>
                </a:rPr>
                <a:t>Given [ context ] </a:t>
              </a:r>
            </a:p>
            <a:p>
              <a:pPr marL="1080000">
                <a:spcAft>
                  <a:spcPts val="600"/>
                </a:spcAft>
              </a:pPr>
              <a:r>
                <a:rPr lang="en-US" altLang="zh-CN" dirty="0">
                  <a:solidFill>
                    <a:schemeClr val="bg1"/>
                  </a:solidFill>
                </a:rPr>
                <a:t>and [context ]</a:t>
              </a:r>
            </a:p>
            <a:p>
              <a:pPr marL="720000" algn="l">
                <a:spcAft>
                  <a:spcPts val="600"/>
                </a:spcAft>
              </a:pPr>
              <a:r>
                <a:rPr lang="en-US" altLang="zh-CN" dirty="0">
                  <a:solidFill>
                    <a:schemeClr val="bg1"/>
                  </a:solidFill>
                </a:rPr>
                <a:t>When [ event ]</a:t>
              </a:r>
              <a:endParaRPr lang="zh-CN" altLang="en-US" dirty="0">
                <a:solidFill>
                  <a:schemeClr val="bg1"/>
                </a:solidFill>
              </a:endParaRPr>
            </a:p>
            <a:p>
              <a:pPr marL="720000" algn="l">
                <a:spcAft>
                  <a:spcPts val="600"/>
                </a:spcAft>
              </a:pPr>
              <a:r>
                <a:rPr lang="en-US" altLang="zh-CN" dirty="0">
                  <a:solidFill>
                    <a:schemeClr val="bg1"/>
                  </a:solidFill>
                </a:rPr>
                <a:t>Then [ result ]</a:t>
              </a:r>
            </a:p>
            <a:p>
              <a:pPr marL="1080000">
                <a:spcAft>
                  <a:spcPts val="600"/>
                </a:spcAft>
              </a:pPr>
              <a:r>
                <a:rPr lang="en-US" altLang="zh-CN" dirty="0">
                  <a:solidFill>
                    <a:schemeClr val="bg1"/>
                  </a:solidFill>
                </a:rPr>
                <a:t>And [ result ]</a:t>
              </a:r>
              <a:endParaRPr lang="zh-CN" altLang="en-US" dirty="0">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dirty="0">
                <a:solidFill>
                  <a:schemeClr val="bg1"/>
                </a:solidFill>
              </a:rPr>
              <a:t>Feature: </a:t>
            </a:r>
            <a:r>
              <a:rPr lang="zh-CN" altLang="en-US" sz="1600" dirty="0">
                <a:solidFill>
                  <a:schemeClr val="bg1"/>
                </a:solidFill>
              </a:rPr>
              <a:t>用户登录功能</a:t>
            </a:r>
          </a:p>
          <a:p>
            <a:pPr marL="360000" algn="l">
              <a:spcAft>
                <a:spcPts val="600"/>
              </a:spcAft>
            </a:pPr>
            <a:r>
              <a:rPr lang="zh-CN" altLang="en-US" sz="1600" dirty="0">
                <a:solidFill>
                  <a:schemeClr val="bg1"/>
                </a:solidFill>
              </a:rPr>
              <a:t>作为注册用户</a:t>
            </a:r>
          </a:p>
          <a:p>
            <a:pPr marL="360000" algn="l">
              <a:spcAft>
                <a:spcPts val="600"/>
              </a:spcAft>
            </a:pPr>
            <a:r>
              <a:rPr lang="zh-CN" altLang="en-US" sz="1600" dirty="0">
                <a:solidFill>
                  <a:schemeClr val="bg1"/>
                </a:solidFill>
              </a:rPr>
              <a:t>我希望能够使用邮箱和密码登录系统</a:t>
            </a:r>
          </a:p>
          <a:p>
            <a:pPr marL="360000" algn="l">
              <a:spcAft>
                <a:spcPts val="600"/>
              </a:spcAft>
            </a:pPr>
            <a:r>
              <a:rPr lang="zh-CN" altLang="en-US" sz="1600" dirty="0">
                <a:solidFill>
                  <a:schemeClr val="bg1"/>
                </a:solidFill>
              </a:rPr>
              <a:t>以便访问我的个人账户</a:t>
            </a:r>
          </a:p>
          <a:p>
            <a:pPr marL="360000" algn="l">
              <a:spcAft>
                <a:spcPts val="600"/>
              </a:spcAft>
            </a:pPr>
            <a:endParaRPr lang="zh-CN" altLang="en-US" sz="1600" dirty="0">
              <a:solidFill>
                <a:schemeClr val="bg1"/>
              </a:solidFill>
            </a:endParaRPr>
          </a:p>
          <a:p>
            <a:pPr marL="360000" algn="l">
              <a:spcAft>
                <a:spcPts val="600"/>
              </a:spcAft>
            </a:pPr>
            <a:r>
              <a:rPr lang="en-US" altLang="zh-CN" sz="1600" dirty="0">
                <a:solidFill>
                  <a:schemeClr val="bg1"/>
                </a:solidFill>
              </a:rPr>
              <a:t>Scenario: </a:t>
            </a:r>
            <a:r>
              <a:rPr lang="zh-CN" altLang="en-US" sz="1600" dirty="0">
                <a:solidFill>
                  <a:schemeClr val="bg1"/>
                </a:solidFill>
              </a:rPr>
              <a:t>成功登录</a:t>
            </a:r>
          </a:p>
          <a:p>
            <a:pPr marL="720000" algn="l">
              <a:spcAft>
                <a:spcPts val="600"/>
              </a:spcAft>
            </a:pPr>
            <a:r>
              <a:rPr lang="en-US" altLang="zh-CN" sz="1600" dirty="0">
                <a:solidFill>
                  <a:schemeClr val="bg1"/>
                </a:solidFill>
              </a:rPr>
              <a:t>Given </a:t>
            </a:r>
            <a:r>
              <a:rPr lang="zh-CN" altLang="en-US" sz="1600" dirty="0">
                <a:solidFill>
                  <a:schemeClr val="bg1"/>
                </a:solidFill>
              </a:rPr>
              <a:t>我已经注册了一个账号 </a:t>
            </a:r>
            <a:r>
              <a:rPr lang="en-US" altLang="zh-CN" sz="1600" dirty="0">
                <a:solidFill>
                  <a:schemeClr val="bg1"/>
                </a:solidFill>
              </a:rPr>
              <a:t>"user@example.com" </a:t>
            </a:r>
            <a:r>
              <a:rPr lang="zh-CN" altLang="en-US" sz="1600" dirty="0">
                <a:solidFill>
                  <a:schemeClr val="bg1"/>
                </a:solidFill>
              </a:rPr>
              <a:t>和密码 </a:t>
            </a:r>
            <a:r>
              <a:rPr lang="en-US" altLang="zh-CN" sz="1600" dirty="0">
                <a:solidFill>
                  <a:schemeClr val="bg1"/>
                </a:solidFill>
              </a:rPr>
              <a:t>"123456"</a:t>
            </a:r>
          </a:p>
          <a:p>
            <a:pPr marL="720000" algn="l">
              <a:spcAft>
                <a:spcPts val="600"/>
              </a:spcAft>
            </a:pPr>
            <a:r>
              <a:rPr lang="en-US" altLang="zh-CN" sz="1600" dirty="0">
                <a:solidFill>
                  <a:schemeClr val="bg1"/>
                </a:solidFill>
              </a:rPr>
              <a:t>When </a:t>
            </a:r>
            <a:r>
              <a:rPr lang="zh-CN" altLang="en-US" sz="1600" dirty="0">
                <a:solidFill>
                  <a:schemeClr val="bg1"/>
                </a:solidFill>
              </a:rPr>
              <a:t>我在登录页面输入正确的邮箱和密码</a:t>
            </a:r>
          </a:p>
          <a:p>
            <a:pPr marL="720000" algn="l">
              <a:spcAft>
                <a:spcPts val="600"/>
              </a:spcAft>
            </a:pPr>
            <a:r>
              <a:rPr lang="en-US" altLang="zh-CN" sz="1600" dirty="0">
                <a:solidFill>
                  <a:schemeClr val="bg1"/>
                </a:solidFill>
              </a:rPr>
              <a:t>Then </a:t>
            </a:r>
            <a:r>
              <a:rPr lang="zh-CN" altLang="en-US" sz="1600" dirty="0">
                <a:solidFill>
                  <a:schemeClr val="bg1"/>
                </a:solidFill>
              </a:rPr>
              <a:t>我应该看到欢迎页面，并显示“欢迎回来，</a:t>
            </a:r>
            <a:r>
              <a:rPr lang="en-US" altLang="zh-CN" sz="1600" dirty="0">
                <a:solidFill>
                  <a:schemeClr val="bg1"/>
                </a:solidFill>
              </a:rPr>
              <a:t>user</a:t>
            </a:r>
            <a:r>
              <a:rPr lang="zh-CN" altLang="en-US" sz="1600" dirty="0">
                <a:solidFill>
                  <a:schemeClr val="bg1"/>
                </a:solidFill>
              </a:rPr>
              <a:t>！”</a:t>
            </a:r>
          </a:p>
          <a:p>
            <a:pPr marL="360000" algn="l">
              <a:spcAft>
                <a:spcPts val="600"/>
              </a:spcAft>
            </a:pPr>
            <a:endParaRPr lang="zh-CN" altLang="en-US" sz="1600" dirty="0">
              <a:solidFill>
                <a:schemeClr val="bg1"/>
              </a:solidFill>
            </a:endParaRPr>
          </a:p>
          <a:p>
            <a:pPr marL="360000" algn="l">
              <a:spcAft>
                <a:spcPts val="600"/>
              </a:spcAft>
            </a:pPr>
            <a:r>
              <a:rPr lang="zh-CN" altLang="en-US" sz="1600" dirty="0">
                <a:solidFill>
                  <a:schemeClr val="bg1"/>
                </a:solidFill>
              </a:rPr>
              <a:t> </a:t>
            </a:r>
            <a:r>
              <a:rPr lang="en-US" altLang="zh-CN" sz="1600" dirty="0">
                <a:solidFill>
                  <a:schemeClr val="bg1"/>
                </a:solidFill>
              </a:rPr>
              <a:t>Scenario: </a:t>
            </a:r>
            <a:r>
              <a:rPr lang="zh-CN" altLang="en-US" sz="1600" dirty="0">
                <a:solidFill>
                  <a:schemeClr val="bg1"/>
                </a:solidFill>
              </a:rPr>
              <a:t>密码错误时登录失败</a:t>
            </a:r>
          </a:p>
          <a:p>
            <a:pPr marL="720000" algn="l">
              <a:spcAft>
                <a:spcPts val="600"/>
              </a:spcAft>
            </a:pPr>
            <a:r>
              <a:rPr lang="en-US" altLang="zh-CN" sz="1600" dirty="0">
                <a:solidFill>
                  <a:schemeClr val="bg1"/>
                </a:solidFill>
              </a:rPr>
              <a:t>Given </a:t>
            </a:r>
            <a:r>
              <a:rPr lang="zh-CN" altLang="en-US" sz="1600" dirty="0">
                <a:solidFill>
                  <a:schemeClr val="bg1"/>
                </a:solidFill>
              </a:rPr>
              <a:t>我已经注册了一个账号 </a:t>
            </a:r>
            <a:r>
              <a:rPr lang="en-US" altLang="zh-CN" sz="1600" dirty="0">
                <a:solidFill>
                  <a:schemeClr val="bg1"/>
                </a:solidFill>
              </a:rPr>
              <a:t>"user@example.com" </a:t>
            </a:r>
            <a:r>
              <a:rPr lang="zh-CN" altLang="en-US" sz="1600" dirty="0">
                <a:solidFill>
                  <a:schemeClr val="bg1"/>
                </a:solidFill>
              </a:rPr>
              <a:t>和密码 </a:t>
            </a:r>
            <a:r>
              <a:rPr lang="en-US" altLang="zh-CN" sz="1600" dirty="0">
                <a:solidFill>
                  <a:schemeClr val="bg1"/>
                </a:solidFill>
              </a:rPr>
              <a:t>"123456"</a:t>
            </a:r>
          </a:p>
          <a:p>
            <a:pPr marL="720000" algn="l">
              <a:spcAft>
                <a:spcPts val="600"/>
              </a:spcAft>
            </a:pPr>
            <a:r>
              <a:rPr lang="en-US" altLang="zh-CN" sz="1600" dirty="0">
                <a:solidFill>
                  <a:schemeClr val="bg1"/>
                </a:solidFill>
              </a:rPr>
              <a:t>When </a:t>
            </a:r>
            <a:r>
              <a:rPr lang="zh-CN" altLang="en-US" sz="1600" dirty="0">
                <a:solidFill>
                  <a:schemeClr val="bg1"/>
                </a:solidFill>
              </a:rPr>
              <a:t>我在登录页面输入错误的密码 </a:t>
            </a:r>
            <a:r>
              <a:rPr lang="en-US" altLang="zh-CN" sz="1600" dirty="0">
                <a:solidFill>
                  <a:schemeClr val="bg1"/>
                </a:solidFill>
              </a:rPr>
              <a:t>"wrong"</a:t>
            </a:r>
          </a:p>
          <a:p>
            <a:pPr marL="720000" algn="l">
              <a:spcAft>
                <a:spcPts val="600"/>
              </a:spcAft>
            </a:pPr>
            <a:r>
              <a:rPr lang="en-US" altLang="zh-CN" sz="1600" dirty="0">
                <a:solidFill>
                  <a:schemeClr val="bg1"/>
                </a:solidFill>
              </a:rPr>
              <a:t>Then </a:t>
            </a:r>
            <a:r>
              <a:rPr lang="zh-CN" altLang="en-US" sz="1600" dirty="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731525636"/>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dirty="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用户行为 </a:t>
                      </a:r>
                      <a:r>
                        <a:rPr lang="en-US" altLang="zh-CN" sz="1600" dirty="0">
                          <a:solidFill>
                            <a:schemeClr val="bg1"/>
                          </a:solidFill>
                        </a:rPr>
                        <a:t>/ </a:t>
                      </a:r>
                      <a:r>
                        <a:rPr lang="zh-CN" altLang="en-US" sz="1600" dirty="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验收测试 </a:t>
                      </a:r>
                      <a:r>
                        <a:rPr lang="en-US" altLang="zh-CN" sz="1600" dirty="0">
                          <a:solidFill>
                            <a:schemeClr val="bg1"/>
                          </a:solidFill>
                        </a:rPr>
                        <a:t>/ </a:t>
                      </a:r>
                      <a:r>
                        <a:rPr lang="zh-CN" altLang="en-US" sz="1600" dirty="0">
                          <a:solidFill>
                            <a:schemeClr val="bg1"/>
                          </a:solidFill>
                        </a:rPr>
                        <a:t>集成测试（</a:t>
                      </a:r>
                      <a:r>
                        <a:rPr lang="en-US" sz="1600" dirty="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编程语言（</a:t>
                      </a:r>
                      <a:r>
                        <a:rPr lang="en-US" sz="1600" dirty="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自然语言（</a:t>
                      </a:r>
                      <a:r>
                        <a:rPr lang="en-US" sz="1600" dirty="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dirty="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开发者 </a:t>
                      </a:r>
                      <a:r>
                        <a:rPr lang="en-US" altLang="zh-CN" sz="1600" dirty="0">
                          <a:solidFill>
                            <a:schemeClr val="bg1"/>
                          </a:solidFill>
                        </a:rPr>
                        <a:t>+ </a:t>
                      </a:r>
                      <a:r>
                        <a:rPr lang="zh-CN" altLang="en-US" sz="1600" dirty="0">
                          <a:solidFill>
                            <a:schemeClr val="bg1"/>
                          </a:solidFill>
                        </a:rPr>
                        <a:t>测试 </a:t>
                      </a:r>
                      <a:r>
                        <a:rPr lang="en-US" altLang="zh-CN" sz="1600" dirty="0">
                          <a:solidFill>
                            <a:schemeClr val="bg1"/>
                          </a:solidFill>
                        </a:rPr>
                        <a:t>+ </a:t>
                      </a:r>
                      <a:r>
                        <a:rPr lang="zh-CN" altLang="en-US" sz="1600" dirty="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dirty="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err="1">
                          <a:solidFill>
                            <a:schemeClr val="bg1"/>
                          </a:solidFill>
                          <a:latin typeface="Courier New" panose="02070309020205020404" pitchFamily="49" charset="0"/>
                        </a:rPr>
                        <a:t>test_add_two_numbers</a:t>
                      </a:r>
                      <a:r>
                        <a:rPr lang="en-US" sz="1600" dirty="0">
                          <a:solidFill>
                            <a:schemeClr val="bg1"/>
                          </a:solidFill>
                          <a:latin typeface="Courier New" panose="02070309020205020404" pitchFamily="49" charset="0"/>
                        </a:rPr>
                        <a:t>()</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98118092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dirty="0"/>
              <a:t>4. </a:t>
            </a:r>
            <a:r>
              <a:rPr lang="zh-CN" altLang="en-US" dirty="0"/>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50378280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dirty="0"/>
              <a:t>5. </a:t>
            </a:r>
            <a:r>
              <a:rPr lang="zh-CN" altLang="en-US" dirty="0"/>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任务分解结构 </a:t>
            </a:r>
            <a:r>
              <a:rPr lang="en-US" altLang="zh-CN" dirty="0"/>
              <a:t>- Work Breakdown Structure</a:t>
            </a:r>
          </a:p>
          <a:p>
            <a:r>
              <a:rPr lang="zh-CN" altLang="en-US" dirty="0"/>
              <a:t>将一个项目分解为更多的工作细目或者子项目，使项目变得更小、更易管理、更易操作</a:t>
            </a:r>
            <a:endParaRPr lang="en-US" altLang="zh-CN" dirty="0"/>
          </a:p>
          <a:p>
            <a:r>
              <a:rPr lang="en-US" altLang="zh-CN" dirty="0"/>
              <a:t>WBS </a:t>
            </a:r>
            <a:r>
              <a:rPr lang="zh-CN" altLang="en-US" dirty="0"/>
              <a:t>组织并定义整个项目范围</a:t>
            </a:r>
            <a:endParaRPr lang="en-US" altLang="zh-CN" dirty="0"/>
          </a:p>
          <a:p>
            <a:r>
              <a:rPr lang="en-US" altLang="zh-CN" dirty="0"/>
              <a:t>WBS </a:t>
            </a:r>
            <a:r>
              <a:rPr lang="zh-CN" altLang="en-US" dirty="0"/>
              <a:t>是对项目由粗到细的分解过程</a:t>
            </a:r>
          </a:p>
          <a:p>
            <a:r>
              <a:rPr lang="zh-CN" altLang="en-US" dirty="0"/>
              <a:t>面向交付成果的</a:t>
            </a:r>
            <a:endParaRPr lang="en-US" altLang="zh-CN" dirty="0"/>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dirty="0"/>
              <a:t>WBS</a:t>
            </a:r>
            <a:endParaRPr lang="zh-CN" altLang="en-US" dirty="0"/>
          </a:p>
        </p:txBody>
      </p:sp>
    </p:spTree>
    <p:extLst>
      <p:ext uri="{BB962C8B-B14F-4D97-AF65-F5344CB8AC3E}">
        <p14:creationId xmlns:p14="http://schemas.microsoft.com/office/powerpoint/2010/main" val="110019990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75CF7-65CF-A8B3-8ABC-323BCA249C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77D22D5A-AC70-23EA-23DD-62B15A49AE6F}"/>
              </a:ext>
            </a:extLst>
          </p:cNvPr>
          <p:cNvSpPr>
            <a:spLocks noGrp="1"/>
          </p:cNvSpPr>
          <p:nvPr>
            <p:ph type="title"/>
          </p:nvPr>
        </p:nvSpPr>
        <p:spPr>
          <a:xfrm>
            <a:off x="695998" y="360000"/>
            <a:ext cx="6375921" cy="429413"/>
          </a:xfrm>
        </p:spPr>
        <p:txBody>
          <a:bodyPr/>
          <a:lstStyle/>
          <a:p>
            <a:r>
              <a:rPr lang="en-US" altLang="zh-CN" dirty="0"/>
              <a:t>5.1 </a:t>
            </a:r>
            <a:r>
              <a:rPr lang="zh-CN" altLang="en-US" dirty="0"/>
              <a:t>任务分解原则</a:t>
            </a:r>
          </a:p>
        </p:txBody>
      </p:sp>
      <p:sp>
        <p:nvSpPr>
          <p:cNvPr id="4" name="内容占位符 3">
            <a:extLst>
              <a:ext uri="{FF2B5EF4-FFF2-40B4-BE49-F238E27FC236}">
                <a16:creationId xmlns:a16="http://schemas.microsoft.com/office/drawing/2014/main" id="{BE5406ED-C6E6-7934-EBAD-2C693CF8396C}"/>
              </a:ext>
            </a:extLst>
          </p:cNvPr>
          <p:cNvSpPr>
            <a:spLocks noGrp="1"/>
          </p:cNvSpPr>
          <p:nvPr>
            <p:ph idx="1"/>
          </p:nvPr>
        </p:nvSpPr>
        <p:spPr>
          <a:xfrm>
            <a:off x="696000" y="864000"/>
            <a:ext cx="10800000" cy="5400000"/>
          </a:xfrm>
        </p:spPr>
        <p:txBody>
          <a:bodyPr>
            <a:normAutofit/>
          </a:bodyPr>
          <a:lstStyle/>
          <a:p>
            <a:r>
              <a:rPr lang="zh-CN" altLang="zh-CN" dirty="0"/>
              <a:t>实现目标的充分必要条件</a:t>
            </a:r>
            <a:endParaRPr lang="en-US" altLang="zh-CN" dirty="0"/>
          </a:p>
          <a:p>
            <a:r>
              <a:rPr lang="zh-CN" altLang="en-US" dirty="0"/>
              <a:t>一个清晰的任务完成</a:t>
            </a:r>
            <a:endParaRPr lang="en-US" altLang="zh-CN" dirty="0"/>
          </a:p>
          <a:p>
            <a:r>
              <a:rPr lang="zh-CN" altLang="en-US" dirty="0"/>
              <a:t>一个清晰的责任人</a:t>
            </a:r>
            <a:endParaRPr lang="en-US" altLang="zh-CN" dirty="0"/>
          </a:p>
          <a:p>
            <a:r>
              <a:rPr lang="zh-CN" altLang="en-US" dirty="0"/>
              <a:t>能够估算工期和工作量</a:t>
            </a:r>
          </a:p>
          <a:p>
            <a:endParaRPr lang="zh-CN" altLang="en-US" dirty="0"/>
          </a:p>
        </p:txBody>
      </p:sp>
      <p:sp>
        <p:nvSpPr>
          <p:cNvPr id="5" name="文本占位符 4">
            <a:extLst>
              <a:ext uri="{FF2B5EF4-FFF2-40B4-BE49-F238E27FC236}">
                <a16:creationId xmlns:a16="http://schemas.microsoft.com/office/drawing/2014/main" id="{19A1B48C-1015-6D9D-B2B0-23C22B0A7C5A}"/>
              </a:ext>
            </a:extLst>
          </p:cNvPr>
          <p:cNvSpPr>
            <a:spLocks noGrp="1"/>
          </p:cNvSpPr>
          <p:nvPr>
            <p:ph type="body" sz="quarter" idx="10"/>
          </p:nvPr>
        </p:nvSpPr>
        <p:spPr>
          <a:xfrm>
            <a:off x="7071919" y="448519"/>
            <a:ext cx="4424080" cy="338554"/>
          </a:xfrm>
        </p:spPr>
        <p:txBody>
          <a:bodyPr/>
          <a:lstStyle/>
          <a:p>
            <a:r>
              <a:rPr lang="en-US" altLang="zh-CN" dirty="0"/>
              <a:t>Principal/WBS</a:t>
            </a:r>
            <a:endParaRPr lang="zh-CN" altLang="en-US" dirty="0"/>
          </a:p>
        </p:txBody>
      </p:sp>
    </p:spTree>
    <p:extLst>
      <p:ext uri="{BB962C8B-B14F-4D97-AF65-F5344CB8AC3E}">
        <p14:creationId xmlns:p14="http://schemas.microsoft.com/office/powerpoint/2010/main" val="13588889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图表式</a:t>
            </a:r>
            <a:endParaRPr lang="en-US" altLang="zh-CN" dirty="0"/>
          </a:p>
          <a:p>
            <a:r>
              <a:rPr lang="zh-CN" altLang="en-US" dirty="0"/>
              <a:t>清单式</a:t>
            </a:r>
            <a:endParaRPr lang="en-US" altLang="zh-CN" dirty="0"/>
          </a:p>
          <a:p>
            <a:r>
              <a:rPr lang="zh-CN" altLang="en-US" dirty="0"/>
              <a:t>字典</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dirty="0"/>
              <a:t>Form/WBS</a:t>
            </a:r>
            <a:endParaRPr lang="zh-CN" altLang="en-US" dirty="0"/>
          </a:p>
        </p:txBody>
      </p:sp>
    </p:spTree>
    <p:extLst>
      <p:ext uri="{BB962C8B-B14F-4D97-AF65-F5344CB8AC3E}">
        <p14:creationId xmlns:p14="http://schemas.microsoft.com/office/powerpoint/2010/main" val="210572173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5.3 </a:t>
            </a:r>
            <a:r>
              <a:rPr lang="zh-CN" altLang="en-US" dirty="0"/>
              <a:t>任务分解方法</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类比</a:t>
            </a:r>
          </a:p>
          <a:p>
            <a:r>
              <a:rPr lang="zh-CN" altLang="en-US" dirty="0"/>
              <a:t>模板参照</a:t>
            </a:r>
          </a:p>
          <a:p>
            <a:r>
              <a:rPr lang="zh-CN" altLang="en-US" dirty="0"/>
              <a:t>自上而下</a:t>
            </a:r>
          </a:p>
          <a:p>
            <a:r>
              <a:rPr lang="zh-CN" altLang="en-US" dirty="0"/>
              <a:t>自下而上</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p:txBody>
          <a:bodyPr/>
          <a:lstStyle/>
          <a:p>
            <a:r>
              <a:rPr lang="en-US" altLang="zh-CN" dirty="0"/>
              <a:t>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5.4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p:txBody>
          <a:bodyPr/>
          <a:lstStyle/>
          <a:p>
            <a:r>
              <a:rPr lang="en-US" altLang="zh-CN" dirty="0"/>
              <a:t>Advice/WBS</a:t>
            </a:r>
            <a:endParaRPr lang="zh-CN" altLang="en-US" dirty="0"/>
          </a:p>
        </p:txBody>
      </p:sp>
    </p:spTree>
    <p:extLst>
      <p:ext uri="{BB962C8B-B14F-4D97-AF65-F5344CB8AC3E}">
        <p14:creationId xmlns:p14="http://schemas.microsoft.com/office/powerpoint/2010/main" val="309424323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dirty="0"/>
              <a:t>6. </a:t>
            </a:r>
            <a:r>
              <a:rPr lang="zh-CN" altLang="en-US" dirty="0"/>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dirty="0"/>
              <a:t>基于用户故事 </a:t>
            </a:r>
            <a:r>
              <a:rPr lang="en-US" altLang="zh-CN" dirty="0"/>
              <a:t>User Story</a:t>
            </a:r>
            <a:r>
              <a:rPr lang="zh-CN" altLang="en-US" dirty="0"/>
              <a:t> 分解为具体的任务 </a:t>
            </a:r>
            <a:r>
              <a:rPr lang="en-US" altLang="zh-CN" dirty="0"/>
              <a:t>Task</a:t>
            </a:r>
          </a:p>
          <a:p>
            <a:r>
              <a:rPr lang="zh-CN" altLang="en-US" dirty="0"/>
              <a:t>是冲刺计划会议 </a:t>
            </a:r>
            <a:r>
              <a:rPr lang="en-US" altLang="zh-CN" dirty="0"/>
              <a:t>Sprint Planning</a:t>
            </a:r>
            <a:r>
              <a:rPr lang="zh-CN" altLang="en-US" dirty="0"/>
              <a:t> 中的关键环节</a:t>
            </a:r>
            <a:endParaRPr lang="en-US" altLang="zh-CN" dirty="0"/>
          </a:p>
          <a:p>
            <a:r>
              <a:rPr lang="zh-CN" altLang="en-US" dirty="0"/>
              <a:t>有助于团队估算工作量、分配责任并跟踪进度</a:t>
            </a:r>
            <a:endParaRPr lang="en-US" altLang="zh-CN" dirty="0"/>
          </a:p>
          <a:p>
            <a:pPr lvl="1"/>
            <a:r>
              <a:rPr lang="zh-CN" altLang="en-US" dirty="0"/>
              <a:t>好的拆分 </a:t>
            </a:r>
            <a:r>
              <a:rPr lang="en-US" altLang="zh-CN" dirty="0"/>
              <a:t>= </a:t>
            </a:r>
            <a:r>
              <a:rPr lang="zh-CN" altLang="en-US" dirty="0"/>
              <a:t>按用户行为</a:t>
            </a:r>
            <a:r>
              <a:rPr lang="en-US" altLang="zh-CN" dirty="0"/>
              <a:t>/</a:t>
            </a:r>
            <a:r>
              <a:rPr lang="zh-CN" altLang="en-US" dirty="0"/>
              <a:t>功能模块划分</a:t>
            </a:r>
          </a:p>
          <a:p>
            <a:pPr lvl="1"/>
            <a:r>
              <a:rPr lang="zh-CN" altLang="en-US" dirty="0"/>
              <a:t>每个故事应聚焦单一价值点</a:t>
            </a:r>
          </a:p>
          <a:p>
            <a:pPr lvl="1"/>
            <a:r>
              <a:rPr lang="zh-CN" altLang="en-US" dirty="0"/>
              <a:t>优先交付核心功能，再逐步增强体验</a:t>
            </a:r>
          </a:p>
          <a:p>
            <a:pPr lvl="1"/>
            <a:r>
              <a:rPr lang="zh-CN" altLang="en-US" dirty="0"/>
              <a:t>确保每个故事都满足 </a:t>
            </a:r>
            <a:r>
              <a:rPr lang="en-US" altLang="zh-CN" dirty="0">
                <a:solidFill>
                  <a:srgbClr val="FFFF00"/>
                </a:solidFill>
              </a:rPr>
              <a:t>INVEST</a:t>
            </a:r>
            <a:r>
              <a:rPr lang="en-US" altLang="zh-CN" dirty="0"/>
              <a:t> </a:t>
            </a:r>
            <a:r>
              <a:rPr lang="zh-CN" altLang="en-US" dirty="0"/>
              <a:t>原则</a:t>
            </a:r>
          </a:p>
          <a:p>
            <a:endParaRPr lang="zh-CN" altLang="en-US" dirty="0"/>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dirty="0"/>
              <a:t>Scrum/WBS</a:t>
            </a:r>
            <a:endParaRPr lang="zh-CN" altLang="en-US" dirty="0"/>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User story</a:t>
              </a:r>
              <a:endParaRPr lang="zh-CN" altLang="en-US" sz="1600" kern="1200" dirty="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Feature</a:t>
              </a:r>
              <a:endParaRPr lang="zh-CN" altLang="en-US" sz="1600" kern="1200" dirty="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Task</a:t>
              </a:r>
              <a:endParaRPr lang="zh-CN" altLang="en-US" sz="1600" kern="1200" dirty="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en-US" altLang="zh-CN" dirty="0"/>
              <a:t>Epics</a:t>
            </a:r>
            <a:endParaRPr lang="zh-CN" altLang="en-US" dirty="0"/>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en-US" altLang="zh-CN" dirty="0"/>
              <a:t>User stories is that they can be written at varying levels of detail.</a:t>
            </a:r>
          </a:p>
          <a:p>
            <a:r>
              <a:rPr lang="en-US" altLang="zh-CN" dirty="0"/>
              <a:t>Large user stories are generally known as epics.</a:t>
            </a:r>
          </a:p>
          <a:p>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1517824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a:extLst>
              <a:ext uri="{FF2B5EF4-FFF2-40B4-BE49-F238E27FC236}">
                <a16:creationId xmlns:a16="http://schemas.microsoft.com/office/drawing/2014/main" id="{50FBA1F0-C673-81D2-272A-9F79301CDB38}"/>
              </a:ext>
            </a:extLst>
          </p:cNvPr>
          <p:cNvSpPr txBox="1"/>
          <p:nvPr/>
        </p:nvSpPr>
        <p:spPr>
          <a:xfrm>
            <a:off x="695998" y="2313037"/>
            <a:ext cx="10800001" cy="1200329"/>
          </a:xfrm>
          <a:prstGeom prst="rect">
            <a:avLst/>
          </a:prstGeom>
          <a:noFill/>
        </p:spPr>
        <p:txBody>
          <a:bodyPr wrap="square" rtlCol="0">
            <a:spAutoFit/>
          </a:bodyPr>
          <a:lstStyle/>
          <a:p>
            <a:r>
              <a:rPr lang="en-US" altLang="zh-CN" dirty="0">
                <a:solidFill>
                  <a:srgbClr val="FFFF00"/>
                </a:solidFill>
              </a:rPr>
              <a:t>Break down story 1</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a search location to my list of favorites from my mobile device</a:t>
            </a:r>
            <a:br>
              <a:rPr lang="en-US" altLang="zh-CN" dirty="0">
                <a:solidFill>
                  <a:schemeClr val="bg1"/>
                </a:solidFill>
              </a:rPr>
            </a:br>
            <a:r>
              <a:rPr lang="en-US" altLang="zh-CN" dirty="0">
                <a:solidFill>
                  <a:schemeClr val="bg1"/>
                </a:solidFill>
              </a:rPr>
              <a:t>So that I can reuse that search on future visits.</a:t>
            </a:r>
            <a:endParaRPr lang="zh-CN" altLang="en-US" dirty="0">
              <a:solidFill>
                <a:schemeClr val="bg1"/>
              </a:solidFill>
            </a:endParaRPr>
          </a:p>
        </p:txBody>
      </p:sp>
      <p:sp>
        <p:nvSpPr>
          <p:cNvPr id="11" name="文本框 10">
            <a:extLst>
              <a:ext uri="{FF2B5EF4-FFF2-40B4-BE49-F238E27FC236}">
                <a16:creationId xmlns:a16="http://schemas.microsoft.com/office/drawing/2014/main" id="{9EE14EA5-4C1B-5E70-8960-8252355A2C47}"/>
              </a:ext>
            </a:extLst>
          </p:cNvPr>
          <p:cNvSpPr txBox="1"/>
          <p:nvPr/>
        </p:nvSpPr>
        <p:spPr>
          <a:xfrm>
            <a:off x="695998" y="4144298"/>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13" name="文本框 12">
            <a:extLst>
              <a:ext uri="{FF2B5EF4-FFF2-40B4-BE49-F238E27FC236}">
                <a16:creationId xmlns:a16="http://schemas.microsoft.com/office/drawing/2014/main" id="{8DF49E8C-5505-3F46-F6CC-92E46AF057EC}"/>
              </a:ext>
            </a:extLst>
          </p:cNvPr>
          <p:cNvSpPr txBox="1"/>
          <p:nvPr/>
        </p:nvSpPr>
        <p:spPr>
          <a:xfrm>
            <a:off x="695998" y="481777"/>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089A9971-BA19-2791-3889-0A6B8358F3A7}"/>
              </a:ext>
            </a:extLst>
          </p:cNvPr>
          <p:cNvSpPr txBox="1"/>
          <p:nvPr/>
        </p:nvSpPr>
        <p:spPr>
          <a:xfrm>
            <a:off x="695998" y="2313037"/>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10" name="文本框 9">
            <a:extLst>
              <a:ext uri="{FF2B5EF4-FFF2-40B4-BE49-F238E27FC236}">
                <a16:creationId xmlns:a16="http://schemas.microsoft.com/office/drawing/2014/main" id="{51A6ED42-CFE9-802B-0554-BD80A0CF813C}"/>
              </a:ext>
            </a:extLst>
          </p:cNvPr>
          <p:cNvSpPr txBox="1"/>
          <p:nvPr/>
        </p:nvSpPr>
        <p:spPr>
          <a:xfrm>
            <a:off x="695998" y="481777"/>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
        <p:nvSpPr>
          <p:cNvPr id="11" name="文本框 10">
            <a:extLst>
              <a:ext uri="{FF2B5EF4-FFF2-40B4-BE49-F238E27FC236}">
                <a16:creationId xmlns:a16="http://schemas.microsoft.com/office/drawing/2014/main" id="{F205F743-763C-90B3-0605-ACE8180D09EC}"/>
              </a:ext>
            </a:extLst>
          </p:cNvPr>
          <p:cNvSpPr txBox="1"/>
          <p:nvPr/>
        </p:nvSpPr>
        <p:spPr>
          <a:xfrm>
            <a:off x="695998" y="4144298"/>
            <a:ext cx="10800001" cy="1754326"/>
          </a:xfrm>
          <a:prstGeom prst="rect">
            <a:avLst/>
          </a:prstGeom>
          <a:noFill/>
        </p:spPr>
        <p:txBody>
          <a:bodyPr wrap="square" rtlCol="0">
            <a:spAutoFit/>
          </a:bodyPr>
          <a:lstStyle/>
          <a:p>
            <a:r>
              <a:rPr lang="en-US" altLang="zh-CN" dirty="0">
                <a:solidFill>
                  <a:srgbClr val="FFFF00"/>
                </a:solidFill>
              </a:rPr>
              <a:t>Break down story 4</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my “saved favorites” option on the user interface to be presented on a mobile device near the “search location”</a:t>
            </a:r>
            <a:br>
              <a:rPr lang="en-US" altLang="zh-CN" dirty="0">
                <a:solidFill>
                  <a:schemeClr val="bg1"/>
                </a:solidFill>
              </a:rPr>
            </a:br>
            <a:r>
              <a:rPr lang="en-US" altLang="zh-CN" dirty="0">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40670061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BB5D87CE-6411-8DD7-89A6-A64E8FA5B0C7}"/>
              </a:ext>
            </a:extLst>
          </p:cNvPr>
          <p:cNvGraphicFramePr>
            <a:graphicFrameLocks noGrp="1"/>
          </p:cNvGraphicFramePr>
          <p:nvPr>
            <p:extLst>
              <p:ext uri="{D42A27DB-BD31-4B8C-83A1-F6EECF244321}">
                <p14:modId xmlns:p14="http://schemas.microsoft.com/office/powerpoint/2010/main" val="2329643401"/>
              </p:ext>
            </p:extLst>
          </p:nvPr>
        </p:nvGraphicFramePr>
        <p:xfrm>
          <a:off x="2032000" y="719666"/>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bg1"/>
                          </a:solidFill>
                        </a:rPr>
                        <a:t>Story name</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Story ID</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dirty="0">
                          <a:solidFill>
                            <a:schemeClr val="bg1"/>
                          </a:solidFill>
                        </a:rPr>
                        <a:t>As a …</a:t>
                      </a:r>
                    </a:p>
                    <a:p>
                      <a:pPr>
                        <a:lnSpc>
                          <a:spcPct val="100000"/>
                        </a:lnSpc>
                      </a:pPr>
                      <a:r>
                        <a:rPr lang="en-US" altLang="zh-CN" sz="1600" dirty="0">
                          <a:solidFill>
                            <a:schemeClr val="bg1"/>
                          </a:solidFill>
                        </a:rPr>
                        <a:t>I want to…</a:t>
                      </a:r>
                    </a:p>
                    <a:p>
                      <a:pPr>
                        <a:lnSpc>
                          <a:spcPct val="100000"/>
                        </a:lnSpc>
                      </a:pPr>
                      <a:r>
                        <a:rPr lang="en-US" altLang="zh-CN" sz="1600" dirty="0">
                          <a:solidFill>
                            <a:schemeClr val="bg1"/>
                          </a:solidFill>
                        </a:rPr>
                        <a:t>So that …</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bg1"/>
                          </a:solidFill>
                        </a:rPr>
                        <a:t>Priorities </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High 1 2 3 4 5 low</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Iteration number</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bg1"/>
                          </a:solidFill>
                        </a:rPr>
                        <a:t>Date started</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dirty="0">
                          <a:solidFill>
                            <a:schemeClr val="bg1"/>
                          </a:solidFill>
                        </a:rPr>
                        <a:t>Date</a:t>
                      </a:r>
                      <a:r>
                        <a:rPr lang="zh-CN" altLang="en-US" sz="1600" dirty="0">
                          <a:solidFill>
                            <a:schemeClr val="bg1"/>
                          </a:solidFill>
                        </a:rPr>
                        <a:t> </a:t>
                      </a:r>
                      <a:r>
                        <a:rPr lang="en-US" altLang="zh-CN" sz="1600" dirty="0">
                          <a:solidFill>
                            <a:schemeClr val="bg1"/>
                          </a:solidFill>
                        </a:rPr>
                        <a:t>finished</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3" name="表格 2">
            <a:extLst>
              <a:ext uri="{FF2B5EF4-FFF2-40B4-BE49-F238E27FC236}">
                <a16:creationId xmlns:a16="http://schemas.microsoft.com/office/drawing/2014/main" id="{092DF667-FE3C-09A4-896C-4D65EA75CCDE}"/>
              </a:ext>
            </a:extLst>
          </p:cNvPr>
          <p:cNvGraphicFramePr>
            <a:graphicFrameLocks noGrp="1"/>
          </p:cNvGraphicFramePr>
          <p:nvPr>
            <p:extLst>
              <p:ext uri="{D42A27DB-BD31-4B8C-83A1-F6EECF244321}">
                <p14:modId xmlns:p14="http://schemas.microsoft.com/office/powerpoint/2010/main" val="1361506203"/>
              </p:ext>
            </p:extLst>
          </p:nvPr>
        </p:nvGraphicFramePr>
        <p:xfrm>
          <a:off x="2032000" y="3429000"/>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bg1"/>
                          </a:solidFill>
                        </a:rPr>
                        <a:t>Notes:</a:t>
                      </a:r>
                      <a:endParaRPr lang="zh-CN" altLang="en-US" sz="1600" dirty="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40157505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2E3035-054C-B1E6-3A4C-24AFB50889AA}"/>
              </a:ext>
            </a:extLst>
          </p:cNvPr>
          <p:cNvSpPr>
            <a:spLocks noGrp="1"/>
          </p:cNvSpPr>
          <p:nvPr>
            <p:ph type="title"/>
          </p:nvPr>
        </p:nvSpPr>
        <p:spPr>
          <a:xfrm>
            <a:off x="695998" y="360000"/>
            <a:ext cx="6375921" cy="429413"/>
          </a:xfrm>
        </p:spPr>
        <p:txBody>
          <a:bodyPr/>
          <a:lstStyle/>
          <a:p>
            <a:r>
              <a:rPr lang="zh-CN" altLang="en-US" dirty="0"/>
              <a:t>杜邦分析法</a:t>
            </a:r>
            <a:r>
              <a:rPr lang="en-US" altLang="zh-CN" dirty="0"/>
              <a:t> </a:t>
            </a:r>
            <a:endParaRPr lang="zh-CN" altLang="en-US" dirty="0"/>
          </a:p>
        </p:txBody>
      </p:sp>
      <p:sp>
        <p:nvSpPr>
          <p:cNvPr id="3" name="内容占位符 2">
            <a:extLst>
              <a:ext uri="{FF2B5EF4-FFF2-40B4-BE49-F238E27FC236}">
                <a16:creationId xmlns:a16="http://schemas.microsoft.com/office/drawing/2014/main" id="{D10DF3ED-8C24-5928-DB57-D1BD4B83F814}"/>
              </a:ext>
            </a:extLst>
          </p:cNvPr>
          <p:cNvSpPr>
            <a:spLocks noGrp="1"/>
          </p:cNvSpPr>
          <p:nvPr>
            <p:ph idx="1"/>
          </p:nvPr>
        </p:nvSpPr>
        <p:spPr>
          <a:xfrm>
            <a:off x="696000" y="864000"/>
            <a:ext cx="10800000" cy="5400000"/>
          </a:xfrm>
        </p:spPr>
        <p:txBody>
          <a:bodyPr/>
          <a:lstStyle/>
          <a:p>
            <a:r>
              <a:rPr lang="zh-CN" altLang="en-US" dirty="0"/>
              <a:t>用于系统性地拆解“净资产利润率”，即 </a:t>
            </a:r>
            <a:r>
              <a:rPr lang="en-US" altLang="zh-CN" dirty="0"/>
              <a:t>ROE, Return on Equity</a:t>
            </a:r>
          </a:p>
          <a:p>
            <a:r>
              <a:rPr lang="zh-CN" altLang="en-US" dirty="0"/>
              <a:t>帮助企业管理者、投资者或分析师深入理解企业盈利能力的驱动因素</a:t>
            </a:r>
            <a:endParaRPr lang="en-US" altLang="zh-CN" dirty="0"/>
          </a:p>
          <a:p>
            <a:r>
              <a:rPr lang="zh-CN" altLang="en-US" dirty="0"/>
              <a:t>由美国杜邦公司（</a:t>
            </a:r>
            <a:r>
              <a:rPr lang="en-US" altLang="zh-CN" dirty="0"/>
              <a:t>DuPont Corporation</a:t>
            </a:r>
            <a:r>
              <a:rPr lang="zh-CN" altLang="en-US" dirty="0"/>
              <a:t>）在</a:t>
            </a:r>
            <a:r>
              <a:rPr lang="en-US" altLang="zh-CN" dirty="0"/>
              <a:t>20</a:t>
            </a:r>
            <a:r>
              <a:rPr lang="zh-CN" altLang="en-US" dirty="0"/>
              <a:t>世纪初开发的一种财务分析工具</a:t>
            </a:r>
            <a:endParaRPr lang="en-US" altLang="zh-CN" dirty="0"/>
          </a:p>
          <a:p>
            <a:r>
              <a:rPr lang="zh-CN" altLang="en-US" dirty="0"/>
              <a:t>核心思想是：将净资产收益率 </a:t>
            </a:r>
            <a:r>
              <a:rPr lang="en-US" altLang="zh-CN" dirty="0"/>
              <a:t>ROE</a:t>
            </a:r>
            <a:r>
              <a:rPr lang="zh-CN" altLang="en-US" dirty="0"/>
              <a:t> 分解为多个关键财务比率的乘积，从而揭示影响股东回报的根本原因</a:t>
            </a:r>
          </a:p>
          <a:p>
            <a:r>
              <a:rPr lang="zh-CN" altLang="en-US" dirty="0"/>
              <a:t>不是单一指标，而是一个层级式分解框架，从宏观到微观层层剖析企业的盈利模式、运营效率和资本结构</a:t>
            </a:r>
          </a:p>
          <a:p>
            <a:endParaRPr lang="zh-CN" altLang="en-US" dirty="0"/>
          </a:p>
        </p:txBody>
      </p:sp>
      <p:sp>
        <p:nvSpPr>
          <p:cNvPr id="4" name="文本占位符 3">
            <a:extLst>
              <a:ext uri="{FF2B5EF4-FFF2-40B4-BE49-F238E27FC236}">
                <a16:creationId xmlns:a16="http://schemas.microsoft.com/office/drawing/2014/main" id="{B5072014-78D7-9250-E724-5FAD3C62C807}"/>
              </a:ext>
            </a:extLst>
          </p:cNvPr>
          <p:cNvSpPr>
            <a:spLocks noGrp="1"/>
          </p:cNvSpPr>
          <p:nvPr>
            <p:ph type="body" sz="quarter" idx="10"/>
          </p:nvPr>
        </p:nvSpPr>
        <p:spPr>
          <a:xfrm>
            <a:off x="7071919" y="448519"/>
            <a:ext cx="4424080" cy="338554"/>
          </a:xfrm>
        </p:spPr>
        <p:txBody>
          <a:bodyPr/>
          <a:lstStyle/>
          <a:p>
            <a:r>
              <a:rPr lang="en-US" altLang="zh-CN" dirty="0"/>
              <a:t>DuPont Analysis</a:t>
            </a:r>
            <a:endParaRPr lang="zh-CN" altLang="en-US" dirty="0"/>
          </a:p>
        </p:txBody>
      </p:sp>
    </p:spTree>
    <p:extLst>
      <p:ext uri="{BB962C8B-B14F-4D97-AF65-F5344CB8AC3E}">
        <p14:creationId xmlns:p14="http://schemas.microsoft.com/office/powerpoint/2010/main" val="40215937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2682882798"/>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solidFill>
                            <a:schemeClr val="bg1"/>
                          </a:solidFill>
                        </a:rPr>
                        <a:t>方法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solidFill>
                            <a:schemeClr val="bg1"/>
                          </a:solidFill>
                        </a:rPr>
                        <a:t>类比估算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使用类似项目的实际数据进行估算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快速但精度低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3466589"/>
                  </a:ext>
                </a:extLst>
              </a:tr>
              <a:tr h="0">
                <a:tc>
                  <a:txBody>
                    <a:bodyPr/>
                    <a:lstStyle/>
                    <a:p>
                      <a:pPr>
                        <a:buNone/>
                      </a:pPr>
                      <a:r>
                        <a:rPr lang="zh-CN" altLang="en-US">
                          <a:solidFill>
                            <a:schemeClr val="bg1"/>
                          </a:solidFill>
                        </a:rPr>
                        <a:t>自上而下估算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从整体项目开始，分解并分配资源</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通常用于初步估算，由高层向下分配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86852194"/>
                  </a:ext>
                </a:extLst>
              </a:tr>
              <a:tr h="0">
                <a:tc>
                  <a:txBody>
                    <a:bodyPr/>
                    <a:lstStyle/>
                    <a:p>
                      <a:pPr>
                        <a:buNone/>
                      </a:pPr>
                      <a:r>
                        <a:rPr lang="zh-CN" altLang="en-US">
                          <a:solidFill>
                            <a:schemeClr val="bg1"/>
                          </a:solidFill>
                        </a:rPr>
                        <a:t>自下而上估算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先估算每个工作包或活动的成本</a:t>
                      </a:r>
                      <a:r>
                        <a:rPr lang="en-US" altLang="zh-CN" dirty="0">
                          <a:solidFill>
                            <a:schemeClr val="bg1"/>
                          </a:solidFill>
                        </a:rPr>
                        <a:t>/</a:t>
                      </a:r>
                      <a:r>
                        <a:rPr lang="zh-CN" altLang="en-US" dirty="0">
                          <a:solidFill>
                            <a:schemeClr val="bg1"/>
                          </a:solidFill>
                        </a:rPr>
                        <a:t>工期，再</a:t>
                      </a:r>
                      <a:r>
                        <a:rPr lang="zh-CN" altLang="en-US" dirty="0">
                          <a:solidFill>
                            <a:srgbClr val="FFFF00"/>
                          </a:solidFill>
                        </a:rPr>
                        <a:t>汇总</a:t>
                      </a:r>
                      <a:r>
                        <a:rPr lang="zh-CN" altLang="en-US" dirty="0">
                          <a:solidFill>
                            <a:schemeClr val="bg1"/>
                          </a:solidFill>
                        </a:rPr>
                        <a:t>到更高层级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精度高，基于详细信息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70663309"/>
                  </a:ext>
                </a:extLst>
              </a:tr>
              <a:tr h="0">
                <a:tc>
                  <a:txBody>
                    <a:bodyPr/>
                    <a:lstStyle/>
                    <a:p>
                      <a:pPr>
                        <a:buNone/>
                      </a:pPr>
                      <a:r>
                        <a:rPr lang="zh-CN" altLang="en-US">
                          <a:solidFill>
                            <a:schemeClr val="bg1"/>
                          </a:solidFill>
                        </a:rPr>
                        <a:t>多方案分析估算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比较多种技术或方案的成本</a:t>
                      </a:r>
                      <a:r>
                        <a:rPr lang="en-US" altLang="zh-CN" dirty="0">
                          <a:solidFill>
                            <a:schemeClr val="bg1"/>
                          </a:solidFill>
                        </a:rPr>
                        <a:t>/</a:t>
                      </a:r>
                      <a:r>
                        <a:rPr lang="zh-CN" altLang="en-US" dirty="0">
                          <a:solidFill>
                            <a:schemeClr val="bg1"/>
                          </a:solidFill>
                        </a:rPr>
                        <a:t>收益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用于决策支持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20496958"/>
                  </a:ext>
                </a:extLst>
              </a:tr>
              <a:tr h="0">
                <a:tc>
                  <a:txBody>
                    <a:bodyPr/>
                    <a:lstStyle/>
                    <a:p>
                      <a:pPr>
                        <a:buNone/>
                      </a:pPr>
                      <a:r>
                        <a:rPr lang="zh-CN" altLang="en-US" dirty="0">
                          <a:solidFill>
                            <a:schemeClr val="bg1"/>
                          </a:solidFill>
                        </a:rPr>
                        <a:t>参数估算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基于数学模型和历史数据（如每米成本）进行估算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61272037"/>
                  </a:ext>
                </a:extLst>
              </a:tr>
              <a:tr h="0">
                <a:tc>
                  <a:txBody>
                    <a:bodyPr/>
                    <a:lstStyle/>
                    <a:p>
                      <a:pPr>
                        <a:buNone/>
                      </a:pPr>
                      <a:r>
                        <a:rPr lang="zh-CN" altLang="en-US" dirty="0">
                          <a:solidFill>
                            <a:schemeClr val="bg1"/>
                          </a:solidFill>
                        </a:rPr>
                        <a:t>专家判断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依靠专家经验进行判断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主观，不依赖数值区间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42723542"/>
                  </a:ext>
                </a:extLst>
              </a:tr>
              <a:tr h="0">
                <a:tc>
                  <a:txBody>
                    <a:bodyPr/>
                    <a:lstStyle/>
                    <a:p>
                      <a:pPr>
                        <a:buNone/>
                      </a:pPr>
                      <a:r>
                        <a:rPr lang="zh-CN" altLang="en-US" dirty="0">
                          <a:solidFill>
                            <a:schemeClr val="bg1"/>
                          </a:solidFill>
                        </a:rPr>
                        <a:t>三点估算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使用乐观（</a:t>
                      </a:r>
                      <a:r>
                        <a:rPr lang="en-US" altLang="zh-CN" dirty="0">
                          <a:solidFill>
                            <a:schemeClr val="bg1"/>
                          </a:solidFill>
                        </a:rPr>
                        <a:t>O</a:t>
                      </a:r>
                      <a:r>
                        <a:rPr lang="zh-CN" altLang="en-US" dirty="0">
                          <a:solidFill>
                            <a:schemeClr val="bg1"/>
                          </a:solidFill>
                        </a:rPr>
                        <a:t>）、最可能（</a:t>
                      </a:r>
                      <a:r>
                        <a:rPr lang="en-US" altLang="zh-CN" dirty="0">
                          <a:solidFill>
                            <a:schemeClr val="bg1"/>
                          </a:solidFill>
                        </a:rPr>
                        <a:t>M</a:t>
                      </a:r>
                      <a:r>
                        <a:rPr lang="zh-CN" altLang="en-US" dirty="0">
                          <a:solidFill>
                            <a:schemeClr val="bg1"/>
                          </a:solidFill>
                        </a:rPr>
                        <a:t>）、悲观（</a:t>
                      </a:r>
                      <a:r>
                        <a:rPr lang="en-US" altLang="zh-CN" dirty="0">
                          <a:solidFill>
                            <a:schemeClr val="bg1"/>
                          </a:solidFill>
                        </a:rPr>
                        <a:t>P</a:t>
                      </a:r>
                      <a:r>
                        <a:rPr lang="zh-CN" altLang="en-US" dirty="0">
                          <a:solidFill>
                            <a:schemeClr val="bg1"/>
                          </a:solidFill>
                        </a:rPr>
                        <a:t>）三个值，计算期望工期或成本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1608654994"/>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solidFill>
                            <a:schemeClr val="bg1"/>
                          </a:solidFill>
                        </a:rPr>
                        <a:t>项目预算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管理储备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成本基准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控制账户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工作包成本估算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活动应急储备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solidFill>
                            <a:schemeClr val="bg1"/>
                          </a:solidFill>
                        </a:rPr>
                        <a:t>活动成本估算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2055747726"/>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solidFill>
                            <a:schemeClr val="bg1"/>
                          </a:solidFill>
                        </a:rPr>
                        <a:t>PV</a:t>
                      </a:r>
                      <a:r>
                        <a:rPr lang="zh-CN" altLang="en-US" dirty="0">
                          <a:solidFill>
                            <a:schemeClr val="bg1"/>
                          </a:solidFill>
                        </a:rPr>
                        <a:t>，</a:t>
                      </a:r>
                      <a:r>
                        <a:rPr lang="en-US" altLang="zh-CN" dirty="0">
                          <a:solidFill>
                            <a:schemeClr val="bg1"/>
                          </a:solidFill>
                        </a:rPr>
                        <a:t>Planned Value</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计划工作量的预算费用，应该花多少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2169119"/>
                  </a:ext>
                </a:extLst>
              </a:tr>
              <a:tr h="0">
                <a:tc>
                  <a:txBody>
                    <a:bodyPr/>
                    <a:lstStyle/>
                    <a:p>
                      <a:pPr>
                        <a:buNone/>
                      </a:pPr>
                      <a:r>
                        <a:rPr lang="en-US" dirty="0">
                          <a:solidFill>
                            <a:schemeClr val="bg1"/>
                          </a:solidFill>
                        </a:rPr>
                        <a:t>EV</a:t>
                      </a:r>
                      <a:r>
                        <a:rPr lang="zh-CN" altLang="en-US" dirty="0">
                          <a:solidFill>
                            <a:schemeClr val="bg1"/>
                          </a:solidFill>
                        </a:rPr>
                        <a:t>，</a:t>
                      </a:r>
                      <a:r>
                        <a:rPr lang="en-US" altLang="zh-CN" dirty="0">
                          <a:solidFill>
                            <a:schemeClr val="bg1"/>
                          </a:solidFill>
                        </a:rPr>
                        <a:t>Earned Value</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已完成的实际工作量预算费用</a:t>
                      </a:r>
                      <a:r>
                        <a:rPr lang="en-US" altLang="zh-CN" dirty="0">
                          <a:solidFill>
                            <a:schemeClr val="bg1"/>
                          </a:solidFill>
                        </a:rPr>
                        <a:t>/</a:t>
                      </a:r>
                      <a:r>
                        <a:rPr lang="zh-CN" altLang="en-US" dirty="0">
                          <a:solidFill>
                            <a:schemeClr val="bg1"/>
                          </a:solidFill>
                        </a:rPr>
                        <a:t>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6192706"/>
                  </a:ext>
                </a:extLst>
              </a:tr>
              <a:tr h="0">
                <a:tc>
                  <a:txBody>
                    <a:bodyPr/>
                    <a:lstStyle/>
                    <a:p>
                      <a:pPr>
                        <a:buNone/>
                      </a:pPr>
                      <a:r>
                        <a:rPr lang="en-US" dirty="0">
                          <a:solidFill>
                            <a:schemeClr val="bg1"/>
                          </a:solidFill>
                        </a:rPr>
                        <a:t>AC</a:t>
                      </a:r>
                      <a:r>
                        <a:rPr lang="zh-CN" altLang="en-US" dirty="0">
                          <a:solidFill>
                            <a:schemeClr val="bg1"/>
                          </a:solidFill>
                        </a:rPr>
                        <a:t>，</a:t>
                      </a:r>
                      <a:r>
                        <a:rPr lang="en-US" altLang="zh-CN" dirty="0">
                          <a:solidFill>
                            <a:schemeClr val="bg1"/>
                          </a:solidFill>
                        </a:rPr>
                        <a:t>Actual Cost</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已完成工作量的实际费用，实际花了多少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82583307"/>
                  </a:ext>
                </a:extLst>
              </a:tr>
              <a:tr h="0">
                <a:tc>
                  <a:txBody>
                    <a:bodyPr/>
                    <a:lstStyle/>
                    <a:p>
                      <a:pPr>
                        <a:buNone/>
                      </a:pPr>
                      <a:r>
                        <a:rPr lang="en-US" dirty="0">
                          <a:solidFill>
                            <a:schemeClr val="bg1"/>
                          </a:solidFill>
                        </a:rPr>
                        <a:t>CV</a:t>
                      </a:r>
                      <a:r>
                        <a:rPr lang="zh-CN" altLang="en-US" dirty="0">
                          <a:solidFill>
                            <a:schemeClr val="bg1"/>
                          </a:solidFill>
                        </a:rPr>
                        <a:t>，</a:t>
                      </a:r>
                      <a:r>
                        <a:rPr lang="en-US" altLang="zh-CN" dirty="0">
                          <a:solidFill>
                            <a:schemeClr val="bg1"/>
                          </a:solidFill>
                        </a:rPr>
                        <a:t>Cost Variance</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成本偏差 </a:t>
                      </a:r>
                      <a:r>
                        <a:rPr lang="en-US">
                          <a:solidFill>
                            <a:schemeClr val="bg1"/>
                          </a:solidFill>
                        </a:rPr>
                        <a:t>CV = EV - 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88217352"/>
                  </a:ext>
                </a:extLst>
              </a:tr>
              <a:tr h="0">
                <a:tc>
                  <a:txBody>
                    <a:bodyPr/>
                    <a:lstStyle/>
                    <a:p>
                      <a:pPr>
                        <a:buNone/>
                      </a:pPr>
                      <a:r>
                        <a:rPr lang="en-US" dirty="0">
                          <a:solidFill>
                            <a:schemeClr val="bg1"/>
                          </a:solidFill>
                        </a:rPr>
                        <a:t>SV</a:t>
                      </a:r>
                      <a:r>
                        <a:rPr lang="zh-CN" altLang="en-US" dirty="0">
                          <a:solidFill>
                            <a:schemeClr val="bg1"/>
                          </a:solidFill>
                        </a:rPr>
                        <a:t>，</a:t>
                      </a:r>
                      <a:r>
                        <a:rPr lang="en-US" altLang="zh-CN" dirty="0">
                          <a:solidFill>
                            <a:schemeClr val="bg1"/>
                          </a:solidFill>
                        </a:rPr>
                        <a:t>Schedule Variance</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进度偏差 </a:t>
                      </a:r>
                      <a:r>
                        <a:rPr lang="en-US">
                          <a:solidFill>
                            <a:schemeClr val="bg1"/>
                          </a:solidFill>
                        </a:rPr>
                        <a:t>SV = EV - PV</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43196004"/>
                  </a:ext>
                </a:extLst>
              </a:tr>
              <a:tr h="0">
                <a:tc>
                  <a:txBody>
                    <a:bodyPr/>
                    <a:lstStyle/>
                    <a:p>
                      <a:pPr>
                        <a:buNone/>
                      </a:pPr>
                      <a:r>
                        <a:rPr lang="en-US" dirty="0">
                          <a:solidFill>
                            <a:schemeClr val="bg1"/>
                          </a:solidFill>
                        </a:rPr>
                        <a:t>CPI</a:t>
                      </a:r>
                      <a:r>
                        <a:rPr lang="zh-CN" altLang="en-US" dirty="0">
                          <a:solidFill>
                            <a:schemeClr val="bg1"/>
                          </a:solidFill>
                        </a:rPr>
                        <a:t>，</a:t>
                      </a:r>
                      <a:r>
                        <a:rPr lang="en-US" altLang="zh-CN" dirty="0">
                          <a:solidFill>
                            <a:schemeClr val="bg1"/>
                          </a:solidFill>
                        </a:rPr>
                        <a:t>Cost Performance Index</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成本绩效指数 </a:t>
                      </a:r>
                      <a:r>
                        <a:rPr lang="en-US" altLang="zh-CN" dirty="0">
                          <a:solidFill>
                            <a:schemeClr val="bg1"/>
                          </a:solidFill>
                        </a:rPr>
                        <a:t>CPI = EV / 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13460754"/>
                  </a:ext>
                </a:extLst>
              </a:tr>
              <a:tr h="0">
                <a:tc>
                  <a:txBody>
                    <a:bodyPr/>
                    <a:lstStyle/>
                    <a:p>
                      <a:pPr>
                        <a:buNone/>
                      </a:pPr>
                      <a:r>
                        <a:rPr lang="en-US" dirty="0">
                          <a:solidFill>
                            <a:schemeClr val="bg1"/>
                          </a:solidFill>
                        </a:rPr>
                        <a:t>SPI</a:t>
                      </a:r>
                      <a:r>
                        <a:rPr lang="zh-CN" altLang="en-US" dirty="0">
                          <a:solidFill>
                            <a:schemeClr val="bg1"/>
                          </a:solidFill>
                        </a:rPr>
                        <a:t>，</a:t>
                      </a:r>
                      <a:r>
                        <a:rPr lang="en-US" altLang="zh-CN" dirty="0">
                          <a:solidFill>
                            <a:schemeClr val="bg1"/>
                          </a:solidFill>
                        </a:rPr>
                        <a:t>Schedule Performance Index</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进度绩效指数 </a:t>
                      </a:r>
                      <a:r>
                        <a:rPr lang="en-US">
                          <a:solidFill>
                            <a:schemeClr val="bg1"/>
                          </a:solidFill>
                        </a:rPr>
                        <a:t>SPI = EV / PV</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78365379"/>
                  </a:ext>
                </a:extLst>
              </a:tr>
              <a:tr h="0">
                <a:tc>
                  <a:txBody>
                    <a:bodyPr/>
                    <a:lstStyle/>
                    <a:p>
                      <a:pPr>
                        <a:buNone/>
                      </a:pPr>
                      <a:r>
                        <a:rPr lang="en-US" dirty="0">
                          <a:solidFill>
                            <a:schemeClr val="bg1"/>
                          </a:solidFill>
                        </a:rPr>
                        <a:t>BAC</a:t>
                      </a:r>
                      <a:r>
                        <a:rPr lang="zh-CN" altLang="en-US" dirty="0">
                          <a:solidFill>
                            <a:schemeClr val="bg1"/>
                          </a:solidFill>
                        </a:rPr>
                        <a:t>，</a:t>
                      </a:r>
                      <a:r>
                        <a:rPr lang="en-US" altLang="zh-CN" dirty="0">
                          <a:solidFill>
                            <a:schemeClr val="bg1"/>
                          </a:solidFill>
                        </a:rPr>
                        <a:t>Budget at Completion</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总预算即全部的 </a:t>
                      </a:r>
                      <a:r>
                        <a:rPr lang="en-US" altLang="zh-CN" dirty="0">
                          <a:solidFill>
                            <a:schemeClr val="bg1"/>
                          </a:solidFill>
                        </a:rPr>
                        <a:t>PV</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27084754"/>
                  </a:ext>
                </a:extLst>
              </a:tr>
              <a:tr h="0">
                <a:tc>
                  <a:txBody>
                    <a:bodyPr/>
                    <a:lstStyle/>
                    <a:p>
                      <a:pPr>
                        <a:buNone/>
                      </a:pPr>
                      <a:r>
                        <a:rPr lang="en-US" dirty="0">
                          <a:solidFill>
                            <a:schemeClr val="bg1"/>
                          </a:solidFill>
                        </a:rPr>
                        <a:t>ETC</a:t>
                      </a:r>
                      <a:r>
                        <a:rPr lang="zh-CN" altLang="en-US" dirty="0">
                          <a:solidFill>
                            <a:schemeClr val="bg1"/>
                          </a:solidFill>
                        </a:rPr>
                        <a:t>，</a:t>
                      </a:r>
                      <a:r>
                        <a:rPr lang="en-US" altLang="zh-CN" dirty="0">
                          <a:solidFill>
                            <a:schemeClr val="bg1"/>
                          </a:solidFill>
                        </a:rPr>
                        <a:t>Estimate to Complete</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rPr>
                        <a:t>完工尚需估算 ETC = EAC - 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88247586"/>
                  </a:ext>
                </a:extLst>
              </a:tr>
              <a:tr h="0">
                <a:tc>
                  <a:txBody>
                    <a:bodyPr/>
                    <a:lstStyle/>
                    <a:p>
                      <a:pPr>
                        <a:buNone/>
                      </a:pPr>
                      <a:r>
                        <a:rPr lang="en-US" dirty="0">
                          <a:solidFill>
                            <a:schemeClr val="bg1"/>
                          </a:solidFill>
                        </a:rPr>
                        <a:t>EAC</a:t>
                      </a:r>
                      <a:r>
                        <a:rPr lang="zh-CN" altLang="en-US" dirty="0">
                          <a:solidFill>
                            <a:schemeClr val="bg1"/>
                          </a:solidFill>
                        </a:rPr>
                        <a:t>，</a:t>
                      </a:r>
                      <a:r>
                        <a:rPr lang="en-US" altLang="zh-CN" dirty="0">
                          <a:solidFill>
                            <a:schemeClr val="bg1"/>
                          </a:solidFill>
                        </a:rPr>
                        <a:t>Estimate at Completion</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完工估算：</a:t>
                      </a:r>
                      <a:endParaRPr lang="en-US" altLang="zh-CN" dirty="0">
                        <a:solidFill>
                          <a:schemeClr val="bg1"/>
                        </a:solidFill>
                      </a:endParaRPr>
                    </a:p>
                    <a:p>
                      <a:pPr>
                        <a:buNone/>
                      </a:pPr>
                      <a:r>
                        <a:rPr lang="zh-CN" altLang="en-US" dirty="0">
                          <a:solidFill>
                            <a:schemeClr val="bg1"/>
                          </a:solidFill>
                        </a:rPr>
                        <a:t>非典型偏差 </a:t>
                      </a:r>
                      <a:r>
                        <a:rPr lang="en-US" dirty="0">
                          <a:solidFill>
                            <a:schemeClr val="bg1"/>
                          </a:solidFill>
                        </a:rPr>
                        <a:t>EAC = AC + (BAC - EV)</a:t>
                      </a:r>
                    </a:p>
                    <a:p>
                      <a:pPr>
                        <a:buNone/>
                      </a:pPr>
                      <a:r>
                        <a:rPr lang="zh-CN" altLang="en-US" dirty="0">
                          <a:solidFill>
                            <a:schemeClr val="bg1"/>
                          </a:solidFill>
                        </a:rPr>
                        <a:t>典型偏差 </a:t>
                      </a:r>
                      <a:r>
                        <a:rPr lang="en-US" dirty="0">
                          <a:solidFill>
                            <a:schemeClr val="bg1"/>
                          </a:solidFill>
                        </a:rPr>
                        <a:t>EAC = AC + (BAC - EV)/CPI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74668408"/>
                  </a:ext>
                </a:extLst>
              </a:tr>
              <a:tr h="0">
                <a:tc>
                  <a:txBody>
                    <a:bodyPr/>
                    <a:lstStyle/>
                    <a:p>
                      <a:pPr>
                        <a:buNone/>
                      </a:pPr>
                      <a:r>
                        <a:rPr lang="en-US" dirty="0">
                          <a:solidFill>
                            <a:schemeClr val="bg1"/>
                          </a:solidFill>
                        </a:rPr>
                        <a:t>VAC</a:t>
                      </a:r>
                      <a:r>
                        <a:rPr lang="zh-CN" altLang="en-US" dirty="0">
                          <a:solidFill>
                            <a:schemeClr val="bg1"/>
                          </a:solidFill>
                        </a:rPr>
                        <a:t>，</a:t>
                      </a:r>
                      <a:r>
                        <a:rPr lang="en-US" altLang="zh-CN" dirty="0">
                          <a:solidFill>
                            <a:schemeClr val="bg1"/>
                          </a:solidFill>
                        </a:rPr>
                        <a:t>Variance at Completion</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完工偏差 </a:t>
                      </a:r>
                      <a:r>
                        <a:rPr lang="en-US" dirty="0">
                          <a:solidFill>
                            <a:schemeClr val="bg1"/>
                          </a:solidFill>
                        </a:rPr>
                        <a:t>VAC = BAC - EAC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dirty="0"/>
              <a:t>规划进度</a:t>
            </a:r>
          </a:p>
          <a:p>
            <a:r>
              <a:rPr lang="zh-CN" altLang="en-US" dirty="0"/>
              <a:t>定义活动</a:t>
            </a:r>
          </a:p>
          <a:p>
            <a:r>
              <a:rPr lang="zh-CN" altLang="en-US" dirty="0"/>
              <a:t>排列活动顺序</a:t>
            </a:r>
          </a:p>
          <a:p>
            <a:r>
              <a:rPr lang="zh-CN" altLang="en-US" dirty="0"/>
              <a:t>估算活动资源</a:t>
            </a:r>
          </a:p>
          <a:p>
            <a:r>
              <a:rPr lang="zh-CN" altLang="en-US" dirty="0"/>
              <a:t>估算活动持续时间</a:t>
            </a:r>
          </a:p>
          <a:p>
            <a:r>
              <a:rPr lang="zh-CN" altLang="en-US" dirty="0"/>
              <a:t>制定进度计划</a:t>
            </a:r>
          </a:p>
          <a:p>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A</a:t>
            </a:r>
            <a:endParaRPr lang="zh-CN" altLang="en-US" sz="1600" dirty="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B</a:t>
            </a:r>
            <a:endParaRPr lang="zh-CN" altLang="en-US" sz="1600" dirty="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D</a:t>
            </a:r>
            <a:endParaRPr lang="zh-CN" altLang="en-US" sz="1600" dirty="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C</a:t>
            </a:r>
            <a:endParaRPr lang="zh-CN" altLang="en-US" sz="1600" dirty="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I</a:t>
            </a:r>
            <a:endParaRPr lang="zh-CN" altLang="en-US" sz="1600" dirty="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H</a:t>
            </a:r>
            <a:endParaRPr lang="zh-CN" altLang="en-US" sz="1600" dirty="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A</a:t>
            </a:r>
            <a:endParaRPr lang="zh-CN" altLang="en-US" sz="1600" dirty="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B</a:t>
            </a:r>
            <a:endParaRPr lang="zh-CN" altLang="en-US" sz="1600" dirty="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D</a:t>
            </a:r>
            <a:endParaRPr lang="zh-CN" altLang="en-US" sz="1600" dirty="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C</a:t>
            </a:r>
            <a:endParaRPr lang="zh-CN" altLang="en-US" sz="1600" dirty="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F</a:t>
            </a:r>
            <a:endParaRPr lang="zh-CN" altLang="en-US" sz="1600" dirty="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E</a:t>
            </a:r>
            <a:endParaRPr lang="zh-CN" altLang="en-US" sz="1600" dirty="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dirty="0">
                <a:solidFill>
                  <a:schemeClr val="bg1"/>
                </a:solidFill>
              </a:rPr>
              <a:t>FS+3</a:t>
            </a:r>
            <a:endParaRPr lang="zh-CN" altLang="en-US" dirty="0">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dirty="0">
                <a:solidFill>
                  <a:schemeClr val="bg1"/>
                </a:solidFill>
              </a:rPr>
              <a:t>FS-2</a:t>
            </a:r>
            <a:endParaRPr lang="zh-CN" altLang="en-US" dirty="0">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dirty="0">
                <a:solidFill>
                  <a:schemeClr val="bg1"/>
                </a:solidFill>
              </a:rPr>
              <a:t>SS+2</a:t>
            </a:r>
            <a:endParaRPr lang="zh-CN" altLang="en-US" dirty="0">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2</a:t>
            </a:r>
            <a:endParaRPr lang="zh-CN" altLang="en-US" sz="1600" dirty="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4</a:t>
            </a:r>
            <a:endParaRPr lang="zh-CN" altLang="en-US" sz="1600" dirty="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5</a:t>
            </a:r>
            <a:endParaRPr lang="zh-CN" altLang="en-US" sz="1600" dirty="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3</a:t>
            </a:r>
            <a:endParaRPr lang="zh-CN" altLang="en-US" sz="1600" dirty="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6</a:t>
            </a:r>
            <a:endParaRPr lang="zh-CN" altLang="en-US" sz="1600" dirty="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1</a:t>
            </a:r>
            <a:endParaRPr lang="zh-CN" altLang="en-US" sz="1600" dirty="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solidFill>
                  <a:schemeClr val="bg1"/>
                </a:solidFill>
              </a:rPr>
              <a:t>A</a:t>
            </a:r>
            <a:endParaRPr lang="zh-CN" altLang="en-US" dirty="0">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solidFill>
                  <a:schemeClr val="bg1"/>
                </a:solidFill>
              </a:rPr>
              <a:t>B</a:t>
            </a:r>
            <a:endParaRPr lang="zh-CN" altLang="en-US" dirty="0">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solidFill>
                  <a:schemeClr val="bg1"/>
                </a:solidFill>
              </a:rPr>
              <a:t>C</a:t>
            </a:r>
            <a:endParaRPr lang="zh-CN" altLang="en-US" dirty="0">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solidFill>
                  <a:schemeClr val="bg1"/>
                </a:solidFill>
              </a:rPr>
              <a:t>D</a:t>
            </a:r>
            <a:endParaRPr lang="zh-CN" altLang="en-US" dirty="0">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solidFill>
                  <a:schemeClr val="bg1"/>
                </a:solidFill>
              </a:rPr>
              <a:t>E</a:t>
            </a:r>
            <a:endParaRPr lang="zh-CN" altLang="en-US" dirty="0">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solidFill>
                  <a:schemeClr val="bg1"/>
                </a:solidFill>
              </a:rPr>
              <a:t>G</a:t>
            </a:r>
            <a:endParaRPr lang="zh-CN" altLang="en-US" dirty="0">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solidFill>
                  <a:schemeClr val="bg1"/>
                </a:solidFill>
              </a:rPr>
              <a:t>H</a:t>
            </a:r>
            <a:endParaRPr lang="zh-CN" altLang="en-US" dirty="0">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solidFill>
                  <a:schemeClr val="bg1"/>
                </a:solidFill>
              </a:rPr>
              <a:t>I</a:t>
            </a:r>
            <a:endParaRPr lang="zh-CN" altLang="en-US" dirty="0">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solidFill>
                  <a:schemeClr val="bg1"/>
                </a:solidFill>
              </a:rPr>
              <a:t>J</a:t>
            </a:r>
            <a:endParaRPr lang="zh-CN" altLang="en-US" dirty="0">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dirty="0">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0</a:t>
              </a:r>
              <a:endParaRPr lang="zh-CN" altLang="en-US" sz="1400" dirty="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solidFill>
                    <a:schemeClr val="bg1"/>
                  </a:solidFill>
                </a:rPr>
                <a:t>1</a:t>
              </a:r>
              <a:endParaRPr lang="zh-CN" altLang="en-US" sz="1400" dirty="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solidFill>
                    <a:schemeClr val="bg1"/>
                  </a:solidFill>
                </a:rPr>
                <a:t>2</a:t>
              </a:r>
              <a:endParaRPr lang="zh-CN" altLang="en-US" sz="1400" dirty="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solidFill>
                    <a:schemeClr val="bg1"/>
                  </a:solidFill>
                </a:rPr>
                <a:t>3</a:t>
              </a:r>
              <a:endParaRPr lang="zh-CN" altLang="en-US" sz="1400" dirty="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0</a:t>
              </a:r>
              <a:endParaRPr lang="zh-CN" altLang="en-US" sz="1400" dirty="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solidFill>
                    <a:schemeClr val="bg1"/>
                  </a:solidFill>
                </a:rPr>
                <a:t>4</a:t>
              </a:r>
              <a:endParaRPr lang="zh-CN" altLang="en-US" sz="1400" dirty="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solidFill>
                    <a:schemeClr val="bg1"/>
                  </a:solidFill>
                </a:rPr>
                <a:t>6</a:t>
              </a:r>
              <a:endParaRPr lang="zh-CN" altLang="en-US" sz="1400" dirty="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solidFill>
                    <a:schemeClr val="bg1"/>
                  </a:solidFill>
                </a:rPr>
                <a:t>5</a:t>
              </a:r>
              <a:endParaRPr lang="zh-CN" altLang="en-US" sz="1400" dirty="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solidFill>
                    <a:schemeClr val="bg1"/>
                  </a:solidFill>
                </a:rPr>
                <a:t>7</a:t>
              </a:r>
              <a:endParaRPr lang="zh-CN" altLang="en-US" sz="1400" dirty="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solidFill>
                    <a:schemeClr val="bg1"/>
                  </a:solidFill>
                </a:rPr>
                <a:t>8</a:t>
              </a:r>
              <a:endParaRPr lang="zh-CN" altLang="en-US" sz="1400" dirty="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solidFill>
                    <a:schemeClr val="bg1"/>
                  </a:solidFill>
                </a:rPr>
                <a:t>9</a:t>
              </a:r>
              <a:endParaRPr lang="zh-CN" altLang="en-US" sz="1400" dirty="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dirty="0">
                <a:solidFill>
                  <a:schemeClr val="bg1"/>
                </a:solidFill>
              </a:rPr>
              <a:t>5</a:t>
            </a:r>
            <a:endParaRPr lang="zh-CN" altLang="en-US" sz="1400" dirty="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dirty="0">
                <a:solidFill>
                  <a:schemeClr val="bg1"/>
                </a:solidFill>
              </a:rPr>
              <a:t>1</a:t>
            </a:r>
            <a:endParaRPr lang="zh-CN" altLang="en-US" sz="1400" dirty="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dirty="0">
                <a:solidFill>
                  <a:schemeClr val="bg1"/>
                </a:solidFill>
              </a:rPr>
              <a:t>4</a:t>
            </a:r>
            <a:endParaRPr lang="zh-CN" altLang="en-US" sz="1400" dirty="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dirty="0">
                <a:solidFill>
                  <a:schemeClr val="bg1"/>
                </a:solidFill>
              </a:rPr>
              <a:t>1</a:t>
            </a:r>
            <a:endParaRPr lang="zh-CN" altLang="en-US" sz="1400" dirty="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dirty="0">
                <a:solidFill>
                  <a:schemeClr val="bg1"/>
                </a:solidFill>
              </a:rPr>
              <a:t>5</a:t>
            </a:r>
            <a:endParaRPr lang="zh-CN" altLang="en-US" sz="1400" dirty="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dirty="0">
                <a:solidFill>
                  <a:schemeClr val="bg1"/>
                </a:solidFill>
              </a:rPr>
              <a:t>6</a:t>
            </a:r>
            <a:endParaRPr lang="zh-CN" altLang="en-US" sz="1400" dirty="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dirty="0">
                <a:solidFill>
                  <a:schemeClr val="bg1"/>
                </a:solidFill>
              </a:rPr>
              <a:t>4</a:t>
            </a:r>
            <a:endParaRPr lang="zh-CN" altLang="en-US" sz="1400" dirty="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0</a:t>
              </a:r>
              <a:endParaRPr lang="zh-CN" altLang="en-US" sz="1400" dirty="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solidFill>
                    <a:schemeClr val="bg1"/>
                  </a:solidFill>
                </a:rPr>
                <a:t>1</a:t>
              </a:r>
              <a:endParaRPr lang="zh-CN" altLang="en-US" sz="1400" dirty="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solidFill>
                    <a:schemeClr val="bg1"/>
                  </a:solidFill>
                </a:rPr>
                <a:t>2</a:t>
              </a:r>
              <a:endParaRPr lang="zh-CN" altLang="en-US" sz="1400" dirty="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solidFill>
                    <a:schemeClr val="bg1"/>
                  </a:solidFill>
                </a:rPr>
                <a:t>3</a:t>
              </a:r>
              <a:endParaRPr lang="zh-CN" altLang="en-US" sz="1400" dirty="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0</a:t>
              </a:r>
              <a:endParaRPr lang="zh-CN" altLang="en-US" sz="1400" dirty="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solidFill>
                    <a:schemeClr val="bg1"/>
                  </a:solidFill>
                </a:rPr>
                <a:t>4</a:t>
              </a:r>
              <a:endParaRPr lang="zh-CN" altLang="en-US" sz="1400" dirty="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solidFill>
                    <a:schemeClr val="bg1"/>
                  </a:solidFill>
                </a:rPr>
                <a:t>6</a:t>
              </a:r>
              <a:endParaRPr lang="zh-CN" altLang="en-US" sz="1400" dirty="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4</a:t>
              </a:r>
              <a:endParaRPr lang="zh-CN" altLang="en-US" sz="1400" dirty="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solidFill>
                    <a:schemeClr val="bg1"/>
                  </a:solidFill>
                </a:rPr>
                <a:t>5</a:t>
              </a:r>
              <a:endParaRPr lang="zh-CN" altLang="en-US" sz="1400" dirty="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chemeClr val="bg1"/>
                  </a:solidFill>
                </a:rPr>
                <a:t>9</a:t>
              </a:r>
              <a:endParaRPr lang="zh-CN" altLang="en-US" sz="1400" dirty="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solidFill>
                    <a:schemeClr val="bg1"/>
                  </a:solidFill>
                </a:rPr>
                <a:t>7</a:t>
              </a:r>
              <a:endParaRPr lang="zh-CN" altLang="en-US" sz="1400" dirty="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dirty="0">
                  <a:solidFill>
                    <a:schemeClr val="bg1"/>
                  </a:solidFill>
                </a:rPr>
                <a:t>8</a:t>
              </a:r>
              <a:endParaRPr lang="zh-CN" altLang="en-US" sz="1400" dirty="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solidFill>
                    <a:schemeClr val="bg1"/>
                  </a:solidFill>
                </a:rPr>
                <a:t>9</a:t>
              </a:r>
              <a:endParaRPr lang="zh-CN" altLang="en-US" sz="1400" dirty="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dirty="0">
                <a:solidFill>
                  <a:schemeClr val="bg1"/>
                </a:solidFill>
              </a:rPr>
              <a:t>5</a:t>
            </a:r>
            <a:endParaRPr lang="zh-CN" altLang="en-US" sz="1400" dirty="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dirty="0">
                <a:solidFill>
                  <a:schemeClr val="bg1"/>
                </a:solidFill>
              </a:rPr>
              <a:t>1</a:t>
            </a:r>
            <a:endParaRPr lang="zh-CN" altLang="en-US" sz="1400" dirty="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dirty="0">
                <a:solidFill>
                  <a:schemeClr val="bg1"/>
                </a:solidFill>
              </a:rPr>
              <a:t>4</a:t>
            </a:r>
            <a:endParaRPr lang="zh-CN" altLang="en-US" sz="1400" dirty="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dirty="0">
                <a:solidFill>
                  <a:schemeClr val="bg1"/>
                </a:solidFill>
              </a:rPr>
              <a:t>1</a:t>
            </a:r>
            <a:endParaRPr lang="zh-CN" altLang="en-US" sz="1400" dirty="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dirty="0">
                <a:solidFill>
                  <a:schemeClr val="bg1"/>
                </a:solidFill>
              </a:rPr>
              <a:t>5</a:t>
            </a:r>
            <a:endParaRPr lang="zh-CN" altLang="en-US" sz="1400" dirty="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dirty="0">
                <a:solidFill>
                  <a:schemeClr val="bg1"/>
                </a:solidFill>
              </a:rPr>
              <a:t>6</a:t>
            </a:r>
            <a:endParaRPr lang="zh-CN" altLang="en-US" sz="1400" dirty="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dirty="0">
                <a:solidFill>
                  <a:schemeClr val="bg1"/>
                </a:solidFill>
              </a:rPr>
              <a:t>4</a:t>
            </a:r>
            <a:endParaRPr lang="zh-CN" altLang="en-US" sz="1400" dirty="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dirty="0">
                <a:solidFill>
                  <a:schemeClr val="bg1"/>
                </a:solidFill>
              </a:rPr>
              <a:t>2</a:t>
            </a:r>
            <a:endParaRPr lang="zh-CN" altLang="en-US" sz="1400" dirty="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dirty="0">
                <a:solidFill>
                  <a:srgbClr val="FFFF00"/>
                </a:solidFill>
              </a:rPr>
              <a:t>5</a:t>
            </a:r>
            <a:endParaRPr lang="zh-CN" altLang="en-US" sz="1400"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dirty="0">
                <a:solidFill>
                  <a:srgbClr val="FFFF00"/>
                </a:solidFill>
              </a:rPr>
              <a:t>13</a:t>
            </a:r>
            <a:endParaRPr lang="zh-CN" altLang="en-US" sz="1400" dirty="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solidFill>
                            <a:schemeClr val="bg1"/>
                          </a:solidFill>
                        </a:rPr>
                        <a:t>ES</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dirty="0">
                          <a:solidFill>
                            <a:schemeClr val="bg1"/>
                          </a:solidFill>
                        </a:rPr>
                        <a:t>Duration</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dirty="0">
                          <a:solidFill>
                            <a:schemeClr val="bg1"/>
                          </a:solidFill>
                        </a:rPr>
                        <a:t>EF</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dirty="0">
                          <a:solidFill>
                            <a:schemeClr val="bg1"/>
                          </a:solidFill>
                        </a:rPr>
                        <a:t>Event</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solidFill>
                            <a:schemeClr val="bg1"/>
                          </a:solidFill>
                        </a:rPr>
                        <a:t>LS</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dirty="0">
                          <a:solidFill>
                            <a:schemeClr val="bg1"/>
                          </a:solidFill>
                        </a:rPr>
                        <a:t>Total float</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dirty="0">
                          <a:solidFill>
                            <a:schemeClr val="bg1"/>
                          </a:solidFill>
                        </a:rPr>
                        <a:t>LF</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计划工作历时</a:t>
                      </a:r>
                      <a:r>
                        <a:rPr lang="en-US" altLang="zh-CN" dirty="0">
                          <a:solidFill>
                            <a:schemeClr val="bg1"/>
                          </a:solidFill>
                        </a:rPr>
                        <a:t>/</a:t>
                      </a:r>
                      <a:r>
                        <a:rPr lang="zh-CN" altLang="en-US" dirty="0">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dirty="0">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dirty="0">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dirty="0">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dirty="0">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solidFill>
                  <a:schemeClr val="bg1"/>
                </a:solidFill>
              </a:rPr>
              <a:t>A</a:t>
            </a:r>
            <a:endParaRPr lang="zh-CN" altLang="en-US" dirty="0">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solidFill>
                  <a:schemeClr val="bg1"/>
                </a:solidFill>
              </a:rPr>
              <a:t>B</a:t>
            </a:r>
            <a:endParaRPr lang="zh-CN" altLang="en-US" dirty="0">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solidFill>
                  <a:schemeClr val="bg1"/>
                </a:solidFill>
              </a:rPr>
              <a:t>C</a:t>
            </a:r>
            <a:endParaRPr lang="zh-CN" altLang="en-US" dirty="0">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solidFill>
                  <a:schemeClr val="bg1"/>
                </a:solidFill>
              </a:rPr>
              <a:t>5</a:t>
            </a:r>
            <a:endParaRPr lang="zh-CN" altLang="en-US" dirty="0">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solidFill>
                  <a:schemeClr val="bg1"/>
                </a:solidFill>
              </a:rPr>
              <a:t>D</a:t>
            </a:r>
            <a:endParaRPr lang="zh-CN" altLang="en-US" dirty="0">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solidFill>
                  <a:schemeClr val="bg1"/>
                </a:solidFill>
              </a:rPr>
              <a:t>2</a:t>
            </a:r>
            <a:endParaRPr lang="zh-CN" altLang="en-US" dirty="0">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solidFill>
                  <a:schemeClr val="bg1"/>
                </a:solidFill>
              </a:rPr>
              <a:t>8</a:t>
            </a:r>
            <a:endParaRPr lang="zh-CN" altLang="en-US" dirty="0">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solidFill>
                  <a:schemeClr val="bg1"/>
                </a:solidFill>
              </a:rPr>
              <a:t>E</a:t>
            </a:r>
            <a:endParaRPr lang="zh-CN" altLang="en-US" dirty="0">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solidFill>
                  <a:schemeClr val="bg1"/>
                </a:solidFill>
              </a:rPr>
              <a:t>F</a:t>
            </a:r>
            <a:endParaRPr lang="zh-CN" altLang="en-US" dirty="0">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solidFill>
                  <a:schemeClr val="bg1"/>
                </a:solidFill>
              </a:rPr>
              <a:t>10</a:t>
            </a:r>
            <a:endParaRPr lang="zh-CN" altLang="en-US" dirty="0">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solidFill>
                  <a:schemeClr val="bg1"/>
                </a:solidFill>
              </a:rPr>
              <a:t>5</a:t>
            </a:r>
            <a:endParaRPr lang="zh-CN" altLang="en-US" dirty="0">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solidFill>
                  <a:schemeClr val="bg1"/>
                </a:solidFill>
              </a:rPr>
              <a:t>G</a:t>
            </a:r>
            <a:endParaRPr lang="zh-CN" altLang="en-US" dirty="0">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solidFill>
                  <a:schemeClr val="bg1"/>
                </a:solidFill>
              </a:rPr>
              <a:t>H</a:t>
            </a:r>
            <a:endParaRPr lang="zh-CN" altLang="en-US" dirty="0">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solidFill>
                  <a:schemeClr val="bg1"/>
                </a:solidFill>
              </a:rPr>
              <a:t>10</a:t>
            </a:r>
            <a:endParaRPr lang="zh-CN" altLang="en-US" dirty="0">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solidFill>
                  <a:schemeClr val="bg1"/>
                </a:solidFill>
              </a:rPr>
              <a:t>11</a:t>
            </a:r>
            <a:endParaRPr lang="zh-CN" altLang="en-US" dirty="0">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solidFill>
                  <a:schemeClr val="bg1"/>
                </a:solidFill>
              </a:rPr>
              <a:t>10</a:t>
            </a:r>
            <a:endParaRPr lang="zh-CN" altLang="en-US" dirty="0">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dirty="0"/>
              <a:t>Section 6 Project Quality</a:t>
            </a:r>
            <a:endParaRPr lang="zh-CN" altLang="en-US" dirty="0"/>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dirty="0"/>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solidFill>
                            <a:schemeClr val="bg1"/>
                          </a:solidFill>
                        </a:rPr>
                        <a:t>成熟性 </a:t>
                      </a:r>
                      <a:r>
                        <a:rPr lang="en-US" dirty="0">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dirty="0">
                          <a:solidFill>
                            <a:schemeClr val="bg1"/>
                          </a:solidFill>
                        </a:rPr>
                        <a:t>容错性 </a:t>
                      </a:r>
                      <a:r>
                        <a:rPr lang="en-US" dirty="0">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dirty="0" err="1">
                          <a:solidFill>
                            <a:schemeClr val="bg1"/>
                          </a:solidFill>
                        </a:rPr>
                        <a:t>易恢复性</a:t>
                      </a:r>
                      <a:r>
                        <a:rPr lang="en-US" dirty="0">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solidFill>
                            <a:schemeClr val="bg1"/>
                          </a:solidFill>
                        </a:rPr>
                        <a:t>质量规划 </a:t>
                      </a:r>
                      <a:r>
                        <a:rPr lang="en-US" dirty="0">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dirty="0">
                          <a:solidFill>
                            <a:schemeClr val="bg1"/>
                          </a:solidFill>
                        </a:rPr>
                        <a:t>质量保证 </a:t>
                      </a:r>
                      <a:r>
                        <a:rPr lang="en-US" dirty="0">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dirty="0">
                          <a:solidFill>
                            <a:schemeClr val="bg1"/>
                          </a:solidFill>
                        </a:rPr>
                        <a:t>质量控制 </a:t>
                      </a:r>
                      <a:r>
                        <a:rPr lang="en-US" dirty="0">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dirty="0">
                          <a:solidFill>
                            <a:schemeClr val="bg1"/>
                          </a:solidFill>
                        </a:rPr>
                        <a:t>质量改进 </a:t>
                      </a:r>
                      <a:r>
                        <a:rPr lang="en-US" dirty="0">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dirty="0"/>
              <a:t>Software Configuration Management</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endParaRPr lang="en-US" altLang="zh-CN" dirty="0"/>
          </a:p>
          <a:p>
            <a:pPr lvl="1"/>
            <a:r>
              <a:rPr lang="zh-CN" altLang="en-US" dirty="0"/>
              <a:t>确保产品完整性、可追溯性、一致性和可控性</a:t>
            </a:r>
            <a:endParaRPr lang="en-US" altLang="zh-CN" dirty="0"/>
          </a:p>
          <a:p>
            <a:pPr lvl="1"/>
            <a:r>
              <a:rPr lang="zh-CN" altLang="en-US" dirty="0"/>
              <a:t>也称变更管理</a:t>
            </a:r>
            <a:endParaRPr lang="en-US" altLang="zh-CN" dirty="0"/>
          </a:p>
          <a:p>
            <a:r>
              <a:rPr lang="zh-CN" altLang="en-US" dirty="0"/>
              <a:t>目标：</a:t>
            </a:r>
            <a:endParaRPr lang="en-US" altLang="zh-CN" dirty="0"/>
          </a:p>
          <a:p>
            <a:pPr lvl="1"/>
            <a:r>
              <a:rPr lang="zh-CN" altLang="en-US" dirty="0"/>
              <a:t>保证所有交付物版本可控</a:t>
            </a:r>
          </a:p>
          <a:p>
            <a:pPr lvl="1"/>
            <a:r>
              <a:rPr lang="zh-CN" altLang="en-US" dirty="0"/>
              <a:t>支持并行开发协作</a:t>
            </a:r>
          </a:p>
          <a:p>
            <a:pPr lvl="1"/>
            <a:r>
              <a:rPr lang="zh-CN" altLang="en-US" dirty="0"/>
              <a:t>快速定位问题根源</a:t>
            </a:r>
          </a:p>
          <a:p>
            <a:pPr lvl="1"/>
            <a:r>
              <a:rPr lang="zh-CN" altLang="en-US" dirty="0"/>
              <a:t>满足审计与合规要求</a:t>
            </a:r>
          </a:p>
          <a:p>
            <a:endParaRPr lang="zh-CN" altLang="en-US" dirty="0"/>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dirty="0"/>
              <a:t>Reason</a:t>
            </a:r>
            <a:endParaRPr lang="zh-CN" altLang="en-US" dirty="0"/>
          </a:p>
        </p:txBody>
      </p:sp>
    </p:spTree>
    <p:extLst>
      <p:ext uri="{BB962C8B-B14F-4D97-AF65-F5344CB8AC3E}">
        <p14:creationId xmlns:p14="http://schemas.microsoft.com/office/powerpoint/2010/main" val="7699673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dirty="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dirty="0">
                          <a:solidFill>
                            <a:schemeClr val="bg1"/>
                          </a:solidFill>
                        </a:rPr>
                        <a:t>稳定性 </a:t>
                      </a:r>
                      <a:r>
                        <a:rPr lang="en-US" sz="1600" dirty="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solidFill>
                            <a:schemeClr val="bg1"/>
                          </a:solidFill>
                        </a:rPr>
                        <a:t>权威性 </a:t>
                      </a:r>
                      <a:r>
                        <a:rPr lang="en-US" altLang="zh-CN" sz="1600" dirty="0">
                          <a:solidFill>
                            <a:schemeClr val="bg1"/>
                          </a:solidFill>
                        </a:rPr>
                        <a:t>(</a:t>
                      </a:r>
                      <a:r>
                        <a:rPr lang="en-US" sz="1600" dirty="0">
                          <a:solidFill>
                            <a:schemeClr val="bg1"/>
                          </a:solidFill>
                        </a:rPr>
                        <a:t>Authority</a:t>
                      </a:r>
                    </a:p>
                  </a:txBody>
                  <a:tcPr anchor="ctr">
                    <a:lnL>
                      <a:noFill/>
                    </a:lnL>
                    <a:lnR>
                      <a:noFill/>
                    </a:lnR>
                    <a:lnT>
                      <a:noFill/>
                    </a:lnT>
                    <a:lnB>
                      <a:noFill/>
                    </a:lnB>
                    <a:noFill/>
                  </a:tcPr>
                </a:tc>
                <a:tc>
                  <a:txBody>
                    <a:bodyPr/>
                    <a:lstStyle/>
                    <a:p>
                      <a:pPr algn="l">
                        <a:buNone/>
                      </a:pPr>
                      <a:r>
                        <a:rPr lang="zh-CN" altLang="en-US" sz="1600" dirty="0">
                          <a:solidFill>
                            <a:schemeClr val="bg1"/>
                          </a:solidFill>
                        </a:rPr>
                        <a:t>它是经过正式评审（</a:t>
                      </a:r>
                      <a:r>
                        <a:rPr lang="en-US" altLang="zh-CN" sz="1600" dirty="0">
                          <a:solidFill>
                            <a:schemeClr val="bg1"/>
                          </a:solidFill>
                        </a:rPr>
                        <a:t>Review</a:t>
                      </a:r>
                      <a:r>
                        <a:rPr lang="zh-CN" altLang="en-US" sz="1600" dirty="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dirty="0">
                          <a:solidFill>
                            <a:schemeClr val="bg1"/>
                          </a:solidFill>
                        </a:rPr>
                        <a:t>它是验收的标准。如果做出来的东西和基线不一致，就是缺陷（</a:t>
                      </a:r>
                      <a:r>
                        <a:rPr lang="en-US" altLang="zh-CN" sz="1600" dirty="0">
                          <a:solidFill>
                            <a:schemeClr val="bg1"/>
                          </a:solidFill>
                        </a:rPr>
                        <a:t>Bug</a:t>
                      </a:r>
                      <a:r>
                        <a:rPr lang="zh-CN" altLang="en-US" sz="1600" dirty="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solidFill>
                            <a:schemeClr val="bg1"/>
                          </a:solidFill>
                        </a:rPr>
                        <a:t>可追溯性 </a:t>
                      </a:r>
                      <a:r>
                        <a:rPr lang="en-US" sz="1600" dirty="0">
                          <a:solidFill>
                            <a:schemeClr val="bg1"/>
                          </a:solidFill>
                        </a:rPr>
                        <a:t>Traceability</a:t>
                      </a:r>
                    </a:p>
                  </a:txBody>
                  <a:tcPr anchor="ctr">
                    <a:lnL>
                      <a:noFill/>
                    </a:lnL>
                    <a:lnR>
                      <a:noFill/>
                    </a:lnR>
                    <a:lnT>
                      <a:noFill/>
                    </a:lnT>
                    <a:lnB>
                      <a:noFill/>
                    </a:lnB>
                    <a:noFill/>
                  </a:tcPr>
                </a:tc>
                <a:tc>
                  <a:txBody>
                    <a:bodyPr/>
                    <a:lstStyle/>
                    <a:p>
                      <a:pPr algn="l">
                        <a:buNone/>
                      </a:pPr>
                      <a:r>
                        <a:rPr lang="zh-CN" altLang="en-US" sz="1600" dirty="0">
                          <a:solidFill>
                            <a:schemeClr val="bg1"/>
                          </a:solidFill>
                        </a:rPr>
                        <a:t>基线有明确的版本号（如 </a:t>
                      </a:r>
                      <a:r>
                        <a:rPr lang="en-US" altLang="zh-CN" sz="1600" dirty="0">
                          <a:solidFill>
                            <a:schemeClr val="bg1"/>
                          </a:solidFill>
                        </a:rPr>
                        <a:t>v1.0</a:t>
                      </a:r>
                      <a:r>
                        <a:rPr lang="zh-CN" altLang="en-US" sz="1600" dirty="0">
                          <a:solidFill>
                            <a:schemeClr val="bg1"/>
                          </a:solidFill>
                        </a:rPr>
                        <a:t>），任何后续修改都会生成新版本（</a:t>
                      </a:r>
                      <a:r>
                        <a:rPr lang="en-US" altLang="zh-CN" sz="1600" dirty="0">
                          <a:solidFill>
                            <a:schemeClr val="bg1"/>
                          </a:solidFill>
                        </a:rPr>
                        <a:t>v1.1</a:t>
                      </a:r>
                      <a:r>
                        <a:rPr lang="zh-CN" altLang="en-US" sz="1600" dirty="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dirty="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dirty="0"/>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dirty="0"/>
              <a:t>基线</a:t>
            </a:r>
            <a:endParaRPr lang="en-US" altLang="zh-CN" dirty="0"/>
          </a:p>
          <a:p>
            <a:r>
              <a:rPr lang="zh-CN" altLang="en-US" dirty="0"/>
              <a:t>软件配置项 </a:t>
            </a:r>
            <a:r>
              <a:rPr lang="en-US" altLang="zh-CN" dirty="0"/>
              <a:t>configuration item</a:t>
            </a:r>
            <a:endParaRPr lang="zh-CN" altLang="en-US" dirty="0"/>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dirty="0"/>
              <a:t>Concepts</a:t>
            </a:r>
            <a:endParaRPr lang="zh-CN" altLang="en-US" dirty="0"/>
          </a:p>
        </p:txBody>
      </p:sp>
    </p:spTree>
    <p:extLst>
      <p:ext uri="{BB962C8B-B14F-4D97-AF65-F5344CB8AC3E}">
        <p14:creationId xmlns:p14="http://schemas.microsoft.com/office/powerpoint/2010/main" val="163573979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dirty="0"/>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dirty="0">
                          <a:solidFill>
                            <a:schemeClr val="bg1"/>
                          </a:solidFill>
                        </a:rPr>
                        <a:t>制定配置管理计划 </a:t>
                      </a:r>
                      <a:r>
                        <a:rPr lang="en-US" altLang="zh-CN" sz="1600" dirty="0">
                          <a:solidFill>
                            <a:schemeClr val="bg1"/>
                          </a:solidFill>
                        </a:rPr>
                        <a:t>CMP</a:t>
                      </a:r>
                    </a:p>
                    <a:p>
                      <a:pPr>
                        <a:buNone/>
                      </a:pPr>
                      <a:r>
                        <a:rPr lang="en-US" sz="1600" dirty="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dirty="0">
                          <a:solidFill>
                            <a:schemeClr val="bg1"/>
                          </a:solidFill>
                        </a:rPr>
                        <a:t>配置标识 </a:t>
                      </a:r>
                      <a:r>
                        <a:rPr lang="en-US" altLang="zh-CN" sz="1600" dirty="0">
                          <a:solidFill>
                            <a:schemeClr val="bg1"/>
                          </a:solidFill>
                        </a:rPr>
                        <a:t>CI</a:t>
                      </a:r>
                    </a:p>
                    <a:p>
                      <a:pPr>
                        <a:buNone/>
                      </a:pPr>
                      <a:r>
                        <a:rPr lang="en-US" altLang="zh-CN" sz="1600" dirty="0">
                          <a:solidFill>
                            <a:schemeClr val="bg1"/>
                          </a:solidFill>
                        </a:rPr>
                        <a:t>Configuration </a:t>
                      </a:r>
                      <a:r>
                        <a:rPr lang="en-US" sz="1600" dirty="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dirty="0">
                          <a:solidFill>
                            <a:schemeClr val="bg1"/>
                          </a:solidFill>
                        </a:rPr>
                        <a:t>配置控制</a:t>
                      </a:r>
                    </a:p>
                    <a:p>
                      <a:pPr>
                        <a:buNone/>
                      </a:pPr>
                      <a:r>
                        <a:rPr lang="it-IT" sz="1600" dirty="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建立变更请求流程（</a:t>
                      </a:r>
                      <a:r>
                        <a:rPr lang="en-US" altLang="zh-CN" sz="1600" dirty="0">
                          <a:solidFill>
                            <a:schemeClr val="bg1"/>
                          </a:solidFill>
                        </a:rPr>
                        <a:t>CR</a:t>
                      </a:r>
                      <a:r>
                        <a:rPr lang="zh-CN" altLang="en-US" sz="1600" dirty="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dirty="0">
                          <a:solidFill>
                            <a:schemeClr val="bg1"/>
                          </a:solidFill>
                        </a:rPr>
                        <a:t>状态记账</a:t>
                      </a:r>
                      <a:endParaRPr lang="en-US" altLang="zh-CN" sz="1600" dirty="0">
                        <a:solidFill>
                          <a:schemeClr val="bg1"/>
                        </a:solidFill>
                      </a:endParaRPr>
                    </a:p>
                    <a:p>
                      <a:pPr>
                        <a:buNone/>
                      </a:pPr>
                      <a:r>
                        <a:rPr lang="en-US" sz="1600" dirty="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dirty="0">
                          <a:solidFill>
                            <a:schemeClr val="bg1"/>
                          </a:solidFill>
                        </a:rPr>
                        <a:t>配置审计</a:t>
                      </a:r>
                      <a:endParaRPr lang="en-US" altLang="zh-CN" sz="1600" dirty="0">
                        <a:solidFill>
                          <a:schemeClr val="bg1"/>
                        </a:solidFill>
                      </a:endParaRPr>
                    </a:p>
                    <a:p>
                      <a:pPr>
                        <a:buNone/>
                      </a:pPr>
                      <a:r>
                        <a:rPr lang="en-US" altLang="zh-CN" sz="1600" dirty="0">
                          <a:solidFill>
                            <a:schemeClr val="bg1"/>
                          </a:solidFill>
                        </a:rPr>
                        <a:t>Audit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功能审计（是否满足需求）</a:t>
                      </a:r>
                      <a:r>
                        <a:rPr lang="en-US" altLang="zh-CN" sz="1600" dirty="0">
                          <a:solidFill>
                            <a:schemeClr val="bg1"/>
                          </a:solidFill>
                        </a:rPr>
                        <a:t>+ </a:t>
                      </a:r>
                      <a:r>
                        <a:rPr lang="zh-CN" altLang="en-US" sz="1600" dirty="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dirty="0"/>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2"/>
              </a:rPr>
              <a:t>CCB</a:t>
            </a:r>
            <a:r>
              <a:rPr lang="zh-CN" altLang="en-US" dirty="0"/>
              <a:t>，</a:t>
            </a:r>
            <a:r>
              <a:rPr lang="en-US" altLang="zh-CN" dirty="0"/>
              <a:t>Change Control Board</a:t>
            </a:r>
            <a:r>
              <a:rPr lang="zh-CN" altLang="en-US" dirty="0"/>
              <a:t>：决策机构；双方决策人；审查、评价、批准</a:t>
            </a:r>
          </a:p>
          <a:p>
            <a:r>
              <a:rPr lang="zh-CN" altLang="en-US" dirty="0"/>
              <a:t>基本过程</a:t>
            </a:r>
            <a:endParaRPr lang="en-US" altLang="zh-CN" dirty="0"/>
          </a:p>
          <a:p>
            <a:pPr lvl="1"/>
            <a:r>
              <a:rPr lang="zh-CN" altLang="en-US" dirty="0"/>
              <a:t>提交变更请求</a:t>
            </a:r>
          </a:p>
          <a:p>
            <a:pPr lvl="1"/>
            <a:r>
              <a:rPr lang="zh-CN" altLang="en-US" dirty="0"/>
              <a:t>进行变更影响评估（由项目经理组织团队分析对范围、进度、成本、质量等的影响）</a:t>
            </a:r>
          </a:p>
          <a:p>
            <a:pPr lvl="1"/>
            <a:r>
              <a:rPr lang="zh-CN" altLang="en-US" dirty="0"/>
              <a:t>提交变更控制委员会（</a:t>
            </a:r>
            <a:r>
              <a:rPr lang="en-US" altLang="zh-CN" dirty="0"/>
              <a:t>CCB, </a:t>
            </a:r>
            <a:r>
              <a:rPr lang="zh-CN" altLang="en-US" dirty="0"/>
              <a:t>）审批 → 同意或否决变更</a:t>
            </a:r>
          </a:p>
          <a:p>
            <a:pPr lvl="1"/>
            <a:r>
              <a:rPr lang="zh-CN" altLang="en-US" dirty="0"/>
              <a:t>若批准，则执行变更；若拒绝，则通知申请人并归档</a:t>
            </a:r>
          </a:p>
          <a:p>
            <a:pPr lvl="1"/>
            <a:r>
              <a:rPr lang="zh-CN" altLang="en-US" dirty="0"/>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Project Change</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dirty="0"/>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dirty="0"/>
              <a:t>the development manager,</a:t>
            </a:r>
          </a:p>
          <a:p>
            <a:r>
              <a:rPr lang="en-US" altLang="zh-CN" dirty="0"/>
              <a:t>a test manager,</a:t>
            </a:r>
          </a:p>
          <a:p>
            <a:r>
              <a:rPr lang="en-US" altLang="zh-CN" dirty="0"/>
              <a:t>a product manager</a:t>
            </a:r>
          </a:p>
          <a:p>
            <a:r>
              <a:rPr lang="en-US" altLang="zh-CN" dirty="0"/>
              <a:t>and the project manager.</a:t>
            </a:r>
          </a:p>
          <a:p>
            <a:r>
              <a:rPr lang="en-US" altLang="zh-CN" dirty="0"/>
              <a:t>In some cases, stakeholders are also involved.</a:t>
            </a:r>
            <a:endParaRPr lang="zh-CN" altLang="en-US" dirty="0"/>
          </a:p>
          <a:p>
            <a:endParaRPr lang="zh-CN" altLang="en-US" dirty="0"/>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107401485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dirty="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dirty="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dirty="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dirty="0">
                          <a:solidFill>
                            <a:schemeClr val="bg1"/>
                          </a:solidFill>
                          <a:sym typeface="Wingdings" panose="05000000000000000000" pitchFamily="2" charset="2"/>
                        </a:rPr>
                        <a:t> </a:t>
                      </a:r>
                      <a:r>
                        <a:rPr lang="zh-CN" altLang="en-US" sz="1600" dirty="0">
                          <a:solidFill>
                            <a:schemeClr val="bg1"/>
                          </a:solidFill>
                        </a:rPr>
                        <a:t>用户需求变化 </a:t>
                      </a:r>
                      <a:r>
                        <a:rPr lang="zh-CN" altLang="en-US" sz="1600" dirty="0">
                          <a:solidFill>
                            <a:schemeClr val="bg1"/>
                          </a:solidFill>
                          <a:sym typeface="Wingdings" panose="05000000000000000000" pitchFamily="2" charset="2"/>
                        </a:rPr>
                        <a:t> </a:t>
                      </a:r>
                      <a:r>
                        <a:rPr lang="zh-CN" altLang="en-US" sz="1600" dirty="0">
                          <a:solidFill>
                            <a:schemeClr val="bg1"/>
                          </a:solidFill>
                        </a:rPr>
                        <a:t>技术限制 </a:t>
                      </a:r>
                      <a:r>
                        <a:rPr lang="zh-CN" altLang="en-US" sz="1600" dirty="0">
                          <a:solidFill>
                            <a:schemeClr val="bg1"/>
                          </a:solidFill>
                          <a:sym typeface="Wingdings" panose="05000000000000000000" pitchFamily="2" charset="2"/>
                        </a:rPr>
                        <a:t> </a:t>
                      </a:r>
                      <a:r>
                        <a:rPr lang="zh-CN" altLang="en-US" sz="1600" dirty="0">
                          <a:solidFill>
                            <a:schemeClr val="bg1"/>
                          </a:solidFill>
                        </a:rPr>
                        <a:t>法律法规 </a:t>
                      </a:r>
                      <a:r>
                        <a:rPr lang="zh-CN" altLang="en-US" sz="1600" dirty="0">
                          <a:solidFill>
                            <a:schemeClr val="bg1"/>
                          </a:solidFill>
                          <a:sym typeface="Wingdings" panose="05000000000000000000" pitchFamily="2" charset="2"/>
                        </a:rPr>
                        <a:t> </a:t>
                      </a:r>
                      <a:r>
                        <a:rPr lang="zh-CN" altLang="en-US" sz="1600" dirty="0">
                          <a:solidFill>
                            <a:schemeClr val="bg1"/>
                          </a:solidFill>
                        </a:rPr>
                        <a:t>缺陷修复 </a:t>
                      </a:r>
                      <a:r>
                        <a:rPr lang="zh-CN" altLang="en-US" sz="1600" dirty="0">
                          <a:solidFill>
                            <a:schemeClr val="bg1"/>
                          </a:solidFill>
                          <a:sym typeface="Wingdings" panose="05000000000000000000" pitchFamily="2" charset="2"/>
                        </a:rPr>
                        <a:t> </a:t>
                      </a:r>
                      <a:r>
                        <a:rPr lang="zh-CN" altLang="en-US" sz="1600" dirty="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dirty="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dirty="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dirty="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dirty="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dirty="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dirty="0">
                          <a:solidFill>
                            <a:schemeClr val="bg1"/>
                          </a:solidFill>
                          <a:sym typeface="Wingdings" panose="05000000000000000000" pitchFamily="2" charset="2"/>
                        </a:rPr>
                        <a:t> 高  中  低</a:t>
                      </a: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dirty="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dirty="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dirty="0">
                          <a:solidFill>
                            <a:schemeClr val="bg1"/>
                          </a:solidFill>
                          <a:sym typeface="Wingdings" panose="05000000000000000000" pitchFamily="2" charset="2"/>
                        </a:rPr>
                        <a:t> </a:t>
                      </a:r>
                      <a:r>
                        <a:rPr lang="zh-CN" altLang="en-US" sz="1600" dirty="0">
                          <a:solidFill>
                            <a:schemeClr val="bg1"/>
                          </a:solidFill>
                        </a:rPr>
                        <a:t>批准 </a:t>
                      </a:r>
                      <a:r>
                        <a:rPr lang="zh-CN" altLang="en-US" sz="1600" dirty="0">
                          <a:solidFill>
                            <a:schemeClr val="bg1"/>
                          </a:solidFill>
                          <a:sym typeface="Wingdings" panose="05000000000000000000" pitchFamily="2" charset="2"/>
                        </a:rPr>
                        <a:t> </a:t>
                      </a:r>
                      <a:r>
                        <a:rPr lang="zh-CN" altLang="en-US" sz="1600" dirty="0">
                          <a:solidFill>
                            <a:schemeClr val="bg1"/>
                          </a:solidFill>
                        </a:rPr>
                        <a:t>拒绝 </a:t>
                      </a:r>
                      <a:r>
                        <a:rPr lang="zh-CN" altLang="en-US" sz="1600" dirty="0">
                          <a:solidFill>
                            <a:schemeClr val="bg1"/>
                          </a:solidFill>
                          <a:sym typeface="Wingdings" panose="05000000000000000000" pitchFamily="2" charset="2"/>
                        </a:rPr>
                        <a:t> </a:t>
                      </a:r>
                      <a:r>
                        <a:rPr lang="zh-CN" altLang="en-US" sz="1600" dirty="0">
                          <a:solidFill>
                            <a:schemeClr val="bg1"/>
                          </a:solidFill>
                        </a:rPr>
                        <a:t>延期 </a:t>
                      </a:r>
                      <a:r>
                        <a:rPr lang="zh-CN" altLang="en-US" sz="1600" dirty="0">
                          <a:solidFill>
                            <a:schemeClr val="bg1"/>
                          </a:solidFill>
                          <a:sym typeface="Wingdings" panose="05000000000000000000" pitchFamily="2" charset="2"/>
                        </a:rPr>
                        <a:t> </a:t>
                      </a:r>
                      <a:r>
                        <a:rPr lang="zh-CN" altLang="en-US" sz="1600" dirty="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dirty="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dirty="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dirty="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dirty="0"/>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dirty="0">
                          <a:solidFill>
                            <a:schemeClr val="bg1"/>
                          </a:solidFill>
                        </a:rPr>
                        <a:t>草稿 </a:t>
                      </a:r>
                      <a:r>
                        <a:rPr lang="en-US" dirty="0">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dirty="0">
                          <a:solidFill>
                            <a:schemeClr val="bg1"/>
                          </a:solidFill>
                        </a:rPr>
                        <a:t>正式 </a:t>
                      </a:r>
                      <a:r>
                        <a:rPr lang="en-US" dirty="0">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dirty="0">
                          <a:solidFill>
                            <a:schemeClr val="bg1"/>
                          </a:solidFill>
                        </a:rPr>
                        <a:t>修改 </a:t>
                      </a:r>
                      <a:r>
                        <a:rPr lang="en-US" dirty="0">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如从 </a:t>
                      </a:r>
                      <a:r>
                        <a:rPr lang="en-US" altLang="zh-CN" dirty="0">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dirty="0"/>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dirty="0">
                          <a:solidFill>
                            <a:schemeClr val="bg1"/>
                          </a:solidFill>
                        </a:rPr>
                        <a:t>- </a:t>
                      </a:r>
                      <a:r>
                        <a:rPr lang="zh-CN" altLang="en-US" dirty="0">
                          <a:solidFill>
                            <a:schemeClr val="bg1"/>
                          </a:solidFill>
                        </a:rPr>
                        <a:t>最终版本</a:t>
                      </a:r>
                      <a:br>
                        <a:rPr lang="zh-CN" altLang="en-US" dirty="0">
                          <a:solidFill>
                            <a:schemeClr val="bg1"/>
                          </a:solidFill>
                        </a:rPr>
                      </a:br>
                      <a:r>
                        <a:rPr lang="en-US" altLang="zh-CN" dirty="0">
                          <a:solidFill>
                            <a:schemeClr val="bg1"/>
                          </a:solidFill>
                        </a:rPr>
                        <a:t>- </a:t>
                      </a:r>
                      <a:r>
                        <a:rPr lang="zh-CN" altLang="en-US" dirty="0">
                          <a:solidFill>
                            <a:schemeClr val="bg1"/>
                          </a:solidFill>
                        </a:rPr>
                        <a:t>不可随意修改</a:t>
                      </a:r>
                      <a:br>
                        <a:rPr lang="zh-CN" altLang="en-US" dirty="0">
                          <a:solidFill>
                            <a:schemeClr val="bg1"/>
                          </a:solidFill>
                        </a:rPr>
                      </a:br>
                      <a:r>
                        <a:rPr lang="en-US" altLang="zh-CN" dirty="0">
                          <a:solidFill>
                            <a:schemeClr val="bg1"/>
                          </a:solidFill>
                        </a:rPr>
                        <a:t>- </a:t>
                      </a:r>
                      <a:r>
                        <a:rPr lang="zh-CN" altLang="en-US" dirty="0">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dirty="0"/>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dirty="0">
                          <a:solidFill>
                            <a:schemeClr val="bg1"/>
                          </a:solidFill>
                        </a:rPr>
                        <a:t>打包 </a:t>
                      </a:r>
                      <a:r>
                        <a:rPr lang="en-US" dirty="0">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dirty="0">
                          <a:solidFill>
                            <a:schemeClr val="bg1"/>
                          </a:solidFill>
                        </a:rPr>
                        <a:t>复制 </a:t>
                      </a:r>
                      <a:r>
                        <a:rPr lang="en-US" dirty="0">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dirty="0">
                          <a:solidFill>
                            <a:schemeClr val="bg1"/>
                          </a:solidFill>
                        </a:rPr>
                        <a:t>存储 </a:t>
                      </a:r>
                      <a:r>
                        <a:rPr lang="en-US" dirty="0">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dirty="0">
                          <a:solidFill>
                            <a:schemeClr val="bg1"/>
                          </a:solidFill>
                        </a:rPr>
                        <a:t>分发 </a:t>
                      </a:r>
                      <a:r>
                        <a:rPr lang="en-US" dirty="0">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dirty="0">
                          <a:solidFill>
                            <a:schemeClr val="bg1"/>
                          </a:solidFill>
                        </a:rPr>
                        <a:t>部署 </a:t>
                      </a:r>
                      <a:r>
                        <a:rPr lang="en-US" dirty="0">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dirty="0"/>
              <a:t>Section 8 Project Team</a:t>
            </a:r>
            <a:endParaRPr lang="zh-CN" altLang="en-US" dirty="0"/>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表现期 </a:t>
                      </a:r>
                      <a:r>
                        <a:rPr lang="en-US" altLang="zh-CN" dirty="0">
                          <a:solidFill>
                            <a:schemeClr val="bg1"/>
                          </a:solidFill>
                        </a:rPr>
                        <a:t>/ </a:t>
                      </a:r>
                      <a:r>
                        <a:rPr lang="zh-CN" altLang="en-US" dirty="0">
                          <a:solidFill>
                            <a:schemeClr val="bg1"/>
                          </a:solidFill>
                        </a:rPr>
                        <a:t>执行期 </a:t>
                      </a:r>
                      <a:r>
                        <a:rPr lang="en-US" altLang="zh-CN" dirty="0">
                          <a:solidFill>
                            <a:schemeClr val="bg1"/>
                          </a:solidFill>
                        </a:rPr>
                        <a:t>/ </a:t>
                      </a:r>
                      <a:r>
                        <a:rPr lang="zh-CN" altLang="en-US" dirty="0">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dirty="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dirty="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dirty="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dirty="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dirty="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dirty="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dirty="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solidFill>
                            <a:schemeClr val="bg1"/>
                          </a:solidFill>
                        </a:rPr>
                        <a:t>回避</a:t>
                      </a:r>
                      <a:r>
                        <a:rPr lang="en-US" altLang="zh-CN" dirty="0">
                          <a:solidFill>
                            <a:schemeClr val="bg1"/>
                          </a:solidFill>
                        </a:rPr>
                        <a:t>/</a:t>
                      </a:r>
                      <a:r>
                        <a:rPr lang="zh-CN" altLang="en-US" dirty="0">
                          <a:solidFill>
                            <a:schemeClr val="bg1"/>
                          </a:solidFill>
                        </a:rPr>
                        <a:t>撤退 </a:t>
                      </a:r>
                      <a:r>
                        <a:rPr lang="en-US" dirty="0">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dirty="0">
                          <a:solidFill>
                            <a:schemeClr val="bg1"/>
                          </a:solidFill>
                        </a:rPr>
                        <a:t>安抚</a:t>
                      </a:r>
                      <a:r>
                        <a:rPr lang="en-US" altLang="zh-CN" dirty="0">
                          <a:solidFill>
                            <a:schemeClr val="bg1"/>
                          </a:solidFill>
                        </a:rPr>
                        <a:t>/</a:t>
                      </a:r>
                      <a:r>
                        <a:rPr lang="zh-CN" altLang="en-US" dirty="0">
                          <a:solidFill>
                            <a:schemeClr val="bg1"/>
                          </a:solidFill>
                        </a:rPr>
                        <a:t>迁就 </a:t>
                      </a:r>
                      <a:r>
                        <a:rPr lang="en-US" dirty="0">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dirty="0">
                          <a:solidFill>
                            <a:schemeClr val="bg1"/>
                          </a:solidFill>
                        </a:rPr>
                        <a:t>妥协 </a:t>
                      </a:r>
                      <a:r>
                        <a:rPr lang="en-US" dirty="0">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dirty="0">
                          <a:solidFill>
                            <a:schemeClr val="bg1"/>
                          </a:solidFill>
                        </a:rPr>
                        <a:t>强制 </a:t>
                      </a:r>
                      <a:r>
                        <a:rPr lang="en-US" dirty="0">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dirty="0">
                          <a:solidFill>
                            <a:schemeClr val="bg1"/>
                          </a:solidFill>
                        </a:rPr>
                        <a:t>合作</a:t>
                      </a:r>
                      <a:r>
                        <a:rPr lang="en-US" altLang="zh-CN" dirty="0">
                          <a:solidFill>
                            <a:schemeClr val="bg1"/>
                          </a:solidFill>
                        </a:rPr>
                        <a:t>/</a:t>
                      </a:r>
                      <a:r>
                        <a:rPr lang="zh-CN" altLang="en-US" dirty="0">
                          <a:solidFill>
                            <a:schemeClr val="bg1"/>
                          </a:solidFill>
                        </a:rPr>
                        <a:t>解决问题 </a:t>
                      </a:r>
                      <a:r>
                        <a:rPr lang="en-US" dirty="0">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生理需求（</a:t>
                      </a:r>
                      <a:r>
                        <a:rPr lang="en-US" altLang="zh-CN" dirty="0">
                          <a:solidFill>
                            <a:schemeClr val="bg1"/>
                          </a:solidFill>
                        </a:rPr>
                        <a:t>Physiological</a:t>
                      </a:r>
                      <a:r>
                        <a:rPr lang="en-US" dirty="0">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安全需求（</a:t>
                      </a:r>
                      <a:r>
                        <a:rPr lang="en-US" altLang="zh-CN" dirty="0">
                          <a:solidFill>
                            <a:schemeClr val="bg1"/>
                          </a:solidFill>
                        </a:rPr>
                        <a:t>Safety</a:t>
                      </a:r>
                      <a:r>
                        <a:rPr lang="en-US" dirty="0">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社会交往需求（</a:t>
                      </a:r>
                      <a:r>
                        <a:rPr lang="en-US" dirty="0">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自尊需求（</a:t>
                      </a:r>
                      <a:r>
                        <a:rPr lang="en-US" dirty="0">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自我实现（</a:t>
                      </a:r>
                      <a:r>
                        <a:rPr lang="en-US" dirty="0">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t>20</a:t>
            </a:r>
            <a:r>
              <a:rPr lang="zh-CN" altLang="en-US" dirty="0"/>
              <a:t>世纪</a:t>
            </a:r>
            <a:r>
              <a:rPr lang="en-US" altLang="zh-CN" dirty="0"/>
              <a:t>50</a:t>
            </a:r>
            <a:r>
              <a:rPr lang="zh-CN" altLang="en-US" dirty="0"/>
              <a:t>年代末提出的一种关于工作动机和员工满意度的重要理论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dirty="0"/>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dirty="0"/>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dirty="0"/>
              <a:t>Communication Mgt</a:t>
            </a:r>
            <a:endParaRPr lang="zh-CN" altLang="en-US" dirty="0"/>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dirty="0"/>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dirty="0"/>
              <a:t>Stakeholders Mgt</a:t>
            </a:r>
            <a:endParaRPr lang="zh-CN" altLang="en-US" dirty="0"/>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dirty="0">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dirty="0">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dirty="0">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dirty="0"/>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dirty="0"/>
              <a:t>Salience Model</a:t>
            </a:r>
            <a:endParaRPr lang="zh-CN" altLang="en-US" dirty="0"/>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solidFill>
                            <a:schemeClr val="bg1"/>
                          </a:solidFill>
                        </a:rPr>
                        <a:t>合法性 </a:t>
                      </a:r>
                      <a:r>
                        <a:rPr lang="en-US" sz="1600" dirty="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solidFill>
                            <a:schemeClr val="bg1"/>
                          </a:solidFill>
                        </a:rPr>
                        <a:t>紧迫性 </a:t>
                      </a:r>
                      <a:r>
                        <a:rPr lang="en-US" sz="1600" dirty="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dirty="0"/>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dirty="0"/>
              <a:t>Stakeholders</a:t>
            </a:r>
            <a:endParaRPr lang="zh-CN" altLang="en-US" dirty="0"/>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solidFill>
                            <a:schemeClr val="bg1"/>
                          </a:solidFill>
                        </a:rPr>
                        <a:t>权力 </a:t>
                      </a:r>
                      <a:r>
                        <a:rPr lang="en-US"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利益 </a:t>
                      </a:r>
                      <a:r>
                        <a:rPr lang="en-US"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dirty="0">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重点管理 </a:t>
                      </a:r>
                      <a:r>
                        <a:rPr lang="en-US" dirty="0">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监督 </a:t>
                      </a:r>
                      <a:r>
                        <a:rPr lang="en-US" dirty="0">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随时告知 </a:t>
                      </a:r>
                      <a:r>
                        <a:rPr lang="en-US" dirty="0">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dirty="0">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令其满意 </a:t>
                      </a:r>
                      <a:r>
                        <a:rPr lang="en-US" dirty="0">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dirty="0">
                          <a:solidFill>
                            <a:schemeClr val="bg1"/>
                          </a:solidFill>
                        </a:rPr>
                        <a:t>Strengths（</a:t>
                      </a:r>
                      <a:r>
                        <a:rPr lang="zh-CN" altLang="en-US" dirty="0">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solidFill>
                            <a:schemeClr val="bg1"/>
                          </a:solidFill>
                        </a:rPr>
                        <a:t>总价合同</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dirty="0">
                          <a:solidFill>
                            <a:schemeClr val="bg1"/>
                          </a:solidFill>
                        </a:rPr>
                        <a:t>成本补偿合同</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dirty="0">
                          <a:solidFill>
                            <a:schemeClr val="bg1"/>
                          </a:solidFill>
                        </a:rPr>
                        <a:t>工料合同</a:t>
                      </a:r>
                      <a:endParaRPr 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dirty="0">
                          <a:solidFill>
                            <a:schemeClr val="bg1"/>
                          </a:solidFill>
                        </a:rPr>
                        <a:t>采购单合同 </a:t>
                      </a:r>
                      <a:r>
                        <a:rPr lang="en-US" dirty="0">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dirty="0">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dirty="0"/>
              <a:t>Section 11 Project Execution &amp; Control</a:t>
            </a:r>
            <a:endParaRPr lang="zh-CN" altLang="en-US" dirty="0"/>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dirty="0"/>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dirty="0"/>
              <a:t>Triple Constraint Diagram</a:t>
            </a:r>
            <a:endParaRPr lang="zh-CN" altLang="en-US" dirty="0"/>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solidFill>
                  <a:schemeClr val="bg1"/>
                </a:solidFill>
              </a:rPr>
              <a:t>The tasks</a:t>
            </a:r>
          </a:p>
          <a:p>
            <a:r>
              <a:rPr lang="en-US" altLang="zh-CN" dirty="0">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solidFill>
                  <a:schemeClr val="bg1"/>
                </a:solidFill>
              </a:rPr>
              <a:t>The schedule</a:t>
            </a:r>
          </a:p>
          <a:p>
            <a:r>
              <a:rPr lang="en-US" altLang="zh-CN" dirty="0">
                <a:solidFill>
                  <a:schemeClr val="bg1"/>
                </a:solidFill>
              </a:rPr>
              <a:t>for the project to reach completion</a:t>
            </a:r>
            <a:endParaRPr lang="zh-CN" altLang="en-US" dirty="0">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dirty="0"/>
              <a:t>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dirty="0"/>
              <a:t>Construction project Triple Constraint</a:t>
            </a:r>
            <a:endParaRPr lang="zh-CN" altLang="en-US" dirty="0"/>
          </a:p>
        </p:txBody>
      </p:sp>
    </p:spTree>
    <p:extLst>
      <p:ext uri="{BB962C8B-B14F-4D97-AF65-F5344CB8AC3E}">
        <p14:creationId xmlns:p14="http://schemas.microsoft.com/office/powerpoint/2010/main" val="10099112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dirty="0"/>
              <a:t>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dirty="0"/>
              <a:t>IT project Triple Constraint</a:t>
            </a:r>
            <a:endParaRPr lang="zh-CN" altLang="en-US" dirty="0"/>
          </a:p>
        </p:txBody>
      </p:sp>
    </p:spTree>
    <p:extLst>
      <p:ext uri="{BB962C8B-B14F-4D97-AF65-F5344CB8AC3E}">
        <p14:creationId xmlns:p14="http://schemas.microsoft.com/office/powerpoint/2010/main" val="33897981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dirty="0"/>
              <a:t>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dirty="0"/>
              <a:t>Manufacturing Triple Constraint</a:t>
            </a:r>
            <a:endParaRPr lang="zh-CN" altLang="en-US" dirty="0"/>
          </a:p>
        </p:txBody>
      </p:sp>
    </p:spTree>
    <p:extLst>
      <p:ext uri="{BB962C8B-B14F-4D97-AF65-F5344CB8AC3E}">
        <p14:creationId xmlns:p14="http://schemas.microsoft.com/office/powerpoint/2010/main" val="364262728"/>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dirty="0"/>
              <a:t>合同结束</a:t>
            </a:r>
            <a:endParaRPr lang="en-US" altLang="zh-CN" dirty="0"/>
          </a:p>
          <a:p>
            <a:r>
              <a:rPr lang="zh-CN" altLang="en-US" dirty="0"/>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dirty="0"/>
              <a:t>管理收尾</a:t>
            </a:r>
            <a:r>
              <a:rPr lang="en-US" altLang="zh-CN" dirty="0"/>
              <a:t>/</a:t>
            </a:r>
            <a:r>
              <a:rPr lang="zh-CN" altLang="en-US" dirty="0"/>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24213</TotalTime>
  <Words>23856</Words>
  <Application>Microsoft Office PowerPoint</Application>
  <PresentationFormat>宽屏</PresentationFormat>
  <Paragraphs>3968</Paragraphs>
  <Slides>275</Slides>
  <Notes>104</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275</vt:i4>
      </vt:variant>
    </vt:vector>
  </HeadingPairs>
  <TitlesOfParts>
    <vt:vector size="284" baseType="lpstr">
      <vt:lpstr>Montserrat</vt:lpstr>
      <vt:lpstr>Cambria Math</vt:lpstr>
      <vt:lpstr>Wingdings</vt:lpstr>
      <vt:lpstr>Courier New</vt:lpstr>
      <vt:lpstr>微软雅黑 Light</vt:lpstr>
      <vt:lpstr>等线</vt:lpstr>
      <vt:lpstr>Roboto Mono</vt:lpstr>
      <vt:lpstr>Arial</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 传统项目需求分析方法</vt:lpstr>
      <vt:lpstr>3.1 影响地图 </vt:lpstr>
      <vt:lpstr>PowerPoint 演示文稿</vt:lpstr>
      <vt:lpstr>PowerPoint 演示文稿</vt:lpstr>
      <vt:lpstr>PowerPoint 演示文稿</vt:lpstr>
      <vt:lpstr>3.2 需求池</vt:lpstr>
      <vt:lpstr>3.3 用户故事地图 </vt:lpstr>
      <vt:lpstr>3.3 用户故事地图 </vt:lpstr>
      <vt:lpstr>PowerPoint 演示文稿</vt:lpstr>
      <vt:lpstr>3.4 用户故事编写 </vt:lpstr>
      <vt:lpstr>PowerPoint 演示文稿</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4. 工作范围</vt:lpstr>
      <vt:lpstr>5. 任务分解</vt:lpstr>
      <vt:lpstr>5.1 任务分解原则</vt:lpstr>
      <vt:lpstr>5.2 任务分解形式</vt:lpstr>
      <vt:lpstr>5.3 任务分解方法</vt:lpstr>
      <vt:lpstr>5.4 任务分解建议</vt:lpstr>
      <vt:lpstr>6. 敏捷任务分解</vt:lpstr>
      <vt:lpstr>Epics</vt:lpstr>
      <vt:lpstr>PowerPoint 演示文稿</vt:lpstr>
      <vt:lpstr>PowerPoint 演示文稿</vt:lpstr>
      <vt:lpstr>PowerPoint 演示文稿</vt:lpstr>
      <vt:lpstr>PowerPoint 演示文稿</vt:lpstr>
      <vt:lpstr>杜邦分析法 </vt:lpstr>
      <vt:lpstr>软件项目成本计划</vt:lpstr>
      <vt:lpstr>PowerPoint 演示文稿</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1810</cp:revision>
  <dcterms:created xsi:type="dcterms:W3CDTF">2026-01-24T11:12:04Z</dcterms:created>
  <dcterms:modified xsi:type="dcterms:W3CDTF">2026-03-25T12:33:04Z</dcterms:modified>
</cp:coreProperties>
</file>