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32"/>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359" r:id="rId107"/>
    <p:sldId id="344" r:id="rId108"/>
    <p:sldId id="594" r:id="rId109"/>
    <p:sldId id="595" r:id="rId110"/>
    <p:sldId id="596" r:id="rId111"/>
    <p:sldId id="597" r:id="rId112"/>
    <p:sldId id="598" r:id="rId113"/>
    <p:sldId id="365" r:id="rId114"/>
    <p:sldId id="590" r:id="rId115"/>
    <p:sldId id="591" r:id="rId116"/>
    <p:sldId id="592" r:id="rId117"/>
    <p:sldId id="550" r:id="rId118"/>
    <p:sldId id="558" r:id="rId119"/>
    <p:sldId id="559" r:id="rId120"/>
    <p:sldId id="273" r:id="rId121"/>
    <p:sldId id="538" r:id="rId122"/>
    <p:sldId id="657" r:id="rId123"/>
    <p:sldId id="656" r:id="rId124"/>
    <p:sldId id="603" r:id="rId125"/>
    <p:sldId id="602" r:id="rId126"/>
    <p:sldId id="605" r:id="rId127"/>
    <p:sldId id="619" r:id="rId128"/>
    <p:sldId id="618" r:id="rId129"/>
    <p:sldId id="622" r:id="rId130"/>
    <p:sldId id="620" r:id="rId131"/>
    <p:sldId id="621" r:id="rId132"/>
    <p:sldId id="623" r:id="rId133"/>
    <p:sldId id="606" r:id="rId134"/>
    <p:sldId id="607" r:id="rId135"/>
    <p:sldId id="628" r:id="rId136"/>
    <p:sldId id="639" r:id="rId137"/>
    <p:sldId id="627" r:id="rId138"/>
    <p:sldId id="641" r:id="rId139"/>
    <p:sldId id="642" r:id="rId140"/>
    <p:sldId id="640" r:id="rId141"/>
    <p:sldId id="610" r:id="rId142"/>
    <p:sldId id="634" r:id="rId143"/>
    <p:sldId id="631" r:id="rId144"/>
    <p:sldId id="632" r:id="rId145"/>
    <p:sldId id="612" r:id="rId146"/>
    <p:sldId id="644" r:id="rId147"/>
    <p:sldId id="614" r:id="rId148"/>
    <p:sldId id="635" r:id="rId149"/>
    <p:sldId id="629" r:id="rId150"/>
    <p:sldId id="630" r:id="rId151"/>
    <p:sldId id="613" r:id="rId152"/>
    <p:sldId id="617" r:id="rId153"/>
    <p:sldId id="633" r:id="rId154"/>
    <p:sldId id="615" r:id="rId155"/>
    <p:sldId id="616" r:id="rId156"/>
    <p:sldId id="638" r:id="rId157"/>
    <p:sldId id="637" r:id="rId158"/>
    <p:sldId id="645" r:id="rId159"/>
    <p:sldId id="646" r:id="rId160"/>
    <p:sldId id="647" r:id="rId161"/>
    <p:sldId id="636" r:id="rId162"/>
    <p:sldId id="299" r:id="rId163"/>
    <p:sldId id="300" r:id="rId164"/>
    <p:sldId id="301" r:id="rId165"/>
    <p:sldId id="294" r:id="rId166"/>
    <p:sldId id="569" r:id="rId167"/>
    <p:sldId id="649" r:id="rId168"/>
    <p:sldId id="570" r:id="rId169"/>
    <p:sldId id="648" r:id="rId170"/>
    <p:sldId id="650" r:id="rId171"/>
    <p:sldId id="572" r:id="rId172"/>
    <p:sldId id="654" r:id="rId173"/>
    <p:sldId id="652" r:id="rId174"/>
    <p:sldId id="653" r:id="rId175"/>
    <p:sldId id="573" r:id="rId176"/>
    <p:sldId id="574" r:id="rId177"/>
    <p:sldId id="575" r:id="rId178"/>
    <p:sldId id="576" r:id="rId179"/>
    <p:sldId id="655" r:id="rId180"/>
    <p:sldId id="579" r:id="rId181"/>
    <p:sldId id="651" r:id="rId182"/>
    <p:sldId id="445" r:id="rId183"/>
    <p:sldId id="536" r:id="rId184"/>
    <p:sldId id="679" r:id="rId185"/>
    <p:sldId id="658" r:id="rId186"/>
    <p:sldId id="447" r:id="rId187"/>
    <p:sldId id="677" r:id="rId188"/>
    <p:sldId id="443" r:id="rId189"/>
    <p:sldId id="702" r:id="rId190"/>
    <p:sldId id="680" r:id="rId191"/>
    <p:sldId id="705" r:id="rId192"/>
    <p:sldId id="678" r:id="rId193"/>
    <p:sldId id="670" r:id="rId194"/>
    <p:sldId id="672" r:id="rId195"/>
    <p:sldId id="673" r:id="rId196"/>
    <p:sldId id="674" r:id="rId197"/>
    <p:sldId id="681" r:id="rId198"/>
    <p:sldId id="682" r:id="rId199"/>
    <p:sldId id="659" r:id="rId200"/>
    <p:sldId id="668" r:id="rId201"/>
    <p:sldId id="683" r:id="rId202"/>
    <p:sldId id="684" r:id="rId203"/>
    <p:sldId id="685" r:id="rId204"/>
    <p:sldId id="686" r:id="rId205"/>
    <p:sldId id="660" r:id="rId206"/>
    <p:sldId id="661" r:id="rId207"/>
    <p:sldId id="662" r:id="rId208"/>
    <p:sldId id="675" r:id="rId209"/>
    <p:sldId id="688" r:id="rId210"/>
    <p:sldId id="689" r:id="rId211"/>
    <p:sldId id="663" r:id="rId212"/>
    <p:sldId id="676" r:id="rId213"/>
    <p:sldId id="687" r:id="rId214"/>
    <p:sldId id="664" r:id="rId215"/>
    <p:sldId id="665" r:id="rId216"/>
    <p:sldId id="667" r:id="rId217"/>
    <p:sldId id="666" r:id="rId218"/>
    <p:sldId id="669" r:id="rId219"/>
    <p:sldId id="690" r:id="rId220"/>
    <p:sldId id="692" r:id="rId221"/>
    <p:sldId id="691" r:id="rId222"/>
    <p:sldId id="703" r:id="rId223"/>
    <p:sldId id="693" r:id="rId224"/>
    <p:sldId id="671" r:id="rId225"/>
    <p:sldId id="706" r:id="rId226"/>
    <p:sldId id="694" r:id="rId227"/>
    <p:sldId id="707" r:id="rId228"/>
    <p:sldId id="696" r:id="rId229"/>
    <p:sldId id="698" r:id="rId230"/>
    <p:sldId id="695" r:id="rId231"/>
    <p:sldId id="697" r:id="rId232"/>
    <p:sldId id="448" r:id="rId233"/>
    <p:sldId id="704" r:id="rId234"/>
    <p:sldId id="699" r:id="rId235"/>
    <p:sldId id="449" r:id="rId236"/>
    <p:sldId id="700" r:id="rId237"/>
    <p:sldId id="701" r:id="rId238"/>
    <p:sldId id="274" r:id="rId239"/>
    <p:sldId id="535" r:id="rId240"/>
    <p:sldId id="742" r:id="rId241"/>
    <p:sldId id="708" r:id="rId242"/>
    <p:sldId id="419" r:id="rId243"/>
    <p:sldId id="421" r:id="rId244"/>
    <p:sldId id="267" r:id="rId245"/>
    <p:sldId id="710" r:id="rId246"/>
    <p:sldId id="715" r:id="rId247"/>
    <p:sldId id="422" r:id="rId248"/>
    <p:sldId id="716" r:id="rId249"/>
    <p:sldId id="719" r:id="rId250"/>
    <p:sldId id="718" r:id="rId251"/>
    <p:sldId id="423" r:id="rId252"/>
    <p:sldId id="720" r:id="rId253"/>
    <p:sldId id="717" r:id="rId254"/>
    <p:sldId id="747" r:id="rId255"/>
    <p:sldId id="711" r:id="rId256"/>
    <p:sldId id="722" r:id="rId257"/>
    <p:sldId id="721" r:id="rId258"/>
    <p:sldId id="723" r:id="rId259"/>
    <p:sldId id="712" r:id="rId260"/>
    <p:sldId id="713" r:id="rId261"/>
    <p:sldId id="714" r:id="rId262"/>
    <p:sldId id="748" r:id="rId263"/>
    <p:sldId id="420" r:id="rId264"/>
    <p:sldId id="724" r:id="rId265"/>
    <p:sldId id="436" r:id="rId266"/>
    <p:sldId id="725" r:id="rId267"/>
    <p:sldId id="726" r:id="rId268"/>
    <p:sldId id="727" r:id="rId269"/>
    <p:sldId id="728" r:id="rId270"/>
    <p:sldId id="731" r:id="rId271"/>
    <p:sldId id="741" r:id="rId272"/>
    <p:sldId id="730" r:id="rId273"/>
    <p:sldId id="729" r:id="rId274"/>
    <p:sldId id="709" r:id="rId275"/>
    <p:sldId id="440" r:id="rId276"/>
    <p:sldId id="732" r:id="rId277"/>
    <p:sldId id="734" r:id="rId278"/>
    <p:sldId id="442" r:id="rId279"/>
    <p:sldId id="733" r:id="rId280"/>
    <p:sldId id="735" r:id="rId281"/>
    <p:sldId id="794" r:id="rId282"/>
    <p:sldId id="429" r:id="rId283"/>
    <p:sldId id="428" r:id="rId284"/>
    <p:sldId id="430" r:id="rId285"/>
    <p:sldId id="437" r:id="rId286"/>
    <p:sldId id="740" r:id="rId287"/>
    <p:sldId id="736" r:id="rId288"/>
    <p:sldId id="737" r:id="rId289"/>
    <p:sldId id="738" r:id="rId290"/>
    <p:sldId id="743" r:id="rId291"/>
    <p:sldId id="745" r:id="rId292"/>
    <p:sldId id="744" r:id="rId293"/>
    <p:sldId id="746" r:id="rId294"/>
    <p:sldId id="427" r:id="rId295"/>
    <p:sldId id="439" r:id="rId296"/>
    <p:sldId id="441" r:id="rId297"/>
    <p:sldId id="275" r:id="rId298"/>
    <p:sldId id="529" r:id="rId299"/>
    <p:sldId id="760" r:id="rId300"/>
    <p:sldId id="754" r:id="rId301"/>
    <p:sldId id="792" r:id="rId302"/>
    <p:sldId id="761" r:id="rId303"/>
    <p:sldId id="762" r:id="rId304"/>
    <p:sldId id="763" r:id="rId305"/>
    <p:sldId id="753" r:id="rId306"/>
    <p:sldId id="764" r:id="rId307"/>
    <p:sldId id="750" r:id="rId308"/>
    <p:sldId id="765" r:id="rId309"/>
    <p:sldId id="766" r:id="rId310"/>
    <p:sldId id="789" r:id="rId311"/>
    <p:sldId id="767" r:id="rId312"/>
    <p:sldId id="752" r:id="rId313"/>
    <p:sldId id="432" r:id="rId314"/>
    <p:sldId id="755" r:id="rId315"/>
    <p:sldId id="790" r:id="rId316"/>
    <p:sldId id="756" r:id="rId317"/>
    <p:sldId id="758" r:id="rId318"/>
    <p:sldId id="757" r:id="rId319"/>
    <p:sldId id="791" r:id="rId320"/>
    <p:sldId id="759" r:id="rId321"/>
    <p:sldId id="793" r:id="rId322"/>
    <p:sldId id="770" r:id="rId323"/>
    <p:sldId id="771" r:id="rId324"/>
    <p:sldId id="453" r:id="rId325"/>
    <p:sldId id="773" r:id="rId326"/>
    <p:sldId id="787" r:id="rId327"/>
    <p:sldId id="774" r:id="rId328"/>
    <p:sldId id="786" r:id="rId329"/>
    <p:sldId id="785" r:id="rId330"/>
    <p:sldId id="775" r:id="rId331"/>
    <p:sldId id="783" r:id="rId332"/>
    <p:sldId id="784" r:id="rId333"/>
    <p:sldId id="776" r:id="rId334"/>
    <p:sldId id="780" r:id="rId335"/>
    <p:sldId id="781" r:id="rId336"/>
    <p:sldId id="782" r:id="rId337"/>
    <p:sldId id="777" r:id="rId338"/>
    <p:sldId id="788" r:id="rId339"/>
    <p:sldId id="778" r:id="rId340"/>
    <p:sldId id="779" r:id="rId341"/>
    <p:sldId id="768" r:id="rId342"/>
    <p:sldId id="769" r:id="rId343"/>
    <p:sldId id="796" r:id="rId344"/>
    <p:sldId id="772" r:id="rId345"/>
    <p:sldId id="795" r:id="rId346"/>
    <p:sldId id="452" r:id="rId347"/>
    <p:sldId id="276" r:id="rId348"/>
    <p:sldId id="525" r:id="rId349"/>
    <p:sldId id="815" r:id="rId350"/>
    <p:sldId id="526" r:id="rId351"/>
    <p:sldId id="527" r:id="rId352"/>
    <p:sldId id="522" r:id="rId353"/>
    <p:sldId id="802" r:id="rId354"/>
    <p:sldId id="467" r:id="rId355"/>
    <p:sldId id="524" r:id="rId356"/>
    <p:sldId id="810" r:id="rId357"/>
    <p:sldId id="626" r:id="rId358"/>
    <p:sldId id="811" r:id="rId359"/>
    <p:sldId id="528" r:id="rId360"/>
    <p:sldId id="803" r:id="rId361"/>
    <p:sldId id="466" r:id="rId362"/>
    <p:sldId id="812" r:id="rId363"/>
    <p:sldId id="804" r:id="rId364"/>
    <p:sldId id="470" r:id="rId365"/>
    <p:sldId id="805" r:id="rId366"/>
    <p:sldId id="624" r:id="rId367"/>
    <p:sldId id="813" r:id="rId368"/>
    <p:sldId id="814" r:id="rId369"/>
    <p:sldId id="806" r:id="rId370"/>
    <p:sldId id="807" r:id="rId371"/>
    <p:sldId id="808" r:id="rId372"/>
    <p:sldId id="809" r:id="rId373"/>
    <p:sldId id="469" r:id="rId374"/>
    <p:sldId id="277" r:id="rId375"/>
    <p:sldId id="530" r:id="rId376"/>
    <p:sldId id="313" r:id="rId377"/>
    <p:sldId id="798" r:id="rId378"/>
    <p:sldId id="454" r:id="rId379"/>
    <p:sldId id="799" r:id="rId380"/>
    <p:sldId id="800" r:id="rId381"/>
    <p:sldId id="801" r:id="rId382"/>
    <p:sldId id="455" r:id="rId383"/>
    <p:sldId id="457" r:id="rId384"/>
    <p:sldId id="458" r:id="rId385"/>
    <p:sldId id="459" r:id="rId386"/>
    <p:sldId id="456" r:id="rId387"/>
    <p:sldId id="263" r:id="rId388"/>
    <p:sldId id="264" r:id="rId389"/>
    <p:sldId id="265" r:id="rId390"/>
    <p:sldId id="461" r:id="rId391"/>
    <p:sldId id="460" r:id="rId392"/>
    <p:sldId id="278" r:id="rId393"/>
    <p:sldId id="531" r:id="rId394"/>
    <p:sldId id="390" r:id="rId395"/>
    <p:sldId id="435" r:id="rId396"/>
    <p:sldId id="431" r:id="rId397"/>
    <p:sldId id="391" r:id="rId398"/>
    <p:sldId id="388" r:id="rId399"/>
    <p:sldId id="389" r:id="rId400"/>
    <p:sldId id="471" r:id="rId401"/>
    <p:sldId id="279" r:id="rId402"/>
    <p:sldId id="532" r:id="rId403"/>
    <p:sldId id="463" r:id="rId404"/>
    <p:sldId id="393" r:id="rId405"/>
    <p:sldId id="392" r:id="rId406"/>
    <p:sldId id="462" r:id="rId407"/>
    <p:sldId id="394" r:id="rId408"/>
    <p:sldId id="395" r:id="rId409"/>
    <p:sldId id="396" r:id="rId410"/>
    <p:sldId id="397" r:id="rId411"/>
    <p:sldId id="398" r:id="rId412"/>
    <p:sldId id="464" r:id="rId413"/>
    <p:sldId id="465" r:id="rId414"/>
    <p:sldId id="280" r:id="rId415"/>
    <p:sldId id="533" r:id="rId416"/>
    <p:sldId id="399" r:id="rId417"/>
    <p:sldId id="287" r:id="rId418"/>
    <p:sldId id="288" r:id="rId419"/>
    <p:sldId id="289" r:id="rId420"/>
    <p:sldId id="290" r:id="rId421"/>
    <p:sldId id="281" r:id="rId422"/>
    <p:sldId id="534" r:id="rId423"/>
    <p:sldId id="400" r:id="rId424"/>
    <p:sldId id="402" r:id="rId425"/>
    <p:sldId id="401" r:id="rId426"/>
    <p:sldId id="412" r:id="rId427"/>
    <p:sldId id="472" r:id="rId428"/>
    <p:sldId id="473" r:id="rId429"/>
    <p:sldId id="474" r:id="rId430"/>
    <p:sldId id="367" r:id="rId431"/>
  </p:sldIdLst>
  <p:sldSz cx="12192000" cy="6858000"/>
  <p:notesSz cx="6858000" cy="9144000"/>
  <p:embeddedFontLst>
    <p:embeddedFont>
      <p:font typeface="等线" panose="02010600030101010101" pitchFamily="2" charset="-122"/>
      <p:regular r:id="rId433"/>
      <p:bold r:id="rId434"/>
    </p:embeddedFont>
    <p:embeddedFont>
      <p:font typeface="Cambria Math" panose="02040503050406030204" pitchFamily="18" charset="0"/>
      <p:regular r:id="rId435"/>
    </p:embeddedFont>
    <p:embeddedFont>
      <p:font typeface="Montserrat" panose="00000500000000000000" pitchFamily="2" charset="0"/>
      <p:regular r:id="rId436"/>
    </p:embeddedFont>
    <p:embeddedFont>
      <p:font typeface="Roboto Mono" pitchFamily="2" charset="0"/>
      <p:regular r:id="rId437"/>
      <p:bold r:id="rId43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05F73"/>
    <a:srgbClr val="FDBCA8"/>
    <a:srgbClr val="6DB6E6"/>
    <a:srgbClr val="E4745C"/>
    <a:srgbClr val="2E75B6"/>
    <a:srgbClr val="6CCA94"/>
    <a:srgbClr val="001F3F"/>
    <a:srgbClr val="E7886E"/>
    <a:srgbClr val="F6BA4F"/>
    <a:srgbClr val="6D96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94675" autoAdjust="0"/>
  </p:normalViewPr>
  <p:slideViewPr>
    <p:cSldViewPr snapToGrid="0">
      <p:cViewPr varScale="1">
        <p:scale>
          <a:sx n="107" d="100"/>
          <a:sy n="107" d="100"/>
        </p:scale>
        <p:origin x="714" y="108"/>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font" Target="fonts/font1.fntdata"/><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font" Target="fonts/font3.fntdata"/><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font" Target="fonts/font5.fntdata"/><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commentAuthors" Target="commentAuthors.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430" Type="http://schemas.openxmlformats.org/officeDocument/2006/relationships/slide" Target="slides/slide429.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353" Type="http://schemas.openxmlformats.org/officeDocument/2006/relationships/slide" Target="slides/slide352.xml"/><Relationship Id="rId374" Type="http://schemas.openxmlformats.org/officeDocument/2006/relationships/slide" Target="slides/slide373.xml"/><Relationship Id="rId395" Type="http://schemas.openxmlformats.org/officeDocument/2006/relationships/slide" Target="slides/slide394.xml"/><Relationship Id="rId409" Type="http://schemas.openxmlformats.org/officeDocument/2006/relationships/slide" Target="slides/slide408.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420" Type="http://schemas.openxmlformats.org/officeDocument/2006/relationships/slide" Target="slides/slide419.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41" Type="http://schemas.openxmlformats.org/officeDocument/2006/relationships/viewProps" Target="viewProp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364" Type="http://schemas.openxmlformats.org/officeDocument/2006/relationships/slide" Target="slides/slide363.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385" Type="http://schemas.openxmlformats.org/officeDocument/2006/relationships/slide" Target="slides/slide384.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410" Type="http://schemas.openxmlformats.org/officeDocument/2006/relationships/slide" Target="slides/slide409.xml"/><Relationship Id="rId431" Type="http://schemas.openxmlformats.org/officeDocument/2006/relationships/slide" Target="slides/slide430.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slide" Target="slides/slide353.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75" Type="http://schemas.openxmlformats.org/officeDocument/2006/relationships/slide" Target="slides/slide374.xml"/><Relationship Id="rId396" Type="http://schemas.openxmlformats.org/officeDocument/2006/relationships/slide" Target="slides/slide395.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400" Type="http://schemas.openxmlformats.org/officeDocument/2006/relationships/slide" Target="slides/slide399.xml"/><Relationship Id="rId421" Type="http://schemas.openxmlformats.org/officeDocument/2006/relationships/slide" Target="slides/slide420.xml"/><Relationship Id="rId442" Type="http://schemas.openxmlformats.org/officeDocument/2006/relationships/theme" Target="theme/theme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365" Type="http://schemas.openxmlformats.org/officeDocument/2006/relationships/slide" Target="slides/slide364.xml"/><Relationship Id="rId386" Type="http://schemas.openxmlformats.org/officeDocument/2006/relationships/slide" Target="slides/slide385.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notesMaster" Target="notesMasters/notesMaster1.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tableStyles" Target="tableStyles.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font" Target="fonts/font2.fntdata"/><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font" Target="fonts/font4.fntdata"/><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251" Type="http://schemas.openxmlformats.org/officeDocument/2006/relationships/slide" Target="slides/slide250.xml"/><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font" Target="fonts/font6.fntdata"/><Relationship Id="rId242" Type="http://schemas.openxmlformats.org/officeDocument/2006/relationships/slide" Target="slides/slide241.xml"/><Relationship Id="rId284" Type="http://schemas.openxmlformats.org/officeDocument/2006/relationships/slide" Target="slides/slide283.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presProps" Target="presProps.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solidFill>
                <a:schemeClr val="bg1"/>
              </a:solidFill>
            </a:rPr>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a:solidFill>
                <a:schemeClr val="bg1"/>
              </a:solidFill>
            </a:rPr>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a:solidFill>
                <a:schemeClr val="bg1"/>
              </a:solidFill>
            </a:rPr>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a:solidFill>
                <a:schemeClr val="bg1"/>
              </a:solidFill>
            </a:rPr>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a:solidFill>
                <a:schemeClr val="bg1"/>
              </a:solidFill>
            </a:rPr>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1731510" y="0"/>
          <a:ext cx="865755" cy="57717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solidFill>
                <a:schemeClr val="bg1"/>
              </a:solidFill>
            </a:rPr>
            <a:t>自我实现</a:t>
          </a:r>
        </a:p>
      </dsp:txBody>
      <dsp:txXfrm>
        <a:off x="1731510" y="0"/>
        <a:ext cx="865755" cy="577170"/>
      </dsp:txXfrm>
    </dsp:sp>
    <dsp:sp modelId="{2F299D70-5224-4C9C-9CB1-AFD882711B69}">
      <dsp:nvSpPr>
        <dsp:cNvPr id="0" name=""/>
        <dsp:cNvSpPr/>
      </dsp:nvSpPr>
      <dsp:spPr>
        <a:xfrm>
          <a:off x="1298632" y="577170"/>
          <a:ext cx="1731510" cy="57717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自尊</a:t>
          </a:r>
        </a:p>
      </dsp:txBody>
      <dsp:txXfrm>
        <a:off x="1601646" y="577170"/>
        <a:ext cx="1125481" cy="577170"/>
      </dsp:txXfrm>
    </dsp:sp>
    <dsp:sp modelId="{76D34559-A530-45C2-A0B6-720AD4C0207E}">
      <dsp:nvSpPr>
        <dsp:cNvPr id="0" name=""/>
        <dsp:cNvSpPr/>
      </dsp:nvSpPr>
      <dsp:spPr>
        <a:xfrm>
          <a:off x="865755" y="1154340"/>
          <a:ext cx="2597265" cy="57717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社会交往</a:t>
          </a:r>
        </a:p>
      </dsp:txBody>
      <dsp:txXfrm>
        <a:off x="1320276" y="1154340"/>
        <a:ext cx="1688222" cy="577170"/>
      </dsp:txXfrm>
    </dsp:sp>
    <dsp:sp modelId="{8F6F6EB1-74EE-4946-86A7-A5F9FCDABEE5}">
      <dsp:nvSpPr>
        <dsp:cNvPr id="0" name=""/>
        <dsp:cNvSpPr/>
      </dsp:nvSpPr>
      <dsp:spPr>
        <a:xfrm>
          <a:off x="432877" y="1731510"/>
          <a:ext cx="3463020" cy="57717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安全</a:t>
          </a:r>
        </a:p>
      </dsp:txBody>
      <dsp:txXfrm>
        <a:off x="1038905" y="1731510"/>
        <a:ext cx="2250963" cy="577170"/>
      </dsp:txXfrm>
    </dsp:sp>
    <dsp:sp modelId="{50DFD313-CB4A-4B94-8CDD-8D2917A17D7E}">
      <dsp:nvSpPr>
        <dsp:cNvPr id="0" name=""/>
        <dsp:cNvSpPr/>
      </dsp:nvSpPr>
      <dsp:spPr>
        <a:xfrm>
          <a:off x="0" y="2308680"/>
          <a:ext cx="4328775" cy="57717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生理</a:t>
          </a:r>
        </a:p>
      </dsp:txBody>
      <dsp:txXfrm>
        <a:off x="757535" y="2308680"/>
        <a:ext cx="2813703" cy="57717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a:latin typeface="Montserrat" panose="00000500000000000000" pitchFamily="2" charset="0"/>
              <a:ea typeface="微软雅黑 Light" panose="020B0502040204020203" pitchFamily="34" charset="-122"/>
            </a:rPr>
            <a:t>工料合同</a:t>
          </a:r>
          <a:r>
            <a:rPr lang="en-US" sz="2000" kern="1200" baseline="0">
              <a:latin typeface="Montserrat" panose="00000500000000000000" pitchFamily="2" charset="0"/>
              <a:ea typeface="微软雅黑 Light" panose="020B0502040204020203" pitchFamily="34" charset="-122"/>
            </a:rPr>
            <a:t> (T&amp;M)</a:t>
          </a:r>
          <a:endParaRPr lang="zh-CN" altLang="en-US" sz="2000" kern="1200" baseline="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2026/5/5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0.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6.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6.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59.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8.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84.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96.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4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As nouns the difference between housekeeper and steward is that housekeeper is one who </a:t>
            </a:r>
            <a:r>
              <a:rPr lang="en-US" altLang="zh-CN" b="1"/>
              <a:t>looks after </a:t>
            </a:r>
            <a:r>
              <a:rPr lang="en-US" altLang="zh-CN"/>
              <a:t>the home by herself; either as a wife or a hired servant </a:t>
            </a:r>
          </a:p>
          <a:p>
            <a:r>
              <a:rPr lang="en-US" altLang="zh-CN"/>
              <a:t>while steward is a person who </a:t>
            </a:r>
            <a:r>
              <a:rPr lang="en-US" altLang="zh-CN" b="1"/>
              <a:t>manages</a:t>
            </a:r>
            <a:r>
              <a:rPr lang="en-US" altLang="zh-CN"/>
              <a:t> the property or affairs for another entity.</a:t>
            </a:r>
          </a:p>
          <a:p>
            <a:r>
              <a:rPr lang="en-US" altLang="zh-CN"/>
              <a:t>Stewardship is about being </a:t>
            </a:r>
            <a:r>
              <a:rPr lang="en-US" altLang="zh-CN" b="1"/>
              <a:t>responsible</a:t>
            </a:r>
            <a:r>
              <a:rPr lang="en-US" altLang="zh-CN"/>
              <a:t> for the resources, processes, and trust that have been entrusted to us. </a:t>
            </a:r>
          </a:p>
          <a:p>
            <a:r>
              <a:rPr lang="en-US" altLang="zh-CN"/>
              <a:t>It involves acting with integrity, compliance, and respect for people and the environment."</a:t>
            </a:r>
          </a:p>
          <a:p>
            <a:r>
              <a:rPr lang="en-US" altLang="zh-CN"/>
              <a:t>"Project managers act as stewards by ensuring compliance with legal and regulatory requirements, safeguarding safety and security, and managing resources sustainably."</a:t>
            </a:r>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Developing</a:t>
            </a:r>
            <a:r>
              <a:rPr lang="zh-CN" altLang="en-US"/>
              <a:t>：有发展和变化的意思。不单单是制定</a:t>
            </a:r>
            <a:endParaRPr lang="en-US" altLang="zh-CN"/>
          </a:p>
          <a:p>
            <a:r>
              <a:rPr lang="zh-CN" altLang="en-US"/>
              <a:t>自己理解产品目标，转化为</a:t>
            </a:r>
            <a:r>
              <a:rPr lang="en-US" altLang="zh-CN"/>
              <a:t>backlog</a:t>
            </a:r>
            <a:r>
              <a:rPr lang="zh-CN" altLang="en-US"/>
              <a:t>并保证团队能理解</a:t>
            </a:r>
            <a:endParaRPr lang="en-US" altLang="zh-CN"/>
          </a:p>
          <a:p>
            <a:r>
              <a:rPr lang="en-US" altLang="zh-CN"/>
              <a:t>123</a:t>
            </a:r>
            <a:r>
              <a:rPr lang="zh-CN" altLang="en-US"/>
              <a:t>是动作，是因</a:t>
            </a:r>
            <a:endParaRPr lang="en-US" altLang="zh-CN"/>
          </a:p>
          <a:p>
            <a:r>
              <a:rPr lang="en-US" altLang="zh-CN"/>
              <a:t>4</a:t>
            </a:r>
            <a:r>
              <a:rPr lang="zh-CN" altLang="en-US"/>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140</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147</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151</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162</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165</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175</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185</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194</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196</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203</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210</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213</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219</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222</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224</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233</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239</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244</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247</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252</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258</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260</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264</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269</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271</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275</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277</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285</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288</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292</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294</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299</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300</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302</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303</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308</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313</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315</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317</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凤姐再美，没不过范冰冰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320</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321</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326</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331</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332</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337</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343</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345</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350</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351</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356</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359</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368</a:t>
            </a:fld>
            <a:endParaRPr lang="zh-CN" altLang="en-US"/>
          </a:p>
        </p:txBody>
      </p:sp>
    </p:spTree>
    <p:extLst>
      <p:ext uri="{BB962C8B-B14F-4D97-AF65-F5344CB8AC3E}">
        <p14:creationId xmlns:p14="http://schemas.microsoft.com/office/powerpoint/2010/main" val="1548661162"/>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376</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378</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384</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386</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396</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399</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406</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chemeClr val="accent5">
                    <a:lumMod val="75000"/>
                  </a:schemeClr>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chemeClr val="accent5">
                    <a:lumMod val="7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5998" y="360000"/>
            <a:ext cx="6375921" cy="429413"/>
          </a:xfrm>
        </p:spPr>
        <p:txBody>
          <a:bodyPr>
            <a:noAutofit/>
          </a:bodyPr>
          <a:lstStyle>
            <a:lvl1pPr>
              <a:defRPr>
                <a:solidFill>
                  <a:schemeClr val="accent5">
                    <a:lumMod val="75000"/>
                  </a:schemeClr>
                </a:solidFill>
              </a:defRPr>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a:solidFill>
                  <a:schemeClr val="accent5">
                    <a:lumMod val="75000"/>
                  </a:schemeClr>
                </a:solidFill>
              </a:defRPr>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a:solidFill>
                  <a:schemeClr val="bg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bg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accent5">
              <a:lumMod val="75000"/>
            </a:schemeClr>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347.xml"/><Relationship Id="rId13" Type="http://schemas.openxmlformats.org/officeDocument/2006/relationships/slide" Target="slide414.xml"/><Relationship Id="rId3" Type="http://schemas.openxmlformats.org/officeDocument/2006/relationships/slide" Target="slide41.xml"/><Relationship Id="rId7" Type="http://schemas.openxmlformats.org/officeDocument/2006/relationships/slide" Target="slide297.xml"/><Relationship Id="rId12" Type="http://schemas.openxmlformats.org/officeDocument/2006/relationships/slide" Target="slide401.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238.xml"/><Relationship Id="rId11" Type="http://schemas.openxmlformats.org/officeDocument/2006/relationships/slide" Target="slide421.xml"/><Relationship Id="rId5" Type="http://schemas.openxmlformats.org/officeDocument/2006/relationships/slide" Target="slide182.xml"/><Relationship Id="rId10" Type="http://schemas.openxmlformats.org/officeDocument/2006/relationships/slide" Target="slide392.xml"/><Relationship Id="rId4" Type="http://schemas.openxmlformats.org/officeDocument/2006/relationships/slide" Target="slide120.xml"/><Relationship Id="rId9" Type="http://schemas.openxmlformats.org/officeDocument/2006/relationships/slide" Target="slide37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5.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5.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5.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5.xml"/><Relationship Id="rId4" Type="http://schemas.openxmlformats.org/officeDocument/2006/relationships/image" Target="../media/image46.png"/></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5.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5.xml"/></Relationships>
</file>

<file path=ppt/slides/_rels/slide265.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5.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5.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5.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5.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5.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4.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4.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5.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5.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5.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5.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3.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4.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0.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5.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5.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5.xml"/><Relationship Id="rId4" Type="http://schemas.openxmlformats.org/officeDocument/2006/relationships/image" Target="../media/image75.png"/></Relationships>
</file>

<file path=ppt/slides/_rels/slide332.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5.xml"/><Relationship Id="rId4" Type="http://schemas.openxmlformats.org/officeDocument/2006/relationships/image" Target="../media/image76.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5.xml"/></Relationships>
</file>

<file path=ppt/slides/_rels/slide335.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5.xml"/></Relationships>
</file>

<file path=ppt/slides/_rels/slide336.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5.xml"/></Relationships>
</file>

<file path=ppt/slides/_rels/slide337.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5.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5.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9.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5.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351.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4.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5.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6.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4.xml"/></Relationships>
</file>

<file path=ppt/slides/_rels/slide357.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9.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8.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4.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0.xml.rels><?xml version="1.0" encoding="UTF-8" standalone="yes"?>
<Relationships xmlns="http://schemas.openxmlformats.org/package/2006/relationships"><Relationship Id="rId2" Type="http://schemas.openxmlformats.org/officeDocument/2006/relationships/image" Target="../media/image88.svg"/><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8.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4.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78.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6.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4.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6.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4.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3.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5.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6.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82.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7.xml.rels><?xml version="1.0" encoding="UTF-8" standalone="yes"?>
<Relationships xmlns="http://schemas.openxmlformats.org/package/2006/relationships"><Relationship Id="rId8" Type="http://schemas.openxmlformats.org/officeDocument/2006/relationships/image" Target="../media/image91.svg"/><Relationship Id="rId3" Type="http://schemas.openxmlformats.org/officeDocument/2006/relationships/diagramLayout" Target="../diagrams/layout13.xml"/><Relationship Id="rId7" Type="http://schemas.openxmlformats.org/officeDocument/2006/relationships/image" Target="../media/image90.sv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image" Target="../media/image92.svg"/></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a:t>特征 </a:t>
            </a:r>
            <a:r>
              <a:rPr lang="en-US" altLang="zh-CN"/>
              <a:t>Features</a:t>
            </a:r>
            <a:endParaRPr lang="zh-CN" altLang="en-US"/>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31" name="任意多边形: 形状 30">
            <a:extLst>
              <a:ext uri="{FF2B5EF4-FFF2-40B4-BE49-F238E27FC236}">
                <a16:creationId xmlns:a16="http://schemas.microsoft.com/office/drawing/2014/main" id="{B4F5BDBD-55FE-E8B3-4050-80C8A7BFC372}"/>
              </a:ext>
            </a:extLst>
          </p:cNvPr>
          <p:cNvSpPr/>
          <p:nvPr/>
        </p:nvSpPr>
        <p:spPr>
          <a:xfrm>
            <a:off x="3095987" y="1579935"/>
            <a:ext cx="946981" cy="4498577"/>
          </a:xfrm>
          <a:custGeom>
            <a:avLst/>
            <a:gdLst>
              <a:gd name="csX0" fmla="*/ 15295 w 946981"/>
              <a:gd name="csY0" fmla="*/ 0 h 4498577"/>
              <a:gd name="csX1" fmla="*/ 15295 w 946981"/>
              <a:gd name="csY1" fmla="*/ 4498577 h 4498577"/>
              <a:gd name="csX2" fmla="*/ 0 w 946981"/>
              <a:gd name="csY2" fmla="*/ 4483281 h 4498577"/>
              <a:gd name="csX3" fmla="*/ 0 w 946981"/>
              <a:gd name="csY3" fmla="*/ 15295 h 4498577"/>
            </a:gdLst>
            <a:ahLst/>
            <a:cxnLst>
              <a:cxn ang="0">
                <a:pos x="csX0" y="csY0"/>
              </a:cxn>
              <a:cxn ang="0">
                <a:pos x="csX1" y="csY1"/>
              </a:cxn>
              <a:cxn ang="0">
                <a:pos x="csX2" y="csY2"/>
              </a:cxn>
              <a:cxn ang="0">
                <a:pos x="csX3" y="csY3"/>
              </a:cxn>
            </a:cxnLst>
            <a:rect l="l" t="t" r="r" b="b"/>
            <a:pathLst>
              <a:path w="946981" h="4498577">
                <a:moveTo>
                  <a:pt x="15295" y="0"/>
                </a:moveTo>
                <a:cubicBezTo>
                  <a:pt x="1257543" y="1242248"/>
                  <a:pt x="1257543" y="3256329"/>
                  <a:pt x="15295" y="4498577"/>
                </a:cubicBezTo>
                <a:lnTo>
                  <a:pt x="0" y="4483281"/>
                </a:lnTo>
                <a:cubicBezTo>
                  <a:pt x="1233800" y="3249481"/>
                  <a:pt x="1233800" y="1249095"/>
                  <a:pt x="0" y="15295"/>
                </a:cubicBezTo>
                <a:close/>
              </a:path>
            </a:pathLst>
          </a:custGeom>
          <a:solidFill>
            <a:schemeClr val="bg1"/>
          </a:solidFill>
          <a:ln>
            <a:noFill/>
          </a:ln>
        </p:spPr>
        <p:style>
          <a:lnRef idx="2">
            <a:schemeClr val="accent6">
              <a:hueOff val="0"/>
              <a:satOff val="0"/>
              <a:lumOff val="0"/>
              <a:alphaOff val="0"/>
            </a:schemeClr>
          </a:lnRef>
          <a:fillRef idx="0">
            <a:schemeClr val="accent6">
              <a:tint val="90000"/>
              <a:hueOff val="0"/>
              <a:satOff val="0"/>
              <a:lumOff val="0"/>
              <a:alphaOff val="0"/>
            </a:schemeClr>
          </a:fillRef>
          <a:effectRef idx="0">
            <a:schemeClr val="accent6">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chemeClr val="accent2"/>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chemeClr val="accent2"/>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chemeClr val="accent2"/>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独特性 </a:t>
            </a:r>
            <a:r>
              <a:rPr lang="en-US" altLang="zh-CN">
                <a:solidFill>
                  <a:schemeClr val="tx1"/>
                </a:solidFill>
              </a:rPr>
              <a:t>Unique</a:t>
            </a:r>
            <a:endParaRPr lang="zh-CN" altLang="en-US">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chemeClr val="accent2"/>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资源约束性 </a:t>
            </a:r>
            <a:r>
              <a:rPr lang="en-US" altLang="zh-CN">
                <a:solidFill>
                  <a:schemeClr val="tx1"/>
                </a:solidFill>
              </a:rPr>
              <a:t>Constrain</a:t>
            </a:r>
            <a:endParaRPr lang="zh-CN" altLang="en-US">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chemeClr val="accent2"/>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chemeClr val="accent2"/>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092538486"/>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a:t>Item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dirty="0"/>
                        <a:t>English</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t>Chinese</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t>Description</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t>Relevant</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771136991"/>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3276461264"/>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a:solidFill>
            <a:schemeClr val="bg1"/>
          </a:solidFill>
        </p:spPr>
        <p:txBody>
          <a:bodyPr>
            <a:normAutofit/>
          </a:bodyPr>
          <a:lstStyle/>
          <a:p>
            <a:r>
              <a:rPr lang="en-US" altLang="zh-CN"/>
              <a:t>3.1.1 </a:t>
            </a:r>
            <a:r>
              <a:rPr lang="zh-CN" altLang="en-US"/>
              <a:t>五大标准过程组</a:t>
            </a:r>
          </a:p>
        </p:txBody>
      </p:sp>
      <p:sp>
        <p:nvSpPr>
          <p:cNvPr id="9" name="内容占位符 8">
            <a:extLst>
              <a:ext uri="{FF2B5EF4-FFF2-40B4-BE49-F238E27FC236}">
                <a16:creationId xmlns:a16="http://schemas.microsoft.com/office/drawing/2014/main" id="{0D432F06-BB11-9A68-A959-20B1EFD588EC}"/>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1466506327"/>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a:t>Description</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a:t>Process</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161092599"/>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2B858A74-FC20-DEDC-02BF-D9EF28BA025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B210171B-80B6-DD42-FFCC-BA8386595E1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a:t>项目在实现预期成果和价值方面的整体表现 </a:t>
            </a:r>
            <a:r>
              <a:rPr lang="en-US" altLang="zh-CN"/>
              <a:t>Performance</a:t>
            </a:r>
          </a:p>
          <a:p>
            <a:r>
              <a:rPr lang="zh-CN" altLang="en-US"/>
              <a:t>一组相互关联的项目活动，对于有效交付项目成果至关重要</a:t>
            </a:r>
            <a:endParaRPr lang="en-US" altLang="zh-CN"/>
          </a:p>
          <a:p>
            <a:r>
              <a:rPr lang="zh-CN" altLang="en-US"/>
              <a:t>同时发生、动态交织、需要持续关注</a:t>
            </a:r>
          </a:p>
          <a:p>
            <a:endParaRPr lang="en-US" altLang="zh-CN"/>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402176749"/>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400"/>
                        <a:t>Description</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1" name="内容占位符 10">
            <a:extLst>
              <a:ext uri="{FF2B5EF4-FFF2-40B4-BE49-F238E27FC236}">
                <a16:creationId xmlns:a16="http://schemas.microsoft.com/office/drawing/2014/main" id="{422A26C3-BC96-7479-A99E-B22282039C8D}"/>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6" name="文本占位符 5">
            <a:extLst>
              <a:ext uri="{FF2B5EF4-FFF2-40B4-BE49-F238E27FC236}">
                <a16:creationId xmlns:a16="http://schemas.microsoft.com/office/drawing/2014/main" id="{80F25E1D-A044-CC9C-93C7-886FD0AA210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2793857601"/>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a:t>Char</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400"/>
                        <a:t>English</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400"/>
                        <a:t>Chinese</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400"/>
                        <a:t>Description</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1" name="内容占位符 10">
            <a:extLst>
              <a:ext uri="{FF2B5EF4-FFF2-40B4-BE49-F238E27FC236}">
                <a16:creationId xmlns:a16="http://schemas.microsoft.com/office/drawing/2014/main" id="{C5A1D466-D586-FF84-3083-6FA5B2EF1421}"/>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899785762"/>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t>Values</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t>Description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4087705377"/>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fontAlgn="ctr" latinLnBrk="0">
                        <a:lnSpc>
                          <a:spcPct val="100000"/>
                        </a:lnSpc>
                        <a:buNone/>
                      </a:pPr>
                      <a:r>
                        <a:rPr lang="en-US" sz="1400" dirty="0"/>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fontAlgn="ctr" latinLnBrk="0">
                        <a:lnSpc>
                          <a:spcPct val="100000"/>
                        </a:lnSpc>
                        <a:buNone/>
                      </a:pPr>
                      <a:r>
                        <a:rPr lang="en-US" altLang="zh-CN" sz="1400" dirty="0"/>
                        <a:t>Chinese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fontAlgn="ctr" latinLnBrk="0">
                        <a:lnSpc>
                          <a:spcPct val="100000"/>
                        </a:lnSpc>
                        <a:buNone/>
                      </a:pPr>
                      <a:r>
                        <a:rPr lang="en-US" sz="1400" dirty="0"/>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2941877860"/>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fontAlgn="ctr" latinLnBrk="0">
                        <a:lnSpc>
                          <a:spcPct val="100000"/>
                        </a:lnSpc>
                        <a:buNone/>
                      </a:pPr>
                      <a:r>
                        <a:rPr lang="en-US" sz="1400" dirty="0"/>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fontAlgn="ctr" latinLnBrk="0">
                        <a:lnSpc>
                          <a:spcPct val="100000"/>
                        </a:lnSpc>
                        <a:buNone/>
                      </a:pPr>
                      <a:r>
                        <a:rPr lang="en-US" altLang="zh-CN" sz="1400" dirty="0"/>
                        <a:t>Chinese </a:t>
                      </a:r>
                      <a:endParaRPr lang="zh-CN" alt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fontAlgn="ctr" latinLnBrk="0">
                        <a:lnSpc>
                          <a:spcPct val="100000"/>
                        </a:lnSpc>
                        <a:buNone/>
                      </a:pPr>
                      <a:r>
                        <a:rPr lang="en-US" sz="1400" dirty="0"/>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700900518"/>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zh-CN" altLang="en-US" sz="1600" dirty="0"/>
                        <a:t>敏捷 </a:t>
                      </a:r>
                      <a:r>
                        <a:rPr lang="en-US" altLang="zh-CN" sz="1600" dirty="0"/>
                        <a:t>12 </a:t>
                      </a:r>
                      <a:r>
                        <a:rPr lang="zh-CN" altLang="en-US" sz="1600" dirty="0"/>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sz="1600" dirty="0"/>
                        <a:t>PMBOK 7 </a:t>
                      </a:r>
                      <a:r>
                        <a:rPr lang="zh-CN" altLang="en-US" sz="1600" dirty="0"/>
                        <a:t>的 </a:t>
                      </a:r>
                      <a:r>
                        <a:rPr lang="en-US" altLang="zh-CN" sz="1600" dirty="0"/>
                        <a:t>12 </a:t>
                      </a:r>
                      <a:r>
                        <a:rPr lang="zh-CN" altLang="en-US" sz="1600" dirty="0"/>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1184009309"/>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a:t>t</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a:t>Input</a:t>
                      </a:r>
                      <a:r>
                        <a:rPr lang="zh-CN" altLang="en-US" sz="1400"/>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a:t>Output</a:t>
                      </a:r>
                      <a:r>
                        <a:rPr lang="zh-CN" altLang="en-US" sz="1400"/>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a:t>Input-Output</a:t>
                      </a:r>
                      <a:r>
                        <a:rPr lang="zh-CN" altLang="en-US" sz="1400"/>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err="1"/>
                        <a:t>NPVt</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929549432"/>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a:t>t</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a:t>Input</a:t>
                      </a:r>
                      <a:r>
                        <a:rPr lang="zh-CN" altLang="en-US" sz="1400"/>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dirty="0"/>
                        <a:t>Output</a:t>
                      </a:r>
                      <a:r>
                        <a:rPr lang="zh-CN" altLang="en-US" sz="1400" dirty="0"/>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a:t>Input-Output</a:t>
                      </a:r>
                      <a:r>
                        <a:rPr lang="zh-CN" altLang="en-US" sz="1400"/>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400" err="1"/>
                        <a:t>NPVt</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21" name="内容占位符 20">
            <a:extLst>
              <a:ext uri="{FF2B5EF4-FFF2-40B4-BE49-F238E27FC236}">
                <a16:creationId xmlns:a16="http://schemas.microsoft.com/office/drawing/2014/main" id="{779B95AC-2B68-358B-E250-04F9AEC3000A}"/>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1" name="内容占位符 10">
            <a:extLst>
              <a:ext uri="{FF2B5EF4-FFF2-40B4-BE49-F238E27FC236}">
                <a16:creationId xmlns:a16="http://schemas.microsoft.com/office/drawing/2014/main" id="{45B7E7ED-BAB9-1C13-D7CD-F2BF2ED0F924}"/>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7" name="矩形 36">
            <a:extLst>
              <a:ext uri="{FF2B5EF4-FFF2-40B4-BE49-F238E27FC236}">
                <a16:creationId xmlns:a16="http://schemas.microsoft.com/office/drawing/2014/main" id="{86C7E55C-C8D4-2E19-30EF-1EA4579E41BC}"/>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A0B2C0AD-E9A6-79E2-7980-075E6DBD287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F014A96A-A9D0-4776-1A41-DA034288CC6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0204B04F-E7A3-123B-E130-991F43B2B8D4}"/>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5984668C-D22C-6FAE-37E0-4881118DE810}"/>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6122B9FD-FEF2-8C1E-64FD-B94972F7B240}"/>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A176277-64EE-A302-E01D-41FAD753501C}"/>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880E67-CC99-E37D-316C-13D9CC8E6A50}"/>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76E78001-A0B5-66B7-2104-4E8AD6CA4884}"/>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9DFF6207-8A4A-A3A1-FA3B-06D12703F828}"/>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877C52CE-8C13-8BFE-86C5-565E8278E899}"/>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2375D9C5-3B0A-D45A-4452-67B579EB97A0}"/>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DC3B10AE-A4DB-A059-D08C-B4DCCBDCBB59}"/>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7D0D6402-8F44-37F2-9B89-BF43F3C9DBB7}"/>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7" name="矩形 36">
            <a:extLst>
              <a:ext uri="{FF2B5EF4-FFF2-40B4-BE49-F238E27FC236}">
                <a16:creationId xmlns:a16="http://schemas.microsoft.com/office/drawing/2014/main" id="{9E0E7F3A-8AB7-09D8-9CDE-F5B8620BB2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437C986-D531-5575-DFD7-214384B6775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99D67175-ED8A-7CFB-9B4D-78F30F2BE8AF}"/>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88ACF7ED-045E-15F2-EE94-211B3DE8964D}"/>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968242A0-BBAD-ED1C-7853-8458C1C52EF5}"/>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73364705-7DB5-F6A6-8975-7BCB27BD6D4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E92EF0A-B00B-4F1A-F28D-1315FE89CC4A}"/>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F08A8B5E-AE39-64E9-51B1-1C9010517F1E}"/>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E53176CD-5248-6B33-FDE8-CF95533D46C9}"/>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89965388-E1DD-F61D-1B76-102B3702504B}"/>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B17C646A-233F-E47F-15D5-05E8CF025481}"/>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9C2AA7FB-41CA-E9BE-DAEA-903F0789CD9F}"/>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0A4FC6E7-24B2-4B25-5E87-B67B47242C04}"/>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8BEDACC2-765A-066A-CFB2-47BEA34869B1}"/>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7" name="矩形 36">
            <a:extLst>
              <a:ext uri="{FF2B5EF4-FFF2-40B4-BE49-F238E27FC236}">
                <a16:creationId xmlns:a16="http://schemas.microsoft.com/office/drawing/2014/main" id="{06D54BE6-FC2D-DB41-BF2E-6BF50CF7EF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CC78747-30DC-BCB2-B38A-0EF28A8D4325}"/>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CFF47561-F270-A25E-4360-3F582DCACF1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6393CB74-749A-A030-875A-01ADEA04AAAB}"/>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EDB5DB7D-E6FA-C19D-A21E-433BB046C172}"/>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5114A4F8-6D68-03E2-8EBA-E788776E4D5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847F4F5-5569-D90A-0E59-650E8F6195F1}"/>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206233-023E-5266-A3C3-DF1B5AC266FB}"/>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BC33C3BD-A907-1A84-3345-D602BEDDB151}"/>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3A97C8DE-8FB4-117A-14D1-2993EE6841A9}"/>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58A9D0B7-C642-F416-E468-8CDC39476EDA}"/>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83D82CC5-C8CB-5EB0-DBED-15DD95669AB6}"/>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A4768AB0-635E-63EF-66A3-4A5F8DE46758}"/>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17A2FF1B-5D6C-4550-3F53-8DDE875BB26A}"/>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687404078"/>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a:solidFill>
                            <a:schemeClr val="bg1"/>
                          </a:solidFill>
                        </a:rPr>
                        <a:t>Items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Sample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21874666"/>
                  </a:ext>
                </a:extLst>
              </a:tr>
              <a:tr h="126976">
                <a:tc>
                  <a:txBody>
                    <a:bodyPr/>
                    <a:lstStyle/>
                    <a:p>
                      <a:pPr algn="l">
                        <a:buNone/>
                      </a:pPr>
                      <a:r>
                        <a:rPr lang="zh-CN" altLang="en-US" sz="1600">
                          <a:solidFill>
                            <a:schemeClr val="bg1"/>
                          </a:solidFill>
                        </a:rPr>
                        <a:t>技术风险 </a:t>
                      </a:r>
                      <a:r>
                        <a:rPr lang="en-US" altLang="zh-CN" sz="1600">
                          <a:solidFill>
                            <a:schemeClr val="bg1"/>
                          </a:solidFill>
                        </a:rPr>
                        <a:t>Technology</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尚未在大规模数据下验证，过渡依赖热门</a:t>
                      </a:r>
                      <a:r>
                        <a:rPr lang="en-US" altLang="zh-CN" sz="1600">
                          <a:solidFill>
                            <a:schemeClr val="bg1"/>
                          </a:solidFill>
                        </a:rPr>
                        <a:t>AI</a:t>
                      </a:r>
                      <a:r>
                        <a:rPr lang="zh-CN" altLang="en-US" sz="1600">
                          <a:solidFill>
                            <a:schemeClr val="bg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a:solidFill>
                            <a:schemeClr val="bg1"/>
                          </a:solidFill>
                        </a:rPr>
                        <a:t>市场</a:t>
                      </a:r>
                      <a:r>
                        <a:rPr lang="en-US" altLang="zh-CN" sz="1600">
                          <a:solidFill>
                            <a:schemeClr val="bg1"/>
                          </a:solidFill>
                        </a:rPr>
                        <a:t>/</a:t>
                      </a:r>
                      <a:r>
                        <a:rPr lang="zh-CN" altLang="en-US" sz="1600">
                          <a:solidFill>
                            <a:schemeClr val="bg1"/>
                          </a:solidFill>
                        </a:rPr>
                        <a:t>商业风险 </a:t>
                      </a:r>
                      <a:r>
                        <a:rPr lang="en-US" altLang="zh-CN" sz="1600">
                          <a:solidFill>
                            <a:schemeClr val="bg1"/>
                          </a:solidFill>
                        </a:rPr>
                        <a:t>Market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竞争对手可能在项目上线前</a:t>
                      </a:r>
                      <a:r>
                        <a:rPr lang="en-US" altLang="zh-CN" sz="1600">
                          <a:solidFill>
                            <a:schemeClr val="bg1"/>
                          </a:solidFill>
                        </a:rPr>
                        <a:t>3</a:t>
                      </a:r>
                      <a:r>
                        <a:rPr lang="zh-CN" altLang="en-US" sz="1600">
                          <a:solidFill>
                            <a:schemeClr val="bg1"/>
                          </a:solidFill>
                        </a:rPr>
                        <a:t>个月发布同类低价产品，导致市场份额预期下降</a:t>
                      </a:r>
                      <a:r>
                        <a:rPr lang="en-US" altLang="zh-CN" sz="1600">
                          <a:solidFill>
                            <a:schemeClr val="bg1"/>
                          </a:solidFill>
                        </a:rPr>
                        <a:t>50%</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bg1"/>
                          </a:solidFill>
                        </a:rPr>
                        <a:t>资源风险 </a:t>
                      </a:r>
                      <a:r>
                        <a:rPr lang="en-US" altLang="zh-CN" sz="1600">
                          <a:solidFill>
                            <a:schemeClr val="bg1"/>
                          </a:solidFill>
                        </a:rPr>
                        <a:t>Resource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bg1"/>
                          </a:solidFill>
                        </a:rPr>
                        <a:t>合规</a:t>
                      </a:r>
                      <a:r>
                        <a:rPr lang="en-US" altLang="zh-CN" sz="1600">
                          <a:solidFill>
                            <a:schemeClr val="bg1"/>
                          </a:solidFill>
                        </a:rPr>
                        <a:t>/</a:t>
                      </a:r>
                      <a:r>
                        <a:rPr lang="zh-CN" altLang="en-US" sz="1600">
                          <a:solidFill>
                            <a:schemeClr val="bg1"/>
                          </a:solidFill>
                        </a:rPr>
                        <a:t>法律风险 </a:t>
                      </a:r>
                      <a:r>
                        <a:rPr lang="en-US" altLang="zh-CN" sz="1600">
                          <a:solidFill>
                            <a:schemeClr val="bg1"/>
                          </a:solidFill>
                        </a:rPr>
                        <a:t>Compliance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bg1"/>
                          </a:solidFill>
                        </a:rPr>
                        <a:t>外部依赖风险 </a:t>
                      </a:r>
                      <a:r>
                        <a:rPr lang="en-US" altLang="zh-CN" sz="1600">
                          <a:solidFill>
                            <a:schemeClr val="bg1"/>
                          </a:solidFill>
                        </a:rPr>
                        <a:t>Dependence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项目依赖第三方供应商的</a:t>
                      </a:r>
                      <a:r>
                        <a:rPr lang="en-US" altLang="zh-CN" sz="1600">
                          <a:solidFill>
                            <a:schemeClr val="bg1"/>
                          </a:solidFill>
                        </a:rPr>
                        <a:t>API</a:t>
                      </a:r>
                      <a:r>
                        <a:rPr lang="zh-CN" altLang="en-US" sz="1600">
                          <a:solidFill>
                            <a:schemeClr val="bg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3788224886"/>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55753585"/>
                  </a:ext>
                </a:extLst>
              </a:tr>
              <a:tr h="0">
                <a:tc>
                  <a:txBody>
                    <a:bodyPr/>
                    <a:lstStyle/>
                    <a:p>
                      <a:pPr algn="l">
                        <a:buNone/>
                      </a:pPr>
                      <a:r>
                        <a:rPr lang="zh-CN" altLang="en-US" sz="1600">
                          <a:solidFill>
                            <a:schemeClr val="bg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bg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医疗项目未在预计时间内获得药监局</a:t>
                      </a:r>
                      <a:r>
                        <a:rPr lang="en-US" altLang="zh-CN" sz="1600">
                          <a:solidFill>
                            <a:schemeClr val="bg1"/>
                          </a:solidFill>
                        </a:rPr>
                        <a:t>(NMPA)</a:t>
                      </a:r>
                      <a:r>
                        <a:rPr lang="zh-CN" altLang="en-US" sz="1600">
                          <a:solidFill>
                            <a:schemeClr val="bg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bg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bg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bg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bg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33105777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假设条件 </a:t>
                      </a:r>
                      <a:r>
                        <a:rPr lang="en-US" sz="160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制约因素 </a:t>
                      </a:r>
                      <a:r>
                        <a:rPr lang="en-US" sz="160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287775788"/>
                  </a:ext>
                </a:extLst>
              </a:tr>
              <a:tr h="0">
                <a:tc>
                  <a:txBody>
                    <a:bodyPr/>
                    <a:lstStyle/>
                    <a:p>
                      <a:pPr algn="l">
                        <a:buNone/>
                      </a:pPr>
                      <a:r>
                        <a:rPr lang="zh-CN" altLang="en-US" sz="1600">
                          <a:solidFill>
                            <a:schemeClr val="bg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a:solidFill>
                            <a:schemeClr val="bg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会变成风险 </a:t>
                      </a:r>
                      <a:r>
                        <a:rPr lang="en-US" altLang="zh-CN" sz="1600">
                          <a:solidFill>
                            <a:schemeClr val="bg1"/>
                          </a:solidFill>
                        </a:rPr>
                        <a:t>(</a:t>
                      </a:r>
                      <a:r>
                        <a:rPr lang="en-US" sz="1600">
                          <a:solidFill>
                            <a:schemeClr val="bg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bg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我们假定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我们必须</a:t>
                      </a:r>
                      <a:r>
                        <a:rPr lang="en-US" altLang="zh-CN" sz="1600">
                          <a:solidFill>
                            <a:schemeClr val="bg1"/>
                          </a:solidFill>
                        </a:rPr>
                        <a:t>...” / “</a:t>
                      </a:r>
                      <a:r>
                        <a:rPr lang="zh-CN" altLang="en-US" sz="1600">
                          <a:solidFill>
                            <a:schemeClr val="bg1"/>
                          </a:solidFill>
                        </a:rPr>
                        <a:t>不能超过</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bg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48538380"/>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19983">
                <a:tc>
                  <a:txBody>
                    <a:bodyPr/>
                    <a:lstStyle/>
                    <a:p>
                      <a:pPr>
                        <a:buNone/>
                      </a:pPr>
                      <a:r>
                        <a:rPr lang="zh-CN" altLang="en-US" sz="1600">
                          <a:solidFill>
                            <a:schemeClr val="bg1"/>
                          </a:solidFill>
                        </a:rPr>
                        <a:t>技术项目管理</a:t>
                      </a:r>
                      <a:endParaRPr lang="en-US" altLang="zh-CN" sz="1600">
                        <a:solidFill>
                          <a:schemeClr val="bg1"/>
                        </a:solidFill>
                      </a:endParaRPr>
                    </a:p>
                    <a:p>
                      <a:pPr>
                        <a:buNone/>
                      </a:pPr>
                      <a:r>
                        <a:rPr lang="en-US" altLang="zh-CN" sz="1600">
                          <a:solidFill>
                            <a:schemeClr val="bg1"/>
                          </a:solidFill>
                        </a:rPr>
                        <a:t>Technical Project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与项目、项目集和项目组合管理特定领域相关的知识、技能和行为</a:t>
                      </a:r>
                      <a:endParaRPr lang="en-US" altLang="zh-CN" sz="1600">
                        <a:solidFill>
                          <a:schemeClr val="bg1"/>
                        </a:solidFill>
                      </a:endParaRPr>
                    </a:p>
                    <a:p>
                      <a:pPr>
                        <a:buNone/>
                      </a:pPr>
                      <a:r>
                        <a:rPr lang="zh-CN" altLang="en-US" sz="1600">
                          <a:solidFill>
                            <a:schemeClr val="bg1"/>
                          </a:solidFill>
                        </a:rPr>
                        <a:t>即执行你岗位</a:t>
                      </a:r>
                      <a:r>
                        <a:rPr lang="en-US" altLang="zh-CN" sz="1600">
                          <a:solidFill>
                            <a:schemeClr val="bg1"/>
                          </a:solidFill>
                        </a:rPr>
                        <a:t>/</a:t>
                      </a:r>
                      <a:r>
                        <a:rPr lang="zh-CN" altLang="en-US" sz="1600">
                          <a:solidFill>
                            <a:schemeClr val="bg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a:solidFill>
                            <a:schemeClr val="bg1"/>
                          </a:solidFill>
                        </a:rPr>
                        <a:t>领导力</a:t>
                      </a:r>
                      <a:endParaRPr lang="en-US" altLang="zh-CN" sz="1600">
                        <a:solidFill>
                          <a:schemeClr val="bg1"/>
                        </a:solidFill>
                      </a:endParaRPr>
                    </a:p>
                    <a:p>
                      <a:pPr>
                        <a:buNone/>
                      </a:pPr>
                      <a:r>
                        <a:rPr lang="en-US" altLang="zh-CN" sz="1600">
                          <a:solidFill>
                            <a:schemeClr val="bg1"/>
                          </a:solidFill>
                        </a:rPr>
                        <a:t>Leadership</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涉及引导、激励和</a:t>
                      </a:r>
                      <a:r>
                        <a:rPr lang="en-US" altLang="zh-CN" sz="1600">
                          <a:solidFill>
                            <a:schemeClr val="bg1"/>
                          </a:solidFill>
                        </a:rPr>
                        <a:t>/</a:t>
                      </a:r>
                      <a:r>
                        <a:rPr lang="zh-CN" altLang="en-US" sz="1600">
                          <a:solidFill>
                            <a:schemeClr val="bg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bg1"/>
                          </a:solidFill>
                        </a:rPr>
                        <a:t>战略与商业管理</a:t>
                      </a:r>
                      <a:endParaRPr lang="en-US" altLang="zh-CN" sz="1600">
                        <a:solidFill>
                          <a:schemeClr val="bg1"/>
                        </a:solidFill>
                      </a:endParaRPr>
                    </a:p>
                    <a:p>
                      <a:pPr>
                        <a:buNone/>
                      </a:pPr>
                      <a:r>
                        <a:rPr lang="en-US" altLang="zh-CN" sz="1600">
                          <a:solidFill>
                            <a:schemeClr val="bg1"/>
                          </a:solidFill>
                        </a:rPr>
                        <a:t>Strategic and Business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对行业</a:t>
                      </a:r>
                      <a:r>
                        <a:rPr lang="en-US" altLang="zh-CN" sz="1600">
                          <a:solidFill>
                            <a:schemeClr val="bg1"/>
                          </a:solidFill>
                        </a:rPr>
                        <a:t>/</a:t>
                      </a:r>
                      <a:r>
                        <a:rPr lang="zh-CN" altLang="en-US" sz="1600">
                          <a:solidFill>
                            <a:schemeClr val="bg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3899758958"/>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59506">
                <a:tc>
                  <a:txBody>
                    <a:bodyPr/>
                    <a:lstStyle/>
                    <a:p>
                      <a:pPr>
                        <a:buNone/>
                      </a:pPr>
                      <a:r>
                        <a:rPr lang="zh-CN" altLang="en-US" sz="1600">
                          <a:solidFill>
                            <a:schemeClr val="bg1"/>
                          </a:solidFill>
                        </a:rPr>
                        <a:t>工作方式</a:t>
                      </a:r>
                      <a:endParaRPr lang="en-US" altLang="zh-CN" sz="1600">
                        <a:solidFill>
                          <a:schemeClr val="bg1"/>
                        </a:solidFill>
                      </a:endParaRPr>
                    </a:p>
                    <a:p>
                      <a:pPr>
                        <a:buNone/>
                      </a:pPr>
                      <a:r>
                        <a:rPr lang="en-US" altLang="zh-CN" sz="1600">
                          <a:solidFill>
                            <a:schemeClr val="bg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涵盖交付价值的方法、工具、技术和途径 </a:t>
                      </a:r>
                      <a:r>
                        <a:rPr lang="en-US" altLang="zh-CN" sz="1600">
                          <a:solidFill>
                            <a:schemeClr val="bg1"/>
                          </a:solidFill>
                        </a:rPr>
                        <a:t>- </a:t>
                      </a:r>
                      <a:r>
                        <a:rPr lang="zh-CN" altLang="en-US" sz="1600">
                          <a:solidFill>
                            <a:schemeClr val="bg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bg1"/>
                          </a:solidFill>
                        </a:rPr>
                        <a:t>能力技能</a:t>
                      </a:r>
                      <a:endParaRPr lang="en-US" altLang="zh-CN" sz="1600">
                        <a:solidFill>
                          <a:schemeClr val="bg1"/>
                        </a:solidFill>
                      </a:endParaRPr>
                    </a:p>
                    <a:p>
                      <a:pPr>
                        <a:buNone/>
                      </a:pPr>
                      <a:r>
                        <a:rPr lang="en-US" altLang="zh-CN" sz="1600">
                          <a:solidFill>
                            <a:schemeClr val="bg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指使个人能够影响、激励、协作和领导的人际能力</a:t>
                      </a:r>
                      <a:r>
                        <a:rPr lang="en-US" altLang="zh-CN" sz="1600">
                          <a:solidFill>
                            <a:schemeClr val="bg1"/>
                          </a:solidFill>
                        </a:rPr>
                        <a:t> - </a:t>
                      </a:r>
                      <a:r>
                        <a:rPr lang="zh-CN" altLang="en-US" sz="1600">
                          <a:solidFill>
                            <a:schemeClr val="bg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bg1"/>
                          </a:solidFill>
                        </a:rPr>
                        <a:t>商业洞察力</a:t>
                      </a:r>
                      <a:endParaRPr lang="en-US" altLang="zh-CN" sz="1600">
                        <a:solidFill>
                          <a:schemeClr val="bg1"/>
                        </a:solidFill>
                      </a:endParaRPr>
                    </a:p>
                    <a:p>
                      <a:pPr>
                        <a:buNone/>
                      </a:pPr>
                      <a:r>
                        <a:rPr lang="en-US" altLang="zh-CN" sz="1600">
                          <a:solidFill>
                            <a:schemeClr val="bg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1580499277"/>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Former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later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460554950"/>
                  </a:ext>
                </a:extLst>
              </a:tr>
              <a:tr h="323388">
                <a:tc>
                  <a:txBody>
                    <a:bodyPr/>
                    <a:lstStyle/>
                    <a:p>
                      <a:pPr>
                        <a:buNone/>
                      </a:pPr>
                      <a:r>
                        <a:rPr lang="zh-CN" altLang="en-US" sz="1600">
                          <a:solidFill>
                            <a:schemeClr val="bg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Technical Project Management</a:t>
                      </a:r>
                      <a:br>
                        <a:rPr lang="en-US" sz="1600">
                          <a:solidFill>
                            <a:schemeClr val="bg1"/>
                          </a:solidFill>
                        </a:rPr>
                      </a:br>
                      <a:r>
                        <a:rPr lang="zh-CN" altLang="en-US" sz="1600">
                          <a:solidFill>
                            <a:schemeClr val="bg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Ways of Working</a:t>
                      </a:r>
                      <a:br>
                        <a:rPr lang="en-US" sz="1600">
                          <a:solidFill>
                            <a:schemeClr val="bg1"/>
                          </a:solidFill>
                        </a:rPr>
                      </a:br>
                      <a:r>
                        <a:rPr lang="en-US" sz="1600" err="1">
                          <a:solidFill>
                            <a:schemeClr val="bg1"/>
                          </a:solidFill>
                        </a:rPr>
                        <a:t>工作方式</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bg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Leadership</a:t>
                      </a:r>
                    </a:p>
                    <a:p>
                      <a:pPr>
                        <a:buNone/>
                      </a:pPr>
                      <a:r>
                        <a:rPr lang="zh-CN" altLang="en-US" sz="1600">
                          <a:solidFill>
                            <a:schemeClr val="bg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Power Skills</a:t>
                      </a:r>
                      <a:br>
                        <a:rPr lang="en-US" sz="1600">
                          <a:solidFill>
                            <a:schemeClr val="bg1"/>
                          </a:solidFill>
                        </a:rPr>
                      </a:br>
                      <a:r>
                        <a:rPr lang="zh-CN" altLang="en-US" sz="1600">
                          <a:solidFill>
                            <a:schemeClr val="bg1"/>
                          </a:solidFill>
                        </a:rPr>
                        <a:t>权力技能 </a:t>
                      </a:r>
                      <a:r>
                        <a:rPr lang="en-US" altLang="zh-CN" sz="1600">
                          <a:solidFill>
                            <a:schemeClr val="bg1"/>
                          </a:solidFill>
                        </a:rPr>
                        <a:t>/ </a:t>
                      </a:r>
                      <a:r>
                        <a:rPr lang="zh-CN" altLang="en-US" sz="1600">
                          <a:solidFill>
                            <a:schemeClr val="bg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bg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Strategic and Business Management</a:t>
                      </a:r>
                      <a:br>
                        <a:rPr lang="en-US" sz="1600">
                          <a:solidFill>
                            <a:schemeClr val="bg1"/>
                          </a:solidFill>
                        </a:rPr>
                      </a:br>
                      <a:r>
                        <a:rPr lang="zh-CN" altLang="en-US" sz="1600">
                          <a:solidFill>
                            <a:schemeClr val="bg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Business Acumen</a:t>
                      </a:r>
                      <a:br>
                        <a:rPr lang="en-US" sz="1600">
                          <a:solidFill>
                            <a:schemeClr val="bg1"/>
                          </a:solidFill>
                        </a:rPr>
                      </a:br>
                      <a:r>
                        <a:rPr lang="zh-CN" altLang="en-US" sz="1600">
                          <a:solidFill>
                            <a:schemeClr val="bg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8" name="内容占位符 17">
            <a:extLst>
              <a:ext uri="{FF2B5EF4-FFF2-40B4-BE49-F238E27FC236}">
                <a16:creationId xmlns:a16="http://schemas.microsoft.com/office/drawing/2014/main" id="{98F4413D-643A-488B-5EBE-FFA2C7A0BD0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1807504263"/>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预测型 </a:t>
                      </a:r>
                      <a:r>
                        <a:rPr lang="en-US" sz="1600">
                          <a:solidFill>
                            <a:schemeClr val="bg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bg1"/>
                          </a:solidFill>
                        </a:rPr>
                        <a:t>迭代型 </a:t>
                      </a:r>
                      <a:r>
                        <a:rPr lang="en-US" sz="1600">
                          <a:solidFill>
                            <a:schemeClr val="bg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bg1"/>
                          </a:solidFill>
                        </a:rPr>
                        <a:t>增量型 </a:t>
                      </a:r>
                      <a:r>
                        <a:rPr lang="en-US" sz="1600">
                          <a:solidFill>
                            <a:schemeClr val="bg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bg1"/>
                          </a:solidFill>
                        </a:rPr>
                        <a:t>敏捷型 </a:t>
                      </a:r>
                      <a:r>
                        <a:rPr lang="en-US" sz="1600">
                          <a:solidFill>
                            <a:schemeClr val="bg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solidFill>
                    <a:schemeClr val="bg1"/>
                  </a:solidFill>
                </a:rPr>
                <a:t>Degree of Change</a:t>
              </a:r>
              <a:endParaRPr lang="zh-CN" altLang="en-US" sz="1200">
                <a:solidFill>
                  <a:schemeClr val="bg1"/>
                </a:solidFill>
              </a:endParaRPr>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solidFill>
                    <a:schemeClr val="bg1"/>
                  </a:solidFill>
                </a:rPr>
                <a:t>Frequency of Delivery</a:t>
              </a:r>
              <a:endParaRPr lang="zh-CN" altLang="en-US" sz="1200">
                <a:solidFill>
                  <a:schemeClr val="bg1"/>
                </a:solidFill>
              </a:endParaRPr>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solidFill>
                    <a:schemeClr val="bg1"/>
                  </a:solidFill>
                </a:rPr>
                <a:t>Predictive</a:t>
              </a:r>
              <a:endParaRPr lang="zh-CN" altLang="en-US" sz="1400">
                <a:solidFill>
                  <a:schemeClr val="bg1"/>
                </a:solidFill>
              </a:endParaRPr>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solidFill>
                    <a:schemeClr val="bg1"/>
                  </a:solidFill>
                </a:rPr>
                <a:t>Iterative</a:t>
              </a:r>
              <a:endParaRPr lang="zh-CN" altLang="en-US" sz="1400">
                <a:solidFill>
                  <a:schemeClr val="bg1"/>
                </a:solidFill>
              </a:endParaRPr>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a:solidFill>
                    <a:schemeClr val="bg1"/>
                  </a:solidFill>
                </a:rPr>
                <a:t>Incremental</a:t>
              </a:r>
              <a:endParaRPr lang="zh-CN" altLang="en-US" sz="1400">
                <a:solidFill>
                  <a:schemeClr val="bg1"/>
                </a:solidFill>
              </a:endParaRPr>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solidFill>
                    <a:schemeClr val="bg1"/>
                  </a:solidFill>
                </a:rPr>
                <a:t>Agile</a:t>
              </a:r>
              <a:endParaRPr lang="zh-CN" altLang="en-US" sz="1400">
                <a:solidFill>
                  <a:schemeClr val="bg1"/>
                </a:solidFill>
              </a:endParaRPr>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a:t>Waterfall Model</a:t>
            </a:r>
          </a:p>
          <a:p>
            <a:r>
              <a:rPr lang="en-US" altLang="zh-CN"/>
              <a:t>Winston Royce </a:t>
            </a:r>
            <a:r>
              <a:rPr lang="zh-CN" altLang="en-US"/>
              <a:t>于</a:t>
            </a:r>
            <a:r>
              <a:rPr lang="en-US" altLang="zh-CN"/>
              <a:t>1970</a:t>
            </a:r>
            <a:r>
              <a:rPr lang="zh-CN" altLang="en-US"/>
              <a:t>年提出</a:t>
            </a:r>
            <a:endParaRPr lang="en-US" altLang="zh-CN"/>
          </a:p>
          <a:p>
            <a:r>
              <a:rPr lang="zh-CN" altLang="en-US"/>
              <a:t>它将软件开发生命周期划分为若干线性阶段</a:t>
            </a:r>
            <a:endParaRPr lang="en-US" altLang="zh-CN"/>
          </a:p>
          <a:p>
            <a:r>
              <a:rPr lang="zh-CN" altLang="en-US"/>
              <a:t>每个阶段完成后才能进入下一个阶段</a:t>
            </a:r>
            <a:endParaRPr lang="en-US" altLang="zh-CN"/>
          </a:p>
          <a:p>
            <a:r>
              <a:rPr lang="zh-CN" altLang="en-US"/>
              <a:t>阶段分明、顺序执行、没有重叠</a:t>
            </a:r>
          </a:p>
          <a:p>
            <a:r>
              <a:rPr lang="zh-CN" altLang="en-US"/>
              <a:t>特点</a:t>
            </a:r>
          </a:p>
          <a:p>
            <a:pPr lvl="1"/>
            <a:r>
              <a:rPr lang="zh-CN" altLang="en-US"/>
              <a:t>各阶段严格顺序、不可回溯（理想情况下）</a:t>
            </a:r>
          </a:p>
          <a:p>
            <a:pPr lvl="1"/>
            <a:r>
              <a:rPr lang="zh-CN" altLang="en-US"/>
              <a:t>文档驱动，强调前期需求明确</a:t>
            </a:r>
          </a:p>
          <a:p>
            <a:pPr lvl="1"/>
            <a:r>
              <a:rPr lang="zh-CN" altLang="en-US"/>
              <a:t>测试集中在开发后期</a:t>
            </a:r>
          </a:p>
          <a:p>
            <a:pPr lvl="1"/>
            <a:r>
              <a:rPr lang="zh-CN" altLang="en-US"/>
              <a:t>不适合需求频繁变更的项目</a:t>
            </a:r>
            <a:r>
              <a:rPr lang="en-US" altLang="zh-CN"/>
              <a:t>/</a:t>
            </a:r>
            <a:r>
              <a:rPr lang="zh-CN" altLang="en-US"/>
              <a:t>返工</a:t>
            </a:r>
            <a:endParaRPr lang="en-US" altLang="zh-CN"/>
          </a:p>
          <a:p>
            <a:pPr lvl="1"/>
            <a:endParaRPr lang="en-US" altLang="zh-CN"/>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a:solidFill>
                    <a:schemeClr val="bg1"/>
                  </a:solidFill>
                </a:rPr>
                <a:t>Requirement gathering &amp; analysis</a:t>
              </a:r>
              <a:endParaRPr lang="zh-CN" altLang="en-US">
                <a:solidFill>
                  <a:schemeClr val="bg1"/>
                </a:solidFill>
              </a:endParaRPr>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solidFill>
                    <a:schemeClr val="bg1"/>
                  </a:solidFill>
                </a:rPr>
                <a:t>System design</a:t>
              </a:r>
              <a:endParaRPr lang="zh-CN" altLang="en-US">
                <a:solidFill>
                  <a:schemeClr val="bg1"/>
                </a:solidFill>
              </a:endParaRPr>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solidFill>
                    <a:schemeClr val="bg1"/>
                  </a:solidFill>
                </a:rPr>
                <a:t>Implementation</a:t>
              </a:r>
              <a:endParaRPr lang="zh-CN" altLang="en-US">
                <a:solidFill>
                  <a:schemeClr val="bg1"/>
                </a:solidFill>
              </a:endParaRPr>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solidFill>
                    <a:schemeClr val="bg1"/>
                  </a:solidFill>
                </a:rPr>
                <a:t>Integration &amp; Test</a:t>
              </a:r>
              <a:endParaRPr lang="zh-CN" altLang="en-US">
                <a:solidFill>
                  <a:schemeClr val="bg1"/>
                </a:solidFill>
              </a:endParaRPr>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solidFill>
                    <a:schemeClr val="bg1"/>
                  </a:solidFill>
                </a:rPr>
                <a:t>Deployment </a:t>
              </a:r>
              <a:endParaRPr lang="zh-CN" altLang="en-US">
                <a:solidFill>
                  <a:schemeClr val="bg1"/>
                </a:solidFill>
              </a:endParaRPr>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solidFill>
                    <a:schemeClr val="bg1"/>
                  </a:solidFill>
                </a:rPr>
                <a:t>Maintenance</a:t>
              </a:r>
              <a:endParaRPr lang="zh-CN" altLang="en-US">
                <a:solidFill>
                  <a:schemeClr val="bg1"/>
                </a:solidFill>
              </a:endParaRPr>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solidFill>
                  <a:schemeClr val="bg1"/>
                </a:solidFill>
              </a:rPr>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1033972658"/>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测试目的</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bg1"/>
                          </a:solidFill>
                        </a:rPr>
                        <a:t>测试计划</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bg1"/>
                          </a:solidFill>
                        </a:rPr>
                        <a:t>测试执行</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1181901144"/>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400"/>
                        <a:t>迭代 </a:t>
                      </a:r>
                      <a:r>
                        <a:rPr lang="en-US" sz="1400"/>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400"/>
                        <a:t>增量 </a:t>
                      </a:r>
                      <a:r>
                        <a:rPr lang="en-US" sz="1400"/>
                        <a:t>Increment</a:t>
                      </a:r>
                      <a:r>
                        <a:rPr lang="en-US" altLang="zh-CN" sz="1400"/>
                        <a:t>al</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7242012"/>
                  </a:ext>
                </a:extLst>
              </a:tr>
              <a:tr h="0">
                <a:tc>
                  <a:txBody>
                    <a:bodyPr/>
                    <a:lstStyle/>
                    <a:p>
                      <a:pPr algn="l">
                        <a:buNone/>
                      </a:pPr>
                      <a:r>
                        <a:rPr lang="zh-CN" altLang="en-US" sz="1400"/>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重复 </a:t>
                      </a:r>
                      <a:r>
                        <a:rPr lang="en-US" altLang="zh-CN" sz="1400" dirty="0"/>
                        <a:t>(</a:t>
                      </a:r>
                      <a:r>
                        <a:rPr lang="en-US" sz="1400" dirty="0"/>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增加 </a:t>
                      </a:r>
                      <a:r>
                        <a:rPr lang="en-US" altLang="zh-CN" sz="1400"/>
                        <a:t>(</a:t>
                      </a:r>
                      <a:r>
                        <a:rPr lang="en-US" sz="1400"/>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质量 </a:t>
                      </a:r>
                      <a:r>
                        <a:rPr lang="en-US" altLang="zh-CN" sz="1400"/>
                        <a:t>(</a:t>
                      </a:r>
                      <a:r>
                        <a:rPr lang="en-US" sz="1400"/>
                        <a:t>Quality)：</a:t>
                      </a:r>
                      <a:r>
                        <a:rPr lang="zh-CN" altLang="en-US" sz="1400"/>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范围 </a:t>
                      </a:r>
                      <a:r>
                        <a:rPr lang="en-US" altLang="zh-CN" sz="1400"/>
                        <a:t>(</a:t>
                      </a:r>
                      <a:r>
                        <a:rPr lang="en-US" sz="1400"/>
                        <a:t>Scope)：</a:t>
                      </a:r>
                      <a:r>
                        <a:rPr lang="zh-CN" altLang="en-US" sz="1400"/>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哇，这个功能比上次快了很多</a:t>
                      </a:r>
                      <a:r>
                        <a:rPr lang="en-US" altLang="zh-CN" sz="1400"/>
                        <a:t>/</a:t>
                      </a:r>
                      <a:r>
                        <a:rPr lang="zh-CN" altLang="en-US" sz="1400"/>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Iterate (</a:t>
                      </a:r>
                      <a:r>
                        <a:rPr lang="zh-CN" altLang="en-US" sz="1400"/>
                        <a:t>重做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Increment (</a:t>
                      </a:r>
                      <a:r>
                        <a:rPr lang="zh-CN" altLang="en-US" sz="1400" dirty="0"/>
                        <a:t>增长</a:t>
                      </a:r>
                      <a:r>
                        <a:rPr lang="en-US" altLang="zh-CN" sz="1400" dirty="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432865620"/>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400"/>
                        <a:t>节奏</a:t>
                      </a:r>
                      <a:r>
                        <a:rPr lang="en-US" altLang="zh-CN" sz="1400"/>
                        <a:t>/</a:t>
                      </a:r>
                      <a:r>
                        <a:rPr lang="zh-CN" altLang="en-US" sz="1400"/>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400"/>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400"/>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49275536"/>
                  </a:ext>
                </a:extLst>
              </a:tr>
              <a:tr h="200694">
                <a:tc>
                  <a:txBody>
                    <a:bodyPr/>
                    <a:lstStyle/>
                    <a:p>
                      <a:pPr algn="l">
                        <a:buNone/>
                      </a:pPr>
                      <a:r>
                        <a:rPr lang="en-US" sz="1400"/>
                        <a:t>Scrum </a:t>
                      </a:r>
                      <a:r>
                        <a:rPr lang="zh-CN" altLang="en-US" sz="1400"/>
                        <a:t>敏捷</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idx="4294967295"/>
          </p:nvPr>
        </p:nvSpPr>
        <p:spPr>
          <a:xfrm>
            <a:off x="0" y="360363"/>
            <a:ext cx="6376988" cy="428625"/>
          </a:xfrm>
        </p:spPr>
        <p:txBody>
          <a:bodyPr/>
          <a:lstStyle/>
          <a:p>
            <a:r>
              <a:rPr lang="en-US" altLang="zh-CN"/>
              <a:t>2.5.4.2 </a:t>
            </a:r>
            <a:r>
              <a:rPr lang="zh-CN" altLang="en-US"/>
              <a:t>看板</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4294967295"/>
          </p:nvPr>
        </p:nvSpPr>
        <p:spPr>
          <a:xfrm>
            <a:off x="7767638" y="449263"/>
            <a:ext cx="4424362" cy="338137"/>
          </a:xfrm>
        </p:spPr>
        <p:txBody>
          <a:bodyPr>
            <a:normAutofit fontScale="92500" lnSpcReduction="20000"/>
          </a:bodyPr>
          <a:lstStyle/>
          <a:p>
            <a:r>
              <a:rPr lang="en-US" altLang="zh-CN"/>
              <a:t>Kanban</a:t>
            </a:r>
            <a:endParaRPr lang="zh-CN" altLang="en-US"/>
          </a:p>
        </p:txBody>
      </p:sp>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166017584"/>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a:t>Column</a:t>
                      </a:r>
                      <a:endParaRPr lang="zh-CN" altLang="en-US" sz="1400"/>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400"/>
                        <a:t>Icon</a:t>
                      </a:r>
                      <a:endParaRPr lang="zh-CN" altLang="en-US" sz="1400"/>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400"/>
                        <a:t>Description</a:t>
                      </a:r>
                      <a:endParaRPr lang="zh-CN" altLang="en-US" sz="1400"/>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400"/>
                        <a:t>Role</a:t>
                      </a:r>
                      <a:endParaRPr lang="zh-CN" altLang="en-US" sz="1400"/>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a:solidFill>
                  <a:srgbClr val="FFFF00"/>
                </a:solidFill>
              </a:rPr>
              <a:t>&lt;</a:t>
            </a:r>
            <a:r>
              <a:rPr lang="zh-CN" altLang="en-US" sz="2400">
                <a:solidFill>
                  <a:srgbClr val="FFFF00"/>
                </a:solidFill>
              </a:rPr>
              <a:t>动作</a:t>
            </a:r>
            <a:r>
              <a:rPr lang="en-US" altLang="zh-CN" sz="2400">
                <a:solidFill>
                  <a:srgbClr val="FFFF00"/>
                </a:solidFill>
              </a:rPr>
              <a:t>&gt; + &lt;</a:t>
            </a:r>
            <a:r>
              <a:rPr lang="zh-CN" altLang="en-US" sz="2400">
                <a:solidFill>
                  <a:srgbClr val="FFFF00"/>
                </a:solidFill>
              </a:rPr>
              <a:t>结果</a:t>
            </a:r>
            <a:r>
              <a:rPr lang="en-US" altLang="zh-CN" sz="2400">
                <a:solidFill>
                  <a:srgbClr val="FFFF00"/>
                </a:solidFill>
              </a:rPr>
              <a:t>&gt; + &lt;</a:t>
            </a:r>
            <a:r>
              <a:rPr lang="zh-CN" altLang="en-US" sz="2400">
                <a:solidFill>
                  <a:srgbClr val="FFFF00"/>
                </a:solidFill>
              </a:rPr>
              <a:t>对象</a:t>
            </a:r>
            <a:r>
              <a:rPr lang="en-US" altLang="zh-CN" sz="2400">
                <a:solidFill>
                  <a:srgbClr val="FFFF00"/>
                </a:solidFill>
              </a:rPr>
              <a:t>&gt;</a:t>
            </a:r>
            <a:br>
              <a:rPr lang="zh-CN" altLang="en-US" sz="2400">
                <a:solidFill>
                  <a:srgbClr val="FFFF00"/>
                </a:solidFill>
              </a:rPr>
            </a:br>
            <a:r>
              <a:rPr lang="en-US" altLang="zh-CN" sz="2400">
                <a:solidFill>
                  <a:srgbClr val="FFFF00"/>
                </a:solidFill>
              </a:rPr>
              <a:t>(Verb-Result-Object)</a:t>
            </a:r>
            <a:endParaRPr lang="zh-CN" altLang="en-US" sz="2400">
              <a:solidFill>
                <a:srgbClr val="FFFF0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2646126692"/>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400"/>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400"/>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277290276"/>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400"/>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400"/>
                        <a:t>关键性 </a:t>
                      </a:r>
                      <a:r>
                        <a:rPr lang="en-US" sz="1400"/>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400"/>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8362899"/>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t>XP</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t>Crystal</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9" name="内容占位符 8">
            <a:extLst>
              <a:ext uri="{FF2B5EF4-FFF2-40B4-BE49-F238E27FC236}">
                <a16:creationId xmlns:a16="http://schemas.microsoft.com/office/drawing/2014/main" id="{A23C3B99-CAF5-6029-433F-44B4D272855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6" name="内容占位符 5">
            <a:extLst>
              <a:ext uri="{FF2B5EF4-FFF2-40B4-BE49-F238E27FC236}">
                <a16:creationId xmlns:a16="http://schemas.microsoft.com/office/drawing/2014/main" id="{B0E9FE06-6944-4C48-74FE-E10F4D876405}"/>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389501995"/>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t>Items</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t>Description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承诺 </a:t>
                      </a:r>
                      <a:r>
                        <a:rPr lang="en-US" altLang="zh-CN" sz="160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专注 </a:t>
                      </a:r>
                      <a:r>
                        <a:rPr lang="en-US" altLang="zh-CN" sz="160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开放</a:t>
                      </a:r>
                      <a:r>
                        <a:rPr lang="en-US" altLang="zh-CN" sz="160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尊重</a:t>
                      </a:r>
                      <a:r>
                        <a:rPr lang="en-US" altLang="zh-CN" sz="160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勇气</a:t>
                      </a:r>
                      <a:r>
                        <a:rPr lang="en-US" altLang="zh-CN" sz="1600"/>
                        <a:t> Courage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solidFill>
              <a:schemeClr val="tx1"/>
            </a:solid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solidFill>
              <a:schemeClr val="tx1"/>
            </a:solid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solidFill>
              <a:schemeClr val="tx1"/>
            </a:solid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solidFill>
              <a:schemeClr val="tx1"/>
            </a:solid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FFFF0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695998"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solidFill>
              <a:schemeClr val="tx1"/>
            </a:solid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solidFill>
              <a:schemeClr val="tx1"/>
            </a:solid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solidFill>
              <a:schemeClr val="tx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solidFill>
              <a:schemeClr val="tx1"/>
            </a:solid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987914572"/>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dirty="0"/>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96658490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t>特性 </a:t>
                      </a:r>
                      <a:r>
                        <a:rPr lang="en-US" sz="1600"/>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t>增量 </a:t>
                      </a:r>
                      <a:r>
                        <a:rPr lang="en-US" sz="1600"/>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2485" y="2998839"/>
            <a:ext cx="432000"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4128719386"/>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a:t>Rank</a:t>
                      </a:r>
                      <a:endParaRPr lang="zh-CN" altLang="en-US" sz="1600"/>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t>English</a:t>
                      </a:r>
                      <a:endParaRPr lang="zh-CN" altLang="en-US" sz="1600" dirty="0"/>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t>Chinese</a:t>
                      </a:r>
                      <a:endParaRPr lang="zh-CN" altLang="en-US" sz="1600"/>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a:t>Average</a:t>
                      </a:r>
                      <a:endParaRPr lang="zh-CN" altLang="en-US" sz="1600"/>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grpSp>
        <p:nvGrpSpPr>
          <p:cNvPr id="8" name="组合 7">
            <a:extLst>
              <a:ext uri="{FF2B5EF4-FFF2-40B4-BE49-F238E27FC236}">
                <a16:creationId xmlns:a16="http://schemas.microsoft.com/office/drawing/2014/main" id="{B57589A4-B5D8-C699-97E1-F63CA0CFE14D}"/>
              </a:ext>
            </a:extLst>
          </p:cNvPr>
          <p:cNvGrpSpPr/>
          <p:nvPr/>
        </p:nvGrpSpPr>
        <p:grpSpPr>
          <a:xfrm>
            <a:off x="3395663" y="1796644"/>
            <a:ext cx="5400675" cy="3534587"/>
            <a:chOff x="5322789" y="2320412"/>
            <a:chExt cx="5400675" cy="3534587"/>
          </a:xfrm>
        </p:grpSpPr>
        <p:sp>
          <p:nvSpPr>
            <p:cNvPr id="11" name="矩形: 圆角 10">
              <a:extLst>
                <a:ext uri="{FF2B5EF4-FFF2-40B4-BE49-F238E27FC236}">
                  <a16:creationId xmlns:a16="http://schemas.microsoft.com/office/drawing/2014/main" id="{2CAD1AB7-6284-F323-27D3-37F654FC67D8}"/>
                </a:ext>
              </a:extLst>
            </p:cNvPr>
            <p:cNvSpPr/>
            <p:nvPr/>
          </p:nvSpPr>
          <p:spPr>
            <a:xfrm>
              <a:off x="6043310" y="265471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8265400" y="265471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8265400" y="3647768"/>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6043310" y="3642233"/>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8265400" y="5098999"/>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7843310" y="2870710"/>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9165400" y="3086710"/>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7843310" y="3858233"/>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5322789" y="2320412"/>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5322789" y="4774999"/>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5322789" y="4097075"/>
              <a:ext cx="1107996" cy="369332"/>
            </a:xfrm>
            <a:prstGeom prst="rect">
              <a:avLst/>
            </a:prstGeom>
            <a:noFill/>
            <a:ln>
              <a:solidFill>
                <a:schemeClr val="tx1"/>
              </a:solidFill>
            </a:ln>
          </p:spPr>
          <p:txBody>
            <a:bodyPr wrap="none" rtlCol="0">
              <a:spAutoFit/>
            </a:bodyPr>
            <a:lstStyle/>
            <a:p>
              <a:r>
                <a:rPr lang="zh-CN" altLang="en-US">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5322789" y="4774999"/>
              <a:ext cx="1107996" cy="369332"/>
            </a:xfrm>
            <a:prstGeom prst="rect">
              <a:avLst/>
            </a:prstGeom>
            <a:noFill/>
            <a:ln>
              <a:solidFill>
                <a:schemeClr val="tx1"/>
              </a:solidFill>
            </a:ln>
          </p:spPr>
          <p:txBody>
            <a:bodyPr wrap="none" rtlCol="0">
              <a:spAutoFit/>
            </a:bodyPr>
            <a:lstStyle/>
            <a:p>
              <a:r>
                <a:rPr lang="zh-CN" altLang="en-US">
                  <a:solidFill>
                    <a:sysClr val="windowText" lastClr="000000"/>
                  </a:solidFill>
                </a:rPr>
                <a:t>需求变更</a:t>
              </a:r>
            </a:p>
          </p:txBody>
        </p:sp>
      </p:grpSp>
    </p:spTree>
    <p:extLst>
      <p:ext uri="{BB962C8B-B14F-4D97-AF65-F5344CB8AC3E}">
        <p14:creationId xmlns:p14="http://schemas.microsoft.com/office/powerpoint/2010/main" val="65638254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115152137"/>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a:t>Software Requirement Specification</a:t>
                      </a:r>
                      <a:endParaRPr lang="zh-CN" altLang="en-US"/>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a:t>1. </a:t>
                      </a:r>
                      <a:r>
                        <a:rPr lang="zh-CN" altLang="en-US"/>
                        <a:t>引言</a:t>
                      </a:r>
                    </a:p>
                    <a:p>
                      <a:r>
                        <a:rPr lang="zh-CN" altLang="en-US"/>
                        <a:t>目的、范围、术语定义、参考文献</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t>2. </a:t>
                      </a:r>
                      <a:r>
                        <a:rPr lang="zh-CN" altLang="en-US"/>
                        <a:t>总体描述</a:t>
                      </a:r>
                    </a:p>
                    <a:p>
                      <a:r>
                        <a:rPr lang="zh-CN" altLang="en-US"/>
                        <a:t>产品愿景、用户特征、运行环境、假设与依赖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t>3. </a:t>
                      </a:r>
                      <a:r>
                        <a:rPr lang="zh-CN" altLang="en-US"/>
                        <a:t>功能需求</a:t>
                      </a:r>
                    </a:p>
                    <a:p>
                      <a:r>
                        <a:rPr lang="zh-CN" altLang="en-US"/>
                        <a:t>按模块划分，每个功能包含： * 功能编号 * 功能名称 * 描述 * 输入</a:t>
                      </a:r>
                      <a:r>
                        <a:rPr lang="en-US" altLang="zh-CN"/>
                        <a:t>/</a:t>
                      </a:r>
                      <a:r>
                        <a:rPr lang="zh-CN" altLang="en-US"/>
                        <a:t>输出 * 处理逻辑 * 异常处理</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t>4. </a:t>
                      </a:r>
                      <a:r>
                        <a:rPr lang="zh-CN" altLang="en-US"/>
                        <a:t>非功能需求</a:t>
                      </a:r>
                    </a:p>
                    <a:p>
                      <a:r>
                        <a:rPr lang="zh-CN" altLang="en-US"/>
                        <a:t>性能、安全性、可用性、兼容性、可维护性等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t>5. </a:t>
                      </a:r>
                      <a:r>
                        <a:rPr lang="zh-CN" altLang="en-US"/>
                        <a:t>数据需求</a:t>
                      </a:r>
                    </a:p>
                    <a:p>
                      <a:r>
                        <a:rPr lang="zh-CN" altLang="en-US"/>
                        <a:t>数据字典、</a:t>
                      </a:r>
                      <a:r>
                        <a:rPr lang="en-US" altLang="zh-CN"/>
                        <a:t>E-R </a:t>
                      </a:r>
                      <a:r>
                        <a:rPr lang="zh-CN" altLang="en-US"/>
                        <a:t>图、数据流图</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t>6. </a:t>
                      </a:r>
                      <a:r>
                        <a:rPr lang="zh-CN" altLang="en-US"/>
                        <a:t>接口需求</a:t>
                      </a:r>
                    </a:p>
                    <a:p>
                      <a:r>
                        <a:rPr lang="zh-CN" altLang="en-US"/>
                        <a:t>外部系统接口、硬件接口、通信协议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t>7. </a:t>
                      </a:r>
                      <a:r>
                        <a:rPr lang="zh-CN" altLang="en-US" dirty="0"/>
                        <a:t>附录</a:t>
                      </a:r>
                      <a:endParaRPr lang="en-US" altLang="zh-CN" dirty="0"/>
                    </a:p>
                    <a:p>
                      <a:r>
                        <a:rPr lang="zh-CN" altLang="en-US" dirty="0"/>
                        <a:t>用例图、活动图、原型截图、会议纪要等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4154734386"/>
              </p:ext>
            </p:extLst>
          </p:nvPr>
        </p:nvGraphicFramePr>
        <p:xfrm>
          <a:off x="695325" y="863600"/>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a:t>Aspect</a:t>
                      </a:r>
                      <a:endParaRPr lang="zh-CN" altLang="en-US" sz="1600"/>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t>Description</a:t>
                      </a:r>
                      <a:endParaRPr lang="zh-CN" altLang="en-US" sz="1600"/>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t>Tools</a:t>
                      </a:r>
                      <a:endParaRPr lang="zh-CN" altLang="en-US" sz="1600"/>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solidFill>
              <a:schemeClr val="tx1"/>
            </a:solidFill>
          </a:ln>
        </p:spPr>
        <p:txBody>
          <a:bodyPr wrap="none" rtlCol="0">
            <a:spAutoFit/>
          </a:bodyPr>
          <a:lstStyle/>
          <a:p>
            <a:pPr algn="l"/>
            <a:r>
              <a:rPr lang="zh-CN" altLang="en-US" sz="140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solidFill>
              <a:schemeClr val="tx1"/>
            </a:solid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Start </a:t>
            </a:r>
            <a:endParaRPr lang="zh-CN" altLang="en-US" sz="1400">
              <a:solidFill>
                <a:schemeClr val="bg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Decide</a:t>
            </a:r>
            <a:endParaRPr lang="zh-CN" altLang="en-US" sz="1400">
              <a:solidFill>
                <a:schemeClr val="bg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195388134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127458369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400" dirty="0"/>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400"/>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400"/>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400"/>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a:hlinkClick r:id="rId3"/>
              </a:rPr>
              <a:t>影响地图 </a:t>
            </a:r>
            <a:r>
              <a:rPr lang="en-US" altLang="zh-CN">
                <a:hlinkClick r:id="rId3"/>
              </a:rPr>
              <a:t>Impact Mapping</a:t>
            </a:r>
            <a:endParaRPr lang="en-US" altLang="zh-CN"/>
          </a:p>
          <a:p>
            <a:r>
              <a:rPr lang="zh-CN" altLang="en-US"/>
              <a:t>从“业务目标”出发，逆向推导出“应该做什么功能</a:t>
            </a:r>
            <a:endParaRPr lang="en-US" altLang="zh-CN"/>
          </a:p>
          <a:p>
            <a:r>
              <a:rPr lang="zh-CN" altLang="en-US"/>
              <a:t>从一个明确的业务目标出发，通过识别关键角色、期望的行为改变（影响），最终推导出具体的交付物</a:t>
            </a:r>
            <a:endParaRPr lang="en-US" altLang="zh-CN"/>
          </a:p>
          <a:p>
            <a:pPr lvl="1"/>
            <a:r>
              <a:rPr lang="zh-CN" altLang="en-US"/>
              <a:t>为什么做？（业务目标）</a:t>
            </a:r>
          </a:p>
          <a:p>
            <a:pPr lvl="1"/>
            <a:r>
              <a:rPr lang="zh-CN" altLang="en-US"/>
              <a:t>为谁做？（受影响的角色）</a:t>
            </a:r>
          </a:p>
          <a:p>
            <a:pPr lvl="1"/>
            <a:r>
              <a:rPr lang="zh-CN" altLang="en-US"/>
              <a:t>如何影响他们？（行为改变</a:t>
            </a:r>
            <a:r>
              <a:rPr lang="en-US" altLang="zh-CN"/>
              <a:t>/</a:t>
            </a:r>
            <a:r>
              <a:rPr lang="zh-CN" altLang="en-US"/>
              <a:t>影响）</a:t>
            </a:r>
          </a:p>
          <a:p>
            <a:pPr lvl="1"/>
            <a:r>
              <a:rPr lang="zh-CN" altLang="en-US"/>
              <a:t>做什么来实现？（具体功能项）</a:t>
            </a:r>
          </a:p>
          <a:p>
            <a:endParaRPr lang="zh-CN" altLang="en-US"/>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solidFill>
              <a:schemeClr val="tx1"/>
            </a:solid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solidFill>
              <a:schemeClr val="tx1"/>
            </a:solid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solidFill>
              <a:schemeClr val="tx1"/>
            </a:solid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solidFill>
              <a:schemeClr val="tx1"/>
            </a:solid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solidFill>
              <a:schemeClr val="tx1"/>
            </a:solid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solidFill>
              <a:schemeClr val="tx1"/>
            </a:solid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solidFill>
              <a:schemeClr val="tx1"/>
            </a:solid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solidFill>
              <a:schemeClr val="tx1"/>
            </a:solid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1687876445"/>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t>交付物</a:t>
                      </a:r>
                    </a:p>
                  </a:txBody>
                  <a:tcPr anchor="ctr">
                    <a:lnL>
                      <a:noFill/>
                    </a:lnL>
                    <a:lnR>
                      <a:noFill/>
                    </a:lnR>
                    <a:lnT>
                      <a:noFill/>
                    </a:lnT>
                    <a:lnB>
                      <a:noFill/>
                    </a:lnB>
                    <a:solidFill>
                      <a:schemeClr val="accent2"/>
                    </a:solidFill>
                  </a:tcPr>
                </a:tc>
                <a:tc>
                  <a:txBody>
                    <a:bodyPr/>
                    <a:lstStyle/>
                    <a:p>
                      <a:pPr>
                        <a:buNone/>
                      </a:pPr>
                      <a:r>
                        <a:rPr lang="zh-CN" altLang="en-US" sz="1600"/>
                        <a:t>作用机制</a:t>
                      </a:r>
                    </a:p>
                  </a:txBody>
                  <a:tcPr anchor="ctr">
                    <a:lnL>
                      <a:noFill/>
                    </a:lnL>
                    <a:lnR>
                      <a:noFill/>
                    </a:lnR>
                    <a:lnT>
                      <a:noFill/>
                    </a:lnT>
                    <a:lnB>
                      <a:noFill/>
                    </a:lnB>
                    <a:solidFill>
                      <a:schemeClr val="accent2"/>
                    </a:solidFill>
                  </a:tcPr>
                </a:tc>
                <a:tc>
                  <a:txBody>
                    <a:bodyPr/>
                    <a:lstStyle/>
                    <a:p>
                      <a:pPr>
                        <a:buNone/>
                      </a:pPr>
                      <a:r>
                        <a:rPr lang="zh-CN" altLang="en-US" sz="1600"/>
                        <a:t>预期效果</a:t>
                      </a:r>
                    </a:p>
                  </a:txBody>
                  <a:tcPr anchor="ctr">
                    <a:lnL>
                      <a:noFill/>
                    </a:lnL>
                    <a:lnR>
                      <a:noFill/>
                    </a:lnR>
                    <a:lnT>
                      <a:noFill/>
                    </a:lnT>
                    <a:lnB>
                      <a:noFill/>
                    </a:lnB>
                    <a:solidFill>
                      <a:schemeClr val="accent2"/>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2323989696"/>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a:solidFill>
                            <a:schemeClr val="tx1"/>
                          </a:solidFill>
                        </a:rPr>
                        <a:t>Story name</a:t>
                      </a:r>
                      <a:endParaRPr lang="zh-CN" altLang="en-US" sz="160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4229248908"/>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9285009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通过关键词搜索商品</a:t>
                      </a:r>
                      <a:br>
                        <a:rPr lang="zh-CN" altLang="en-US" sz="1600"/>
                      </a:br>
                      <a:r>
                        <a:rPr lang="zh-CN" altLang="en-US" sz="1600"/>
                        <a:t>以便 快速找到我感兴趣的具体产品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311714759"/>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t>角色</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t>用户故事 </a:t>
                      </a:r>
                      <a:r>
                        <a:rPr lang="en-US" sz="1600"/>
                        <a:t>User Story</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购物者</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a:noFill/>
                    </a:lnL>
                    <a:lnR>
                      <a:noFill/>
                    </a:lnR>
                    <a:lnT>
                      <a:noFill/>
                    </a:lnT>
                    <a:lnB>
                      <a:noFill/>
                    </a:lnB>
                    <a:noFill/>
                  </a:tcPr>
                </a:tc>
                <a:tc>
                  <a:txBody>
                    <a:bodyPr/>
                    <a:lstStyle/>
                    <a:p>
                      <a:pPr algn="l">
                        <a:buNone/>
                      </a:pPr>
                      <a:r>
                        <a:rPr lang="zh-CN" altLang="en-US" sz="1600"/>
                        <a:t>购物者</a:t>
                      </a:r>
                    </a:p>
                  </a:txBody>
                  <a:tcPr anchor="ctr">
                    <a:lnL>
                      <a:noFill/>
                    </a:lnL>
                    <a:lnR>
                      <a:noFill/>
                    </a:lnR>
                    <a:lnT>
                      <a:noFill/>
                    </a:lnT>
                    <a:lnB>
                      <a:noFill/>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a:noFill/>
                    </a:lnL>
                    <a:lnR>
                      <a:noFill/>
                    </a:lnR>
                    <a:lnT>
                      <a:noFill/>
                    </a:lnT>
                    <a:lnB>
                      <a:noFill/>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a:noFill/>
                    </a:lnL>
                    <a:lnR>
                      <a:noFill/>
                    </a:lnR>
                    <a:lnT>
                      <a:noFill/>
                    </a:lnT>
                    <a:lnB>
                      <a:noFill/>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a:noFill/>
                    </a:lnL>
                    <a:lnR>
                      <a:noFill/>
                    </a:lnR>
                    <a:lnT>
                      <a:noFill/>
                    </a:lnT>
                    <a:lnB>
                      <a:noFill/>
                    </a:lnB>
                    <a:noFill/>
                  </a:tcPr>
                </a:tc>
                <a:tc>
                  <a:txBody>
                    <a:bodyPr/>
                    <a:lstStyle/>
                    <a:p>
                      <a:pPr algn="l">
                        <a:buNone/>
                      </a:pPr>
                      <a:r>
                        <a:rPr lang="zh-CN" altLang="en-US" sz="1600"/>
                        <a:t>购物者</a:t>
                      </a:r>
                    </a:p>
                  </a:txBody>
                  <a:tcPr anchor="ctr">
                    <a:lnL>
                      <a:noFill/>
                    </a:lnL>
                    <a:lnR>
                      <a:noFill/>
                    </a:lnR>
                    <a:lnT>
                      <a:noFill/>
                    </a:lnT>
                    <a:lnB>
                      <a:noFill/>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a:noFill/>
                    </a:lnL>
                    <a:lnR>
                      <a:noFill/>
                    </a:lnR>
                    <a:lnT>
                      <a:noFill/>
                    </a:lnT>
                    <a:lnB>
                      <a:noFill/>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a:noFill/>
                    </a:lnL>
                    <a:lnR>
                      <a:noFill/>
                    </a:lnR>
                    <a:lnT>
                      <a:noFill/>
                    </a:lnT>
                    <a:lnB>
                      <a:noFill/>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a:p>
            <a:pPr lvl="1"/>
            <a:endParaRPr lang="en-US" altLang="zh-CN" dirty="0"/>
          </a:p>
          <a:p>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3998272519"/>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t>Role</a:t>
                      </a:r>
                      <a:endParaRPr lang="zh-CN" altLang="en-US" sz="1600" dirty="0"/>
                    </a:p>
                  </a:txBody>
                  <a:tcPr anchor="ctr">
                    <a:lnL>
                      <a:noFill/>
                    </a:lnL>
                    <a:lnR>
                      <a:noFill/>
                    </a:lnR>
                    <a:lnT>
                      <a:noFill/>
                    </a:lnT>
                    <a:lnB>
                      <a:noFill/>
                    </a:lnB>
                    <a:solidFill>
                      <a:schemeClr val="accent2"/>
                    </a:solidFill>
                  </a:tcPr>
                </a:tc>
                <a:tc>
                  <a:txBody>
                    <a:bodyPr/>
                    <a:lstStyle/>
                    <a:p>
                      <a:pPr>
                        <a:buNone/>
                      </a:pPr>
                      <a:r>
                        <a:rPr lang="en-US" altLang="zh-CN" sz="1600"/>
                        <a:t>Description</a:t>
                      </a:r>
                      <a:endParaRPr lang="zh-CN" altLang="en-US" sz="1600"/>
                    </a:p>
                  </a:txBody>
                  <a:tcPr anchor="ctr">
                    <a:lnL>
                      <a:noFill/>
                    </a:lnL>
                    <a:lnR>
                      <a:noFill/>
                    </a:lnR>
                    <a:lnT>
                      <a:noFill/>
                    </a:lnT>
                    <a:lnB>
                      <a:noFill/>
                    </a:lnB>
                    <a:solidFill>
                      <a:schemeClr val="accent2"/>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582447772"/>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a:t>维度</a:t>
                      </a:r>
                    </a:p>
                  </a:txBody>
                  <a:tcPr anchor="ctr">
                    <a:lnL>
                      <a:noFill/>
                    </a:lnL>
                    <a:lnR>
                      <a:noFill/>
                    </a:lnR>
                    <a:lnT>
                      <a:noFill/>
                    </a:lnT>
                    <a:lnB>
                      <a:noFill/>
                    </a:lnB>
                    <a:solidFill>
                      <a:schemeClr val="accent2"/>
                    </a:solidFill>
                  </a:tcPr>
                </a:tc>
                <a:tc>
                  <a:txBody>
                    <a:bodyPr/>
                    <a:lstStyle/>
                    <a:p>
                      <a:pPr>
                        <a:buNone/>
                      </a:pPr>
                      <a:r>
                        <a:rPr lang="en-US" sz="1600"/>
                        <a:t>TDD (Test-Driven Development)</a:t>
                      </a:r>
                    </a:p>
                  </a:txBody>
                  <a:tcPr anchor="ctr">
                    <a:lnL>
                      <a:noFill/>
                    </a:lnL>
                    <a:lnR>
                      <a:noFill/>
                    </a:lnR>
                    <a:lnT>
                      <a:noFill/>
                    </a:lnT>
                    <a:lnB>
                      <a:noFill/>
                    </a:lnB>
                    <a:solidFill>
                      <a:schemeClr val="accent2"/>
                    </a:solidFill>
                  </a:tcPr>
                </a:tc>
                <a:tc>
                  <a:txBody>
                    <a:bodyPr/>
                    <a:lstStyle/>
                    <a:p>
                      <a:pPr>
                        <a:buNone/>
                      </a:pPr>
                      <a:r>
                        <a:rPr lang="en-US" sz="1600"/>
                        <a:t>BDD (Behavior-Driven Development)</a:t>
                      </a:r>
                    </a:p>
                  </a:txBody>
                  <a:tcPr anchor="ctr">
                    <a:lnL>
                      <a:noFill/>
                    </a:lnL>
                    <a:lnR>
                      <a:noFill/>
                    </a:lnR>
                    <a:lnT>
                      <a:noFill/>
                    </a:lnT>
                    <a:lnB>
                      <a:noFill/>
                    </a:lnB>
                    <a:solidFill>
                      <a:schemeClr val="accent2"/>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a:t>IT Project Scope Creep Example</a:t>
            </a:r>
          </a:p>
          <a:p>
            <a:endParaRPr lang="en-US" altLang="zh-CN"/>
          </a:p>
          <a:p>
            <a:r>
              <a:rPr lang="zh-CN" altLang="en-US"/>
              <a:t>三个月内，一位项目经理负责交付一款新的软件</a:t>
            </a:r>
            <a:endParaRPr lang="en-US" altLang="zh-CN"/>
          </a:p>
          <a:p>
            <a:r>
              <a:rPr lang="zh-CN" altLang="en-US"/>
              <a:t>在规划阶段几周后，项目的赞助商增加了新的功能。</a:t>
            </a:r>
            <a:endParaRPr lang="en-US" altLang="zh-CN"/>
          </a:p>
          <a:p>
            <a:r>
              <a:rPr lang="zh-CN" altLang="en-US"/>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3177544459"/>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dirty="0">
                          <a:solidFill>
                            <a:schemeClr val="bg1"/>
                          </a:solidFill>
                        </a:rPr>
                        <a:t>[Word]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目录</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dirty="0">
                          <a:solidFill>
                            <a:schemeClr val="bg1"/>
                          </a:solidFill>
                        </a:rPr>
                        <a:t>[PPT]</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组织结构图</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3451312745"/>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t>属性</a:t>
                      </a:r>
                    </a:p>
                  </a:txBody>
                  <a:tcPr anchor="ctr">
                    <a:lnL>
                      <a:noFill/>
                    </a:lnL>
                    <a:lnR>
                      <a:noFill/>
                    </a:lnR>
                    <a:lnT>
                      <a:noFill/>
                    </a:lnT>
                    <a:lnB>
                      <a:noFill/>
                    </a:lnB>
                    <a:solidFill>
                      <a:schemeClr val="accent2"/>
                    </a:solidFill>
                  </a:tcPr>
                </a:tc>
                <a:tc>
                  <a:txBody>
                    <a:bodyPr/>
                    <a:lstStyle/>
                    <a:p>
                      <a:pPr algn="l">
                        <a:buNone/>
                      </a:pPr>
                      <a:r>
                        <a:rPr lang="zh-CN" altLang="en-US" sz="1600" dirty="0"/>
                        <a:t>内容详情</a:t>
                      </a:r>
                    </a:p>
                  </a:txBody>
                  <a:tcPr anchor="ctr">
                    <a:lnL>
                      <a:noFill/>
                    </a:lnL>
                    <a:lnR>
                      <a:noFill/>
                    </a:lnR>
                    <a:lnT>
                      <a:noFill/>
                    </a:lnT>
                    <a:lnB>
                      <a:noFill/>
                    </a:lnB>
                    <a:solidFill>
                      <a:schemeClr val="accent2"/>
                    </a:solidFill>
                  </a:tcPr>
                </a:tc>
                <a:extLst>
                  <a:ext uri="{0D108BD9-81ED-4DB2-BD59-A6C34878D82A}">
                    <a16:rowId xmlns:a16="http://schemas.microsoft.com/office/drawing/2014/main" val="2925805395"/>
                  </a:ext>
                </a:extLst>
              </a:tr>
              <a:tr h="0">
                <a:tc>
                  <a:txBody>
                    <a:bodyPr/>
                    <a:lstStyle/>
                    <a:p>
                      <a:pPr algn="dist">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dist">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dist">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dist">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dist">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dist">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dist">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dist">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dist">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solidFill>
                <a:schemeClr val="tx1"/>
              </a:solid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solidFill>
                <a:schemeClr val="tx1"/>
              </a:solid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Epic</a:t>
              </a:r>
              <a:endParaRPr lang="zh-CN" altLang="en-US" sz="1600" kern="120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solidFill>
                <a:schemeClr val="tx1"/>
              </a:solid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solidFill>
                <a:schemeClr val="tx1"/>
              </a:solid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chemeClr val="accent2"/>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chemeClr val="accent2"/>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chemeClr val="accent2"/>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chemeClr val="accent2"/>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sz="2000" dirty="0"/>
              <a:t>6.1.2 </a:t>
            </a:r>
            <a:r>
              <a:rPr lang="zh-CN" altLang="en-US" sz="2000"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sz="1800"/>
              <a:t>工作量</a:t>
            </a:r>
            <a:endParaRPr lang="en-US" altLang="zh-CN" sz="1800" dirty="0"/>
          </a:p>
          <a:p>
            <a:r>
              <a:rPr lang="zh-CN" altLang="en-US" sz="1800"/>
              <a:t>规模</a:t>
            </a:r>
            <a:endParaRPr lang="en-US" altLang="zh-CN" sz="1800" dirty="0"/>
          </a:p>
          <a:p>
            <a:r>
              <a:rPr lang="zh-CN" altLang="en-US" sz="1800"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79296"/>
            <a:ext cx="4424080" cy="307777"/>
          </a:xfrm>
        </p:spPr>
        <p:txBody>
          <a:bodyPr/>
          <a:lstStyle/>
          <a:p>
            <a:r>
              <a:rPr lang="en-US" altLang="zh-CN" sz="1400"/>
              <a:t>Unit</a:t>
            </a:r>
            <a:endParaRPr lang="zh-CN" altLang="en-US" sz="1400"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solidFill>
              <a:schemeClr val="tx1"/>
            </a:solid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solidFill>
              <a:schemeClr val="tx1"/>
            </a:solid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solidFill>
              <a:schemeClr val="tx1"/>
            </a:solid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solidFill>
              <a:schemeClr val="tx1"/>
            </a:solid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769492985"/>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ysClr val="windowText" lastClr="000000"/>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Desc</a:t>
                      </a:r>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6.1.4 </a:t>
            </a:r>
            <a:r>
              <a:rPr lang="zh-CN" altLang="en-US" dirty="0"/>
              <a:t>成本估算过程</a:t>
            </a:r>
          </a:p>
        </p:txBody>
      </p:sp>
      <p:sp>
        <p:nvSpPr>
          <p:cNvPr id="6" name="内容占位符 5">
            <a:extLst>
              <a:ext uri="{FF2B5EF4-FFF2-40B4-BE49-F238E27FC236}">
                <a16:creationId xmlns:a16="http://schemas.microsoft.com/office/drawing/2014/main" id="{42E378B1-2ED9-1233-9F31-49D0A982F31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6" name="内容占位符 5">
            <a:extLst>
              <a:ext uri="{FF2B5EF4-FFF2-40B4-BE49-F238E27FC236}">
                <a16:creationId xmlns:a16="http://schemas.microsoft.com/office/drawing/2014/main" id="{647318B9-2601-F1A7-4476-0E399CA0E45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84848582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dirty="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 name="组合 49">
            <a:extLst>
              <a:ext uri="{FF2B5EF4-FFF2-40B4-BE49-F238E27FC236}">
                <a16:creationId xmlns:a16="http://schemas.microsoft.com/office/drawing/2014/main" id="{F508AF58-D7D3-E18E-B478-977D7F3EE5A4}"/>
              </a:ext>
            </a:extLst>
          </p:cNvPr>
          <p:cNvGrpSpPr/>
          <p:nvPr/>
        </p:nvGrpSpPr>
        <p:grpSpPr>
          <a:xfrm>
            <a:off x="2070850" y="1492661"/>
            <a:ext cx="8050300" cy="1914191"/>
            <a:chOff x="2143779" y="1337186"/>
            <a:chExt cx="8050300" cy="1914191"/>
          </a:xfrm>
        </p:grpSpPr>
        <p:sp>
          <p:nvSpPr>
            <p:cNvPr id="5" name="矩形 4">
              <a:extLst>
                <a:ext uri="{FF2B5EF4-FFF2-40B4-BE49-F238E27FC236}">
                  <a16:creationId xmlns:a16="http://schemas.microsoft.com/office/drawing/2014/main" id="{B1834B05-A36B-61EB-5B1E-904F87122C29}"/>
                </a:ext>
              </a:extLst>
            </p:cNvPr>
            <p:cNvSpPr/>
            <p:nvPr/>
          </p:nvSpPr>
          <p:spPr>
            <a:xfrm>
              <a:off x="4168877" y="2251584"/>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5068877" y="133718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143779" y="253517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516631" y="2240864"/>
              <a:ext cx="359393" cy="307777"/>
            </a:xfrm>
            <a:prstGeom prst="rect">
              <a:avLst/>
            </a:prstGeom>
            <a:noFill/>
            <a:ln>
              <a:solidFill>
                <a:schemeClr val="tx1"/>
              </a:solid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468541" y="2912040"/>
              <a:ext cx="455573" cy="307777"/>
            </a:xfrm>
            <a:prstGeom prst="rect">
              <a:avLst/>
            </a:prstGeom>
            <a:noFill/>
            <a:ln>
              <a:solidFill>
                <a:schemeClr val="tx1"/>
              </a:solid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5006548" y="1841417"/>
              <a:ext cx="455573" cy="307777"/>
            </a:xfrm>
            <a:prstGeom prst="rect">
              <a:avLst/>
            </a:prstGeom>
            <a:noFill/>
            <a:ln>
              <a:solidFill>
                <a:schemeClr val="tx1"/>
              </a:solid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608877" y="1769805"/>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528877" y="2643632"/>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8034079" y="2535480"/>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328849" y="2240863"/>
              <a:ext cx="455573" cy="307777"/>
            </a:xfrm>
            <a:prstGeom prst="rect">
              <a:avLst/>
            </a:prstGeom>
            <a:noFill/>
            <a:ln>
              <a:solidFill>
                <a:schemeClr val="tx1"/>
              </a:solid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211030" y="2912039"/>
              <a:ext cx="691215" cy="307777"/>
            </a:xfrm>
            <a:prstGeom prst="rect">
              <a:avLst/>
            </a:prstGeom>
            <a:noFill/>
            <a:ln>
              <a:solidFill>
                <a:schemeClr val="tx1"/>
              </a:solid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223779" y="2751481"/>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7048877" y="2751480"/>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a:t>
            </a:r>
            <a:r>
              <a:rPr lang="zh-CN" altLang="en-US"/>
              <a:t>，共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516165441"/>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EI</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外部输入</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External Inputs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3847898798"/>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214983639"/>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162722385"/>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3618192401"/>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t>6×3= 18</a:t>
                      </a:r>
                      <a:endParaRPr lang="zh-CN" altLang="en-US" sz="1400" dirty="0"/>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noProof="0" dirty="0"/>
                        <a:t>2×4= 8</a:t>
                      </a:r>
                      <a:endParaRPr lang="zh-CN" altLang="en-US" sz="1400" dirty="0"/>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noProof="0" dirty="0"/>
                        <a:t>3×6= 18</a:t>
                      </a:r>
                      <a:endParaRPr lang="zh-CN" altLang="en-US" sz="1400" dirty="0"/>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t>44</a:t>
                      </a:r>
                      <a:endParaRPr lang="zh-CN" altLang="en-US" sz="1400" dirty="0"/>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7×4= 28</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7×5= 35</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0×7= 0</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t>63</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0×3= 0</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2×4= 8</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4×6= 24</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t>32</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5×5= 25</a:t>
                      </a:r>
                      <a:endParaRPr lang="zh-CN" alt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2×7= 14</a:t>
                      </a:r>
                      <a:endParaRPr lang="zh-CN" alt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3×10= 30</a:t>
                      </a:r>
                      <a:endParaRPr lang="zh-CN" alt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t>69</a:t>
                      </a:r>
                      <a:endParaRPr lang="zh-CN" alt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9×7= 63</a:t>
                      </a:r>
                      <a:endParaRPr lang="zh-CN" altLang="en-US" sz="1400" dirty="0"/>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0×10= 0</a:t>
                      </a:r>
                      <a:endParaRPr lang="zh-CN" altLang="en-US" sz="1400" dirty="0"/>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2×15= 30</a:t>
                      </a:r>
                      <a:endParaRPr lang="zh-CN" altLang="en-US" sz="1400" dirty="0"/>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93</a:t>
                      </a:r>
                      <a:endParaRPr lang="zh-CN" altLang="en-US" sz="1400" dirty="0"/>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dirty="0"/>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dirty="0"/>
                        <a:t>301</a:t>
                      </a: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56330401"/>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t>6×3= 18</a:t>
                      </a:r>
                      <a:endParaRPr lang="zh-CN" altLang="en-US" sz="1400" dirty="0"/>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noProof="0" dirty="0"/>
                        <a:t>2×4= 8</a:t>
                      </a:r>
                      <a:endParaRPr lang="zh-CN" altLang="en-US" sz="1400" dirty="0"/>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noProof="0" dirty="0"/>
                        <a:t>3×6= 18</a:t>
                      </a:r>
                      <a:endParaRPr lang="zh-CN" altLang="en-US" sz="1400" dirty="0"/>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t>44</a:t>
                      </a:r>
                      <a:endParaRPr lang="zh-CN" altLang="en-US" sz="1400" dirty="0"/>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7×4= 28</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7×5= 35</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0×7= 0</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t>63</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0×3= 0</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2×4= 8</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4×6= 24</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t>32</a:t>
                      </a:r>
                      <a:endParaRPr lang="zh-CN" altLang="en-US" sz="140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5×5= 25</a:t>
                      </a:r>
                      <a:endParaRPr lang="zh-CN" alt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2×7= 14</a:t>
                      </a:r>
                      <a:endParaRPr lang="zh-CN" alt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noProof="0" dirty="0"/>
                        <a:t>3×10= 30</a:t>
                      </a:r>
                      <a:endParaRPr lang="zh-CN" alt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t>69</a:t>
                      </a:r>
                      <a:endParaRPr lang="zh-CN" altLang="en-US" sz="1400" dirty="0"/>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9×7= 63</a:t>
                      </a:r>
                      <a:endParaRPr lang="zh-CN" altLang="en-US" sz="1400" dirty="0"/>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0×10= 0</a:t>
                      </a:r>
                      <a:endParaRPr lang="zh-CN" altLang="en-US" sz="1400" dirty="0"/>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2×15= 30</a:t>
                      </a:r>
                      <a:endParaRPr lang="zh-CN" altLang="en-US" sz="1400" dirty="0"/>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93</a:t>
                      </a:r>
                      <a:endParaRPr lang="zh-CN" altLang="en-US" sz="1400" dirty="0"/>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dirty="0"/>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dirty="0"/>
                        <a:t>301</a:t>
                      </a:r>
                      <a:endParaRPr lang="zh-CN" altLang="en-US" sz="1400"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739495695"/>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IFPUG</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solidFill>
                  <a:schemeClr val="tx1"/>
                </a:solidFill>
              </a:rPr>
              <a:t>6.2.3 </a:t>
            </a:r>
            <a:r>
              <a:rPr lang="zh-CN" altLang="en-US" dirty="0">
                <a:solidFill>
                  <a:schemeClr val="tx1"/>
                </a:solidFill>
              </a:rPr>
              <a:t>用例点估算</a:t>
            </a:r>
            <a:r>
              <a:rPr lang="en-US" altLang="zh-CN" dirty="0">
                <a:solidFill>
                  <a:schemeClr val="tx1"/>
                </a:solidFill>
              </a:rPr>
              <a:t> </a:t>
            </a:r>
            <a:endParaRPr lang="zh-CN" altLang="en-US" dirty="0">
              <a:solidFill>
                <a:schemeClr val="tx1"/>
              </a:solidFill>
            </a:endParaRPr>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265752165"/>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82248223"/>
                  </a:ext>
                </a:extLst>
              </a:tr>
              <a:tr h="0">
                <a:tc>
                  <a:txBody>
                    <a:bodyPr/>
                    <a:lstStyle/>
                    <a:p>
                      <a:pPr algn="ctr"/>
                      <a:r>
                        <a:rPr lang="en-US" altLang="zh-CN" sz="1400" dirty="0"/>
                        <a:t>1</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UAW</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未调整的角色加权，</a:t>
                      </a:r>
                      <a:r>
                        <a:rPr lang="en-US" altLang="zh-CN" sz="1400" dirty="0"/>
                        <a:t>Unadjusted Actor Weight</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t>2</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t>UUCW</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t>未调整的用例加权，</a:t>
                      </a:r>
                      <a:r>
                        <a:rPr lang="en-US" altLang="zh-CN" sz="1400" dirty="0"/>
                        <a:t>Unadjusted Use Case Weight</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t>3</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t>UUCP</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t>未调整的用例点，</a:t>
                      </a:r>
                      <a:r>
                        <a:rPr lang="en-US" altLang="zh-CN" sz="1400" dirty="0"/>
                        <a:t>Unadjusted Use Case Point</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t>4</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t>TEF</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t>技术因子和环境因子，</a:t>
                      </a:r>
                      <a:r>
                        <a:rPr lang="en-US" altLang="zh-CN" sz="1400" dirty="0"/>
                        <a:t>Technical and Environment Fator</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t>5</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t>UCP</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t>调整后的用例点</a:t>
                      </a:r>
                      <a:r>
                        <a:rPr lang="en-US" altLang="zh-CN" sz="1400" dirty="0"/>
                        <a:t> Use Case Point</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t>6</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t>Effort</a:t>
                      </a:r>
                      <a:endParaRPr lang="zh-CN" altLang="en-US" sz="14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工作量，配合生成因子 </a:t>
                      </a:r>
                      <a:r>
                        <a:rPr lang="en-US" altLang="zh-CN" sz="1400" dirty="0"/>
                        <a:t>Productivity Factor </a:t>
                      </a:r>
                      <a:r>
                        <a:rPr lang="zh-CN" altLang="en-US" sz="1400" dirty="0"/>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2807211562"/>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tx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2014485459"/>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tx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2980665792"/>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56892000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endParaRPr lang="en-US" altLang="zh-CN" dirty="0"/>
          </a:p>
          <a:p>
            <a:pPr lvl="1"/>
            <a:endParaRPr lang="en-US" altLang="zh-CN" dirty="0"/>
          </a:p>
          <a:p>
            <a:endParaRPr lang="zh-CN" altLang="en-US" dirty="0"/>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2716714813"/>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bg1"/>
                          </a:solidFill>
                        </a:rPr>
                        <a:t>三角分布</a:t>
                      </a:r>
                      <a:endParaRPr lang="zh-CN" altLang="en-US"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pl-PL" altLang="zh-CN" sz="2400" b="0" baseline="-25000" dirty="0">
                          <a:solidFill>
                            <a:schemeClr val="bg1"/>
                          </a:solidFill>
                        </a:rPr>
                        <a:t>E</a:t>
                      </a:r>
                      <a:r>
                        <a:rPr lang="pl-PL"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M</a:t>
                      </a:r>
                      <a:r>
                        <a:rPr lang="pl-PL" altLang="zh-CN" sz="2400" b="0" dirty="0">
                          <a:solidFill>
                            <a:schemeClr val="bg1"/>
                          </a:solidFill>
                        </a:rPr>
                        <a:t> </a:t>
                      </a:r>
                      <a:r>
                        <a:rPr lang="zh-CN" altLang="en-US" sz="2400" b="0" dirty="0">
                          <a:solidFill>
                            <a:schemeClr val="bg1"/>
                          </a:solidFill>
                        </a:rPr>
                        <a:t> </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P</a:t>
                      </a:r>
                      <a:r>
                        <a:rPr lang="pl-PL" altLang="zh-CN" sz="2400" b="0" dirty="0">
                          <a:solidFill>
                            <a:schemeClr val="bg1"/>
                          </a:solidFill>
                        </a:rPr>
                        <a:t>) / 3</a:t>
                      </a:r>
                      <a:endParaRPr lang="zh-CN" altLang="en-US" sz="24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bg1"/>
                          </a:solidFill>
                        </a:rPr>
                        <a:t>贝塔分布</a:t>
                      </a:r>
                      <a:endParaRPr lang="zh-CN" altLang="en-US"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en-US" altLang="zh-CN" sz="2400" b="0" baseline="-25000" dirty="0">
                          <a:solidFill>
                            <a:schemeClr val="bg1"/>
                          </a:solidFill>
                        </a:rPr>
                        <a:t>E</a:t>
                      </a:r>
                      <a:r>
                        <a:rPr lang="en-US"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en-US" altLang="zh-CN" sz="2400" b="0" dirty="0">
                          <a:solidFill>
                            <a:schemeClr val="bg1"/>
                          </a:solidFill>
                        </a:rPr>
                        <a:t> + 4 C</a:t>
                      </a:r>
                      <a:r>
                        <a:rPr lang="en-US" altLang="zh-CN" sz="2400" b="0" baseline="-25000" dirty="0">
                          <a:solidFill>
                            <a:schemeClr val="bg1"/>
                          </a:solidFill>
                        </a:rPr>
                        <a:t>M</a:t>
                      </a:r>
                      <a:r>
                        <a:rPr lang="en-US" altLang="zh-CN" sz="2400" b="0" dirty="0">
                          <a:solidFill>
                            <a:schemeClr val="bg1"/>
                          </a:solidFill>
                        </a:rPr>
                        <a:t> + C</a:t>
                      </a:r>
                      <a:r>
                        <a:rPr lang="en-US" altLang="zh-CN" sz="2400" b="0" baseline="-25000" dirty="0">
                          <a:solidFill>
                            <a:schemeClr val="bg1"/>
                          </a:solidFill>
                        </a:rPr>
                        <a:t>P</a:t>
                      </a:r>
                      <a:r>
                        <a:rPr lang="en-US" altLang="zh-CN" sz="2400" b="0" dirty="0">
                          <a:solidFill>
                            <a:schemeClr val="bg1"/>
                          </a:solidFill>
                        </a:rPr>
                        <a:t>) / 6</a:t>
                      </a:r>
                      <a:endParaRPr lang="zh-CN" altLang="en-US" sz="2400"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695998"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695998"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511568366"/>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tx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solidFill>
              <a:schemeClr val="tx1"/>
            </a:solid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solidFill>
              <a:schemeClr val="tx1"/>
            </a:solid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solidFill>
              <a:schemeClr val="tx1"/>
            </a:solid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solidFill>
              <a:schemeClr val="tx1"/>
            </a:solid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solidFill>
              <a:schemeClr val="tx1"/>
            </a:solid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solidFill>
              <a:schemeClr val="tx1"/>
            </a:solid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solidFill>
              <a:schemeClr val="tx1"/>
            </a:solid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695998"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380882718"/>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bg1"/>
                          </a:solidFill>
                        </a:rPr>
                        <a:t>XS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很小 </a:t>
                      </a:r>
                      <a:r>
                        <a:rPr lang="en-US" sz="1600" dirty="0">
                          <a:solidFill>
                            <a:schemeClr val="bg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8</a:t>
                      </a:r>
                      <a:r>
                        <a:rPr lang="zh-CN" altLang="en-US" sz="1600" dirty="0">
                          <a:solidFill>
                            <a:schemeClr val="bg1"/>
                          </a:solidFill>
                        </a:rPr>
                        <a:t>小时（</a:t>
                      </a:r>
                      <a:r>
                        <a:rPr lang="en-US" altLang="zh-CN" sz="1600" dirty="0">
                          <a:solidFill>
                            <a:schemeClr val="bg1"/>
                          </a:solidFill>
                        </a:rPr>
                        <a:t>1</a:t>
                      </a:r>
                      <a:r>
                        <a:rPr lang="zh-CN" altLang="en-US" sz="1600" dirty="0">
                          <a:solidFill>
                            <a:schemeClr val="bg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bg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较小 </a:t>
                      </a:r>
                      <a:r>
                        <a:rPr lang="en-US" sz="1600" dirty="0">
                          <a:solidFill>
                            <a:schemeClr val="bg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16</a:t>
                      </a:r>
                      <a:r>
                        <a:rPr lang="zh-CN" altLang="en-US" sz="1600" dirty="0">
                          <a:solidFill>
                            <a:schemeClr val="bg1"/>
                          </a:solidFill>
                        </a:rPr>
                        <a:t>小时（</a:t>
                      </a:r>
                      <a:r>
                        <a:rPr lang="en-US" altLang="zh-CN" sz="1600" dirty="0">
                          <a:solidFill>
                            <a:schemeClr val="bg1"/>
                          </a:solidFill>
                        </a:rPr>
                        <a:t>2</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bg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中等 </a:t>
                      </a:r>
                      <a:r>
                        <a:rPr lang="en-US" sz="1600" dirty="0">
                          <a:solidFill>
                            <a:schemeClr val="bg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24</a:t>
                      </a:r>
                      <a:r>
                        <a:rPr lang="zh-CN" altLang="en-US" sz="1600" dirty="0">
                          <a:solidFill>
                            <a:schemeClr val="bg1"/>
                          </a:solidFill>
                        </a:rPr>
                        <a:t>小时（</a:t>
                      </a:r>
                      <a:r>
                        <a:rPr lang="en-US" altLang="zh-CN" sz="1600" dirty="0">
                          <a:solidFill>
                            <a:schemeClr val="bg1"/>
                          </a:solidFill>
                        </a:rPr>
                        <a:t>3</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bg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较大 </a:t>
                      </a:r>
                      <a:r>
                        <a:rPr lang="en-US" sz="1600" dirty="0">
                          <a:solidFill>
                            <a:schemeClr val="bg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40</a:t>
                      </a:r>
                      <a:r>
                        <a:rPr lang="zh-CN" altLang="en-US" sz="1600" dirty="0">
                          <a:solidFill>
                            <a:schemeClr val="bg1"/>
                          </a:solidFill>
                        </a:rPr>
                        <a:t>小时（</a:t>
                      </a:r>
                      <a:r>
                        <a:rPr lang="en-US" altLang="zh-CN" sz="1600" dirty="0">
                          <a:solidFill>
                            <a:schemeClr val="bg1"/>
                          </a:solidFill>
                        </a:rPr>
                        <a:t>5</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bg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64</a:t>
                      </a:r>
                      <a:r>
                        <a:rPr lang="zh-CN" altLang="en-US" sz="1600" dirty="0">
                          <a:solidFill>
                            <a:schemeClr val="bg1"/>
                          </a:solidFill>
                        </a:rPr>
                        <a:t>小时以上（</a:t>
                      </a:r>
                      <a:r>
                        <a:rPr lang="en-US" altLang="zh-CN" sz="1600" dirty="0">
                          <a:solidFill>
                            <a:schemeClr val="bg1"/>
                          </a:solidFill>
                        </a:rPr>
                        <a:t>8</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bg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巨大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104</a:t>
                      </a:r>
                      <a:r>
                        <a:rPr lang="zh-CN" altLang="en-US" sz="1600" dirty="0">
                          <a:solidFill>
                            <a:schemeClr val="bg1"/>
                          </a:solidFill>
                        </a:rPr>
                        <a:t>小时以上（</a:t>
                      </a:r>
                      <a:r>
                        <a:rPr lang="en-US" altLang="zh-CN" sz="1600" dirty="0">
                          <a:solidFill>
                            <a:schemeClr val="bg1"/>
                          </a:solidFill>
                        </a:rPr>
                        <a:t>13</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129825255"/>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3239377450"/>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tx1"/>
                          </a:solidFill>
                        </a:rPr>
                        <a:t>XS</a:t>
                      </a:r>
                      <a:endParaRPr lang="en-US" sz="1400" dirty="0">
                        <a:solidFill>
                          <a:schemeClr val="tx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tx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tx1"/>
                          </a:solidFill>
                        </a:rPr>
                        <a:t>M</a:t>
                      </a:r>
                      <a:endParaRPr lang="zh-CN" altLang="en-US"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tx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tx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tx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tx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tx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tx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tx1"/>
                          </a:solidFill>
                        </a:rPr>
                        <a:t>3</a:t>
                      </a:r>
                      <a:endParaRPr lang="zh-CN" altLang="en-US"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tx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tx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tx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3041804749"/>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t>XS</a:t>
                      </a:r>
                      <a:endParaRPr lang="en-US" sz="1600" dirty="0"/>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600" dirty="0"/>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M</a:t>
                      </a: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600" dirty="0"/>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202401">
                <a:tc>
                  <a:txBody>
                    <a:bodyPr/>
                    <a:lstStyle/>
                    <a:p>
                      <a:pPr algn="ctr">
                        <a:buNone/>
                      </a:pPr>
                      <a:r>
                        <a:rPr lang="en-US" sz="1600" dirty="0"/>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600" dirty="0"/>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3</a:t>
                      </a: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1049258143"/>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t>XS</a:t>
                      </a:r>
                      <a:endParaRPr lang="en-US" sz="1600" dirty="0"/>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600" dirty="0"/>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M</a:t>
                      </a: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600" dirty="0"/>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183510">
                <a:tc>
                  <a:txBody>
                    <a:bodyPr/>
                    <a:lstStyle/>
                    <a:p>
                      <a:pPr algn="ctr">
                        <a:buNone/>
                      </a:pPr>
                      <a:r>
                        <a:rPr lang="en-US" sz="1600" dirty="0"/>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600" dirty="0"/>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3</a:t>
                      </a: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6350" cap="flat" cmpd="sng" algn="ctr">
                      <a:no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695998" y="360000"/>
            <a:ext cx="6375921" cy="429413"/>
          </a:xfrm>
        </p:spPr>
        <p:txBody>
          <a:bodyPr/>
          <a:lstStyle/>
          <a:p>
            <a:r>
              <a:rPr lang="en-US" altLang="zh-CN" dirty="0">
                <a:solidFill>
                  <a:schemeClr val="tx1"/>
                </a:solidFill>
              </a:rPr>
              <a:t>6.3.3 </a:t>
            </a:r>
            <a:r>
              <a:rPr lang="zh-CN" altLang="en-US" dirty="0">
                <a:solidFill>
                  <a:schemeClr val="tx1"/>
                </a:solidFill>
              </a:rPr>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66339595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tx1"/>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tx1"/>
                          </a:solidFill>
                        </a:rPr>
                        <a:t>13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1391993073"/>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tx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tx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tx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tx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tx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2763801663"/>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ysClr val="windowText" lastClr="000000"/>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ysClr val="windowText" lastClr="000000"/>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ysClr val="windowText" lastClr="000000"/>
                          </a:solidFill>
                        </a:rPr>
                        <a:t>3</a:t>
                      </a:r>
                      <a:endParaRPr lang="zh-CN" altLang="en-US" sz="1600" dirty="0">
                        <a:solidFill>
                          <a:sysClr val="windowText" lastClr="000000"/>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ysClr val="windowText" lastClr="000000"/>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ysClr val="windowText" lastClr="000000"/>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ysClr val="windowText" lastClr="000000"/>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6" name="文本占位符 5">
            <a:extLst>
              <a:ext uri="{FF2B5EF4-FFF2-40B4-BE49-F238E27FC236}">
                <a16:creationId xmlns:a16="http://schemas.microsoft.com/office/drawing/2014/main" id="{3AA2AF2F-697F-C049-F4E1-F3B2D8878E0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695998"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5" name="文本占位符 4">
            <a:extLst>
              <a:ext uri="{FF2B5EF4-FFF2-40B4-BE49-F238E27FC236}">
                <a16:creationId xmlns:a16="http://schemas.microsoft.com/office/drawing/2014/main" id="{D67F7DFB-F95C-284E-53B1-D876D5474BE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2219ADF0-DBFF-D1FE-FF3F-5B79751D3D17}"/>
              </a:ext>
            </a:extLst>
          </p:cNvPr>
          <p:cNvSpPr>
            <a:spLocks noGrp="1"/>
          </p:cNvSpPr>
          <p:nvPr>
            <p:ph idx="1"/>
          </p:nvPr>
        </p:nvSpPr>
        <p:spPr/>
        <p:txBody>
          <a:bodyPr/>
          <a:lstStyle/>
          <a:p>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695998" y="360000"/>
            <a:ext cx="6375921" cy="429413"/>
          </a:xfrm>
        </p:spPr>
        <p:txBody>
          <a:bodyPr/>
          <a:lstStyle/>
          <a:p>
            <a:r>
              <a:rPr lang="zh-CN" altLang="en-US" dirty="0"/>
              <a:t>引言</a:t>
            </a:r>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spTree>
    <p:extLst>
      <p:ext uri="{BB962C8B-B14F-4D97-AF65-F5344CB8AC3E}">
        <p14:creationId xmlns:p14="http://schemas.microsoft.com/office/powerpoint/2010/main" val="192715710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695998"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7DA6773A-0420-19AD-2CE4-A0F2E8E75272}"/>
              </a:ext>
            </a:extLst>
          </p:cNvPr>
          <p:cNvSpPr>
            <a:spLocks noGrp="1"/>
          </p:cNvSpPr>
          <p:nvPr>
            <p:ph idx="1"/>
          </p:nvPr>
        </p:nvSpPr>
        <p:spPr/>
        <p:txBody>
          <a:bodyPr/>
          <a:lstStyle/>
          <a:p>
            <a:endParaRPr lang="zh-CN" altLang="en-US" dirty="0"/>
          </a:p>
        </p:txBody>
      </p:sp>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695998" y="360000"/>
            <a:ext cx="6375921" cy="429413"/>
          </a:xfrm>
        </p:spPr>
        <p:txBody>
          <a:bodyPr/>
          <a:lstStyle/>
          <a:p>
            <a:r>
              <a:rPr lang="zh-CN" altLang="en-US" dirty="0"/>
              <a:t>项目进度计划流程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695998"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9359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65361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363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357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3906778" y="2219879"/>
            <a:ext cx="818045" cy="12402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7256100" y="2430956"/>
            <a:ext cx="1240200" cy="81804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736000" y="424704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306828" y="2997873"/>
            <a:ext cx="818044" cy="20403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456000" y="3609001"/>
            <a:ext cx="2040300" cy="81804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655900" y="2430956"/>
            <a:ext cx="880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stCxn id="2" idx="2"/>
            <a:endCxn id="11" idx="0"/>
          </p:cNvCxnSpPr>
          <p:nvPr/>
        </p:nvCxnSpPr>
        <p:spPr>
          <a:xfrm flipH="1">
            <a:off x="5295900" y="1252912"/>
            <a:ext cx="360000"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3730012"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7066636"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9926600"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1940031"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2581535" y="1834081"/>
            <a:ext cx="866972" cy="142998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stCxn id="6" idx="3"/>
            <a:endCxn id="10" idx="1"/>
          </p:cNvCxnSpPr>
          <p:nvPr/>
        </p:nvCxnSpPr>
        <p:spPr>
          <a:xfrm flipV="1">
            <a:off x="5519994" y="2115585"/>
            <a:ext cx="593321" cy="104697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2810590"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2121824" y="3520763"/>
            <a:ext cx="866973" cy="51055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a:endCxn id="6" idx="1"/>
          </p:cNvCxnSpPr>
          <p:nvPr/>
        </p:nvCxnSpPr>
        <p:spPr>
          <a:xfrm flipV="1">
            <a:off x="4090012" y="3162557"/>
            <a:ext cx="1069982"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3730012"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3170590" y="4209530"/>
            <a:ext cx="5594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159994" y="2442557"/>
            <a:ext cx="360000" cy="14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stCxn id="11" idx="3"/>
            <a:endCxn id="6" idx="1"/>
          </p:cNvCxnSpPr>
          <p:nvPr/>
        </p:nvCxnSpPr>
        <p:spPr>
          <a:xfrm>
            <a:off x="4090012" y="2115585"/>
            <a:ext cx="1069982" cy="104697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stCxn id="6" idx="3"/>
            <a:endCxn id="13" idx="1"/>
          </p:cNvCxnSpPr>
          <p:nvPr/>
        </p:nvCxnSpPr>
        <p:spPr>
          <a:xfrm>
            <a:off x="5519994"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stCxn id="12" idx="1"/>
            <a:endCxn id="10" idx="3"/>
          </p:cNvCxnSpPr>
          <p:nvPr/>
        </p:nvCxnSpPr>
        <p:spPr>
          <a:xfrm rot="10800000">
            <a:off x="6473316" y="2115585"/>
            <a:ext cx="593321" cy="1046972"/>
          </a:xfrm>
          <a:prstGeom prst="bentConnector3">
            <a:avLst>
              <a:gd name="adj1" fmla="val 50000"/>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a:endCxn id="12" idx="1"/>
          </p:cNvCxnSpPr>
          <p:nvPr/>
        </p:nvCxnSpPr>
        <p:spPr>
          <a:xfrm flipV="1">
            <a:off x="6473315"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8019957"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973278"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426636"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8379957"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9333278" y="3162557"/>
            <a:ext cx="5933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695998"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任意多边形: 形状 62">
            <a:extLst>
              <a:ext uri="{FF2B5EF4-FFF2-40B4-BE49-F238E27FC236}">
                <a16:creationId xmlns:a16="http://schemas.microsoft.com/office/drawing/2014/main" id="{27FACFAB-184C-F474-31E9-0D13383E78CE}"/>
              </a:ext>
            </a:extLst>
          </p:cNvPr>
          <p:cNvSpPr/>
          <p:nvPr/>
        </p:nvSpPr>
        <p:spPr>
          <a:xfrm>
            <a:off x="10135253" y="3699000"/>
            <a:ext cx="1080000" cy="1338299"/>
          </a:xfrm>
          <a:custGeom>
            <a:avLst/>
            <a:gdLst>
              <a:gd name="csX0" fmla="*/ 540000 w 1080000"/>
              <a:gd name="csY0" fmla="*/ 0 h 1338299"/>
              <a:gd name="csX1" fmla="*/ 679376 w 1080000"/>
              <a:gd name="csY1" fmla="*/ 278753 h 1338299"/>
              <a:gd name="csX2" fmla="*/ 750193 w 1080000"/>
              <a:gd name="csY2" fmla="*/ 300735 h 1338299"/>
              <a:gd name="csX3" fmla="*/ 1080000 w 1080000"/>
              <a:gd name="csY3" fmla="*/ 798299 h 1338299"/>
              <a:gd name="csX4" fmla="*/ 540000 w 1080000"/>
              <a:gd name="csY4" fmla="*/ 1338299 h 1338299"/>
              <a:gd name="csX5" fmla="*/ 0 w 1080000"/>
              <a:gd name="csY5" fmla="*/ 798299 h 1338299"/>
              <a:gd name="csX6" fmla="*/ 329807 w 1080000"/>
              <a:gd name="csY6" fmla="*/ 300735 h 1338299"/>
              <a:gd name="csX7" fmla="*/ 400624 w 1080000"/>
              <a:gd name="csY7" fmla="*/ 278753 h 1338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80000" h="1338299">
                <a:moveTo>
                  <a:pt x="540000" y="0"/>
                </a:moveTo>
                <a:lnTo>
                  <a:pt x="679376" y="278753"/>
                </a:lnTo>
                <a:lnTo>
                  <a:pt x="750193" y="300735"/>
                </a:lnTo>
                <a:cubicBezTo>
                  <a:pt x="944007" y="382712"/>
                  <a:pt x="1080000" y="574624"/>
                  <a:pt x="1080000" y="798299"/>
                </a:cubicBezTo>
                <a:cubicBezTo>
                  <a:pt x="1080000" y="1096533"/>
                  <a:pt x="838234" y="1338299"/>
                  <a:pt x="540000" y="1338299"/>
                </a:cubicBezTo>
                <a:cubicBezTo>
                  <a:pt x="241766" y="1338299"/>
                  <a:pt x="0" y="1096533"/>
                  <a:pt x="0" y="798299"/>
                </a:cubicBezTo>
                <a:cubicBezTo>
                  <a:pt x="0" y="574624"/>
                  <a:pt x="135993" y="382712"/>
                  <a:pt x="329807" y="300735"/>
                </a:cubicBezTo>
                <a:lnTo>
                  <a:pt x="400624" y="278753"/>
                </a:ln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2020</a:t>
            </a:r>
            <a:endParaRPr lang="zh-CN" altLang="en-US" sz="1400" dirty="0">
              <a:solidFill>
                <a:schemeClr val="bg1"/>
              </a:solidFill>
            </a:endParaRPr>
          </a:p>
        </p:txBody>
      </p: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3"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4" name="任意多边形: 形状 13">
            <a:extLst>
              <a:ext uri="{FF2B5EF4-FFF2-40B4-BE49-F238E27FC236}">
                <a16:creationId xmlns:a16="http://schemas.microsoft.com/office/drawing/2014/main" id="{B0F3AD80-8B51-8D25-BD41-1F0871D933D1}"/>
              </a:ext>
            </a:extLst>
          </p:cNvPr>
          <p:cNvSpPr/>
          <p:nvPr/>
        </p:nvSpPr>
        <p:spPr>
          <a:xfrm>
            <a:off x="423019" y="1693546"/>
            <a:ext cx="1080000" cy="1330453"/>
          </a:xfrm>
          <a:custGeom>
            <a:avLst/>
            <a:gdLst>
              <a:gd name="csX0" fmla="*/ 540000 w 1080000"/>
              <a:gd name="csY0" fmla="*/ 0 h 1330453"/>
              <a:gd name="csX1" fmla="*/ 1080000 w 1080000"/>
              <a:gd name="csY1" fmla="*/ 540000 h 1330453"/>
              <a:gd name="csX2" fmla="*/ 750193 w 1080000"/>
              <a:gd name="csY2" fmla="*/ 1037564 h 1330453"/>
              <a:gd name="csX3" fmla="*/ 674732 w 1080000"/>
              <a:gd name="csY3" fmla="*/ 1060988 h 1330453"/>
              <a:gd name="csX4" fmla="*/ 540000 w 1080000"/>
              <a:gd name="csY4" fmla="*/ 1330453 h 1330453"/>
              <a:gd name="csX5" fmla="*/ 405268 w 1080000"/>
              <a:gd name="csY5" fmla="*/ 1060988 h 1330453"/>
              <a:gd name="csX6" fmla="*/ 329808 w 1080000"/>
              <a:gd name="csY6" fmla="*/ 1037564 h 1330453"/>
              <a:gd name="csX7" fmla="*/ 0 w 1080000"/>
              <a:gd name="csY7" fmla="*/ 540000 h 1330453"/>
              <a:gd name="csX8" fmla="*/ 540000 w 1080000"/>
              <a:gd name="csY8" fmla="*/ 0 h 1330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330453">
                <a:moveTo>
                  <a:pt x="540000" y="0"/>
                </a:moveTo>
                <a:cubicBezTo>
                  <a:pt x="838234" y="0"/>
                  <a:pt x="1080000" y="241766"/>
                  <a:pt x="1080000" y="540000"/>
                </a:cubicBezTo>
                <a:cubicBezTo>
                  <a:pt x="1080000" y="763676"/>
                  <a:pt x="944007" y="955588"/>
                  <a:pt x="750193" y="1037564"/>
                </a:cubicBezTo>
                <a:lnTo>
                  <a:pt x="674732" y="1060988"/>
                </a:lnTo>
                <a:lnTo>
                  <a:pt x="540000" y="1330453"/>
                </a:lnTo>
                <a:lnTo>
                  <a:pt x="405268" y="1060988"/>
                </a:lnTo>
                <a:lnTo>
                  <a:pt x="329808" y="1037564"/>
                </a:lnTo>
                <a:cubicBezTo>
                  <a:pt x="135993" y="955588"/>
                  <a:pt x="0" y="763676"/>
                  <a:pt x="0" y="540000"/>
                </a:cubicBezTo>
                <a:cubicBezTo>
                  <a:pt x="0" y="241766"/>
                  <a:pt x="241766" y="0"/>
                  <a:pt x="540000" y="0"/>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zh-CN" altLang="en-US" sz="1400" dirty="0">
              <a:solidFill>
                <a:schemeClr val="bg1"/>
              </a:solidFill>
            </a:endParaRPr>
          </a:p>
        </p:txBody>
      </p:sp>
      <p:sp>
        <p:nvSpPr>
          <p:cNvPr id="15" name="任意多边形: 形状 14">
            <a:extLst>
              <a:ext uri="{FF2B5EF4-FFF2-40B4-BE49-F238E27FC236}">
                <a16:creationId xmlns:a16="http://schemas.microsoft.com/office/drawing/2014/main" id="{2FDF398E-D449-A679-BD75-C6B58E239896}"/>
              </a:ext>
            </a:extLst>
          </p:cNvPr>
          <p:cNvSpPr/>
          <p:nvPr/>
        </p:nvSpPr>
        <p:spPr>
          <a:xfrm>
            <a:off x="2672678" y="1693546"/>
            <a:ext cx="1080000" cy="1330453"/>
          </a:xfrm>
          <a:custGeom>
            <a:avLst/>
            <a:gdLst>
              <a:gd name="csX0" fmla="*/ 540000 w 1080000"/>
              <a:gd name="csY0" fmla="*/ 0 h 1330453"/>
              <a:gd name="csX1" fmla="*/ 1080000 w 1080000"/>
              <a:gd name="csY1" fmla="*/ 540000 h 1330453"/>
              <a:gd name="csX2" fmla="*/ 750193 w 1080000"/>
              <a:gd name="csY2" fmla="*/ 1037564 h 1330453"/>
              <a:gd name="csX3" fmla="*/ 674732 w 1080000"/>
              <a:gd name="csY3" fmla="*/ 1060988 h 1330453"/>
              <a:gd name="csX4" fmla="*/ 540000 w 1080000"/>
              <a:gd name="csY4" fmla="*/ 1330453 h 1330453"/>
              <a:gd name="csX5" fmla="*/ 405268 w 1080000"/>
              <a:gd name="csY5" fmla="*/ 1060988 h 1330453"/>
              <a:gd name="csX6" fmla="*/ 329808 w 1080000"/>
              <a:gd name="csY6" fmla="*/ 1037564 h 1330453"/>
              <a:gd name="csX7" fmla="*/ 0 w 1080000"/>
              <a:gd name="csY7" fmla="*/ 540000 h 1330453"/>
              <a:gd name="csX8" fmla="*/ 540000 w 1080000"/>
              <a:gd name="csY8" fmla="*/ 0 h 1330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330453">
                <a:moveTo>
                  <a:pt x="540000" y="0"/>
                </a:moveTo>
                <a:cubicBezTo>
                  <a:pt x="838234" y="0"/>
                  <a:pt x="1080000" y="241766"/>
                  <a:pt x="1080000" y="540000"/>
                </a:cubicBezTo>
                <a:cubicBezTo>
                  <a:pt x="1080000" y="763676"/>
                  <a:pt x="944007" y="955588"/>
                  <a:pt x="750193" y="1037564"/>
                </a:cubicBezTo>
                <a:lnTo>
                  <a:pt x="674732" y="1060988"/>
                </a:lnTo>
                <a:lnTo>
                  <a:pt x="540000" y="1330453"/>
                </a:lnTo>
                <a:lnTo>
                  <a:pt x="405268" y="1060988"/>
                </a:lnTo>
                <a:lnTo>
                  <a:pt x="329808" y="1037564"/>
                </a:lnTo>
                <a:cubicBezTo>
                  <a:pt x="135993" y="955588"/>
                  <a:pt x="0" y="763676"/>
                  <a:pt x="0" y="540000"/>
                </a:cubicBezTo>
                <a:cubicBezTo>
                  <a:pt x="0" y="241766"/>
                  <a:pt x="241766" y="0"/>
                  <a:pt x="540000" y="0"/>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2005</a:t>
            </a:r>
            <a:endParaRPr lang="zh-CN" altLang="en-US" sz="1400" dirty="0">
              <a:solidFill>
                <a:schemeClr val="bg1"/>
              </a:solidFill>
            </a:endParaRPr>
          </a:p>
        </p:txBody>
      </p:sp>
      <p:sp>
        <p:nvSpPr>
          <p:cNvPr id="16" name="任意多边形: 形状 15">
            <a:extLst>
              <a:ext uri="{FF2B5EF4-FFF2-40B4-BE49-F238E27FC236}">
                <a16:creationId xmlns:a16="http://schemas.microsoft.com/office/drawing/2014/main" id="{0353601F-CB28-074A-98CD-119296971A2F}"/>
              </a:ext>
            </a:extLst>
          </p:cNvPr>
          <p:cNvSpPr/>
          <p:nvPr/>
        </p:nvSpPr>
        <p:spPr>
          <a:xfrm>
            <a:off x="4922337" y="1693546"/>
            <a:ext cx="1080000" cy="1330453"/>
          </a:xfrm>
          <a:custGeom>
            <a:avLst/>
            <a:gdLst>
              <a:gd name="csX0" fmla="*/ 540000 w 1080000"/>
              <a:gd name="csY0" fmla="*/ 0 h 1330453"/>
              <a:gd name="csX1" fmla="*/ 1080000 w 1080000"/>
              <a:gd name="csY1" fmla="*/ 540000 h 1330453"/>
              <a:gd name="csX2" fmla="*/ 750193 w 1080000"/>
              <a:gd name="csY2" fmla="*/ 1037564 h 1330453"/>
              <a:gd name="csX3" fmla="*/ 674732 w 1080000"/>
              <a:gd name="csY3" fmla="*/ 1060988 h 1330453"/>
              <a:gd name="csX4" fmla="*/ 540000 w 1080000"/>
              <a:gd name="csY4" fmla="*/ 1330453 h 1330453"/>
              <a:gd name="csX5" fmla="*/ 405268 w 1080000"/>
              <a:gd name="csY5" fmla="*/ 1060988 h 1330453"/>
              <a:gd name="csX6" fmla="*/ 329808 w 1080000"/>
              <a:gd name="csY6" fmla="*/ 1037564 h 1330453"/>
              <a:gd name="csX7" fmla="*/ 0 w 1080000"/>
              <a:gd name="csY7" fmla="*/ 540000 h 1330453"/>
              <a:gd name="csX8" fmla="*/ 540000 w 1080000"/>
              <a:gd name="csY8" fmla="*/ 0 h 1330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330453">
                <a:moveTo>
                  <a:pt x="540000" y="0"/>
                </a:moveTo>
                <a:cubicBezTo>
                  <a:pt x="838234" y="0"/>
                  <a:pt x="1080000" y="241766"/>
                  <a:pt x="1080000" y="540000"/>
                </a:cubicBezTo>
                <a:cubicBezTo>
                  <a:pt x="1080000" y="763676"/>
                  <a:pt x="944007" y="955588"/>
                  <a:pt x="750193" y="1037564"/>
                </a:cubicBezTo>
                <a:lnTo>
                  <a:pt x="674732" y="1060988"/>
                </a:lnTo>
                <a:lnTo>
                  <a:pt x="540000" y="1330453"/>
                </a:lnTo>
                <a:lnTo>
                  <a:pt x="405268" y="1060988"/>
                </a:lnTo>
                <a:lnTo>
                  <a:pt x="329808" y="1037564"/>
                </a:lnTo>
                <a:cubicBezTo>
                  <a:pt x="135993" y="955588"/>
                  <a:pt x="0" y="763676"/>
                  <a:pt x="0" y="540000"/>
                </a:cubicBezTo>
                <a:cubicBezTo>
                  <a:pt x="0" y="241766"/>
                  <a:pt x="241766" y="0"/>
                  <a:pt x="540000" y="0"/>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2018</a:t>
            </a:r>
            <a:endParaRPr lang="zh-CN" altLang="en-US" sz="1400" dirty="0">
              <a:solidFill>
                <a:schemeClr val="bg1"/>
              </a:solidFill>
            </a:endParaRPr>
          </a:p>
        </p:txBody>
      </p:sp>
      <p:sp>
        <p:nvSpPr>
          <p:cNvPr id="17" name="任意多边形: 形状 16">
            <a:extLst>
              <a:ext uri="{FF2B5EF4-FFF2-40B4-BE49-F238E27FC236}">
                <a16:creationId xmlns:a16="http://schemas.microsoft.com/office/drawing/2014/main" id="{FE7C6B1D-6E96-67B3-53AD-A8BD1C0F3AAD}"/>
              </a:ext>
            </a:extLst>
          </p:cNvPr>
          <p:cNvSpPr/>
          <p:nvPr/>
        </p:nvSpPr>
        <p:spPr>
          <a:xfrm>
            <a:off x="7171996" y="1693546"/>
            <a:ext cx="1080000" cy="1330453"/>
          </a:xfrm>
          <a:custGeom>
            <a:avLst/>
            <a:gdLst>
              <a:gd name="csX0" fmla="*/ 540000 w 1080000"/>
              <a:gd name="csY0" fmla="*/ 0 h 1330453"/>
              <a:gd name="csX1" fmla="*/ 1080000 w 1080000"/>
              <a:gd name="csY1" fmla="*/ 540000 h 1330453"/>
              <a:gd name="csX2" fmla="*/ 750193 w 1080000"/>
              <a:gd name="csY2" fmla="*/ 1037564 h 1330453"/>
              <a:gd name="csX3" fmla="*/ 674732 w 1080000"/>
              <a:gd name="csY3" fmla="*/ 1060988 h 1330453"/>
              <a:gd name="csX4" fmla="*/ 540000 w 1080000"/>
              <a:gd name="csY4" fmla="*/ 1330453 h 1330453"/>
              <a:gd name="csX5" fmla="*/ 405268 w 1080000"/>
              <a:gd name="csY5" fmla="*/ 1060988 h 1330453"/>
              <a:gd name="csX6" fmla="*/ 329808 w 1080000"/>
              <a:gd name="csY6" fmla="*/ 1037564 h 1330453"/>
              <a:gd name="csX7" fmla="*/ 0 w 1080000"/>
              <a:gd name="csY7" fmla="*/ 540000 h 1330453"/>
              <a:gd name="csX8" fmla="*/ 540000 w 1080000"/>
              <a:gd name="csY8" fmla="*/ 0 h 1330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330453">
                <a:moveTo>
                  <a:pt x="540000" y="0"/>
                </a:moveTo>
                <a:cubicBezTo>
                  <a:pt x="838234" y="0"/>
                  <a:pt x="1080000" y="241766"/>
                  <a:pt x="1080000" y="540000"/>
                </a:cubicBezTo>
                <a:cubicBezTo>
                  <a:pt x="1080000" y="763676"/>
                  <a:pt x="944007" y="955588"/>
                  <a:pt x="750193" y="1037564"/>
                </a:cubicBezTo>
                <a:lnTo>
                  <a:pt x="674732" y="1060988"/>
                </a:lnTo>
                <a:lnTo>
                  <a:pt x="540000" y="1330453"/>
                </a:lnTo>
                <a:lnTo>
                  <a:pt x="405268" y="1060988"/>
                </a:lnTo>
                <a:lnTo>
                  <a:pt x="329808" y="1037564"/>
                </a:lnTo>
                <a:cubicBezTo>
                  <a:pt x="135993" y="955588"/>
                  <a:pt x="0" y="763676"/>
                  <a:pt x="0" y="540000"/>
                </a:cubicBezTo>
                <a:cubicBezTo>
                  <a:pt x="0" y="241766"/>
                  <a:pt x="241766" y="0"/>
                  <a:pt x="540000" y="0"/>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2021</a:t>
            </a:r>
            <a:endParaRPr lang="zh-CN" altLang="en-US" sz="1400" dirty="0">
              <a:solidFill>
                <a:schemeClr val="bg1"/>
              </a:solidFill>
            </a:endParaRPr>
          </a:p>
        </p:txBody>
      </p:sp>
      <p:sp>
        <p:nvSpPr>
          <p:cNvPr id="18" name="任意多边形: 形状 17">
            <a:extLst>
              <a:ext uri="{FF2B5EF4-FFF2-40B4-BE49-F238E27FC236}">
                <a16:creationId xmlns:a16="http://schemas.microsoft.com/office/drawing/2014/main" id="{7980A2DB-141B-F7FB-56B4-4F373E1A6357}"/>
              </a:ext>
            </a:extLst>
          </p:cNvPr>
          <p:cNvSpPr/>
          <p:nvPr/>
        </p:nvSpPr>
        <p:spPr>
          <a:xfrm>
            <a:off x="10903946" y="1693546"/>
            <a:ext cx="1080000" cy="1330453"/>
          </a:xfrm>
          <a:custGeom>
            <a:avLst/>
            <a:gdLst>
              <a:gd name="csX0" fmla="*/ 540000 w 1080000"/>
              <a:gd name="csY0" fmla="*/ 0 h 1330453"/>
              <a:gd name="csX1" fmla="*/ 1080000 w 1080000"/>
              <a:gd name="csY1" fmla="*/ 540000 h 1330453"/>
              <a:gd name="csX2" fmla="*/ 750193 w 1080000"/>
              <a:gd name="csY2" fmla="*/ 1037564 h 1330453"/>
              <a:gd name="csX3" fmla="*/ 674732 w 1080000"/>
              <a:gd name="csY3" fmla="*/ 1060988 h 1330453"/>
              <a:gd name="csX4" fmla="*/ 540000 w 1080000"/>
              <a:gd name="csY4" fmla="*/ 1330453 h 1330453"/>
              <a:gd name="csX5" fmla="*/ 405268 w 1080000"/>
              <a:gd name="csY5" fmla="*/ 1060988 h 1330453"/>
              <a:gd name="csX6" fmla="*/ 329808 w 1080000"/>
              <a:gd name="csY6" fmla="*/ 1037564 h 1330453"/>
              <a:gd name="csX7" fmla="*/ 0 w 1080000"/>
              <a:gd name="csY7" fmla="*/ 540000 h 1330453"/>
              <a:gd name="csX8" fmla="*/ 540000 w 1080000"/>
              <a:gd name="csY8" fmla="*/ 0 h 1330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330453">
                <a:moveTo>
                  <a:pt x="540000" y="0"/>
                </a:moveTo>
                <a:cubicBezTo>
                  <a:pt x="838234" y="0"/>
                  <a:pt x="1080000" y="241766"/>
                  <a:pt x="1080000" y="540000"/>
                </a:cubicBezTo>
                <a:cubicBezTo>
                  <a:pt x="1080000" y="763676"/>
                  <a:pt x="944007" y="955588"/>
                  <a:pt x="750193" y="1037564"/>
                </a:cubicBezTo>
                <a:lnTo>
                  <a:pt x="674732" y="1060988"/>
                </a:lnTo>
                <a:lnTo>
                  <a:pt x="540000" y="1330453"/>
                </a:lnTo>
                <a:lnTo>
                  <a:pt x="405268" y="1060988"/>
                </a:lnTo>
                <a:lnTo>
                  <a:pt x="329808" y="1037564"/>
                </a:lnTo>
                <a:cubicBezTo>
                  <a:pt x="135993" y="955588"/>
                  <a:pt x="0" y="763676"/>
                  <a:pt x="0" y="540000"/>
                </a:cubicBezTo>
                <a:cubicBezTo>
                  <a:pt x="0" y="241766"/>
                  <a:pt x="241766" y="0"/>
                  <a:pt x="540000" y="0"/>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2025</a:t>
            </a:r>
            <a:endParaRPr lang="zh-CN" altLang="en-US" sz="1400" dirty="0">
              <a:solidFill>
                <a:schemeClr val="bg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4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6" name="任意多边形: 形状 25">
            <a:extLst>
              <a:ext uri="{FF2B5EF4-FFF2-40B4-BE49-F238E27FC236}">
                <a16:creationId xmlns:a16="http://schemas.microsoft.com/office/drawing/2014/main" id="{225EA3B5-9742-C1F3-9E7D-EC6DE3C2D2D5}"/>
              </a:ext>
            </a:extLst>
          </p:cNvPr>
          <p:cNvSpPr/>
          <p:nvPr/>
        </p:nvSpPr>
        <p:spPr>
          <a:xfrm>
            <a:off x="1547848" y="3699000"/>
            <a:ext cx="1080000" cy="1338299"/>
          </a:xfrm>
          <a:custGeom>
            <a:avLst/>
            <a:gdLst>
              <a:gd name="csX0" fmla="*/ 540000 w 1080000"/>
              <a:gd name="csY0" fmla="*/ 0 h 1338299"/>
              <a:gd name="csX1" fmla="*/ 679376 w 1080000"/>
              <a:gd name="csY1" fmla="*/ 278753 h 1338299"/>
              <a:gd name="csX2" fmla="*/ 750193 w 1080000"/>
              <a:gd name="csY2" fmla="*/ 300735 h 1338299"/>
              <a:gd name="csX3" fmla="*/ 1080000 w 1080000"/>
              <a:gd name="csY3" fmla="*/ 798299 h 1338299"/>
              <a:gd name="csX4" fmla="*/ 540000 w 1080000"/>
              <a:gd name="csY4" fmla="*/ 1338299 h 1338299"/>
              <a:gd name="csX5" fmla="*/ 0 w 1080000"/>
              <a:gd name="csY5" fmla="*/ 798299 h 1338299"/>
              <a:gd name="csX6" fmla="*/ 329807 w 1080000"/>
              <a:gd name="csY6" fmla="*/ 300735 h 1338299"/>
              <a:gd name="csX7" fmla="*/ 400624 w 1080000"/>
              <a:gd name="csY7" fmla="*/ 278753 h 1338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80000" h="1338299">
                <a:moveTo>
                  <a:pt x="540000" y="0"/>
                </a:moveTo>
                <a:lnTo>
                  <a:pt x="679376" y="278753"/>
                </a:lnTo>
                <a:lnTo>
                  <a:pt x="750193" y="300735"/>
                </a:lnTo>
                <a:cubicBezTo>
                  <a:pt x="944007" y="382712"/>
                  <a:pt x="1080000" y="574624"/>
                  <a:pt x="1080000" y="798299"/>
                </a:cubicBezTo>
                <a:cubicBezTo>
                  <a:pt x="1080000" y="1096533"/>
                  <a:pt x="838234" y="1338299"/>
                  <a:pt x="540000" y="1338299"/>
                </a:cubicBezTo>
                <a:cubicBezTo>
                  <a:pt x="241766" y="1338299"/>
                  <a:pt x="0" y="1096533"/>
                  <a:pt x="0" y="798299"/>
                </a:cubicBezTo>
                <a:cubicBezTo>
                  <a:pt x="0" y="574624"/>
                  <a:pt x="135993" y="382712"/>
                  <a:pt x="329807" y="300735"/>
                </a:cubicBezTo>
                <a:lnTo>
                  <a:pt x="400624" y="278753"/>
                </a:ln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1999</a:t>
            </a:r>
            <a:endParaRPr lang="zh-CN" altLang="en-US" sz="1400" dirty="0">
              <a:solidFill>
                <a:schemeClr val="bg1"/>
              </a:solidFill>
            </a:endParaRPr>
          </a:p>
        </p:txBody>
      </p:sp>
      <p:sp>
        <p:nvSpPr>
          <p:cNvPr id="27" name="任意多边形: 形状 26">
            <a:extLst>
              <a:ext uri="{FF2B5EF4-FFF2-40B4-BE49-F238E27FC236}">
                <a16:creationId xmlns:a16="http://schemas.microsoft.com/office/drawing/2014/main" id="{12EEC7AA-5C8C-918B-DC73-8AC1F11B01A7}"/>
              </a:ext>
            </a:extLst>
          </p:cNvPr>
          <p:cNvSpPr/>
          <p:nvPr/>
        </p:nvSpPr>
        <p:spPr>
          <a:xfrm>
            <a:off x="3797506" y="3699000"/>
            <a:ext cx="1080000" cy="1338299"/>
          </a:xfrm>
          <a:custGeom>
            <a:avLst/>
            <a:gdLst>
              <a:gd name="csX0" fmla="*/ 540000 w 1080000"/>
              <a:gd name="csY0" fmla="*/ 0 h 1338299"/>
              <a:gd name="csX1" fmla="*/ 679376 w 1080000"/>
              <a:gd name="csY1" fmla="*/ 278753 h 1338299"/>
              <a:gd name="csX2" fmla="*/ 750193 w 1080000"/>
              <a:gd name="csY2" fmla="*/ 300735 h 1338299"/>
              <a:gd name="csX3" fmla="*/ 1080000 w 1080000"/>
              <a:gd name="csY3" fmla="*/ 798299 h 1338299"/>
              <a:gd name="csX4" fmla="*/ 540000 w 1080000"/>
              <a:gd name="csY4" fmla="*/ 1338299 h 1338299"/>
              <a:gd name="csX5" fmla="*/ 0 w 1080000"/>
              <a:gd name="csY5" fmla="*/ 798299 h 1338299"/>
              <a:gd name="csX6" fmla="*/ 329807 w 1080000"/>
              <a:gd name="csY6" fmla="*/ 300735 h 1338299"/>
              <a:gd name="csX7" fmla="*/ 400624 w 1080000"/>
              <a:gd name="csY7" fmla="*/ 278753 h 1338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80000" h="1338299">
                <a:moveTo>
                  <a:pt x="540000" y="0"/>
                </a:moveTo>
                <a:lnTo>
                  <a:pt x="679376" y="278753"/>
                </a:lnTo>
                <a:lnTo>
                  <a:pt x="750193" y="300735"/>
                </a:lnTo>
                <a:cubicBezTo>
                  <a:pt x="944007" y="382712"/>
                  <a:pt x="1080000" y="574624"/>
                  <a:pt x="1080000" y="798299"/>
                </a:cubicBezTo>
                <a:cubicBezTo>
                  <a:pt x="1080000" y="1096533"/>
                  <a:pt x="838234" y="1338299"/>
                  <a:pt x="540000" y="1338299"/>
                </a:cubicBezTo>
                <a:cubicBezTo>
                  <a:pt x="241766" y="1338299"/>
                  <a:pt x="0" y="1096533"/>
                  <a:pt x="0" y="798299"/>
                </a:cubicBezTo>
                <a:cubicBezTo>
                  <a:pt x="0" y="574624"/>
                  <a:pt x="135993" y="382712"/>
                  <a:pt x="329807" y="300735"/>
                </a:cubicBezTo>
                <a:lnTo>
                  <a:pt x="400624" y="278753"/>
                </a:ln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2008</a:t>
            </a:r>
            <a:endParaRPr lang="zh-CN" altLang="en-US" sz="1400" dirty="0">
              <a:solidFill>
                <a:schemeClr val="bg1"/>
              </a:solidFill>
            </a:endParaRPr>
          </a:p>
        </p:txBody>
      </p:sp>
      <p:sp>
        <p:nvSpPr>
          <p:cNvPr id="28" name="任意多边形: 形状 27">
            <a:extLst>
              <a:ext uri="{FF2B5EF4-FFF2-40B4-BE49-F238E27FC236}">
                <a16:creationId xmlns:a16="http://schemas.microsoft.com/office/drawing/2014/main" id="{6BDA3710-CDEC-0AE1-97B0-74846FC49303}"/>
              </a:ext>
            </a:extLst>
          </p:cNvPr>
          <p:cNvSpPr/>
          <p:nvPr/>
        </p:nvSpPr>
        <p:spPr>
          <a:xfrm>
            <a:off x="6047164" y="3699000"/>
            <a:ext cx="1080000" cy="1338299"/>
          </a:xfrm>
          <a:custGeom>
            <a:avLst/>
            <a:gdLst>
              <a:gd name="csX0" fmla="*/ 540000 w 1080000"/>
              <a:gd name="csY0" fmla="*/ 0 h 1338299"/>
              <a:gd name="csX1" fmla="*/ 679376 w 1080000"/>
              <a:gd name="csY1" fmla="*/ 278753 h 1338299"/>
              <a:gd name="csX2" fmla="*/ 750193 w 1080000"/>
              <a:gd name="csY2" fmla="*/ 300735 h 1338299"/>
              <a:gd name="csX3" fmla="*/ 1080000 w 1080000"/>
              <a:gd name="csY3" fmla="*/ 798299 h 1338299"/>
              <a:gd name="csX4" fmla="*/ 540000 w 1080000"/>
              <a:gd name="csY4" fmla="*/ 1338299 h 1338299"/>
              <a:gd name="csX5" fmla="*/ 0 w 1080000"/>
              <a:gd name="csY5" fmla="*/ 798299 h 1338299"/>
              <a:gd name="csX6" fmla="*/ 329807 w 1080000"/>
              <a:gd name="csY6" fmla="*/ 300735 h 1338299"/>
              <a:gd name="csX7" fmla="*/ 400624 w 1080000"/>
              <a:gd name="csY7" fmla="*/ 278753 h 1338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80000" h="1338299">
                <a:moveTo>
                  <a:pt x="540000" y="0"/>
                </a:moveTo>
                <a:lnTo>
                  <a:pt x="679376" y="278753"/>
                </a:lnTo>
                <a:lnTo>
                  <a:pt x="750193" y="300735"/>
                </a:lnTo>
                <a:cubicBezTo>
                  <a:pt x="944007" y="382712"/>
                  <a:pt x="1080000" y="574624"/>
                  <a:pt x="1080000" y="798299"/>
                </a:cubicBezTo>
                <a:cubicBezTo>
                  <a:pt x="1080000" y="1096533"/>
                  <a:pt x="838234" y="1338299"/>
                  <a:pt x="540000" y="1338299"/>
                </a:cubicBezTo>
                <a:cubicBezTo>
                  <a:pt x="241766" y="1338299"/>
                  <a:pt x="0" y="1096533"/>
                  <a:pt x="0" y="798299"/>
                </a:cubicBezTo>
                <a:cubicBezTo>
                  <a:pt x="0" y="574624"/>
                  <a:pt x="135993" y="382712"/>
                  <a:pt x="329807" y="300735"/>
                </a:cubicBezTo>
                <a:lnTo>
                  <a:pt x="400624" y="278753"/>
                </a:ln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2020</a:t>
            </a:r>
            <a:endParaRPr lang="zh-CN" altLang="en-US" sz="1400" dirty="0">
              <a:solidFill>
                <a:schemeClr val="bg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51075" y="3796219"/>
            <a:ext cx="623889" cy="338554"/>
          </a:xfrm>
          <a:prstGeom prst="rect">
            <a:avLst/>
          </a:prstGeom>
          <a:noFill/>
        </p:spPr>
        <p:txBody>
          <a:bodyPr wrap="none" rtlCol="0">
            <a:spAutoFit/>
          </a:bodyPr>
          <a:lstStyle/>
          <a:p>
            <a:pPr algn="ctr"/>
            <a:r>
              <a:rPr lang="en-US" altLang="zh-CN" sz="16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71096" y="2756688"/>
            <a:ext cx="633507" cy="338554"/>
          </a:xfrm>
          <a:prstGeom prst="rect">
            <a:avLst/>
          </a:prstGeom>
          <a:noFill/>
        </p:spPr>
        <p:txBody>
          <a:bodyPr wrap="none" rtlCol="0">
            <a:spAutoFit/>
          </a:bodyPr>
          <a:lstStyle/>
          <a:p>
            <a:pPr algn="ctr"/>
            <a:r>
              <a:rPr lang="en-US" altLang="zh-CN" sz="16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67873" y="3796219"/>
            <a:ext cx="689612" cy="338554"/>
          </a:xfrm>
          <a:prstGeom prst="rect">
            <a:avLst/>
          </a:prstGeom>
          <a:noFill/>
        </p:spPr>
        <p:txBody>
          <a:bodyPr wrap="none" rtlCol="0">
            <a:spAutoFit/>
          </a:bodyPr>
          <a:lstStyle/>
          <a:p>
            <a:pPr algn="ctr"/>
            <a:r>
              <a:rPr lang="en-US" altLang="zh-CN" sz="16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3984688" y="2756688"/>
            <a:ext cx="705642" cy="338554"/>
          </a:xfrm>
          <a:prstGeom prst="rect">
            <a:avLst/>
          </a:prstGeom>
          <a:noFill/>
        </p:spPr>
        <p:txBody>
          <a:bodyPr wrap="none" rtlCol="0">
            <a:spAutoFit/>
          </a:bodyPr>
          <a:lstStyle/>
          <a:p>
            <a:pPr algn="ctr"/>
            <a:r>
              <a:rPr lang="en-US" altLang="zh-CN" sz="16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40777" y="3796219"/>
            <a:ext cx="643126" cy="338554"/>
          </a:xfrm>
          <a:prstGeom prst="rect">
            <a:avLst/>
          </a:prstGeom>
          <a:noFill/>
        </p:spPr>
        <p:txBody>
          <a:bodyPr wrap="none" rtlCol="0">
            <a:spAutoFit/>
          </a:bodyPr>
          <a:lstStyle/>
          <a:p>
            <a:pPr algn="ctr"/>
            <a:r>
              <a:rPr lang="en-US" altLang="zh-CN" sz="16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41561" y="2756688"/>
            <a:ext cx="691216" cy="338554"/>
          </a:xfrm>
          <a:prstGeom prst="rect">
            <a:avLst/>
          </a:prstGeom>
          <a:noFill/>
        </p:spPr>
        <p:txBody>
          <a:bodyPr wrap="none" rtlCol="0">
            <a:spAutoFit/>
          </a:bodyPr>
          <a:lstStyle/>
          <a:p>
            <a:pPr algn="ctr"/>
            <a:r>
              <a:rPr lang="en-US" altLang="zh-CN" sz="16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397650" y="3796219"/>
            <a:ext cx="628698" cy="338554"/>
          </a:xfrm>
          <a:prstGeom prst="rect">
            <a:avLst/>
          </a:prstGeom>
          <a:noFill/>
        </p:spPr>
        <p:txBody>
          <a:bodyPr wrap="none" rtlCol="0">
            <a:spAutoFit/>
          </a:bodyPr>
          <a:lstStyle/>
          <a:p>
            <a:pPr algn="ctr"/>
            <a:r>
              <a:rPr lang="en-US" altLang="zh-CN" sz="16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40068" y="2756688"/>
            <a:ext cx="670376" cy="338554"/>
          </a:xfrm>
          <a:prstGeom prst="rect">
            <a:avLst/>
          </a:prstGeom>
          <a:noFill/>
        </p:spPr>
        <p:txBody>
          <a:bodyPr wrap="none" rtlCol="0">
            <a:spAutoFit/>
          </a:bodyPr>
          <a:lstStyle/>
          <a:p>
            <a:pPr algn="ctr"/>
            <a:r>
              <a:rPr lang="en-US" altLang="zh-CN" sz="16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08758" y="3796219"/>
            <a:ext cx="670376" cy="338554"/>
          </a:xfrm>
          <a:prstGeom prst="rect">
            <a:avLst/>
          </a:prstGeom>
          <a:noFill/>
        </p:spPr>
        <p:txBody>
          <a:bodyPr wrap="none" rtlCol="0">
            <a:spAutoFit/>
          </a:bodyPr>
          <a:lstStyle/>
          <a:p>
            <a:pPr algn="ctr"/>
            <a:r>
              <a:rPr lang="en-US" altLang="zh-CN" sz="16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5" name="任意多边形: 形状 74">
            <a:extLst>
              <a:ext uri="{FF2B5EF4-FFF2-40B4-BE49-F238E27FC236}">
                <a16:creationId xmlns:a16="http://schemas.microsoft.com/office/drawing/2014/main" id="{9DF98556-F4A3-ECF9-979D-FAFDFF1E7B04}"/>
              </a:ext>
            </a:extLst>
          </p:cNvPr>
          <p:cNvSpPr/>
          <p:nvPr/>
        </p:nvSpPr>
        <p:spPr>
          <a:xfrm>
            <a:off x="9268287" y="1693546"/>
            <a:ext cx="1080000" cy="1330453"/>
          </a:xfrm>
          <a:custGeom>
            <a:avLst/>
            <a:gdLst>
              <a:gd name="csX0" fmla="*/ 540000 w 1080000"/>
              <a:gd name="csY0" fmla="*/ 0 h 1330453"/>
              <a:gd name="csX1" fmla="*/ 1080000 w 1080000"/>
              <a:gd name="csY1" fmla="*/ 540000 h 1330453"/>
              <a:gd name="csX2" fmla="*/ 750193 w 1080000"/>
              <a:gd name="csY2" fmla="*/ 1037564 h 1330453"/>
              <a:gd name="csX3" fmla="*/ 674732 w 1080000"/>
              <a:gd name="csY3" fmla="*/ 1060988 h 1330453"/>
              <a:gd name="csX4" fmla="*/ 540000 w 1080000"/>
              <a:gd name="csY4" fmla="*/ 1330453 h 1330453"/>
              <a:gd name="csX5" fmla="*/ 405268 w 1080000"/>
              <a:gd name="csY5" fmla="*/ 1060988 h 1330453"/>
              <a:gd name="csX6" fmla="*/ 329808 w 1080000"/>
              <a:gd name="csY6" fmla="*/ 1037564 h 1330453"/>
              <a:gd name="csX7" fmla="*/ 0 w 1080000"/>
              <a:gd name="csY7" fmla="*/ 540000 h 1330453"/>
              <a:gd name="csX8" fmla="*/ 540000 w 1080000"/>
              <a:gd name="csY8" fmla="*/ 0 h 1330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330453">
                <a:moveTo>
                  <a:pt x="540000" y="0"/>
                </a:moveTo>
                <a:cubicBezTo>
                  <a:pt x="838234" y="0"/>
                  <a:pt x="1080000" y="241766"/>
                  <a:pt x="1080000" y="540000"/>
                </a:cubicBezTo>
                <a:cubicBezTo>
                  <a:pt x="1080000" y="763676"/>
                  <a:pt x="944007" y="955588"/>
                  <a:pt x="750193" y="1037564"/>
                </a:cubicBezTo>
                <a:lnTo>
                  <a:pt x="674732" y="1060988"/>
                </a:lnTo>
                <a:lnTo>
                  <a:pt x="540000" y="1330453"/>
                </a:lnTo>
                <a:lnTo>
                  <a:pt x="405268" y="1060988"/>
                </a:lnTo>
                <a:lnTo>
                  <a:pt x="329808" y="1037564"/>
                </a:lnTo>
                <a:cubicBezTo>
                  <a:pt x="135993" y="955588"/>
                  <a:pt x="0" y="763676"/>
                  <a:pt x="0" y="540000"/>
                </a:cubicBezTo>
                <a:cubicBezTo>
                  <a:pt x="0" y="241766"/>
                  <a:pt x="241766" y="0"/>
                  <a:pt x="540000" y="0"/>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2021</a:t>
            </a:r>
            <a:endParaRPr lang="zh-CN" altLang="en-US" sz="1400" dirty="0">
              <a:solidFill>
                <a:schemeClr val="bg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472300" y="3796219"/>
            <a:ext cx="671980" cy="338554"/>
          </a:xfrm>
          <a:prstGeom prst="rect">
            <a:avLst/>
          </a:prstGeom>
          <a:noFill/>
        </p:spPr>
        <p:txBody>
          <a:bodyPr wrap="none" rtlCol="0">
            <a:spAutoFit/>
          </a:bodyPr>
          <a:lstStyle/>
          <a:p>
            <a:pPr algn="ctr"/>
            <a:r>
              <a:rPr lang="en-US" altLang="zh-CN" sz="16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0" name="任意多边形: 形状 79">
            <a:extLst>
              <a:ext uri="{FF2B5EF4-FFF2-40B4-BE49-F238E27FC236}">
                <a16:creationId xmlns:a16="http://schemas.microsoft.com/office/drawing/2014/main" id="{254CA369-813E-E97E-BD1B-435906138F3F}"/>
              </a:ext>
            </a:extLst>
          </p:cNvPr>
          <p:cNvSpPr/>
          <p:nvPr/>
        </p:nvSpPr>
        <p:spPr>
          <a:xfrm>
            <a:off x="8288754" y="3699000"/>
            <a:ext cx="1080000" cy="1338299"/>
          </a:xfrm>
          <a:custGeom>
            <a:avLst/>
            <a:gdLst>
              <a:gd name="csX0" fmla="*/ 540000 w 1080000"/>
              <a:gd name="csY0" fmla="*/ 0 h 1338299"/>
              <a:gd name="csX1" fmla="*/ 679376 w 1080000"/>
              <a:gd name="csY1" fmla="*/ 278753 h 1338299"/>
              <a:gd name="csX2" fmla="*/ 750193 w 1080000"/>
              <a:gd name="csY2" fmla="*/ 300735 h 1338299"/>
              <a:gd name="csX3" fmla="*/ 1080000 w 1080000"/>
              <a:gd name="csY3" fmla="*/ 798299 h 1338299"/>
              <a:gd name="csX4" fmla="*/ 540000 w 1080000"/>
              <a:gd name="csY4" fmla="*/ 1338299 h 1338299"/>
              <a:gd name="csX5" fmla="*/ 0 w 1080000"/>
              <a:gd name="csY5" fmla="*/ 798299 h 1338299"/>
              <a:gd name="csX6" fmla="*/ 329807 w 1080000"/>
              <a:gd name="csY6" fmla="*/ 300735 h 1338299"/>
              <a:gd name="csX7" fmla="*/ 400624 w 1080000"/>
              <a:gd name="csY7" fmla="*/ 278753 h 1338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80000" h="1338299">
                <a:moveTo>
                  <a:pt x="540000" y="0"/>
                </a:moveTo>
                <a:lnTo>
                  <a:pt x="679376" y="278753"/>
                </a:lnTo>
                <a:lnTo>
                  <a:pt x="750193" y="300735"/>
                </a:lnTo>
                <a:cubicBezTo>
                  <a:pt x="944007" y="382712"/>
                  <a:pt x="1080000" y="574624"/>
                  <a:pt x="1080000" y="798299"/>
                </a:cubicBezTo>
                <a:cubicBezTo>
                  <a:pt x="1080000" y="1096533"/>
                  <a:pt x="838234" y="1338299"/>
                  <a:pt x="540000" y="1338299"/>
                </a:cubicBezTo>
                <a:cubicBezTo>
                  <a:pt x="241766" y="1338299"/>
                  <a:pt x="0" y="1096533"/>
                  <a:pt x="0" y="798299"/>
                </a:cubicBezTo>
                <a:cubicBezTo>
                  <a:pt x="0" y="574624"/>
                  <a:pt x="135993" y="382712"/>
                  <a:pt x="329807" y="300735"/>
                </a:cubicBezTo>
                <a:lnTo>
                  <a:pt x="400624" y="278753"/>
                </a:ln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r>
              <a:rPr lang="en-US" altLang="zh-CN" sz="1400" dirty="0">
                <a:solidFill>
                  <a:schemeClr val="bg1"/>
                </a:solidFill>
              </a:rPr>
              <a:t>2020</a:t>
            </a:r>
            <a:endParaRPr lang="zh-CN" altLang="en-US" sz="1400" dirty="0">
              <a:solidFill>
                <a:schemeClr val="bg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492769" y="2756688"/>
            <a:ext cx="671980" cy="338554"/>
          </a:xfrm>
          <a:prstGeom prst="rect">
            <a:avLst/>
          </a:prstGeom>
          <a:noFill/>
        </p:spPr>
        <p:txBody>
          <a:bodyPr wrap="none" rtlCol="0">
            <a:spAutoFit/>
          </a:bodyPr>
          <a:lstStyle/>
          <a:p>
            <a:pPr algn="ctr"/>
            <a:r>
              <a:rPr lang="en-US" altLang="zh-CN" sz="16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840319562"/>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695998"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695998"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695998"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695998" y="360000"/>
            <a:ext cx="6375921" cy="429413"/>
          </a:xfrm>
        </p:spPr>
        <p:txBody>
          <a:bodyPr/>
          <a:lstStyle/>
          <a:p>
            <a:r>
              <a:rPr lang="en-US" altLang="zh-CN" dirty="0">
                <a:solidFill>
                  <a:schemeClr val="tx1"/>
                </a:solidFill>
              </a:rPr>
              <a:t>4. </a:t>
            </a:r>
            <a:r>
              <a:rPr lang="zh-CN" altLang="en-US" dirty="0">
                <a:solidFill>
                  <a:schemeClr val="tx1"/>
                </a:solidFill>
              </a:rPr>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6" name="文本占位符 5">
            <a:extLst>
              <a:ext uri="{FF2B5EF4-FFF2-40B4-BE49-F238E27FC236}">
                <a16:creationId xmlns:a16="http://schemas.microsoft.com/office/drawing/2014/main" id="{2B090E62-06EB-4342-F55A-E0309C30CE8D}"/>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759763"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695998"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6" name="文本占位符 5">
            <a:extLst>
              <a:ext uri="{FF2B5EF4-FFF2-40B4-BE49-F238E27FC236}">
                <a16:creationId xmlns:a16="http://schemas.microsoft.com/office/drawing/2014/main" id="{39D6B34D-9A85-564C-E8D5-607C5470D8A4}"/>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695998"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6" name="文本占位符 5">
            <a:extLst>
              <a:ext uri="{FF2B5EF4-FFF2-40B4-BE49-F238E27FC236}">
                <a16:creationId xmlns:a16="http://schemas.microsoft.com/office/drawing/2014/main" id="{C191BE14-06A0-01B2-4C48-FAB6333B55E0}"/>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440286"/>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4985225"/>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2097788972"/>
              </p:ext>
            </p:extLst>
          </p:nvPr>
        </p:nvGraphicFramePr>
        <p:xfrm>
          <a:off x="3396000" y="30152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8373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13364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13364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13364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9235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9235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9235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spTree>
    <p:extLst>
      <p:ext uri="{BB962C8B-B14F-4D97-AF65-F5344CB8AC3E}">
        <p14:creationId xmlns:p14="http://schemas.microsoft.com/office/powerpoint/2010/main" val="122759247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a:t>
            </a:r>
            <a:r>
              <a:rPr lang="en-US" altLang="zh-CN" sz="1600" dirty="0"/>
              <a:t>PDM</a:t>
            </a:r>
            <a:r>
              <a:rPr lang="zh-CN" altLang="en-US" sz="1600" dirty="0"/>
              <a:t>网络图那么这个任务的历时估算介于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6" name="文本占位符 5">
            <a:extLst>
              <a:ext uri="{FF2B5EF4-FFF2-40B4-BE49-F238E27FC236}">
                <a16:creationId xmlns:a16="http://schemas.microsoft.com/office/drawing/2014/main" id="{338A0B60-9E3C-8B44-6A4C-E9A8DEAFD87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695998"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6" name="文本占位符 5">
            <a:extLst>
              <a:ext uri="{FF2B5EF4-FFF2-40B4-BE49-F238E27FC236}">
                <a16:creationId xmlns:a16="http://schemas.microsoft.com/office/drawing/2014/main" id="{CD287482-1C02-ADA0-322E-38218E40E0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695998"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6" name="文本占位符 5">
            <a:extLst>
              <a:ext uri="{FF2B5EF4-FFF2-40B4-BE49-F238E27FC236}">
                <a16:creationId xmlns:a16="http://schemas.microsoft.com/office/drawing/2014/main" id="{CA1D1CE1-FFD3-9BA1-7156-EDE0CADEFB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1</a:t>
            </a:r>
            <a:endParaRPr lang="zh-CN" altLang="en-US" sz="1600" dirty="0">
              <a:solidFill>
                <a:schemeClr val="bg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2</a:t>
            </a:r>
            <a:endParaRPr lang="zh-CN" altLang="en-US" sz="1600" dirty="0">
              <a:solidFill>
                <a:schemeClr val="bg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3</a:t>
            </a:r>
            <a:endParaRPr lang="zh-CN" altLang="en-US" sz="1600" dirty="0">
              <a:solidFill>
                <a:schemeClr val="bg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6</a:t>
            </a:r>
            <a:endParaRPr lang="zh-CN" altLang="en-US" sz="1600" dirty="0">
              <a:solidFill>
                <a:schemeClr val="bg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p:spPr>
        <p:txBody>
          <a:bodyPr wrap="none" rtlCol="0">
            <a:spAutoFit/>
          </a:bodyPr>
          <a:lstStyle/>
          <a:p>
            <a:pPr algn="ctr"/>
            <a:r>
              <a:rPr lang="en-US" altLang="zh-CN" sz="1600" dirty="0">
                <a:solidFill>
                  <a:schemeClr val="bg1"/>
                </a:solidFill>
              </a:rPr>
              <a:t>E=1</a:t>
            </a:r>
            <a:endParaRPr lang="zh-CN" altLang="en-US" sz="1600" dirty="0">
              <a:solidFill>
                <a:schemeClr val="bg1"/>
              </a:solidFill>
            </a:endParaRPr>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p:spPr>
        <p:txBody>
          <a:bodyPr wrap="none" rtlCol="0">
            <a:spAutoFit/>
          </a:bodyPr>
          <a:lstStyle/>
          <a:p>
            <a:pPr algn="ctr"/>
            <a:r>
              <a:rPr lang="en-US" altLang="zh-CN" sz="1600" dirty="0">
                <a:solidFill>
                  <a:schemeClr val="bg1"/>
                </a:solidFill>
              </a:rPr>
              <a:t>A=2</a:t>
            </a:r>
            <a:endParaRPr lang="zh-CN" altLang="en-US" sz="1600" dirty="0">
              <a:solidFill>
                <a:schemeClr val="bg1"/>
              </a:solidFill>
            </a:endParaRPr>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p:spPr>
        <p:txBody>
          <a:bodyPr wrap="none" rtlCol="0">
            <a:spAutoFit/>
          </a:bodyPr>
          <a:lstStyle/>
          <a:p>
            <a:pPr algn="ctr"/>
            <a:r>
              <a:rPr lang="en-US" altLang="zh-CN" sz="1600" dirty="0">
                <a:solidFill>
                  <a:schemeClr val="bg1"/>
                </a:solidFill>
              </a:rPr>
              <a:t>B=5</a:t>
            </a:r>
            <a:endParaRPr lang="zh-CN" altLang="en-US" sz="1600" dirty="0">
              <a:solidFill>
                <a:schemeClr val="bg1"/>
              </a:solidFill>
            </a:endParaRPr>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p:spPr>
        <p:txBody>
          <a:bodyPr wrap="none" rtlCol="0">
            <a:spAutoFit/>
          </a:bodyPr>
          <a:lstStyle/>
          <a:p>
            <a:pPr algn="ctr"/>
            <a:r>
              <a:rPr lang="en-US" altLang="zh-CN" sz="1600" dirty="0">
                <a:solidFill>
                  <a:schemeClr val="bg1"/>
                </a:solidFill>
              </a:rPr>
              <a:t>F=2</a:t>
            </a:r>
            <a:endParaRPr lang="zh-CN" altLang="en-US" sz="1600" dirty="0">
              <a:solidFill>
                <a:schemeClr val="bg1"/>
              </a:solidFill>
            </a:endParaRPr>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4</a:t>
            </a:r>
            <a:endParaRPr lang="zh-CN" altLang="en-US" sz="1600" dirty="0">
              <a:solidFill>
                <a:schemeClr val="bg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5</a:t>
            </a:r>
            <a:endParaRPr lang="zh-CN" altLang="en-US" sz="1600" dirty="0">
              <a:solidFill>
                <a:schemeClr val="bg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p:spPr>
        <p:txBody>
          <a:bodyPr wrap="none" rtlCol="0">
            <a:spAutoFit/>
          </a:bodyPr>
          <a:lstStyle/>
          <a:p>
            <a:pPr algn="ctr"/>
            <a:r>
              <a:rPr lang="en-US" altLang="zh-CN" sz="1600" dirty="0">
                <a:solidFill>
                  <a:schemeClr val="bg1"/>
                </a:solidFill>
              </a:rPr>
              <a:t>C=2</a:t>
            </a:r>
            <a:endParaRPr lang="zh-CN" altLang="en-US" sz="1600" dirty="0">
              <a:solidFill>
                <a:schemeClr val="bg1"/>
              </a:solidFill>
            </a:endParaRPr>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p:spPr>
        <p:txBody>
          <a:bodyPr wrap="none" rtlCol="0">
            <a:spAutoFit/>
          </a:bodyPr>
          <a:lstStyle/>
          <a:p>
            <a:pPr algn="ctr"/>
            <a:r>
              <a:rPr lang="en-US" altLang="zh-CN" sz="1600" dirty="0">
                <a:solidFill>
                  <a:schemeClr val="bg1"/>
                </a:solidFill>
              </a:rPr>
              <a:t>D=7</a:t>
            </a:r>
            <a:endParaRPr lang="zh-CN" altLang="en-US" sz="1600" dirty="0">
              <a:solidFill>
                <a:schemeClr val="bg1"/>
              </a:solidFill>
            </a:endParaRPr>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3390622418"/>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bg1"/>
                          </a:solidFill>
                        </a:rPr>
                        <a:t>路径</a:t>
                      </a:r>
                    </a:p>
                  </a:txBody>
                  <a:tcPr anchor="ct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bg1"/>
                          </a:solidFill>
                        </a:rPr>
                        <a:t>长度</a:t>
                      </a:r>
                    </a:p>
                  </a:txBody>
                  <a:tcPr anchor="ct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chemeClr val="bg1"/>
                          </a:solidFill>
                        </a:rPr>
                        <a:t>关键路径</a:t>
                      </a:r>
                    </a:p>
                  </a:txBody>
                  <a:tcPr anchor="ct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chemeClr val="bg1"/>
                          </a:solidFill>
                        </a:rPr>
                        <a:t>路径</a:t>
                      </a:r>
                      <a:r>
                        <a:rPr lang="en-US" altLang="zh-CN" sz="1800" b="0" dirty="0">
                          <a:solidFill>
                            <a:schemeClr val="bg1"/>
                          </a:solidFill>
                        </a:rPr>
                        <a:t>1</a:t>
                      </a:r>
                      <a:endParaRPr lang="zh-CN" altLang="en-US" sz="18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en-US" altLang="zh-CN" sz="1800" b="0" dirty="0">
                          <a:solidFill>
                            <a:schemeClr val="bg1"/>
                          </a:solidFill>
                        </a:rPr>
                        <a:t>1 </a:t>
                      </a:r>
                      <a:r>
                        <a:rPr lang="zh-CN" altLang="en-US" sz="1800" b="0" dirty="0">
                          <a:solidFill>
                            <a:schemeClr val="bg1"/>
                          </a:solidFill>
                        </a:rPr>
                        <a:t>→ </a:t>
                      </a:r>
                      <a:r>
                        <a:rPr lang="en-US" altLang="zh-CN" sz="1800" b="0" dirty="0">
                          <a:solidFill>
                            <a:schemeClr val="bg1"/>
                          </a:solidFill>
                        </a:rPr>
                        <a:t>2 </a:t>
                      </a:r>
                      <a:r>
                        <a:rPr lang="zh-CN" altLang="en-US" sz="1800" b="0" dirty="0">
                          <a:solidFill>
                            <a:schemeClr val="bg1"/>
                          </a:solidFill>
                        </a:rPr>
                        <a:t>→ </a:t>
                      </a:r>
                      <a:r>
                        <a:rPr lang="en-US" altLang="zh-CN" sz="1800" b="0" dirty="0">
                          <a:solidFill>
                            <a:schemeClr val="bg1"/>
                          </a:solidFill>
                        </a:rPr>
                        <a:t>3 </a:t>
                      </a:r>
                      <a:r>
                        <a:rPr lang="zh-CN" altLang="en-US" sz="1800" b="0" dirty="0">
                          <a:solidFill>
                            <a:schemeClr val="bg1"/>
                          </a:solidFill>
                        </a:rPr>
                        <a:t>→ </a:t>
                      </a:r>
                      <a:r>
                        <a:rPr lang="en-US" altLang="zh-CN" sz="1800" b="0" dirty="0">
                          <a:solidFill>
                            <a:schemeClr val="bg1"/>
                          </a:solidFill>
                        </a:rPr>
                        <a:t>4 </a:t>
                      </a:r>
                      <a:r>
                        <a:rPr lang="zh-CN" altLang="en-US" sz="1800" b="0" dirty="0">
                          <a:solidFill>
                            <a:schemeClr val="bg1"/>
                          </a:solidFill>
                        </a:rPr>
                        <a:t>→ </a:t>
                      </a:r>
                      <a:r>
                        <a:rPr lang="en-US" altLang="zh-CN" sz="1800" b="0" dirty="0">
                          <a:solidFill>
                            <a:schemeClr val="bg1"/>
                          </a:solidFill>
                        </a:rPr>
                        <a:t>6</a:t>
                      </a:r>
                      <a:endParaRPr lang="zh-CN" altLang="en-US" sz="18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en-US" altLang="zh-CN" sz="1800" b="0" dirty="0">
                          <a:solidFill>
                            <a:schemeClr val="bg1"/>
                          </a:solidFill>
                        </a:rPr>
                        <a:t>10</a:t>
                      </a:r>
                      <a:endParaRPr lang="zh-CN" altLang="en-US" sz="18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800" b="0" dirty="0">
                          <a:solidFill>
                            <a:schemeClr val="bg1"/>
                          </a:solidFill>
                        </a:rPr>
                        <a:t>×</a:t>
                      </a:r>
                      <a:endParaRPr lang="zh-CN" altLang="en-US" sz="18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chemeClr val="bg1"/>
                          </a:solidFill>
                        </a:rPr>
                        <a:t>路径</a:t>
                      </a:r>
                      <a:r>
                        <a:rPr lang="en-US" altLang="zh-CN" sz="1800" b="0" dirty="0">
                          <a:solidFill>
                            <a:schemeClr val="bg1"/>
                          </a:solidFill>
                        </a:rPr>
                        <a:t>2</a:t>
                      </a:r>
                      <a:endParaRPr lang="zh-CN" altLang="en-US" sz="1800" b="0" dirty="0">
                        <a:solidFill>
                          <a:schemeClr val="bg1"/>
                        </a:solidFill>
                      </a:endParaRPr>
                    </a:p>
                  </a:txBody>
                  <a:tcPr anchor="ct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chemeClr val="bg1"/>
                          </a:solidFill>
                        </a:rPr>
                        <a:t>1 </a:t>
                      </a:r>
                      <a:r>
                        <a:rPr lang="zh-CN" altLang="en-US" sz="1800" b="0" dirty="0">
                          <a:solidFill>
                            <a:schemeClr val="bg1"/>
                          </a:solidFill>
                        </a:rPr>
                        <a:t>→ </a:t>
                      </a:r>
                      <a:r>
                        <a:rPr lang="en-US" altLang="zh-CN" sz="1800" b="0" dirty="0">
                          <a:solidFill>
                            <a:schemeClr val="bg1"/>
                          </a:solidFill>
                        </a:rPr>
                        <a:t>2 </a:t>
                      </a:r>
                      <a:r>
                        <a:rPr lang="zh-CN" altLang="en-US" sz="1800" b="0" dirty="0">
                          <a:solidFill>
                            <a:schemeClr val="bg1"/>
                          </a:solidFill>
                        </a:rPr>
                        <a:t>→ </a:t>
                      </a:r>
                      <a:r>
                        <a:rPr lang="en-US" altLang="zh-CN" sz="1800" b="0" dirty="0">
                          <a:solidFill>
                            <a:schemeClr val="bg1"/>
                          </a:solidFill>
                        </a:rPr>
                        <a:t>3 </a:t>
                      </a:r>
                      <a:r>
                        <a:rPr lang="zh-CN" altLang="en-US" sz="1800" b="0" dirty="0">
                          <a:solidFill>
                            <a:schemeClr val="bg1"/>
                          </a:solidFill>
                        </a:rPr>
                        <a:t>→ </a:t>
                      </a:r>
                      <a:r>
                        <a:rPr lang="en-US" altLang="zh-CN" sz="1800" b="0" dirty="0">
                          <a:solidFill>
                            <a:schemeClr val="bg1"/>
                          </a:solidFill>
                        </a:rPr>
                        <a:t>5 </a:t>
                      </a:r>
                      <a:r>
                        <a:rPr lang="zh-CN" altLang="en-US" sz="1800" b="0" dirty="0">
                          <a:solidFill>
                            <a:schemeClr val="bg1"/>
                          </a:solidFill>
                        </a:rPr>
                        <a:t>→ </a:t>
                      </a:r>
                      <a:r>
                        <a:rPr lang="en-US" altLang="zh-CN" sz="1800" b="0" dirty="0">
                          <a:solidFill>
                            <a:schemeClr val="bg1"/>
                          </a:solidFill>
                        </a:rPr>
                        <a:t>6</a:t>
                      </a:r>
                      <a:endParaRPr lang="zh-CN" altLang="en-US" sz="1800" b="0" dirty="0">
                        <a:solidFill>
                          <a:schemeClr val="bg1"/>
                        </a:solidFill>
                      </a:endParaRPr>
                    </a:p>
                  </a:txBody>
                  <a:tcPr anchor="ct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chemeClr val="bg1"/>
                          </a:solidFill>
                        </a:rPr>
                        <a:t>16</a:t>
                      </a:r>
                      <a:endParaRPr lang="zh-CN" altLang="en-US" sz="1800" b="0" dirty="0">
                        <a:solidFill>
                          <a:schemeClr val="bg1"/>
                        </a:solidFill>
                      </a:endParaRPr>
                    </a:p>
                  </a:txBody>
                  <a:tcPr anchor="ct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chemeClr val="bg1"/>
                          </a:solidFill>
                        </a:rPr>
                        <a:t>√</a:t>
                      </a:r>
                    </a:p>
                  </a:txBody>
                  <a:tcPr anchor="ct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solidFill>
                  <a:srgbClr val="FFFF00"/>
                </a:solidFill>
              </a:rPr>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695998"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695998"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2389739546"/>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Crash cost - Normal cost</a:t>
                      </a:r>
                      <a:endParaRPr lang="zh-CN" altLang="en-US" sz="1400" b="0" dirty="0">
                        <a:solidFill>
                          <a:schemeClr val="tx1"/>
                        </a:solidFill>
                      </a:endParaRPr>
                    </a:p>
                  </a:txBody>
                  <a:tcPr anchor="ct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Crash time - Normal time</a:t>
                      </a:r>
                      <a:endParaRPr lang="zh-CN" altLang="en-US" sz="1400" b="0" dirty="0">
                        <a:solidFill>
                          <a:schemeClr val="tx1"/>
                        </a:solidFill>
                      </a:endParaRPr>
                    </a:p>
                  </a:txBody>
                  <a:tcPr anchor="ctr">
                    <a:lnL w="381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695998"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695998"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7" name="文本占位符 6">
            <a:extLst>
              <a:ext uri="{FF2B5EF4-FFF2-40B4-BE49-F238E27FC236}">
                <a16:creationId xmlns:a16="http://schemas.microsoft.com/office/drawing/2014/main" id="{5854AD27-E697-966B-CB7D-90D37ABBFDC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1019523382"/>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695998"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7" name="文本占位符 6">
            <a:extLst>
              <a:ext uri="{FF2B5EF4-FFF2-40B4-BE49-F238E27FC236}">
                <a16:creationId xmlns:a16="http://schemas.microsoft.com/office/drawing/2014/main" id="{945BF2E1-955E-B968-F325-6D2E47C21C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695998"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695998"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solidFill>
              <a:schemeClr val="tx1"/>
            </a:solid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solidFill>
              <a:schemeClr val="tx1"/>
            </a:solid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869019404"/>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质检比 </a:t>
                      </a:r>
                      <a:r>
                        <a:rPr lang="en-US" altLang="zh-CN" sz="1600" dirty="0">
                          <a:solidFill>
                            <a:schemeClr val="tx1"/>
                          </a:solidFill>
                        </a:rPr>
                        <a:t>= </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t>1:10:100 </a:t>
            </a:r>
            <a:r>
              <a:rPr lang="zh-CN" altLang="en-US" sz="2800" dirty="0"/>
              <a:t>法则</a:t>
            </a:r>
          </a:p>
        </p:txBody>
      </p:sp>
    </p:spTree>
    <p:extLst>
      <p:ext uri="{BB962C8B-B14F-4D97-AF65-F5344CB8AC3E}">
        <p14:creationId xmlns:p14="http://schemas.microsoft.com/office/powerpoint/2010/main" val="367724098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695998"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695998"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17" name="内容占位符 16">
            <a:extLst>
              <a:ext uri="{FF2B5EF4-FFF2-40B4-BE49-F238E27FC236}">
                <a16:creationId xmlns:a16="http://schemas.microsoft.com/office/drawing/2014/main" id="{A6CF8B59-A905-6FF3-18F0-728C7588FDD9}"/>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7" name="内容占位符 6">
            <a:extLst>
              <a:ext uri="{FF2B5EF4-FFF2-40B4-BE49-F238E27FC236}">
                <a16:creationId xmlns:a16="http://schemas.microsoft.com/office/drawing/2014/main" id="{C5B1AE6E-1212-7F2F-CFD6-FF56AD17C62F}"/>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695998"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3643316866"/>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altLang="zh-CN" sz="1600" dirty="0">
                          <a:solidFill>
                            <a:schemeClr val="tx1"/>
                          </a:solidFill>
                        </a:rPr>
                        <a:t>(</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altLang="zh-CN" sz="1600" dirty="0">
                          <a:solidFill>
                            <a:schemeClr val="tx1"/>
                          </a:solidFill>
                        </a:rPr>
                        <a:t>(</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altLang="zh-CN" sz="1600" dirty="0">
                          <a:solidFill>
                            <a:schemeClr val="tx1"/>
                          </a:solidFill>
                        </a:rPr>
                        <a:t>(</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altLang="zh-CN" sz="1600" dirty="0">
                          <a:solidFill>
                            <a:schemeClr val="tx1"/>
                          </a:solidFill>
                        </a:rPr>
                        <a:t>(</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altLang="zh-CN" sz="1600" dirty="0">
                          <a:solidFill>
                            <a:schemeClr val="tx1"/>
                          </a:solidFill>
                        </a:rPr>
                        <a:t>(</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a:solidFill>
                            <a:schemeClr val="tx1"/>
                          </a:solidFill>
                        </a:rPr>
                        <a:t>可维护性 </a:t>
                      </a:r>
                      <a:r>
                        <a:rPr lang="en-US" altLang="zh-CN" sz="1600">
                          <a:solidFill>
                            <a:schemeClr val="tx1"/>
                          </a:solidFill>
                        </a:rPr>
                        <a:t>(</a:t>
                      </a:r>
                      <a:r>
                        <a:rPr lang="en-US" sz="1600">
                          <a:solidFill>
                            <a:schemeClr val="tx1"/>
                          </a:solidFill>
                        </a:rPr>
                        <a:t>Maintainability)</a:t>
                      </a:r>
                      <a:br>
                        <a:rPr lang="en-US" sz="1600">
                          <a:solidFill>
                            <a:schemeClr val="tx1"/>
                          </a:solidFill>
                        </a:rPr>
                      </a:br>
                      <a:r>
                        <a:rPr lang="zh-CN" altLang="en-US" sz="1600">
                          <a:solidFill>
                            <a:schemeClr val="tx1"/>
                          </a:solidFill>
                        </a:rPr>
                        <a:t>灵活性 </a:t>
                      </a:r>
                      <a:r>
                        <a:rPr lang="en-US" altLang="zh-CN" sz="1600">
                          <a:solidFill>
                            <a:schemeClr val="tx1"/>
                          </a:solidFill>
                        </a:rPr>
                        <a:t>(</a:t>
                      </a:r>
                      <a:r>
                        <a:rPr lang="en-US" sz="1600">
                          <a:solidFill>
                            <a:schemeClr val="tx1"/>
                          </a:solidFill>
                        </a:rPr>
                        <a:t>Flexibility)</a:t>
                      </a:r>
                      <a:br>
                        <a:rPr lang="en-US" sz="1600">
                          <a:solidFill>
                            <a:schemeClr val="tx1"/>
                          </a:solidFill>
                        </a:rPr>
                      </a:br>
                      <a:r>
                        <a:rPr lang="zh-CN" altLang="en-US" sz="1600">
                          <a:solidFill>
                            <a:schemeClr val="tx1"/>
                          </a:solidFill>
                        </a:rPr>
                        <a:t>可测试性 </a:t>
                      </a:r>
                      <a:r>
                        <a:rPr lang="en-US" altLang="zh-CN" sz="1600">
                          <a:solidFill>
                            <a:schemeClr val="tx1"/>
                          </a:solidFill>
                        </a:rPr>
                        <a:t>(</a:t>
                      </a:r>
                      <a:r>
                        <a:rPr lang="en-US" sz="160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altLang="zh-CN" sz="1600" dirty="0">
                          <a:solidFill>
                            <a:schemeClr val="tx1"/>
                          </a:solidFill>
                        </a:rPr>
                        <a:t>(</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altLang="zh-CN" sz="1600" dirty="0">
                          <a:solidFill>
                            <a:schemeClr val="tx1"/>
                          </a:solidFill>
                        </a:rPr>
                        <a:t>(</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altLang="zh-CN" sz="1600" dirty="0">
                          <a:solidFill>
                            <a:schemeClr val="tx1"/>
                          </a:solidFill>
                        </a:rPr>
                        <a:t>(</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1005403" cy="338554"/>
          </a:xfrm>
          <a:prstGeom prst="rect">
            <a:avLst/>
          </a:prstGeom>
          <a:noFill/>
          <a:ln>
            <a:noFill/>
          </a:ln>
        </p:spPr>
        <p:txBody>
          <a:bodyPr wrap="none" rtlCol="0">
            <a:spAutoFit/>
          </a:bodyPr>
          <a:lstStyle/>
          <a:p>
            <a:pPr algn="l"/>
            <a:r>
              <a:rPr lang="zh-CN" altLang="en-US" sz="16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210588" cy="338554"/>
          </a:xfrm>
          <a:prstGeom prst="rect">
            <a:avLst/>
          </a:prstGeom>
          <a:noFill/>
          <a:ln>
            <a:noFill/>
          </a:ln>
        </p:spPr>
        <p:txBody>
          <a:bodyPr wrap="none" rtlCol="0">
            <a:spAutoFit/>
          </a:bodyPr>
          <a:lstStyle/>
          <a:p>
            <a:pPr algn="l"/>
            <a:r>
              <a:rPr lang="zh-CN" altLang="en-US" sz="16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1005403" cy="338554"/>
          </a:xfrm>
          <a:prstGeom prst="rect">
            <a:avLst/>
          </a:prstGeom>
          <a:noFill/>
          <a:ln>
            <a:noFill/>
          </a:ln>
        </p:spPr>
        <p:txBody>
          <a:bodyPr wrap="none" rtlCol="0">
            <a:spAutoFit/>
          </a:bodyPr>
          <a:lstStyle/>
          <a:p>
            <a:pPr algn="l"/>
            <a:r>
              <a:rPr lang="zh-CN" altLang="en-US" sz="16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695998" y="360000"/>
            <a:ext cx="6375921" cy="429413"/>
          </a:xfrm>
        </p:spPr>
        <p:txBody>
          <a:bodyPr/>
          <a:lstStyle/>
          <a:p>
            <a:r>
              <a:rPr lang="en-US" altLang="zh-CN" dirty="0"/>
              <a:t>3. </a:t>
            </a:r>
            <a:r>
              <a:rPr lang="zh-CN" altLang="en-US" dirty="0"/>
              <a:t>软件质量管理活动</a:t>
            </a:r>
          </a:p>
        </p:txBody>
      </p:sp>
      <p:sp>
        <p:nvSpPr>
          <p:cNvPr id="7" name="内容占位符 6">
            <a:extLst>
              <a:ext uri="{FF2B5EF4-FFF2-40B4-BE49-F238E27FC236}">
                <a16:creationId xmlns:a16="http://schemas.microsoft.com/office/drawing/2014/main" id="{8D897C33-83F9-84BB-9DEB-74045D3C1E33}"/>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A736058A-D61C-DE23-4F66-8C177442799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695998"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695998"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695998"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t>QA</a:t>
            </a:r>
            <a:endParaRPr lang="zh-CN" altLang="en-US" sz="2800" dirty="0"/>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t>QC</a:t>
            </a:r>
            <a:endParaRPr lang="zh-CN" altLang="en-US" sz="2800" dirty="0"/>
          </a:p>
        </p:txBody>
      </p:sp>
    </p:spTree>
    <p:extLst>
      <p:ext uri="{BB962C8B-B14F-4D97-AF65-F5344CB8AC3E}">
        <p14:creationId xmlns:p14="http://schemas.microsoft.com/office/powerpoint/2010/main" val="1812812361"/>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695998"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7" name="文本占位符 6">
            <a:extLst>
              <a:ext uri="{FF2B5EF4-FFF2-40B4-BE49-F238E27FC236}">
                <a16:creationId xmlns:a16="http://schemas.microsoft.com/office/drawing/2014/main" id="{C5C5AB4F-C2EE-B7CC-D77E-81265DC4B63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695998"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6" name="文本占位符 5">
            <a:extLst>
              <a:ext uri="{FF2B5EF4-FFF2-40B4-BE49-F238E27FC236}">
                <a16:creationId xmlns:a16="http://schemas.microsoft.com/office/drawing/2014/main" id="{90C05809-2B3F-9129-2BB9-9103FCAFA9F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695998"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7" name="文本占位符 6">
            <a:extLst>
              <a:ext uri="{FF2B5EF4-FFF2-40B4-BE49-F238E27FC236}">
                <a16:creationId xmlns:a16="http://schemas.microsoft.com/office/drawing/2014/main" id="{DC0B951E-90A1-7A6B-E2EA-4F302A60CC8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695998"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6" name="文本占位符 5">
            <a:extLst>
              <a:ext uri="{FF2B5EF4-FFF2-40B4-BE49-F238E27FC236}">
                <a16:creationId xmlns:a16="http://schemas.microsoft.com/office/drawing/2014/main" id="{485B08BF-D373-DB05-C4AF-7BA9D68D1C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695998"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695998"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695998"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695998"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695998"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2974269123"/>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5">
                        <a:lumMod val="75000"/>
                      </a:schemeClr>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5">
                        <a:lumMod val="75000"/>
                      </a:schemeClr>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3092556846"/>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5">
                        <a:lumMod val="75000"/>
                      </a:schemeClr>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5">
                        <a:lumMod val="75000"/>
                      </a:schemeClr>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695998"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6" name="文本占位符 5">
            <a:extLst>
              <a:ext uri="{FF2B5EF4-FFF2-40B4-BE49-F238E27FC236}">
                <a16:creationId xmlns:a16="http://schemas.microsoft.com/office/drawing/2014/main" id="{C048C235-357C-3038-203C-BCCF9C70D90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695998"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6" name="文本占位符 5">
            <a:extLst>
              <a:ext uri="{FF2B5EF4-FFF2-40B4-BE49-F238E27FC236}">
                <a16:creationId xmlns:a16="http://schemas.microsoft.com/office/drawing/2014/main" id="{43DC4924-4274-FBD8-4F43-FBE548FE295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695998"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6" name="文本占位符 5">
            <a:extLst>
              <a:ext uri="{FF2B5EF4-FFF2-40B4-BE49-F238E27FC236}">
                <a16:creationId xmlns:a16="http://schemas.microsoft.com/office/drawing/2014/main" id="{3933CA79-1D4C-0BC6-7567-4462EDD024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695998"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6" name="文本占位符 5">
            <a:extLst>
              <a:ext uri="{FF2B5EF4-FFF2-40B4-BE49-F238E27FC236}">
                <a16:creationId xmlns:a16="http://schemas.microsoft.com/office/drawing/2014/main" id="{DA27AD19-1D99-C22C-9905-72D439C6C5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1765129270"/>
              </p:ext>
            </p:extLst>
          </p:nvPr>
        </p:nvGraphicFramePr>
        <p:xfrm>
          <a:off x="1876425"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41427" y="4660103"/>
            <a:ext cx="720000" cy="720000"/>
          </a:xfrm>
          <a:prstGeom prst="rect">
            <a:avLst/>
          </a:prstGeom>
        </p:spPr>
      </p:pic>
    </p:spTree>
    <p:extLst>
      <p:ext uri="{BB962C8B-B14F-4D97-AF65-F5344CB8AC3E}">
        <p14:creationId xmlns:p14="http://schemas.microsoft.com/office/powerpoint/2010/main" val="4075609887"/>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a:t>
            </a:r>
            <a:r>
              <a:rPr lang="zh-CN" altLang="en-US"/>
              <a:t>（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spTree>
    <p:extLst>
      <p:ext uri="{BB962C8B-B14F-4D97-AF65-F5344CB8AC3E}">
        <p14:creationId xmlns:p14="http://schemas.microsoft.com/office/powerpoint/2010/main" val="769967317"/>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695998"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a:t>
            </a:r>
            <a:r>
              <a:rPr lang="zh-CN" altLang="en-US" dirty="0">
                <a:solidFill>
                  <a:schemeClr val="accent2"/>
                </a:solidFill>
              </a:rPr>
              <a:t>配置项</a:t>
            </a:r>
            <a:r>
              <a:rPr lang="zh-CN" altLang="en-US" dirty="0"/>
              <a:t>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695998"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a:p>
            <a:endParaRPr lang="zh-CN" altLang="en-US" dirty="0"/>
          </a:p>
          <a:p>
            <a:endParaRPr lang="zh-CN" altLang="en-US" dirty="0"/>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ysClr val="windowText" lastClr="000000"/>
                </a:solidFill>
              </a:rPr>
              <a:t>SCI</a:t>
            </a:r>
            <a:endParaRPr lang="zh-CN" altLang="en-US" sz="2400" dirty="0">
              <a:solidFill>
                <a:sysClr val="windowText" lastClr="000000"/>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695998" y="360000"/>
            <a:ext cx="6375921" cy="429413"/>
          </a:xfrm>
        </p:spPr>
        <p:txBody>
          <a:bodyPr/>
          <a:lstStyle/>
          <a:p>
            <a:r>
              <a:rPr lang="en-US" altLang="zh-CN" dirty="0"/>
              <a:t>1.3 </a:t>
            </a:r>
            <a:r>
              <a:rPr lang="zh-CN" altLang="en-US" dirty="0"/>
              <a:t>软件项目基线</a:t>
            </a:r>
          </a:p>
        </p:txBody>
      </p:sp>
      <p:sp>
        <p:nvSpPr>
          <p:cNvPr id="40" name="内容占位符 39">
            <a:extLst>
              <a:ext uri="{FF2B5EF4-FFF2-40B4-BE49-F238E27FC236}">
                <a16:creationId xmlns:a16="http://schemas.microsoft.com/office/drawing/2014/main" id="{48CFD867-F396-7EA4-99DB-A1C805AE63D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4063650682"/>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zh-CN" altLang="en-US" sz="1600" dirty="0"/>
                        <a:t>特征</a:t>
                      </a:r>
                    </a:p>
                  </a:txBody>
                  <a:tcPr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解释</a:t>
                      </a:r>
                    </a:p>
                  </a:txBody>
                  <a:tcPr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为什么重要？</a:t>
                      </a:r>
                    </a:p>
                  </a:txBody>
                  <a:tcPr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 </a:t>
                      </a:r>
                      <a:r>
                        <a:rPr lang="en-US" altLang="zh-CN" sz="1600" dirty="0"/>
                        <a:t>Review </a:t>
                      </a:r>
                      <a:r>
                        <a:rPr lang="zh-CN" altLang="en-US" sz="1600" dirty="0"/>
                        <a:t>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项目经理 </a:t>
            </a:r>
            <a:r>
              <a:rPr lang="en-US" altLang="zh-CN" dirty="0"/>
              <a:t>and the project manager</a:t>
            </a:r>
          </a:p>
          <a:p>
            <a:pPr lvl="1"/>
            <a:r>
              <a:rPr lang="zh-CN" altLang="en-US" dirty="0"/>
              <a:t>开发经理 </a:t>
            </a:r>
            <a:r>
              <a:rPr lang="en-US" altLang="zh-CN" dirty="0"/>
              <a:t>the development manager</a:t>
            </a:r>
          </a:p>
          <a:p>
            <a:pPr lvl="1"/>
            <a:r>
              <a:rPr lang="zh-CN" altLang="en-US" dirty="0"/>
              <a:t>测试经理 </a:t>
            </a:r>
            <a:r>
              <a:rPr lang="en-US" altLang="zh-CN" dirty="0"/>
              <a:t>a test manager</a:t>
            </a:r>
          </a:p>
          <a:p>
            <a:pPr lvl="1"/>
            <a:r>
              <a:rPr lang="zh-CN" altLang="en-US" dirty="0"/>
              <a:t>产品经理 </a:t>
            </a:r>
            <a:r>
              <a:rPr lang="en-US" altLang="zh-CN" dirty="0"/>
              <a:t>a product manager</a:t>
            </a:r>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695998" y="360000"/>
            <a:ext cx="6375921" cy="429413"/>
          </a:xfrm>
        </p:spPr>
        <p:txBody>
          <a:bodyPr/>
          <a:lstStyle/>
          <a:p>
            <a:r>
              <a:rPr lang="en-US" altLang="zh-CN" dirty="0"/>
              <a:t>2. </a:t>
            </a:r>
            <a:r>
              <a:rPr lang="zh-CN" altLang="en-US" dirty="0"/>
              <a:t>配置管理过程</a:t>
            </a:r>
          </a:p>
        </p:txBody>
      </p:sp>
      <p:sp>
        <p:nvSpPr>
          <p:cNvPr id="6" name="内容占位符 5">
            <a:extLst>
              <a:ext uri="{FF2B5EF4-FFF2-40B4-BE49-F238E27FC236}">
                <a16:creationId xmlns:a16="http://schemas.microsoft.com/office/drawing/2014/main" id="{A5BB81B8-AAD8-882F-1ABA-F3BE276DC7EC}"/>
              </a:ext>
            </a:extLst>
          </p:cNvPr>
          <p:cNvSpPr>
            <a:spLocks noGrp="1"/>
          </p:cNvSpPr>
          <p:nvPr>
            <p:ph idx="1"/>
          </p:nvPr>
        </p:nvSpPr>
        <p:spPr>
          <a:xfrm>
            <a:off x="696000" y="864000"/>
            <a:ext cx="10800000" cy="5400000"/>
          </a:xfrm>
        </p:spPr>
        <p:txBody>
          <a:bodyPr/>
          <a:lstStyle/>
          <a:p>
            <a:endParaRPr lang="zh-CN" altLang="en-US" dirty="0"/>
          </a:p>
        </p:txBody>
      </p:sp>
      <p:sp>
        <p:nvSpPr>
          <p:cNvPr id="14" name="文本占位符 13">
            <a:extLst>
              <a:ext uri="{FF2B5EF4-FFF2-40B4-BE49-F238E27FC236}">
                <a16:creationId xmlns:a16="http://schemas.microsoft.com/office/drawing/2014/main" id="{7F912A19-543A-BA90-846A-12336A2E3848}"/>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06</a:t>
            </a:r>
            <a:endParaRPr lang="zh-CN" altLang="en-US" sz="2400" b="1" dirty="0">
              <a:solidFill>
                <a:schemeClr val="bg1"/>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29" name="文本占位符 28">
            <a:extLst>
              <a:ext uri="{FF2B5EF4-FFF2-40B4-BE49-F238E27FC236}">
                <a16:creationId xmlns:a16="http://schemas.microsoft.com/office/drawing/2014/main" id="{66698798-00A0-7650-766C-7FCDE8FF351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1022262672"/>
              </p:ext>
            </p:extLst>
          </p:nvPr>
        </p:nvGraphicFramePr>
        <p:xfrm>
          <a:off x="694649" y="2758440"/>
          <a:ext cx="10801350" cy="134112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sz="1600" dirty="0">
                          <a:solidFill>
                            <a:schemeClr val="bg1"/>
                          </a:solidFill>
                        </a:rPr>
                        <a:t>状态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版本号格式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316052283"/>
                  </a:ext>
                </a:extLst>
              </a:tr>
              <a:tr h="0">
                <a:tc>
                  <a:txBody>
                    <a:bodyPr/>
                    <a:lstStyle/>
                    <a:p>
                      <a:pPr>
                        <a:buNone/>
                      </a:pPr>
                      <a:r>
                        <a:rPr lang="zh-CN" altLang="en-US" sz="1600"/>
                        <a:t>草稿 </a:t>
                      </a:r>
                      <a:r>
                        <a:rPr lang="en-US" sz="1600"/>
                        <a:t>Draft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s-ES" sz="1600" dirty="0"/>
                        <a:t>0.Y 或 0.YZ</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初始编写阶段，尚未评审通过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26911041"/>
                  </a:ext>
                </a:extLst>
              </a:tr>
              <a:tr h="0">
                <a:tc>
                  <a:txBody>
                    <a:bodyPr/>
                    <a:lstStyle/>
                    <a:p>
                      <a:pPr>
                        <a:buNone/>
                      </a:pPr>
                      <a:r>
                        <a:rPr lang="zh-CN" altLang="en-US" sz="1600"/>
                        <a:t>正式 </a:t>
                      </a:r>
                      <a:r>
                        <a:rPr lang="en-US" sz="1600"/>
                        <a:t>Formal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fr-FR" sz="1600"/>
                        <a:t>1.X 或 X.Y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经过评审、批准后发布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10376463"/>
                  </a:ext>
                </a:extLst>
              </a:tr>
              <a:tr h="0">
                <a:tc>
                  <a:txBody>
                    <a:bodyPr/>
                    <a:lstStyle/>
                    <a:p>
                      <a:pPr>
                        <a:buNone/>
                      </a:pPr>
                      <a:r>
                        <a:rPr lang="zh-CN" altLang="en-US" sz="1600"/>
                        <a:t>修改 </a:t>
                      </a:r>
                      <a:r>
                        <a:rPr lang="en-US" sz="1600"/>
                        <a:t>Modified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在原基础上递增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如从 </a:t>
                      </a:r>
                      <a:r>
                        <a:rPr lang="en-US" altLang="zh-CN" sz="1600" dirty="0"/>
                        <a:t>1.0 → 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668883"/>
                  </a:ext>
                </a:extLst>
              </a:tr>
            </a:tbl>
          </a:graphicData>
        </a:graphic>
      </p:graphicFrame>
      <p:sp>
        <p:nvSpPr>
          <p:cNvPr id="6" name="文本框 5">
            <a:extLst>
              <a:ext uri="{FF2B5EF4-FFF2-40B4-BE49-F238E27FC236}">
                <a16:creationId xmlns:a16="http://schemas.microsoft.com/office/drawing/2014/main" id="{44173DF6-7D15-B95A-6F45-238EED3B7E53}"/>
              </a:ext>
            </a:extLst>
          </p:cNvPr>
          <p:cNvSpPr txBox="1"/>
          <p:nvPr/>
        </p:nvSpPr>
        <p:spPr>
          <a:xfrm>
            <a:off x="5593299" y="2324100"/>
            <a:ext cx="1005403" cy="338554"/>
          </a:xfrm>
          <a:prstGeom prst="rect">
            <a:avLst/>
          </a:prstGeom>
          <a:noFill/>
        </p:spPr>
        <p:txBody>
          <a:bodyPr wrap="none" rtlCol="0">
            <a:spAutoFit/>
          </a:bodyPr>
          <a:lstStyle/>
          <a:p>
            <a:pPr algn="ctr"/>
            <a:r>
              <a:rPr lang="zh-CN" altLang="en-US" sz="1600" dirty="0"/>
              <a:t>版本规则</a:t>
            </a:r>
          </a:p>
        </p:txBody>
      </p:sp>
    </p:spTree>
    <p:extLst>
      <p:ext uri="{BB962C8B-B14F-4D97-AF65-F5344CB8AC3E}">
        <p14:creationId xmlns:p14="http://schemas.microsoft.com/office/powerpoint/2010/main" val="324730802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695998"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a:t>
            </a:r>
            <a:endParaRPr lang="en-US" altLang="zh-CN" dirty="0"/>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22" name="文本占位符 21">
            <a:extLst>
              <a:ext uri="{FF2B5EF4-FFF2-40B4-BE49-F238E27FC236}">
                <a16:creationId xmlns:a16="http://schemas.microsoft.com/office/drawing/2014/main" id="{6A3F092C-CD57-3E05-88B2-787041B72207}"/>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E474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endParaRPr lang="zh-CN" altLang="en-US" dirty="0"/>
          </a:p>
          <a:p>
            <a:r>
              <a:rPr lang="en-US" altLang="zh-CN" dirty="0"/>
              <a:t>CCB </a:t>
            </a:r>
            <a:r>
              <a:rPr lang="zh-CN" altLang="en-US" dirty="0"/>
              <a:t>评估变更影响</a:t>
            </a:r>
          </a:p>
          <a:p>
            <a:r>
              <a:rPr lang="zh-CN" altLang="en-US" dirty="0"/>
              <a:t>若批准，则执行变更</a:t>
            </a:r>
            <a:endParaRPr lang="en-US" altLang="zh-CN" dirty="0"/>
          </a:p>
          <a:p>
            <a:r>
              <a:rPr lang="zh-CN" altLang="en-US" dirty="0"/>
              <a:t>若拒绝，则通知申请人并归档</a:t>
            </a:r>
          </a:p>
          <a:p>
            <a:r>
              <a:rPr lang="zh-CN" altLang="en-US" dirty="0"/>
              <a:t>更新基线与文档，关闭变更请求</a:t>
            </a:r>
          </a:p>
          <a:p>
            <a:endParaRPr lang="zh-CN" altLang="en-US" dirty="0"/>
          </a:p>
        </p:txBody>
      </p:sp>
      <p:sp>
        <p:nvSpPr>
          <p:cNvPr id="5" name="文本占位符 4">
            <a:extLst>
              <a:ext uri="{FF2B5EF4-FFF2-40B4-BE49-F238E27FC236}">
                <a16:creationId xmlns:a16="http://schemas.microsoft.com/office/drawing/2014/main" id="{61D5013D-CF56-762F-457E-1182F18BF4F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3488271075"/>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970500" y="1147541"/>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253861" y="2443684"/>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4115507" y="2443684"/>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6098725" y="2443685"/>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8001707" y="2443685"/>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918110" y="671293"/>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792031" y="478009"/>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848933" y="1602116"/>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840540" y="1429500"/>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4032590" y="3591188"/>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363958" y="3591188"/>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695326" y="3591188"/>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5026694" y="3591188"/>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358061" y="3591188"/>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4192204" y="2911885"/>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854939" y="2892252"/>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238641" y="3591188"/>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531909" y="3591188"/>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825177" y="3591188"/>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7118445" y="3591188"/>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286839" y="3023301"/>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726741" y="3003669"/>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293560B5-667E-B7A7-F773-401BDCB40C6E}"/>
              </a:ext>
            </a:extLst>
          </p:cNvPr>
          <p:cNvSpPr txBox="1"/>
          <p:nvPr/>
        </p:nvSpPr>
        <p:spPr>
          <a:xfrm>
            <a:off x="7918790" y="3591188"/>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3" name="文本框 2">
            <a:extLst>
              <a:ext uri="{FF2B5EF4-FFF2-40B4-BE49-F238E27FC236}">
                <a16:creationId xmlns:a16="http://schemas.microsoft.com/office/drawing/2014/main" id="{B094AA16-5CA6-6A5B-5799-F650D98AC58C}"/>
              </a:ext>
            </a:extLst>
          </p:cNvPr>
          <p:cNvSpPr txBox="1"/>
          <p:nvPr/>
        </p:nvSpPr>
        <p:spPr>
          <a:xfrm>
            <a:off x="8250158" y="3591188"/>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4" name="文本框 3">
            <a:extLst>
              <a:ext uri="{FF2B5EF4-FFF2-40B4-BE49-F238E27FC236}">
                <a16:creationId xmlns:a16="http://schemas.microsoft.com/office/drawing/2014/main" id="{CE6CD43D-BE96-EBCF-2C48-8BD015570639}"/>
              </a:ext>
            </a:extLst>
          </p:cNvPr>
          <p:cNvSpPr txBox="1"/>
          <p:nvPr/>
        </p:nvSpPr>
        <p:spPr>
          <a:xfrm>
            <a:off x="8581526" y="3591188"/>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5" name="文本框 4">
            <a:extLst>
              <a:ext uri="{FF2B5EF4-FFF2-40B4-BE49-F238E27FC236}">
                <a16:creationId xmlns:a16="http://schemas.microsoft.com/office/drawing/2014/main" id="{EA65B8CC-F165-D95A-5EBC-71FB67EF377D}"/>
              </a:ext>
            </a:extLst>
          </p:cNvPr>
          <p:cNvSpPr txBox="1"/>
          <p:nvPr/>
        </p:nvSpPr>
        <p:spPr>
          <a:xfrm>
            <a:off x="8912894" y="3591188"/>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6" name="文本框 5">
            <a:extLst>
              <a:ext uri="{FF2B5EF4-FFF2-40B4-BE49-F238E27FC236}">
                <a16:creationId xmlns:a16="http://schemas.microsoft.com/office/drawing/2014/main" id="{6E803047-0510-1B20-BBB4-6B32E0A1D8DD}"/>
              </a:ext>
            </a:extLst>
          </p:cNvPr>
          <p:cNvSpPr txBox="1"/>
          <p:nvPr/>
        </p:nvSpPr>
        <p:spPr>
          <a:xfrm>
            <a:off x="9244261" y="3591188"/>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3" name="连接符: 肘形 12">
            <a:extLst>
              <a:ext uri="{FF2B5EF4-FFF2-40B4-BE49-F238E27FC236}">
                <a16:creationId xmlns:a16="http://schemas.microsoft.com/office/drawing/2014/main" id="{4CCFC0F9-F2EA-BE5B-ED4B-EECBECE76C80}"/>
              </a:ext>
            </a:extLst>
          </p:cNvPr>
          <p:cNvCxnSpPr>
            <a:stCxn id="12" idx="2"/>
            <a:endCxn id="2" idx="0"/>
          </p:cNvCxnSpPr>
          <p:nvPr/>
        </p:nvCxnSpPr>
        <p:spPr>
          <a:xfrm rot="5400000">
            <a:off x="8078405" y="2911885"/>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8405662F-C5DA-8C87-A8C1-AF1DF56B62EA}"/>
              </a:ext>
            </a:extLst>
          </p:cNvPr>
          <p:cNvCxnSpPr>
            <a:stCxn id="12" idx="2"/>
            <a:endCxn id="6" idx="0"/>
          </p:cNvCxnSpPr>
          <p:nvPr/>
        </p:nvCxnSpPr>
        <p:spPr>
          <a:xfrm rot="16200000" flipH="1">
            <a:off x="8741140" y="2892252"/>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3374866"/>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43A2D914-2A54-D5B1-41F7-9FB60468FE29}"/>
              </a:ext>
            </a:extLst>
          </p:cNvPr>
          <p:cNvSpPr>
            <a:spLocks noGrp="1"/>
          </p:cNvSpPr>
          <p:nvPr>
            <p:ph type="body" sz="quarter" idx="10"/>
          </p:nvPr>
        </p:nvSpPr>
        <p:spPr>
          <a:xfrm>
            <a:off x="3219345" y="1629000"/>
            <a:ext cx="8640000" cy="3600000"/>
          </a:xfrm>
        </p:spPr>
        <p:txBody>
          <a:bodyPr/>
          <a:lstStyle/>
          <a:p>
            <a:r>
              <a:rPr lang="zh-CN" altLang="en-US" dirty="0"/>
              <a:t>思考题 </a:t>
            </a:r>
            <a:r>
              <a:rPr lang="en-US" altLang="zh-CN" dirty="0"/>
              <a:t>Thinking</a:t>
            </a:r>
          </a:p>
          <a:p>
            <a:endParaRPr lang="en-US" altLang="zh-CN" dirty="0"/>
          </a:p>
          <a:p>
            <a:r>
              <a:rPr lang="zh-CN" altLang="en-US" dirty="0"/>
              <a:t>为什么变更批准</a:t>
            </a:r>
            <a:r>
              <a:rPr lang="en-US" altLang="zh-CN" dirty="0"/>
              <a:t>/</a:t>
            </a:r>
            <a:r>
              <a:rPr lang="zh-CN" altLang="en-US" dirty="0"/>
              <a:t>验证和变更实现都涉及到验证？</a:t>
            </a:r>
          </a:p>
        </p:txBody>
      </p:sp>
    </p:spTree>
    <p:extLst>
      <p:ext uri="{BB962C8B-B14F-4D97-AF65-F5344CB8AC3E}">
        <p14:creationId xmlns:p14="http://schemas.microsoft.com/office/powerpoint/2010/main" val="1209496322"/>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695998"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p:txBody>
          <a:bodyPr/>
          <a:lstStyle/>
          <a:p>
            <a:r>
              <a:rPr lang="zh-CN" altLang="en-US" dirty="0"/>
              <a:t>质量审计</a:t>
            </a:r>
            <a:endParaRPr lang="en-US" altLang="zh-CN" dirty="0"/>
          </a:p>
          <a:p>
            <a:pPr lvl="1"/>
            <a:r>
              <a:rPr lang="zh-CN" altLang="en-US" dirty="0"/>
              <a:t>配置管理活动审计</a:t>
            </a:r>
            <a:r>
              <a:rPr lang="en-US" altLang="zh-CN" dirty="0"/>
              <a:t>/</a:t>
            </a:r>
            <a:r>
              <a:rPr lang="zh-CN" altLang="en-US" dirty="0"/>
              <a:t>过程审计</a:t>
            </a:r>
            <a:endParaRPr lang="en-US" altLang="zh-CN" dirty="0"/>
          </a:p>
          <a:p>
            <a:pPr lvl="1"/>
            <a:r>
              <a:rPr lang="zh-CN" altLang="en-US" dirty="0"/>
              <a:t>基线审计</a:t>
            </a:r>
            <a:r>
              <a:rPr lang="en-US" altLang="zh-CN" dirty="0"/>
              <a:t>/</a:t>
            </a:r>
            <a:r>
              <a:rPr lang="zh-CN" altLang="en-US" dirty="0"/>
              <a:t>产品审计</a:t>
            </a:r>
            <a:endParaRPr lang="en-US" altLang="zh-CN" dirty="0"/>
          </a:p>
          <a:p>
            <a:r>
              <a:rPr lang="zh-CN" altLang="en-US" dirty="0"/>
              <a:t>确保某一变更已被实现</a:t>
            </a:r>
            <a:endParaRPr lang="en-US" altLang="zh-CN" dirty="0"/>
          </a:p>
          <a:p>
            <a:r>
              <a:rPr lang="zh-CN" altLang="en-US" dirty="0"/>
              <a:t>是技术复审的一部分</a:t>
            </a:r>
          </a:p>
        </p:txBody>
      </p:sp>
      <p:sp>
        <p:nvSpPr>
          <p:cNvPr id="7" name="文本占位符 6">
            <a:extLst>
              <a:ext uri="{FF2B5EF4-FFF2-40B4-BE49-F238E27FC236}">
                <a16:creationId xmlns:a16="http://schemas.microsoft.com/office/drawing/2014/main" id="{9E63BF95-4D6A-6EDB-F86C-2D01880C3646}"/>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3406850" y="3172344"/>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3406850" y="4937705"/>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2266276" y="3767024"/>
            <a:ext cx="936000" cy="936000"/>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2863223" y="3223397"/>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2863223" y="4574077"/>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文本框 24">
            <a:extLst>
              <a:ext uri="{FF2B5EF4-FFF2-40B4-BE49-F238E27FC236}">
                <a16:creationId xmlns:a16="http://schemas.microsoft.com/office/drawing/2014/main" id="{73D296D8-93CB-62F0-FB68-E682403270B3}"/>
              </a:ext>
            </a:extLst>
          </p:cNvPr>
          <p:cNvSpPr txBox="1"/>
          <p:nvPr/>
        </p:nvSpPr>
        <p:spPr>
          <a:xfrm>
            <a:off x="6096000" y="3193790"/>
            <a:ext cx="3672800" cy="338554"/>
          </a:xfrm>
          <a:prstGeom prst="rect">
            <a:avLst/>
          </a:prstGeom>
          <a:noFill/>
        </p:spPr>
        <p:txBody>
          <a:bodyPr wrap="none" rtlCol="0">
            <a:spAutoFit/>
          </a:bodyPr>
          <a:lstStyle/>
          <a:p>
            <a:r>
              <a:rPr lang="zh-CN" altLang="en-US" sz="1600" dirty="0"/>
              <a:t>遵循基线审计已批准的管理方法、规程</a:t>
            </a:r>
          </a:p>
        </p:txBody>
      </p:sp>
      <p:cxnSp>
        <p:nvCxnSpPr>
          <p:cNvPr id="27" name="直接箭头连接符 26">
            <a:extLst>
              <a:ext uri="{FF2B5EF4-FFF2-40B4-BE49-F238E27FC236}">
                <a16:creationId xmlns:a16="http://schemas.microsoft.com/office/drawing/2014/main" id="{55394E9C-0142-EA1B-A4F2-DB212BE504DD}"/>
              </a:ext>
            </a:extLst>
          </p:cNvPr>
          <p:cNvCxnSpPr>
            <a:stCxn id="8" idx="1"/>
            <a:endCxn id="25" idx="1"/>
          </p:cNvCxnSpPr>
          <p:nvPr/>
        </p:nvCxnSpPr>
        <p:spPr>
          <a:xfrm>
            <a:off x="5566850" y="3352344"/>
            <a:ext cx="529150" cy="107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7EEB238A-A3D4-E2AE-FD90-52B717DEA40A}"/>
              </a:ext>
            </a:extLst>
          </p:cNvPr>
          <p:cNvSpPr txBox="1"/>
          <p:nvPr/>
        </p:nvSpPr>
        <p:spPr>
          <a:xfrm>
            <a:off x="6096000" y="4959151"/>
            <a:ext cx="4288353" cy="338554"/>
          </a:xfrm>
          <a:prstGeom prst="rect">
            <a:avLst/>
          </a:prstGeom>
          <a:noFill/>
        </p:spPr>
        <p:txBody>
          <a:bodyPr wrap="none" rtlCol="0">
            <a:spAutoFit/>
          </a:bodyPr>
          <a:lstStyle/>
          <a:p>
            <a:r>
              <a:rPr lang="zh-CN" altLang="en-US" sz="1600" dirty="0"/>
              <a:t>正确构建配置项；确保基线的完整性和一致性</a:t>
            </a:r>
          </a:p>
        </p:txBody>
      </p:sp>
      <p:cxnSp>
        <p:nvCxnSpPr>
          <p:cNvPr id="32" name="直接箭头连接符 31">
            <a:extLst>
              <a:ext uri="{FF2B5EF4-FFF2-40B4-BE49-F238E27FC236}">
                <a16:creationId xmlns:a16="http://schemas.microsoft.com/office/drawing/2014/main" id="{53B1ACD2-E7B1-8A72-09A6-AA45C2D6FC67}"/>
              </a:ext>
            </a:extLst>
          </p:cNvPr>
          <p:cNvCxnSpPr>
            <a:stCxn id="10" idx="1"/>
            <a:endCxn id="30" idx="1"/>
          </p:cNvCxnSpPr>
          <p:nvPr/>
        </p:nvCxnSpPr>
        <p:spPr>
          <a:xfrm>
            <a:off x="5566850" y="5117705"/>
            <a:ext cx="529150" cy="107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695998"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34" name="文本占位符 33">
            <a:extLst>
              <a:ext uri="{FF2B5EF4-FFF2-40B4-BE49-F238E27FC236}">
                <a16:creationId xmlns:a16="http://schemas.microsoft.com/office/drawing/2014/main" id="{59B57C4E-102C-83D3-E648-A211F42E289D}"/>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695998" y="360000"/>
            <a:ext cx="6375921" cy="429413"/>
          </a:xfrm>
        </p:spPr>
        <p:txBody>
          <a:bodyPr/>
          <a:lstStyle/>
          <a:p>
            <a:r>
              <a:rPr lang="en-US" altLang="zh-CN" dirty="0"/>
              <a:t>2.6 </a:t>
            </a:r>
            <a:r>
              <a:rPr lang="zh-CN" altLang="en-US" dirty="0"/>
              <a:t>配置管理计划</a:t>
            </a:r>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a:t>
            </a:r>
            <a:r>
              <a:rPr lang="zh-CN" altLang="en-US" dirty="0">
                <a:solidFill>
                  <a:schemeClr val="accent2"/>
                </a:solidFill>
              </a:rPr>
              <a:t>配置管理者 </a:t>
            </a:r>
            <a:r>
              <a:rPr lang="en-US" altLang="zh-CN" dirty="0">
                <a:solidFill>
                  <a:schemeClr val="accent2"/>
                </a:solidFill>
              </a:rPr>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7" name="文本占位符 6">
            <a:extLst>
              <a:ext uri="{FF2B5EF4-FFF2-40B4-BE49-F238E27FC236}">
                <a16:creationId xmlns:a16="http://schemas.microsoft.com/office/drawing/2014/main" id="{15CF0C12-68B6-5639-4289-22D2BE48480C}"/>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55032"/>
            <a:ext cx="1800000" cy="432000"/>
          </a:xfrm>
          <a:prstGeom prst="rect">
            <a:avLst/>
          </a:prstGeom>
          <a:noFill/>
          <a:ln w="12700">
            <a:solidFill>
              <a:schemeClr val="tx1"/>
            </a:solid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2317459" y="4651175"/>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79105" y="4651175"/>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162323" y="4651176"/>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074541" y="4651176"/>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stCxn id="8" idx="2"/>
            <a:endCxn id="9" idx="0"/>
          </p:cNvCxnSpPr>
          <p:nvPr/>
        </p:nvCxnSpPr>
        <p:spPr>
          <a:xfrm rot="5400000">
            <a:off x="4224659" y="2779833"/>
            <a:ext cx="864143" cy="2878541"/>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stCxn id="8" idx="2"/>
            <a:endCxn id="12" idx="0"/>
          </p:cNvCxnSpPr>
          <p:nvPr/>
        </p:nvCxnSpPr>
        <p:spPr>
          <a:xfrm rot="16200000" flipH="1">
            <a:off x="7103198" y="2779833"/>
            <a:ext cx="864144" cy="2878541"/>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stCxn id="8" idx="2"/>
            <a:endCxn id="10" idx="0"/>
          </p:cNvCxnSpPr>
          <p:nvPr/>
        </p:nvCxnSpPr>
        <p:spPr>
          <a:xfrm rot="5400000">
            <a:off x="5155482" y="3710656"/>
            <a:ext cx="864143" cy="101689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stCxn id="8" idx="2"/>
            <a:endCxn id="11" idx="0"/>
          </p:cNvCxnSpPr>
          <p:nvPr/>
        </p:nvCxnSpPr>
        <p:spPr>
          <a:xfrm rot="16200000" flipH="1">
            <a:off x="6147089" y="3735942"/>
            <a:ext cx="864144" cy="96632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080229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a:extLst>
              <a:ext uri="{FF2B5EF4-FFF2-40B4-BE49-F238E27FC236}">
                <a16:creationId xmlns:a16="http://schemas.microsoft.com/office/drawing/2014/main" id="{3761D626-33A1-F3D8-D519-7F903D3CF5C8}"/>
              </a:ext>
            </a:extLst>
          </p:cNvPr>
          <p:cNvGraphicFramePr>
            <a:graphicFrameLocks noGrp="1"/>
          </p:cNvGraphicFramePr>
          <p:nvPr>
            <p:extLst>
              <p:ext uri="{D42A27DB-BD31-4B8C-83A1-F6EECF244321}">
                <p14:modId xmlns:p14="http://schemas.microsoft.com/office/powerpoint/2010/main" val="3134932987"/>
              </p:ext>
            </p:extLst>
          </p:nvPr>
        </p:nvGraphicFramePr>
        <p:xfrm>
          <a:off x="695325" y="2100897"/>
          <a:ext cx="10801350" cy="3230880"/>
        </p:xfrm>
        <a:graphic>
          <a:graphicData uri="http://schemas.openxmlformats.org/drawingml/2006/table">
            <a:tbl>
              <a:tblPr/>
              <a:tblGrid>
                <a:gridCol w="4043823">
                  <a:extLst>
                    <a:ext uri="{9D8B030D-6E8A-4147-A177-3AD203B41FA5}">
                      <a16:colId xmlns:a16="http://schemas.microsoft.com/office/drawing/2014/main" val="2867934318"/>
                    </a:ext>
                  </a:extLst>
                </a:gridCol>
                <a:gridCol w="6757527">
                  <a:extLst>
                    <a:ext uri="{9D8B030D-6E8A-4147-A177-3AD203B41FA5}">
                      <a16:colId xmlns:a16="http://schemas.microsoft.com/office/drawing/2014/main" val="3324239611"/>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75000"/>
                      </a:schemeClr>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75000"/>
                      </a:schemeClr>
                    </a:solidFill>
                  </a:tcPr>
                </a:tc>
                <a:extLst>
                  <a:ext uri="{0D108BD9-81ED-4DB2-BD59-A6C34878D82A}">
                    <a16:rowId xmlns:a16="http://schemas.microsoft.com/office/drawing/2014/main" val="632968330"/>
                  </a:ext>
                </a:extLst>
              </a:tr>
              <a:tr h="0">
                <a:tc>
                  <a:txBody>
                    <a:bodyPr/>
                    <a:lstStyle/>
                    <a:p>
                      <a:pPr>
                        <a:buNone/>
                      </a:pPr>
                      <a:r>
                        <a:rPr lang="zh-CN" altLang="en-US" sz="1600" dirty="0"/>
                        <a:t>制定配置管理计划 </a:t>
                      </a:r>
                      <a:r>
                        <a:rPr lang="en-US" altLang="zh-CN" sz="1600" dirty="0"/>
                        <a:t>CMP</a:t>
                      </a:r>
                    </a:p>
                    <a:p>
                      <a:pPr>
                        <a:buNone/>
                      </a:pPr>
                      <a:r>
                        <a:rPr lang="en-US" sz="1600" dirty="0"/>
                        <a:t>Configuration Management Plan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为整个项目定义如何实施配置管理的策略、流程、工具与职责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0179228"/>
                  </a:ext>
                </a:extLst>
              </a:tr>
              <a:tr h="0">
                <a:tc>
                  <a:txBody>
                    <a:bodyPr/>
                    <a:lstStyle/>
                    <a:p>
                      <a:pPr>
                        <a:buNone/>
                      </a:pPr>
                      <a:r>
                        <a:rPr lang="zh-CN" altLang="en-US" sz="1600"/>
                        <a:t>配置标识 </a:t>
                      </a:r>
                      <a:r>
                        <a:rPr lang="en-US" altLang="zh-CN" sz="1600"/>
                        <a:t>CI</a:t>
                      </a:r>
                    </a:p>
                    <a:p>
                      <a:pPr>
                        <a:buNone/>
                      </a:pPr>
                      <a:r>
                        <a:rPr lang="en-US" altLang="zh-CN" sz="1600"/>
                        <a:t>Configuration </a:t>
                      </a:r>
                      <a:r>
                        <a:rPr lang="en-US" sz="1600"/>
                        <a:t>Identification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确定哪些工件需要被管理（如代码、文档、测试用例），并赋予唯一标识符（如版本号、基线名）</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490626"/>
                  </a:ext>
                </a:extLst>
              </a:tr>
              <a:tr h="0">
                <a:tc>
                  <a:txBody>
                    <a:bodyPr/>
                    <a:lstStyle/>
                    <a:p>
                      <a:pPr>
                        <a:buNone/>
                      </a:pPr>
                      <a:r>
                        <a:rPr lang="it-IT" sz="1600"/>
                        <a:t>配置控制</a:t>
                      </a:r>
                    </a:p>
                    <a:p>
                      <a:pPr>
                        <a:buNone/>
                      </a:pPr>
                      <a:r>
                        <a:rPr lang="it-IT" sz="1600"/>
                        <a:t>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建立变更请求流程（</a:t>
                      </a:r>
                      <a:r>
                        <a:rPr lang="en-US" altLang="zh-CN" sz="1600"/>
                        <a:t>CR</a:t>
                      </a:r>
                      <a:r>
                        <a:rPr lang="zh-CN" altLang="en-US" sz="1600"/>
                        <a:t>）、审批机制、影响分析、实施与验证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557815"/>
                  </a:ext>
                </a:extLst>
              </a:tr>
              <a:tr h="0">
                <a:tc>
                  <a:txBody>
                    <a:bodyPr/>
                    <a:lstStyle/>
                    <a:p>
                      <a:pPr>
                        <a:buNone/>
                      </a:pPr>
                      <a:r>
                        <a:rPr lang="zh-CN" altLang="en-US" sz="1600"/>
                        <a:t>状态记账</a:t>
                      </a:r>
                      <a:endParaRPr lang="en-US" altLang="zh-CN" sz="1600"/>
                    </a:p>
                    <a:p>
                      <a:pPr>
                        <a:buNone/>
                      </a:pPr>
                      <a:r>
                        <a:rPr lang="en-US" sz="1600"/>
                        <a:t>Status Accounting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记录每个配置项的状态（如草稿、评审中、已批准、已发布）、历史变更记录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979687"/>
                  </a:ext>
                </a:extLst>
              </a:tr>
              <a:tr h="0">
                <a:tc>
                  <a:txBody>
                    <a:bodyPr/>
                    <a:lstStyle/>
                    <a:p>
                      <a:pPr>
                        <a:buNone/>
                      </a:pPr>
                      <a:r>
                        <a:rPr lang="zh-CN" altLang="en-US" sz="1600"/>
                        <a:t>配置审计</a:t>
                      </a:r>
                      <a:endParaRPr lang="en-US" altLang="zh-CN" sz="1600"/>
                    </a:p>
                    <a:p>
                      <a:pPr>
                        <a:buNone/>
                      </a:pPr>
                      <a:r>
                        <a:rPr lang="en-US" altLang="zh-CN" sz="1600"/>
                        <a:t>Audit</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功能审计（是否满足需求）</a:t>
                      </a:r>
                      <a:r>
                        <a:rPr lang="en-US" altLang="zh-CN" sz="1600" dirty="0"/>
                        <a:t>+ </a:t>
                      </a:r>
                      <a:r>
                        <a:rPr lang="zh-CN" altLang="en-US" sz="1600" dirty="0"/>
                        <a:t>物理审计（实际交付物是否与记录一致）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7190558"/>
                  </a:ext>
                </a:extLst>
              </a:tr>
            </a:tbl>
          </a:graphicData>
        </a:graphic>
      </p:graphicFrame>
    </p:spTree>
    <p:extLst>
      <p:ext uri="{BB962C8B-B14F-4D97-AF65-F5344CB8AC3E}">
        <p14:creationId xmlns:p14="http://schemas.microsoft.com/office/powerpoint/2010/main" val="4268066887"/>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40907567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75000"/>
                      </a:schemeClr>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75000"/>
                      </a:schemeClr>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8" name="文本占位符 7">
            <a:extLst>
              <a:ext uri="{FF2B5EF4-FFF2-40B4-BE49-F238E27FC236}">
                <a16:creationId xmlns:a16="http://schemas.microsoft.com/office/drawing/2014/main" id="{BDEDD34D-8897-79BD-8008-7D17CCC9E31C}"/>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954028449"/>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94107049"/>
                  </a:ext>
                </a:extLst>
              </a:tr>
              <a:tr h="0">
                <a:tc>
                  <a:txBody>
                    <a:bodyPr/>
                    <a:lstStyle/>
                    <a:p>
                      <a:pPr>
                        <a:buNone/>
                      </a:pPr>
                      <a:r>
                        <a:rPr lang="en-US">
                          <a:solidFill>
                            <a:schemeClr val="bg1"/>
                          </a:solidFill>
                        </a:rPr>
                        <a:t>Forming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形成期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0982016"/>
                  </a:ext>
                </a:extLst>
              </a:tr>
              <a:tr h="0">
                <a:tc>
                  <a:txBody>
                    <a:bodyPr/>
                    <a:lstStyle/>
                    <a:p>
                      <a:pPr>
                        <a:buNone/>
                      </a:pPr>
                      <a:r>
                        <a:rPr lang="en-US">
                          <a:solidFill>
                            <a:schemeClr val="bg1"/>
                          </a:solidFill>
                        </a:rPr>
                        <a:t>Storming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震荡期或磨合期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7801575"/>
                  </a:ext>
                </a:extLst>
              </a:tr>
              <a:tr h="0">
                <a:tc>
                  <a:txBody>
                    <a:bodyPr/>
                    <a:lstStyle/>
                    <a:p>
                      <a:pPr>
                        <a:buNone/>
                      </a:pPr>
                      <a:r>
                        <a:rPr lang="en-US">
                          <a:solidFill>
                            <a:schemeClr val="bg1"/>
                          </a:solidFill>
                        </a:rPr>
                        <a:t>Norming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规范期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702055"/>
                  </a:ext>
                </a:extLst>
              </a:tr>
              <a:tr h="0">
                <a:tc>
                  <a:txBody>
                    <a:bodyPr/>
                    <a:lstStyle/>
                    <a:p>
                      <a:pPr>
                        <a:buNone/>
                      </a:pPr>
                      <a:r>
                        <a:rPr lang="en-US">
                          <a:solidFill>
                            <a:schemeClr val="bg1"/>
                          </a:solidFill>
                        </a:rPr>
                        <a:t>Performing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表现期 </a:t>
                      </a:r>
                      <a:r>
                        <a:rPr lang="en-US" altLang="zh-CN">
                          <a:solidFill>
                            <a:schemeClr val="bg1"/>
                          </a:solidFill>
                        </a:rPr>
                        <a:t>/ </a:t>
                      </a:r>
                      <a:r>
                        <a:rPr lang="zh-CN" altLang="en-US">
                          <a:solidFill>
                            <a:schemeClr val="bg1"/>
                          </a:solidFill>
                        </a:rPr>
                        <a:t>执行期 </a:t>
                      </a:r>
                      <a:r>
                        <a:rPr lang="en-US" altLang="zh-CN">
                          <a:solidFill>
                            <a:schemeClr val="bg1"/>
                          </a:solidFill>
                        </a:rPr>
                        <a:t>/ </a:t>
                      </a:r>
                      <a:r>
                        <a:rPr lang="zh-CN" altLang="en-US">
                          <a:solidFill>
                            <a:schemeClr val="bg1"/>
                          </a:solidFill>
                        </a:rPr>
                        <a:t>高绩效期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7711081"/>
                  </a:ext>
                </a:extLst>
              </a:tr>
              <a:tr h="0">
                <a:tc>
                  <a:txBody>
                    <a:bodyPr/>
                    <a:lstStyle/>
                    <a:p>
                      <a:pPr>
                        <a:buNone/>
                      </a:pPr>
                      <a:r>
                        <a:rPr lang="en-US">
                          <a:solidFill>
                            <a:schemeClr val="bg1"/>
                          </a:solidFill>
                        </a:rPr>
                        <a:t>Adjourning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dirty="0">
                          <a:solidFill>
                            <a:schemeClr val="bg1"/>
                          </a:solidFill>
                        </a:rPr>
                        <a:t>结束期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5998" y="360000"/>
            <a:ext cx="6375921" cy="429413"/>
          </a:xfrm>
        </p:spPr>
        <p:txBody>
          <a:bodyPr/>
          <a:lstStyle/>
          <a:p>
            <a:r>
              <a:rPr lang="en-US" altLang="zh-CN" dirty="0"/>
              <a:t>10.1 </a:t>
            </a:r>
            <a:r>
              <a:rPr lang="zh-CN" altLang="en-US" dirty="0"/>
              <a:t>组织结构</a:t>
            </a:r>
          </a:p>
        </p:txBody>
      </p:sp>
      <p:sp>
        <p:nvSpPr>
          <p:cNvPr id="3" name="内容占位符 2">
            <a:extLst>
              <a:ext uri="{FF2B5EF4-FFF2-40B4-BE49-F238E27FC236}">
                <a16:creationId xmlns:a16="http://schemas.microsoft.com/office/drawing/2014/main" id="{C5D46B04-D343-7D9C-6916-882C59A13FCE}"/>
              </a:ext>
            </a:extLst>
          </p:cNvPr>
          <p:cNvSpPr>
            <a:spLocks noGrp="1"/>
          </p:cNvSpPr>
          <p:nvPr>
            <p:ph idx="1"/>
          </p:nvPr>
        </p:nvSpPr>
        <p:spPr>
          <a:xfrm>
            <a:off x="696000" y="864000"/>
            <a:ext cx="10800000" cy="5400000"/>
          </a:xfrm>
        </p:spPr>
        <p:txBody>
          <a:bodyPr/>
          <a:lstStyle/>
          <a:p>
            <a:r>
              <a:rPr lang="zh-CN" altLang="en-US" dirty="0"/>
              <a:t>职能型</a:t>
            </a:r>
            <a:endParaRPr lang="en-US" altLang="zh-CN" dirty="0"/>
          </a:p>
          <a:p>
            <a:r>
              <a:rPr lang="zh-CN" altLang="en-US" dirty="0"/>
              <a:t>项目型</a:t>
            </a:r>
            <a:endParaRPr lang="en-US" altLang="zh-CN" dirty="0"/>
          </a:p>
          <a:p>
            <a:r>
              <a:rPr lang="zh-CN" altLang="en-US" dirty="0"/>
              <a:t>矩阵型</a:t>
            </a:r>
          </a:p>
        </p:txBody>
      </p:sp>
      <p:sp>
        <p:nvSpPr>
          <p:cNvPr id="7" name="文本占位符 6">
            <a:extLst>
              <a:ext uri="{FF2B5EF4-FFF2-40B4-BE49-F238E27FC236}">
                <a16:creationId xmlns:a16="http://schemas.microsoft.com/office/drawing/2014/main" id="{1A28BC2C-8310-E053-5669-5BCA948EC34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54238074"/>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6375921" cy="429413"/>
          </a:xfrm>
        </p:spPr>
        <p:txBody>
          <a:bodyPr>
            <a:normAutofit/>
          </a:bodyPr>
          <a:lstStyle/>
          <a:p>
            <a:r>
              <a:rPr lang="zh-CN" altLang="en-US"/>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864000"/>
            <a:ext cx="10800000" cy="5400000"/>
          </a:xfrm>
        </p:spPr>
        <p:txBody>
          <a:bodyPr/>
          <a:lstStyle/>
          <a:p>
            <a:r>
              <a:rPr lang="zh-CN" altLang="en-US"/>
              <a:t>编制</a:t>
            </a:r>
            <a:endParaRPr lang="en-US" altLang="zh-CN"/>
          </a:p>
          <a:p>
            <a:r>
              <a:rPr lang="zh-CN" altLang="en-US"/>
              <a:t>组建</a:t>
            </a:r>
            <a:endParaRPr lang="en-US" altLang="zh-CN"/>
          </a:p>
          <a:p>
            <a:r>
              <a:rPr lang="zh-CN" altLang="en-US"/>
              <a:t>建设</a:t>
            </a:r>
            <a:endParaRPr lang="en-US" altLang="zh-CN"/>
          </a:p>
          <a:p>
            <a:r>
              <a:rPr lang="zh-CN" altLang="en-US"/>
              <a:t>管理</a:t>
            </a:r>
          </a:p>
        </p:txBody>
      </p:sp>
      <p:sp>
        <p:nvSpPr>
          <p:cNvPr id="7" name="文本占位符 6">
            <a:extLst>
              <a:ext uri="{FF2B5EF4-FFF2-40B4-BE49-F238E27FC236}">
                <a16:creationId xmlns:a16="http://schemas.microsoft.com/office/drawing/2014/main" id="{936AF3C6-2127-7EC5-72D0-C15D49D16FE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4B5D9F-3E7B-DE0F-1D53-6B071AF9BC72}"/>
              </a:ext>
            </a:extLst>
          </p:cNvPr>
          <p:cNvSpPr>
            <a:spLocks noGrp="1"/>
          </p:cNvSpPr>
          <p:nvPr>
            <p:ph type="title"/>
          </p:nvPr>
        </p:nvSpPr>
        <p:spPr>
          <a:xfrm>
            <a:off x="695998" y="360000"/>
            <a:ext cx="6375921" cy="429413"/>
          </a:xfrm>
          <a:ln>
            <a:solidFill>
              <a:schemeClr val="tx1"/>
            </a:solidFill>
          </a:ln>
        </p:spPr>
        <p:txBody>
          <a:bodyPr/>
          <a:lstStyle/>
          <a:p>
            <a:r>
              <a:rPr lang="en-US" altLang="zh-CN" dirty="0"/>
              <a:t>10.1.1 </a:t>
            </a:r>
            <a:r>
              <a:rPr lang="zh-CN" altLang="en-US" dirty="0"/>
              <a:t>职能型</a:t>
            </a:r>
          </a:p>
        </p:txBody>
      </p:sp>
      <p:sp>
        <p:nvSpPr>
          <p:cNvPr id="71" name="内容占位符 70">
            <a:extLst>
              <a:ext uri="{FF2B5EF4-FFF2-40B4-BE49-F238E27FC236}">
                <a16:creationId xmlns:a16="http://schemas.microsoft.com/office/drawing/2014/main" id="{D596A279-5920-13A8-2A61-4A134C511DA3}"/>
              </a:ext>
            </a:extLst>
          </p:cNvPr>
          <p:cNvSpPr>
            <a:spLocks noGrp="1"/>
          </p:cNvSpPr>
          <p:nvPr>
            <p:ph idx="1"/>
          </p:nvPr>
        </p:nvSpPr>
        <p:spPr/>
        <p:txBody>
          <a:bodyPr/>
          <a:lstStyle/>
          <a:p>
            <a:endParaRPr lang="zh-CN" altLang="en-US" dirty="0"/>
          </a:p>
        </p:txBody>
      </p:sp>
      <p:sp>
        <p:nvSpPr>
          <p:cNvPr id="72" name="文本占位符 71">
            <a:extLst>
              <a:ext uri="{FF2B5EF4-FFF2-40B4-BE49-F238E27FC236}">
                <a16:creationId xmlns:a16="http://schemas.microsoft.com/office/drawing/2014/main" id="{0917FF48-6985-4FE4-F954-394F61E0D728}"/>
              </a:ext>
            </a:extLst>
          </p:cNvPr>
          <p:cNvSpPr>
            <a:spLocks noGrp="1"/>
          </p:cNvSpPr>
          <p:nvPr>
            <p:ph type="body" sz="quarter" idx="10"/>
          </p:nvPr>
        </p:nvSpPr>
        <p:spPr/>
        <p:txBody>
          <a:bodyPr/>
          <a:lstStyle/>
          <a:p>
            <a:endParaRPr lang="zh-CN" altLang="en-US"/>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1311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2261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832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831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143251"/>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143251"/>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2981325"/>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2691479"/>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3429001"/>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3905775"/>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4392074"/>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2691479"/>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3429001"/>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3905775"/>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4392074"/>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906829" y="1893485"/>
            <a:ext cx="6376989" cy="943999"/>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431790" y="1714506"/>
            <a:ext cx="800219" cy="276999"/>
          </a:xfrm>
          <a:prstGeom prst="rect">
            <a:avLst/>
          </a:prstGeom>
          <a:ln>
            <a:noFill/>
          </a:ln>
        </p:spPr>
        <p:txBody>
          <a:bodyPr wrap="none" rtlCol="0">
            <a:spAutoFit/>
          </a:bodyPr>
          <a:lstStyle/>
          <a:p>
            <a:pPr algn="l"/>
            <a:r>
              <a:rPr lang="zh-CN" altLang="en-US" sz="1200" dirty="0"/>
              <a:t>项目协调</a:t>
            </a:r>
          </a:p>
        </p:txBody>
      </p:sp>
    </p:spTree>
    <p:extLst>
      <p:ext uri="{BB962C8B-B14F-4D97-AF65-F5344CB8AC3E}">
        <p14:creationId xmlns:p14="http://schemas.microsoft.com/office/powerpoint/2010/main" val="2138612083"/>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5998" y="360000"/>
            <a:ext cx="6375921" cy="429413"/>
          </a:xfrm>
        </p:spPr>
        <p:txBody>
          <a:bodyPr/>
          <a:lstStyle/>
          <a:p>
            <a:r>
              <a:rPr lang="en-US" altLang="zh-CN" dirty="0"/>
              <a:t>10.1.2 </a:t>
            </a:r>
            <a:r>
              <a:rPr lang="zh-CN" altLang="en-US" dirty="0"/>
              <a:t>项目型</a:t>
            </a:r>
          </a:p>
        </p:txBody>
      </p:sp>
      <p:sp>
        <p:nvSpPr>
          <p:cNvPr id="47" name="内容占位符 46">
            <a:extLst>
              <a:ext uri="{FF2B5EF4-FFF2-40B4-BE49-F238E27FC236}">
                <a16:creationId xmlns:a16="http://schemas.microsoft.com/office/drawing/2014/main" id="{08D72426-579B-21AD-5F9F-C09E9C896885}"/>
              </a:ext>
            </a:extLst>
          </p:cNvPr>
          <p:cNvSpPr>
            <a:spLocks noGrp="1"/>
          </p:cNvSpPr>
          <p:nvPr>
            <p:ph idx="1"/>
          </p:nvPr>
        </p:nvSpPr>
        <p:spPr/>
        <p:txBody>
          <a:bodyPr/>
          <a:lstStyle/>
          <a:p>
            <a:endParaRPr lang="zh-CN" altLang="en-US"/>
          </a:p>
        </p:txBody>
      </p:sp>
      <p:sp>
        <p:nvSpPr>
          <p:cNvPr id="48" name="文本占位符 47">
            <a:extLst>
              <a:ext uri="{FF2B5EF4-FFF2-40B4-BE49-F238E27FC236}">
                <a16:creationId xmlns:a16="http://schemas.microsoft.com/office/drawing/2014/main" id="{C616916F-AD14-6135-C920-774601A5EC6D}"/>
              </a:ext>
            </a:extLst>
          </p:cNvPr>
          <p:cNvSpPr>
            <a:spLocks noGrp="1"/>
          </p:cNvSpPr>
          <p:nvPr>
            <p:ph type="body" sz="quarter" idx="10"/>
          </p:nvPr>
        </p:nvSpPr>
        <p:spPr/>
        <p:txBody>
          <a:bodyPr/>
          <a:lstStyle/>
          <a:p>
            <a:endParaRPr lang="zh-CN" altLang="en-US"/>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311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261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832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831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143251"/>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143251"/>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2981325"/>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2691479"/>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3429001"/>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3905775"/>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4392074"/>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2691479"/>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3429001"/>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3905775"/>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4392074"/>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906829" y="1893485"/>
            <a:ext cx="1749171" cy="358339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317123"/>
            <a:ext cx="800219" cy="276999"/>
          </a:xfrm>
          <a:prstGeom prst="rect">
            <a:avLst/>
          </a:prstGeom>
          <a:ln>
            <a:noFill/>
          </a:ln>
        </p:spPr>
        <p:txBody>
          <a:bodyPr wrap="none" rtlCol="0">
            <a:spAutoFit/>
          </a:bodyPr>
          <a:lstStyle/>
          <a:p>
            <a:pPr algn="l"/>
            <a:r>
              <a:rPr lang="zh-CN" altLang="en-US" sz="1200" dirty="0"/>
              <a:t>项目协调</a:t>
            </a:r>
          </a:p>
        </p:txBody>
      </p:sp>
    </p:spTree>
    <p:extLst>
      <p:ext uri="{BB962C8B-B14F-4D97-AF65-F5344CB8AC3E}">
        <p14:creationId xmlns:p14="http://schemas.microsoft.com/office/powerpoint/2010/main" val="3545863951"/>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5998" y="360000"/>
            <a:ext cx="6375921" cy="429413"/>
          </a:xfrm>
        </p:spPr>
        <p:txBody>
          <a:bodyPr/>
          <a:lstStyle/>
          <a:p>
            <a:r>
              <a:rPr lang="en-US" altLang="zh-CN" dirty="0"/>
              <a:t>10.1.3 </a:t>
            </a:r>
            <a:r>
              <a:rPr lang="zh-CN" altLang="en-US" dirty="0"/>
              <a:t>矩阵型</a:t>
            </a:r>
          </a:p>
        </p:txBody>
      </p:sp>
      <p:sp>
        <p:nvSpPr>
          <p:cNvPr id="58" name="内容占位符 57">
            <a:extLst>
              <a:ext uri="{FF2B5EF4-FFF2-40B4-BE49-F238E27FC236}">
                <a16:creationId xmlns:a16="http://schemas.microsoft.com/office/drawing/2014/main" id="{8E84B5B7-32BC-B033-7698-E4D9C98A1F7F}"/>
              </a:ext>
            </a:extLst>
          </p:cNvPr>
          <p:cNvSpPr>
            <a:spLocks noGrp="1"/>
          </p:cNvSpPr>
          <p:nvPr>
            <p:ph idx="1"/>
          </p:nvPr>
        </p:nvSpPr>
        <p:spPr/>
        <p:txBody>
          <a:bodyPr/>
          <a:lstStyle/>
          <a:p>
            <a:endParaRPr lang="zh-CN" altLang="en-US" dirty="0"/>
          </a:p>
        </p:txBody>
      </p:sp>
      <p:sp>
        <p:nvSpPr>
          <p:cNvPr id="59" name="文本占位符 58">
            <a:extLst>
              <a:ext uri="{FF2B5EF4-FFF2-40B4-BE49-F238E27FC236}">
                <a16:creationId xmlns:a16="http://schemas.microsoft.com/office/drawing/2014/main" id="{62DD7835-D665-4D5F-56E7-B5270C98E37C}"/>
              </a:ext>
            </a:extLst>
          </p:cNvPr>
          <p:cNvSpPr>
            <a:spLocks noGrp="1"/>
          </p:cNvSpPr>
          <p:nvPr>
            <p:ph type="body" sz="quarter" idx="10"/>
          </p:nvPr>
        </p:nvSpPr>
        <p:spPr/>
        <p:txBody>
          <a:bodyPr/>
          <a:lstStyle/>
          <a:p>
            <a:endParaRPr lang="zh-CN" altLang="en-US"/>
          </a:p>
        </p:txBody>
      </p:sp>
      <p:sp>
        <p:nvSpPr>
          <p:cNvPr id="5"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311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261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7"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8"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9"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2915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3569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224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2914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3568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223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2914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3568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223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4878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21" name="连接符: 肘形 20">
            <a:extLst>
              <a:ext uri="{FF2B5EF4-FFF2-40B4-BE49-F238E27FC236}">
                <a16:creationId xmlns:a16="http://schemas.microsoft.com/office/drawing/2014/main" id="{43A50330-120C-458C-6243-9CDF77942FD8}"/>
              </a:ext>
            </a:extLst>
          </p:cNvPr>
          <p:cNvCxnSpPr>
            <a:stCxn id="5" idx="2"/>
            <a:endCxn id="6" idx="0"/>
          </p:cNvCxnSpPr>
          <p:nvPr/>
        </p:nvCxnSpPr>
        <p:spPr>
          <a:xfrm rot="5400000">
            <a:off x="4666803" y="832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0451F27E-FFD2-D517-1A6A-D88B24637111}"/>
              </a:ext>
            </a:extLst>
          </p:cNvPr>
          <p:cNvCxnSpPr>
            <a:stCxn id="8" idx="0"/>
            <a:endCxn id="5" idx="2"/>
          </p:cNvCxnSpPr>
          <p:nvPr/>
        </p:nvCxnSpPr>
        <p:spPr>
          <a:xfrm rot="16200000" flipV="1">
            <a:off x="7007761" y="831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DD496D05-9FB1-3C92-35A9-BE9CE53736F2}"/>
              </a:ext>
            </a:extLst>
          </p:cNvPr>
          <p:cNvSpPr/>
          <p:nvPr/>
        </p:nvSpPr>
        <p:spPr>
          <a:xfrm>
            <a:off x="3035999" y="4783198"/>
            <a:ext cx="6365175" cy="646051"/>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61E69225-BA15-DBA8-B477-CF32AF6CB1A5}"/>
              </a:ext>
            </a:extLst>
          </p:cNvPr>
          <p:cNvSpPr txBox="1"/>
          <p:nvPr/>
        </p:nvSpPr>
        <p:spPr>
          <a:xfrm>
            <a:off x="7173189" y="5267605"/>
            <a:ext cx="800219" cy="276999"/>
          </a:xfrm>
          <a:prstGeom prst="rect">
            <a:avLst/>
          </a:prstGeom>
          <a:ln>
            <a:noFill/>
          </a:ln>
        </p:spPr>
        <p:txBody>
          <a:bodyPr wrap="none" rtlCol="0">
            <a:spAutoFit/>
          </a:bodyPr>
          <a:lstStyle/>
          <a:p>
            <a:pPr algn="l"/>
            <a:r>
              <a:rPr lang="zh-CN" altLang="en-US" sz="1200" dirty="0"/>
              <a:t>项目协调</a:t>
            </a:r>
          </a:p>
        </p:txBody>
      </p:sp>
      <p:grpSp>
        <p:nvGrpSpPr>
          <p:cNvPr id="43" name="组合 42">
            <a:extLst>
              <a:ext uri="{FF2B5EF4-FFF2-40B4-BE49-F238E27FC236}">
                <a16:creationId xmlns:a16="http://schemas.microsoft.com/office/drawing/2014/main" id="{8B48E2A6-4327-D052-C7E8-EF739DAAD528}"/>
              </a:ext>
            </a:extLst>
          </p:cNvPr>
          <p:cNvGrpSpPr/>
          <p:nvPr/>
        </p:nvGrpSpPr>
        <p:grpSpPr>
          <a:xfrm>
            <a:off x="3200400" y="2691478"/>
            <a:ext cx="555601" cy="2402893"/>
            <a:chOff x="3200400" y="2691478"/>
            <a:chExt cx="555601" cy="2402893"/>
          </a:xfrm>
        </p:grpSpPr>
        <p:cxnSp>
          <p:nvCxnSpPr>
            <p:cNvPr id="23" name="连接符: 肘形 22">
              <a:extLst>
                <a:ext uri="{FF2B5EF4-FFF2-40B4-BE49-F238E27FC236}">
                  <a16:creationId xmlns:a16="http://schemas.microsoft.com/office/drawing/2014/main" id="{BE1FF242-7214-E7F5-BAA7-927BAB3A6814}"/>
                </a:ext>
              </a:extLst>
            </p:cNvPr>
            <p:cNvCxnSpPr>
              <a:cxnSpLocks/>
              <a:endCxn id="1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3A772101-E51C-A772-39A8-52DC88FC4ED2}"/>
                </a:ext>
              </a:extLst>
            </p:cNvPr>
            <p:cNvCxnSpPr>
              <a:stCxn id="1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BF0B2BC3-39C5-7153-7450-F41CD1C21DAB}"/>
                </a:ext>
              </a:extLst>
            </p:cNvPr>
            <p:cNvCxnSpPr>
              <a:stCxn id="1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连接符: 肘形 40">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DBE3CC5E-9FF8-EFAF-FC20-566A1F572265}"/>
              </a:ext>
            </a:extLst>
          </p:cNvPr>
          <p:cNvGrpSpPr/>
          <p:nvPr/>
        </p:nvGrpSpPr>
        <p:grpSpPr>
          <a:xfrm>
            <a:off x="5540397" y="2691478"/>
            <a:ext cx="555601" cy="2402893"/>
            <a:chOff x="3200400" y="2691478"/>
            <a:chExt cx="555601" cy="2402893"/>
          </a:xfrm>
        </p:grpSpPr>
        <p:cxnSp>
          <p:nvCxnSpPr>
            <p:cNvPr id="45" name="连接符: 肘形 44">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连接符: 肘形 47">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50" name="连接符: 肘形 49">
            <a:extLst>
              <a:ext uri="{FF2B5EF4-FFF2-40B4-BE49-F238E27FC236}">
                <a16:creationId xmlns:a16="http://schemas.microsoft.com/office/drawing/2014/main" id="{0509027E-9BCB-0F30-6369-4D6C2A3FBA8F}"/>
              </a:ext>
            </a:extLst>
          </p:cNvPr>
          <p:cNvCxnSpPr>
            <a:cxnSpLocks/>
          </p:cNvCxnSpPr>
          <p:nvPr/>
        </p:nvCxnSpPr>
        <p:spPr>
          <a:xfrm rot="16200000" flipH="1">
            <a:off x="6768953" y="3802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E432753D-9F7E-53E0-14AA-856A96081B20}"/>
              </a:ext>
            </a:extLst>
          </p:cNvPr>
          <p:cNvCxnSpPr/>
          <p:nvPr/>
        </p:nvCxnSpPr>
        <p:spPr>
          <a:xfrm rot="10800000">
            <a:off x="7880399"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5A280BF-CE01-CB9D-61AD-8558118FBC01}"/>
              </a:ext>
            </a:extLst>
          </p:cNvPr>
          <p:cNvCxnSpPr/>
          <p:nvPr/>
        </p:nvCxnSpPr>
        <p:spPr>
          <a:xfrm rot="10800000">
            <a:off x="7880403"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A7048B6-B650-7734-30F1-96D582660BF4}"/>
              </a:ext>
            </a:extLst>
          </p:cNvPr>
          <p:cNvCxnSpPr>
            <a:cxnSpLocks/>
          </p:cNvCxnSpPr>
          <p:nvPr/>
        </p:nvCxnSpPr>
        <p:spPr>
          <a:xfrm rot="10800000">
            <a:off x="7880401"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3786013843"/>
              </p:ext>
            </p:extLst>
          </p:nvPr>
        </p:nvGraphicFramePr>
        <p:xfrm>
          <a:off x="695325" y="8636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a:solidFill>
                            <a:schemeClr val="tx1"/>
                          </a:solidFill>
                        </a:rPr>
                        <a:t>人员</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
        <p:nvSpPr>
          <p:cNvPr id="7" name="文本占位符 6">
            <a:extLst>
              <a:ext uri="{FF2B5EF4-FFF2-40B4-BE49-F238E27FC236}">
                <a16:creationId xmlns:a16="http://schemas.microsoft.com/office/drawing/2014/main" id="{1D537230-714B-2361-0AA2-371D5FDABB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3632111278"/>
              </p:ext>
            </p:extLst>
          </p:nvPr>
        </p:nvGraphicFramePr>
        <p:xfrm>
          <a:off x="695325" y="863600"/>
          <a:ext cx="10801350" cy="201168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5" name="文本占位符 4">
            <a:extLst>
              <a:ext uri="{FF2B5EF4-FFF2-40B4-BE49-F238E27FC236}">
                <a16:creationId xmlns:a16="http://schemas.microsoft.com/office/drawing/2014/main" id="{674FACED-28F6-F8E7-AF00-422A85B8378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1141621603"/>
              </p:ext>
            </p:extLst>
          </p:nvPr>
        </p:nvGraphicFramePr>
        <p:xfrm>
          <a:off x="695325" y="863600"/>
          <a:ext cx="10801350" cy="201168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sz="1600" dirty="0">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201168794"/>
                  </a:ext>
                </a:extLst>
              </a:tr>
              <a:tr h="0">
                <a:tc>
                  <a:txBody>
                    <a:bodyPr/>
                    <a:lstStyle/>
                    <a:p>
                      <a:pPr>
                        <a:buNone/>
                      </a:pPr>
                      <a:r>
                        <a:rPr lang="en-US" altLang="zh-CN" sz="1600"/>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生理需求（</a:t>
                      </a:r>
                      <a:r>
                        <a:rPr lang="en-US" altLang="zh-CN" sz="1600" dirty="0"/>
                        <a:t>Physiological</a:t>
                      </a:r>
                      <a:r>
                        <a:rPr lang="en-US" sz="16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sz="1600"/>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安全需求（</a:t>
                      </a:r>
                      <a:r>
                        <a:rPr lang="en-US" altLang="zh-CN" sz="1600"/>
                        <a:t>Safety</a:t>
                      </a:r>
                      <a:r>
                        <a:rPr lang="en-US" sz="160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sz="1600"/>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社会交往需求（</a:t>
                      </a:r>
                      <a:r>
                        <a:rPr lang="en-US" sz="1600"/>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sz="1600"/>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自尊需求（</a:t>
                      </a:r>
                      <a:r>
                        <a:rPr lang="en-US" sz="1600" dirty="0"/>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sz="1600"/>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自我实现（</a:t>
                      </a:r>
                      <a:r>
                        <a:rPr lang="en-US" sz="1600"/>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4" name="文本占位符 3">
            <a:extLst>
              <a:ext uri="{FF2B5EF4-FFF2-40B4-BE49-F238E27FC236}">
                <a16:creationId xmlns:a16="http://schemas.microsoft.com/office/drawing/2014/main" id="{67CE476D-A8A8-EC44-5DF6-8E6078287E94}"/>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1602973102"/>
              </p:ext>
            </p:extLst>
          </p:nvPr>
        </p:nvGraphicFramePr>
        <p:xfrm>
          <a:off x="3883958" y="3311750"/>
          <a:ext cx="4328775" cy="28858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t>20</a:t>
            </a:r>
            <a:r>
              <a:rPr lang="zh-CN" altLang="en-US" dirty="0"/>
              <a:t>世纪</a:t>
            </a:r>
            <a:r>
              <a:rPr lang="en-US" altLang="zh-CN" dirty="0"/>
              <a:t>50</a:t>
            </a:r>
            <a:r>
              <a:rPr lang="zh-CN" altLang="en-US" dirty="0"/>
              <a:t>年代末提出的一种关于工作动机和员工满意度的重要理论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a:t>典型流程：</a:t>
            </a:r>
          </a:p>
          <a:p>
            <a:pPr lvl="1"/>
            <a:r>
              <a:rPr lang="zh-CN" altLang="en-US"/>
              <a:t>识别干系人 </a:t>
            </a:r>
            <a:r>
              <a:rPr lang="en-US" altLang="zh-CN"/>
              <a:t>Identify Stakeholders</a:t>
            </a:r>
            <a:r>
              <a:rPr lang="zh-CN" altLang="en-US"/>
              <a:t> </a:t>
            </a:r>
            <a:r>
              <a:rPr lang="en-US" altLang="zh-CN"/>
              <a:t>-</a:t>
            </a:r>
            <a:r>
              <a:rPr lang="zh-CN" altLang="en-US"/>
              <a:t> 找出谁是干系人，并收集基本信息（如姓名、角色、部门）</a:t>
            </a:r>
          </a:p>
          <a:p>
            <a:pPr lvl="1"/>
            <a:r>
              <a:rPr lang="zh-CN" altLang="en-US"/>
              <a:t>评估干系人 </a:t>
            </a:r>
            <a:r>
              <a:rPr lang="en-US" altLang="zh-CN"/>
              <a:t>Analyze Stakeholders</a:t>
            </a:r>
            <a:r>
              <a:rPr lang="zh-CN" altLang="en-US"/>
              <a:t> </a:t>
            </a:r>
            <a:r>
              <a:rPr lang="en-US" altLang="zh-CN"/>
              <a:t>-</a:t>
            </a:r>
            <a:r>
              <a:rPr lang="zh-CN" altLang="en-US"/>
              <a:t> 分析他们的诉求、期望、影响力、权力等</a:t>
            </a:r>
          </a:p>
          <a:p>
            <a:pPr lvl="1"/>
            <a:r>
              <a:rPr lang="zh-CN" altLang="en-US"/>
              <a:t>对干系人分类 </a:t>
            </a:r>
            <a:r>
              <a:rPr lang="en-US" altLang="zh-CN"/>
              <a:t>Categorize Stakeholders</a:t>
            </a:r>
            <a:r>
              <a:rPr lang="zh-CN" altLang="en-US"/>
              <a:t> </a:t>
            </a:r>
            <a:r>
              <a:rPr lang="en-US" altLang="zh-CN"/>
              <a:t>-</a:t>
            </a:r>
            <a:r>
              <a:rPr lang="zh-CN" altLang="en-US"/>
              <a:t> 使用方格模型（如权利</a:t>
            </a:r>
            <a:r>
              <a:rPr lang="en-US" altLang="zh-CN"/>
              <a:t>/</a:t>
            </a:r>
            <a:r>
              <a:rPr lang="zh-CN" altLang="en-US"/>
              <a:t>利益方格）进行归类</a:t>
            </a:r>
          </a:p>
          <a:p>
            <a:pPr lvl="1"/>
            <a:r>
              <a:rPr lang="zh-CN" altLang="en-US"/>
              <a:t>制定干系人管理计划 </a:t>
            </a:r>
            <a:r>
              <a:rPr lang="en-US" altLang="zh-CN"/>
              <a:t>Develop Stakeholder Management Plan</a:t>
            </a:r>
            <a:r>
              <a:rPr lang="zh-CN" altLang="en-US"/>
              <a:t> </a:t>
            </a:r>
            <a:r>
              <a:rPr lang="en-US" altLang="zh-CN"/>
              <a:t>-</a:t>
            </a:r>
            <a:r>
              <a:rPr lang="zh-CN" altLang="en-US"/>
              <a:t> 根据分类结果，制定沟通策略、管理方式等</a:t>
            </a:r>
          </a:p>
          <a:p>
            <a:pPr lvl="1"/>
            <a:endParaRPr lang="zh-CN" altLang="en-US"/>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864168905"/>
              </p:ext>
            </p:extLst>
          </p:nvPr>
        </p:nvGraphicFramePr>
        <p:xfrm>
          <a:off x="695325" y="4363200"/>
          <a:ext cx="10800674" cy="16764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sz="1600" dirty="0">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952262433"/>
                  </a:ext>
                </a:extLst>
              </a:tr>
              <a:tr h="0">
                <a:tc>
                  <a:txBody>
                    <a:bodyPr/>
                    <a:lstStyle/>
                    <a:p>
                      <a:pPr>
                        <a:buNone/>
                      </a:pPr>
                      <a:r>
                        <a:rPr lang="zh-CN" altLang="en-US" sz="1600"/>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sz="1600"/>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sz="1600"/>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sz="1600"/>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凸显模型</a:t>
            </a:r>
          </a:p>
        </p:txBody>
      </p:sp>
      <p:sp>
        <p:nvSpPr>
          <p:cNvPr id="11" name="内容占位符 10">
            <a:extLst>
              <a:ext uri="{FF2B5EF4-FFF2-40B4-BE49-F238E27FC236}">
                <a16:creationId xmlns:a16="http://schemas.microsoft.com/office/drawing/2014/main" id="{5FCBD2F9-26DB-147E-6D5D-BE6690069D19}"/>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a:t>Salience Model</a:t>
            </a:r>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2386720302"/>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a:t>合法性 </a:t>
                      </a:r>
                      <a:r>
                        <a:rPr lang="en-US" sz="1600"/>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a:t>紧迫性 </a:t>
                      </a:r>
                      <a:r>
                        <a:rPr lang="en-US" sz="1600"/>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a:t>
            </a:r>
          </a:p>
        </p:txBody>
      </p:sp>
      <p:sp>
        <p:nvSpPr>
          <p:cNvPr id="11" name="内容占位符 10">
            <a:extLst>
              <a:ext uri="{FF2B5EF4-FFF2-40B4-BE49-F238E27FC236}">
                <a16:creationId xmlns:a16="http://schemas.microsoft.com/office/drawing/2014/main" id="{30811D1D-8F59-EFDB-585A-5F80D110281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a:t>Stakeholders</a:t>
            </a:r>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672971408"/>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864000"/>
            <a:ext cx="10800000" cy="5400000"/>
          </a:xfrm>
        </p:spPr>
        <p:txBody>
          <a:bodyPr/>
          <a:lstStyle/>
          <a:p>
            <a:r>
              <a:rPr lang="zh-CN" altLang="en-US" dirty="0"/>
              <a:t>利益方格 </a:t>
            </a:r>
            <a:r>
              <a:rPr lang="en-US" altLang="zh-CN" dirty="0"/>
              <a:t>Power/Interest Grid</a:t>
            </a:r>
            <a:endParaRPr lang="zh-CN" altLang="en-US" dirty="0"/>
          </a:p>
        </p:txBody>
      </p:sp>
      <p:sp>
        <p:nvSpPr>
          <p:cNvPr id="19" name="文本占位符 18">
            <a:extLst>
              <a:ext uri="{FF2B5EF4-FFF2-40B4-BE49-F238E27FC236}">
                <a16:creationId xmlns:a16="http://schemas.microsoft.com/office/drawing/2014/main" id="{DA99450A-2EEF-4016-4102-D6B3DC53C6A3}"/>
              </a:ext>
            </a:extLst>
          </p:cNvPr>
          <p:cNvSpPr>
            <a:spLocks noGrp="1"/>
          </p:cNvSpPr>
          <p:nvPr>
            <p:ph type="body" sz="quarter" idx="10"/>
          </p:nvPr>
        </p:nvSpPr>
        <p:spPr/>
        <p:txBody>
          <a:bodyPr/>
          <a:lstStyle/>
          <a:p>
            <a:endParaRPr lang="zh-CN" altLang="en-US"/>
          </a:p>
        </p:txBody>
      </p:sp>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569539905"/>
              </p:ext>
            </p:extLst>
          </p:nvPr>
        </p:nvGraphicFramePr>
        <p:xfrm>
          <a:off x="695324" y="4587600"/>
          <a:ext cx="10800001" cy="16764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sz="1600" dirty="0">
                          <a:solidFill>
                            <a:schemeClr val="bg1"/>
                          </a:solidFill>
                        </a:rPr>
                        <a:t>权力 </a:t>
                      </a:r>
                      <a:r>
                        <a:rPr lang="en-US" sz="1600" dirty="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利益 </a:t>
                      </a:r>
                      <a:r>
                        <a:rPr lang="en-US" sz="1600" dirty="0">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809978989"/>
                  </a:ext>
                </a:extLst>
              </a:tr>
              <a:tr h="0">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重点管理 </a:t>
                      </a:r>
                      <a:r>
                        <a:rPr lang="en-US" sz="1600"/>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监督 </a:t>
                      </a:r>
                      <a:r>
                        <a:rPr lang="en-US" sz="1600"/>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随时告知 </a:t>
                      </a:r>
                      <a:r>
                        <a:rPr lang="en-US" sz="1600"/>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令其满意 </a:t>
                      </a:r>
                      <a:r>
                        <a:rPr lang="en-US" sz="1600" dirty="0"/>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4041971" y="3710400"/>
            <a:ext cx="43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4248160" y="1720238"/>
            <a:ext cx="0" cy="216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1338029397"/>
              </p:ext>
            </p:extLst>
          </p:nvPr>
        </p:nvGraphicFramePr>
        <p:xfrm>
          <a:off x="4248160" y="2270400"/>
          <a:ext cx="3600000" cy="144000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1578455872"/>
                    </a:ext>
                  </a:extLst>
                </a:gridCol>
                <a:gridCol w="1800000">
                  <a:extLst>
                    <a:ext uri="{9D8B030D-6E8A-4147-A177-3AD203B41FA5}">
                      <a16:colId xmlns:a16="http://schemas.microsoft.com/office/drawing/2014/main" val="1102437032"/>
                    </a:ext>
                  </a:extLst>
                </a:gridCol>
              </a:tblGrid>
              <a:tr h="720000">
                <a:tc>
                  <a:txBody>
                    <a:bodyPr/>
                    <a:lstStyle/>
                    <a:p>
                      <a:pPr algn="ctr"/>
                      <a:r>
                        <a:rPr lang="zh-CN" altLang="en-US" sz="1400" b="0" dirty="0">
                          <a:solidFill>
                            <a:schemeClr val="tx1"/>
                          </a:solidFill>
                        </a:rPr>
                        <a:t>令其满意</a:t>
                      </a:r>
                      <a:r>
                        <a:rPr lang="en-US" altLang="zh-CN" sz="1400" b="0" dirty="0">
                          <a:solidFill>
                            <a:schemeClr val="tx1"/>
                          </a:solidFill>
                        </a:rPr>
                        <a:t>A</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zh-CN" altLang="en-US" sz="1400" b="0" dirty="0">
                          <a:solidFill>
                            <a:schemeClr val="tx1"/>
                          </a:solidFill>
                        </a:rPr>
                        <a:t>重点管理</a:t>
                      </a:r>
                      <a:r>
                        <a:rPr lang="en-US" altLang="zh-CN" sz="1400" b="0" dirty="0">
                          <a:solidFill>
                            <a:schemeClr val="tx1"/>
                          </a:solidFill>
                        </a:rPr>
                        <a:t>B</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39899098"/>
                  </a:ext>
                </a:extLst>
              </a:tr>
              <a:tr h="720000">
                <a:tc>
                  <a:txBody>
                    <a:bodyPr/>
                    <a:lstStyle/>
                    <a:p>
                      <a:pPr algn="ctr"/>
                      <a:r>
                        <a:rPr lang="zh-CN" altLang="en-US" sz="1400" b="0" dirty="0">
                          <a:solidFill>
                            <a:schemeClr val="tx1"/>
                          </a:solidFill>
                        </a:rPr>
                        <a:t>监督</a:t>
                      </a:r>
                      <a:r>
                        <a:rPr lang="en-US" altLang="zh-CN" sz="1400" b="0" dirty="0">
                          <a:solidFill>
                            <a:schemeClr val="tx1"/>
                          </a:solidFill>
                        </a:rPr>
                        <a:t>D</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zh-CN" altLang="en-US" sz="1400" b="0" dirty="0">
                          <a:solidFill>
                            <a:schemeClr val="tx1"/>
                          </a:solidFill>
                        </a:rPr>
                        <a:t>随时告知</a:t>
                      </a:r>
                      <a:r>
                        <a:rPr lang="en-US" altLang="zh-CN" sz="1400" b="0" dirty="0">
                          <a:solidFill>
                            <a:schemeClr val="tx1"/>
                          </a:solidFill>
                        </a:rPr>
                        <a:t>C</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3914736" y="1720238"/>
            <a:ext cx="338554" cy="276999"/>
          </a:xfrm>
          <a:prstGeom prst="rect">
            <a:avLst/>
          </a:prstGeom>
          <a:noFill/>
        </p:spPr>
        <p:txBody>
          <a:bodyPr wrap="none" rtlCol="0">
            <a:spAutoFit/>
          </a:bodyPr>
          <a:lstStyle/>
          <a:p>
            <a:pPr algn="ctr"/>
            <a:r>
              <a:rPr lang="zh-CN" altLang="en-US" sz="1200" dirty="0"/>
              <a:t>高</a:t>
            </a:r>
          </a:p>
        </p:txBody>
      </p:sp>
      <p:sp>
        <p:nvSpPr>
          <p:cNvPr id="11" name="文本框 10">
            <a:extLst>
              <a:ext uri="{FF2B5EF4-FFF2-40B4-BE49-F238E27FC236}">
                <a16:creationId xmlns:a16="http://schemas.microsoft.com/office/drawing/2014/main" id="{92E240DC-FDBE-046A-A240-D2BCC102079A}"/>
              </a:ext>
            </a:extLst>
          </p:cNvPr>
          <p:cNvSpPr txBox="1"/>
          <p:nvPr/>
        </p:nvSpPr>
        <p:spPr>
          <a:xfrm>
            <a:off x="3914736" y="3473365"/>
            <a:ext cx="338554" cy="276999"/>
          </a:xfrm>
          <a:prstGeom prst="rect">
            <a:avLst/>
          </a:prstGeom>
          <a:noFill/>
        </p:spPr>
        <p:txBody>
          <a:bodyPr wrap="none" rtlCol="0">
            <a:spAutoFit/>
          </a:bodyPr>
          <a:lstStyle/>
          <a:p>
            <a:pPr algn="ctr"/>
            <a:r>
              <a:rPr lang="zh-CN" altLang="en-US" sz="1200" dirty="0"/>
              <a:t>低</a:t>
            </a:r>
          </a:p>
        </p:txBody>
      </p:sp>
      <p:sp>
        <p:nvSpPr>
          <p:cNvPr id="12" name="文本框 11">
            <a:extLst>
              <a:ext uri="{FF2B5EF4-FFF2-40B4-BE49-F238E27FC236}">
                <a16:creationId xmlns:a16="http://schemas.microsoft.com/office/drawing/2014/main" id="{98EE3C10-94B9-DD91-6E5B-FFF429A82092}"/>
              </a:ext>
            </a:extLst>
          </p:cNvPr>
          <p:cNvSpPr txBox="1"/>
          <p:nvPr/>
        </p:nvSpPr>
        <p:spPr>
          <a:xfrm>
            <a:off x="7860984" y="3702162"/>
            <a:ext cx="338554" cy="276999"/>
          </a:xfrm>
          <a:prstGeom prst="rect">
            <a:avLst/>
          </a:prstGeom>
          <a:noFill/>
        </p:spPr>
        <p:txBody>
          <a:bodyPr wrap="none" rtlCol="0">
            <a:spAutoFit/>
          </a:bodyPr>
          <a:lstStyle/>
          <a:p>
            <a:pPr algn="ctr"/>
            <a:r>
              <a:rPr lang="zh-CN" altLang="en-US" sz="1200" dirty="0"/>
              <a:t>高</a:t>
            </a:r>
          </a:p>
        </p:txBody>
      </p:sp>
      <p:sp>
        <p:nvSpPr>
          <p:cNvPr id="14" name="文本框 13">
            <a:extLst>
              <a:ext uri="{FF2B5EF4-FFF2-40B4-BE49-F238E27FC236}">
                <a16:creationId xmlns:a16="http://schemas.microsoft.com/office/drawing/2014/main" id="{45452086-07FE-56F4-786A-68F2646AEAE6}"/>
              </a:ext>
            </a:extLst>
          </p:cNvPr>
          <p:cNvSpPr txBox="1"/>
          <p:nvPr/>
        </p:nvSpPr>
        <p:spPr>
          <a:xfrm>
            <a:off x="4260984" y="3702162"/>
            <a:ext cx="338554" cy="276999"/>
          </a:xfrm>
          <a:prstGeom prst="rect">
            <a:avLst/>
          </a:prstGeom>
          <a:noFill/>
        </p:spPr>
        <p:txBody>
          <a:bodyPr wrap="none" rtlCol="0">
            <a:spAutoFit/>
          </a:bodyPr>
          <a:lstStyle/>
          <a:p>
            <a:pPr algn="ctr"/>
            <a:r>
              <a:rPr lang="zh-CN" altLang="en-US" sz="1200" dirty="0"/>
              <a:t>低</a:t>
            </a:r>
          </a:p>
        </p:txBody>
      </p:sp>
      <p:sp>
        <p:nvSpPr>
          <p:cNvPr id="15" name="文本框 14">
            <a:extLst>
              <a:ext uri="{FF2B5EF4-FFF2-40B4-BE49-F238E27FC236}">
                <a16:creationId xmlns:a16="http://schemas.microsoft.com/office/drawing/2014/main" id="{B669A458-7B96-1CF4-A4E6-1F842BA5CCF6}"/>
              </a:ext>
            </a:extLst>
          </p:cNvPr>
          <p:cNvSpPr txBox="1"/>
          <p:nvPr/>
        </p:nvSpPr>
        <p:spPr>
          <a:xfrm>
            <a:off x="3914736" y="2550635"/>
            <a:ext cx="369332" cy="400110"/>
          </a:xfrm>
          <a:prstGeom prst="rect">
            <a:avLst/>
          </a:prstGeom>
          <a:noFill/>
        </p:spPr>
        <p:txBody>
          <a:bodyPr vert="eaVert" wrap="none" rtlCol="0">
            <a:spAutoFit/>
          </a:bodyPr>
          <a:lstStyle/>
          <a:p>
            <a:pPr algn="ctr"/>
            <a:r>
              <a:rPr lang="zh-CN" altLang="en-US" sz="12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5984040" y="3702162"/>
            <a:ext cx="492443" cy="276999"/>
          </a:xfrm>
          <a:prstGeom prst="rect">
            <a:avLst/>
          </a:prstGeom>
          <a:noFill/>
        </p:spPr>
        <p:txBody>
          <a:bodyPr wrap="none" rtlCol="0">
            <a:spAutoFit/>
          </a:bodyPr>
          <a:lstStyle/>
          <a:p>
            <a:pPr algn="ctr"/>
            <a:r>
              <a:rPr lang="zh-CN" altLang="en-US" sz="1200" dirty="0"/>
              <a:t>利益</a:t>
            </a:r>
          </a:p>
        </p:txBody>
      </p:sp>
    </p:spTree>
    <p:extLst>
      <p:ext uri="{BB962C8B-B14F-4D97-AF65-F5344CB8AC3E}">
        <p14:creationId xmlns:p14="http://schemas.microsoft.com/office/powerpoint/2010/main" val="407660363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en-US" altLang="zh-CN" dirty="0"/>
              <a:t>10.4 </a:t>
            </a:r>
            <a:r>
              <a:rPr lang="zh-CN" altLang="en-US" dirty="0"/>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a:t>规划管理过程</a:t>
            </a:r>
            <a:endParaRPr lang="en-US" altLang="zh-CN"/>
          </a:p>
          <a:p>
            <a:r>
              <a:rPr lang="zh-CN" altLang="en-US"/>
              <a:t>管理沟通</a:t>
            </a:r>
            <a:endParaRPr lang="en-US" altLang="zh-CN"/>
          </a:p>
          <a:p>
            <a:r>
              <a:rPr lang="zh-CN" altLang="en-US"/>
              <a:t>控制管理过程</a:t>
            </a:r>
            <a:endParaRPr lang="en-US" altLang="zh-CN"/>
          </a:p>
          <a:p>
            <a:pPr lvl="1"/>
            <a:r>
              <a:rPr lang="zh-CN" altLang="en-US"/>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3676273746"/>
              </p:ext>
            </p:extLst>
          </p:nvPr>
        </p:nvGraphicFramePr>
        <p:xfrm>
          <a:off x="695325" y="3540240"/>
          <a:ext cx="10801350" cy="1676400"/>
        </p:xfrm>
        <a:graphic>
          <a:graphicData uri="http://schemas.openxmlformats.org/drawingml/2006/table">
            <a:tbl>
              <a:tblPr/>
              <a:tblGrid>
                <a:gridCol w="2254063">
                  <a:extLst>
                    <a:ext uri="{9D8B030D-6E8A-4147-A177-3AD203B41FA5}">
                      <a16:colId xmlns:a16="http://schemas.microsoft.com/office/drawing/2014/main" val="4038116095"/>
                    </a:ext>
                  </a:extLst>
                </a:gridCol>
                <a:gridCol w="5405718">
                  <a:extLst>
                    <a:ext uri="{9D8B030D-6E8A-4147-A177-3AD203B41FA5}">
                      <a16:colId xmlns:a16="http://schemas.microsoft.com/office/drawing/2014/main" val="2845909379"/>
                    </a:ext>
                  </a:extLst>
                </a:gridCol>
                <a:gridCol w="3141569">
                  <a:extLst>
                    <a:ext uri="{9D8B030D-6E8A-4147-A177-3AD203B41FA5}">
                      <a16:colId xmlns:a16="http://schemas.microsoft.com/office/drawing/2014/main" val="2152632391"/>
                    </a:ext>
                  </a:extLst>
                </a:gridCol>
              </a:tblGrid>
              <a:tr h="0">
                <a:tc>
                  <a:txBody>
                    <a:bodyPr/>
                    <a:lstStyle/>
                    <a:p>
                      <a:pPr>
                        <a:buNone/>
                      </a:pPr>
                      <a:r>
                        <a:rPr lang="zh-CN" altLang="en-US" sz="1600" dirty="0">
                          <a:solidFill>
                            <a:schemeClr val="bg1"/>
                          </a:solidFill>
                        </a:rPr>
                        <a:t>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894886506"/>
                  </a:ext>
                </a:extLst>
              </a:tr>
              <a:tr h="0">
                <a:tc>
                  <a:txBody>
                    <a:bodyPr/>
                    <a:lstStyle/>
                    <a:p>
                      <a:pPr>
                        <a:buNone/>
                      </a:pPr>
                      <a:r>
                        <a:rPr lang="en-US" sz="1600" dirty="0"/>
                        <a:t>A. </a:t>
                      </a:r>
                      <a:r>
                        <a:rPr lang="zh-CN" altLang="en-US" sz="1600" dirty="0"/>
                        <a:t>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通过组织结构、书面文件、会议等正规渠道进行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规范、有记录、可控性强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95844813"/>
                  </a:ext>
                </a:extLst>
              </a:tr>
              <a:tr h="0">
                <a:tc>
                  <a:txBody>
                    <a:bodyPr/>
                    <a:lstStyle/>
                    <a:p>
                      <a:pPr>
                        <a:buNone/>
                      </a:pPr>
                      <a:r>
                        <a:rPr lang="en-US" sz="1600"/>
                        <a:t>B. </a:t>
                      </a:r>
                      <a:r>
                        <a:rPr lang="zh-CN" altLang="en-US" sz="1600"/>
                        <a:t>非正式沟通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口头交流、闲聊、社交互动等非官方形式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灵活、快速、但可能失真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65573547"/>
                  </a:ext>
                </a:extLst>
              </a:tr>
              <a:tr h="0">
                <a:tc>
                  <a:txBody>
                    <a:bodyPr/>
                    <a:lstStyle/>
                    <a:p>
                      <a:pPr>
                        <a:buNone/>
                      </a:pPr>
                      <a:r>
                        <a:rPr lang="en-US" sz="1600"/>
                        <a:t>C. </a:t>
                      </a:r>
                      <a:r>
                        <a:rPr lang="zh-CN" altLang="en-US" sz="1600"/>
                        <a:t>垂直沟通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上下级之间的沟通（如项目经理与下属）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权责明确，流程清晰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305166"/>
                  </a:ext>
                </a:extLst>
              </a:tr>
              <a:tr h="0">
                <a:tc>
                  <a:txBody>
                    <a:bodyPr/>
                    <a:lstStyle/>
                    <a:p>
                      <a:pPr>
                        <a:buNone/>
                      </a:pPr>
                      <a:r>
                        <a:rPr lang="en-US" sz="1600"/>
                        <a:t>D. </a:t>
                      </a:r>
                      <a:r>
                        <a:rPr lang="zh-CN" altLang="en-US" sz="1600"/>
                        <a:t>水平沟通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同级之间或跨部门之间的沟通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协调难度大，易受多方影响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5998" y="360000"/>
            <a:ext cx="6375921" cy="429413"/>
          </a:xfrm>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864000"/>
            <a:ext cx="10800000" cy="5400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6" name="文本占位符 5">
            <a:extLst>
              <a:ext uri="{FF2B5EF4-FFF2-40B4-BE49-F238E27FC236}">
                <a16:creationId xmlns:a16="http://schemas.microsoft.com/office/drawing/2014/main" id="{C9F4455D-53A4-CEA3-06E2-521FF7D9389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6375921" cy="429413"/>
          </a:xfrm>
        </p:spPr>
        <p:txBody>
          <a:bodyPr>
            <a:normAutofit/>
          </a:bodyPr>
          <a:lstStyle/>
          <a:p>
            <a:r>
              <a:rPr lang="zh-CN" altLang="en-US"/>
              <a:t>风险类型</a:t>
            </a:r>
          </a:p>
        </p:txBody>
      </p:sp>
      <p:sp>
        <p:nvSpPr>
          <p:cNvPr id="6" name="内容占位符 5">
            <a:extLst>
              <a:ext uri="{FF2B5EF4-FFF2-40B4-BE49-F238E27FC236}">
                <a16:creationId xmlns:a16="http://schemas.microsoft.com/office/drawing/2014/main" id="{E5F36971-7BA2-7CA3-5197-772B9249EF85}"/>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a:xfrm>
            <a:off x="695998" y="360000"/>
            <a:ext cx="6375921" cy="429413"/>
          </a:xfrm>
        </p:spPr>
        <p:txBody>
          <a:bodyPr/>
          <a:lstStyle/>
          <a:p>
            <a:r>
              <a:rPr lang="zh-CN" altLang="en-US"/>
              <a:t>风险</a:t>
            </a:r>
            <a:r>
              <a:rPr lang="en-US" altLang="zh-CN"/>
              <a:t>3</a:t>
            </a:r>
            <a:r>
              <a:rPr lang="zh-CN" altLang="en-US"/>
              <a:t>个要素</a:t>
            </a:r>
          </a:p>
        </p:txBody>
      </p:sp>
      <p:sp>
        <p:nvSpPr>
          <p:cNvPr id="8" name="内容占位符 7">
            <a:extLst>
              <a:ext uri="{FF2B5EF4-FFF2-40B4-BE49-F238E27FC236}">
                <a16:creationId xmlns:a16="http://schemas.microsoft.com/office/drawing/2014/main" id="{699CF5DC-ED46-89DB-1D78-92990C95C2F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5998" y="360000"/>
            <a:ext cx="6375921" cy="429413"/>
          </a:xfrm>
        </p:spPr>
        <p:txBody>
          <a:bodyPr/>
          <a:lstStyle/>
          <a:p>
            <a:r>
              <a:rPr lang="zh-CN" altLang="en-US"/>
              <a:t>风险</a:t>
            </a:r>
            <a:r>
              <a:rPr lang="en-US" altLang="zh-CN"/>
              <a:t>4</a:t>
            </a:r>
            <a:r>
              <a:rPr lang="zh-CN" altLang="en-US"/>
              <a:t>个过程</a:t>
            </a:r>
          </a:p>
        </p:txBody>
      </p:sp>
      <p:sp>
        <p:nvSpPr>
          <p:cNvPr id="11" name="内容占位符 10">
            <a:extLst>
              <a:ext uri="{FF2B5EF4-FFF2-40B4-BE49-F238E27FC236}">
                <a16:creationId xmlns:a16="http://schemas.microsoft.com/office/drawing/2014/main" id="{BD0FC86F-14C4-1268-E080-D08CA43B4C4D}"/>
              </a:ext>
            </a:extLst>
          </p:cNvPr>
          <p:cNvSpPr>
            <a:spLocks noGrp="1"/>
          </p:cNvSpPr>
          <p:nvPr>
            <p:ph idx="1"/>
          </p:nvPr>
        </p:nvSpPr>
        <p:spPr/>
        <p:txBody>
          <a:bodyPr/>
          <a:lstStyle/>
          <a:p>
            <a:endParaRPr lang="zh-CN" altLang="en-US"/>
          </a:p>
        </p:txBody>
      </p:sp>
      <p:sp>
        <p:nvSpPr>
          <p:cNvPr id="13" name="文本占位符 12">
            <a:extLst>
              <a:ext uri="{FF2B5EF4-FFF2-40B4-BE49-F238E27FC236}">
                <a16:creationId xmlns:a16="http://schemas.microsoft.com/office/drawing/2014/main" id="{25040921-FD0B-4AFD-223C-3C58082D5EDA}"/>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695998"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3509121705"/>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Weaknesses（</a:t>
                      </a:r>
                      <a:r>
                        <a:rPr lang="zh-CN" altLang="en-US" sz="160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7" name="文本占位符 6">
            <a:extLst>
              <a:ext uri="{FF2B5EF4-FFF2-40B4-BE49-F238E27FC236}">
                <a16:creationId xmlns:a16="http://schemas.microsoft.com/office/drawing/2014/main" id="{71F2B2A5-F9E3-760D-FA6B-C348F24B63E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695998"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7" name="文本占位符 6">
            <a:extLst>
              <a:ext uri="{FF2B5EF4-FFF2-40B4-BE49-F238E27FC236}">
                <a16:creationId xmlns:a16="http://schemas.microsoft.com/office/drawing/2014/main" id="{29BEB318-1127-079C-B4BB-7EAF5E3013A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695998"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7" name="文本占位符 6">
            <a:extLst>
              <a:ext uri="{FF2B5EF4-FFF2-40B4-BE49-F238E27FC236}">
                <a16:creationId xmlns:a16="http://schemas.microsoft.com/office/drawing/2014/main" id="{B3103E6E-989B-8A55-A3CB-B44091D9DAB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7" name="文本占位符 6">
            <a:extLst>
              <a:ext uri="{FF2B5EF4-FFF2-40B4-BE49-F238E27FC236}">
                <a16:creationId xmlns:a16="http://schemas.microsoft.com/office/drawing/2014/main" id="{5E9BC3DE-F851-6F38-E885-A3B6683F3820}"/>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D50B9D-C555-7037-DA5D-9B0DFAE84301}"/>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5" name="文本占位符 4">
            <a:extLst>
              <a:ext uri="{FF2B5EF4-FFF2-40B4-BE49-F238E27FC236}">
                <a16:creationId xmlns:a16="http://schemas.microsoft.com/office/drawing/2014/main" id="{E9606405-4F2C-A1EF-E2F2-0D0DCFEDF6C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8" name="内容占位符 7">
            <a:extLst>
              <a:ext uri="{FF2B5EF4-FFF2-40B4-BE49-F238E27FC236}">
                <a16:creationId xmlns:a16="http://schemas.microsoft.com/office/drawing/2014/main" id="{4B0104DF-24E5-6DFC-DB47-D1535D174FB9}"/>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6" name="文本占位符 5">
            <a:extLst>
              <a:ext uri="{FF2B5EF4-FFF2-40B4-BE49-F238E27FC236}">
                <a16:creationId xmlns:a16="http://schemas.microsoft.com/office/drawing/2014/main" id="{36253503-D8F7-6D57-7DA3-3A8AE74CB32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6" name="文本占位符 5">
            <a:extLst>
              <a:ext uri="{FF2B5EF4-FFF2-40B4-BE49-F238E27FC236}">
                <a16:creationId xmlns:a16="http://schemas.microsoft.com/office/drawing/2014/main" id="{B1EDC7E2-75F7-5240-9406-FF668970F90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695998" y="360000"/>
            <a:ext cx="6375921" cy="429413"/>
          </a:xfrm>
        </p:spPr>
        <p:txBody>
          <a:bodyPr/>
          <a:lstStyle/>
          <a:p>
            <a:r>
              <a:rPr lang="zh-CN" altLang="en-US"/>
              <a:t>项目结束</a:t>
            </a:r>
          </a:p>
        </p:txBody>
      </p:sp>
      <p:sp>
        <p:nvSpPr>
          <p:cNvPr id="28" name="内容占位符 27">
            <a:extLst>
              <a:ext uri="{FF2B5EF4-FFF2-40B4-BE49-F238E27FC236}">
                <a16:creationId xmlns:a16="http://schemas.microsoft.com/office/drawing/2014/main" id="{3F538195-CB8D-C427-EFEE-5239428FA4B0}"/>
              </a:ext>
            </a:extLst>
          </p:cNvPr>
          <p:cNvSpPr>
            <a:spLocks noGrp="1"/>
          </p:cNvSpPr>
          <p:nvPr>
            <p:ph idx="1"/>
          </p:nvPr>
        </p:nvSpPr>
        <p:spPr/>
        <p:txBody>
          <a:bodyPr/>
          <a:lstStyle/>
          <a:p>
            <a:endParaRPr lang="zh-CN" altLang="en-US"/>
          </a:p>
        </p:txBody>
      </p:sp>
      <p:sp>
        <p:nvSpPr>
          <p:cNvPr id="29" name="文本占位符 28">
            <a:extLst>
              <a:ext uri="{FF2B5EF4-FFF2-40B4-BE49-F238E27FC236}">
                <a16:creationId xmlns:a16="http://schemas.microsoft.com/office/drawing/2014/main" id="{59A20F13-D5D2-94DE-920E-31C93E9BD532}"/>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6" name="文本占位符 5">
            <a:extLst>
              <a:ext uri="{FF2B5EF4-FFF2-40B4-BE49-F238E27FC236}">
                <a16:creationId xmlns:a16="http://schemas.microsoft.com/office/drawing/2014/main" id="{C17BB2DF-A5CD-50FB-FBA9-F7801238CBD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17" name="文本占位符 16">
            <a:extLst>
              <a:ext uri="{FF2B5EF4-FFF2-40B4-BE49-F238E27FC236}">
                <a16:creationId xmlns:a16="http://schemas.microsoft.com/office/drawing/2014/main" id="{615F2577-F17A-01B1-6C72-CE28C08CC1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10" name="文本占位符 9">
            <a:extLst>
              <a:ext uri="{FF2B5EF4-FFF2-40B4-BE49-F238E27FC236}">
                <a16:creationId xmlns:a16="http://schemas.microsoft.com/office/drawing/2014/main" id="{8EE67194-6B96-3015-FABB-950F180B82F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11" name="文本占位符 10">
            <a:extLst>
              <a:ext uri="{FF2B5EF4-FFF2-40B4-BE49-F238E27FC236}">
                <a16:creationId xmlns:a16="http://schemas.microsoft.com/office/drawing/2014/main" id="{6ECEED88-5AAD-FD38-4056-887FC292853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7" name="文本占位符 6">
            <a:extLst>
              <a:ext uri="{FF2B5EF4-FFF2-40B4-BE49-F238E27FC236}">
                <a16:creationId xmlns:a16="http://schemas.microsoft.com/office/drawing/2014/main" id="{B78BE216-E909-FBA3-C72B-FC25F1D453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31718</TotalTime>
  <Words>36934</Words>
  <Application>Microsoft Office PowerPoint</Application>
  <PresentationFormat>宽屏</PresentationFormat>
  <Paragraphs>6879</Paragraphs>
  <Slides>430</Slides>
  <Notes>182</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430</vt:i4>
      </vt:variant>
    </vt:vector>
  </HeadingPairs>
  <TitlesOfParts>
    <vt:vector size="437" baseType="lpstr">
      <vt:lpstr>Cambria Math</vt:lpstr>
      <vt:lpstr>Arial</vt:lpstr>
      <vt:lpstr>Wingdings</vt:lpstr>
      <vt:lpstr>Roboto Mono</vt:lpstr>
      <vt:lpstr>Montserrat</vt:lpstr>
      <vt:lpstr>等线</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2.5.4.2 看板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PowerPoint 演示文稿</vt:lpstr>
      <vt:lpstr>PowerPoint 演示文稿</vt:lpstr>
      <vt:lpstr>PowerPoint 演示文稿</vt:lpstr>
      <vt:lpstr>变化原因</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PowerPoint 演示文稿</vt:lpstr>
      <vt:lpstr>2.2 配置管理环境建立</vt:lpstr>
      <vt:lpstr>PowerPoint 演示文稿</vt:lpstr>
      <vt:lpstr>2.3 基线变更管理</vt:lpstr>
      <vt:lpstr>PowerPoint 演示文稿</vt:lpstr>
      <vt:lpstr>PowerPoint 演示文稿</vt:lpstr>
      <vt:lpstr>PowerPoint 演示文稿</vt:lpstr>
      <vt:lpstr>2.4 配置审计</vt:lpstr>
      <vt:lpstr>2.5 配置状态统计</vt:lpstr>
      <vt:lpstr>2.6 配置管理计划</vt:lpstr>
      <vt:lpstr>PowerPoint 演示文稿</vt:lpstr>
      <vt:lpstr>PowerPoint 演示文稿</vt:lpstr>
      <vt:lpstr>软件项目团队计划</vt:lpstr>
      <vt:lpstr>PowerPoint 演示文稿</vt:lpstr>
      <vt:lpstr>团队发展四阶段</vt:lpstr>
      <vt:lpstr>10.1 组织结构</vt:lpstr>
      <vt:lpstr>人力资源管理</vt:lpstr>
      <vt:lpstr>10.1.1 职能型</vt:lpstr>
      <vt:lpstr>10.1.2 项目型</vt:lpstr>
      <vt:lpstr>10.1.3 矩阵型</vt:lpstr>
      <vt:lpstr>责任分配矩阵</vt:lpstr>
      <vt:lpstr>冲突解决</vt:lpstr>
      <vt:lpstr>马斯洛需要层次理论</vt:lpstr>
      <vt:lpstr>赫茨伯格双因素激励理论</vt:lpstr>
      <vt:lpstr>PowerPoint 演示文稿</vt:lpstr>
      <vt:lpstr>10.3 干系人管理</vt:lpstr>
      <vt:lpstr>10.3 凸显模型</vt:lpstr>
      <vt:lpstr>10.3 干系人</vt:lpstr>
      <vt:lpstr>10.3 干系人 Stakeholders</vt:lpstr>
      <vt:lpstr>10.4 沟通管理</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2898</cp:revision>
  <dcterms:created xsi:type="dcterms:W3CDTF">2026-01-24T11:12:04Z</dcterms:created>
  <dcterms:modified xsi:type="dcterms:W3CDTF">2026-05-05T08:56:58Z</dcterms:modified>
</cp:coreProperties>
</file>