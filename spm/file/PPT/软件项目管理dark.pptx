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3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9"/>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79" r:id="rId185"/>
    <p:sldId id="658" r:id="rId186"/>
    <p:sldId id="447" r:id="rId187"/>
    <p:sldId id="677" r:id="rId188"/>
    <p:sldId id="443" r:id="rId189"/>
    <p:sldId id="702" r:id="rId190"/>
    <p:sldId id="680" r:id="rId191"/>
    <p:sldId id="705" r:id="rId192"/>
    <p:sldId id="678" r:id="rId193"/>
    <p:sldId id="670" r:id="rId194"/>
    <p:sldId id="672" r:id="rId195"/>
    <p:sldId id="673" r:id="rId196"/>
    <p:sldId id="674" r:id="rId197"/>
    <p:sldId id="681" r:id="rId198"/>
    <p:sldId id="682" r:id="rId199"/>
    <p:sldId id="659" r:id="rId200"/>
    <p:sldId id="668" r:id="rId201"/>
    <p:sldId id="683" r:id="rId202"/>
    <p:sldId id="684" r:id="rId203"/>
    <p:sldId id="685" r:id="rId204"/>
    <p:sldId id="686" r:id="rId205"/>
    <p:sldId id="660" r:id="rId206"/>
    <p:sldId id="661" r:id="rId207"/>
    <p:sldId id="662" r:id="rId208"/>
    <p:sldId id="675" r:id="rId209"/>
    <p:sldId id="688" r:id="rId210"/>
    <p:sldId id="689" r:id="rId211"/>
    <p:sldId id="663" r:id="rId212"/>
    <p:sldId id="676" r:id="rId213"/>
    <p:sldId id="687" r:id="rId214"/>
    <p:sldId id="664" r:id="rId215"/>
    <p:sldId id="665" r:id="rId216"/>
    <p:sldId id="667" r:id="rId217"/>
    <p:sldId id="666" r:id="rId218"/>
    <p:sldId id="669" r:id="rId219"/>
    <p:sldId id="690" r:id="rId220"/>
    <p:sldId id="692" r:id="rId221"/>
    <p:sldId id="691" r:id="rId222"/>
    <p:sldId id="703" r:id="rId223"/>
    <p:sldId id="693" r:id="rId224"/>
    <p:sldId id="671" r:id="rId225"/>
    <p:sldId id="706" r:id="rId226"/>
    <p:sldId id="694" r:id="rId227"/>
    <p:sldId id="707" r:id="rId228"/>
    <p:sldId id="696" r:id="rId229"/>
    <p:sldId id="698" r:id="rId230"/>
    <p:sldId id="695" r:id="rId231"/>
    <p:sldId id="697" r:id="rId232"/>
    <p:sldId id="448" r:id="rId233"/>
    <p:sldId id="704" r:id="rId234"/>
    <p:sldId id="699" r:id="rId235"/>
    <p:sldId id="449" r:id="rId236"/>
    <p:sldId id="700" r:id="rId237"/>
    <p:sldId id="701" r:id="rId238"/>
    <p:sldId id="274" r:id="rId239"/>
    <p:sldId id="535" r:id="rId240"/>
    <p:sldId id="419" r:id="rId241"/>
    <p:sldId id="420" r:id="rId242"/>
    <p:sldId id="421" r:id="rId243"/>
    <p:sldId id="422" r:id="rId244"/>
    <p:sldId id="424" r:id="rId245"/>
    <p:sldId id="423" r:id="rId246"/>
    <p:sldId id="426" r:id="rId247"/>
    <p:sldId id="267" r:id="rId248"/>
    <p:sldId id="425" r:id="rId249"/>
    <p:sldId id="429" r:id="rId250"/>
    <p:sldId id="428" r:id="rId251"/>
    <p:sldId id="430" r:id="rId252"/>
    <p:sldId id="427" r:id="rId253"/>
    <p:sldId id="440" r:id="rId254"/>
    <p:sldId id="441" r:id="rId255"/>
    <p:sldId id="442" r:id="rId256"/>
    <p:sldId id="436" r:id="rId257"/>
    <p:sldId id="437" r:id="rId258"/>
    <p:sldId id="438" r:id="rId259"/>
    <p:sldId id="439" r:id="rId260"/>
    <p:sldId id="275" r:id="rId261"/>
    <p:sldId id="529" r:id="rId262"/>
    <p:sldId id="433" r:id="rId263"/>
    <p:sldId id="434" r:id="rId264"/>
    <p:sldId id="432" r:id="rId265"/>
    <p:sldId id="452" r:id="rId266"/>
    <p:sldId id="453" r:id="rId267"/>
    <p:sldId id="276" r:id="rId268"/>
    <p:sldId id="525" r:id="rId269"/>
    <p:sldId id="526" r:id="rId270"/>
    <p:sldId id="527" r:id="rId271"/>
    <p:sldId id="467" r:id="rId272"/>
    <p:sldId id="522" r:id="rId273"/>
    <p:sldId id="626" r:id="rId274"/>
    <p:sldId id="524" r:id="rId275"/>
    <p:sldId id="466" r:id="rId276"/>
    <p:sldId id="528" r:id="rId277"/>
    <p:sldId id="625" r:id="rId278"/>
    <p:sldId id="624" r:id="rId279"/>
    <p:sldId id="523" r:id="rId280"/>
    <p:sldId id="468" r:id="rId281"/>
    <p:sldId id="470" r:id="rId282"/>
    <p:sldId id="469" r:id="rId283"/>
    <p:sldId id="277" r:id="rId284"/>
    <p:sldId id="530" r:id="rId285"/>
    <p:sldId id="313" r:id="rId286"/>
    <p:sldId id="454" r:id="rId287"/>
    <p:sldId id="455" r:id="rId288"/>
    <p:sldId id="457" r:id="rId289"/>
    <p:sldId id="458" r:id="rId290"/>
    <p:sldId id="459" r:id="rId291"/>
    <p:sldId id="456" r:id="rId292"/>
    <p:sldId id="475" r:id="rId293"/>
    <p:sldId id="460" r:id="rId294"/>
    <p:sldId id="263" r:id="rId295"/>
    <p:sldId id="264" r:id="rId296"/>
    <p:sldId id="265" r:id="rId297"/>
    <p:sldId id="461" r:id="rId298"/>
    <p:sldId id="278" r:id="rId299"/>
    <p:sldId id="531" r:id="rId300"/>
    <p:sldId id="390" r:id="rId301"/>
    <p:sldId id="435" r:id="rId302"/>
    <p:sldId id="431" r:id="rId303"/>
    <p:sldId id="391" r:id="rId304"/>
    <p:sldId id="388" r:id="rId305"/>
    <p:sldId id="389" r:id="rId306"/>
    <p:sldId id="471" r:id="rId307"/>
    <p:sldId id="279" r:id="rId308"/>
    <p:sldId id="532" r:id="rId309"/>
    <p:sldId id="463" r:id="rId310"/>
    <p:sldId id="393" r:id="rId311"/>
    <p:sldId id="392" r:id="rId312"/>
    <p:sldId id="462" r:id="rId313"/>
    <p:sldId id="394" r:id="rId314"/>
    <p:sldId id="395" r:id="rId315"/>
    <p:sldId id="396" r:id="rId316"/>
    <p:sldId id="397" r:id="rId317"/>
    <p:sldId id="398" r:id="rId318"/>
    <p:sldId id="464" r:id="rId319"/>
    <p:sldId id="465" r:id="rId320"/>
    <p:sldId id="280" r:id="rId321"/>
    <p:sldId id="533" r:id="rId322"/>
    <p:sldId id="399" r:id="rId323"/>
    <p:sldId id="287" r:id="rId324"/>
    <p:sldId id="288" r:id="rId325"/>
    <p:sldId id="289" r:id="rId326"/>
    <p:sldId id="290" r:id="rId327"/>
    <p:sldId id="281" r:id="rId328"/>
    <p:sldId id="534" r:id="rId329"/>
    <p:sldId id="400" r:id="rId330"/>
    <p:sldId id="402" r:id="rId331"/>
    <p:sldId id="401" r:id="rId332"/>
    <p:sldId id="412" r:id="rId333"/>
    <p:sldId id="472" r:id="rId334"/>
    <p:sldId id="473" r:id="rId335"/>
    <p:sldId id="474" r:id="rId336"/>
    <p:sldId id="367" r:id="rId337"/>
    <p:sldId id="643" r:id="rId338"/>
  </p:sldIdLst>
  <p:sldSz cx="12192000" cy="6858000"/>
  <p:notesSz cx="6858000" cy="9144000"/>
  <p:embeddedFontLst>
    <p:embeddedFont>
      <p:font typeface="Cambria Math" panose="02040503050406030204" pitchFamily="18" charset="0"/>
      <p:regular r:id="rId340"/>
    </p:embeddedFont>
    <p:embeddedFont>
      <p:font typeface="Montserrat" panose="00000500000000000000" pitchFamily="2" charset="0"/>
      <p:regular r:id="rId341"/>
    </p:embeddedFont>
    <p:embeddedFont>
      <p:font typeface="Roboto Mono" pitchFamily="2" charset="0"/>
      <p:regular r:id="rId342"/>
      <p:bold r:id="rId343"/>
    </p:embeddedFont>
    <p:embeddedFont>
      <p:font typeface="Roboto Mono Light" pitchFamily="2" charset="0"/>
      <p:regular r:id="rId344"/>
    </p:embeddedFont>
    <p:embeddedFont>
      <p:font typeface="等线" panose="02010600030101010101" pitchFamily="2" charset="-122"/>
      <p:regular r:id="rId345"/>
      <p:bold r:id="rId346"/>
    </p:embeddedFont>
    <p:embeddedFont>
      <p:font typeface="微软雅黑 Light" panose="020B0502040204020203" pitchFamily="34" charset="-122"/>
      <p:regular r:id="rId34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CCA94"/>
    <a:srgbClr val="001F3F"/>
    <a:srgbClr val="E05F73"/>
    <a:srgbClr val="E7886E"/>
    <a:srgbClr val="F6BA4F"/>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8521" autoAdjust="0"/>
  </p:normalViewPr>
  <p:slideViewPr>
    <p:cSldViewPr snapToGrid="0">
      <p:cViewPr varScale="1">
        <p:scale>
          <a:sx n="100" d="100"/>
          <a:sy n="100" d="100"/>
        </p:scale>
        <p:origin x="954" y="8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7.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presProps" Target="presProp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viewProps" Target="view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theme" Target="theme/theme1.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1.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ableStyles" Target="tableStyles.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2.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3.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6.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8.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28575" cap="rnd">
              <a:solidFill>
                <a:schemeClr val="accent2"/>
              </a:solidFill>
              <a:round/>
            </a:ln>
            <a:effectLst/>
          </c:spPr>
          <c:marker>
            <c:symbol val="triangle"/>
            <c:size val="10"/>
            <c:spPr>
              <a:solidFill>
                <a:srgbClr val="FFFF00"/>
              </a:solidFill>
              <a:ln w="9525">
                <a:noFill/>
              </a:ln>
              <a:effectLst/>
            </c:spPr>
          </c:marker>
          <c:dLbls>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marker val="1"/>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noFill/>
            <a:round/>
          </a:ln>
          <a:effectLst/>
        </c:spPr>
        <c:txPr>
          <a:bodyPr rot="0" spcFirstLastPara="1" vertOverflow="ellipsis" vert="wordArtVertRtl" wrap="square" anchor="ctr" anchorCtr="1"/>
          <a:lstStyle/>
          <a:p>
            <a:pPr>
              <a:defRPr sz="1400" b="0" i="0" u="none" strike="noStrike" kern="1200" baseline="0">
                <a:solidFill>
                  <a:schemeClr val="bg1"/>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bg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2026/4/13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185</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194</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196</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210</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213</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233</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244</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252</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254</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269</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337</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67.xml"/><Relationship Id="rId13" Type="http://schemas.openxmlformats.org/officeDocument/2006/relationships/slide" Target="slide320.xml"/><Relationship Id="rId3" Type="http://schemas.openxmlformats.org/officeDocument/2006/relationships/slide" Target="slide41.xml"/><Relationship Id="rId7" Type="http://schemas.openxmlformats.org/officeDocument/2006/relationships/slide" Target="slide260.xml"/><Relationship Id="rId12" Type="http://schemas.openxmlformats.org/officeDocument/2006/relationships/slide" Target="slide307.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8.xml"/><Relationship Id="rId11" Type="http://schemas.openxmlformats.org/officeDocument/2006/relationships/slide" Target="slide327.xml"/><Relationship Id="rId5" Type="http://schemas.openxmlformats.org/officeDocument/2006/relationships/slide" Target="slide182.xml"/><Relationship Id="rId10" Type="http://schemas.openxmlformats.org/officeDocument/2006/relationships/slide" Target="slide298.xml"/><Relationship Id="rId4" Type="http://schemas.openxmlformats.org/officeDocument/2006/relationships/slide" Target="slide120.xml"/><Relationship Id="rId9" Type="http://schemas.openxmlformats.org/officeDocument/2006/relationships/slide" Target="slide2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9.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5.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3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1.xml"/><Relationship Id="rId7" Type="http://schemas.openxmlformats.org/officeDocument/2006/relationships/image" Target="../media/image1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image" Target="../media/image52.sv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a:t>
            </a:r>
            <a:r>
              <a:rPr lang="zh-CN" altLang="en-US" dirty="0">
                <a:solidFill>
                  <a:srgbClr val="FFFF00"/>
                </a:solidFill>
              </a:rPr>
              <a:t>黑盒子</a:t>
            </a:r>
            <a:r>
              <a:rPr lang="zh-CN" altLang="en-US" dirty="0"/>
              <a:t>”形式描绘系统内部的各个部件（如程序、文件、数据库、人工过程等），并表达信息在这些部件之间的流动情况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717411" cy="400110"/>
          </a:xfrm>
          <a:prstGeom prst="rect">
            <a:avLst/>
          </a:prstGeom>
          <a:noFill/>
        </p:spPr>
        <p:txBody>
          <a:bodyPr wrap="none" rtlCol="0">
            <a:spAutoFit/>
          </a:bodyPr>
          <a:lstStyle/>
          <a:p>
            <a:r>
              <a:rPr lang="zh-CN" altLang="en-US" sz="2000" dirty="0">
                <a:solidFill>
                  <a:schemeClr val="bg1"/>
                </a:solidFill>
              </a:rPr>
              <a:t>课后思考 </a:t>
            </a:r>
            <a:r>
              <a:rPr lang="en-US" altLang="zh-CN" sz="2000" dirty="0">
                <a:solidFill>
                  <a:schemeClr val="bg1"/>
                </a:solidFill>
              </a:rPr>
              <a:t>Homework</a:t>
            </a:r>
            <a:endParaRPr lang="zh-CN" altLang="en-US" sz="2000" dirty="0">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7124066" cy="369332"/>
          </a:xfrm>
          <a:prstGeom prst="rect">
            <a:avLst/>
          </a:prstGeom>
          <a:noFill/>
        </p:spPr>
        <p:txBody>
          <a:bodyPr wrap="none" rtlCol="0">
            <a:spAutoFit/>
          </a:bodyPr>
          <a:lstStyle/>
          <a:p>
            <a:r>
              <a:rPr lang="zh-CN" altLang="en-US" dirty="0">
                <a:solidFill>
                  <a:schemeClr val="bg1"/>
                </a:solidFill>
              </a:rPr>
              <a:t>举例并分析：</a:t>
            </a:r>
            <a:r>
              <a:rPr lang="en-US" altLang="zh-CN" dirty="0">
                <a:solidFill>
                  <a:schemeClr val="bg1"/>
                </a:solidFill>
              </a:rPr>
              <a:t>SOW</a:t>
            </a:r>
            <a:r>
              <a:rPr lang="zh-CN" altLang="en-US" dirty="0">
                <a:solidFill>
                  <a:schemeClr val="bg1"/>
                </a:solidFill>
              </a:rPr>
              <a:t>、</a:t>
            </a:r>
            <a:r>
              <a:rPr lang="en-US" altLang="zh-CN" dirty="0">
                <a:solidFill>
                  <a:schemeClr val="bg1"/>
                </a:solidFill>
              </a:rPr>
              <a:t>SRS</a:t>
            </a:r>
            <a:r>
              <a:rPr lang="zh-CN" altLang="en-US" dirty="0">
                <a:solidFill>
                  <a:schemeClr val="bg1"/>
                </a:solidFill>
              </a:rPr>
              <a:t>、</a:t>
            </a:r>
            <a:r>
              <a:rPr lang="en-US" altLang="zh-CN" dirty="0">
                <a:solidFill>
                  <a:schemeClr val="bg1"/>
                </a:solidFill>
              </a:rPr>
              <a:t>WBS</a:t>
            </a:r>
            <a:r>
              <a:rPr lang="zh-CN" altLang="en-US" dirty="0">
                <a:solidFill>
                  <a:schemeClr val="bg1"/>
                </a:solidFill>
              </a:rPr>
              <a:t>、</a:t>
            </a:r>
            <a:r>
              <a:rPr lang="en-US" altLang="zh-CN" dirty="0">
                <a:solidFill>
                  <a:schemeClr val="bg1"/>
                </a:solidFill>
              </a:rPr>
              <a:t>Package </a:t>
            </a:r>
            <a:r>
              <a:rPr lang="zh-CN" altLang="en-US" dirty="0">
                <a:solidFill>
                  <a:schemeClr val="bg1"/>
                </a:solidFill>
              </a:rPr>
              <a:t>和 </a:t>
            </a:r>
            <a:r>
              <a:rPr lang="en-US" altLang="zh-CN" dirty="0">
                <a:solidFill>
                  <a:schemeClr val="bg1"/>
                </a:solidFill>
              </a:rPr>
              <a:t>Dictionary </a:t>
            </a:r>
            <a:r>
              <a:rPr lang="zh-CN" altLang="en-US"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rgbClr val="FFFF00"/>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rgbClr val="FFFF00"/>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rgbClr val="FFFF00"/>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rgbClr val="FFFF00"/>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a:t>
            </a:r>
            <a:r>
              <a:rPr lang="zh-CN" altLang="en-US" dirty="0">
                <a:solidFill>
                  <a:srgbClr val="FFFF00"/>
                </a:solidFill>
              </a:rPr>
              <a:t>估计和计划</a:t>
            </a:r>
            <a:endParaRPr lang="en-US" altLang="zh-CN" dirty="0">
              <a:solidFill>
                <a:srgbClr val="FFFF00"/>
              </a:solidFill>
            </a:endParaRPr>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5325" y="863600"/>
            <a:ext cx="10801350" cy="5400675"/>
          </a:xfrm>
        </p:spPr>
        <p:txBody>
          <a:bodyPr/>
          <a:lstStyle/>
          <a:p>
            <a:r>
              <a:rPr lang="zh-CN" altLang="en-US" dirty="0"/>
              <a:t>工作量</a:t>
            </a:r>
            <a:endParaRPr lang="en-US" altLang="zh-CN" dirty="0"/>
          </a:p>
          <a:p>
            <a:r>
              <a:rPr lang="zh-CN" altLang="en-US" dirty="0"/>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793416609"/>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b="0" dirty="0">
                          <a:solidFill>
                            <a:schemeClr val="bg1"/>
                          </a:solidFill>
                        </a:rPr>
                        <a:t>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b="0" dirty="0">
                          <a:solidFill>
                            <a:schemeClr val="bg1"/>
                          </a:solidFill>
                        </a:rPr>
                        <a:t>工作量</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人天</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人月</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人年</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规模</a:t>
                      </a: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代码行 </a:t>
                      </a:r>
                      <a:r>
                        <a:rPr lang="en-US" altLang="zh-CN" sz="1600" b="0" dirty="0">
                          <a:solidFill>
                            <a:schemeClr val="bg1"/>
                          </a:solidFill>
                        </a:rPr>
                        <a:t>LOC</a:t>
                      </a:r>
                    </a:p>
                    <a:p>
                      <a:pPr algn="l"/>
                      <a:r>
                        <a:rPr lang="en-US" altLang="zh-CN" sz="1600" b="0" dirty="0">
                          <a:solidFill>
                            <a:schemeClr val="bg1"/>
                          </a:solidFill>
                        </a:rPr>
                        <a:t>Line of Code</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功能点</a:t>
                      </a:r>
                      <a:r>
                        <a:rPr lang="en-US" altLang="zh-CN" sz="1600" b="0" dirty="0">
                          <a:solidFill>
                            <a:schemeClr val="bg1"/>
                          </a:solidFill>
                        </a:rPr>
                        <a:t>FP</a:t>
                      </a:r>
                      <a:r>
                        <a:rPr lang="zh-CN" altLang="en-US" sz="1600" b="0" dirty="0">
                          <a:solidFill>
                            <a:schemeClr val="bg1"/>
                          </a:solidFill>
                        </a:rPr>
                        <a:t> </a:t>
                      </a:r>
                      <a:r>
                        <a:rPr lang="en-US" altLang="zh-CN" sz="1600" b="0" dirty="0">
                          <a:solidFill>
                            <a:schemeClr val="bg1"/>
                          </a:solidFill>
                        </a:rPr>
                        <a:t>Function Point</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元</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solidFill>
                  <a:srgbClr val="FFFF00"/>
                </a:solidFill>
              </a:rPr>
              <a:t>人天：做多久？</a:t>
            </a:r>
            <a:endParaRPr lang="en-US" altLang="zh-CN" sz="1600" dirty="0">
              <a:solidFill>
                <a:srgbClr val="FFFF00"/>
              </a:solidFill>
            </a:endParaRPr>
          </a:p>
          <a:p>
            <a:pPr algn="l"/>
            <a:r>
              <a:rPr lang="zh-CN" altLang="en-US" sz="1600" dirty="0">
                <a:solidFill>
                  <a:srgbClr val="FFFF00"/>
                </a:solidFill>
              </a:rPr>
              <a:t>人月：做多久？</a:t>
            </a:r>
          </a:p>
        </p:txBody>
      </p:sp>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p:spPr>
        <p:txBody>
          <a:bodyPr wrap="none" rtlCol="0">
            <a:spAutoFit/>
          </a:bodyPr>
          <a:lstStyle/>
          <a:p>
            <a:pPr algn="l"/>
            <a:r>
              <a:rPr lang="zh-CN" altLang="en-US" sz="1600" dirty="0">
                <a:solidFill>
                  <a:schemeClr val="bg1"/>
                </a:solidFill>
              </a:rPr>
              <a:t>非特定项目，服务于</a:t>
            </a:r>
            <a:r>
              <a:rPr lang="zh-CN" altLang="en-US" sz="1600" dirty="0">
                <a:solidFill>
                  <a:srgbClr val="FFFF00"/>
                </a:solidFill>
              </a:rPr>
              <a:t>整体</a:t>
            </a:r>
            <a:endParaRPr lang="en-US" altLang="zh-CN" sz="1600" dirty="0">
              <a:solidFill>
                <a:srgbClr val="FFFF00"/>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solidFill>
                  <a:schemeClr val="bg1"/>
                </a:solidFill>
              </a:rPr>
              <a:t>判断 </a:t>
            </a:r>
            <a:r>
              <a:rPr lang="en-US" altLang="zh-CN" sz="2000" dirty="0">
                <a:solidFill>
                  <a:schemeClr val="bg1"/>
                </a:solidFill>
              </a:rPr>
              <a:t>True or False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solidFill>
                  <a:schemeClr val="bg1"/>
                </a:solidFill>
              </a:rPr>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972477242"/>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b="0" dirty="0">
                          <a:solidFill>
                            <a:schemeClr val="bg1"/>
                          </a:solidFill>
                        </a:rPr>
                        <a:t>Type</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Desc</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租金</a:t>
                      </a: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外聘</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专有</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分摊</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决策</a:t>
                      </a:r>
                      <a:r>
                        <a:rPr lang="en-US" altLang="zh-CN" sz="1600" b="0" dirty="0">
                          <a:solidFill>
                            <a:schemeClr val="bg1"/>
                          </a:solidFill>
                        </a:rPr>
                        <a:t>A?B?</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沉没成本</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已发生</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solidFill>
                  <a:schemeClr val="bg1"/>
                </a:solidFill>
              </a:rPr>
              <a:t>思考 </a:t>
            </a:r>
            <a:r>
              <a:rPr lang="en-US" altLang="zh-CN" sz="2000" dirty="0">
                <a:solidFill>
                  <a:schemeClr val="bg1"/>
                </a:solidFill>
              </a:rPr>
              <a:t>Thinking</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solidFill>
                  <a:schemeClr val="bg1"/>
                </a:solidFill>
              </a:rPr>
              <a:t>你花 </a:t>
            </a:r>
            <a:r>
              <a:rPr lang="en-US" altLang="zh-CN" dirty="0">
                <a:solidFill>
                  <a:schemeClr val="bg1"/>
                </a:solidFill>
              </a:rPr>
              <a:t>50</a:t>
            </a:r>
            <a:r>
              <a:rPr lang="zh-CN" altLang="en-US" dirty="0">
                <a:solidFill>
                  <a:schemeClr val="bg1"/>
                </a:solidFill>
              </a:rPr>
              <a:t>元 买了一张电影票，进场看了</a:t>
            </a:r>
            <a:r>
              <a:rPr lang="en-US" altLang="zh-CN" dirty="0">
                <a:solidFill>
                  <a:schemeClr val="bg1"/>
                </a:solidFill>
              </a:rPr>
              <a:t>20</a:t>
            </a:r>
            <a:r>
              <a:rPr lang="zh-CN" altLang="en-US" dirty="0">
                <a:solidFill>
                  <a:schemeClr val="bg1"/>
                </a:solidFill>
              </a:rPr>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870085188"/>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solidFill>
                            <a:schemeClr val="bg1"/>
                          </a:solidFill>
                        </a:rPr>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149266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2725794968"/>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solidFill>
                  <a:schemeClr val="bg1"/>
                </a:solidFill>
              </a:rPr>
              <a:t>2. UFC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2406100251"/>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479383638"/>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106709792"/>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392972678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9845397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514947993"/>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662340766"/>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798368831"/>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a:t>
                      </a:r>
                      <a:r>
                        <a:rPr lang="zh-CN" altLang="en-US" sz="1600" b="0" dirty="0">
                          <a:solidFill>
                            <a:srgbClr val="FFFF00"/>
                          </a:solidFill>
                        </a:rPr>
                        <a:t>角色</a:t>
                      </a:r>
                      <a:r>
                        <a:rPr lang="zh-CN" altLang="en-US" sz="1600" b="0" dirty="0">
                          <a:solidFill>
                            <a:schemeClr val="bg1"/>
                          </a:solidFill>
                        </a:rPr>
                        <a:t>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a:t>
                      </a:r>
                      <a:r>
                        <a:rPr lang="zh-CN" altLang="en-US" sz="1600" dirty="0">
                          <a:solidFill>
                            <a:schemeClr val="bg1"/>
                          </a:solidFill>
                        </a:rPr>
                        <a:t>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用例点</a:t>
                      </a:r>
                      <a:r>
                        <a:rPr lang="zh-CN" altLang="en-US" sz="1600" dirty="0">
                          <a:solidFill>
                            <a:schemeClr val="bg1"/>
                          </a:solidFill>
                        </a:rPr>
                        <a:t>，</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调整后的用例点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solidFill>
                  <a:srgbClr val="FFFF00"/>
                </a:solidFill>
              </a:rPr>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a:t>
            </a:r>
            <a:r>
              <a:rPr lang="en-US" altLang="zh-CN" baseline="-25000" dirty="0"/>
              <a:t>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a:t>
            </a:r>
            <a:r>
              <a:rPr lang="en-US" altLang="zh-CN" baseline="-25000" dirty="0"/>
              <a:t>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a:t>
            </a:r>
            <a:r>
              <a:rPr lang="en-US" altLang="zh-CN" baseline="-25000" dirty="0"/>
              <a:t>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2716714813"/>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a:t>
            </a:r>
            <a:r>
              <a:rPr lang="zh-CN" altLang="en-US" dirty="0">
                <a:solidFill>
                  <a:srgbClr val="FFFF00"/>
                </a:solidFill>
              </a:rPr>
              <a:t>独立</a:t>
            </a:r>
            <a:r>
              <a:rPr lang="zh-CN" altLang="en-US" dirty="0"/>
              <a:t>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a:t>
            </a:r>
            <a:r>
              <a:rPr lang="zh-CN" altLang="en-US" dirty="0">
                <a:solidFill>
                  <a:srgbClr val="FFFF00"/>
                </a:solidFill>
              </a:rPr>
              <a:t>匿名</a:t>
            </a:r>
            <a:r>
              <a:rPr lang="zh-CN" altLang="en-US" dirty="0"/>
              <a:t>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a:t>
            </a:r>
            <a:r>
              <a:rPr lang="zh-CN" altLang="en-US" dirty="0">
                <a:solidFill>
                  <a:srgbClr val="FFFF00"/>
                </a:solidFill>
              </a:rPr>
              <a:t>相对</a:t>
            </a:r>
            <a:r>
              <a:rPr lang="zh-CN" altLang="en-US" dirty="0"/>
              <a:t>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solidFill>
                  <a:srgbClr val="FFFF00"/>
                </a:solidFill>
              </a:rPr>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solidFill>
                  <a:schemeClr val="bg1"/>
                </a:solidFill>
              </a:rPr>
              <a:t>假设某项目的注册功能为 </a:t>
            </a:r>
            <a:r>
              <a:rPr lang="en-US" altLang="zh-CN" dirty="0">
                <a:solidFill>
                  <a:schemeClr val="bg1"/>
                </a:solidFill>
              </a:rPr>
              <a:t>3 </a:t>
            </a:r>
            <a:r>
              <a:rPr lang="zh-CN" altLang="en-US" dirty="0">
                <a:solidFill>
                  <a:schemeClr val="bg1"/>
                </a:solidFill>
              </a:rPr>
              <a:t>个 </a:t>
            </a:r>
            <a:r>
              <a:rPr lang="en-US" altLang="zh-CN" dirty="0">
                <a:solidFill>
                  <a:schemeClr val="bg1"/>
                </a:solidFill>
              </a:rPr>
              <a:t>story points</a:t>
            </a:r>
            <a:r>
              <a:rPr lang="zh-CN" altLang="en-US" dirty="0">
                <a:solidFill>
                  <a:schemeClr val="bg1"/>
                </a:solidFill>
              </a:rPr>
              <a:t>；其中成绩录入工作量比注册功能工作量略多，如果采用 </a:t>
            </a:r>
            <a:r>
              <a:rPr lang="en-US" altLang="zh-CN" dirty="0">
                <a:solidFill>
                  <a:schemeClr val="bg1"/>
                </a:solidFill>
              </a:rPr>
              <a:t>Fibonacci </a:t>
            </a:r>
            <a:r>
              <a:rPr lang="zh-CN" altLang="en-US" dirty="0">
                <a:solidFill>
                  <a:schemeClr val="bg1"/>
                </a:solidFill>
              </a:rPr>
              <a:t>等级标准估算的话</a:t>
            </a:r>
            <a:r>
              <a:rPr lang="en-US" altLang="zh-CN" dirty="0">
                <a:solidFill>
                  <a:schemeClr val="bg1"/>
                </a:solidFill>
              </a:rPr>
              <a:t>,</a:t>
            </a:r>
            <a:r>
              <a:rPr lang="zh-CN" altLang="en-US" dirty="0">
                <a:solidFill>
                  <a:schemeClr val="bg1"/>
                </a:solidFill>
              </a:rPr>
              <a:t>，成绩录入功能的估算值是</a:t>
            </a:r>
            <a:r>
              <a:rPr lang="en-US" altLang="zh-CN" dirty="0">
                <a:solidFill>
                  <a:schemeClr val="bg1"/>
                </a:solidFill>
              </a:rPr>
              <a:t>( )</a:t>
            </a:r>
          </a:p>
          <a:p>
            <a:pPr>
              <a:spcAft>
                <a:spcPts val="600"/>
              </a:spcAft>
            </a:pPr>
            <a:r>
              <a:rPr lang="en-US" altLang="zh-CN" dirty="0">
                <a:solidFill>
                  <a:schemeClr val="bg1"/>
                </a:solidFill>
              </a:rPr>
              <a:t>A. 5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B. 4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C. 6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D. 7 </a:t>
            </a:r>
            <a:r>
              <a:rPr lang="zh-CN" altLang="en-US" dirty="0">
                <a:solidFill>
                  <a:schemeClr val="bg1"/>
                </a:solidFill>
              </a:rPr>
              <a:t>个 </a:t>
            </a:r>
            <a:r>
              <a:rPr lang="en-US" altLang="zh-CN" dirty="0">
                <a:solidFill>
                  <a:schemeClr val="bg1"/>
                </a:solidFill>
              </a:rPr>
              <a:t>story points </a:t>
            </a:r>
            <a:endParaRPr lang="zh-CN" altLang="en-US" dirty="0">
              <a:solidFill>
                <a:schemeClr val="bg1"/>
              </a:solidFill>
            </a:endParaRPr>
          </a:p>
        </p:txBody>
      </p:sp>
    </p:spTree>
    <p:extLst>
      <p:ext uri="{BB962C8B-B14F-4D97-AF65-F5344CB8AC3E}">
        <p14:creationId xmlns:p14="http://schemas.microsoft.com/office/powerpoint/2010/main" val="243822316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634506815"/>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2832441258"/>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675648177"/>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1043197247"/>
              </p:ext>
            </p:extLst>
          </p:nvPr>
        </p:nvGraphicFramePr>
        <p:xfrm>
          <a:off x="2856000" y="21732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17" name="文本占位符 16">
            <a:extLst>
              <a:ext uri="{FF2B5EF4-FFF2-40B4-BE49-F238E27FC236}">
                <a16:creationId xmlns:a16="http://schemas.microsoft.com/office/drawing/2014/main" id="{A4C24D18-EC46-D9BC-A303-04F9128B2C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solidFill>
                  <a:schemeClr val="bg1"/>
                </a:solidFill>
              </a:rPr>
              <a:t>在成本管理过程中，每个时间段中的各个工作单元的成本是</a:t>
            </a:r>
            <a:r>
              <a:rPr lang="en-US" altLang="zh-CN" dirty="0">
                <a:solidFill>
                  <a:schemeClr val="bg1"/>
                </a:solidFill>
              </a:rPr>
              <a:t>( )</a:t>
            </a:r>
          </a:p>
          <a:p>
            <a:pPr>
              <a:spcAft>
                <a:spcPts val="600"/>
              </a:spcAft>
            </a:pPr>
            <a:r>
              <a:rPr lang="en-US" altLang="zh-CN" dirty="0">
                <a:solidFill>
                  <a:schemeClr val="bg1"/>
                </a:solidFill>
              </a:rPr>
              <a:t>A. </a:t>
            </a:r>
            <a:r>
              <a:rPr lang="zh-CN" altLang="en-US" dirty="0">
                <a:solidFill>
                  <a:schemeClr val="bg1"/>
                </a:solidFill>
              </a:rPr>
              <a:t>估算</a:t>
            </a:r>
            <a:endParaRPr lang="en-US" altLang="zh-CN" dirty="0">
              <a:solidFill>
                <a:schemeClr val="bg1"/>
              </a:solidFill>
            </a:endParaRPr>
          </a:p>
          <a:p>
            <a:pPr>
              <a:spcAft>
                <a:spcPts val="600"/>
              </a:spcAft>
            </a:pPr>
            <a:r>
              <a:rPr lang="en-US" altLang="zh-CN" dirty="0">
                <a:solidFill>
                  <a:schemeClr val="bg1"/>
                </a:solidFill>
              </a:rPr>
              <a:t>B. </a:t>
            </a:r>
            <a:r>
              <a:rPr lang="zh-CN" altLang="en-US" dirty="0">
                <a:solidFill>
                  <a:schemeClr val="bg1"/>
                </a:solidFill>
              </a:rPr>
              <a:t>预算</a:t>
            </a:r>
            <a:endParaRPr lang="en-US" altLang="zh-CN" dirty="0">
              <a:solidFill>
                <a:schemeClr val="bg1"/>
              </a:solidFill>
            </a:endParaRPr>
          </a:p>
          <a:p>
            <a:pPr>
              <a:spcAft>
                <a:spcPts val="600"/>
              </a:spcAft>
            </a:pPr>
            <a:r>
              <a:rPr lang="en-US" altLang="zh-CN" dirty="0">
                <a:solidFill>
                  <a:schemeClr val="bg1"/>
                </a:solidFill>
              </a:rPr>
              <a:t>C. </a:t>
            </a:r>
            <a:r>
              <a:rPr lang="zh-CN" altLang="en-US" dirty="0">
                <a:solidFill>
                  <a:schemeClr val="bg1"/>
                </a:solidFill>
              </a:rPr>
              <a:t>直接成本</a:t>
            </a:r>
            <a:endParaRPr lang="en-US" altLang="zh-CN" dirty="0">
              <a:solidFill>
                <a:schemeClr val="bg1"/>
              </a:solidFill>
            </a:endParaRPr>
          </a:p>
          <a:p>
            <a:pPr>
              <a:spcAft>
                <a:spcPts val="600"/>
              </a:spcAft>
            </a:pPr>
            <a:r>
              <a:rPr lang="en-US" altLang="zh-CN" dirty="0">
                <a:solidFill>
                  <a:schemeClr val="bg1"/>
                </a:solidFill>
              </a:rPr>
              <a:t>D. </a:t>
            </a:r>
            <a:r>
              <a:rPr lang="zh-CN" altLang="en-US" dirty="0">
                <a:solidFill>
                  <a:schemeClr val="bg1"/>
                </a:solidFill>
              </a:rPr>
              <a:t>间接成本</a:t>
            </a:r>
          </a:p>
        </p:txBody>
      </p:sp>
    </p:spTree>
    <p:extLst>
      <p:ext uri="{BB962C8B-B14F-4D97-AF65-F5344CB8AC3E}">
        <p14:creationId xmlns:p14="http://schemas.microsoft.com/office/powerpoint/2010/main" val="328730084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391100245"/>
              </p:ext>
            </p:extLst>
          </p:nvPr>
        </p:nvGraphicFramePr>
        <p:xfrm>
          <a:off x="892839" y="1920240"/>
          <a:ext cx="5040000" cy="301752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600" baseline="0" dirty="0">
                          <a:solidFill>
                            <a:schemeClr val="bg1"/>
                          </a:solidFill>
                          <a:latin typeface="Times New Roman" panose="02020603050405020304" pitchFamily="18" charset="0"/>
                        </a:rPr>
                        <a:t>WBS</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总成本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600" baseline="0" dirty="0">
                          <a:solidFill>
                            <a:schemeClr val="bg1"/>
                          </a:solidFill>
                          <a:latin typeface="Times New Roman" panose="02020603050405020304" pitchFamily="18" charset="0"/>
                        </a:rPr>
                        <a:t>8</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1.1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1.2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2.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600" baseline="0" dirty="0">
                          <a:solidFill>
                            <a:schemeClr val="bg1"/>
                          </a:solidFill>
                          <a:latin typeface="Times New Roman" panose="02020603050405020304" pitchFamily="18" charset="0"/>
                        </a:rPr>
                        <a:t>6</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baseline="0" dirty="0">
                          <a:solidFill>
                            <a:schemeClr val="bg1"/>
                          </a:solidFill>
                          <a:latin typeface="Times New Roman" panose="02020603050405020304" pitchFamily="18" charset="0"/>
                        </a:rPr>
                        <a:t>2.1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600" baseline="0" dirty="0">
                          <a:solidFill>
                            <a:schemeClr val="bg1"/>
                          </a:solidFill>
                          <a:latin typeface="Times New Roman" panose="02020603050405020304" pitchFamily="18" charset="0"/>
                        </a:rPr>
                        <a:t>2.2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2.3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baseline="0" dirty="0">
                          <a:solidFill>
                            <a:schemeClr val="bg1"/>
                          </a:solidFill>
                          <a:latin typeface="Times New Roman" panose="02020603050405020304" pitchFamily="18" charset="0"/>
                        </a:rPr>
                        <a:t>2</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355908151"/>
              </p:ext>
            </p:extLst>
          </p:nvPr>
        </p:nvGraphicFramePr>
        <p:xfrm>
          <a:off x="8059161" y="1920240"/>
          <a:ext cx="324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600" baseline="0" dirty="0">
                          <a:solidFill>
                            <a:schemeClr val="bg1"/>
                          </a:solidFill>
                          <a:latin typeface="Times New Roman" panose="02020603050405020304" pitchFamily="18" charset="0"/>
                        </a:rPr>
                        <a:t>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任务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规划</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需求</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概要设计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详细设计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600" baseline="0" dirty="0">
                          <a:solidFill>
                            <a:schemeClr val="bg1"/>
                          </a:solidFill>
                          <a:latin typeface="Times New Roman" panose="02020603050405020304" pitchFamily="18" charset="0"/>
                        </a:rPr>
                        <a:t>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2</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测试</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验收</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solidFill>
                  <a:schemeClr val="bg1"/>
                </a:solidFill>
              </a:rPr>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solidFill>
                  <a:schemeClr val="bg1"/>
                </a:solidFill>
              </a:rPr>
              <a:t>项目成本预算</a:t>
            </a:r>
          </a:p>
        </p:txBody>
      </p:sp>
    </p:spTree>
    <p:extLst>
      <p:ext uri="{BB962C8B-B14F-4D97-AF65-F5344CB8AC3E}">
        <p14:creationId xmlns:p14="http://schemas.microsoft.com/office/powerpoint/2010/main" val="5892363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4182562902"/>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28098</TotalTime>
  <Words>30063</Words>
  <Application>Microsoft Office PowerPoint</Application>
  <PresentationFormat>宽屏</PresentationFormat>
  <Paragraphs>5143</Paragraphs>
  <Slides>337</Slides>
  <Notes>140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337</vt:i4>
      </vt:variant>
    </vt:vector>
  </HeadingPairs>
  <TitlesOfParts>
    <vt:vector size="348" baseType="lpstr">
      <vt:lpstr>Roboto Mono Light</vt:lpstr>
      <vt:lpstr>Roboto Mono</vt:lpstr>
      <vt:lpstr>Montserrat</vt:lpstr>
      <vt:lpstr>Courier New</vt:lpstr>
      <vt:lpstr>Cambria Math</vt:lpstr>
      <vt:lpstr>Times New Roman</vt:lpstr>
      <vt:lpstr>Wingdings</vt:lpstr>
      <vt:lpstr>微软雅黑 Light</vt:lpstr>
      <vt:lpstr>等线</vt:lpstr>
      <vt:lpstr>Arial</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2249</cp:revision>
  <dcterms:created xsi:type="dcterms:W3CDTF">2026-01-24T11:12:04Z</dcterms:created>
  <dcterms:modified xsi:type="dcterms:W3CDTF">2026-04-13T01:38:12Z</dcterms:modified>
</cp:coreProperties>
</file>