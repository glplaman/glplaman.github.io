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3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32"/>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359" r:id="rId107"/>
    <p:sldId id="344" r:id="rId108"/>
    <p:sldId id="594" r:id="rId109"/>
    <p:sldId id="595" r:id="rId110"/>
    <p:sldId id="596" r:id="rId111"/>
    <p:sldId id="597" r:id="rId112"/>
    <p:sldId id="598" r:id="rId113"/>
    <p:sldId id="365" r:id="rId114"/>
    <p:sldId id="590" r:id="rId115"/>
    <p:sldId id="591" r:id="rId116"/>
    <p:sldId id="592" r:id="rId117"/>
    <p:sldId id="550" r:id="rId118"/>
    <p:sldId id="558" r:id="rId119"/>
    <p:sldId id="559" r:id="rId120"/>
    <p:sldId id="273" r:id="rId121"/>
    <p:sldId id="538" r:id="rId122"/>
    <p:sldId id="657" r:id="rId123"/>
    <p:sldId id="656" r:id="rId124"/>
    <p:sldId id="603" r:id="rId125"/>
    <p:sldId id="602" r:id="rId126"/>
    <p:sldId id="605" r:id="rId127"/>
    <p:sldId id="619" r:id="rId128"/>
    <p:sldId id="618" r:id="rId129"/>
    <p:sldId id="622" r:id="rId130"/>
    <p:sldId id="620" r:id="rId131"/>
    <p:sldId id="621" r:id="rId132"/>
    <p:sldId id="623" r:id="rId133"/>
    <p:sldId id="606" r:id="rId134"/>
    <p:sldId id="607" r:id="rId135"/>
    <p:sldId id="628" r:id="rId136"/>
    <p:sldId id="639" r:id="rId137"/>
    <p:sldId id="627" r:id="rId138"/>
    <p:sldId id="641" r:id="rId139"/>
    <p:sldId id="642" r:id="rId140"/>
    <p:sldId id="640" r:id="rId141"/>
    <p:sldId id="610" r:id="rId142"/>
    <p:sldId id="634" r:id="rId143"/>
    <p:sldId id="631" r:id="rId144"/>
    <p:sldId id="632" r:id="rId145"/>
    <p:sldId id="612" r:id="rId146"/>
    <p:sldId id="644" r:id="rId147"/>
    <p:sldId id="614" r:id="rId148"/>
    <p:sldId id="635" r:id="rId149"/>
    <p:sldId id="629" r:id="rId150"/>
    <p:sldId id="630" r:id="rId151"/>
    <p:sldId id="613" r:id="rId152"/>
    <p:sldId id="617" r:id="rId153"/>
    <p:sldId id="633" r:id="rId154"/>
    <p:sldId id="615" r:id="rId155"/>
    <p:sldId id="616" r:id="rId156"/>
    <p:sldId id="638" r:id="rId157"/>
    <p:sldId id="637" r:id="rId158"/>
    <p:sldId id="645" r:id="rId159"/>
    <p:sldId id="646" r:id="rId160"/>
    <p:sldId id="647" r:id="rId161"/>
    <p:sldId id="636" r:id="rId162"/>
    <p:sldId id="299" r:id="rId163"/>
    <p:sldId id="300" r:id="rId164"/>
    <p:sldId id="301" r:id="rId165"/>
    <p:sldId id="294" r:id="rId166"/>
    <p:sldId id="569" r:id="rId167"/>
    <p:sldId id="649" r:id="rId168"/>
    <p:sldId id="570" r:id="rId169"/>
    <p:sldId id="648" r:id="rId170"/>
    <p:sldId id="650" r:id="rId171"/>
    <p:sldId id="572" r:id="rId172"/>
    <p:sldId id="654" r:id="rId173"/>
    <p:sldId id="652" r:id="rId174"/>
    <p:sldId id="653" r:id="rId175"/>
    <p:sldId id="573" r:id="rId176"/>
    <p:sldId id="574" r:id="rId177"/>
    <p:sldId id="575" r:id="rId178"/>
    <p:sldId id="576" r:id="rId179"/>
    <p:sldId id="655" r:id="rId180"/>
    <p:sldId id="579" r:id="rId181"/>
    <p:sldId id="651" r:id="rId182"/>
    <p:sldId id="445" r:id="rId183"/>
    <p:sldId id="536" r:id="rId184"/>
    <p:sldId id="658" r:id="rId185"/>
    <p:sldId id="679" r:id="rId186"/>
    <p:sldId id="447" r:id="rId187"/>
    <p:sldId id="677" r:id="rId188"/>
    <p:sldId id="443" r:id="rId189"/>
    <p:sldId id="680" r:id="rId190"/>
    <p:sldId id="678" r:id="rId191"/>
    <p:sldId id="670" r:id="rId192"/>
    <p:sldId id="672" r:id="rId193"/>
    <p:sldId id="673" r:id="rId194"/>
    <p:sldId id="674" r:id="rId195"/>
    <p:sldId id="681" r:id="rId196"/>
    <p:sldId id="682" r:id="rId197"/>
    <p:sldId id="659" r:id="rId198"/>
    <p:sldId id="668" r:id="rId199"/>
    <p:sldId id="683" r:id="rId200"/>
    <p:sldId id="684" r:id="rId201"/>
    <p:sldId id="685" r:id="rId202"/>
    <p:sldId id="686" r:id="rId203"/>
    <p:sldId id="660" r:id="rId204"/>
    <p:sldId id="661" r:id="rId205"/>
    <p:sldId id="662" r:id="rId206"/>
    <p:sldId id="675" r:id="rId207"/>
    <p:sldId id="688" r:id="rId208"/>
    <p:sldId id="689" r:id="rId209"/>
    <p:sldId id="663" r:id="rId210"/>
    <p:sldId id="676" r:id="rId211"/>
    <p:sldId id="687" r:id="rId212"/>
    <p:sldId id="664" r:id="rId213"/>
    <p:sldId id="665" r:id="rId214"/>
    <p:sldId id="667" r:id="rId215"/>
    <p:sldId id="666" r:id="rId216"/>
    <p:sldId id="669" r:id="rId217"/>
    <p:sldId id="690" r:id="rId218"/>
    <p:sldId id="692" r:id="rId219"/>
    <p:sldId id="691" r:id="rId220"/>
    <p:sldId id="693" r:id="rId221"/>
    <p:sldId id="671" r:id="rId222"/>
    <p:sldId id="694" r:id="rId223"/>
    <p:sldId id="696" r:id="rId224"/>
    <p:sldId id="698" r:id="rId225"/>
    <p:sldId id="695" r:id="rId226"/>
    <p:sldId id="697" r:id="rId227"/>
    <p:sldId id="448" r:id="rId228"/>
    <p:sldId id="449" r:id="rId229"/>
    <p:sldId id="450" r:id="rId230"/>
    <p:sldId id="451" r:id="rId231"/>
    <p:sldId id="274" r:id="rId232"/>
    <p:sldId id="535" r:id="rId233"/>
    <p:sldId id="419" r:id="rId234"/>
    <p:sldId id="420" r:id="rId235"/>
    <p:sldId id="421" r:id="rId236"/>
    <p:sldId id="422" r:id="rId237"/>
    <p:sldId id="424" r:id="rId238"/>
    <p:sldId id="423" r:id="rId239"/>
    <p:sldId id="426" r:id="rId240"/>
    <p:sldId id="267" r:id="rId241"/>
    <p:sldId id="425" r:id="rId242"/>
    <p:sldId id="429" r:id="rId243"/>
    <p:sldId id="428" r:id="rId244"/>
    <p:sldId id="430" r:id="rId245"/>
    <p:sldId id="427" r:id="rId246"/>
    <p:sldId id="440" r:id="rId247"/>
    <p:sldId id="441" r:id="rId248"/>
    <p:sldId id="442" r:id="rId249"/>
    <p:sldId id="436" r:id="rId250"/>
    <p:sldId id="437" r:id="rId251"/>
    <p:sldId id="438" r:id="rId252"/>
    <p:sldId id="439" r:id="rId253"/>
    <p:sldId id="275" r:id="rId254"/>
    <p:sldId id="529" r:id="rId255"/>
    <p:sldId id="433" r:id="rId256"/>
    <p:sldId id="434" r:id="rId257"/>
    <p:sldId id="432" r:id="rId258"/>
    <p:sldId id="452" r:id="rId259"/>
    <p:sldId id="453" r:id="rId260"/>
    <p:sldId id="276" r:id="rId261"/>
    <p:sldId id="525" r:id="rId262"/>
    <p:sldId id="526" r:id="rId263"/>
    <p:sldId id="527" r:id="rId264"/>
    <p:sldId id="467" r:id="rId265"/>
    <p:sldId id="522" r:id="rId266"/>
    <p:sldId id="626" r:id="rId267"/>
    <p:sldId id="524" r:id="rId268"/>
    <p:sldId id="466" r:id="rId269"/>
    <p:sldId id="528" r:id="rId270"/>
    <p:sldId id="625" r:id="rId271"/>
    <p:sldId id="624" r:id="rId272"/>
    <p:sldId id="523" r:id="rId273"/>
    <p:sldId id="468" r:id="rId274"/>
    <p:sldId id="470" r:id="rId275"/>
    <p:sldId id="469" r:id="rId276"/>
    <p:sldId id="277" r:id="rId277"/>
    <p:sldId id="530" r:id="rId278"/>
    <p:sldId id="313" r:id="rId279"/>
    <p:sldId id="454" r:id="rId280"/>
    <p:sldId id="455" r:id="rId281"/>
    <p:sldId id="457" r:id="rId282"/>
    <p:sldId id="458" r:id="rId283"/>
    <p:sldId id="459" r:id="rId284"/>
    <p:sldId id="456" r:id="rId285"/>
    <p:sldId id="475" r:id="rId286"/>
    <p:sldId id="460" r:id="rId287"/>
    <p:sldId id="263" r:id="rId288"/>
    <p:sldId id="264" r:id="rId289"/>
    <p:sldId id="265" r:id="rId290"/>
    <p:sldId id="461" r:id="rId291"/>
    <p:sldId id="278" r:id="rId292"/>
    <p:sldId id="531" r:id="rId293"/>
    <p:sldId id="390" r:id="rId294"/>
    <p:sldId id="435" r:id="rId295"/>
    <p:sldId id="431" r:id="rId296"/>
    <p:sldId id="391" r:id="rId297"/>
    <p:sldId id="388" r:id="rId298"/>
    <p:sldId id="389" r:id="rId299"/>
    <p:sldId id="471" r:id="rId300"/>
    <p:sldId id="279" r:id="rId301"/>
    <p:sldId id="532" r:id="rId302"/>
    <p:sldId id="463" r:id="rId303"/>
    <p:sldId id="393" r:id="rId304"/>
    <p:sldId id="392" r:id="rId305"/>
    <p:sldId id="462" r:id="rId306"/>
    <p:sldId id="394" r:id="rId307"/>
    <p:sldId id="395" r:id="rId308"/>
    <p:sldId id="396" r:id="rId309"/>
    <p:sldId id="397" r:id="rId310"/>
    <p:sldId id="398" r:id="rId311"/>
    <p:sldId id="464" r:id="rId312"/>
    <p:sldId id="465" r:id="rId313"/>
    <p:sldId id="280" r:id="rId314"/>
    <p:sldId id="533" r:id="rId315"/>
    <p:sldId id="399" r:id="rId316"/>
    <p:sldId id="287" r:id="rId317"/>
    <p:sldId id="288" r:id="rId318"/>
    <p:sldId id="289" r:id="rId319"/>
    <p:sldId id="290" r:id="rId320"/>
    <p:sldId id="281" r:id="rId321"/>
    <p:sldId id="534" r:id="rId322"/>
    <p:sldId id="400" r:id="rId323"/>
    <p:sldId id="402" r:id="rId324"/>
    <p:sldId id="401" r:id="rId325"/>
    <p:sldId id="412" r:id="rId326"/>
    <p:sldId id="472" r:id="rId327"/>
    <p:sldId id="473" r:id="rId328"/>
    <p:sldId id="474" r:id="rId329"/>
    <p:sldId id="367" r:id="rId330"/>
    <p:sldId id="643" r:id="rId331"/>
  </p:sldIdLst>
  <p:sldSz cx="12192000" cy="6858000"/>
  <p:notesSz cx="6858000" cy="9144000"/>
  <p:embeddedFontLst>
    <p:embeddedFont>
      <p:font typeface="Cambria Math" panose="02040503050406030204" pitchFamily="18" charset="0"/>
      <p:regular r:id="rId333"/>
    </p:embeddedFont>
    <p:embeddedFont>
      <p:font typeface="Montserrat" panose="00000500000000000000" pitchFamily="2" charset="0"/>
      <p:regular r:id="rId334"/>
    </p:embeddedFont>
    <p:embeddedFont>
      <p:font typeface="Roboto Mono" pitchFamily="2" charset="0"/>
      <p:regular r:id="rId335"/>
      <p:bold r:id="rId336"/>
    </p:embeddedFont>
    <p:embeddedFont>
      <p:font typeface="Roboto Mono Light" pitchFamily="2" charset="0"/>
      <p:regular r:id="rId337"/>
    </p:embeddedFont>
    <p:embeddedFont>
      <p:font typeface="等线" panose="02010600030101010101" pitchFamily="2" charset="-122"/>
      <p:regular r:id="rId338"/>
      <p:bold r:id="rId339"/>
    </p:embeddedFont>
    <p:embeddedFont>
      <p:font typeface="微软雅黑 Light" panose="020B0502040204020203" pitchFamily="34" charset="-122"/>
      <p:regular r:id="rId340"/>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CCA94"/>
    <a:srgbClr val="001F3F"/>
    <a:srgbClr val="E05F73"/>
    <a:srgbClr val="E7886E"/>
    <a:srgbClr val="F6BA4F"/>
    <a:srgbClr val="6DB6E6"/>
    <a:srgbClr val="6D96E8"/>
    <a:srgbClr val="FFFFFF"/>
    <a:srgbClr val="5B9BD5"/>
    <a:srgbClr val="F4B1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6036" autoAdjust="0"/>
  </p:normalViewPr>
  <p:slideViewPr>
    <p:cSldViewPr snapToGrid="0">
      <p:cViewPr varScale="1">
        <p:scale>
          <a:sx n="97" d="100"/>
          <a:sy n="97" d="100"/>
        </p:scale>
        <p:origin x="354" y="90"/>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font" Target="fonts/font3.fntdata"/><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font" Target="fonts/font5.fntdata"/><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slide" Target="slides/slide316.xml"/><Relationship Id="rId338" Type="http://schemas.openxmlformats.org/officeDocument/2006/relationships/font" Target="fonts/font6.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7.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8.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presProps" Target="presProps.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viewProps" Target="viewProps.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notesMaster" Target="notesMasters/notesMaster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font" Target="fonts/font1.fntdata"/><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font" Target="fonts/font2.fntdata"/><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font" Target="fonts/font4.fntdata"/><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bg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bg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bg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chemeClr val="accent1"/>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5" csCatId="colorful" phldr="1"/>
      <dgm:spPr/>
    </dgm:pt>
    <dgm:pt modelId="{662BD4FF-7C1B-43B4-9E4D-5AF9EB8DE1AA}">
      <dgm:prSet phldrT="[文本]" custT="1"/>
      <dgm:spPr>
        <a:ln>
          <a:noFill/>
        </a:ln>
      </dgm:spPr>
      <dgm:t>
        <a:bodyPr/>
        <a:lstStyle/>
        <a:p>
          <a:r>
            <a:rPr lang="zh-CN" altLang="en-US" sz="1600" dirty="0"/>
            <a:t>规模估算</a:t>
          </a:r>
        </a:p>
      </dgm:t>
    </dgm:pt>
    <dgm:pt modelId="{B64E13FF-4330-4C87-BD4A-B3795A70F053}" type="parTrans" cxnId="{9152BF54-26F0-491E-8AAA-2DCA805FB85A}">
      <dgm:prSet/>
      <dgm:spPr/>
      <dgm:t>
        <a:bodyPr/>
        <a:lstStyle/>
        <a:p>
          <a:endParaRPr lang="zh-CN" altLang="en-US" sz="1600"/>
        </a:p>
      </dgm:t>
    </dgm:pt>
    <dgm:pt modelId="{8DF4F3F0-F2B4-40CB-906F-844E22D37CBE}" type="sibTrans" cxnId="{9152BF54-26F0-491E-8AAA-2DCA805FB85A}">
      <dgm:prSet custT="1"/>
      <dgm:spPr/>
      <dgm:t>
        <a:bodyPr/>
        <a:lstStyle/>
        <a:p>
          <a:endParaRPr lang="zh-CN" altLang="en-US" sz="1600"/>
        </a:p>
      </dgm:t>
    </dgm:pt>
    <dgm:pt modelId="{F4EA69CC-DCF6-4953-9AE8-8C5E3D517669}">
      <dgm:prSet phldrT="[文本]" custT="1"/>
      <dgm:spPr>
        <a:ln>
          <a:noFill/>
        </a:ln>
      </dgm:spPr>
      <dgm:t>
        <a:bodyPr/>
        <a:lstStyle/>
        <a:p>
          <a:r>
            <a:rPr lang="zh-CN" altLang="en-US" sz="1600" dirty="0"/>
            <a:t>工作量估算</a:t>
          </a:r>
        </a:p>
      </dgm:t>
    </dgm:pt>
    <dgm:pt modelId="{1F96AE25-51D7-459E-9D43-C9E826B57087}" type="parTrans" cxnId="{03531220-1387-4C3C-AA8D-FF8B68146F75}">
      <dgm:prSet/>
      <dgm:spPr/>
      <dgm:t>
        <a:bodyPr/>
        <a:lstStyle/>
        <a:p>
          <a:endParaRPr lang="zh-CN" altLang="en-US" sz="1600"/>
        </a:p>
      </dgm:t>
    </dgm:pt>
    <dgm:pt modelId="{EA12215D-9D83-43A1-AA5F-2B3DF111A85A}" type="sibTrans" cxnId="{03531220-1387-4C3C-AA8D-FF8B68146F75}">
      <dgm:prSet custT="1"/>
      <dgm:spPr/>
      <dgm:t>
        <a:bodyPr/>
        <a:lstStyle/>
        <a:p>
          <a:endParaRPr lang="zh-CN" altLang="en-US" sz="1600"/>
        </a:p>
      </dgm:t>
    </dgm:pt>
    <dgm:pt modelId="{6A03495E-99E9-451E-BF20-CFF16C500E13}">
      <dgm:prSet phldrT="[文本]" custT="1"/>
      <dgm:spPr>
        <a:ln>
          <a:noFill/>
        </a:ln>
      </dgm:spPr>
      <dgm:t>
        <a:bodyPr/>
        <a:lstStyle/>
        <a:p>
          <a:r>
            <a:rPr lang="zh-CN" altLang="en-US" sz="1600" dirty="0"/>
            <a:t>成本估算</a:t>
          </a:r>
        </a:p>
      </dgm:t>
    </dgm:pt>
    <dgm:pt modelId="{4AC44A7E-F9AB-4823-8CAC-F4497EA8B4BF}" type="parTrans" cxnId="{0CCCA869-F665-4EDE-8D22-2493289C8DB8}">
      <dgm:prSet/>
      <dgm:spPr/>
      <dgm:t>
        <a:bodyPr/>
        <a:lstStyle/>
        <a:p>
          <a:endParaRPr lang="zh-CN" altLang="en-US" sz="1600"/>
        </a:p>
      </dgm:t>
    </dgm:pt>
    <dgm:pt modelId="{44AB70A4-C563-4A82-B1FC-C7104725E49C}" type="sibTrans" cxnId="{0CCCA869-F665-4EDE-8D22-2493289C8DB8}">
      <dgm:prSet/>
      <dgm:spPr/>
      <dgm:t>
        <a:bodyPr/>
        <a:lstStyle/>
        <a:p>
          <a:endParaRPr lang="zh-CN" altLang="en-US" sz="16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1" loCatId="hierarchy" qsTypeId="urn:microsoft.com/office/officeart/2005/8/quickstyle/simple1" qsCatId="simple" csTypeId="urn:microsoft.com/office/officeart/2005/8/colors/colorful3" csCatId="colorful" phldr="1"/>
      <dgm:spPr/>
      <dgm:t>
        <a:bodyPr/>
        <a:lstStyle/>
        <a:p>
          <a:endParaRPr lang="zh-CN" altLang="en-US"/>
        </a:p>
      </dgm:t>
    </dgm:pt>
    <dgm:pt modelId="{E765D36A-1693-487D-AF3B-09A5909785B6}">
      <dgm:prSet phldrT="[文本]" phldr="0"/>
      <dgm:spPr/>
      <dgm:t>
        <a:bodyPr/>
        <a:lstStyle/>
        <a:p>
          <a:r>
            <a:rPr lang="zh-CN" altLang="en-US"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dgm:spPr/>
      <dgm:t>
        <a:bodyPr/>
        <a:lstStyle/>
        <a:p>
          <a:r>
            <a:rPr lang="zh-CN" altLang="en-US"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dgm:spPr/>
      <dgm:t>
        <a:bodyPr/>
        <a:lstStyle/>
        <a:p>
          <a:r>
            <a:rPr lang="zh-CN" altLang="en-US"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dgm:spPr/>
      <dgm:t>
        <a:bodyPr/>
        <a:lstStyle/>
        <a:p>
          <a:r>
            <a:rPr lang="zh-CN" altLang="en-US" dirty="0"/>
            <a:t>故事点估算</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dgm:spPr/>
      <dgm:t>
        <a:bodyPr/>
        <a:lstStyle/>
        <a:p>
          <a:r>
            <a:rPr lang="zh-CN" altLang="en-US"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dgm:spPr/>
      <dgm:t>
        <a:bodyPr/>
        <a:lstStyle/>
        <a:p>
          <a:r>
            <a:rPr lang="zh-CN" altLang="en-US" dirty="0"/>
            <a:t>扑克估算</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00535ECC-1743-4A63-8642-4D2E6EA5EBC7}" type="pres">
      <dgm:prSet presAssocID="{614370D5-89E5-4B33-A8D8-4BD44B447421}" presName="hierChild1" presStyleCnt="0">
        <dgm:presLayoutVars>
          <dgm:chPref val="1"/>
          <dgm:dir/>
          <dgm:animOne val="branch"/>
          <dgm:animLvl val="lvl"/>
          <dgm:resizeHandles/>
        </dgm:presLayoutVars>
      </dgm:prSet>
      <dgm:spPr/>
    </dgm:pt>
    <dgm:pt modelId="{0510179F-372B-4245-B24A-4BEB569B3C64}" type="pres">
      <dgm:prSet presAssocID="{E765D36A-1693-487D-AF3B-09A5909785B6}" presName="hierRoot1" presStyleCnt="0"/>
      <dgm:spPr/>
    </dgm:pt>
    <dgm:pt modelId="{E68A36A6-5869-41A4-896A-1F77E13C4C1B}" type="pres">
      <dgm:prSet presAssocID="{E765D36A-1693-487D-AF3B-09A5909785B6}" presName="composite" presStyleCnt="0"/>
      <dgm:spPr/>
    </dgm:pt>
    <dgm:pt modelId="{3A86536C-D5BF-488F-BCAC-B15B313C6E34}" type="pres">
      <dgm:prSet presAssocID="{E765D36A-1693-487D-AF3B-09A5909785B6}" presName="background" presStyleLbl="node0" presStyleIdx="0" presStyleCnt="1"/>
      <dgm:spPr/>
    </dgm:pt>
    <dgm:pt modelId="{4C7A34E4-CB9B-4E31-BFBF-3BBE797FD0AD}" type="pres">
      <dgm:prSet presAssocID="{E765D36A-1693-487D-AF3B-09A5909785B6}" presName="text" presStyleLbl="fgAcc0" presStyleIdx="0" presStyleCnt="1">
        <dgm:presLayoutVars>
          <dgm:chPref val="3"/>
        </dgm:presLayoutVars>
      </dgm:prSet>
      <dgm:spPr/>
    </dgm:pt>
    <dgm:pt modelId="{47BCFB5F-0F04-4854-A0EC-A2CB34861430}" type="pres">
      <dgm:prSet presAssocID="{E765D36A-1693-487D-AF3B-09A5909785B6}" presName="hierChild2" presStyleCnt="0"/>
      <dgm:spPr/>
    </dgm:pt>
    <dgm:pt modelId="{150CA1D5-0522-4D86-9DD1-7E5593AB93B3}" type="pres">
      <dgm:prSet presAssocID="{3978A61C-5D02-4965-A23B-BED3EBB7B079}" presName="Name10" presStyleLbl="parChTrans1D2" presStyleIdx="0" presStyleCnt="2"/>
      <dgm:spPr/>
    </dgm:pt>
    <dgm:pt modelId="{B4E58115-B1D3-43DE-82D0-144807D28633}" type="pres">
      <dgm:prSet presAssocID="{9A2BC7AE-0A55-4D05-AF34-1765ADE837AD}" presName="hierRoot2" presStyleCnt="0"/>
      <dgm:spPr/>
    </dgm:pt>
    <dgm:pt modelId="{4812F421-1FB7-4057-B394-34D9DB86ADF6}" type="pres">
      <dgm:prSet presAssocID="{9A2BC7AE-0A55-4D05-AF34-1765ADE837AD}" presName="composite2" presStyleCnt="0"/>
      <dgm:spPr/>
    </dgm:pt>
    <dgm:pt modelId="{6B084DEF-BBFD-4B3A-B834-07770D3C4C18}" type="pres">
      <dgm:prSet presAssocID="{9A2BC7AE-0A55-4D05-AF34-1765ADE837AD}" presName="background2" presStyleLbl="node2" presStyleIdx="0" presStyleCnt="2"/>
      <dgm:spPr/>
    </dgm:pt>
    <dgm:pt modelId="{6EFFD642-6E9D-4239-8B27-E8888270D0B2}" type="pres">
      <dgm:prSet presAssocID="{9A2BC7AE-0A55-4D05-AF34-1765ADE837AD}" presName="text2" presStyleLbl="fgAcc2" presStyleIdx="0" presStyleCnt="2">
        <dgm:presLayoutVars>
          <dgm:chPref val="3"/>
        </dgm:presLayoutVars>
      </dgm:prSet>
      <dgm:spPr/>
    </dgm:pt>
    <dgm:pt modelId="{EF74F3FC-6340-4CA4-9103-C8266FD9CE97}" type="pres">
      <dgm:prSet presAssocID="{9A2BC7AE-0A55-4D05-AF34-1765ADE837AD}" presName="hierChild3" presStyleCnt="0"/>
      <dgm:spPr/>
    </dgm:pt>
    <dgm:pt modelId="{D65A4B38-6D4E-48D5-ACC0-50CC42B8D560}" type="pres">
      <dgm:prSet presAssocID="{23B48031-F243-48F5-B97B-D6A27B2E7F79}" presName="Name10" presStyleLbl="parChTrans1D2" presStyleIdx="1" presStyleCnt="2"/>
      <dgm:spPr/>
    </dgm:pt>
    <dgm:pt modelId="{FF87D488-8212-473A-8371-3AE5A9CB3703}" type="pres">
      <dgm:prSet presAssocID="{CE4DEAA6-A22E-4FEA-8C8D-FD92B570B609}" presName="hierRoot2" presStyleCnt="0"/>
      <dgm:spPr/>
    </dgm:pt>
    <dgm:pt modelId="{6145609C-32F3-46DD-84E3-E20B34479212}" type="pres">
      <dgm:prSet presAssocID="{CE4DEAA6-A22E-4FEA-8C8D-FD92B570B609}" presName="composite2" presStyleCnt="0"/>
      <dgm:spPr/>
    </dgm:pt>
    <dgm:pt modelId="{A456EA85-12AF-47CC-B9A5-EC9069D27F47}" type="pres">
      <dgm:prSet presAssocID="{CE4DEAA6-A22E-4FEA-8C8D-FD92B570B609}" presName="background2" presStyleLbl="node2" presStyleIdx="1" presStyleCnt="2"/>
      <dgm:spPr/>
    </dgm:pt>
    <dgm:pt modelId="{C5E84B3A-9AA8-4442-97C5-D4C062AC3FFD}" type="pres">
      <dgm:prSet presAssocID="{CE4DEAA6-A22E-4FEA-8C8D-FD92B570B609}" presName="text2" presStyleLbl="fgAcc2" presStyleIdx="1" presStyleCnt="2">
        <dgm:presLayoutVars>
          <dgm:chPref val="3"/>
        </dgm:presLayoutVars>
      </dgm:prSet>
      <dgm:spPr/>
    </dgm:pt>
    <dgm:pt modelId="{DC52E8FC-A66B-4C12-8115-0CB315182939}" type="pres">
      <dgm:prSet presAssocID="{CE4DEAA6-A22E-4FEA-8C8D-FD92B570B609}" presName="hierChild3" presStyleCnt="0"/>
      <dgm:spPr/>
    </dgm:pt>
    <dgm:pt modelId="{62A8DF97-9164-457D-A0FE-66ACC1FB3809}" type="pres">
      <dgm:prSet presAssocID="{1A0DB2F5-A3AB-4F6E-B68D-3787361D25C3}" presName="Name17" presStyleLbl="parChTrans1D3" presStyleIdx="0" presStyleCnt="1"/>
      <dgm:spPr/>
    </dgm:pt>
    <dgm:pt modelId="{D6ED4D20-7140-4ACF-BA6E-C248688C4ADB}" type="pres">
      <dgm:prSet presAssocID="{D5DF3A4A-6387-47AA-A3A1-3BF50C5AA62C}" presName="hierRoot3" presStyleCnt="0"/>
      <dgm:spPr/>
    </dgm:pt>
    <dgm:pt modelId="{7C872B2B-46EF-4F5C-A734-29AD591935A2}" type="pres">
      <dgm:prSet presAssocID="{D5DF3A4A-6387-47AA-A3A1-3BF50C5AA62C}" presName="composite3" presStyleCnt="0"/>
      <dgm:spPr/>
    </dgm:pt>
    <dgm:pt modelId="{DCE8A7E8-11EE-4440-9308-E510F49FC38B}" type="pres">
      <dgm:prSet presAssocID="{D5DF3A4A-6387-47AA-A3A1-3BF50C5AA62C}" presName="background3" presStyleLbl="node3" presStyleIdx="0" presStyleCnt="1"/>
      <dgm:spPr/>
    </dgm:pt>
    <dgm:pt modelId="{523A2D4F-9CF2-444C-994D-75B37953C795}" type="pres">
      <dgm:prSet presAssocID="{D5DF3A4A-6387-47AA-A3A1-3BF50C5AA62C}" presName="text3" presStyleLbl="fgAcc3" presStyleIdx="0" presStyleCnt="1">
        <dgm:presLayoutVars>
          <dgm:chPref val="3"/>
        </dgm:presLayoutVars>
      </dgm:prSet>
      <dgm:spPr/>
    </dgm:pt>
    <dgm:pt modelId="{EBAACBB6-8412-4624-820C-E247520E4E56}" type="pres">
      <dgm:prSet presAssocID="{D5DF3A4A-6387-47AA-A3A1-3BF50C5AA62C}" presName="hierChild4" presStyleCnt="0"/>
      <dgm:spPr/>
    </dgm:pt>
    <dgm:pt modelId="{BA961520-AA74-4177-AB1F-AC8AE9B70D3A}" type="pres">
      <dgm:prSet presAssocID="{2F8E17AC-4B2F-45AD-984B-76F2B616566E}" presName="Name23" presStyleLbl="parChTrans1D4" presStyleIdx="0" presStyleCnt="2"/>
      <dgm:spPr/>
    </dgm:pt>
    <dgm:pt modelId="{2C385CA8-84A2-4041-997B-A0DF8D03BE40}" type="pres">
      <dgm:prSet presAssocID="{05A92644-5BB4-45F2-8D20-B36BEABDC4DB}" presName="hierRoot4" presStyleCnt="0"/>
      <dgm:spPr/>
    </dgm:pt>
    <dgm:pt modelId="{4F74D7EE-1FDF-4800-9119-AB78FA7762DD}" type="pres">
      <dgm:prSet presAssocID="{05A92644-5BB4-45F2-8D20-B36BEABDC4DB}" presName="composite4" presStyleCnt="0"/>
      <dgm:spPr/>
    </dgm:pt>
    <dgm:pt modelId="{BAE20CA6-F146-42B4-9317-D9F1A1A50828}" type="pres">
      <dgm:prSet presAssocID="{05A92644-5BB4-45F2-8D20-B36BEABDC4DB}" presName="background4" presStyleLbl="node4" presStyleIdx="0" presStyleCnt="2"/>
      <dgm:spPr/>
    </dgm:pt>
    <dgm:pt modelId="{ED3FB42F-3293-48EC-B5F0-7774B94C61B2}" type="pres">
      <dgm:prSet presAssocID="{05A92644-5BB4-45F2-8D20-B36BEABDC4DB}" presName="text4" presStyleLbl="fgAcc4" presStyleIdx="0" presStyleCnt="2">
        <dgm:presLayoutVars>
          <dgm:chPref val="3"/>
        </dgm:presLayoutVars>
      </dgm:prSet>
      <dgm:spPr/>
    </dgm:pt>
    <dgm:pt modelId="{9C45E4F0-7795-464E-8882-BF1D6E9C5760}" type="pres">
      <dgm:prSet presAssocID="{05A92644-5BB4-45F2-8D20-B36BEABDC4DB}" presName="hierChild5" presStyleCnt="0"/>
      <dgm:spPr/>
    </dgm:pt>
    <dgm:pt modelId="{70ECD4B3-C358-4F70-ADF5-37BFF1D5AC75}" type="pres">
      <dgm:prSet presAssocID="{9D2E40E9-B00C-4140-908E-9F451A9FAD4B}" presName="Name23" presStyleLbl="parChTrans1D4" presStyleIdx="1" presStyleCnt="2"/>
      <dgm:spPr/>
    </dgm:pt>
    <dgm:pt modelId="{AB4E7C3A-360E-4F82-A53D-533833052EC1}" type="pres">
      <dgm:prSet presAssocID="{57E32FD7-0D24-424F-BAFA-50862258E178}" presName="hierRoot4" presStyleCnt="0"/>
      <dgm:spPr/>
    </dgm:pt>
    <dgm:pt modelId="{8E83F226-509E-4DBF-AECE-4C8B1ABC4009}" type="pres">
      <dgm:prSet presAssocID="{57E32FD7-0D24-424F-BAFA-50862258E178}" presName="composite4" presStyleCnt="0"/>
      <dgm:spPr/>
    </dgm:pt>
    <dgm:pt modelId="{049D950A-EBB8-438B-96EA-5071035CD6D5}" type="pres">
      <dgm:prSet presAssocID="{57E32FD7-0D24-424F-BAFA-50862258E178}" presName="background4" presStyleLbl="node4" presStyleIdx="1" presStyleCnt="2"/>
      <dgm:spPr/>
    </dgm:pt>
    <dgm:pt modelId="{D2F2ADB1-82D5-4B02-8B34-B9236CC84876}" type="pres">
      <dgm:prSet presAssocID="{57E32FD7-0D24-424F-BAFA-50862258E178}" presName="text4" presStyleLbl="fgAcc4" presStyleIdx="1" presStyleCnt="2">
        <dgm:presLayoutVars>
          <dgm:chPref val="3"/>
        </dgm:presLayoutVars>
      </dgm:prSet>
      <dgm:spPr/>
    </dgm:pt>
    <dgm:pt modelId="{099B9E3D-BF8A-410E-8537-3C9A689CF395}" type="pres">
      <dgm:prSet presAssocID="{57E32FD7-0D24-424F-BAFA-50862258E178}" presName="hierChild5"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24733034-6EE7-4E1B-8420-38921D0FE888}" type="presOf" srcId="{2F8E17AC-4B2F-45AD-984B-76F2B616566E}" destId="{BA961520-AA74-4177-AB1F-AC8AE9B70D3A}" srcOrd="0" destOrd="0" presId="urn:microsoft.com/office/officeart/2005/8/layout/hierarchy1"/>
    <dgm:cxn modelId="{03A33869-F8EE-42E4-8FC6-BD4402D4164F}" type="presOf" srcId="{57E32FD7-0D24-424F-BAFA-50862258E178}" destId="{D2F2ADB1-82D5-4B02-8B34-B9236CC84876}" srcOrd="0" destOrd="0" presId="urn:microsoft.com/office/officeart/2005/8/layout/hierarchy1"/>
    <dgm:cxn modelId="{24BC8749-6EE2-4519-8260-69960BEBD9A1}" srcId="{D5DF3A4A-6387-47AA-A3A1-3BF50C5AA62C}" destId="{57E32FD7-0D24-424F-BAFA-50862258E178}" srcOrd="1" destOrd="0" parTransId="{9D2E40E9-B00C-4140-908E-9F451A9FAD4B}" sibTransId="{1FC05850-9D8C-4713-BAAB-4890ACA9DA0E}"/>
    <dgm:cxn modelId="{B4B21F6D-B34F-4762-873D-8482F4E50D26}" type="presOf" srcId="{9D2E40E9-B00C-4140-908E-9F451A9FAD4B}" destId="{70ECD4B3-C358-4F70-ADF5-37BFF1D5AC75}" srcOrd="0" destOrd="0" presId="urn:microsoft.com/office/officeart/2005/8/layout/hierarchy1"/>
    <dgm:cxn modelId="{CCF02E4E-8853-4921-8070-DF3BDB42798D}" type="presOf" srcId="{D5DF3A4A-6387-47AA-A3A1-3BF50C5AA62C}" destId="{523A2D4F-9CF2-444C-994D-75B37953C795}" srcOrd="0" destOrd="0" presId="urn:microsoft.com/office/officeart/2005/8/layout/hierarchy1"/>
    <dgm:cxn modelId="{B1644270-860D-44F1-8447-A4BA3F3B6724}" srcId="{614370D5-89E5-4B33-A8D8-4BD44B447421}" destId="{E765D36A-1693-487D-AF3B-09A5909785B6}" srcOrd="0" destOrd="0" parTransId="{9890EEB3-15A1-4E78-BEBB-675559C7E2AF}" sibTransId="{F1759BF5-F894-4B1B-8F01-811345136FDA}"/>
    <dgm:cxn modelId="{D8D81377-2935-4BF0-ACA9-C41CEC6FA795}" srcId="{CE4DEAA6-A22E-4FEA-8C8D-FD92B570B609}" destId="{D5DF3A4A-6387-47AA-A3A1-3BF50C5AA62C}" srcOrd="0" destOrd="0" parTransId="{1A0DB2F5-A3AB-4F6E-B68D-3787361D25C3}" sibTransId="{0B42E666-4C57-459C-8806-79EDAC309F44}"/>
    <dgm:cxn modelId="{1519CF59-03C5-401B-AF7D-BA20241FB817}" type="presOf" srcId="{614370D5-89E5-4B33-A8D8-4BD44B447421}" destId="{00535ECC-1743-4A63-8642-4D2E6EA5EBC7}" srcOrd="0" destOrd="0" presId="urn:microsoft.com/office/officeart/2005/8/layout/hierarchy1"/>
    <dgm:cxn modelId="{1DE72893-9356-48BC-A46C-01EE3FCB5918}" type="presOf" srcId="{05A92644-5BB4-45F2-8D20-B36BEABDC4DB}" destId="{ED3FB42F-3293-48EC-B5F0-7774B94C61B2}" srcOrd="0" destOrd="0" presId="urn:microsoft.com/office/officeart/2005/8/layout/hierarchy1"/>
    <dgm:cxn modelId="{34DE629B-4AE8-4095-B40C-433FA15A5CDC}" type="presOf" srcId="{E765D36A-1693-487D-AF3B-09A5909785B6}" destId="{4C7A34E4-CB9B-4E31-BFBF-3BBE797FD0AD}" srcOrd="0" destOrd="0" presId="urn:microsoft.com/office/officeart/2005/8/layout/hierarchy1"/>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B17E62B3-D7D6-4EC2-9086-67EE2235927F}" type="presOf" srcId="{3978A61C-5D02-4965-A23B-BED3EBB7B079}" destId="{150CA1D5-0522-4D86-9DD1-7E5593AB93B3}" srcOrd="0" destOrd="0" presId="urn:microsoft.com/office/officeart/2005/8/layout/hierarchy1"/>
    <dgm:cxn modelId="{48B559B8-9DB5-4210-AA05-EEC940CA73F3}" type="presOf" srcId="{1A0DB2F5-A3AB-4F6E-B68D-3787361D25C3}" destId="{62A8DF97-9164-457D-A0FE-66ACC1FB3809}" srcOrd="0" destOrd="0" presId="urn:microsoft.com/office/officeart/2005/8/layout/hierarchy1"/>
    <dgm:cxn modelId="{E22B6DB9-0CB4-410A-8ECB-5D8981635C48}" type="presOf" srcId="{CE4DEAA6-A22E-4FEA-8C8D-FD92B570B609}" destId="{C5E84B3A-9AA8-4442-97C5-D4C062AC3FFD}" srcOrd="0" destOrd="0" presId="urn:microsoft.com/office/officeart/2005/8/layout/hierarchy1"/>
    <dgm:cxn modelId="{91BCCFD5-B865-4A9E-BC2C-4AF434443EAC}" type="presOf" srcId="{23B48031-F243-48F5-B97B-D6A27B2E7F79}" destId="{D65A4B38-6D4E-48D5-ACC0-50CC42B8D560}" srcOrd="0" destOrd="0" presId="urn:microsoft.com/office/officeart/2005/8/layout/hierarchy1"/>
    <dgm:cxn modelId="{C2CD3EDC-011B-495D-9F29-B1BFE6B6F31B}" type="presOf" srcId="{9A2BC7AE-0A55-4D05-AF34-1765ADE837AD}" destId="{6EFFD642-6E9D-4239-8B27-E8888270D0B2}" srcOrd="0" destOrd="0" presId="urn:microsoft.com/office/officeart/2005/8/layout/hierarchy1"/>
    <dgm:cxn modelId="{27836D8C-7707-45BC-AADB-312823E2E6E1}" type="presParOf" srcId="{00535ECC-1743-4A63-8642-4D2E6EA5EBC7}" destId="{0510179F-372B-4245-B24A-4BEB569B3C64}" srcOrd="0" destOrd="0" presId="urn:microsoft.com/office/officeart/2005/8/layout/hierarchy1"/>
    <dgm:cxn modelId="{1FA0FA20-6DB9-4568-8A3D-FE85819ED31B}" type="presParOf" srcId="{0510179F-372B-4245-B24A-4BEB569B3C64}" destId="{E68A36A6-5869-41A4-896A-1F77E13C4C1B}" srcOrd="0" destOrd="0" presId="urn:microsoft.com/office/officeart/2005/8/layout/hierarchy1"/>
    <dgm:cxn modelId="{C5AF6184-FA41-4D5C-914B-9B482AAACC66}" type="presParOf" srcId="{E68A36A6-5869-41A4-896A-1F77E13C4C1B}" destId="{3A86536C-D5BF-488F-BCAC-B15B313C6E34}" srcOrd="0" destOrd="0" presId="urn:microsoft.com/office/officeart/2005/8/layout/hierarchy1"/>
    <dgm:cxn modelId="{37D6DEEF-A016-416D-B095-68DE7C1E604F}" type="presParOf" srcId="{E68A36A6-5869-41A4-896A-1F77E13C4C1B}" destId="{4C7A34E4-CB9B-4E31-BFBF-3BBE797FD0AD}" srcOrd="1" destOrd="0" presId="urn:microsoft.com/office/officeart/2005/8/layout/hierarchy1"/>
    <dgm:cxn modelId="{08224F5B-02B2-425D-8762-678398755C6F}" type="presParOf" srcId="{0510179F-372B-4245-B24A-4BEB569B3C64}" destId="{47BCFB5F-0F04-4854-A0EC-A2CB34861430}" srcOrd="1" destOrd="0" presId="urn:microsoft.com/office/officeart/2005/8/layout/hierarchy1"/>
    <dgm:cxn modelId="{AC7F246D-3A05-4416-975B-CEAD7BDD856D}" type="presParOf" srcId="{47BCFB5F-0F04-4854-A0EC-A2CB34861430}" destId="{150CA1D5-0522-4D86-9DD1-7E5593AB93B3}" srcOrd="0" destOrd="0" presId="urn:microsoft.com/office/officeart/2005/8/layout/hierarchy1"/>
    <dgm:cxn modelId="{F190B657-382D-4F4C-A530-14F5DB40DBE3}" type="presParOf" srcId="{47BCFB5F-0F04-4854-A0EC-A2CB34861430}" destId="{B4E58115-B1D3-43DE-82D0-144807D28633}" srcOrd="1" destOrd="0" presId="urn:microsoft.com/office/officeart/2005/8/layout/hierarchy1"/>
    <dgm:cxn modelId="{E33B6FC2-2512-4723-93B7-C8A89677B898}" type="presParOf" srcId="{B4E58115-B1D3-43DE-82D0-144807D28633}" destId="{4812F421-1FB7-4057-B394-34D9DB86ADF6}" srcOrd="0" destOrd="0" presId="urn:microsoft.com/office/officeart/2005/8/layout/hierarchy1"/>
    <dgm:cxn modelId="{A738D3F4-C72E-4CC0-999B-54CB9602A0DD}" type="presParOf" srcId="{4812F421-1FB7-4057-B394-34D9DB86ADF6}" destId="{6B084DEF-BBFD-4B3A-B834-07770D3C4C18}" srcOrd="0" destOrd="0" presId="urn:microsoft.com/office/officeart/2005/8/layout/hierarchy1"/>
    <dgm:cxn modelId="{5D518EDD-A13E-4492-865E-E3D80A321C92}" type="presParOf" srcId="{4812F421-1FB7-4057-B394-34D9DB86ADF6}" destId="{6EFFD642-6E9D-4239-8B27-E8888270D0B2}" srcOrd="1" destOrd="0" presId="urn:microsoft.com/office/officeart/2005/8/layout/hierarchy1"/>
    <dgm:cxn modelId="{F7267855-D40E-48B7-96C7-32C6BF7E72A8}" type="presParOf" srcId="{B4E58115-B1D3-43DE-82D0-144807D28633}" destId="{EF74F3FC-6340-4CA4-9103-C8266FD9CE97}" srcOrd="1" destOrd="0" presId="urn:microsoft.com/office/officeart/2005/8/layout/hierarchy1"/>
    <dgm:cxn modelId="{EA1FB2A8-B117-4F32-B1DB-BE2E023FC4CB}" type="presParOf" srcId="{47BCFB5F-0F04-4854-A0EC-A2CB34861430}" destId="{D65A4B38-6D4E-48D5-ACC0-50CC42B8D560}" srcOrd="2" destOrd="0" presId="urn:microsoft.com/office/officeart/2005/8/layout/hierarchy1"/>
    <dgm:cxn modelId="{5E700C1C-2C6D-4052-85B0-60765C801797}" type="presParOf" srcId="{47BCFB5F-0F04-4854-A0EC-A2CB34861430}" destId="{FF87D488-8212-473A-8371-3AE5A9CB3703}" srcOrd="3" destOrd="0" presId="urn:microsoft.com/office/officeart/2005/8/layout/hierarchy1"/>
    <dgm:cxn modelId="{B14930C0-1606-42B1-BCC5-751B7DFB1FC6}" type="presParOf" srcId="{FF87D488-8212-473A-8371-3AE5A9CB3703}" destId="{6145609C-32F3-46DD-84E3-E20B34479212}" srcOrd="0" destOrd="0" presId="urn:microsoft.com/office/officeart/2005/8/layout/hierarchy1"/>
    <dgm:cxn modelId="{C3937DE1-7F1B-415B-A2FF-8953903FA815}" type="presParOf" srcId="{6145609C-32F3-46DD-84E3-E20B34479212}" destId="{A456EA85-12AF-47CC-B9A5-EC9069D27F47}" srcOrd="0" destOrd="0" presId="urn:microsoft.com/office/officeart/2005/8/layout/hierarchy1"/>
    <dgm:cxn modelId="{A1126FEC-0D61-4D7F-A708-0109314A6D4E}" type="presParOf" srcId="{6145609C-32F3-46DD-84E3-E20B34479212}" destId="{C5E84B3A-9AA8-4442-97C5-D4C062AC3FFD}" srcOrd="1" destOrd="0" presId="urn:microsoft.com/office/officeart/2005/8/layout/hierarchy1"/>
    <dgm:cxn modelId="{BD252C1C-D758-476A-A1F9-8E547D59A748}" type="presParOf" srcId="{FF87D488-8212-473A-8371-3AE5A9CB3703}" destId="{DC52E8FC-A66B-4C12-8115-0CB315182939}" srcOrd="1" destOrd="0" presId="urn:microsoft.com/office/officeart/2005/8/layout/hierarchy1"/>
    <dgm:cxn modelId="{0FA5DB27-A866-4200-B372-78094183FDDD}" type="presParOf" srcId="{DC52E8FC-A66B-4C12-8115-0CB315182939}" destId="{62A8DF97-9164-457D-A0FE-66ACC1FB3809}" srcOrd="0" destOrd="0" presId="urn:microsoft.com/office/officeart/2005/8/layout/hierarchy1"/>
    <dgm:cxn modelId="{53BF8182-17EF-45C0-9B7D-3DC84154E30C}" type="presParOf" srcId="{DC52E8FC-A66B-4C12-8115-0CB315182939}" destId="{D6ED4D20-7140-4ACF-BA6E-C248688C4ADB}" srcOrd="1" destOrd="0" presId="urn:microsoft.com/office/officeart/2005/8/layout/hierarchy1"/>
    <dgm:cxn modelId="{817EADB2-B639-4238-8D96-3FD4E9E6B72C}" type="presParOf" srcId="{D6ED4D20-7140-4ACF-BA6E-C248688C4ADB}" destId="{7C872B2B-46EF-4F5C-A734-29AD591935A2}" srcOrd="0" destOrd="0" presId="urn:microsoft.com/office/officeart/2005/8/layout/hierarchy1"/>
    <dgm:cxn modelId="{1F6E13C7-F017-4A2C-AC9E-D211C50C216E}" type="presParOf" srcId="{7C872B2B-46EF-4F5C-A734-29AD591935A2}" destId="{DCE8A7E8-11EE-4440-9308-E510F49FC38B}" srcOrd="0" destOrd="0" presId="urn:microsoft.com/office/officeart/2005/8/layout/hierarchy1"/>
    <dgm:cxn modelId="{E4C1414E-DEC2-4B3C-841E-13C6486F3512}" type="presParOf" srcId="{7C872B2B-46EF-4F5C-A734-29AD591935A2}" destId="{523A2D4F-9CF2-444C-994D-75B37953C795}" srcOrd="1" destOrd="0" presId="urn:microsoft.com/office/officeart/2005/8/layout/hierarchy1"/>
    <dgm:cxn modelId="{B36567BE-D985-4172-A659-83D17E744E27}" type="presParOf" srcId="{D6ED4D20-7140-4ACF-BA6E-C248688C4ADB}" destId="{EBAACBB6-8412-4624-820C-E247520E4E56}" srcOrd="1" destOrd="0" presId="urn:microsoft.com/office/officeart/2005/8/layout/hierarchy1"/>
    <dgm:cxn modelId="{486D051A-6475-4639-9F65-19F502EFA443}" type="presParOf" srcId="{EBAACBB6-8412-4624-820C-E247520E4E56}" destId="{BA961520-AA74-4177-AB1F-AC8AE9B70D3A}" srcOrd="0" destOrd="0" presId="urn:microsoft.com/office/officeart/2005/8/layout/hierarchy1"/>
    <dgm:cxn modelId="{72AB0AB4-27FD-4A49-AE19-B06E5AB03A75}" type="presParOf" srcId="{EBAACBB6-8412-4624-820C-E247520E4E56}" destId="{2C385CA8-84A2-4041-997B-A0DF8D03BE40}" srcOrd="1" destOrd="0" presId="urn:microsoft.com/office/officeart/2005/8/layout/hierarchy1"/>
    <dgm:cxn modelId="{E463BEF8-91ED-49DA-A8CD-974DAD7BB0F8}" type="presParOf" srcId="{2C385CA8-84A2-4041-997B-A0DF8D03BE40}" destId="{4F74D7EE-1FDF-4800-9119-AB78FA7762DD}" srcOrd="0" destOrd="0" presId="urn:microsoft.com/office/officeart/2005/8/layout/hierarchy1"/>
    <dgm:cxn modelId="{94C502EC-1DB7-4223-BD1A-B311F42C055C}" type="presParOf" srcId="{4F74D7EE-1FDF-4800-9119-AB78FA7762DD}" destId="{BAE20CA6-F146-42B4-9317-D9F1A1A50828}" srcOrd="0" destOrd="0" presId="urn:microsoft.com/office/officeart/2005/8/layout/hierarchy1"/>
    <dgm:cxn modelId="{3C431008-FC45-40B2-A010-B9EAD9EFEDE6}" type="presParOf" srcId="{4F74D7EE-1FDF-4800-9119-AB78FA7762DD}" destId="{ED3FB42F-3293-48EC-B5F0-7774B94C61B2}" srcOrd="1" destOrd="0" presId="urn:microsoft.com/office/officeart/2005/8/layout/hierarchy1"/>
    <dgm:cxn modelId="{89EF3142-EC47-405A-A90B-75ED02039F60}" type="presParOf" srcId="{2C385CA8-84A2-4041-997B-A0DF8D03BE40}" destId="{9C45E4F0-7795-464E-8882-BF1D6E9C5760}" srcOrd="1" destOrd="0" presId="urn:microsoft.com/office/officeart/2005/8/layout/hierarchy1"/>
    <dgm:cxn modelId="{A5BCDAE3-068F-499B-B7F7-6E1C45AC254C}" type="presParOf" srcId="{EBAACBB6-8412-4624-820C-E247520E4E56}" destId="{70ECD4B3-C358-4F70-ADF5-37BFF1D5AC75}" srcOrd="2" destOrd="0" presId="urn:microsoft.com/office/officeart/2005/8/layout/hierarchy1"/>
    <dgm:cxn modelId="{FD8562F7-5076-43D2-86A3-DBACFC851174}" type="presParOf" srcId="{EBAACBB6-8412-4624-820C-E247520E4E56}" destId="{AB4E7C3A-360E-4F82-A53D-533833052EC1}" srcOrd="3" destOrd="0" presId="urn:microsoft.com/office/officeart/2005/8/layout/hierarchy1"/>
    <dgm:cxn modelId="{09BAC01D-D723-429B-88B1-C1B157D28469}" type="presParOf" srcId="{AB4E7C3A-360E-4F82-A53D-533833052EC1}" destId="{8E83F226-509E-4DBF-AECE-4C8B1ABC4009}" srcOrd="0" destOrd="0" presId="urn:microsoft.com/office/officeart/2005/8/layout/hierarchy1"/>
    <dgm:cxn modelId="{82065276-32C6-449A-8AA6-1D7F976C3B00}" type="presParOf" srcId="{8E83F226-509E-4DBF-AECE-4C8B1ABC4009}" destId="{049D950A-EBB8-438B-96EA-5071035CD6D5}" srcOrd="0" destOrd="0" presId="urn:microsoft.com/office/officeart/2005/8/layout/hierarchy1"/>
    <dgm:cxn modelId="{E48D5CDB-505B-46C0-AE22-7F23BDAEB441}" type="presParOf" srcId="{8E83F226-509E-4DBF-AECE-4C8B1ABC4009}" destId="{D2F2ADB1-82D5-4B02-8B34-B9236CC84876}" srcOrd="1" destOrd="0" presId="urn:microsoft.com/office/officeart/2005/8/layout/hierarchy1"/>
    <dgm:cxn modelId="{4E636D21-6D09-4A21-A7C8-3F85D33BEE80}" type="presParOf" srcId="{AB4E7C3A-360E-4F82-A53D-533833052EC1}" destId="{099B9E3D-BF8A-410E-8537-3C9A689CF395}"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a:ln>
          <a:noFill/>
        </a:ln>
      </dgm:spPr>
      <dgm:t>
        <a:bodyPr/>
        <a:lstStyle/>
        <a:p>
          <a:r>
            <a:rPr lang="zh-CN" altLang="en-US"/>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a:ln>
          <a:noFill/>
        </a:ln>
      </dgm:spPr>
      <dgm:t>
        <a:bodyPr/>
        <a:lstStyle/>
        <a:p>
          <a:r>
            <a:rPr lang="zh-CN" altLang="en-US"/>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a:ln>
          <a:noFill/>
        </a:ln>
      </dgm:spPr>
      <dgm:t>
        <a:bodyPr/>
        <a:lstStyle/>
        <a:p>
          <a:r>
            <a:rPr lang="zh-CN" altLang="en-US"/>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a:ln>
          <a:noFill/>
        </a:ln>
      </dgm:spPr>
      <dgm:t>
        <a:bodyPr/>
        <a:lstStyle/>
        <a:p>
          <a:r>
            <a:rPr lang="zh-CN" altLang="en-US"/>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0ECD4B3-C358-4F70-ADF5-37BFF1D5AC75}">
      <dsp:nvSpPr>
        <dsp:cNvPr id="0" name=""/>
        <dsp:cNvSpPr/>
      </dsp:nvSpPr>
      <dsp:spPr>
        <a:xfrm>
          <a:off x="3107624" y="2674994"/>
          <a:ext cx="657162" cy="312749"/>
        </a:xfrm>
        <a:custGeom>
          <a:avLst/>
          <a:gdLst/>
          <a:ahLst/>
          <a:cxnLst/>
          <a:rect l="0" t="0" r="0" b="0"/>
          <a:pathLst>
            <a:path>
              <a:moveTo>
                <a:pt x="0" y="0"/>
              </a:moveTo>
              <a:lnTo>
                <a:pt x="0" y="213129"/>
              </a:lnTo>
              <a:lnTo>
                <a:pt x="657162" y="213129"/>
              </a:lnTo>
              <a:lnTo>
                <a:pt x="657162" y="312749"/>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A961520-AA74-4177-AB1F-AC8AE9B70D3A}">
      <dsp:nvSpPr>
        <dsp:cNvPr id="0" name=""/>
        <dsp:cNvSpPr/>
      </dsp:nvSpPr>
      <dsp:spPr>
        <a:xfrm>
          <a:off x="2450462" y="2674994"/>
          <a:ext cx="657162" cy="312749"/>
        </a:xfrm>
        <a:custGeom>
          <a:avLst/>
          <a:gdLst/>
          <a:ahLst/>
          <a:cxnLst/>
          <a:rect l="0" t="0" r="0" b="0"/>
          <a:pathLst>
            <a:path>
              <a:moveTo>
                <a:pt x="657162" y="0"/>
              </a:moveTo>
              <a:lnTo>
                <a:pt x="657162" y="213129"/>
              </a:lnTo>
              <a:lnTo>
                <a:pt x="0" y="213129"/>
              </a:lnTo>
              <a:lnTo>
                <a:pt x="0" y="312749"/>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2A8DF97-9164-457D-A0FE-66ACC1FB3809}">
      <dsp:nvSpPr>
        <dsp:cNvPr id="0" name=""/>
        <dsp:cNvSpPr/>
      </dsp:nvSpPr>
      <dsp:spPr>
        <a:xfrm>
          <a:off x="3061904" y="1679393"/>
          <a:ext cx="91440" cy="312749"/>
        </a:xfrm>
        <a:custGeom>
          <a:avLst/>
          <a:gdLst/>
          <a:ahLst/>
          <a:cxnLst/>
          <a:rect l="0" t="0" r="0" b="0"/>
          <a:pathLst>
            <a:path>
              <a:moveTo>
                <a:pt x="45720" y="0"/>
              </a:moveTo>
              <a:lnTo>
                <a:pt x="45720" y="312749"/>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65A4B38-6D4E-48D5-ACC0-50CC42B8D560}">
      <dsp:nvSpPr>
        <dsp:cNvPr id="0" name=""/>
        <dsp:cNvSpPr/>
      </dsp:nvSpPr>
      <dsp:spPr>
        <a:xfrm>
          <a:off x="2450462" y="683793"/>
          <a:ext cx="657162" cy="312749"/>
        </a:xfrm>
        <a:custGeom>
          <a:avLst/>
          <a:gdLst/>
          <a:ahLst/>
          <a:cxnLst/>
          <a:rect l="0" t="0" r="0" b="0"/>
          <a:pathLst>
            <a:path>
              <a:moveTo>
                <a:pt x="0" y="0"/>
              </a:moveTo>
              <a:lnTo>
                <a:pt x="0" y="213129"/>
              </a:lnTo>
              <a:lnTo>
                <a:pt x="657162" y="213129"/>
              </a:lnTo>
              <a:lnTo>
                <a:pt x="657162" y="312749"/>
              </a:lnTo>
            </a:path>
          </a:pathLst>
        </a:custGeom>
        <a:noFill/>
        <a:ln w="12700" cap="flat" cmpd="sng" algn="ctr">
          <a:solidFill>
            <a:schemeClr val="accent4">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50CA1D5-0522-4D86-9DD1-7E5593AB93B3}">
      <dsp:nvSpPr>
        <dsp:cNvPr id="0" name=""/>
        <dsp:cNvSpPr/>
      </dsp:nvSpPr>
      <dsp:spPr>
        <a:xfrm>
          <a:off x="1793300" y="683793"/>
          <a:ext cx="657162" cy="312749"/>
        </a:xfrm>
        <a:custGeom>
          <a:avLst/>
          <a:gdLst/>
          <a:ahLst/>
          <a:cxnLst/>
          <a:rect l="0" t="0" r="0" b="0"/>
          <a:pathLst>
            <a:path>
              <a:moveTo>
                <a:pt x="657162" y="0"/>
              </a:moveTo>
              <a:lnTo>
                <a:pt x="657162" y="213129"/>
              </a:lnTo>
              <a:lnTo>
                <a:pt x="0" y="213129"/>
              </a:lnTo>
              <a:lnTo>
                <a:pt x="0" y="312749"/>
              </a:lnTo>
            </a:path>
          </a:pathLst>
        </a:custGeom>
        <a:noFill/>
        <a:ln w="12700" cap="flat" cmpd="sng" algn="ctr">
          <a:solidFill>
            <a:schemeClr val="accent4">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A86536C-D5BF-488F-BCAC-B15B313C6E34}">
      <dsp:nvSpPr>
        <dsp:cNvPr id="0" name=""/>
        <dsp:cNvSpPr/>
      </dsp:nvSpPr>
      <dsp:spPr>
        <a:xfrm>
          <a:off x="1912784" y="941"/>
          <a:ext cx="1075356" cy="682851"/>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C7A34E4-CB9B-4E31-BFBF-3BBE797FD0AD}">
      <dsp:nvSpPr>
        <dsp:cNvPr id="0" name=""/>
        <dsp:cNvSpPr/>
      </dsp:nvSpPr>
      <dsp:spPr>
        <a:xfrm>
          <a:off x="2032268" y="114451"/>
          <a:ext cx="1075356" cy="682851"/>
        </a:xfrm>
        <a:prstGeom prst="roundRect">
          <a:avLst>
            <a:gd name="adj" fmla="val 10000"/>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估算方法</a:t>
          </a:r>
        </a:p>
      </dsp:txBody>
      <dsp:txXfrm>
        <a:off x="2052268" y="134451"/>
        <a:ext cx="1035356" cy="642851"/>
      </dsp:txXfrm>
    </dsp:sp>
    <dsp:sp modelId="{6B084DEF-BBFD-4B3A-B834-07770D3C4C18}">
      <dsp:nvSpPr>
        <dsp:cNvPr id="0" name=""/>
        <dsp:cNvSpPr/>
      </dsp:nvSpPr>
      <dsp:spPr>
        <a:xfrm>
          <a:off x="1255621" y="996542"/>
          <a:ext cx="1075356" cy="682851"/>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FFD642-6E9D-4239-8B27-E8888270D0B2}">
      <dsp:nvSpPr>
        <dsp:cNvPr id="0" name=""/>
        <dsp:cNvSpPr/>
      </dsp:nvSpPr>
      <dsp:spPr>
        <a:xfrm>
          <a:off x="1375106" y="1110052"/>
          <a:ext cx="1075356" cy="682851"/>
        </a:xfrm>
        <a:prstGeom prst="roundRect">
          <a:avLst>
            <a:gd name="adj" fmla="val 10000"/>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传统估算</a:t>
          </a:r>
        </a:p>
      </dsp:txBody>
      <dsp:txXfrm>
        <a:off x="1395106" y="1130052"/>
        <a:ext cx="1035356" cy="642851"/>
      </dsp:txXfrm>
    </dsp:sp>
    <dsp:sp modelId="{A456EA85-12AF-47CC-B9A5-EC9069D27F47}">
      <dsp:nvSpPr>
        <dsp:cNvPr id="0" name=""/>
        <dsp:cNvSpPr/>
      </dsp:nvSpPr>
      <dsp:spPr>
        <a:xfrm>
          <a:off x="2569946" y="996542"/>
          <a:ext cx="1075356" cy="682851"/>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84B3A-9AA8-4442-97C5-D4C062AC3FFD}">
      <dsp:nvSpPr>
        <dsp:cNvPr id="0" name=""/>
        <dsp:cNvSpPr/>
      </dsp:nvSpPr>
      <dsp:spPr>
        <a:xfrm>
          <a:off x="2689430" y="1110052"/>
          <a:ext cx="1075356" cy="682851"/>
        </a:xfrm>
        <a:prstGeom prst="roundRect">
          <a:avLst>
            <a:gd name="adj" fmla="val 10000"/>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敏捷估算</a:t>
          </a:r>
        </a:p>
      </dsp:txBody>
      <dsp:txXfrm>
        <a:off x="2709430" y="1130052"/>
        <a:ext cx="1035356" cy="642851"/>
      </dsp:txXfrm>
    </dsp:sp>
    <dsp:sp modelId="{DCE8A7E8-11EE-4440-9308-E510F49FC38B}">
      <dsp:nvSpPr>
        <dsp:cNvPr id="0" name=""/>
        <dsp:cNvSpPr/>
      </dsp:nvSpPr>
      <dsp:spPr>
        <a:xfrm>
          <a:off x="2569946" y="1992143"/>
          <a:ext cx="1075356" cy="682851"/>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23A2D4F-9CF2-444C-994D-75B37953C795}">
      <dsp:nvSpPr>
        <dsp:cNvPr id="0" name=""/>
        <dsp:cNvSpPr/>
      </dsp:nvSpPr>
      <dsp:spPr>
        <a:xfrm>
          <a:off x="2689430" y="2105653"/>
          <a:ext cx="1075356" cy="682851"/>
        </a:xfrm>
        <a:prstGeom prst="roundRect">
          <a:avLst>
            <a:gd name="adj" fmla="val 10000"/>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故事点估算</a:t>
          </a:r>
        </a:p>
      </dsp:txBody>
      <dsp:txXfrm>
        <a:off x="2709430" y="2125653"/>
        <a:ext cx="1035356" cy="642851"/>
      </dsp:txXfrm>
    </dsp:sp>
    <dsp:sp modelId="{BAE20CA6-F146-42B4-9317-D9F1A1A50828}">
      <dsp:nvSpPr>
        <dsp:cNvPr id="0" name=""/>
        <dsp:cNvSpPr/>
      </dsp:nvSpPr>
      <dsp:spPr>
        <a:xfrm>
          <a:off x="1912784" y="2987744"/>
          <a:ext cx="1075356" cy="682851"/>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D3FB42F-3293-48EC-B5F0-7774B94C61B2}">
      <dsp:nvSpPr>
        <dsp:cNvPr id="0" name=""/>
        <dsp:cNvSpPr/>
      </dsp:nvSpPr>
      <dsp:spPr>
        <a:xfrm>
          <a:off x="2032268" y="3101253"/>
          <a:ext cx="1075356" cy="682851"/>
        </a:xfrm>
        <a:prstGeom prst="roundRect">
          <a:avLst>
            <a:gd name="adj" fmla="val 10000"/>
          </a:avLst>
        </a:prstGeom>
        <a:solidFill>
          <a:schemeClr val="lt1">
            <a:alpha val="9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快速故事点</a:t>
          </a:r>
        </a:p>
      </dsp:txBody>
      <dsp:txXfrm>
        <a:off x="2052268" y="3121253"/>
        <a:ext cx="1035356" cy="642851"/>
      </dsp:txXfrm>
    </dsp:sp>
    <dsp:sp modelId="{049D950A-EBB8-438B-96EA-5071035CD6D5}">
      <dsp:nvSpPr>
        <dsp:cNvPr id="0" name=""/>
        <dsp:cNvSpPr/>
      </dsp:nvSpPr>
      <dsp:spPr>
        <a:xfrm>
          <a:off x="3227108" y="2987744"/>
          <a:ext cx="1075356" cy="682851"/>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F2ADB1-82D5-4B02-8B34-B9236CC84876}">
      <dsp:nvSpPr>
        <dsp:cNvPr id="0" name=""/>
        <dsp:cNvSpPr/>
      </dsp:nvSpPr>
      <dsp:spPr>
        <a:xfrm>
          <a:off x="3346592" y="3101253"/>
          <a:ext cx="1075356" cy="682851"/>
        </a:xfrm>
        <a:prstGeom prst="roundRect">
          <a:avLst>
            <a:gd name="adj" fmla="val 10000"/>
          </a:avLst>
        </a:prstGeom>
        <a:solidFill>
          <a:schemeClr val="lt1">
            <a:alpha val="9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扑克估算</a:t>
          </a:r>
        </a:p>
      </dsp:txBody>
      <dsp:txXfrm>
        <a:off x="3366592" y="3121253"/>
        <a:ext cx="1035356" cy="642851"/>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2.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2026/4/1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As nouns the difference between housekeeper and steward is that housekeeper is one who </a:t>
            </a:r>
            <a:r>
              <a:rPr lang="en-US" altLang="zh-CN" b="1"/>
              <a:t>looks after </a:t>
            </a:r>
            <a:r>
              <a:rPr lang="en-US" altLang="zh-CN"/>
              <a:t>the home by herself; either as a wife or a hired servant </a:t>
            </a:r>
          </a:p>
          <a:p>
            <a:r>
              <a:rPr lang="en-US" altLang="zh-CN"/>
              <a:t>while steward is a person who </a:t>
            </a:r>
            <a:r>
              <a:rPr lang="en-US" altLang="zh-CN" b="1"/>
              <a:t>manages</a:t>
            </a:r>
            <a:r>
              <a:rPr lang="en-US" altLang="zh-CN"/>
              <a:t> the property or affairs for another entity.</a:t>
            </a:r>
          </a:p>
          <a:p>
            <a:r>
              <a:rPr lang="en-US" altLang="zh-CN"/>
              <a:t>Stewardship is about being </a:t>
            </a:r>
            <a:r>
              <a:rPr lang="en-US" altLang="zh-CN" b="1"/>
              <a:t>responsible</a:t>
            </a:r>
            <a:r>
              <a:rPr lang="en-US" altLang="zh-CN"/>
              <a:t> for the resources, processes, and trust that have been entrusted to us. </a:t>
            </a:r>
          </a:p>
          <a:p>
            <a:r>
              <a:rPr lang="en-US" altLang="zh-CN"/>
              <a:t>It involves acting with integrity, compliance, and respect for people and the environment."</a:t>
            </a:r>
          </a:p>
          <a:p>
            <a:r>
              <a:rPr lang="en-US" altLang="zh-CN"/>
              <a:t>"Project managers act as stewards by ensuring compliance with legal and regulatory requirements, safeguarding safety and security, and managing resources sustainably."</a:t>
            </a:r>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Developing</a:t>
            </a:r>
            <a:r>
              <a:rPr lang="zh-CN" altLang="en-US"/>
              <a:t>：有发展和变化的意思。不单单是制定</a:t>
            </a:r>
            <a:endParaRPr lang="en-US" altLang="zh-CN"/>
          </a:p>
          <a:p>
            <a:r>
              <a:rPr lang="zh-CN" altLang="en-US"/>
              <a:t>自己理解产品目标，转化为</a:t>
            </a:r>
            <a:r>
              <a:rPr lang="en-US" altLang="zh-CN"/>
              <a:t>backlog</a:t>
            </a:r>
            <a:r>
              <a:rPr lang="zh-CN" altLang="en-US"/>
              <a:t>并保证团队能理解</a:t>
            </a:r>
            <a:endParaRPr lang="en-US" altLang="zh-CN"/>
          </a:p>
          <a:p>
            <a:r>
              <a:rPr lang="en-US" altLang="zh-CN"/>
              <a:t>123</a:t>
            </a:r>
            <a:r>
              <a:rPr lang="zh-CN" altLang="en-US"/>
              <a:t>是动作，是因</a:t>
            </a:r>
            <a:endParaRPr lang="en-US" altLang="zh-CN"/>
          </a:p>
          <a:p>
            <a:r>
              <a:rPr lang="en-US" altLang="zh-CN"/>
              <a:t>4</a:t>
            </a:r>
            <a:r>
              <a:rPr lang="zh-CN" altLang="en-US"/>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140</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147</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151</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162</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165</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175</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184</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201</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202</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203</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208</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212</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217</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218</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222</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224</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偏差用减法</a:t>
            </a:r>
            <a:endParaRPr lang="en-US" altLang="zh-CN"/>
          </a:p>
          <a:p>
            <a:r>
              <a:rPr lang="zh-CN" altLang="en-US"/>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默认情况下，紧前活动结束后，紧后活动马上开始</a:t>
            </a:r>
            <a:endParaRPr lang="en-US" altLang="zh-CN"/>
          </a:p>
          <a:p>
            <a:r>
              <a:rPr lang="en-US" altLang="zh-CN"/>
              <a:t>D</a:t>
            </a:r>
            <a:r>
              <a:rPr lang="zh-CN" altLang="en-US"/>
              <a:t>提前</a:t>
            </a:r>
            <a:r>
              <a:rPr lang="en-US" altLang="zh-CN"/>
              <a:t>2</a:t>
            </a:r>
            <a:r>
              <a:rPr lang="zh-CN" altLang="en-US"/>
              <a:t>天开始</a:t>
            </a:r>
            <a:endParaRPr lang="en-US" altLang="zh-CN"/>
          </a:p>
          <a:p>
            <a:r>
              <a:rPr lang="en-US" altLang="zh-CN"/>
              <a:t>F</a:t>
            </a:r>
            <a:r>
              <a:rPr lang="zh-CN" altLang="en-US"/>
              <a:t>推迟</a:t>
            </a:r>
            <a:r>
              <a:rPr lang="en-US" altLang="zh-CN"/>
              <a:t>3</a:t>
            </a:r>
            <a:r>
              <a:rPr lang="zh-CN" altLang="en-US"/>
              <a:t>天开始</a:t>
            </a:r>
          </a:p>
          <a:p>
            <a:r>
              <a:rPr lang="en-US" altLang="zh-CN"/>
              <a:t>SS+2 </a:t>
            </a:r>
            <a:r>
              <a:rPr lang="zh-CN" altLang="en-US"/>
              <a:t>：紧后活动必须在紧前活动开始之后 </a:t>
            </a:r>
            <a:r>
              <a:rPr lang="en-US" altLang="zh-CN"/>
              <a:t>2 </a:t>
            </a:r>
            <a:r>
              <a:rPr lang="zh-CN" altLang="en-US"/>
              <a:t>天才能开始</a:t>
            </a:r>
            <a:endParaRPr lang="en-US" altLang="zh-CN"/>
          </a:p>
          <a:p>
            <a:r>
              <a:rPr lang="en-US" altLang="zh-CN"/>
              <a:t>SS+0</a:t>
            </a:r>
            <a:r>
              <a:rPr lang="zh-CN" altLang="en-US"/>
              <a:t>：紧后活动与紧前活动同时开始（这才是“同时开始”）</a:t>
            </a:r>
            <a:endParaRPr lang="en-US" altLang="zh-CN"/>
          </a:p>
          <a:p>
            <a:r>
              <a:rPr lang="en-US" altLang="zh-CN"/>
              <a:t>FS+3</a:t>
            </a:r>
            <a:r>
              <a:rPr lang="zh-CN" altLang="en-US"/>
              <a:t>：紧后活动必须在紧前活动完成后</a:t>
            </a:r>
            <a:r>
              <a:rPr lang="en-US" altLang="zh-CN"/>
              <a:t>3</a:t>
            </a:r>
            <a:r>
              <a:rPr lang="zh-CN" altLang="en-US"/>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237</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246</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247</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252</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257</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262</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263</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282</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298</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745452483"/>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一个老师可以讲授多门课程，一门课程可以由一个或多个老师讲授</a:t>
            </a:r>
            <a:endParaRPr lang="en-US" altLang="zh-CN"/>
          </a:p>
          <a:p>
            <a:r>
              <a:rPr lang="en-US" altLang="zh-CN"/>
              <a:t>Crow’s Foot Notation</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330</a:t>
            </a:fld>
            <a:endParaRPr lang="zh-CN" altLang="en-US"/>
          </a:p>
        </p:txBody>
      </p:sp>
    </p:spTree>
    <p:extLst>
      <p:ext uri="{BB962C8B-B14F-4D97-AF65-F5344CB8AC3E}">
        <p14:creationId xmlns:p14="http://schemas.microsoft.com/office/powerpoint/2010/main" val="402801664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278857"/>
            <a:ext cx="4424219" cy="2300287"/>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a:solidFill>
                  <a:schemeClr val="bg1"/>
                </a:solidFill>
              </a:rPr>
              <a:t>Sample</a:t>
            </a:r>
            <a:endParaRPr lang="zh-CN" altLang="en-US" sz="160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1F3F"/>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a:solidFill>
                  <a:schemeClr val="bg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bg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bg1"/>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bg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bg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bg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260.xml"/><Relationship Id="rId13" Type="http://schemas.openxmlformats.org/officeDocument/2006/relationships/slide" Target="slide313.xml"/><Relationship Id="rId3" Type="http://schemas.openxmlformats.org/officeDocument/2006/relationships/slide" Target="slide41.xml"/><Relationship Id="rId7" Type="http://schemas.openxmlformats.org/officeDocument/2006/relationships/slide" Target="slide253.xml"/><Relationship Id="rId12" Type="http://schemas.openxmlformats.org/officeDocument/2006/relationships/slide" Target="slide300.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231.xml"/><Relationship Id="rId11" Type="http://schemas.openxmlformats.org/officeDocument/2006/relationships/slide" Target="slide320.xml"/><Relationship Id="rId5" Type="http://schemas.openxmlformats.org/officeDocument/2006/relationships/slide" Target="slide182.xml"/><Relationship Id="rId10" Type="http://schemas.openxmlformats.org/officeDocument/2006/relationships/slide" Target="slide291.xml"/><Relationship Id="rId4" Type="http://schemas.openxmlformats.org/officeDocument/2006/relationships/slide" Target="slide120.xml"/><Relationship Id="rId9" Type="http://schemas.openxmlformats.org/officeDocument/2006/relationships/slide" Target="slide27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5.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5.xml"/><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26.webp"/><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notesSlide" Target="../notesSlides/notesSlide44.xml"/><Relationship Id="rId1" Type="http://schemas.openxmlformats.org/officeDocument/2006/relationships/slideLayout" Target="../slideLayouts/slideLayout5.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9.svg"/><Relationship Id="rId9" Type="http://schemas.openxmlformats.org/officeDocument/2006/relationships/image" Target="../media/image34.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1.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5.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5.xml"/><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6.xml"/><Relationship Id="rId1" Type="http://schemas.openxmlformats.org/officeDocument/2006/relationships/slideLayout" Target="../slideLayouts/slideLayout5.xml"/><Relationship Id="rId4" Type="http://schemas.openxmlformats.org/officeDocument/2006/relationships/image" Target="../media/image42.png"/></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13.xml"/><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8" Type="http://schemas.openxmlformats.org/officeDocument/2006/relationships/image" Target="../media/image48.svg"/><Relationship Id="rId3" Type="http://schemas.openxmlformats.org/officeDocument/2006/relationships/hyperlink" Target="https://planningpokeronline.com/" TargetMode="External"/><Relationship Id="rId7" Type="http://schemas.openxmlformats.org/officeDocument/2006/relationships/image" Target="../media/image47.svg"/><Relationship Id="rId2" Type="http://schemas.openxmlformats.org/officeDocument/2006/relationships/notesSlide" Target="../notesSlides/notesSlide114.xml"/><Relationship Id="rId1" Type="http://schemas.openxmlformats.org/officeDocument/2006/relationships/slideLayout" Target="../slideLayouts/slideLayout2.xml"/><Relationship Id="rId6" Type="http://schemas.openxmlformats.org/officeDocument/2006/relationships/image" Target="../media/image46.svg"/><Relationship Id="rId5" Type="http://schemas.openxmlformats.org/officeDocument/2006/relationships/image" Target="../media/image45.svg"/><Relationship Id="rId4" Type="http://schemas.openxmlformats.org/officeDocument/2006/relationships/image" Target="../media/image44.svg"/></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3.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4.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4.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4.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4.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4.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2" Type="http://schemas.openxmlformats.org/officeDocument/2006/relationships/hyperlink" Target="https://t2informatik.de/en/smartpedia/change-control-board/" TargetMode="External"/><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29.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4.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2.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slideLayout" Target="../slideLayouts/slideLayout5.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32.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diagramLayout" Target="../diagrams/layout11.xml"/><Relationship Id="rId7" Type="http://schemas.openxmlformats.org/officeDocument/2006/relationships/image" Target="../media/image17.svg"/><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 Id="rId9" Type="http://schemas.openxmlformats.org/officeDocument/2006/relationships/image" Target="../media/image52.sv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1524000" y="0"/>
            <a:ext cx="9144000" cy="6858000"/>
          </a:xfrm>
          <a:prstGeom prst="rect">
            <a:avLst/>
          </a:prstGeom>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a:solidFill>
                  <a:schemeClr val="bg1"/>
                </a:solidFill>
              </a:rPr>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a:solidFill>
                  <a:schemeClr val="bg1"/>
                </a:solidFill>
              </a:rPr>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a:solidFill>
                  <a:schemeClr val="bg1"/>
                </a:solidFill>
              </a:rPr>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a:solidFill>
                  <a:schemeClr val="bg1"/>
                </a:solidFill>
              </a:rPr>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a:solidFill>
                  <a:schemeClr val="bg1"/>
                </a:solidFill>
              </a:rPr>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a:solidFill>
                  <a:schemeClr val="bg1"/>
                </a:solidFill>
              </a:rPr>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a:solidFill>
                  <a:schemeClr val="bg1"/>
                </a:solidFill>
              </a:rPr>
              <a:t>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a:solidFill>
                  <a:schemeClr val="bg1"/>
                </a:solidFill>
              </a:rPr>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a:solidFill>
                  <a:schemeClr val="bg1"/>
                </a:solidFill>
              </a:rPr>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a:solidFill>
                  <a:schemeClr val="bg1"/>
                </a:solidFill>
              </a:rPr>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a:solidFill>
                  <a:schemeClr val="bg1"/>
                </a:solidFill>
              </a:rPr>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a:solidFill>
                  <a:schemeClr val="bg1"/>
                </a:solidFill>
              </a:rPr>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solidFill>
                  <a:schemeClr val="bg1"/>
                </a:solidFill>
              </a:rPr>
              <a:t>4</a:t>
            </a:r>
            <a:endParaRPr lang="zh-CN" altLang="en-US">
              <a:solidFill>
                <a:schemeClr val="bg1"/>
              </a:solidFill>
            </a:endParaRPr>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solidFill>
                  <a:schemeClr val="bg1"/>
                </a:solidFill>
              </a:rPr>
              <a:t>3</a:t>
            </a:r>
            <a:endParaRPr lang="zh-CN" altLang="en-US">
              <a:solidFill>
                <a:schemeClr val="bg1"/>
              </a:solidFill>
            </a:endParaRPr>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solidFill>
                  <a:schemeClr val="bg1"/>
                </a:solidFill>
              </a:rPr>
              <a:t>6</a:t>
            </a:r>
            <a:endParaRPr lang="zh-CN" altLang="en-US">
              <a:solidFill>
                <a:schemeClr val="bg1"/>
              </a:solidFill>
            </a:endParaRPr>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solidFill>
                  <a:schemeClr val="bg1"/>
                </a:solidFill>
              </a:rPr>
              <a:t>2</a:t>
            </a:r>
            <a:endParaRPr lang="zh-CN" altLang="en-US">
              <a:solidFill>
                <a:schemeClr val="bg1"/>
              </a:solidFill>
            </a:endParaRPr>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a:solidFill>
                  <a:schemeClr val="bg1"/>
                </a:solidFill>
              </a:rPr>
              <a:t>Section 1</a:t>
            </a:r>
            <a:endParaRPr lang="zh-CN" altLang="en-US">
              <a:solidFill>
                <a:schemeClr val="bg1"/>
              </a:solidFill>
            </a:endParaRPr>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a:solidFill>
                  <a:schemeClr val="bg1"/>
                </a:solidFill>
              </a:rPr>
              <a:t>Section 2</a:t>
            </a:r>
            <a:endParaRPr lang="zh-CN" altLang="en-US">
              <a:solidFill>
                <a:schemeClr val="bg1"/>
              </a:solidFill>
            </a:endParaRPr>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a:solidFill>
                  <a:schemeClr val="bg1"/>
                </a:solidFill>
              </a:rPr>
              <a:t>Section 3</a:t>
            </a:r>
            <a:endParaRPr lang="zh-CN" altLang="en-US">
              <a:solidFill>
                <a:schemeClr val="bg1"/>
              </a:solidFill>
            </a:endParaRPr>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a:solidFill>
                  <a:schemeClr val="bg1"/>
                </a:solidFill>
              </a:rPr>
              <a:t>Section 4</a:t>
            </a:r>
            <a:endParaRPr lang="zh-CN" altLang="en-US">
              <a:solidFill>
                <a:schemeClr val="bg1"/>
              </a:solidFill>
            </a:endParaRPr>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a:solidFill>
                  <a:schemeClr val="bg1"/>
                </a:solidFill>
              </a:rPr>
              <a:t>Section 5</a:t>
            </a:r>
            <a:endParaRPr lang="zh-CN" altLang="en-US">
              <a:solidFill>
                <a:schemeClr val="bg1"/>
              </a:solidFill>
            </a:endParaRPr>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a:solidFill>
                  <a:schemeClr val="bg1"/>
                </a:solidFill>
              </a:rPr>
              <a:t>Section 6</a:t>
            </a:r>
            <a:endParaRPr lang="zh-CN" altLang="en-US">
              <a:solidFill>
                <a:schemeClr val="bg1"/>
              </a:solidFill>
            </a:endParaRPr>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a:solidFill>
                  <a:schemeClr val="bg1"/>
                </a:solidFill>
              </a:rPr>
              <a:t>Section 7</a:t>
            </a:r>
            <a:endParaRPr lang="zh-CN" altLang="en-US">
              <a:solidFill>
                <a:schemeClr val="bg1"/>
              </a:solidFill>
            </a:endParaRPr>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a:solidFill>
                  <a:schemeClr val="bg1"/>
                </a:solidFill>
              </a:rPr>
              <a:t>Section 8</a:t>
            </a:r>
            <a:endParaRPr lang="zh-CN" altLang="en-US">
              <a:solidFill>
                <a:schemeClr val="bg1"/>
              </a:solidFill>
            </a:endParaRPr>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a:solidFill>
                  <a:schemeClr val="bg1"/>
                </a:solidFill>
              </a:rPr>
              <a:t>Section 9</a:t>
            </a:r>
            <a:endParaRPr lang="zh-CN" altLang="en-US">
              <a:solidFill>
                <a:schemeClr val="bg1"/>
              </a:solidFill>
            </a:endParaRPr>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a:solidFill>
                  <a:schemeClr val="bg1"/>
                </a:solidFill>
              </a:rPr>
              <a:t>Section 10</a:t>
            </a:r>
            <a:endParaRPr lang="zh-CN" altLang="en-US">
              <a:solidFill>
                <a:schemeClr val="bg1"/>
              </a:solidFill>
            </a:endParaRPr>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a:solidFill>
                  <a:schemeClr val="bg1"/>
                </a:solidFill>
              </a:rPr>
              <a:t>Section 11</a:t>
            </a:r>
            <a:endParaRPr lang="zh-CN" altLang="en-US">
              <a:solidFill>
                <a:schemeClr val="bg1"/>
              </a:solidFill>
            </a:endParaRPr>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a:solidFill>
                  <a:schemeClr val="bg1"/>
                </a:solidFill>
              </a:rPr>
              <a:t>Section 12</a:t>
            </a:r>
            <a:endParaRPr lang="zh-CN" altLang="en-US">
              <a:solidFill>
                <a:schemeClr val="bg1"/>
              </a:solidFill>
            </a:endParaRPr>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666244" y="2278857"/>
            <a:ext cx="4859513" cy="2300287"/>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a:t>
            </a:r>
            <a:r>
              <a:rPr lang="en-US" altLang="zh-CN">
                <a:solidFill>
                  <a:srgbClr val="FFFF00"/>
                </a:solidFill>
              </a:rPr>
              <a:t>result</a:t>
            </a:r>
            <a:r>
              <a:rPr lang="en-US" altLang="zh-CN"/>
              <a: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59503" y="937111"/>
            <a:ext cx="595035"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sz="1600">
                <a:solidFill>
                  <a:schemeClr val="bg1"/>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37461" y="937111"/>
            <a:ext cx="595035"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sz="1600">
                <a:solidFill>
                  <a:schemeClr val="bg1"/>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a:solidFill>
                  <a:schemeClr val="bg1"/>
                </a:solidFill>
              </a:rPr>
              <a:t>搬家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野炊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生日聚会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婚礼 </a:t>
            </a:r>
            <a:r>
              <a:rPr lang="zh-CN" altLang="en-US">
                <a:solidFill>
                  <a:schemeClr val="bg1"/>
                </a:solidFill>
                <a:sym typeface="Wingdings" panose="05000000000000000000" pitchFamily="2" charset="2"/>
              </a:rPr>
              <a:t></a:t>
            </a:r>
            <a:endParaRPr lang="en-US" altLang="zh-CN">
              <a:solidFill>
                <a:schemeClr val="bg1"/>
              </a:solidFill>
            </a:endParaRPr>
          </a:p>
          <a:p>
            <a:pPr algn="r"/>
            <a:endParaRPr lang="en-US" altLang="zh-CN">
              <a:solidFill>
                <a:schemeClr val="bg1"/>
              </a:solidFill>
            </a:endParaRPr>
          </a:p>
          <a:p>
            <a:pPr algn="r"/>
            <a:r>
              <a:rPr lang="zh-CN" altLang="en-US">
                <a:solidFill>
                  <a:schemeClr val="bg1"/>
                </a:solidFill>
              </a:rPr>
              <a:t>认证考试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学历教育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驾照考试 </a:t>
            </a:r>
            <a:r>
              <a:rPr lang="zh-CN" altLang="en-US">
                <a:solidFill>
                  <a:schemeClr val="bg1"/>
                </a:solidFill>
                <a:sym typeface="Wingdings" panose="05000000000000000000" pitchFamily="2" charset="2"/>
              </a:rPr>
              <a:t></a:t>
            </a:r>
            <a:endParaRPr lang="zh-CN" altLang="en-US">
              <a:solidFill>
                <a:schemeClr val="bg1"/>
              </a:solidFill>
            </a:endParaRPr>
          </a:p>
          <a:p>
            <a:pPr algn="r"/>
            <a:endParaRPr lang="en-US" altLang="zh-CN">
              <a:solidFill>
                <a:schemeClr val="bg1"/>
              </a:solidFill>
            </a:endParaRPr>
          </a:p>
          <a:p>
            <a:pPr algn="r"/>
            <a:r>
              <a:rPr lang="zh-CN" altLang="en-US">
                <a:solidFill>
                  <a:schemeClr val="bg1"/>
                </a:solidFill>
              </a:rPr>
              <a:t>毕业设计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电商小程序 </a:t>
            </a:r>
            <a:r>
              <a:rPr lang="zh-CN" altLang="en-US">
                <a:solidFill>
                  <a:schemeClr val="bg1"/>
                </a:solidFill>
                <a:sym typeface="Wingdings" panose="05000000000000000000" pitchFamily="2" charset="2"/>
              </a:rPr>
              <a:t></a:t>
            </a:r>
            <a:endParaRPr lang="en-US" altLang="zh-CN">
              <a:solidFill>
                <a:schemeClr val="bg1"/>
              </a:solidFill>
            </a:endParaRPr>
          </a:p>
          <a:p>
            <a:pPr algn="r"/>
            <a:r>
              <a:rPr lang="zh-CN" altLang="en-US">
                <a:solidFill>
                  <a:schemeClr val="bg1"/>
                </a:solidFill>
              </a:rPr>
              <a:t>后台管理系统 </a:t>
            </a:r>
            <a:r>
              <a:rPr lang="zh-CN" altLang="en-US">
                <a:solidFill>
                  <a:schemeClr val="bg1"/>
                </a:solidFill>
                <a:sym typeface="Wingdings" panose="05000000000000000000" pitchFamily="2" charset="2"/>
              </a:rPr>
              <a:t></a:t>
            </a:r>
            <a:endParaRPr lang="en-US" altLang="zh-CN">
              <a:solidFill>
                <a:schemeClr val="bg1"/>
              </a:solidFill>
            </a:endParaRPr>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olidFill>
                  <a:schemeClr val="bg1"/>
                </a:solidFill>
                <a:sym typeface="Wingdings" panose="05000000000000000000" pitchFamily="2" charset="2"/>
              </a:rPr>
              <a:t> </a:t>
            </a:r>
            <a:r>
              <a:rPr lang="zh-CN" altLang="en-US">
                <a:solidFill>
                  <a:schemeClr val="bg1"/>
                </a:solidFill>
              </a:rPr>
              <a:t>保洁</a:t>
            </a:r>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安保</a:t>
            </a:r>
            <a:endParaRPr lang="en-US" altLang="zh-CN">
              <a:solidFill>
                <a:schemeClr val="bg1"/>
              </a:solidFill>
            </a:endParaRPr>
          </a:p>
          <a:p>
            <a:endParaRPr lang="en-US" altLang="zh-CN">
              <a:solidFill>
                <a:schemeClr val="bg1"/>
              </a:solidFill>
            </a:endParaRPr>
          </a:p>
          <a:p>
            <a:r>
              <a:rPr lang="zh-CN" altLang="en-US">
                <a:solidFill>
                  <a:schemeClr val="bg1"/>
                </a:solidFill>
                <a:sym typeface="Wingdings" panose="05000000000000000000" pitchFamily="2" charset="2"/>
              </a:rPr>
              <a:t> </a:t>
            </a:r>
            <a:r>
              <a:rPr lang="zh-CN" altLang="en-US">
                <a:solidFill>
                  <a:schemeClr val="bg1"/>
                </a:solidFill>
              </a:rPr>
              <a:t>上课</a:t>
            </a:r>
            <a:endParaRPr lang="en-US" altLang="zh-CN">
              <a:solidFill>
                <a:schemeClr val="bg1"/>
              </a:solidFill>
            </a:endParaRPr>
          </a:p>
          <a:p>
            <a:r>
              <a:rPr lang="zh-CN" altLang="en-US">
                <a:solidFill>
                  <a:schemeClr val="bg1"/>
                </a:solidFill>
                <a:sym typeface="Wingdings" panose="05000000000000000000" pitchFamily="2" charset="2"/>
              </a:rPr>
              <a:t> 党团日</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班会</a:t>
            </a:r>
            <a:endParaRPr lang="en-US" altLang="zh-CN">
              <a:solidFill>
                <a:schemeClr val="bg1"/>
              </a:solidFill>
            </a:endParaRPr>
          </a:p>
          <a:p>
            <a:r>
              <a:rPr lang="zh-CN" altLang="en-US">
                <a:solidFill>
                  <a:schemeClr val="bg1"/>
                </a:solidFill>
              </a:rPr>
              <a:t> </a:t>
            </a:r>
            <a:endParaRPr lang="en-US" altLang="zh-CN">
              <a:solidFill>
                <a:schemeClr val="bg1"/>
              </a:solidFill>
            </a:endParaRPr>
          </a:p>
          <a:p>
            <a:r>
              <a:rPr lang="zh-CN" altLang="en-US">
                <a:solidFill>
                  <a:schemeClr val="bg1"/>
                </a:solidFill>
                <a:sym typeface="Wingdings" panose="05000000000000000000" pitchFamily="2" charset="2"/>
              </a:rPr>
              <a:t> 电商客服</a:t>
            </a:r>
            <a:endParaRPr lang="en-US" altLang="zh-CN">
              <a:solidFill>
                <a:schemeClr val="bg1"/>
              </a:solidFill>
              <a:sym typeface="Wingdings" panose="05000000000000000000" pitchFamily="2" charset="2"/>
            </a:endParaRPr>
          </a:p>
          <a:p>
            <a:r>
              <a:rPr lang="zh-CN" altLang="en-US">
                <a:solidFill>
                  <a:schemeClr val="bg1"/>
                </a:solidFill>
                <a:sym typeface="Wingdings" panose="05000000000000000000" pitchFamily="2" charset="2"/>
              </a:rPr>
              <a:t> </a:t>
            </a:r>
            <a:r>
              <a:rPr lang="zh-CN" altLang="en-US">
                <a:solidFill>
                  <a:schemeClr val="bg1"/>
                </a:solidFill>
              </a:rPr>
              <a:t>系统运维</a:t>
            </a:r>
            <a:endParaRPr lang="en-US" altLang="zh-CN">
              <a:solidFill>
                <a:schemeClr val="bg1"/>
              </a:solidFill>
            </a:endParaRPr>
          </a:p>
        </p:txBody>
      </p:sp>
      <p:sp>
        <p:nvSpPr>
          <p:cNvPr id="14" name="TextBox 13">
            <a:extLst>
              <a:ext uri="{FF2B5EF4-FFF2-40B4-BE49-F238E27FC236}">
                <a16:creationId xmlns:a16="http://schemas.microsoft.com/office/drawing/2014/main" id="{22CB7CFA-C10B-230A-8CD0-BF08A89AED0E}"/>
              </a:ext>
            </a:extLst>
          </p:cNvPr>
          <p:cNvSpPr txBox="1"/>
          <p:nvPr/>
        </p:nvSpPr>
        <p:spPr>
          <a:xfrm>
            <a:off x="4296799" y="5577526"/>
            <a:ext cx="920444" cy="338554"/>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sz="1600">
                <a:solidFill>
                  <a:schemeClr val="bg1"/>
                </a:solidFill>
              </a:rPr>
              <a:t>Project</a:t>
            </a:r>
            <a:endParaRPr lang="zh-CN" altLang="en-US" sz="1600">
              <a:solidFill>
                <a:schemeClr val="bg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820870" y="5589000"/>
            <a:ext cx="1228220" cy="338554"/>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sz="1600">
                <a:solidFill>
                  <a:schemeClr val="bg1"/>
                </a:solidFill>
              </a:rPr>
              <a:t>Operation</a:t>
            </a:r>
            <a:endParaRPr lang="zh-CN" altLang="en-US" sz="1600">
              <a:solidFill>
                <a:schemeClr val="bg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75665"/>
            <a:ext cx="0" cy="4301861"/>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75665"/>
            <a:ext cx="1" cy="431333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a:t>特征 </a:t>
            </a:r>
            <a:r>
              <a:rPr lang="en-US" altLang="zh-CN"/>
              <a:t>Features</a:t>
            </a:r>
            <a:endParaRPr lang="zh-CN" altLang="en-US"/>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31" name="任意多边形: 形状 30">
            <a:extLst>
              <a:ext uri="{FF2B5EF4-FFF2-40B4-BE49-F238E27FC236}">
                <a16:creationId xmlns:a16="http://schemas.microsoft.com/office/drawing/2014/main" id="{B4F5BDBD-55FE-E8B3-4050-80C8A7BFC372}"/>
              </a:ext>
            </a:extLst>
          </p:cNvPr>
          <p:cNvSpPr/>
          <p:nvPr/>
        </p:nvSpPr>
        <p:spPr>
          <a:xfrm>
            <a:off x="3095987" y="1579935"/>
            <a:ext cx="946981" cy="4498577"/>
          </a:xfrm>
          <a:custGeom>
            <a:avLst/>
            <a:gdLst>
              <a:gd name="csX0" fmla="*/ 15295 w 946981"/>
              <a:gd name="csY0" fmla="*/ 0 h 4498577"/>
              <a:gd name="csX1" fmla="*/ 15295 w 946981"/>
              <a:gd name="csY1" fmla="*/ 4498577 h 4498577"/>
              <a:gd name="csX2" fmla="*/ 0 w 946981"/>
              <a:gd name="csY2" fmla="*/ 4483281 h 4498577"/>
              <a:gd name="csX3" fmla="*/ 0 w 946981"/>
              <a:gd name="csY3" fmla="*/ 15295 h 4498577"/>
            </a:gdLst>
            <a:ahLst/>
            <a:cxnLst>
              <a:cxn ang="0">
                <a:pos x="csX0" y="csY0"/>
              </a:cxn>
              <a:cxn ang="0">
                <a:pos x="csX1" y="csY1"/>
              </a:cxn>
              <a:cxn ang="0">
                <a:pos x="csX2" y="csY2"/>
              </a:cxn>
              <a:cxn ang="0">
                <a:pos x="csX3" y="csY3"/>
              </a:cxn>
            </a:cxnLst>
            <a:rect l="l" t="t" r="r" b="b"/>
            <a:pathLst>
              <a:path w="946981" h="4498577">
                <a:moveTo>
                  <a:pt x="15295" y="0"/>
                </a:moveTo>
                <a:cubicBezTo>
                  <a:pt x="1257543" y="1242248"/>
                  <a:pt x="1257543" y="3256329"/>
                  <a:pt x="15295" y="4498577"/>
                </a:cubicBezTo>
                <a:lnTo>
                  <a:pt x="0" y="4483281"/>
                </a:lnTo>
                <a:cubicBezTo>
                  <a:pt x="1233800" y="3249481"/>
                  <a:pt x="1233800" y="1249095"/>
                  <a:pt x="0" y="15295"/>
                </a:cubicBezTo>
                <a:close/>
              </a:path>
            </a:pathLst>
          </a:custGeom>
          <a:solidFill>
            <a:schemeClr val="bg1"/>
          </a:solidFill>
          <a:ln>
            <a:noFill/>
          </a:ln>
        </p:spPr>
        <p:style>
          <a:lnRef idx="2">
            <a:schemeClr val="accent6">
              <a:hueOff val="0"/>
              <a:satOff val="0"/>
              <a:lumOff val="0"/>
              <a:alphaOff val="0"/>
            </a:schemeClr>
          </a:lnRef>
          <a:fillRef idx="0">
            <a:schemeClr val="accent6">
              <a:tint val="90000"/>
              <a:hueOff val="0"/>
              <a:satOff val="0"/>
              <a:lumOff val="0"/>
              <a:alphaOff val="0"/>
            </a:schemeClr>
          </a:fillRef>
          <a:effectRef idx="0">
            <a:schemeClr val="accent6">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a:latin typeface="微软雅黑 Light" panose="020B0502040204020203" pitchFamily="34" charset="-122"/>
                <a:ea typeface="微软雅黑 Light" panose="020B0502040204020203" pitchFamily="34" charset="-122"/>
              </a:rPr>
              <a:t>目标性 </a:t>
            </a:r>
            <a:r>
              <a:rPr lang="en-US" altLang="zh-CN" sz="1600" kern="1200">
                <a:latin typeface="微软雅黑 Light" panose="020B0502040204020203" pitchFamily="34" charset="-122"/>
                <a:ea typeface="微软雅黑 Light" panose="020B0502040204020203" pitchFamily="34" charset="-122"/>
              </a:rPr>
              <a:t>Target</a:t>
            </a:r>
            <a:endParaRPr lang="zh-CN" altLang="en-US" sz="1600" kern="1200"/>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1</a:t>
            </a:r>
            <a:endParaRPr lang="zh-CN" altLang="en-US">
              <a:solidFill>
                <a:schemeClr val="bg1"/>
              </a:solidFill>
            </a:endParaRPr>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相关性 </a:t>
            </a:r>
            <a:r>
              <a:rPr lang="en-US" altLang="zh-CN" sz="1600">
                <a:latin typeface="微软雅黑 Light" panose="020B0502040204020203" pitchFamily="34" charset="-122"/>
                <a:ea typeface="微软雅黑 Light" panose="020B0502040204020203" pitchFamily="34" charset="-122"/>
              </a:rPr>
              <a:t>Relevant</a:t>
            </a:r>
            <a:endParaRPr lang="zh-CN" altLang="en-US" sz="1600">
              <a:latin typeface="微软雅黑 Light" panose="020B0502040204020203" pitchFamily="34" charset="-122"/>
              <a:ea typeface="微软雅黑 Light" panose="020B0502040204020203" pitchFamily="34" charset="-122"/>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2</a:t>
            </a:r>
            <a:endParaRPr lang="zh-CN" altLang="en-US">
              <a:solidFill>
                <a:schemeClr val="bg1"/>
              </a:solidFill>
            </a:endParaRPr>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临时性 </a:t>
            </a:r>
            <a:r>
              <a:rPr lang="en-US" altLang="zh-CN" sz="1600">
                <a:latin typeface="微软雅黑 Light" panose="020B0502040204020203" pitchFamily="34" charset="-122"/>
                <a:ea typeface="微软雅黑 Light" panose="020B0502040204020203" pitchFamily="34" charset="-122"/>
              </a:rPr>
              <a:t>Temporary</a:t>
            </a:r>
            <a:endParaRPr lang="zh-CN" altLang="en-US" sz="1600">
              <a:latin typeface="微软雅黑 Light" panose="020B0502040204020203" pitchFamily="34" charset="-122"/>
              <a:ea typeface="微软雅黑 Light" panose="020B0502040204020203" pitchFamily="34" charset="-122"/>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3</a:t>
            </a:r>
            <a:endParaRPr lang="zh-CN" altLang="en-US">
              <a:solidFill>
                <a:schemeClr val="bg1"/>
              </a:solidFill>
            </a:endParaRPr>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独特性 </a:t>
            </a:r>
            <a:r>
              <a:rPr lang="en-US" altLang="zh-CN" sz="1600">
                <a:latin typeface="微软雅黑 Light" panose="020B0502040204020203" pitchFamily="34" charset="-122"/>
                <a:ea typeface="微软雅黑 Light" panose="020B0502040204020203" pitchFamily="34" charset="-122"/>
              </a:rPr>
              <a:t>Unique</a:t>
            </a:r>
            <a:endParaRPr lang="zh-CN" altLang="en-US" sz="1600">
              <a:latin typeface="微软雅黑 Light" panose="020B0502040204020203" pitchFamily="34" charset="-122"/>
              <a:ea typeface="微软雅黑 Light" panose="020B0502040204020203" pitchFamily="34" charset="-122"/>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4</a:t>
            </a:r>
            <a:endParaRPr lang="zh-CN" altLang="en-US">
              <a:solidFill>
                <a:schemeClr val="bg1"/>
              </a:solidFill>
            </a:endParaRPr>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资源约束性 </a:t>
            </a:r>
            <a:r>
              <a:rPr lang="en-US" altLang="zh-CN" sz="1600">
                <a:latin typeface="微软雅黑 Light" panose="020B0502040204020203" pitchFamily="34" charset="-122"/>
                <a:ea typeface="微软雅黑 Light" panose="020B0502040204020203" pitchFamily="34" charset="-122"/>
              </a:rPr>
              <a:t>Constrain</a:t>
            </a:r>
            <a:endParaRPr lang="zh-CN" altLang="en-US" sz="1600">
              <a:latin typeface="微软雅黑 Light" panose="020B0502040204020203" pitchFamily="34" charset="-122"/>
              <a:ea typeface="微软雅黑 Light" panose="020B0502040204020203" pitchFamily="34" charset="-122"/>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5</a:t>
            </a:r>
            <a:endParaRPr lang="zh-CN" altLang="en-US">
              <a:solidFill>
                <a:schemeClr val="bg1"/>
              </a:solidFill>
            </a:endParaRPr>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sz="1600">
                <a:latin typeface="微软雅黑 Light" panose="020B0502040204020203" pitchFamily="34" charset="-122"/>
                <a:ea typeface="微软雅黑 Light" panose="020B0502040204020203" pitchFamily="34" charset="-122"/>
              </a:rPr>
              <a:t>不确定性 </a:t>
            </a:r>
            <a:r>
              <a:rPr lang="en-US" altLang="zh-CN" sz="1600">
                <a:latin typeface="微软雅黑 Light" panose="020B0502040204020203" pitchFamily="34" charset="-122"/>
                <a:ea typeface="微软雅黑 Light" panose="020B0502040204020203" pitchFamily="34" charset="-122"/>
              </a:rPr>
              <a:t>Uncertainty</a:t>
            </a:r>
            <a:endParaRPr lang="zh-CN" altLang="en-US" sz="1600">
              <a:latin typeface="微软雅黑 Light" panose="020B0502040204020203" pitchFamily="34" charset="-122"/>
              <a:ea typeface="微软雅黑 Light" panose="020B0502040204020203" pitchFamily="34" charset="-122"/>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solidFill>
                  <a:schemeClr val="bg1"/>
                </a:solidFill>
              </a:rPr>
              <a:t>6</a:t>
            </a:r>
            <a:endParaRPr lang="zh-CN" altLang="en-US">
              <a:solidFill>
                <a:schemeClr val="bg1"/>
              </a:solidFill>
            </a:endParaRPr>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a:t>项目组合 </a:t>
            </a:r>
            <a:r>
              <a:rPr lang="en-US" altLang="zh-CN" sz="1600"/>
              <a:t>Portfolio</a:t>
            </a:r>
            <a:endParaRPr lang="zh-CN" altLang="en-US" sz="160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a:t>项目集 </a:t>
            </a:r>
            <a:r>
              <a:rPr lang="en-US" altLang="zh-CN" sz="1600"/>
              <a:t>Program</a:t>
            </a:r>
            <a:endParaRPr lang="zh-CN" altLang="en-US" sz="16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a:t>项目 </a:t>
            </a:r>
            <a:r>
              <a:rPr lang="en-US" altLang="zh-CN" sz="1600"/>
              <a:t>Project</a:t>
            </a:r>
            <a:endParaRPr lang="zh-CN" altLang="en-US" sz="16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a:t>项目 </a:t>
            </a:r>
            <a:r>
              <a:rPr lang="en-US" altLang="zh-CN"/>
              <a:t>Project</a:t>
            </a:r>
            <a:endParaRPr lang="zh-CN" altLang="en-US"/>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solidFill>
                  <a:schemeClr val="bg1"/>
                </a:solidFill>
              </a:rPr>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solidFill>
                  <a:schemeClr val="bg1"/>
                </a:solidFill>
              </a:rPr>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solidFill>
                  <a:schemeClr val="bg1"/>
                </a:solidFill>
              </a:rPr>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solidFill>
                  <a:schemeClr val="bg1"/>
                </a:solidFill>
              </a:rPr>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solidFill>
                  <a:schemeClr val="bg1"/>
                </a:solidFill>
              </a:rPr>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solidFill>
                  <a:schemeClr val="bg1"/>
                </a:solidFill>
              </a:rPr>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a:solidFill>
                  <a:schemeClr val="bg1"/>
                </a:solidFill>
              </a:rPr>
              <a:t>… …</a:t>
            </a:r>
            <a:endParaRPr lang="zh-CN" altLang="en-US">
              <a:solidFill>
                <a:schemeClr val="bg1"/>
              </a:solidFill>
            </a:endParaRPr>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solidFill>
                  <a:schemeClr val="bg1"/>
                </a:solidFill>
              </a:rPr>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solidFill>
                  <a:schemeClr val="bg1"/>
                </a:solidFill>
              </a:rPr>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solidFill>
                  <a:schemeClr val="bg1"/>
                </a:solidFill>
              </a:rPr>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2069360167"/>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3357713834"/>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Relevant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solidFill>
                            <a:schemeClr val="bg1"/>
                          </a:solidFill>
                        </a:rPr>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提供虚拟机、存储、网络等底层资源（如 </a:t>
                      </a:r>
                      <a:r>
                        <a:rPr lang="en-US" altLang="zh-CN" sz="1600">
                          <a:solidFill>
                            <a:schemeClr val="bg1"/>
                          </a:solidFill>
                        </a:rPr>
                        <a:t>AWS EC2</a:t>
                      </a:r>
                      <a:r>
                        <a:rPr lang="zh-CN" altLang="en-US" sz="1600">
                          <a:solidFill>
                            <a:schemeClr val="bg1"/>
                          </a:solidFill>
                        </a:rPr>
                        <a:t>、阿里云 </a:t>
                      </a:r>
                      <a:r>
                        <a:rPr lang="en-US" altLang="zh-CN" sz="1600">
                          <a:solidFill>
                            <a:schemeClr val="bg1"/>
                          </a:solidFill>
                        </a:rPr>
                        <a:t>ECS</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solidFill>
                            <a:schemeClr val="bg1"/>
                          </a:solidFill>
                        </a:rPr>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solidFill>
                            <a:schemeClr val="bg1"/>
                          </a:solidFill>
                        </a:rPr>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提供开发、部署、运行环境（如 </a:t>
                      </a:r>
                      <a:r>
                        <a:rPr lang="en-US" sz="1600">
                          <a:solidFill>
                            <a:schemeClr val="bg1"/>
                          </a:solidFill>
                        </a:rPr>
                        <a:t>Google App </a:t>
                      </a:r>
                      <a:r>
                        <a:rPr lang="en-US" sz="1600" err="1">
                          <a:solidFill>
                            <a:schemeClr val="bg1"/>
                          </a:solidFill>
                        </a:rPr>
                        <a:t>Engine、Heroku</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SaaS </a:t>
                      </a:r>
                      <a:r>
                        <a:rPr lang="zh-CN" altLang="en-US" sz="1600">
                          <a:solidFill>
                            <a:schemeClr val="bg1"/>
                          </a:solidFill>
                        </a:rPr>
                        <a:t>开发者常使用 </a:t>
                      </a:r>
                      <a:r>
                        <a:rPr lang="en-US" sz="1600">
                          <a:solidFill>
                            <a:schemeClr val="bg1"/>
                          </a:solidFill>
                        </a:rPr>
                        <a:t>PaaS </a:t>
                      </a:r>
                      <a:r>
                        <a:rPr lang="zh-CN" altLang="en-US" sz="1600">
                          <a:solidFill>
                            <a:schemeClr val="bg1"/>
                          </a:solidFill>
                        </a:rPr>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solidFill>
                            <a:schemeClr val="bg1"/>
                          </a:solidFill>
                        </a:rPr>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直接面向终端用户的完整应用（如钉钉、</a:t>
                      </a:r>
                      <a:r>
                        <a:rPr lang="en-US" sz="1600" err="1">
                          <a:solidFill>
                            <a:schemeClr val="bg1"/>
                          </a:solidFill>
                        </a:rPr>
                        <a:t>Salesforce、Notion</a:t>
                      </a:r>
                      <a:r>
                        <a:rPr 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3139880521"/>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5325" y="863600"/>
            <a:ext cx="10801350" cy="5400675"/>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3647009189"/>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Title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solidFill>
                            <a:schemeClr val="bg1"/>
                          </a:solidFill>
                        </a:rPr>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项目管理委员会</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6th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6</a:t>
                      </a:r>
                      <a:r>
                        <a:rPr lang="zh-CN" altLang="en-US" sz="1600">
                          <a:solidFill>
                            <a:schemeClr val="bg1"/>
                          </a:solidFill>
                        </a:rPr>
                        <a:t>版</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solidFill>
                            <a:schemeClr val="bg1"/>
                          </a:solidFill>
                        </a:rPr>
                        <a:t>Project Management Body of Knowledge, 7th Edition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solidFill>
                            <a:schemeClr val="bg1"/>
                          </a:solidFill>
                        </a:rPr>
                        <a:t>项目管理知识体系，第</a:t>
                      </a:r>
                      <a:r>
                        <a:rPr lang="en-US" altLang="zh-CN" sz="1600">
                          <a:solidFill>
                            <a:schemeClr val="bg1"/>
                          </a:solidFill>
                        </a:rPr>
                        <a:t>7</a:t>
                      </a:r>
                      <a:r>
                        <a:rPr lang="zh-CN" altLang="en-US" sz="1600">
                          <a:solidFill>
                            <a:schemeClr val="bg1"/>
                          </a:solidFill>
                        </a:rPr>
                        <a:t>版</a:t>
                      </a:r>
                      <a:endParaRPr lang="en-US" altLang="zh-CN" sz="1600">
                        <a:solidFill>
                          <a:schemeClr val="bg1"/>
                        </a:solidFill>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177412299"/>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a:solidFill>
                            <a:schemeClr val="bg1"/>
                          </a:solidFill>
                        </a:rPr>
                        <a:t>Aspect</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6th</a:t>
                      </a:r>
                      <a:endParaRPr lang="zh-CN" altLang="en-US" sz="1600">
                        <a:solidFill>
                          <a:schemeClr val="bg1"/>
                        </a:solidFill>
                      </a:endParaRPr>
                    </a:p>
                  </a:txBody>
                  <a:tcPr anchor="ctr">
                    <a:lnL>
                      <a:noFill/>
                    </a:lnL>
                    <a:lnR>
                      <a:noFill/>
                    </a:lnR>
                    <a:lnT>
                      <a:noFill/>
                    </a:lnT>
                    <a:lnB>
                      <a:noFill/>
                    </a:lnB>
                    <a:solidFill>
                      <a:schemeClr val="accent2"/>
                    </a:solidFill>
                  </a:tcPr>
                </a:tc>
                <a:tc>
                  <a:txBody>
                    <a:bodyPr/>
                    <a:lstStyle/>
                    <a:p>
                      <a:pPr algn="l">
                        <a:lnSpc>
                          <a:spcPct val="100000"/>
                        </a:lnSpc>
                        <a:buNone/>
                      </a:pPr>
                      <a:r>
                        <a:rPr lang="en-US" sz="1600">
                          <a:solidFill>
                            <a:schemeClr val="bg1"/>
                          </a:solidFill>
                        </a:rPr>
                        <a:t>PMBOK </a:t>
                      </a:r>
                      <a:r>
                        <a:rPr lang="en-US" altLang="zh-CN" sz="1600">
                          <a:solidFill>
                            <a:schemeClr val="bg1"/>
                          </a:solidFill>
                        </a:rPr>
                        <a:t>7th</a:t>
                      </a:r>
                      <a:endParaRPr lang="zh-CN" altLang="en-US" sz="160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solidFill>
                            <a:schemeClr val="bg1"/>
                          </a:solidFill>
                        </a:rPr>
                        <a:t>Philosophy</a:t>
                      </a:r>
                      <a:endParaRPr lang="zh-CN" altLang="en-US" sz="160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基于过程 </a:t>
                      </a:r>
                      <a:r>
                        <a:rPr lang="en-US" sz="1600">
                          <a:solidFill>
                            <a:schemeClr val="bg1"/>
                          </a:solidFill>
                        </a:rPr>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基于原则 </a:t>
                      </a:r>
                      <a:r>
                        <a:rPr lang="en-US" sz="1600">
                          <a:solidFill>
                            <a:schemeClr val="bg1"/>
                          </a:solidFill>
                        </a:rPr>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solidFill>
                            <a:schemeClr val="bg1"/>
                          </a:solidFill>
                        </a:rPr>
                        <a:t>Structure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5</a:t>
                      </a:r>
                      <a:r>
                        <a:rPr lang="zh-CN" altLang="en-US" sz="1600">
                          <a:solidFill>
                            <a:schemeClr val="bg1"/>
                          </a:solidFill>
                        </a:rPr>
                        <a:t>大过程组 </a:t>
                      </a:r>
                      <a:r>
                        <a:rPr lang="en-US" altLang="zh-CN" sz="1600">
                          <a:solidFill>
                            <a:schemeClr val="bg1"/>
                          </a:solidFill>
                        </a:rPr>
                        <a:t>+ 10</a:t>
                      </a:r>
                      <a:r>
                        <a:rPr lang="zh-CN" altLang="en-US" sz="1600">
                          <a:solidFill>
                            <a:schemeClr val="bg1"/>
                          </a:solidFill>
                        </a:rPr>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chemeClr val="bg1"/>
                          </a:solidFill>
                        </a:rPr>
                        <a:t>12</a:t>
                      </a:r>
                      <a:r>
                        <a:rPr lang="zh-CN" altLang="en-US" sz="1600">
                          <a:solidFill>
                            <a:schemeClr val="bg1"/>
                          </a:solidFill>
                        </a:rPr>
                        <a:t>项原则 </a:t>
                      </a:r>
                      <a:r>
                        <a:rPr lang="en-US" altLang="zh-CN" sz="1600">
                          <a:solidFill>
                            <a:schemeClr val="bg1"/>
                          </a:solidFill>
                        </a:rPr>
                        <a:t>+ 8</a:t>
                      </a:r>
                      <a:r>
                        <a:rPr lang="zh-CN" altLang="en-US" sz="1600">
                          <a:solidFill>
                            <a:schemeClr val="bg1"/>
                          </a:solidFill>
                        </a:rPr>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solidFill>
                            <a:schemeClr val="bg1"/>
                          </a:solidFill>
                        </a:rPr>
                        <a:t>Focus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产出 </a:t>
                      </a:r>
                      <a:r>
                        <a:rPr lang="en-US" sz="1600">
                          <a:solidFill>
                            <a:schemeClr val="bg1"/>
                          </a:solidFill>
                        </a:rPr>
                        <a:t>Outputs</a:t>
                      </a:r>
                      <a:endParaRPr lang="en-US" altLang="zh-CN" sz="1600">
                        <a:solidFill>
                          <a:schemeClr val="bg1"/>
                        </a:solidFill>
                      </a:endParaRPr>
                    </a:p>
                    <a:p>
                      <a:pPr algn="l">
                        <a:lnSpc>
                          <a:spcPct val="100000"/>
                        </a:lnSpc>
                        <a:buNone/>
                      </a:pPr>
                      <a:r>
                        <a:rPr lang="zh-CN" altLang="en-US" sz="1600">
                          <a:solidFill>
                            <a:schemeClr val="bg1"/>
                          </a:solidFill>
                        </a:rPr>
                        <a:t>交付了什么文件</a:t>
                      </a:r>
                      <a:r>
                        <a:rPr lang="en-US" altLang="zh-CN" sz="1600">
                          <a:solidFill>
                            <a:schemeClr val="bg1"/>
                          </a:solidFill>
                        </a:rPr>
                        <a:t>/</a:t>
                      </a:r>
                      <a:r>
                        <a:rPr lang="zh-CN" altLang="en-US" sz="1600">
                          <a:solidFill>
                            <a:schemeClr val="bg1"/>
                          </a:solidFill>
                        </a:rPr>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成果 </a:t>
                      </a:r>
                      <a:r>
                        <a:rPr lang="en-US" sz="1600">
                          <a:solidFill>
                            <a:schemeClr val="bg1"/>
                          </a:solidFill>
                        </a:rPr>
                        <a:t>Outcomes &amp; </a:t>
                      </a:r>
                      <a:r>
                        <a:rPr lang="zh-CN" altLang="en-US" sz="1600">
                          <a:solidFill>
                            <a:schemeClr val="bg1"/>
                          </a:solidFill>
                        </a:rPr>
                        <a:t>价值 </a:t>
                      </a:r>
                      <a:r>
                        <a:rPr lang="en-US" sz="1600">
                          <a:solidFill>
                            <a:schemeClr val="bg1"/>
                          </a:solidFill>
                        </a:rPr>
                        <a:t>Value </a:t>
                      </a:r>
                      <a:br>
                        <a:rPr lang="en-US" sz="1600">
                          <a:solidFill>
                            <a:schemeClr val="bg1"/>
                          </a:solidFill>
                        </a:rPr>
                      </a:br>
                      <a:r>
                        <a:rPr lang="zh-CN" altLang="en-US" sz="1600">
                          <a:solidFill>
                            <a:schemeClr val="bg1"/>
                          </a:solidFill>
                        </a:rPr>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solidFill>
                            <a:schemeClr val="bg1"/>
                          </a:solidFill>
                        </a:rPr>
                        <a:t>Methodology Scope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偏向预测型 </a:t>
                      </a:r>
                      <a:r>
                        <a:rPr lang="en-US" altLang="zh-CN" sz="1600">
                          <a:solidFill>
                            <a:schemeClr val="bg1"/>
                          </a:solidFill>
                        </a:rPr>
                        <a:t>(</a:t>
                      </a:r>
                      <a:r>
                        <a:rPr lang="zh-CN" altLang="en-US" sz="1600">
                          <a:solidFill>
                            <a:schemeClr val="bg1"/>
                          </a:solidFill>
                        </a:rPr>
                        <a:t>瀑布式</a:t>
                      </a:r>
                      <a:r>
                        <a:rPr lang="en-US" altLang="zh-CN" sz="1600">
                          <a:solidFill>
                            <a:schemeClr val="bg1"/>
                          </a:solidFill>
                        </a:rPr>
                        <a:t>)</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全生命周期适用 </a:t>
                      </a:r>
                      <a:r>
                        <a:rPr lang="en-US" altLang="zh-CN" sz="1600">
                          <a:solidFill>
                            <a:schemeClr val="bg1"/>
                          </a:solidFill>
                        </a:rPr>
                        <a:t>(</a:t>
                      </a:r>
                      <a:r>
                        <a:rPr lang="zh-CN" altLang="en-US" sz="1600">
                          <a:solidFill>
                            <a:schemeClr val="bg1"/>
                          </a:solidFill>
                        </a:rPr>
                        <a:t>预测型、敏捷型、混合型融合</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solidFill>
                            <a:schemeClr val="bg1"/>
                          </a:solidFill>
                        </a:rPr>
                        <a:t>PM</a:t>
                      </a:r>
                      <a:r>
                        <a:rPr lang="zh-CN" altLang="en-US" sz="1600">
                          <a:solidFill>
                            <a:schemeClr val="bg1"/>
                          </a:solidFill>
                        </a:rPr>
                        <a:t> </a:t>
                      </a:r>
                      <a:r>
                        <a:rPr lang="en-US" altLang="zh-CN" sz="1600">
                          <a:solidFill>
                            <a:schemeClr val="bg1"/>
                          </a:solidFill>
                        </a:rPr>
                        <a:t>role</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solidFill>
                            <a:schemeClr val="bg1"/>
                          </a:solidFill>
                        </a:rPr>
                        <a:t>Tailoring</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高度灵活，强调根据环境裁剪 </a:t>
                      </a:r>
                      <a:r>
                        <a:rPr lang="en-US" altLang="zh-CN" sz="1600">
                          <a:solidFill>
                            <a:schemeClr val="bg1"/>
                          </a:solidFill>
                        </a:rPr>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solidFill>
                            <a:schemeClr val="bg1"/>
                          </a:solidFill>
                        </a:rPr>
                        <a:t>Definition of Success</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按时、按预算、按范围交付 </a:t>
                      </a:r>
                      <a:r>
                        <a:rPr lang="en-US" altLang="zh-CN" sz="1600">
                          <a:solidFill>
                            <a:schemeClr val="bg1"/>
                          </a:solidFill>
                        </a:rPr>
                        <a:t>(</a:t>
                      </a:r>
                      <a:r>
                        <a:rPr lang="zh-CN" altLang="en-US" sz="1600">
                          <a:solidFill>
                            <a:schemeClr val="bg1"/>
                          </a:solidFill>
                        </a:rPr>
                        <a:t>铁三角</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solidFill>
                            <a:schemeClr val="bg1"/>
                          </a:solidFill>
                        </a:rPr>
                        <a:t>Format &amp; Length</a:t>
                      </a:r>
                      <a:endParaRPr lang="zh-CN" altLang="en-US" sz="160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厚书，充满</a:t>
                      </a:r>
                      <a:r>
                        <a:rPr lang="en-US" altLang="zh-CN" sz="1600">
                          <a:solidFill>
                            <a:schemeClr val="bg1"/>
                          </a:solidFill>
                        </a:rPr>
                        <a:t>ITTO (</a:t>
                      </a:r>
                      <a:r>
                        <a:rPr lang="zh-CN" altLang="en-US" sz="1600">
                          <a:solidFill>
                            <a:schemeClr val="bg1"/>
                          </a:solidFill>
                        </a:rPr>
                        <a:t>输入</a:t>
                      </a:r>
                      <a:r>
                        <a:rPr lang="en-US" altLang="zh-CN" sz="1600">
                          <a:solidFill>
                            <a:schemeClr val="bg1"/>
                          </a:solidFill>
                        </a:rPr>
                        <a:t>/</a:t>
                      </a:r>
                      <a:r>
                        <a:rPr lang="zh-CN" altLang="en-US" sz="1600">
                          <a:solidFill>
                            <a:schemeClr val="bg1"/>
                          </a:solidFill>
                        </a:rPr>
                        <a:t>工具</a:t>
                      </a:r>
                      <a:r>
                        <a:rPr lang="en-US" altLang="zh-CN" sz="1600">
                          <a:solidFill>
                            <a:schemeClr val="bg1"/>
                          </a:solidFill>
                        </a:rPr>
                        <a:t>/</a:t>
                      </a:r>
                      <a:r>
                        <a:rPr lang="zh-CN" altLang="en-US" sz="1600">
                          <a:solidFill>
                            <a:schemeClr val="bg1"/>
                          </a:solidFill>
                        </a:rPr>
                        <a:t>输出</a:t>
                      </a:r>
                      <a:r>
                        <a:rPr lang="en-US" altLang="zh-CN" sz="1600">
                          <a:solidFill>
                            <a:schemeClr val="bg1"/>
                          </a:solidFill>
                        </a:rPr>
                        <a:t>) </a:t>
                      </a:r>
                      <a:r>
                        <a:rPr lang="zh-CN" altLang="en-US" sz="1600">
                          <a:solidFill>
                            <a:schemeClr val="bg1"/>
                          </a:solidFill>
                        </a:rPr>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solidFill>
                            <a:schemeClr val="bg1"/>
                          </a:solidFill>
                        </a:rPr>
                        <a:t>更薄，更像指导手册，去除了大量</a:t>
                      </a:r>
                      <a:r>
                        <a:rPr lang="en-US" altLang="zh-CN" sz="1600">
                          <a:solidFill>
                            <a:schemeClr val="bg1"/>
                          </a:solidFill>
                        </a:rPr>
                        <a:t>ITTO</a:t>
                      </a:r>
                      <a:r>
                        <a:rPr lang="zh-CN" altLang="en-US" sz="1600">
                          <a:solidFill>
                            <a:schemeClr val="bg1"/>
                          </a:solidFill>
                        </a:rPr>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solidFill>
                            <a:srgbClr val="FFFF00"/>
                          </a:solidFill>
                        </a:rPr>
                        <a:t>In a word</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project right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solidFill>
                            <a:srgbClr val="FFFF00"/>
                          </a:solidFill>
                        </a:rPr>
                        <a:t>Do the right project</a:t>
                      </a:r>
                      <a:endParaRPr lang="zh-CN" altLang="en-US" sz="1600">
                        <a:solidFill>
                          <a:srgbClr val="FFFF00"/>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a:t>2017</a:t>
            </a:r>
            <a:r>
              <a:rPr lang="zh-CN" altLang="en-US"/>
              <a:t>年</a:t>
            </a:r>
            <a:r>
              <a:rPr lang="en-US" altLang="zh-CN"/>
              <a:t>9</a:t>
            </a:r>
            <a:r>
              <a:rPr lang="zh-CN" altLang="en-US"/>
              <a:t>月发布</a:t>
            </a:r>
            <a:endParaRPr lang="en-US" altLang="zh-CN"/>
          </a:p>
          <a:p>
            <a:r>
              <a:rPr lang="zh-CN" altLang="en-US"/>
              <a:t>传统项目管理方法的集大成者，强调怎么做 </a:t>
            </a:r>
            <a:r>
              <a:rPr lang="en-US" altLang="zh-CN"/>
              <a:t>How to do</a:t>
            </a:r>
          </a:p>
          <a:p>
            <a:r>
              <a:rPr lang="zh-CN" altLang="en-US"/>
              <a:t>基于过程 </a:t>
            </a:r>
            <a:r>
              <a:rPr lang="en-US" altLang="zh-CN"/>
              <a:t>Process-Based</a:t>
            </a:r>
          </a:p>
          <a:p>
            <a:r>
              <a:rPr lang="zh-CN" altLang="en-US"/>
              <a:t>核心理念 </a:t>
            </a:r>
            <a:r>
              <a:rPr lang="en-US" altLang="zh-CN"/>
              <a:t>Philosophy</a:t>
            </a:r>
            <a:endParaRPr lang="zh-CN" altLang="en-US"/>
          </a:p>
          <a:p>
            <a:pPr lvl="1"/>
            <a:r>
              <a:rPr lang="zh-CN" altLang="en-US"/>
              <a:t>合规性与标准化：强调遵循既定的流程和规范</a:t>
            </a:r>
          </a:p>
          <a:p>
            <a:pPr lvl="1"/>
            <a:r>
              <a:rPr lang="zh-CN" altLang="en-US"/>
              <a:t>可交付成果导向：关注是否按时、按预算完成了规定的产出</a:t>
            </a:r>
          </a:p>
          <a:p>
            <a:pPr lvl="1"/>
            <a:r>
              <a:rPr lang="zh-CN" altLang="en-US"/>
              <a:t>预测型为主：虽然包含了敏捷内容（附录），但主体逻辑仍偏向瀑布式（预测型）管理</a:t>
            </a:r>
            <a:endParaRPr lang="en-US" altLang="zh-CN"/>
          </a:p>
          <a:p>
            <a:r>
              <a:rPr lang="zh-CN" altLang="en-US"/>
              <a:t>核心架构 </a:t>
            </a:r>
            <a:r>
              <a:rPr lang="en-US" altLang="zh-CN"/>
              <a:t>Structure</a:t>
            </a:r>
            <a:endParaRPr lang="zh-CN" altLang="en-US"/>
          </a:p>
          <a:p>
            <a:pPr lvl="1"/>
            <a:r>
              <a:rPr lang="zh-CN" altLang="en-US"/>
              <a:t>五大标准过程组 </a:t>
            </a:r>
            <a:r>
              <a:rPr lang="en-US" altLang="zh-CN"/>
              <a:t>(5 Process Groups)</a:t>
            </a:r>
            <a:r>
              <a:rPr lang="zh-CN" altLang="en-US"/>
              <a:t>：按时间顺序排列的项目生命周期阶段</a:t>
            </a:r>
            <a:endParaRPr lang="en-US" altLang="zh-CN"/>
          </a:p>
          <a:p>
            <a:pPr lvl="1"/>
            <a:r>
              <a:rPr lang="zh-CN" altLang="en-US"/>
              <a:t>十大知识领域 </a:t>
            </a:r>
            <a:r>
              <a:rPr lang="en-US" altLang="zh-CN"/>
              <a:t>(10 Knowledge Areas)</a:t>
            </a:r>
            <a:r>
              <a:rPr lang="zh-CN" altLang="en-US"/>
              <a:t>：按专业职能划分的管理领域</a:t>
            </a:r>
            <a:endParaRPr lang="en-US" altLang="zh-CN"/>
          </a:p>
          <a:p>
            <a:r>
              <a:rPr lang="zh-CN" altLang="en-US"/>
              <a:t>缺点 </a:t>
            </a:r>
            <a:r>
              <a:rPr lang="en-US" altLang="zh-CN"/>
              <a:t>Drawback</a:t>
            </a:r>
          </a:p>
          <a:p>
            <a:pPr lvl="1"/>
            <a:r>
              <a:rPr lang="zh-CN" altLang="en-US"/>
              <a:t>为了走流程而走流程，忽视实际效果</a:t>
            </a:r>
            <a:endParaRPr lang="en-US" altLang="zh-CN"/>
          </a:p>
          <a:p>
            <a:endParaRPr lang="zh-CN" altLang="en-US"/>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Initiating</a:t>
            </a:r>
            <a:endParaRPr lang="zh-CN" altLang="en-US" sz="1400">
              <a:solidFill>
                <a:schemeClr val="bg1"/>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Planning</a:t>
            </a:r>
            <a:endParaRPr lang="zh-CN" altLang="en-US" sz="1400">
              <a:solidFill>
                <a:schemeClr val="bg1"/>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Monitoring &amp; Controlling</a:t>
            </a:r>
            <a:endParaRPr lang="zh-CN" altLang="en-US" sz="1400">
              <a:solidFill>
                <a:schemeClr val="bg1"/>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Executing</a:t>
            </a:r>
            <a:endParaRPr lang="zh-CN" altLang="en-US" sz="1400">
              <a:solidFill>
                <a:schemeClr val="bg1"/>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Closing</a:t>
            </a:r>
            <a:endParaRPr lang="zh-CN" altLang="en-US" sz="1400">
              <a:solidFill>
                <a:schemeClr val="bg1"/>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45261265"/>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 Group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gn="l">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Process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启动 </a:t>
                      </a:r>
                      <a:r>
                        <a:rPr lang="en-US" altLang="zh-CN" sz="1600" b="0" baseline="0">
                          <a:solidFill>
                            <a:schemeClr val="bg1"/>
                          </a:solidFill>
                        </a:rPr>
                        <a:t>Initiating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定义新项目或阶段，获得授权</a:t>
                      </a:r>
                    </a:p>
                    <a:p>
                      <a:pPr>
                        <a:lnSpc>
                          <a:spcPct val="100000"/>
                        </a:lnSpc>
                        <a:buNone/>
                      </a:pPr>
                      <a:r>
                        <a:rPr lang="zh-CN" altLang="en-US" sz="1600" b="0" baseline="0">
                          <a:solidFill>
                            <a:schemeClr val="bg1"/>
                          </a:solidFill>
                        </a:rPr>
                        <a:t>关键输出：项目章程、识别干系人</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规划 </a:t>
                      </a:r>
                      <a:r>
                        <a:rPr lang="en-US" altLang="zh-CN" sz="1600" b="0" baseline="0">
                          <a:solidFill>
                            <a:schemeClr val="bg1"/>
                          </a:solidFill>
                        </a:rPr>
                        <a:t>Planning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制定范围、进度、成本、质量、风险等计划</a:t>
                      </a:r>
                    </a:p>
                    <a:p>
                      <a:pPr>
                        <a:lnSpc>
                          <a:spcPct val="100000"/>
                        </a:lnSpc>
                        <a:buNone/>
                      </a:pPr>
                      <a:r>
                        <a:rPr lang="zh-CN" altLang="en-US" sz="1600" b="0" baseline="0">
                          <a:solidFill>
                            <a:schemeClr val="bg1"/>
                          </a:solidFill>
                        </a:rPr>
                        <a:t>过程占比最大，强调滚动式规划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执行 </a:t>
                      </a:r>
                      <a:r>
                        <a:rPr lang="en-US" altLang="zh-CN" sz="1600" b="0" baseline="0">
                          <a:solidFill>
                            <a:schemeClr val="bg1"/>
                          </a:solidFill>
                        </a:rPr>
                        <a:t>Executing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完成项目工作，满足范围说明书要求</a:t>
                      </a:r>
                    </a:p>
                    <a:p>
                      <a:pPr>
                        <a:lnSpc>
                          <a:spcPct val="100000"/>
                        </a:lnSpc>
                        <a:buNone/>
                      </a:pPr>
                      <a:r>
                        <a:rPr lang="zh-CN" altLang="en-US" sz="1600" b="0" baseline="0">
                          <a:solidFill>
                            <a:schemeClr val="bg1"/>
                          </a:solidFill>
                        </a:rPr>
                        <a:t>包括团队建设、质量保证、采购实施等</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监控 </a:t>
                      </a:r>
                      <a:r>
                        <a:rPr lang="en-US" altLang="zh-CN" sz="1600" b="0" baseline="0">
                          <a:solidFill>
                            <a:schemeClr val="bg1"/>
                          </a:solidFill>
                        </a:rPr>
                        <a:t>Monitoring &amp; Controlling</a:t>
                      </a:r>
                      <a:endParaRPr lang="en-US" altLang="zh-CN"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跟踪、审查和调整项目进展与绩效</a:t>
                      </a:r>
                    </a:p>
                    <a:p>
                      <a:pPr>
                        <a:lnSpc>
                          <a:spcPct val="100000"/>
                        </a:lnSpc>
                        <a:buNone/>
                      </a:pPr>
                      <a:r>
                        <a:rPr lang="zh-CN" altLang="en-US" sz="1600" b="0" baseline="0">
                          <a:solidFill>
                            <a:schemeClr val="bg1"/>
                          </a:solidFill>
                        </a:rPr>
                        <a:t>核心：变更控制和偏差分析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b="0" baseline="0">
                          <a:solidFill>
                            <a:schemeClr val="bg1"/>
                          </a:solidFill>
                        </a:rPr>
                        <a:t>结束 </a:t>
                      </a:r>
                      <a:r>
                        <a:rPr lang="en-US" altLang="zh-CN" sz="1600" b="0" baseline="0">
                          <a:solidFill>
                            <a:schemeClr val="bg1"/>
                          </a:solidFill>
                        </a:rPr>
                        <a:t>Closing</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0" baseline="0">
                          <a:solidFill>
                            <a:schemeClr val="bg1"/>
                          </a:solidFill>
                        </a:rPr>
                        <a:t>正式结束项目或阶段</a:t>
                      </a:r>
                      <a:endParaRPr lang="en-US" altLang="zh-CN" sz="1600" b="0" baseline="0">
                        <a:solidFill>
                          <a:schemeClr val="bg1"/>
                        </a:solidFill>
                      </a:endParaRPr>
                    </a:p>
                    <a:p>
                      <a:pPr>
                        <a:lnSpc>
                          <a:spcPct val="100000"/>
                        </a:lnSpc>
                        <a:buNone/>
                      </a:pPr>
                      <a:r>
                        <a:rPr lang="zh-CN" altLang="en-US" sz="1600" b="0" baseline="0">
                          <a:solidFill>
                            <a:schemeClr val="bg1"/>
                          </a:solidFill>
                        </a:rPr>
                        <a:t>移交成果，总结经验</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330934423"/>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Areas</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Description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项目集成管理 </a:t>
                      </a:r>
                      <a:r>
                        <a:rPr lang="en-US" altLang="zh-CN" sz="1600" baseline="0">
                          <a:solidFill>
                            <a:schemeClr val="bg1"/>
                          </a:solidFill>
                        </a:rPr>
                        <a:t>Integration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统一协调各过程，如制定章程、项目管理计划、变更控制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2</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项目范围管理 </a:t>
                      </a:r>
                      <a:r>
                        <a:rPr lang="en-US" altLang="zh-CN" sz="1600" baseline="0">
                          <a:solidFill>
                            <a:schemeClr val="bg1"/>
                          </a:solidFill>
                        </a:rPr>
                        <a:t>Scope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定义和控制做哪些工作，防止范围蔓延</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3</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项目进度管理 </a:t>
                      </a:r>
                      <a:r>
                        <a:rPr lang="en-US" altLang="zh-CN" sz="1600" baseline="0">
                          <a:solidFill>
                            <a:schemeClr val="bg1"/>
                          </a:solidFill>
                        </a:rPr>
                        <a:t>Schedule </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活动定义、排序、估算、制定进度计划</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4</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项目成本管理 </a:t>
                      </a:r>
                      <a:r>
                        <a:rPr lang="en-US" altLang="zh-CN" sz="1600" baseline="0">
                          <a:solidFill>
                            <a:schemeClr val="bg1"/>
                          </a:solidFill>
                        </a:rPr>
                        <a:t>Cost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估算、预算、控制成本</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5</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项目质量管理 </a:t>
                      </a:r>
                      <a:r>
                        <a:rPr lang="en-US" altLang="zh-CN" sz="1600" baseline="0">
                          <a:solidFill>
                            <a:schemeClr val="bg1"/>
                          </a:solidFill>
                        </a:rPr>
                        <a:t>Quality</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规划质量、管理质量、控制质量</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6</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项目资源管理 </a:t>
                      </a:r>
                      <a:r>
                        <a:rPr lang="en-US" altLang="zh-CN" sz="1600" baseline="0">
                          <a:solidFill>
                            <a:schemeClr val="bg1"/>
                          </a:solidFill>
                        </a:rPr>
                        <a:t>Resource</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获取、发展、管理团队及实物资源</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7</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项目沟通管理 </a:t>
                      </a:r>
                      <a:r>
                        <a:rPr lang="en-US" altLang="zh-CN" sz="1600" baseline="0">
                          <a:solidFill>
                            <a:schemeClr val="bg1"/>
                          </a:solidFill>
                        </a:rPr>
                        <a:t>Communication</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规划、管理、监督沟通</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8</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项目风险管理 </a:t>
                      </a:r>
                      <a:r>
                        <a:rPr lang="en-US" altLang="zh-CN" sz="1600" baseline="0">
                          <a:solidFill>
                            <a:schemeClr val="bg1"/>
                          </a:solidFill>
                        </a:rPr>
                        <a:t>Risk</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识别、分析、应对不确定性</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9</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项目采购管理 </a:t>
                      </a:r>
                      <a:r>
                        <a:rPr lang="en-US" altLang="zh-CN" sz="1600" baseline="0">
                          <a:solidFill>
                            <a:schemeClr val="bg1"/>
                          </a:solidFill>
                        </a:rPr>
                        <a:t>Procurement</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从外部获取产品</a:t>
                      </a:r>
                      <a:r>
                        <a:rPr lang="en-US" altLang="zh-CN" sz="1600" baseline="0">
                          <a:solidFill>
                            <a:schemeClr val="bg1"/>
                          </a:solidFill>
                        </a:rPr>
                        <a:t>/</a:t>
                      </a:r>
                      <a:r>
                        <a:rPr lang="zh-CN" altLang="en-US" sz="1600" baseline="0">
                          <a:solidFill>
                            <a:schemeClr val="bg1"/>
                          </a:solidFill>
                        </a:rPr>
                        <a:t>服务</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10</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项目干系人管理 </a:t>
                      </a:r>
                      <a:r>
                        <a:rPr lang="en-US" altLang="zh-CN" sz="1600" baseline="0">
                          <a:solidFill>
                            <a:schemeClr val="bg1"/>
                          </a:solidFill>
                        </a:rPr>
                        <a:t>Stakeholder</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baseline="0">
                          <a:solidFill>
                            <a:schemeClr val="bg1"/>
                          </a:solidFill>
                        </a:rPr>
                        <a:t>识别干系人、制定参与策略、管理期望</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a:t>2021</a:t>
            </a:r>
            <a:r>
              <a:rPr lang="zh-CN" altLang="en-US"/>
              <a:t>年</a:t>
            </a:r>
            <a:r>
              <a:rPr lang="en-US" altLang="zh-CN"/>
              <a:t>7</a:t>
            </a:r>
            <a:r>
              <a:rPr lang="zh-CN" altLang="en-US"/>
              <a:t>月发布</a:t>
            </a:r>
            <a:endParaRPr lang="en-US" altLang="zh-CN"/>
          </a:p>
          <a:p>
            <a:r>
              <a:rPr lang="zh-CN" altLang="en-US"/>
              <a:t>强调做什么 </a:t>
            </a:r>
            <a:r>
              <a:rPr lang="en-US" altLang="zh-CN"/>
              <a:t>What </a:t>
            </a:r>
            <a:r>
              <a:rPr lang="zh-CN" altLang="en-US"/>
              <a:t>和为什么做</a:t>
            </a:r>
            <a:r>
              <a:rPr lang="en-US" altLang="zh-CN"/>
              <a:t> Why</a:t>
            </a:r>
          </a:p>
          <a:p>
            <a:r>
              <a:rPr lang="zh-CN" altLang="en-US"/>
              <a:t>基于原则 </a:t>
            </a:r>
            <a:r>
              <a:rPr lang="en-US" altLang="zh-CN"/>
              <a:t>Principle-Based</a:t>
            </a:r>
          </a:p>
          <a:p>
            <a:r>
              <a:rPr lang="zh-CN" altLang="en-US"/>
              <a:t>核心理念 </a:t>
            </a:r>
            <a:r>
              <a:rPr lang="en-US" altLang="zh-CN"/>
              <a:t>Philosophy</a:t>
            </a:r>
            <a:endParaRPr lang="zh-CN" altLang="en-US"/>
          </a:p>
          <a:p>
            <a:pPr lvl="1"/>
            <a:r>
              <a:rPr lang="zh-CN" altLang="en-US"/>
              <a:t>价值导向：不仅关注产出 </a:t>
            </a:r>
            <a:r>
              <a:rPr lang="en-US" altLang="zh-CN"/>
              <a:t>Output</a:t>
            </a:r>
            <a:r>
              <a:rPr lang="zh-CN" altLang="en-US"/>
              <a:t>，更关注成果 </a:t>
            </a:r>
            <a:r>
              <a:rPr lang="en-US" altLang="zh-CN"/>
              <a:t>Outcome</a:t>
            </a:r>
            <a:r>
              <a:rPr lang="zh-CN" altLang="en-US"/>
              <a:t> 和商业价值</a:t>
            </a:r>
          </a:p>
          <a:p>
            <a:pPr lvl="1"/>
            <a:r>
              <a:rPr lang="zh-CN" altLang="en-US"/>
              <a:t>灵活性与裁剪：没有一刀切的流程，鼓励根据项目情境选择合适的方法（敏捷、混合或预测）</a:t>
            </a:r>
          </a:p>
          <a:p>
            <a:pPr lvl="1"/>
            <a:r>
              <a:rPr lang="zh-CN" altLang="en-US"/>
              <a:t>系统性思维：将项目视为复杂系统的一部分，强调应对不确定性和变革</a:t>
            </a:r>
          </a:p>
          <a:p>
            <a:r>
              <a:rPr lang="zh-CN" altLang="en-US"/>
              <a:t>核心架构 </a:t>
            </a:r>
            <a:r>
              <a:rPr lang="en-US" altLang="zh-CN"/>
              <a:t>Structure</a:t>
            </a:r>
            <a:endParaRPr lang="zh-CN" altLang="en-US"/>
          </a:p>
          <a:p>
            <a:pPr lvl="1"/>
            <a:r>
              <a:rPr lang="zh-CN" altLang="en-US"/>
              <a:t>十二项原则 </a:t>
            </a:r>
            <a:r>
              <a:rPr lang="en-US" altLang="zh-CN"/>
              <a:t>(12 Principles)</a:t>
            </a:r>
            <a:r>
              <a:rPr lang="zh-CN" altLang="en-US"/>
              <a:t>：指导项目行为的核心价值观，适用于任何方法论（预测、敏捷、混合）</a:t>
            </a:r>
          </a:p>
          <a:p>
            <a:pPr lvl="1"/>
            <a:r>
              <a:rPr lang="zh-CN" altLang="en-US"/>
              <a:t>八大绩效域 </a:t>
            </a:r>
            <a:r>
              <a:rPr lang="en-US" altLang="zh-CN"/>
              <a:t>(8 Performance Domains)</a:t>
            </a:r>
            <a:r>
              <a:rPr lang="zh-CN" altLang="en-US"/>
              <a:t>：取代了知识领域，强调这些领域需要同时关注、相互作用，以交付项目成果</a:t>
            </a:r>
            <a:endParaRPr lang="en-US" altLang="zh-CN"/>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32" name="内容占位符 31">
            <a:extLst>
              <a:ext uri="{FF2B5EF4-FFF2-40B4-BE49-F238E27FC236}">
                <a16:creationId xmlns:a16="http://schemas.microsoft.com/office/drawing/2014/main" id="{A23AA76F-528B-30B7-F2F7-BF532B133098}"/>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1010177291"/>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尽职、尊重和关心</a:t>
                      </a:r>
                      <a:r>
                        <a:rPr lang="en-US" altLang="zh-CN" sz="1400" b="0">
                          <a:solidFill>
                            <a:schemeClr val="bg1"/>
                          </a:solidFill>
                          <a:effectLst/>
                        </a:rPr>
                        <a:t>(</a:t>
                      </a:r>
                      <a:r>
                        <a:rPr lang="zh-CN" altLang="en-US" sz="1400" b="0">
                          <a:solidFill>
                            <a:schemeClr val="bg1"/>
                          </a:solidFill>
                          <a:effectLst/>
                        </a:rPr>
                        <a:t>管家精神</a:t>
                      </a:r>
                      <a:r>
                        <a:rPr lang="en-US" altLang="zh-CN"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Be a diligent, respectful, and caring </a:t>
                      </a:r>
                      <a:r>
                        <a:rPr lang="en-US" sz="1400" b="1">
                          <a:solidFill>
                            <a:schemeClr val="bg1"/>
                          </a:solidFill>
                          <a:effectLst/>
                        </a:rPr>
                        <a:t>steward</a:t>
                      </a:r>
                      <a:r>
                        <a:rPr 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建立信任与</a:t>
                      </a:r>
                      <a:r>
                        <a:rPr lang="zh-CN" altLang="en-US" sz="1400" b="1">
                          <a:solidFill>
                            <a:schemeClr val="bg1"/>
                          </a:solidFill>
                          <a:effectLst/>
                        </a:rPr>
                        <a:t>责任感</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项目经理应像“管家”一样，以诚信、关怀</a:t>
                      </a:r>
                      <a:r>
                        <a:rPr lang="zh-CN" altLang="en-US" sz="1400" b="0" kern="1200">
                          <a:solidFill>
                            <a:schemeClr val="bg1"/>
                          </a:solidFill>
                          <a:effectLst/>
                          <a:latin typeface="+mn-lt"/>
                          <a:ea typeface="+mn-ea"/>
                          <a:cs typeface="+mn-cs"/>
                        </a:rPr>
                        <a:t>和尊重的</a:t>
                      </a:r>
                      <a:r>
                        <a:rPr lang="zh-CN" altLang="en-US" sz="1400" b="0">
                          <a:solidFill>
                            <a:schemeClr val="bg1"/>
                          </a:solidFill>
                          <a:effectLst/>
                        </a:rPr>
                        <a:t>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团队效能高于个人总和。</a:t>
                      </a:r>
                      <a:br>
                        <a:rPr lang="zh-CN" altLang="en-US" sz="1400" b="0">
                          <a:solidFill>
                            <a:schemeClr val="bg1"/>
                          </a:solidFill>
                          <a:effectLst/>
                        </a:rPr>
                      </a:br>
                      <a:r>
                        <a:rPr lang="zh-CN" altLang="en-US" sz="1400" b="0">
                          <a:solidFill>
                            <a:schemeClr val="bg1"/>
                          </a:solidFill>
                          <a:effectLst/>
                        </a:rPr>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双向沟通与期望管理。</a:t>
                      </a:r>
                      <a:br>
                        <a:rPr lang="zh-CN" altLang="en-US" sz="1400" b="0">
                          <a:solidFill>
                            <a:schemeClr val="bg1"/>
                          </a:solidFill>
                          <a:effectLst/>
                        </a:rPr>
                      </a:br>
                      <a:r>
                        <a:rPr lang="zh-CN" altLang="en-US" sz="1400" b="1">
                          <a:solidFill>
                            <a:schemeClr val="bg1"/>
                          </a:solidFill>
                          <a:effectLst/>
                        </a:rPr>
                        <a:t>主动</a:t>
                      </a:r>
                      <a:r>
                        <a:rPr lang="zh-CN" altLang="en-US" sz="1400" b="0">
                          <a:solidFill>
                            <a:schemeClr val="bg1"/>
                          </a:solidFill>
                          <a:effectLst/>
                        </a:rPr>
                        <a:t>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价值是最终目标。</a:t>
                      </a:r>
                      <a:br>
                        <a:rPr lang="zh-CN" altLang="en-US" sz="1400" b="0">
                          <a:solidFill>
                            <a:schemeClr val="bg1"/>
                          </a:solidFill>
                          <a:effectLst/>
                        </a:rPr>
                      </a:br>
                      <a:r>
                        <a:rPr lang="zh-CN" altLang="en-US" sz="1400" b="0">
                          <a:solidFill>
                            <a:schemeClr val="bg1"/>
                          </a:solidFill>
                          <a:effectLst/>
                        </a:rPr>
                        <a:t>项目的存在是为了创造价值（商业价值、社会效益等）。所有决策和行动都应以“是否最大化价值”为衡量标准，</a:t>
                      </a:r>
                      <a:r>
                        <a:rPr lang="zh-CN" altLang="en-US" sz="1400" b="1">
                          <a:solidFill>
                            <a:schemeClr val="bg1"/>
                          </a:solidFill>
                          <a:effectLst/>
                        </a:rPr>
                        <a:t>避免为了做项目而做项目</a:t>
                      </a:r>
                      <a:r>
                        <a:rPr lang="zh-CN" altLang="en-US" sz="1400" b="0">
                          <a:solidFill>
                            <a:schemeClr val="bg1"/>
                          </a:solidFill>
                          <a:effectLst/>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系统思维 </a:t>
                      </a:r>
                      <a:r>
                        <a:rPr lang="en-US" altLang="zh-CN" sz="1400" b="0">
                          <a:solidFill>
                            <a:schemeClr val="bg1"/>
                          </a:solidFill>
                          <a:effectLst/>
                        </a:rPr>
                        <a:t>(Systems Thinking)</a:t>
                      </a:r>
                      <a:r>
                        <a:rPr lang="zh-CN" altLang="en-US" sz="1400" b="0">
                          <a:solidFill>
                            <a:schemeClr val="bg1"/>
                          </a:solidFill>
                          <a:effectLst/>
                        </a:rPr>
                        <a:t>。</a:t>
                      </a:r>
                      <a:br>
                        <a:rPr lang="zh-CN" altLang="en-US" sz="1400" b="0">
                          <a:solidFill>
                            <a:schemeClr val="bg1"/>
                          </a:solidFill>
                          <a:effectLst/>
                        </a:rPr>
                      </a:br>
                      <a:r>
                        <a:rPr lang="zh-CN" altLang="en-US" sz="1400" b="0">
                          <a:solidFill>
                            <a:schemeClr val="bg1"/>
                          </a:solidFill>
                          <a:effectLst/>
                        </a:rPr>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0">
                          <a:solidFill>
                            <a:schemeClr val="bg1"/>
                          </a:solidFill>
                          <a:effectLst/>
                        </a:rPr>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b="0">
                          <a:solidFill>
                            <a:schemeClr val="bg1"/>
                          </a:solidFill>
                          <a:effectLst/>
                        </a:rPr>
                        <a:t>核心： 领导力人人可为。</a:t>
                      </a:r>
                      <a:br>
                        <a:rPr lang="zh-CN" altLang="en-US" sz="1400" b="0">
                          <a:solidFill>
                            <a:schemeClr val="bg1"/>
                          </a:solidFill>
                          <a:effectLst/>
                        </a:rPr>
                      </a:br>
                      <a:r>
                        <a:rPr lang="zh-CN" altLang="en-US" sz="1400" b="0">
                          <a:solidFill>
                            <a:schemeClr val="bg1"/>
                          </a:solidFill>
                          <a:effectLst/>
                        </a:rPr>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11" name="内容占位符 10">
            <a:extLst>
              <a:ext uri="{FF2B5EF4-FFF2-40B4-BE49-F238E27FC236}">
                <a16:creationId xmlns:a16="http://schemas.microsoft.com/office/drawing/2014/main" id="{D4D9B893-6EE8-64B9-CED7-051E570F6831}"/>
              </a:ext>
            </a:extLst>
          </p:cNvPr>
          <p:cNvSpPr>
            <a:spLocks noGrp="1"/>
          </p:cNvSpPr>
          <p:nvPr>
            <p:ph idx="1"/>
          </p:nvPr>
        </p:nvSpPr>
        <p:spPr>
          <a:xfrm>
            <a:off x="696000" y="864000"/>
            <a:ext cx="10800000" cy="5400000"/>
          </a:xfrm>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4084339446"/>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solidFill>
                            <a:schemeClr val="bg1"/>
                          </a:solidFill>
                        </a:rPr>
                        <a:t>7</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b="1">
                          <a:solidFill>
                            <a:schemeClr val="bg1"/>
                          </a:solidFill>
                        </a:rPr>
                        <a:t>Tailor</a:t>
                      </a:r>
                      <a:r>
                        <a:rPr lang="en-US" sz="1400">
                          <a:solidFill>
                            <a:schemeClr val="bg1"/>
                          </a:solidFill>
                        </a:rPr>
                        <a:t>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没有“一刀切”的方法。</a:t>
                      </a:r>
                      <a:br>
                        <a:rPr lang="zh-CN" altLang="en-US" sz="1400">
                          <a:solidFill>
                            <a:schemeClr val="bg1"/>
                          </a:solidFill>
                        </a:rPr>
                      </a:br>
                      <a:r>
                        <a:rPr lang="zh-CN" altLang="en-US" sz="1400">
                          <a:solidFill>
                            <a:schemeClr val="bg1"/>
                          </a:solidFill>
                        </a:rPr>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solidFill>
                            <a:schemeClr val="bg1"/>
                          </a:solidFill>
                        </a:rPr>
                        <a:t>8</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预防胜于检查。</a:t>
                      </a:r>
                      <a:br>
                        <a:rPr lang="zh-CN" altLang="en-US" sz="1400">
                          <a:solidFill>
                            <a:schemeClr val="bg1"/>
                          </a:solidFill>
                        </a:rPr>
                      </a:br>
                      <a:r>
                        <a:rPr lang="zh-CN" altLang="en-US" sz="1400">
                          <a:solidFill>
                            <a:schemeClr val="bg1"/>
                          </a:solidFill>
                        </a:rPr>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solidFill>
                            <a:schemeClr val="bg1"/>
                          </a:solidFill>
                        </a:rPr>
                        <a:t>9</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在混乱中寻找路径。</a:t>
                      </a:r>
                      <a:br>
                        <a:rPr lang="zh-CN" altLang="en-US" sz="1400">
                          <a:solidFill>
                            <a:schemeClr val="bg1"/>
                          </a:solidFill>
                        </a:rPr>
                      </a:br>
                      <a:r>
                        <a:rPr lang="zh-CN" altLang="en-US" sz="1400">
                          <a:solidFill>
                            <a:schemeClr val="bg1"/>
                          </a:solidFill>
                        </a:rPr>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solidFill>
                            <a:schemeClr val="bg1"/>
                          </a:solidFill>
                        </a:rPr>
                        <a:t>10</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拥抱不确定性。</a:t>
                      </a:r>
                      <a:br>
                        <a:rPr lang="zh-CN" altLang="en-US" sz="1400">
                          <a:solidFill>
                            <a:schemeClr val="bg1"/>
                          </a:solidFill>
                        </a:rPr>
                      </a:br>
                      <a:r>
                        <a:rPr lang="zh-CN" altLang="en-US" sz="1400">
                          <a:solidFill>
                            <a:schemeClr val="bg1"/>
                          </a:solidFill>
                        </a:rPr>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solidFill>
                            <a:schemeClr val="bg1"/>
                          </a:solidFill>
                        </a:rPr>
                        <a:t>11</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在变化中生存与发展。</a:t>
                      </a:r>
                      <a:br>
                        <a:rPr lang="zh-CN" altLang="en-US" sz="1400">
                          <a:solidFill>
                            <a:schemeClr val="bg1"/>
                          </a:solidFill>
                        </a:rPr>
                      </a:br>
                      <a:r>
                        <a:rPr lang="zh-CN" altLang="en-US" sz="1400">
                          <a:solidFill>
                            <a:schemeClr val="bg1"/>
                          </a:solidFill>
                        </a:rPr>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solidFill>
                            <a:schemeClr val="bg1"/>
                          </a:solidFill>
                        </a:rPr>
                        <a:t>12</a:t>
                      </a:r>
                      <a:endParaRPr lang="zh-CN" altLang="en-US" sz="14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solidFill>
                            <a:schemeClr val="bg1"/>
                          </a:solidFill>
                        </a:rPr>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solidFill>
                            <a:schemeClr val="bg1"/>
                          </a:solidFill>
                        </a:rPr>
                        <a:t>核心： 项目即变革。</a:t>
                      </a:r>
                      <a:br>
                        <a:rPr lang="zh-CN" altLang="en-US" sz="1400">
                          <a:solidFill>
                            <a:schemeClr val="bg1"/>
                          </a:solidFill>
                        </a:rPr>
                      </a:br>
                      <a:r>
                        <a:rPr lang="zh-CN" altLang="en-US" sz="1400">
                          <a:solidFill>
                            <a:schemeClr val="bg1"/>
                          </a:solidFill>
                        </a:rPr>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a:t>项目在实现预期成果和价值方面的整体表现 </a:t>
            </a:r>
            <a:r>
              <a:rPr lang="en-US" altLang="zh-CN">
                <a:solidFill>
                  <a:srgbClr val="FFFF00"/>
                </a:solidFill>
              </a:rPr>
              <a:t>Performance</a:t>
            </a:r>
          </a:p>
          <a:p>
            <a:r>
              <a:rPr lang="zh-CN" altLang="en-US"/>
              <a:t>一组相互关联的项目活动，对于有效交付项目成果至关重要</a:t>
            </a:r>
            <a:endParaRPr lang="en-US" altLang="zh-CN"/>
          </a:p>
          <a:p>
            <a:r>
              <a:rPr lang="zh-CN" altLang="en-US"/>
              <a:t>同时发生、动态交织、需要持续关注</a:t>
            </a:r>
          </a:p>
          <a:p>
            <a:endParaRPr lang="en-US" altLang="zh-CN"/>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3419802731"/>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40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400">
                          <a:solidFill>
                            <a:schemeClr val="bg1"/>
                          </a:solidFill>
                        </a:rPr>
                        <a:t>Description</a:t>
                      </a:r>
                      <a:endParaRPr lang="zh-CN" altLang="en-US" sz="14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644523495"/>
                  </a:ext>
                </a:extLst>
              </a:tr>
              <a:tr h="0">
                <a:tc>
                  <a:txBody>
                    <a:bodyPr/>
                    <a:lstStyle/>
                    <a:p>
                      <a:pPr algn="ctr">
                        <a:buNone/>
                      </a:pPr>
                      <a:r>
                        <a:rPr lang="en-US" altLang="zh-CN" sz="1400">
                          <a:solidFill>
                            <a:schemeClr val="bg1"/>
                          </a:solidFill>
                        </a:rPr>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solidFill>
                            <a:schemeClr val="bg1"/>
                          </a:solidFill>
                        </a:rPr>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solidFill>
                            <a:schemeClr val="bg1"/>
                          </a:solidFill>
                        </a:rPr>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solidFill>
                            <a:schemeClr val="bg1"/>
                          </a:solidFill>
                        </a:rPr>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solidFill>
                            <a:schemeClr val="bg1"/>
                          </a:solidFill>
                        </a:rPr>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bg1"/>
                          </a:solidFill>
                        </a:rPr>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bg1"/>
                          </a:solidFill>
                        </a:rPr>
                        <a:t>应对</a:t>
                      </a:r>
                      <a:r>
                        <a:rPr lang="en-US" altLang="zh-CN" sz="1400">
                          <a:solidFill>
                            <a:schemeClr val="bg1"/>
                          </a:solidFill>
                        </a:rPr>
                        <a:t>VUCA</a:t>
                      </a:r>
                      <a:r>
                        <a:rPr lang="zh-CN" altLang="en-US" sz="1400">
                          <a:solidFill>
                            <a:schemeClr val="bg1"/>
                          </a:solidFill>
                        </a:rPr>
                        <a:t>，制定应对策略。</a:t>
                      </a:r>
                      <a:endParaRPr lang="en-US" altLang="zh-CN" sz="1400">
                        <a:solidFill>
                          <a:schemeClr val="bg1"/>
                        </a:solidFill>
                      </a:endParaRPr>
                    </a:p>
                    <a:p>
                      <a:pPr algn="l">
                        <a:buNone/>
                      </a:pPr>
                      <a:r>
                        <a:rPr lang="zh-CN" altLang="en-US" sz="1400">
                          <a:solidFill>
                            <a:schemeClr val="bg1"/>
                          </a:solidFill>
                        </a:rPr>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4" name="Content Placeholder 13">
            <a:extLst>
              <a:ext uri="{FF2B5EF4-FFF2-40B4-BE49-F238E27FC236}">
                <a16:creationId xmlns:a16="http://schemas.microsoft.com/office/drawing/2014/main" id="{4E5B64D2-87B7-B432-2854-97749A6C3738}"/>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5325" y="863600"/>
            <a:ext cx="10801350" cy="5400675"/>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7" name="文本占位符 6">
            <a:extLst>
              <a:ext uri="{FF2B5EF4-FFF2-40B4-BE49-F238E27FC236}">
                <a16:creationId xmlns:a16="http://schemas.microsoft.com/office/drawing/2014/main" id="{D628CB4E-66BB-A3BB-0097-745DFD6A5C3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1916017522"/>
              </p:ext>
            </p:extLst>
          </p:nvPr>
        </p:nvGraphicFramePr>
        <p:xfrm>
          <a:off x="695325" y="3612515"/>
          <a:ext cx="10801350" cy="265176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600">
                          <a:solidFill>
                            <a:schemeClr val="bg1"/>
                          </a:solidFill>
                        </a:rPr>
                        <a:t>Char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English</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Chinese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lnSpc>
                          <a:spcPct val="100000"/>
                        </a:lnSpc>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98835100"/>
                  </a:ext>
                </a:extLst>
              </a:tr>
              <a:tr h="0">
                <a:tc>
                  <a:txBody>
                    <a:bodyPr/>
                    <a:lstStyle/>
                    <a:p>
                      <a:pPr algn="l">
                        <a:lnSpc>
                          <a:spcPct val="100000"/>
                        </a:lnSpc>
                        <a:buNone/>
                      </a:pPr>
                      <a:r>
                        <a:rPr lang="en-US" sz="1600">
                          <a:solidFill>
                            <a:schemeClr val="bg1"/>
                          </a:solidFill>
                        </a:rPr>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变化发生的速度极快，幅度极大</a:t>
                      </a:r>
                      <a:endParaRPr lang="en-US" altLang="zh-CN" sz="160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600">
                          <a:solidFill>
                            <a:schemeClr val="bg1"/>
                          </a:solidFill>
                        </a:rPr>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缺乏信息，难以预测未来，因果关系不明</a:t>
                      </a:r>
                    </a:p>
                    <a:p>
                      <a:pPr algn="l">
                        <a:lnSpc>
                          <a:spcPct val="100000"/>
                        </a:lnSpc>
                        <a:buNone/>
                      </a:pPr>
                      <a:r>
                        <a:rPr lang="zh-CN" altLang="en-US" sz="1600">
                          <a:solidFill>
                            <a:schemeClr val="bg1"/>
                          </a:solidFill>
                        </a:rPr>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600">
                          <a:solidFill>
                            <a:schemeClr val="bg1"/>
                          </a:solidFill>
                        </a:rPr>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影响因素众多，相互交织，牵一发而动全身</a:t>
                      </a:r>
                    </a:p>
                    <a:p>
                      <a:pPr algn="l">
                        <a:lnSpc>
                          <a:spcPct val="100000"/>
                        </a:lnSpc>
                        <a:buNone/>
                      </a:pPr>
                      <a:r>
                        <a:rPr lang="zh-CN" altLang="en-US" sz="1600">
                          <a:solidFill>
                            <a:schemeClr val="bg1"/>
                          </a:solidFill>
                        </a:rPr>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600">
                          <a:solidFill>
                            <a:schemeClr val="bg1"/>
                          </a:solidFill>
                        </a:rPr>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情况模棱两可，容易产生误解，没有先例可循</a:t>
                      </a:r>
                    </a:p>
                    <a:p>
                      <a:pPr algn="l">
                        <a:lnSpc>
                          <a:spcPct val="100000"/>
                        </a:lnSpc>
                        <a:buNone/>
                      </a:pPr>
                      <a:r>
                        <a:rPr lang="zh-CN" altLang="en-US" sz="1600">
                          <a:solidFill>
                            <a:schemeClr val="bg1"/>
                          </a:solidFill>
                        </a:rPr>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a:t>一家电商公司要在“双</a:t>
            </a:r>
            <a:r>
              <a:rPr lang="en-US" altLang="zh-CN"/>
              <a:t>11”</a:t>
            </a:r>
            <a:r>
              <a:rPr lang="zh-CN" altLang="en-US"/>
              <a:t>前上线一个新的促销系统。距离上线只剩</a:t>
            </a:r>
            <a:r>
              <a:rPr lang="en-US" altLang="zh-CN"/>
              <a:t>3</a:t>
            </a:r>
            <a:r>
              <a:rPr lang="zh-CN" altLang="en-US"/>
              <a:t>周，突然核心开发人员离职，且发现了一个严重的安全漏洞。</a:t>
            </a:r>
            <a:endParaRPr lang="en-US" altLang="zh-CN"/>
          </a:p>
          <a:p>
            <a:r>
              <a:rPr lang="zh-CN" altLang="en-US"/>
              <a:t>以下哪些做法体现了</a:t>
            </a:r>
            <a:r>
              <a:rPr lang="en-US" altLang="zh-CN"/>
              <a:t>PMBOK7</a:t>
            </a:r>
            <a:r>
              <a:rPr lang="zh-CN" altLang="en-US"/>
              <a:t>的思想？</a:t>
            </a:r>
            <a:endParaRPr lang="en-US" altLang="zh-CN"/>
          </a:p>
          <a:p>
            <a:endParaRPr lang="en-US" altLang="zh-CN"/>
          </a:p>
          <a:p>
            <a:r>
              <a:rPr lang="en-US" altLang="zh-CN"/>
              <a:t>A</a:t>
            </a:r>
            <a:r>
              <a:rPr lang="zh-CN" altLang="en-US"/>
              <a:t>：打开</a:t>
            </a:r>
            <a:r>
              <a:rPr lang="en-US" altLang="zh-CN"/>
              <a:t>《</a:t>
            </a:r>
            <a:r>
              <a:rPr lang="zh-CN" altLang="en-US"/>
              <a:t>风险登记册</a:t>
            </a:r>
            <a:r>
              <a:rPr lang="en-US" altLang="zh-CN"/>
              <a:t>》</a:t>
            </a:r>
            <a:r>
              <a:rPr lang="zh-CN" altLang="en-US"/>
              <a:t>，走变更流程，申请延期</a:t>
            </a:r>
          </a:p>
          <a:p>
            <a:r>
              <a:rPr lang="en-US" altLang="zh-CN"/>
              <a:t>B</a:t>
            </a:r>
            <a:r>
              <a:rPr lang="zh-CN" altLang="en-US"/>
              <a:t>：按“资源管理计划”去招聘新人</a:t>
            </a:r>
            <a:endParaRPr lang="en-US" altLang="zh-CN"/>
          </a:p>
          <a:p>
            <a:r>
              <a:rPr lang="en-US" altLang="zh-CN"/>
              <a:t>C</a:t>
            </a:r>
            <a:r>
              <a:rPr lang="zh-CN" altLang="en-US"/>
              <a:t>：立即承认原计划已失效。不再试图消除风险，而是启动应急预案</a:t>
            </a:r>
            <a:endParaRPr lang="en-US" altLang="zh-CN"/>
          </a:p>
          <a:p>
            <a:r>
              <a:rPr lang="en-US" altLang="zh-CN"/>
              <a:t>D</a:t>
            </a:r>
            <a:r>
              <a:rPr lang="zh-CN" altLang="en-US"/>
              <a:t>：立刻找</a:t>
            </a:r>
            <a:r>
              <a:rPr lang="en-US" altLang="zh-CN"/>
              <a:t>CEO</a:t>
            </a:r>
            <a:r>
              <a:rPr lang="zh-CN" altLang="en-US"/>
              <a:t>和业务方沟通，获得授权，调整范围</a:t>
            </a:r>
            <a:endParaRPr lang="en-US" altLang="zh-CN"/>
          </a:p>
          <a:p>
            <a:r>
              <a:rPr lang="en-US" altLang="zh-CN"/>
              <a:t>E</a:t>
            </a:r>
            <a:r>
              <a:rPr lang="zh-CN" altLang="en-US"/>
              <a:t>：重新定义最小可行产品 </a:t>
            </a:r>
            <a:r>
              <a:rPr lang="en-US" altLang="zh-CN"/>
              <a:t>MVP</a:t>
            </a:r>
            <a:r>
              <a:rPr lang="zh-CN" altLang="en-US"/>
              <a:t>，保证双</a:t>
            </a:r>
            <a:r>
              <a:rPr lang="en-US" altLang="zh-CN"/>
              <a:t>11</a:t>
            </a:r>
            <a:r>
              <a:rPr lang="zh-CN" altLang="en-US"/>
              <a:t>当天能下单、能支付</a:t>
            </a:r>
            <a:endParaRPr lang="en-US" altLang="zh-CN"/>
          </a:p>
          <a:p>
            <a:r>
              <a:rPr lang="en-US" altLang="zh-CN"/>
              <a:t>F</a:t>
            </a:r>
            <a:r>
              <a:rPr lang="zh-CN" altLang="en-US"/>
              <a:t>：召开紧急动员会，透明化危机；邀请资深架构师临时顶岗</a:t>
            </a:r>
            <a:endParaRPr lang="en-US" altLang="zh-CN"/>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a:t>软件项目快速多变的环境要求快速的开发和提交</a:t>
            </a:r>
            <a:endParaRPr lang="en-US" altLang="zh-CN"/>
          </a:p>
          <a:p>
            <a:pPr lvl="1"/>
            <a:r>
              <a:rPr lang="zh-CN" altLang="en-US"/>
              <a:t>部分可用、阶段可用、多次交付</a:t>
            </a:r>
            <a:endParaRPr lang="en-US" altLang="zh-CN"/>
          </a:p>
          <a:p>
            <a:pPr lvl="1"/>
            <a:r>
              <a:rPr lang="zh-CN" altLang="en-US"/>
              <a:t>试水</a:t>
            </a:r>
            <a:endParaRPr lang="en-US" altLang="zh-CN"/>
          </a:p>
          <a:p>
            <a:pPr lvl="1"/>
            <a:r>
              <a:rPr lang="zh-CN" altLang="en-US"/>
              <a:t>看市场反映</a:t>
            </a:r>
            <a:endParaRPr lang="en-US" altLang="zh-CN"/>
          </a:p>
          <a:p>
            <a:pPr lvl="1"/>
            <a:r>
              <a:rPr lang="zh-CN" altLang="en-US"/>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a:solidFill>
                  <a:schemeClr val="bg1"/>
                </a:solidFill>
              </a:rPr>
              <a:t>Case 1 Client </a:t>
            </a:r>
            <a:r>
              <a:rPr lang="zh-CN" altLang="en-US" sz="1400">
                <a:solidFill>
                  <a:schemeClr val="bg1"/>
                </a:solidFill>
              </a:rPr>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B</a:t>
            </a:r>
            <a:endParaRPr lang="zh-CN" altLang="en-US" sz="1200">
              <a:solidFill>
                <a:schemeClr val="bg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a:solidFill>
                  <a:schemeClr val="bg1"/>
                </a:solidFill>
              </a:rPr>
              <a:t>Case 2 Client </a:t>
            </a:r>
            <a:r>
              <a:rPr lang="zh-CN" altLang="en-US" sz="1400">
                <a:solidFill>
                  <a:schemeClr val="bg1"/>
                </a:solidFill>
              </a:rPr>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 </a:t>
            </a:r>
            <a:r>
              <a:rPr lang="zh-CN" altLang="en-US" sz="1200">
                <a:solidFill>
                  <a:schemeClr val="bg1"/>
                </a:solidFill>
              </a:rPr>
              <a:t>→ </a:t>
            </a:r>
            <a:r>
              <a:rPr lang="en-US" altLang="zh-CN" sz="1200">
                <a:solidFill>
                  <a:schemeClr val="bg1"/>
                </a:solidFill>
              </a:rPr>
              <a:t>B</a:t>
            </a:r>
            <a:endParaRPr lang="zh-CN" altLang="en-US" sz="1200">
              <a:solidFill>
                <a:schemeClr val="bg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a:solidFill>
                  <a:schemeClr val="bg1"/>
                </a:solidFill>
              </a:rPr>
              <a:t>Case 3 Client </a:t>
            </a:r>
            <a:r>
              <a:rPr lang="zh-CN" altLang="en-US" sz="1400">
                <a:solidFill>
                  <a:schemeClr val="bg1"/>
                </a:solidFill>
              </a:rPr>
              <a:t>知道并清晰传达需求</a:t>
            </a:r>
            <a:endParaRPr lang="en-US" altLang="zh-CN" sz="1400">
              <a:solidFill>
                <a:schemeClr val="bg1"/>
              </a:solidFill>
            </a:endParaRPr>
          </a:p>
          <a:p>
            <a:r>
              <a:rPr lang="zh-CN" altLang="en-US" sz="1400">
                <a:solidFill>
                  <a:schemeClr val="bg1"/>
                </a:solidFill>
              </a:rPr>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a:solidFill>
                  <a:schemeClr val="bg1"/>
                </a:solidFill>
              </a:rPr>
              <a:t>？？？</a:t>
            </a:r>
            <a:r>
              <a:rPr lang="en-US" altLang="zh-CN" sz="1200">
                <a:solidFill>
                  <a:schemeClr val="bg1"/>
                </a:solidFill>
              </a:rPr>
              <a:t>/ B</a:t>
            </a:r>
            <a:endParaRPr lang="zh-CN" altLang="en-US" sz="1200">
              <a:solidFill>
                <a:schemeClr val="bg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a:solidFill>
                  <a:schemeClr val="bg1"/>
                </a:solidFill>
              </a:rPr>
              <a:t>Case 4 </a:t>
            </a:r>
            <a:r>
              <a:rPr lang="zh-CN" altLang="en-US" sz="1400">
                <a:solidFill>
                  <a:schemeClr val="bg1"/>
                </a:solidFill>
              </a:rPr>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solidFill>
                  <a:schemeClr val="bg1"/>
                </a:solidFill>
              </a:rPr>
              <a:t>A</a:t>
            </a:r>
            <a:endParaRPr lang="zh-CN" altLang="en-US" sz="120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a:solidFill>
                  <a:schemeClr val="bg1"/>
                </a:solidFill>
              </a:rPr>
              <a:t>Case 5 </a:t>
            </a:r>
            <a:r>
              <a:rPr lang="zh-CN" altLang="en-US" sz="1400">
                <a:solidFill>
                  <a:schemeClr val="bg1"/>
                </a:solidFill>
              </a:rPr>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bg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a:t>Manifesto for Agile </a:t>
            </a:r>
            <a:r>
              <a:rPr lang="en-US" altLang="zh-CN" b="1">
                <a:solidFill>
                  <a:srgbClr val="FFFF00"/>
                </a:solidFill>
              </a:rPr>
              <a:t>Software</a:t>
            </a:r>
            <a:r>
              <a:rPr lang="en-US" altLang="zh-CN"/>
              <a:t> Development</a:t>
            </a:r>
          </a:p>
          <a:p>
            <a:r>
              <a:rPr lang="zh-CN" altLang="en-US"/>
              <a:t>简称敏捷宣言</a:t>
            </a:r>
            <a:endParaRPr lang="en-US" altLang="zh-CN"/>
          </a:p>
          <a:p>
            <a:r>
              <a:rPr lang="zh-CN" altLang="en-US"/>
              <a:t>聚焦软件项目管理</a:t>
            </a:r>
            <a:endParaRPr lang="en-US" altLang="zh-CN"/>
          </a:p>
          <a:p>
            <a:r>
              <a:rPr lang="en-US" altLang="zh-CN"/>
              <a:t>2001</a:t>
            </a:r>
            <a:r>
              <a:rPr lang="zh-CN" altLang="en-US"/>
              <a:t>年，</a:t>
            </a:r>
            <a:r>
              <a:rPr lang="en-US" altLang="zh-CN"/>
              <a:t>17</a:t>
            </a:r>
            <a:r>
              <a:rPr lang="zh-CN" altLang="en-US"/>
              <a:t>位软件开发专家在美国犹他州雪鸟滑雪度假村聚会，共同起草</a:t>
            </a:r>
            <a:endParaRPr lang="en-US" altLang="zh-CN"/>
          </a:p>
          <a:p>
            <a:r>
              <a:rPr lang="zh-CN" altLang="en-US"/>
              <a:t>应对迅速变化需求的快速软件开发方法</a:t>
            </a:r>
          </a:p>
          <a:p>
            <a:r>
              <a:rPr lang="zh-CN" altLang="en-US"/>
              <a:t>是一种迭代、循序渐进的开发方法</a:t>
            </a:r>
            <a:endParaRPr lang="en-US" altLang="zh-CN"/>
          </a:p>
          <a:p>
            <a:r>
              <a:rPr lang="zh-CN" altLang="en-US"/>
              <a:t>体现的是一种思维模式 </a:t>
            </a:r>
            <a:r>
              <a:rPr lang="en-US" altLang="zh-CN"/>
              <a:t> Thinking</a:t>
            </a:r>
          </a:p>
          <a:p>
            <a:r>
              <a:rPr lang="en-US" altLang="zh-CN">
                <a:hlinkClick r:id="rId2"/>
              </a:rPr>
              <a:t>https://agilemanifesto.org/</a:t>
            </a:r>
            <a:r>
              <a:rPr lang="en-US" altLang="zh-CN"/>
              <a:t> </a:t>
            </a:r>
          </a:p>
          <a:p>
            <a:endParaRPr lang="en-US" altLang="zh-CN"/>
          </a:p>
          <a:p>
            <a:endParaRPr lang="en-US" altLang="zh-CN"/>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00" name="内容占位符 99">
            <a:extLst>
              <a:ext uri="{FF2B5EF4-FFF2-40B4-BE49-F238E27FC236}">
                <a16:creationId xmlns:a16="http://schemas.microsoft.com/office/drawing/2014/main" id="{E816C42D-684E-2066-2532-51F4020AC557}"/>
              </a:ext>
            </a:extLst>
          </p:cNvPr>
          <p:cNvSpPr>
            <a:spLocks noGrp="1"/>
          </p:cNvSpPr>
          <p:nvPr>
            <p:ph idx="1"/>
          </p:nvPr>
        </p:nvSpPr>
        <p:spPr>
          <a:xfrm>
            <a:off x="696000" y="864000"/>
            <a:ext cx="10800000" cy="5400000"/>
          </a:xfrm>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solidFill>
                  <a:schemeClr val="bg1"/>
                </a:solidFill>
              </a:rPr>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a:solidFill>
                  <a:schemeClr val="bg1"/>
                </a:solidFill>
              </a:rPr>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solidFill>
                  <a:schemeClr val="bg1"/>
                </a:solidFill>
              </a:rPr>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solidFill>
                  <a:schemeClr val="bg1"/>
                </a:solidFill>
              </a:rPr>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solidFill>
                  <a:schemeClr val="bg1"/>
                </a:solidFill>
              </a:rPr>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solidFill>
                  <a:schemeClr val="bg1"/>
                </a:solidFill>
              </a:rPr>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solidFill>
                  <a:schemeClr val="bg1"/>
                </a:solidFill>
              </a:rPr>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solidFill>
                  <a:schemeClr val="bg1"/>
                </a:solidFill>
              </a:rPr>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solidFill>
                <a:schemeClr val="bg1"/>
              </a:solidFill>
            </a:endParaRPr>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solidFill>
                <a:schemeClr val="bg1"/>
              </a:solidFill>
            </a:endParaRPr>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solidFill>
                <a:schemeClr val="bg1"/>
              </a:solidFill>
            </a:endParaRPr>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solidFill>
                <a:schemeClr val="bg1"/>
              </a:solidFill>
            </a:endParaRPr>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Over</a:t>
            </a:r>
            <a:endParaRPr lang="zh-CN" altLang="en-US" sz="1600"/>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4091210115"/>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Values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27310528"/>
                  </a:ext>
                </a:extLst>
              </a:tr>
              <a:tr h="0">
                <a:tc>
                  <a:txBody>
                    <a:bodyPr/>
                    <a:lstStyle/>
                    <a:p>
                      <a:pPr algn="ctr"/>
                      <a:r>
                        <a:rPr lang="en-US" altLang="zh-CN" sz="1600">
                          <a:solidFill>
                            <a:schemeClr val="bg1"/>
                          </a:solidFill>
                        </a:rPr>
                        <a: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solidFill>
                            <a:schemeClr val="bg1"/>
                          </a:solidFill>
                        </a:rPr>
                        <a: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solidFill>
                            <a:schemeClr val="bg1"/>
                          </a:solidFill>
                        </a:rPr>
                        <a:t>3</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solidFill>
                            <a:schemeClr val="bg1"/>
                          </a:solidFill>
                        </a:rPr>
                        <a:t>4</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Responding to change over following a plan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10745880"/>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1</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Our highest </a:t>
                      </a:r>
                      <a:r>
                        <a:rPr lang="en-US" sz="1400" b="1">
                          <a:solidFill>
                            <a:srgbClr val="FFFF00"/>
                          </a:solidFill>
                          <a:effectLst/>
                        </a:rPr>
                        <a:t>priority</a:t>
                      </a:r>
                      <a:r>
                        <a:rPr lang="en-US" sz="1400" b="0">
                          <a:solidFill>
                            <a:schemeClr val="bg1"/>
                          </a:solidFill>
                          <a:effectLst/>
                        </a:rPr>
                        <a:t> is to satisfy the customer through early and continuous delivery of </a:t>
                      </a:r>
                      <a:r>
                        <a:rPr lang="en-US" sz="1400" b="1">
                          <a:solidFill>
                            <a:srgbClr val="FFFF00"/>
                          </a:solidFill>
                          <a:effectLst/>
                        </a:rPr>
                        <a:t>valuable</a:t>
                      </a:r>
                      <a:r>
                        <a:rPr lang="en-US" sz="1400" b="0">
                          <a:solidFill>
                            <a:schemeClr val="bg1"/>
                          </a:solidFill>
                          <a:effectLst/>
                        </a:rPr>
                        <a:t>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价值交付</a:t>
                      </a:r>
                      <a:br>
                        <a:rPr lang="zh-CN" altLang="en-US" sz="1400" b="0">
                          <a:solidFill>
                            <a:schemeClr val="bg1"/>
                          </a:solidFill>
                          <a:effectLst/>
                        </a:rPr>
                      </a:br>
                      <a:r>
                        <a:rPr lang="en-US" sz="1400" b="0">
                          <a:solidFill>
                            <a:schemeClr val="bg1"/>
                          </a:solidFill>
                          <a:effectLst/>
                        </a:rPr>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2</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Welcome changing requirements, even late in development. Agile processes </a:t>
                      </a:r>
                      <a:r>
                        <a:rPr lang="en-US" sz="1400" b="1">
                          <a:solidFill>
                            <a:srgbClr val="FFFF00"/>
                          </a:solidFill>
                          <a:effectLst/>
                        </a:rPr>
                        <a:t>harness</a:t>
                      </a:r>
                      <a:r>
                        <a:rPr lang="en-US" sz="1400" b="0">
                          <a:solidFill>
                            <a:schemeClr val="bg1"/>
                          </a:solidFill>
                          <a:effectLst/>
                        </a:rPr>
                        <a:t>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拥抱变化</a:t>
                      </a:r>
                      <a:br>
                        <a:rPr lang="zh-CN" altLang="en-US" sz="1400" b="0">
                          <a:solidFill>
                            <a:schemeClr val="bg1"/>
                          </a:solidFill>
                          <a:effectLst/>
                        </a:rPr>
                      </a:br>
                      <a:r>
                        <a:rPr lang="en-US" sz="1400" b="0">
                          <a:solidFill>
                            <a:schemeClr val="bg1"/>
                          </a:solidFill>
                          <a:effectLst/>
                        </a:rPr>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3</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Deliver working software frequently, from a couple of weeks to a couple of months, with a </a:t>
                      </a:r>
                      <a:r>
                        <a:rPr lang="en-US" sz="1400" b="1">
                          <a:solidFill>
                            <a:srgbClr val="FFFF00"/>
                          </a:solidFill>
                          <a:effectLst/>
                        </a:rPr>
                        <a:t>preference</a:t>
                      </a:r>
                      <a:r>
                        <a:rPr lang="en-US" sz="1400" b="0">
                          <a:solidFill>
                            <a:schemeClr val="bg1"/>
                          </a:solidFill>
                          <a:effectLst/>
                        </a:rPr>
                        <a:t>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频繁迭代</a:t>
                      </a:r>
                      <a:br>
                        <a:rPr lang="zh-CN" altLang="en-US" sz="1400" b="0">
                          <a:solidFill>
                            <a:schemeClr val="bg1"/>
                          </a:solidFill>
                          <a:effectLst/>
                        </a:rPr>
                      </a:br>
                      <a:r>
                        <a:rPr lang="en-US" sz="1400" b="0">
                          <a:solidFill>
                            <a:schemeClr val="bg1"/>
                          </a:solidFill>
                          <a:effectLst/>
                        </a:rPr>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4</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Business people and developers must work </a:t>
                      </a:r>
                      <a:r>
                        <a:rPr lang="en-US" sz="1400" b="1">
                          <a:solidFill>
                            <a:srgbClr val="FFFF00"/>
                          </a:solidFill>
                          <a:effectLst/>
                        </a:rPr>
                        <a:t>together</a:t>
                      </a:r>
                      <a:r>
                        <a:rPr lang="en-US" sz="1400" b="0">
                          <a:solidFill>
                            <a:schemeClr val="bg1"/>
                          </a:solidFill>
                          <a:effectLst/>
                        </a:rPr>
                        <a:t>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协作沟通</a:t>
                      </a:r>
                      <a:br>
                        <a:rPr lang="zh-CN" altLang="en-US" sz="1400" b="0">
                          <a:solidFill>
                            <a:schemeClr val="bg1"/>
                          </a:solidFill>
                          <a:effectLst/>
                        </a:rPr>
                      </a:br>
                      <a:r>
                        <a:rPr lang="en-US" sz="1400" b="0">
                          <a:solidFill>
                            <a:schemeClr val="bg1"/>
                          </a:solidFill>
                          <a:effectLst/>
                        </a:rPr>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5</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Build projects around </a:t>
                      </a:r>
                      <a:r>
                        <a:rPr lang="en-US" sz="1400" b="1">
                          <a:solidFill>
                            <a:srgbClr val="FFFF00"/>
                          </a:solidFill>
                          <a:effectLst/>
                        </a:rPr>
                        <a:t>motivated</a:t>
                      </a:r>
                      <a:r>
                        <a:rPr lang="en-US" sz="1400" b="0">
                          <a:solidFill>
                            <a:schemeClr val="bg1"/>
                          </a:solidFill>
                          <a:effectLst/>
                        </a:rPr>
                        <a:t>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信任与激励</a:t>
                      </a:r>
                      <a:br>
                        <a:rPr lang="zh-CN" altLang="en-US" sz="1400" b="0">
                          <a:solidFill>
                            <a:schemeClr val="bg1"/>
                          </a:solidFill>
                          <a:effectLst/>
                        </a:rPr>
                      </a:br>
                      <a:r>
                        <a:rPr lang="en-US" sz="1400" b="0">
                          <a:solidFill>
                            <a:schemeClr val="bg1"/>
                          </a:solidFill>
                          <a:effectLst/>
                        </a:rPr>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6</a:t>
                      </a:r>
                      <a:endParaRPr lang="zh-CN" altLang="en-US" sz="1400" b="0">
                        <a:solidFill>
                          <a:schemeClr val="bg1"/>
                        </a:solidFill>
                        <a:effectLst/>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most efficient and effective method of </a:t>
                      </a:r>
                      <a:r>
                        <a:rPr lang="en-US" sz="1400" b="1">
                          <a:solidFill>
                            <a:srgbClr val="FFFF00"/>
                          </a:solidFill>
                          <a:effectLst/>
                        </a:rPr>
                        <a:t>conveying</a:t>
                      </a:r>
                      <a:r>
                        <a:rPr lang="en-US" sz="1400" b="0">
                          <a:solidFill>
                            <a:schemeClr val="bg1"/>
                          </a:solidFill>
                          <a:effectLst/>
                        </a:rPr>
                        <a:t>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高效沟通</a:t>
                      </a:r>
                      <a:br>
                        <a:rPr lang="zh-CN" altLang="en-US" sz="1400" b="0">
                          <a:solidFill>
                            <a:schemeClr val="bg1"/>
                          </a:solidFill>
                          <a:effectLst/>
                        </a:rPr>
                      </a:br>
                      <a:r>
                        <a:rPr lang="en-US" sz="1400" b="0">
                          <a:solidFill>
                            <a:schemeClr val="bg1"/>
                          </a:solidFill>
                          <a:effectLst/>
                        </a:rPr>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907718762"/>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altLang="zh-CN" sz="1400" b="0">
                          <a:solidFill>
                            <a:schemeClr val="bg1"/>
                          </a:solidFill>
                          <a:effectLst/>
                        </a:rPr>
                        <a:t>Chinese </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b="0">
                          <a:solidFill>
                            <a:schemeClr val="bg1"/>
                          </a:solidFill>
                          <a:effectLst/>
                        </a:rPr>
                        <a:t>7</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Working</a:t>
                      </a:r>
                      <a:r>
                        <a:rPr lang="en-US" sz="1400" b="0">
                          <a:solidFill>
                            <a:schemeClr val="bg1"/>
                          </a:solidFill>
                          <a:effectLst/>
                        </a:rPr>
                        <a:t>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结果导向</a:t>
                      </a:r>
                      <a:br>
                        <a:rPr lang="zh-CN" altLang="en-US" sz="1400" b="0">
                          <a:solidFill>
                            <a:schemeClr val="bg1"/>
                          </a:solidFill>
                          <a:effectLst/>
                        </a:rPr>
                      </a:br>
                      <a:r>
                        <a:rPr lang="en-US" sz="1400" b="0">
                          <a:solidFill>
                            <a:schemeClr val="bg1"/>
                          </a:solidFill>
                          <a:effectLst/>
                        </a:rPr>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b="0">
                          <a:solidFill>
                            <a:schemeClr val="bg1"/>
                          </a:solidFill>
                          <a:effectLst/>
                        </a:rPr>
                        <a:t>8</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Agile processes </a:t>
                      </a:r>
                      <a:r>
                        <a:rPr lang="en-US" sz="1400" b="1">
                          <a:solidFill>
                            <a:srgbClr val="FFFF00"/>
                          </a:solidFill>
                          <a:effectLst/>
                        </a:rPr>
                        <a:t>promote</a:t>
                      </a:r>
                      <a:r>
                        <a:rPr lang="en-US" sz="1400" b="0">
                          <a:solidFill>
                            <a:schemeClr val="bg1"/>
                          </a:solidFill>
                          <a:effectLst/>
                        </a:rPr>
                        <a:t> </a:t>
                      </a:r>
                      <a:r>
                        <a:rPr lang="en-US" sz="1400" b="1">
                          <a:solidFill>
                            <a:srgbClr val="FFFF00"/>
                          </a:solidFill>
                          <a:effectLst/>
                        </a:rPr>
                        <a:t>sustainable</a:t>
                      </a:r>
                      <a:r>
                        <a:rPr lang="en-US" sz="1400" b="0">
                          <a:solidFill>
                            <a:schemeClr val="bg1"/>
                          </a:solidFill>
                          <a:effectLst/>
                        </a:rPr>
                        <a:t>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可持续发展</a:t>
                      </a:r>
                      <a:br>
                        <a:rPr lang="zh-CN" altLang="en-US" sz="1400" b="0">
                          <a:solidFill>
                            <a:schemeClr val="bg1"/>
                          </a:solidFill>
                          <a:effectLst/>
                        </a:rPr>
                      </a:br>
                      <a:r>
                        <a:rPr lang="en-US" sz="1400" b="1">
                          <a:solidFill>
                            <a:schemeClr val="bg1"/>
                          </a:solidFill>
                          <a:effectLst/>
                        </a:rPr>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b="0">
                          <a:solidFill>
                            <a:schemeClr val="bg1"/>
                          </a:solidFill>
                          <a:effectLst/>
                        </a:rPr>
                        <a:t>9</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Continuous</a:t>
                      </a:r>
                      <a:r>
                        <a:rPr lang="en-US" sz="1400" b="0">
                          <a:solidFill>
                            <a:schemeClr val="bg1"/>
                          </a:solidFill>
                          <a:effectLst/>
                        </a:rPr>
                        <a:t>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技术卓越</a:t>
                      </a:r>
                      <a:br>
                        <a:rPr lang="zh-CN" altLang="en-US" sz="1400" b="0">
                          <a:solidFill>
                            <a:schemeClr val="bg1"/>
                          </a:solidFill>
                          <a:effectLst/>
                        </a:rPr>
                      </a:br>
                      <a:r>
                        <a:rPr lang="en-US" sz="1400" b="0">
                          <a:solidFill>
                            <a:schemeClr val="bg1"/>
                          </a:solidFill>
                          <a:effectLst/>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b="0">
                          <a:solidFill>
                            <a:schemeClr val="bg1"/>
                          </a:solidFill>
                          <a:effectLst/>
                        </a:rPr>
                        <a:t>10</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1">
                          <a:solidFill>
                            <a:srgbClr val="FFFF00"/>
                          </a:solidFill>
                          <a:effectLst/>
                        </a:rPr>
                        <a:t>Simplicity</a:t>
                      </a:r>
                      <a:r>
                        <a:rPr lang="en-US" sz="1400" b="0">
                          <a:solidFill>
                            <a:schemeClr val="bg1"/>
                          </a:solidFill>
                          <a:effectLst/>
                        </a:rPr>
                        <a:t>—the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简洁 </a:t>
                      </a:r>
                      <a:r>
                        <a:rPr lang="en-US" altLang="zh-CN" sz="1400" b="0">
                          <a:solidFill>
                            <a:schemeClr val="bg1"/>
                          </a:solidFill>
                          <a:effectLst/>
                        </a:rPr>
                        <a:t>- </a:t>
                      </a:r>
                      <a:r>
                        <a:rPr lang="zh-CN" altLang="en-US" sz="1400" b="0">
                          <a:solidFill>
                            <a:schemeClr val="bg1"/>
                          </a:solidFill>
                          <a:effectLst/>
                        </a:rPr>
                        <a:t>最大化未完成工作量的艺术 </a:t>
                      </a:r>
                      <a:r>
                        <a:rPr lang="en-US" altLang="zh-CN" sz="1400" b="0">
                          <a:solidFill>
                            <a:schemeClr val="bg1"/>
                          </a:solidFill>
                          <a:effectLst/>
                        </a:rPr>
                        <a:t>- </a:t>
                      </a:r>
                      <a:r>
                        <a:rPr lang="zh-CN" altLang="en-US" sz="1400" b="0">
                          <a:solidFill>
                            <a:schemeClr val="bg1"/>
                          </a:solidFill>
                          <a:effectLst/>
                        </a:rPr>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极简主义</a:t>
                      </a:r>
                      <a:br>
                        <a:rPr lang="zh-CN" altLang="en-US" sz="1400" b="0">
                          <a:solidFill>
                            <a:schemeClr val="bg1"/>
                          </a:solidFill>
                          <a:effectLst/>
                        </a:rPr>
                      </a:br>
                      <a:r>
                        <a:rPr lang="en-US" sz="1400" b="0">
                          <a:solidFill>
                            <a:schemeClr val="bg1"/>
                          </a:solidFill>
                          <a:effectLst/>
                        </a:rPr>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b="0">
                          <a:solidFill>
                            <a:schemeClr val="bg1"/>
                          </a:solidFill>
                          <a:effectLst/>
                        </a:rPr>
                        <a:t>11</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The best architectures, requirements, and designs </a:t>
                      </a:r>
                      <a:r>
                        <a:rPr lang="en-US" sz="1400" b="1">
                          <a:solidFill>
                            <a:srgbClr val="FFFF00"/>
                          </a:solidFill>
                          <a:effectLst/>
                        </a:rPr>
                        <a:t>emerge</a:t>
                      </a:r>
                      <a:r>
                        <a:rPr lang="en-US" sz="1400" b="0">
                          <a:solidFill>
                            <a:schemeClr val="bg1"/>
                          </a:solidFill>
                          <a:effectLst/>
                        </a:rPr>
                        <a:t> from </a:t>
                      </a:r>
                      <a:r>
                        <a:rPr lang="en-US" sz="1400" b="1">
                          <a:solidFill>
                            <a:srgbClr val="FFFF00"/>
                          </a:solidFill>
                          <a:effectLst/>
                        </a:rPr>
                        <a:t>self-organizing</a:t>
                      </a:r>
                      <a:r>
                        <a:rPr lang="en-US" sz="1400" b="0">
                          <a:solidFill>
                            <a:schemeClr val="bg1"/>
                          </a:solidFill>
                          <a:effectLst/>
                        </a:rPr>
                        <a:t>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自组织</a:t>
                      </a:r>
                      <a:br>
                        <a:rPr lang="zh-CN" altLang="en-US" sz="1400" b="0">
                          <a:solidFill>
                            <a:schemeClr val="bg1"/>
                          </a:solidFill>
                          <a:effectLst/>
                        </a:rPr>
                      </a:br>
                      <a:r>
                        <a:rPr lang="en-US" sz="1400" b="0">
                          <a:solidFill>
                            <a:schemeClr val="bg1"/>
                          </a:solidFill>
                          <a:effectLst/>
                        </a:rPr>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b="0">
                          <a:solidFill>
                            <a:schemeClr val="bg1"/>
                          </a:solidFill>
                          <a:effectLst/>
                        </a:rPr>
                        <a:t>12</a:t>
                      </a:r>
                      <a:endParaRPr lang="zh-CN" altLang="en-US" sz="1400" b="0">
                        <a:solidFill>
                          <a:schemeClr val="bg1"/>
                        </a:solidFill>
                        <a:effectLst/>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b="0">
                          <a:solidFill>
                            <a:schemeClr val="bg1"/>
                          </a:solidFill>
                          <a:effectLst/>
                        </a:rPr>
                        <a:t>At regular intervals, the team </a:t>
                      </a:r>
                      <a:r>
                        <a:rPr lang="en-US" sz="1400" b="1">
                          <a:solidFill>
                            <a:srgbClr val="FFFF00"/>
                          </a:solidFill>
                          <a:effectLst/>
                        </a:rPr>
                        <a:t>reflects</a:t>
                      </a:r>
                      <a:r>
                        <a:rPr lang="en-US" sz="1400" b="0">
                          <a:solidFill>
                            <a:schemeClr val="bg1"/>
                          </a:solidFill>
                          <a:effectLst/>
                        </a:rPr>
                        <a:t>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b="0">
                          <a:solidFill>
                            <a:schemeClr val="bg1"/>
                          </a:solidFill>
                          <a:effectLst/>
                        </a:rPr>
                        <a:t>持续改进</a:t>
                      </a:r>
                      <a:br>
                        <a:rPr lang="zh-CN" altLang="en-US" sz="1400" b="0">
                          <a:solidFill>
                            <a:schemeClr val="bg1"/>
                          </a:solidFill>
                          <a:effectLst/>
                        </a:rPr>
                      </a:br>
                      <a:r>
                        <a:rPr lang="en-US" sz="1400" b="0">
                          <a:solidFill>
                            <a:schemeClr val="bg1"/>
                          </a:solidFill>
                          <a:effectLst/>
                        </a:rPr>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2832971793"/>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敏捷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solidFill>
                            <a:schemeClr val="bg1"/>
                          </a:solidFill>
                        </a:rPr>
                        <a:t>PMBOK 7 </a:t>
                      </a:r>
                      <a:r>
                        <a:rPr lang="zh-CN" altLang="en-US" sz="1600">
                          <a:solidFill>
                            <a:schemeClr val="bg1"/>
                          </a:solidFill>
                        </a:rPr>
                        <a:t>的 </a:t>
                      </a:r>
                      <a:r>
                        <a:rPr lang="en-US" altLang="zh-CN" sz="1600">
                          <a:solidFill>
                            <a:schemeClr val="bg1"/>
                          </a:solidFill>
                        </a:rPr>
                        <a:t>12 </a:t>
                      </a:r>
                      <a:r>
                        <a:rPr lang="zh-CN" altLang="en-US" sz="160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solidFill>
                            <a:schemeClr val="bg1"/>
                          </a:solidFill>
                        </a:rPr>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狭义</a:t>
                      </a:r>
                      <a:endParaRPr lang="en-US" altLang="zh-CN" sz="1600">
                        <a:solidFill>
                          <a:schemeClr val="bg1"/>
                        </a:solidFill>
                      </a:endParaRPr>
                    </a:p>
                    <a:p>
                      <a:pPr algn="l">
                        <a:lnSpc>
                          <a:spcPct val="100000"/>
                        </a:lnSpc>
                        <a:buNone/>
                      </a:pPr>
                      <a:r>
                        <a:rPr lang="zh-CN" altLang="en-US" sz="1600">
                          <a:solidFill>
                            <a:schemeClr val="bg1"/>
                          </a:solidFill>
                        </a:rPr>
                        <a:t>主要针对软件开发、</a:t>
                      </a:r>
                      <a:r>
                        <a:rPr lang="en-US" altLang="zh-CN" sz="1600">
                          <a:solidFill>
                            <a:schemeClr val="bg1"/>
                          </a:solidFill>
                        </a:rPr>
                        <a:t>IT </a:t>
                      </a:r>
                      <a:r>
                        <a:rPr lang="zh-CN" altLang="en-US" sz="1600">
                          <a:solidFill>
                            <a:schemeClr val="bg1"/>
                          </a:solidFill>
                        </a:rPr>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广义</a:t>
                      </a:r>
                      <a:endParaRPr lang="en-US" altLang="zh-CN" sz="1600">
                        <a:solidFill>
                          <a:schemeClr val="bg1"/>
                        </a:solidFill>
                      </a:endParaRPr>
                    </a:p>
                    <a:p>
                      <a:pPr algn="l">
                        <a:lnSpc>
                          <a:spcPct val="100000"/>
                        </a:lnSpc>
                        <a:buNone/>
                      </a:pPr>
                      <a:r>
                        <a:rPr lang="zh-CN" altLang="en-US" sz="1600">
                          <a:solidFill>
                            <a:schemeClr val="bg1"/>
                          </a:solidFill>
                        </a:rPr>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怎么做软件</a:t>
                      </a:r>
                      <a:endParaRPr lang="en-US" altLang="zh-CN" sz="1600">
                        <a:solidFill>
                          <a:schemeClr val="bg1"/>
                        </a:solidFill>
                      </a:endParaRPr>
                    </a:p>
                    <a:p>
                      <a:pPr algn="l">
                        <a:lnSpc>
                          <a:spcPct val="100000"/>
                        </a:lnSpc>
                        <a:buNone/>
                      </a:pPr>
                      <a:r>
                        <a:rPr lang="zh-CN" altLang="en-US" sz="1600">
                          <a:solidFill>
                            <a:schemeClr val="bg1"/>
                          </a:solidFill>
                        </a:rPr>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怎么管项目</a:t>
                      </a:r>
                      <a:endParaRPr lang="en-US" altLang="zh-CN" sz="1600">
                        <a:solidFill>
                          <a:schemeClr val="bg1"/>
                        </a:solidFill>
                      </a:endParaRPr>
                    </a:p>
                    <a:p>
                      <a:pPr algn="l">
                        <a:lnSpc>
                          <a:spcPct val="100000"/>
                        </a:lnSpc>
                        <a:buNone/>
                      </a:pPr>
                      <a:r>
                        <a:rPr lang="zh-CN" altLang="en-US" sz="1600">
                          <a:solidFill>
                            <a:schemeClr val="bg1"/>
                          </a:solidFill>
                        </a:rPr>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solidFill>
                            <a:schemeClr val="bg1"/>
                          </a:solidFill>
                        </a:rPr>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行动导向</a:t>
                      </a:r>
                      <a:endParaRPr lang="en-US" altLang="zh-CN" sz="1600">
                        <a:solidFill>
                          <a:schemeClr val="bg1"/>
                        </a:solidFill>
                      </a:endParaRPr>
                    </a:p>
                    <a:p>
                      <a:pPr algn="l">
                        <a:lnSpc>
                          <a:spcPct val="100000"/>
                        </a:lnSpc>
                        <a:buNone/>
                      </a:pPr>
                      <a:r>
                        <a:rPr lang="zh-CN" altLang="en-US" sz="1600">
                          <a:solidFill>
                            <a:schemeClr val="bg1"/>
                          </a:solidFill>
                        </a:rPr>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思维导向</a:t>
                      </a:r>
                      <a:endParaRPr lang="en-US" altLang="zh-CN" sz="1600">
                        <a:solidFill>
                          <a:schemeClr val="bg1"/>
                        </a:solidFill>
                      </a:endParaRPr>
                    </a:p>
                    <a:p>
                      <a:pPr algn="l">
                        <a:lnSpc>
                          <a:spcPct val="100000"/>
                        </a:lnSpc>
                        <a:buNone/>
                      </a:pPr>
                      <a:r>
                        <a:rPr lang="zh-CN" altLang="en-US" sz="1600">
                          <a:solidFill>
                            <a:schemeClr val="bg1"/>
                          </a:solidFill>
                        </a:rPr>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solidFill>
                            <a:schemeClr val="bg1"/>
                          </a:solidFill>
                        </a:rPr>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隐含对立</a:t>
                      </a:r>
                      <a:endParaRPr lang="en-US" altLang="zh-CN" sz="1600">
                        <a:solidFill>
                          <a:schemeClr val="bg1"/>
                        </a:solidFill>
                      </a:endParaRPr>
                    </a:p>
                    <a:p>
                      <a:pPr algn="l">
                        <a:lnSpc>
                          <a:spcPct val="100000"/>
                        </a:lnSpc>
                        <a:buNone/>
                      </a:pPr>
                      <a:r>
                        <a:rPr lang="zh-CN" altLang="en-US" sz="1600">
                          <a:solidFill>
                            <a:schemeClr val="bg1"/>
                          </a:solidFill>
                        </a:rPr>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solidFill>
                            <a:schemeClr val="bg1"/>
                          </a:solidFill>
                        </a:rPr>
                        <a:t>包容融合</a:t>
                      </a:r>
                      <a:endParaRPr lang="en-US" altLang="zh-CN" sz="1600">
                        <a:solidFill>
                          <a:schemeClr val="bg1"/>
                        </a:solidFill>
                      </a:endParaRPr>
                    </a:p>
                    <a:p>
                      <a:pPr algn="l">
                        <a:lnSpc>
                          <a:spcPct val="100000"/>
                        </a:lnSpc>
                        <a:buNone/>
                      </a:pPr>
                      <a:r>
                        <a:rPr lang="zh-CN" altLang="en-US" sz="1600">
                          <a:solidFill>
                            <a:schemeClr val="bg1"/>
                          </a:solidFill>
                        </a:rPr>
                        <a:t>认为瀑布、敏捷、混合都是工具，视情况裁</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a:solidFill>
                  <a:schemeClr val="bg1"/>
                </a:solidFill>
              </a:rPr>
              <a:t>课后思考 </a:t>
            </a:r>
            <a:r>
              <a:rPr lang="en-US" altLang="zh-CN">
                <a:solidFill>
                  <a:schemeClr val="bg1"/>
                </a:solidFill>
              </a:rPr>
              <a:t>Homework</a:t>
            </a:r>
            <a:endParaRPr lang="zh-CN" altLang="en-US">
              <a:solidFill>
                <a:schemeClr val="bg1"/>
              </a:solidFill>
            </a:endParaRPr>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3877986" cy="338554"/>
          </a:xfrm>
          <a:prstGeom prst="rect">
            <a:avLst/>
          </a:prstGeom>
          <a:noFill/>
        </p:spPr>
        <p:txBody>
          <a:bodyPr wrap="none" rtlCol="0">
            <a:spAutoFit/>
          </a:bodyPr>
          <a:lstStyle/>
          <a:p>
            <a:pPr algn="ctr"/>
            <a:r>
              <a:rPr lang="zh-CN" altLang="en-US" sz="1600">
                <a:solidFill>
                  <a:schemeClr val="bg1"/>
                </a:solidFill>
              </a:rPr>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278857"/>
            <a:ext cx="4424219" cy="2300287"/>
          </a:xfrm>
        </p:spPr>
        <p:txBody>
          <a:bodyPr>
            <a:normAutofit lnSpcReduction="10000"/>
          </a:bodyPr>
          <a:lstStyle/>
          <a:p>
            <a:pPr lvl="0"/>
            <a:r>
              <a:rPr lang="zh-CN" altLang="zh-CN"/>
              <a:t>项目评估</a:t>
            </a:r>
          </a:p>
          <a:p>
            <a:pPr lvl="0"/>
            <a:r>
              <a:rPr lang="zh-CN" altLang="zh-CN"/>
              <a:t>项目立项</a:t>
            </a:r>
          </a:p>
          <a:p>
            <a:pPr lvl="0"/>
            <a:r>
              <a:rPr lang="zh-CN" altLang="zh-CN"/>
              <a:t>项目招投标</a:t>
            </a:r>
          </a:p>
          <a:p>
            <a:pPr lvl="0"/>
            <a:r>
              <a:rPr lang="zh-CN" altLang="zh-CN"/>
              <a:t>项目章程</a:t>
            </a:r>
          </a:p>
          <a:p>
            <a:pPr lvl="0"/>
            <a:r>
              <a:rPr lang="zh-CN" altLang="zh-CN"/>
              <a:t>软件项目生存期模型</a:t>
            </a:r>
            <a:endParaRPr lang="en-US" altLang="zh-CN"/>
          </a:p>
          <a:p>
            <a:pPr lvl="0"/>
            <a:r>
              <a:rPr lang="en-US" altLang="zh-CN"/>
              <a:t>Scrum</a:t>
            </a:r>
            <a:endParaRPr lang="zh-CN" altLang="zh-CN"/>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bg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a:t>
            </a:r>
            <a:r>
              <a:rPr lang="en-US" altLang="zh-CN" baseline="-25000" err="1"/>
              <a:t>t</a:t>
            </a:r>
            <a:r>
              <a:rPr lang="zh-CN" altLang="en-US"/>
              <a:t>：第</a:t>
            </a:r>
            <a:r>
              <a:rPr lang="en-US" altLang="zh-CN"/>
              <a:t>t</a:t>
            </a:r>
            <a:r>
              <a:rPr lang="zh-CN" altLang="en-US"/>
              <a:t>年的现金流入量</a:t>
            </a:r>
            <a:endParaRPr lang="en-US" altLang="zh-CN"/>
          </a:p>
          <a:p>
            <a:r>
              <a:rPr lang="en-US" altLang="zh-CN" err="1"/>
              <a:t>Output</a:t>
            </a:r>
            <a:r>
              <a:rPr lang="en-US" altLang="zh-CN" baseline="-25000" err="1"/>
              <a:t>t</a:t>
            </a:r>
            <a:r>
              <a:rPr lang="zh-CN" altLang="en-US"/>
              <a:t>：第</a:t>
            </a:r>
            <a:r>
              <a:rPr lang="en-US" altLang="zh-CN"/>
              <a:t>t</a:t>
            </a:r>
            <a:r>
              <a:rPr lang="zh-CN" altLang="en-US"/>
              <a:t>年的现金流出量</a:t>
            </a:r>
            <a:endParaRPr lang="en-US" altLang="zh-CN"/>
          </a:p>
          <a:p>
            <a:r>
              <a:rPr lang="en-US" altLang="zh-CN" err="1"/>
              <a:t>CF</a:t>
            </a:r>
            <a:r>
              <a:rPr lang="en-US" altLang="zh-CN" baseline="-25000" err="1"/>
              <a:t>t</a:t>
            </a:r>
            <a:r>
              <a:rPr lang="zh-CN" altLang="en-US"/>
              <a:t>：</a:t>
            </a:r>
            <a:r>
              <a:rPr lang="en-US" altLang="zh-CN"/>
              <a:t>Current Flow at time t</a:t>
            </a:r>
            <a:r>
              <a:rPr lang="zh-CN" altLang="en-US"/>
              <a:t>，当前净现金流 </a:t>
            </a:r>
            <a:r>
              <a:rPr lang="en-US" altLang="zh-CN"/>
              <a:t>= I</a:t>
            </a:r>
            <a:r>
              <a:rPr lang="en-US" altLang="zh-CN" baseline="-25000"/>
              <a:t>t</a:t>
            </a:r>
            <a:r>
              <a:rPr lang="en-US" altLang="zh-CN"/>
              <a:t> - O</a:t>
            </a:r>
            <a:r>
              <a:rPr lang="en-US" altLang="zh-CN" baseline="-25000"/>
              <a:t>t</a:t>
            </a:r>
            <a:endParaRPr lang="en-US" altLang="zh-CN"/>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a:t>例</a:t>
            </a:r>
            <a:r>
              <a:rPr lang="en-US" altLang="zh-CN"/>
              <a:t>1. </a:t>
            </a:r>
            <a:r>
              <a:rPr lang="zh-CN" altLang="en-US"/>
              <a:t>某软件公司准备投标某项目，估计成本是</a:t>
            </a:r>
            <a:r>
              <a:rPr lang="en-US" altLang="zh-CN"/>
              <a:t>75.95</a:t>
            </a:r>
            <a:r>
              <a:rPr lang="zh-CN" altLang="en-US"/>
              <a:t>万，项目的合同金额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，请计算</a:t>
            </a:r>
            <a:r>
              <a:rPr lang="en-US" altLang="zh-CN"/>
              <a:t>NPV</a:t>
            </a:r>
            <a:r>
              <a:rPr lang="zh-CN" altLang="en-US"/>
              <a:t>。</a:t>
            </a:r>
            <a:endParaRPr lang="en-US" altLang="zh-CN"/>
          </a:p>
          <a:p>
            <a:endParaRPr lang="zh-CN" altLang="en-US"/>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=−25.95+0+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3779533773"/>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75.95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-25.95</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r>
                            <a:rPr lang="en-US" altLang="zh-CN" b="0" i="1" smtClean="0">
                              <a:solidFill>
                                <a:schemeClr val="bg1"/>
                              </a:solidFill>
                              <a:latin typeface="Cambria Math" panose="02040503050406030204" pitchFamily="18" charset="0"/>
                            </a:rPr>
                            <m:t>=50+0+</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50</m:t>
                              </m:r>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(1+8%)</m:t>
                                  </m:r>
                                </m:e>
                                <m:sup>
                                  <m:r>
                                    <a:rPr lang="en-US" altLang="zh-CN" b="0" i="1" smtClean="0">
                                      <a:solidFill>
                                        <a:schemeClr val="bg1"/>
                                      </a:solidFill>
                                      <a:latin typeface="Cambria Math" panose="02040503050406030204" pitchFamily="18" charset="0"/>
                                    </a:rPr>
                                    <m:t>2</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2469951945"/>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600">
                          <a:solidFill>
                            <a:schemeClr val="bg1"/>
                          </a:solidFill>
                        </a:rPr>
                        <a:t>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a:t>
                      </a:r>
                      <a:r>
                        <a:rPr lang="zh-CN" altLang="en-US" sz="160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Output</a:t>
                      </a:r>
                      <a:r>
                        <a:rPr lang="zh-CN" altLang="en-US" sz="160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a:solidFill>
                            <a:schemeClr val="bg1"/>
                          </a:solidFill>
                        </a:rPr>
                        <a:t>Input-Output</a:t>
                      </a:r>
                      <a:r>
                        <a:rPr lang="zh-CN" altLang="en-US" sz="160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altLang="zh-CN" sz="1600" err="1">
                          <a:solidFill>
                            <a:schemeClr val="bg1"/>
                          </a:solidFill>
                        </a:rPr>
                        <a:t>NPVt</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63449487"/>
                  </a:ext>
                </a:extLst>
              </a:tr>
              <a:tr h="370840">
                <a:tc>
                  <a:txBody>
                    <a:bodyPr/>
                    <a:lstStyle/>
                    <a:p>
                      <a:pPr algn="ctr"/>
                      <a:r>
                        <a:rPr lang="en-US" altLang="zh-CN" sz="1600">
                          <a:solidFill>
                            <a:schemeClr val="bg1"/>
                          </a:solidFill>
                        </a:rPr>
                        <a:t>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600">
                          <a:solidFill>
                            <a:schemeClr val="bg1"/>
                          </a:solidFill>
                        </a:rPr>
                        <a:t>t1</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600">
                          <a:solidFill>
                            <a:schemeClr val="bg1"/>
                          </a:solidFill>
                        </a:rPr>
                        <a:t>t2</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600">
                          <a:solidFill>
                            <a:schemeClr val="bg1"/>
                          </a:solidFill>
                        </a:rPr>
                        <a:t>50/(1+8%)</a:t>
                      </a:r>
                      <a:r>
                        <a:rPr lang="en-US" altLang="zh-CN" sz="1600" baseline="30000">
                          <a:solidFill>
                            <a:schemeClr val="bg1"/>
                          </a:solidFill>
                        </a:rPr>
                        <a:t>2</a:t>
                      </a:r>
                      <a:endParaRPr lang="zh-CN" altLang="en-US" sz="1600" baseline="300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7" name="内容占位符 6">
            <a:extLst>
              <a:ext uri="{FF2B5EF4-FFF2-40B4-BE49-F238E27FC236}">
                <a16:creationId xmlns:a16="http://schemas.microsoft.com/office/drawing/2014/main" id="{C8FEFA43-E12C-C58B-C98B-B68F488745B2}"/>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rgbClr val="FFFF00"/>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rgbClr val="FFFF00"/>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2" name="内容占位符 11">
            <a:extLst>
              <a:ext uri="{FF2B5EF4-FFF2-40B4-BE49-F238E27FC236}">
                <a16:creationId xmlns:a16="http://schemas.microsoft.com/office/drawing/2014/main" id="{8EB7501B-1CF1-2FA1-DD54-56B3D18C7149}"/>
              </a:ext>
            </a:extLst>
          </p:cNvPr>
          <p:cNvSpPr>
            <a:spLocks noGrp="1"/>
          </p:cNvSpPr>
          <p:nvPr>
            <p:ph idx="1"/>
          </p:nvPr>
        </p:nvSpPr>
        <p:spPr/>
        <p:txBody>
          <a:bodyPr/>
          <a:lstStyle/>
          <a:p>
            <a:endParaRPr lang="zh-CN" altLang="en-US"/>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7" name="矩形 36">
            <a:extLst>
              <a:ext uri="{FF2B5EF4-FFF2-40B4-BE49-F238E27FC236}">
                <a16:creationId xmlns:a16="http://schemas.microsoft.com/office/drawing/2014/main" id="{86C7E55C-C8D4-2E19-30EF-1EA4579E41BC}"/>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A0B2C0AD-E9A6-79E2-7980-075E6DBD287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F014A96A-A9D0-4776-1A41-DA034288CC6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0204B04F-E7A3-123B-E130-991F43B2B8D4}"/>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5984668C-D22C-6FAE-37E0-4881118DE810}"/>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6122B9FD-FEF2-8C1E-64FD-B94972F7B240}"/>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A176277-64EE-A302-E01D-41FAD753501C}"/>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880E67-CC99-E37D-316C-13D9CC8E6A50}"/>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76E78001-A0B5-66B7-2104-4E8AD6CA4884}"/>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9DFF6207-8A4A-A3A1-FA3B-06D12703F828}"/>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877C52CE-8C13-8BFE-86C5-565E8278E899}"/>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2375D9C5-3B0A-D45A-4452-67B579EB97A0}"/>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DC3B10AE-A4DB-A059-D08C-B4DCCBDCBB59}"/>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7D0D6402-8F44-37F2-9B89-BF43F3C9DBB7}"/>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p:txBody>
          <a:bodyPr/>
          <a:lstStyle/>
          <a:p>
            <a:r>
              <a:rPr lang="en-US" altLang="zh-CN"/>
              <a:t>Bid Proposal</a:t>
            </a:r>
            <a:endParaRPr lang="zh-CN" altLang="en-US"/>
          </a:p>
        </p:txBody>
      </p:sp>
      <p:sp>
        <p:nvSpPr>
          <p:cNvPr id="37" name="矩形 36">
            <a:extLst>
              <a:ext uri="{FF2B5EF4-FFF2-40B4-BE49-F238E27FC236}">
                <a16:creationId xmlns:a16="http://schemas.microsoft.com/office/drawing/2014/main" id="{9E0E7F3A-8AB7-09D8-9CDE-F5B8620BB2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437C986-D531-5575-DFD7-214384B6775A}"/>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99D67175-ED8A-7CFB-9B4D-78F30F2BE8AF}"/>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88ACF7ED-045E-15F2-EE94-211B3DE8964D}"/>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968242A0-BBAD-ED1C-7853-8458C1C52EF5}"/>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73364705-7DB5-F6A6-8975-7BCB27BD6D4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E92EF0A-B00B-4F1A-F28D-1315FE89CC4A}"/>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F08A8B5E-AE39-64E9-51B1-1C9010517F1E}"/>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E53176CD-5248-6B33-FDE8-CF95533D46C9}"/>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89965388-E1DD-F61D-1B76-102B3702504B}"/>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B17C646A-233F-E47F-15D5-05E8CF025481}"/>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9C2AA7FB-41CA-E9BE-DAEA-903F0789CD9F}"/>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0A4FC6E7-24B2-4B25-5E87-B67B47242C04}"/>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8BEDACC2-765A-066A-CFB2-47BEA34869B1}"/>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p:txBody>
          <a:bodyPr/>
          <a:lstStyle/>
          <a:p>
            <a:r>
              <a:rPr lang="en-US" altLang="zh-CN"/>
              <a:t>Contract</a:t>
            </a:r>
            <a:endParaRPr lang="zh-CN" altLang="en-US"/>
          </a:p>
        </p:txBody>
      </p:sp>
      <p:sp>
        <p:nvSpPr>
          <p:cNvPr id="37" name="矩形 36">
            <a:extLst>
              <a:ext uri="{FF2B5EF4-FFF2-40B4-BE49-F238E27FC236}">
                <a16:creationId xmlns:a16="http://schemas.microsoft.com/office/drawing/2014/main" id="{06D54BE6-FC2D-DB41-BF2E-6BF50CF7EFCE}"/>
              </a:ext>
            </a:extLst>
          </p:cNvPr>
          <p:cNvSpPr/>
          <p:nvPr/>
        </p:nvSpPr>
        <p:spPr>
          <a:xfrm>
            <a:off x="7414350" y="23060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甲方招标书定义</a:t>
            </a:r>
          </a:p>
        </p:txBody>
      </p:sp>
      <p:sp>
        <p:nvSpPr>
          <p:cNvPr id="38" name="矩形 37">
            <a:extLst>
              <a:ext uri="{FF2B5EF4-FFF2-40B4-BE49-F238E27FC236}">
                <a16:creationId xmlns:a16="http://schemas.microsoft.com/office/drawing/2014/main" id="{7CC78747-30DC-BCB2-B38A-0EF28A8D4325}"/>
              </a:ext>
            </a:extLst>
          </p:cNvPr>
          <p:cNvSpPr/>
          <p:nvPr/>
        </p:nvSpPr>
        <p:spPr>
          <a:xfrm>
            <a:off x="7414350" y="29346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乙方分析项目</a:t>
            </a:r>
          </a:p>
        </p:txBody>
      </p:sp>
      <p:sp>
        <p:nvSpPr>
          <p:cNvPr id="39" name="矩形 38">
            <a:extLst>
              <a:ext uri="{FF2B5EF4-FFF2-40B4-BE49-F238E27FC236}">
                <a16:creationId xmlns:a16="http://schemas.microsoft.com/office/drawing/2014/main" id="{CFF47561-F270-A25E-4360-3F582DCACF1C}"/>
              </a:ext>
            </a:extLst>
          </p:cNvPr>
          <p:cNvSpPr/>
          <p:nvPr/>
        </p:nvSpPr>
        <p:spPr>
          <a:xfrm>
            <a:off x="7414350" y="356332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招标与竞标</a:t>
            </a:r>
          </a:p>
        </p:txBody>
      </p:sp>
      <p:sp>
        <p:nvSpPr>
          <p:cNvPr id="40" name="矩形 39">
            <a:extLst>
              <a:ext uri="{FF2B5EF4-FFF2-40B4-BE49-F238E27FC236}">
                <a16:creationId xmlns:a16="http://schemas.microsoft.com/office/drawing/2014/main" id="{6393CB74-749A-A030-875A-01ADEA04AAAB}"/>
              </a:ext>
            </a:extLst>
          </p:cNvPr>
          <p:cNvSpPr/>
          <p:nvPr/>
        </p:nvSpPr>
        <p:spPr>
          <a:xfrm>
            <a:off x="7414350" y="4191975"/>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合同签署</a:t>
            </a:r>
          </a:p>
        </p:txBody>
      </p:sp>
      <p:cxnSp>
        <p:nvCxnSpPr>
          <p:cNvPr id="41" name="直接箭头连接符 40">
            <a:extLst>
              <a:ext uri="{FF2B5EF4-FFF2-40B4-BE49-F238E27FC236}">
                <a16:creationId xmlns:a16="http://schemas.microsoft.com/office/drawing/2014/main" id="{EDB5DB7D-E6FA-C19D-A21E-433BB046C172}"/>
              </a:ext>
            </a:extLst>
          </p:cNvPr>
          <p:cNvCxnSpPr>
            <a:cxnSpLocks/>
            <a:stCxn id="37" idx="2"/>
          </p:cNvCxnSpPr>
          <p:nvPr/>
        </p:nvCxnSpPr>
        <p:spPr>
          <a:xfrm>
            <a:off x="8134350" y="2666025"/>
            <a:ext cx="0" cy="30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5114A4F8-6D68-03E2-8EBA-E788776E4D5B}"/>
              </a:ext>
            </a:extLst>
          </p:cNvPr>
          <p:cNvCxnSpPr>
            <a:stCxn id="38" idx="2"/>
          </p:cNvCxnSpPr>
          <p:nvPr/>
        </p:nvCxnSpPr>
        <p:spPr>
          <a:xfrm>
            <a:off x="8134350" y="329467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E847F4F5-5569-D90A-0E59-650E8F6195F1}"/>
              </a:ext>
            </a:extLst>
          </p:cNvPr>
          <p:cNvCxnSpPr>
            <a:stCxn id="39" idx="2"/>
            <a:endCxn id="40" idx="0"/>
          </p:cNvCxnSpPr>
          <p:nvPr/>
        </p:nvCxnSpPr>
        <p:spPr>
          <a:xfrm>
            <a:off x="8134350" y="3923325"/>
            <a:ext cx="0" cy="2686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矩形: 圆角 43">
            <a:extLst>
              <a:ext uri="{FF2B5EF4-FFF2-40B4-BE49-F238E27FC236}">
                <a16:creationId xmlns:a16="http://schemas.microsoft.com/office/drawing/2014/main" id="{8D206233-023E-5266-A3C3-DF1B5AC266FB}"/>
              </a:ext>
            </a:extLst>
          </p:cNvPr>
          <p:cNvSpPr/>
          <p:nvPr/>
        </p:nvSpPr>
        <p:spPr>
          <a:xfrm>
            <a:off x="93927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45" name="矩形: 圆角 44">
            <a:extLst>
              <a:ext uri="{FF2B5EF4-FFF2-40B4-BE49-F238E27FC236}">
                <a16:creationId xmlns:a16="http://schemas.microsoft.com/office/drawing/2014/main" id="{BC33C3BD-A907-1A84-3345-D602BEDDB151}"/>
              </a:ext>
            </a:extLst>
          </p:cNvPr>
          <p:cNvSpPr/>
          <p:nvPr/>
        </p:nvSpPr>
        <p:spPr>
          <a:xfrm>
            <a:off x="93927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46" name="直接箭头连接符 45">
            <a:extLst>
              <a:ext uri="{FF2B5EF4-FFF2-40B4-BE49-F238E27FC236}">
                <a16:creationId xmlns:a16="http://schemas.microsoft.com/office/drawing/2014/main" id="{3A97C8DE-8FB4-117A-14D1-2993EE6841A9}"/>
              </a:ext>
            </a:extLst>
          </p:cNvPr>
          <p:cNvCxnSpPr>
            <a:cxnSpLocks/>
            <a:stCxn id="37" idx="3"/>
          </p:cNvCxnSpPr>
          <p:nvPr/>
        </p:nvCxnSpPr>
        <p:spPr>
          <a:xfrm>
            <a:off x="8854350" y="2486025"/>
            <a:ext cx="5383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58A9D0B7-C642-F416-E468-8CDC39476EDA}"/>
              </a:ext>
            </a:extLst>
          </p:cNvPr>
          <p:cNvCxnSpPr>
            <a:stCxn id="38" idx="3"/>
          </p:cNvCxnSpPr>
          <p:nvPr/>
        </p:nvCxnSpPr>
        <p:spPr>
          <a:xfrm>
            <a:off x="8854350" y="31146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8" name="矩形: 圆角 47">
            <a:extLst>
              <a:ext uri="{FF2B5EF4-FFF2-40B4-BE49-F238E27FC236}">
                <a16:creationId xmlns:a16="http://schemas.microsoft.com/office/drawing/2014/main" id="{83D82CC5-C8CB-5EB0-DBED-15DD95669AB6}"/>
              </a:ext>
            </a:extLst>
          </p:cNvPr>
          <p:cNvSpPr/>
          <p:nvPr/>
        </p:nvSpPr>
        <p:spPr>
          <a:xfrm>
            <a:off x="93927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49" name="直接箭头连接符 48">
            <a:extLst>
              <a:ext uri="{FF2B5EF4-FFF2-40B4-BE49-F238E27FC236}">
                <a16:creationId xmlns:a16="http://schemas.microsoft.com/office/drawing/2014/main" id="{A4768AB0-635E-63EF-66A3-4A5F8DE46758}"/>
              </a:ext>
            </a:extLst>
          </p:cNvPr>
          <p:cNvCxnSpPr>
            <a:stCxn id="40" idx="3"/>
          </p:cNvCxnSpPr>
          <p:nvPr/>
        </p:nvCxnSpPr>
        <p:spPr>
          <a:xfrm>
            <a:off x="8854350" y="4371975"/>
            <a:ext cx="5383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17A2FF1B-5D6C-4550-3F53-8DDE875BB26A}"/>
              </a:ext>
            </a:extLst>
          </p:cNvPr>
          <p:cNvSpPr txBox="1"/>
          <p:nvPr/>
        </p:nvSpPr>
        <p:spPr>
          <a:xfrm>
            <a:off x="9392737" y="4626987"/>
            <a:ext cx="2097049" cy="307777"/>
          </a:xfrm>
          <a:prstGeom prst="rect">
            <a:avLst/>
          </a:prstGeom>
          <a:noFill/>
        </p:spPr>
        <p:txBody>
          <a:bodyPr wrap="none" rtlCol="0">
            <a:spAutoFit/>
          </a:bodyPr>
          <a:lstStyle/>
          <a:p>
            <a:r>
              <a:rPr lang="en-US" altLang="zh-CN" sz="1400">
                <a:solidFill>
                  <a:schemeClr val="bg1"/>
                </a:solidFill>
              </a:rPr>
              <a:t>+ </a:t>
            </a:r>
            <a:r>
              <a:rPr lang="zh-CN" altLang="en-US" sz="1400">
                <a:solidFill>
                  <a:schemeClr val="bg1"/>
                </a:solidFill>
              </a:rPr>
              <a:t>工作任务说明书 </a:t>
            </a:r>
            <a:r>
              <a:rPr lang="en-US" altLang="zh-CN" sz="1400">
                <a:solidFill>
                  <a:schemeClr val="bg1"/>
                </a:solidFill>
              </a:rPr>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687404078"/>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a:solidFill>
                            <a:schemeClr val="bg1"/>
                          </a:solidFill>
                        </a:rPr>
                        <a:t>Items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Sample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21874666"/>
                  </a:ext>
                </a:extLst>
              </a:tr>
              <a:tr h="126976">
                <a:tc>
                  <a:txBody>
                    <a:bodyPr/>
                    <a:lstStyle/>
                    <a:p>
                      <a:pPr algn="l">
                        <a:buNone/>
                      </a:pPr>
                      <a:r>
                        <a:rPr lang="zh-CN" altLang="en-US" sz="1600">
                          <a:solidFill>
                            <a:schemeClr val="bg1"/>
                          </a:solidFill>
                        </a:rPr>
                        <a:t>技术风险 </a:t>
                      </a:r>
                      <a:r>
                        <a:rPr lang="en-US" altLang="zh-CN" sz="1600">
                          <a:solidFill>
                            <a:schemeClr val="bg1"/>
                          </a:solidFill>
                        </a:rPr>
                        <a:t>Technology</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尚未在大规模数据下验证，过渡依赖热门</a:t>
                      </a:r>
                      <a:r>
                        <a:rPr lang="en-US" altLang="zh-CN" sz="1600">
                          <a:solidFill>
                            <a:schemeClr val="bg1"/>
                          </a:solidFill>
                        </a:rPr>
                        <a:t>AI</a:t>
                      </a:r>
                      <a:r>
                        <a:rPr lang="zh-CN" altLang="en-US" sz="1600">
                          <a:solidFill>
                            <a:schemeClr val="bg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a:solidFill>
                            <a:schemeClr val="bg1"/>
                          </a:solidFill>
                        </a:rPr>
                        <a:t>市场</a:t>
                      </a:r>
                      <a:r>
                        <a:rPr lang="en-US" altLang="zh-CN" sz="1600">
                          <a:solidFill>
                            <a:schemeClr val="bg1"/>
                          </a:solidFill>
                        </a:rPr>
                        <a:t>/</a:t>
                      </a:r>
                      <a:r>
                        <a:rPr lang="zh-CN" altLang="en-US" sz="1600">
                          <a:solidFill>
                            <a:schemeClr val="bg1"/>
                          </a:solidFill>
                        </a:rPr>
                        <a:t>商业风险 </a:t>
                      </a:r>
                      <a:r>
                        <a:rPr lang="en-US" altLang="zh-CN" sz="1600">
                          <a:solidFill>
                            <a:schemeClr val="bg1"/>
                          </a:solidFill>
                        </a:rPr>
                        <a:t>Market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竞争对手可能在项目上线前</a:t>
                      </a:r>
                      <a:r>
                        <a:rPr lang="en-US" altLang="zh-CN" sz="1600">
                          <a:solidFill>
                            <a:schemeClr val="bg1"/>
                          </a:solidFill>
                        </a:rPr>
                        <a:t>3</a:t>
                      </a:r>
                      <a:r>
                        <a:rPr lang="zh-CN" altLang="en-US" sz="1600">
                          <a:solidFill>
                            <a:schemeClr val="bg1"/>
                          </a:solidFill>
                        </a:rPr>
                        <a:t>个月发布同类低价产品，导致市场份额预期下降</a:t>
                      </a:r>
                      <a:r>
                        <a:rPr lang="en-US" altLang="zh-CN" sz="1600">
                          <a:solidFill>
                            <a:schemeClr val="bg1"/>
                          </a:solidFill>
                        </a:rPr>
                        <a:t>50%</a:t>
                      </a:r>
                      <a:r>
                        <a:rPr lang="zh-CN" altLang="en-US"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bg1"/>
                          </a:solidFill>
                        </a:rPr>
                        <a:t>资源风险 </a:t>
                      </a:r>
                      <a:r>
                        <a:rPr lang="en-US" altLang="zh-CN" sz="1600">
                          <a:solidFill>
                            <a:schemeClr val="bg1"/>
                          </a:solidFill>
                        </a:rPr>
                        <a:t>Resource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bg1"/>
                          </a:solidFill>
                        </a:rPr>
                        <a:t>合规</a:t>
                      </a:r>
                      <a:r>
                        <a:rPr lang="en-US" altLang="zh-CN" sz="1600">
                          <a:solidFill>
                            <a:schemeClr val="bg1"/>
                          </a:solidFill>
                        </a:rPr>
                        <a:t>/</a:t>
                      </a:r>
                      <a:r>
                        <a:rPr lang="zh-CN" altLang="en-US" sz="1600">
                          <a:solidFill>
                            <a:schemeClr val="bg1"/>
                          </a:solidFill>
                        </a:rPr>
                        <a:t>法律风险 </a:t>
                      </a:r>
                      <a:r>
                        <a:rPr lang="en-US" altLang="zh-CN" sz="1600">
                          <a:solidFill>
                            <a:schemeClr val="bg1"/>
                          </a:solidFill>
                        </a:rPr>
                        <a:t>Compliance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bg1"/>
                          </a:solidFill>
                        </a:rPr>
                        <a:t>外部依赖风险 </a:t>
                      </a:r>
                      <a:r>
                        <a:rPr lang="en-US" altLang="zh-CN" sz="1600">
                          <a:solidFill>
                            <a:schemeClr val="bg1"/>
                          </a:solidFill>
                        </a:rPr>
                        <a:t>Dependence</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项目依赖第三方供应商的</a:t>
                      </a:r>
                      <a:r>
                        <a:rPr lang="en-US" altLang="zh-CN" sz="1600">
                          <a:solidFill>
                            <a:schemeClr val="bg1"/>
                          </a:solidFill>
                        </a:rPr>
                        <a:t>API</a:t>
                      </a:r>
                      <a:r>
                        <a:rPr lang="zh-CN" altLang="en-US" sz="1600">
                          <a:solidFill>
                            <a:schemeClr val="bg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3788224886"/>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55753585"/>
                  </a:ext>
                </a:extLst>
              </a:tr>
              <a:tr h="0">
                <a:tc>
                  <a:txBody>
                    <a:bodyPr/>
                    <a:lstStyle/>
                    <a:p>
                      <a:pPr algn="l">
                        <a:buNone/>
                      </a:pPr>
                      <a:r>
                        <a:rPr lang="zh-CN" altLang="en-US" sz="1600">
                          <a:solidFill>
                            <a:schemeClr val="bg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bg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医疗项目未在预计时间内获得药监局</a:t>
                      </a:r>
                      <a:r>
                        <a:rPr lang="en-US" altLang="zh-CN" sz="1600">
                          <a:solidFill>
                            <a:schemeClr val="bg1"/>
                          </a:solidFill>
                        </a:rPr>
                        <a:t>(NMPA)</a:t>
                      </a:r>
                      <a:r>
                        <a:rPr lang="zh-CN" altLang="en-US" sz="1600">
                          <a:solidFill>
                            <a:schemeClr val="bg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bg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bg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bg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bg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33105777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假设条件 </a:t>
                      </a:r>
                      <a:r>
                        <a:rPr lang="en-US" sz="160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制约因素 </a:t>
                      </a:r>
                      <a:r>
                        <a:rPr lang="en-US" sz="160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287775788"/>
                  </a:ext>
                </a:extLst>
              </a:tr>
              <a:tr h="0">
                <a:tc>
                  <a:txBody>
                    <a:bodyPr/>
                    <a:lstStyle/>
                    <a:p>
                      <a:pPr algn="l">
                        <a:buNone/>
                      </a:pPr>
                      <a:r>
                        <a:rPr lang="zh-CN" altLang="en-US" sz="1600">
                          <a:solidFill>
                            <a:schemeClr val="bg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a:solidFill>
                            <a:schemeClr val="bg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会变成风险 </a:t>
                      </a:r>
                      <a:r>
                        <a:rPr lang="en-US" altLang="zh-CN" sz="1600">
                          <a:solidFill>
                            <a:schemeClr val="bg1"/>
                          </a:solidFill>
                        </a:rPr>
                        <a:t>(</a:t>
                      </a:r>
                      <a:r>
                        <a:rPr lang="en-US" sz="1600">
                          <a:solidFill>
                            <a:schemeClr val="bg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bg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我们假定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我们必须</a:t>
                      </a:r>
                      <a:r>
                        <a:rPr lang="en-US" altLang="zh-CN" sz="1600">
                          <a:solidFill>
                            <a:schemeClr val="bg1"/>
                          </a:solidFill>
                        </a:rPr>
                        <a:t>...” / “</a:t>
                      </a:r>
                      <a:r>
                        <a:rPr lang="zh-CN" altLang="en-US" sz="1600">
                          <a:solidFill>
                            <a:schemeClr val="bg1"/>
                          </a:solidFill>
                        </a:rPr>
                        <a:t>不能超过</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bg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48538380"/>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19983">
                <a:tc>
                  <a:txBody>
                    <a:bodyPr/>
                    <a:lstStyle/>
                    <a:p>
                      <a:pPr>
                        <a:buNone/>
                      </a:pPr>
                      <a:r>
                        <a:rPr lang="zh-CN" altLang="en-US" sz="1600">
                          <a:solidFill>
                            <a:schemeClr val="bg1"/>
                          </a:solidFill>
                        </a:rPr>
                        <a:t>技术项目管理</a:t>
                      </a:r>
                      <a:endParaRPr lang="en-US" altLang="zh-CN" sz="1600">
                        <a:solidFill>
                          <a:schemeClr val="bg1"/>
                        </a:solidFill>
                      </a:endParaRPr>
                    </a:p>
                    <a:p>
                      <a:pPr>
                        <a:buNone/>
                      </a:pPr>
                      <a:r>
                        <a:rPr lang="en-US" altLang="zh-CN" sz="1600">
                          <a:solidFill>
                            <a:schemeClr val="bg1"/>
                          </a:solidFill>
                        </a:rPr>
                        <a:t>Technical Project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与项目、项目集和项目组合管理特定领域相关的知识、技能和行为</a:t>
                      </a:r>
                      <a:endParaRPr lang="en-US" altLang="zh-CN" sz="1600">
                        <a:solidFill>
                          <a:schemeClr val="bg1"/>
                        </a:solidFill>
                      </a:endParaRPr>
                    </a:p>
                    <a:p>
                      <a:pPr>
                        <a:buNone/>
                      </a:pPr>
                      <a:r>
                        <a:rPr lang="zh-CN" altLang="en-US" sz="1600">
                          <a:solidFill>
                            <a:schemeClr val="bg1"/>
                          </a:solidFill>
                        </a:rPr>
                        <a:t>即执行你岗位</a:t>
                      </a:r>
                      <a:r>
                        <a:rPr lang="en-US" altLang="zh-CN" sz="1600">
                          <a:solidFill>
                            <a:schemeClr val="bg1"/>
                          </a:solidFill>
                        </a:rPr>
                        <a:t>/</a:t>
                      </a:r>
                      <a:r>
                        <a:rPr lang="zh-CN" altLang="en-US" sz="1600">
                          <a:solidFill>
                            <a:schemeClr val="bg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a:solidFill>
                            <a:schemeClr val="bg1"/>
                          </a:solidFill>
                        </a:rPr>
                        <a:t>领导力</a:t>
                      </a:r>
                      <a:endParaRPr lang="en-US" altLang="zh-CN" sz="1600">
                        <a:solidFill>
                          <a:schemeClr val="bg1"/>
                        </a:solidFill>
                      </a:endParaRPr>
                    </a:p>
                    <a:p>
                      <a:pPr>
                        <a:buNone/>
                      </a:pPr>
                      <a:r>
                        <a:rPr lang="en-US" altLang="zh-CN" sz="1600">
                          <a:solidFill>
                            <a:schemeClr val="bg1"/>
                          </a:solidFill>
                        </a:rPr>
                        <a:t>Leadership</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涉及引导、激励和</a:t>
                      </a:r>
                      <a:r>
                        <a:rPr lang="en-US" altLang="zh-CN" sz="1600">
                          <a:solidFill>
                            <a:schemeClr val="bg1"/>
                          </a:solidFill>
                        </a:rPr>
                        <a:t>/</a:t>
                      </a:r>
                      <a:r>
                        <a:rPr lang="zh-CN" altLang="en-US" sz="1600">
                          <a:solidFill>
                            <a:schemeClr val="bg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bg1"/>
                          </a:solidFill>
                        </a:rPr>
                        <a:t>战略与商业管理</a:t>
                      </a:r>
                      <a:endParaRPr lang="en-US" altLang="zh-CN" sz="1600">
                        <a:solidFill>
                          <a:schemeClr val="bg1"/>
                        </a:solidFill>
                      </a:endParaRPr>
                    </a:p>
                    <a:p>
                      <a:pPr>
                        <a:buNone/>
                      </a:pPr>
                      <a:r>
                        <a:rPr lang="en-US" altLang="zh-CN" sz="1600">
                          <a:solidFill>
                            <a:schemeClr val="bg1"/>
                          </a:solidFill>
                        </a:rPr>
                        <a:t>Strategic and Business Management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对行业</a:t>
                      </a:r>
                      <a:r>
                        <a:rPr lang="en-US" altLang="zh-CN" sz="1600">
                          <a:solidFill>
                            <a:schemeClr val="bg1"/>
                          </a:solidFill>
                        </a:rPr>
                        <a:t>/</a:t>
                      </a:r>
                      <a:r>
                        <a:rPr lang="zh-CN" altLang="en-US" sz="1600">
                          <a:solidFill>
                            <a:schemeClr val="bg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3899758958"/>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129582857"/>
                  </a:ext>
                </a:extLst>
              </a:tr>
              <a:tr h="159506">
                <a:tc>
                  <a:txBody>
                    <a:bodyPr/>
                    <a:lstStyle/>
                    <a:p>
                      <a:pPr>
                        <a:buNone/>
                      </a:pPr>
                      <a:r>
                        <a:rPr lang="zh-CN" altLang="en-US" sz="1600">
                          <a:solidFill>
                            <a:schemeClr val="bg1"/>
                          </a:solidFill>
                        </a:rPr>
                        <a:t>工作方式</a:t>
                      </a:r>
                      <a:endParaRPr lang="en-US" altLang="zh-CN" sz="1600">
                        <a:solidFill>
                          <a:schemeClr val="bg1"/>
                        </a:solidFill>
                      </a:endParaRPr>
                    </a:p>
                    <a:p>
                      <a:pPr>
                        <a:buNone/>
                      </a:pPr>
                      <a:r>
                        <a:rPr lang="en-US" altLang="zh-CN" sz="1600">
                          <a:solidFill>
                            <a:schemeClr val="bg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涵盖交付价值的方法、工具、技术和途径 </a:t>
                      </a:r>
                      <a:r>
                        <a:rPr lang="en-US" altLang="zh-CN" sz="1600">
                          <a:solidFill>
                            <a:schemeClr val="bg1"/>
                          </a:solidFill>
                        </a:rPr>
                        <a:t>- </a:t>
                      </a:r>
                      <a:r>
                        <a:rPr lang="zh-CN" altLang="en-US" sz="1600">
                          <a:solidFill>
                            <a:schemeClr val="bg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bg1"/>
                          </a:solidFill>
                        </a:rPr>
                        <a:t>能力技能</a:t>
                      </a:r>
                      <a:endParaRPr lang="en-US" altLang="zh-CN" sz="1600">
                        <a:solidFill>
                          <a:schemeClr val="bg1"/>
                        </a:solidFill>
                      </a:endParaRPr>
                    </a:p>
                    <a:p>
                      <a:pPr>
                        <a:buNone/>
                      </a:pPr>
                      <a:r>
                        <a:rPr lang="en-US" altLang="zh-CN" sz="1600">
                          <a:solidFill>
                            <a:schemeClr val="bg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指使个人能够影响、激励、协作和领导的人际能力</a:t>
                      </a:r>
                      <a:r>
                        <a:rPr lang="en-US" altLang="zh-CN" sz="1600">
                          <a:solidFill>
                            <a:schemeClr val="bg1"/>
                          </a:solidFill>
                        </a:rPr>
                        <a:t> - </a:t>
                      </a:r>
                      <a:r>
                        <a:rPr lang="zh-CN" altLang="en-US" sz="1600">
                          <a:solidFill>
                            <a:schemeClr val="bg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bg1"/>
                          </a:solidFill>
                        </a:rPr>
                        <a:t>商业洞察力</a:t>
                      </a:r>
                      <a:endParaRPr lang="en-US" altLang="zh-CN" sz="1600">
                        <a:solidFill>
                          <a:schemeClr val="bg1"/>
                        </a:solidFill>
                      </a:endParaRPr>
                    </a:p>
                    <a:p>
                      <a:pPr>
                        <a:buNone/>
                      </a:pPr>
                      <a:r>
                        <a:rPr lang="en-US" altLang="zh-CN" sz="1600">
                          <a:solidFill>
                            <a:schemeClr val="bg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1580499277"/>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a:solidFill>
                            <a:schemeClr val="bg1"/>
                          </a:solidFill>
                        </a:rPr>
                        <a:t>Item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Former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later</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460554950"/>
                  </a:ext>
                </a:extLst>
              </a:tr>
              <a:tr h="323388">
                <a:tc>
                  <a:txBody>
                    <a:bodyPr/>
                    <a:lstStyle/>
                    <a:p>
                      <a:pPr>
                        <a:buNone/>
                      </a:pPr>
                      <a:r>
                        <a:rPr lang="zh-CN" altLang="en-US" sz="1600">
                          <a:solidFill>
                            <a:schemeClr val="bg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Technical Project Management</a:t>
                      </a:r>
                      <a:br>
                        <a:rPr lang="en-US" sz="1600">
                          <a:solidFill>
                            <a:schemeClr val="bg1"/>
                          </a:solidFill>
                        </a:rPr>
                      </a:br>
                      <a:r>
                        <a:rPr lang="zh-CN" altLang="en-US" sz="1600">
                          <a:solidFill>
                            <a:schemeClr val="bg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Ways of Working</a:t>
                      </a:r>
                      <a:br>
                        <a:rPr lang="en-US" sz="1600">
                          <a:solidFill>
                            <a:schemeClr val="bg1"/>
                          </a:solidFill>
                        </a:rPr>
                      </a:br>
                      <a:r>
                        <a:rPr lang="en-US" sz="1600" err="1">
                          <a:solidFill>
                            <a:schemeClr val="bg1"/>
                          </a:solidFill>
                        </a:rPr>
                        <a:t>工作方式</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bg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Leadership</a:t>
                      </a:r>
                    </a:p>
                    <a:p>
                      <a:pPr>
                        <a:buNone/>
                      </a:pPr>
                      <a:r>
                        <a:rPr lang="zh-CN" altLang="en-US" sz="1600">
                          <a:solidFill>
                            <a:schemeClr val="bg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Power Skills</a:t>
                      </a:r>
                      <a:br>
                        <a:rPr lang="en-US" sz="1600">
                          <a:solidFill>
                            <a:schemeClr val="bg1"/>
                          </a:solidFill>
                        </a:rPr>
                      </a:br>
                      <a:r>
                        <a:rPr lang="zh-CN" altLang="en-US" sz="1600">
                          <a:solidFill>
                            <a:schemeClr val="bg1"/>
                          </a:solidFill>
                        </a:rPr>
                        <a:t>权力技能 </a:t>
                      </a:r>
                      <a:r>
                        <a:rPr lang="en-US" altLang="zh-CN" sz="1600">
                          <a:solidFill>
                            <a:schemeClr val="bg1"/>
                          </a:solidFill>
                        </a:rPr>
                        <a:t>/ </a:t>
                      </a:r>
                      <a:r>
                        <a:rPr lang="zh-CN" altLang="en-US" sz="1600">
                          <a:solidFill>
                            <a:schemeClr val="bg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bg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Strategic and Business Management</a:t>
                      </a:r>
                      <a:br>
                        <a:rPr lang="en-US" sz="1600">
                          <a:solidFill>
                            <a:schemeClr val="bg1"/>
                          </a:solidFill>
                        </a:rPr>
                      </a:br>
                      <a:r>
                        <a:rPr lang="zh-CN" altLang="en-US" sz="1600">
                          <a:solidFill>
                            <a:schemeClr val="bg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Business Acumen</a:t>
                      </a:r>
                      <a:br>
                        <a:rPr lang="en-US" sz="1600">
                          <a:solidFill>
                            <a:schemeClr val="bg1"/>
                          </a:solidFill>
                        </a:rPr>
                      </a:br>
                      <a:r>
                        <a:rPr lang="zh-CN" altLang="en-US" sz="1600">
                          <a:solidFill>
                            <a:schemeClr val="bg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7" name="内容占位符 16">
            <a:extLst>
              <a:ext uri="{FF2B5EF4-FFF2-40B4-BE49-F238E27FC236}">
                <a16:creationId xmlns:a16="http://schemas.microsoft.com/office/drawing/2014/main" id="{080AC85C-97CB-6B7B-C6E1-8C97D586500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1807504263"/>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预测型 </a:t>
                      </a:r>
                      <a:r>
                        <a:rPr lang="en-US" sz="1600">
                          <a:solidFill>
                            <a:schemeClr val="bg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bg1"/>
                          </a:solidFill>
                        </a:rPr>
                        <a:t>迭代型 </a:t>
                      </a:r>
                      <a:r>
                        <a:rPr lang="en-US" sz="1600">
                          <a:solidFill>
                            <a:schemeClr val="bg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bg1"/>
                          </a:solidFill>
                        </a:rPr>
                        <a:t>增量型 </a:t>
                      </a:r>
                      <a:r>
                        <a:rPr lang="en-US" sz="1600">
                          <a:solidFill>
                            <a:schemeClr val="bg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bg1"/>
                          </a:solidFill>
                        </a:rPr>
                        <a:t>敏捷型 </a:t>
                      </a:r>
                      <a:r>
                        <a:rPr lang="en-US" sz="1600">
                          <a:solidFill>
                            <a:schemeClr val="bg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solidFill>
                    <a:schemeClr val="bg1"/>
                  </a:solidFill>
                </a:rPr>
                <a:t>Degree of Change</a:t>
              </a:r>
              <a:endParaRPr lang="zh-CN" altLang="en-US" sz="1200">
                <a:solidFill>
                  <a:schemeClr val="bg1"/>
                </a:solidFill>
              </a:endParaRPr>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solidFill>
                    <a:schemeClr val="bg1"/>
                  </a:solidFill>
                </a:rPr>
                <a:t>Frequency of Delivery</a:t>
              </a:r>
              <a:endParaRPr lang="zh-CN" altLang="en-US" sz="1200">
                <a:solidFill>
                  <a:schemeClr val="bg1"/>
                </a:solidFill>
              </a:endParaRPr>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solidFill>
                    <a:schemeClr val="bg1"/>
                  </a:solidFill>
                </a:rPr>
                <a:t>Predictive</a:t>
              </a:r>
              <a:endParaRPr lang="zh-CN" altLang="en-US" sz="1400">
                <a:solidFill>
                  <a:schemeClr val="bg1"/>
                </a:solidFill>
              </a:endParaRPr>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solidFill>
                    <a:schemeClr val="bg1"/>
                  </a:solidFill>
                </a:rPr>
                <a:t>Iterative</a:t>
              </a:r>
              <a:endParaRPr lang="zh-CN" altLang="en-US" sz="1400">
                <a:solidFill>
                  <a:schemeClr val="bg1"/>
                </a:solidFill>
              </a:endParaRPr>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a:solidFill>
                    <a:schemeClr val="bg1"/>
                  </a:solidFill>
                </a:rPr>
                <a:t>Incremental</a:t>
              </a:r>
              <a:endParaRPr lang="zh-CN" altLang="en-US" sz="1400">
                <a:solidFill>
                  <a:schemeClr val="bg1"/>
                </a:solidFill>
              </a:endParaRPr>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solidFill>
                    <a:schemeClr val="bg1"/>
                  </a:solidFill>
                </a:rPr>
                <a:t>Agile</a:t>
              </a:r>
              <a:endParaRPr lang="zh-CN" altLang="en-US" sz="1400">
                <a:solidFill>
                  <a:schemeClr val="bg1"/>
                </a:solidFill>
              </a:endParaRPr>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a:t>Waterfall Model</a:t>
            </a:r>
          </a:p>
          <a:p>
            <a:r>
              <a:rPr lang="en-US" altLang="zh-CN"/>
              <a:t>Winston Royce </a:t>
            </a:r>
            <a:r>
              <a:rPr lang="zh-CN" altLang="en-US"/>
              <a:t>于</a:t>
            </a:r>
            <a:r>
              <a:rPr lang="en-US" altLang="zh-CN"/>
              <a:t>1970</a:t>
            </a:r>
            <a:r>
              <a:rPr lang="zh-CN" altLang="en-US"/>
              <a:t>年提出</a:t>
            </a:r>
            <a:endParaRPr lang="en-US" altLang="zh-CN"/>
          </a:p>
          <a:p>
            <a:r>
              <a:rPr lang="zh-CN" altLang="en-US"/>
              <a:t>它将软件开发生命周期划分为若干线性阶段</a:t>
            </a:r>
            <a:endParaRPr lang="en-US" altLang="zh-CN"/>
          </a:p>
          <a:p>
            <a:r>
              <a:rPr lang="zh-CN" altLang="en-US"/>
              <a:t>每个阶段完成后才能进入下一个阶段</a:t>
            </a:r>
            <a:endParaRPr lang="en-US" altLang="zh-CN"/>
          </a:p>
          <a:p>
            <a:r>
              <a:rPr lang="zh-CN" altLang="en-US"/>
              <a:t>阶段分明、顺序执行、没有重叠</a:t>
            </a:r>
          </a:p>
          <a:p>
            <a:r>
              <a:rPr lang="zh-CN" altLang="en-US"/>
              <a:t>特点</a:t>
            </a:r>
          </a:p>
          <a:p>
            <a:pPr lvl="1"/>
            <a:r>
              <a:rPr lang="zh-CN" altLang="en-US"/>
              <a:t>各阶段严格顺序、不可回溯（理想情况下）</a:t>
            </a:r>
          </a:p>
          <a:p>
            <a:pPr lvl="1"/>
            <a:r>
              <a:rPr lang="zh-CN" altLang="en-US"/>
              <a:t>文档驱动，强调前期需求明确</a:t>
            </a:r>
          </a:p>
          <a:p>
            <a:pPr lvl="1"/>
            <a:r>
              <a:rPr lang="zh-CN" altLang="en-US"/>
              <a:t>测试集中在开发后期</a:t>
            </a:r>
          </a:p>
          <a:p>
            <a:pPr lvl="1"/>
            <a:r>
              <a:rPr lang="zh-CN" altLang="en-US"/>
              <a:t>不适合需求频繁变更的项目</a:t>
            </a:r>
            <a:r>
              <a:rPr lang="en-US" altLang="zh-CN"/>
              <a:t>/</a:t>
            </a:r>
            <a:r>
              <a:rPr lang="zh-CN" altLang="en-US"/>
              <a:t>返工</a:t>
            </a:r>
            <a:endParaRPr lang="en-US" altLang="zh-CN"/>
          </a:p>
          <a:p>
            <a:pPr lvl="1"/>
            <a:endParaRPr lang="en-US" altLang="zh-CN"/>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a:solidFill>
                    <a:schemeClr val="bg1"/>
                  </a:solidFill>
                </a:rPr>
                <a:t>Requirement gathering &amp; analysis</a:t>
              </a:r>
              <a:endParaRPr lang="zh-CN" altLang="en-US">
                <a:solidFill>
                  <a:schemeClr val="bg1"/>
                </a:solidFill>
              </a:endParaRPr>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solidFill>
                    <a:schemeClr val="bg1"/>
                  </a:solidFill>
                </a:rPr>
                <a:t>System design</a:t>
              </a:r>
              <a:endParaRPr lang="zh-CN" altLang="en-US">
                <a:solidFill>
                  <a:schemeClr val="bg1"/>
                </a:solidFill>
              </a:endParaRPr>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solidFill>
                    <a:schemeClr val="bg1"/>
                  </a:solidFill>
                </a:rPr>
                <a:t>Implementation</a:t>
              </a:r>
              <a:endParaRPr lang="zh-CN" altLang="en-US">
                <a:solidFill>
                  <a:schemeClr val="bg1"/>
                </a:solidFill>
              </a:endParaRPr>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solidFill>
                    <a:schemeClr val="bg1"/>
                  </a:solidFill>
                </a:rPr>
                <a:t>Integration &amp; Test</a:t>
              </a:r>
              <a:endParaRPr lang="zh-CN" altLang="en-US">
                <a:solidFill>
                  <a:schemeClr val="bg1"/>
                </a:solidFill>
              </a:endParaRPr>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solidFill>
                    <a:schemeClr val="bg1"/>
                  </a:solidFill>
                </a:rPr>
                <a:t>Deployment </a:t>
              </a:r>
              <a:endParaRPr lang="zh-CN" altLang="en-US">
                <a:solidFill>
                  <a:schemeClr val="bg1"/>
                </a:solidFill>
              </a:endParaRPr>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solidFill>
                    <a:schemeClr val="bg1"/>
                  </a:solidFill>
                </a:rPr>
                <a:t>Maintenance</a:t>
              </a:r>
              <a:endParaRPr lang="zh-CN" altLang="en-US">
                <a:solidFill>
                  <a:schemeClr val="bg1"/>
                </a:solidFill>
              </a:endParaRPr>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endParaRPr lang="zh-CN" altLang="en-US">
              <a:solidFill>
                <a:srgbClr val="FF0000"/>
              </a:solidFill>
            </a:endParaRP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solidFill>
                  <a:schemeClr val="bg1"/>
                </a:solidFill>
              </a:rPr>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1033972658"/>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altLang="zh-CN" sz="160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88049931"/>
                  </a:ext>
                </a:extLst>
              </a:tr>
              <a:tr h="0">
                <a:tc>
                  <a:txBody>
                    <a:bodyPr/>
                    <a:lstStyle/>
                    <a:p>
                      <a:pPr algn="l">
                        <a:buNone/>
                      </a:pPr>
                      <a:r>
                        <a:rPr lang="zh-CN" altLang="en-US" sz="1600">
                          <a:solidFill>
                            <a:schemeClr val="bg1"/>
                          </a:solidFill>
                        </a:rPr>
                        <a:t>测试目的</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bg1"/>
                          </a:solidFill>
                        </a:rPr>
                        <a:t>测试计划</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bg1"/>
                          </a:solidFill>
                        </a:rPr>
                        <a:t>测试执行</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a:t>
            </a:r>
            <a:r>
              <a:rPr lang="zh-CN" altLang="en-US">
                <a:solidFill>
                  <a:srgbClr val="FFFF00"/>
                </a:solidFill>
              </a:rPr>
              <a:t>交付</a:t>
            </a:r>
            <a:r>
              <a:rPr lang="zh-CN" altLang="en-US"/>
              <a:t>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3535630502"/>
              </p:ext>
            </p:extLst>
          </p:nvPr>
        </p:nvGraphicFramePr>
        <p:xfrm>
          <a:off x="695325" y="2255520"/>
          <a:ext cx="10801350" cy="234696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迭代 </a:t>
                      </a:r>
                      <a:r>
                        <a:rPr lang="en-US" sz="160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r>
                        <a:rPr lang="en-US" altLang="zh-CN" sz="1600">
                          <a:solidFill>
                            <a:schemeClr val="bg1"/>
                          </a:solidFill>
                        </a:rPr>
                        <a:t>al</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7242012"/>
                  </a:ext>
                </a:extLst>
              </a:tr>
              <a:tr h="0">
                <a:tc>
                  <a:txBody>
                    <a:bodyPr/>
                    <a:lstStyle/>
                    <a:p>
                      <a:pPr algn="l">
                        <a:buNone/>
                      </a:pPr>
                      <a:r>
                        <a:rPr lang="zh-CN" altLang="en-US" sz="1600">
                          <a:solidFill>
                            <a:schemeClr val="bg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重复 </a:t>
                      </a:r>
                      <a:r>
                        <a:rPr lang="en-US" altLang="zh-CN" sz="1600">
                          <a:solidFill>
                            <a:schemeClr val="bg1"/>
                          </a:solidFill>
                        </a:rPr>
                        <a:t>(</a:t>
                      </a:r>
                      <a:r>
                        <a:rPr lang="en-US" sz="1600">
                          <a:solidFill>
                            <a:schemeClr val="bg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增加 </a:t>
                      </a:r>
                      <a:r>
                        <a:rPr lang="en-US" altLang="zh-CN" sz="1600">
                          <a:solidFill>
                            <a:schemeClr val="bg1"/>
                          </a:solidFill>
                        </a:rPr>
                        <a:t>(</a:t>
                      </a:r>
                      <a:r>
                        <a:rPr lang="en-US" sz="1600">
                          <a:solidFill>
                            <a:schemeClr val="bg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600">
                          <a:solidFill>
                            <a:schemeClr val="bg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质量 </a:t>
                      </a:r>
                      <a:r>
                        <a:rPr lang="en-US" altLang="zh-CN" sz="1600">
                          <a:solidFill>
                            <a:schemeClr val="bg1"/>
                          </a:solidFill>
                        </a:rPr>
                        <a:t>(</a:t>
                      </a:r>
                      <a:r>
                        <a:rPr lang="en-US" sz="1600">
                          <a:solidFill>
                            <a:schemeClr val="bg1"/>
                          </a:solidFill>
                        </a:rPr>
                        <a:t>Quality)：</a:t>
                      </a:r>
                      <a:r>
                        <a:rPr lang="zh-CN" altLang="en-US" sz="1600">
                          <a:solidFill>
                            <a:schemeClr val="bg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范围 </a:t>
                      </a:r>
                      <a:r>
                        <a:rPr lang="en-US" altLang="zh-CN" sz="1600">
                          <a:solidFill>
                            <a:schemeClr val="bg1"/>
                          </a:solidFill>
                        </a:rPr>
                        <a:t>(</a:t>
                      </a:r>
                      <a:r>
                        <a:rPr lang="en-US" sz="1600">
                          <a:solidFill>
                            <a:schemeClr val="bg1"/>
                          </a:solidFill>
                        </a:rPr>
                        <a:t>Scope)：</a:t>
                      </a:r>
                      <a:r>
                        <a:rPr lang="zh-CN" altLang="en-US" sz="1600">
                          <a:solidFill>
                            <a:schemeClr val="bg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600">
                          <a:solidFill>
                            <a:schemeClr val="bg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600">
                          <a:solidFill>
                            <a:schemeClr val="bg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600">
                          <a:solidFill>
                            <a:schemeClr val="bg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哇，这个功能比上次快了很多</a:t>
                      </a:r>
                      <a:r>
                        <a:rPr lang="en-US" altLang="zh-CN" sz="1600">
                          <a:solidFill>
                            <a:schemeClr val="bg1"/>
                          </a:solidFill>
                        </a:rPr>
                        <a:t>/</a:t>
                      </a:r>
                      <a:r>
                        <a:rPr lang="zh-CN" altLang="en-US" sz="1600">
                          <a:solidFill>
                            <a:schemeClr val="bg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600">
                          <a:solidFill>
                            <a:schemeClr val="bg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Iterate (</a:t>
                      </a:r>
                      <a:r>
                        <a:rPr lang="zh-CN" altLang="en-US" sz="1600">
                          <a:solidFill>
                            <a:schemeClr val="bg1"/>
                          </a:solidFill>
                        </a:rPr>
                        <a:t>重做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Increment (</a:t>
                      </a:r>
                      <a:r>
                        <a:rPr lang="zh-CN" altLang="en-US" sz="1600">
                          <a:solidFill>
                            <a:schemeClr val="bg1"/>
                          </a:solidFill>
                        </a:rPr>
                        <a:t>增长</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041810840"/>
              </p:ext>
            </p:extLst>
          </p:nvPr>
        </p:nvGraphicFramePr>
        <p:xfrm>
          <a:off x="695325" y="4252595"/>
          <a:ext cx="10801350" cy="225552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60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节奏</a:t>
                      </a:r>
                      <a:r>
                        <a:rPr lang="en-US" altLang="zh-CN" sz="1600">
                          <a:solidFill>
                            <a:schemeClr val="bg1"/>
                          </a:solidFill>
                        </a:rPr>
                        <a:t>/</a:t>
                      </a:r>
                      <a:r>
                        <a:rPr lang="zh-CN" altLang="en-US" sz="160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749275536"/>
                  </a:ext>
                </a:extLst>
              </a:tr>
              <a:tr h="200694">
                <a:tc>
                  <a:txBody>
                    <a:bodyPr/>
                    <a:lstStyle/>
                    <a:p>
                      <a:pPr algn="l">
                        <a:buNone/>
                      </a:pPr>
                      <a:r>
                        <a:rPr lang="en-US" sz="1600">
                          <a:solidFill>
                            <a:schemeClr val="bg1"/>
                          </a:solidFill>
                        </a:rPr>
                        <a:t>Scrum </a:t>
                      </a:r>
                      <a:r>
                        <a:rPr lang="zh-CN" altLang="en-US" sz="1600">
                          <a:solidFill>
                            <a:schemeClr val="bg1"/>
                          </a:solidFill>
                        </a:rPr>
                        <a:t>敏捷</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固定 </a:t>
                      </a:r>
                      <a:r>
                        <a:rPr lang="en-US" sz="1600">
                          <a:solidFill>
                            <a:schemeClr val="bg1"/>
                          </a:solidFill>
                        </a:rPr>
                        <a:t>Sprint (2-4</a:t>
                      </a:r>
                      <a:r>
                        <a:rPr lang="zh-CN" altLang="en-US" sz="1600">
                          <a:solidFill>
                            <a:schemeClr val="bg1"/>
                          </a:solidFill>
                        </a:rPr>
                        <a:t>周</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严格 </a:t>
                      </a:r>
                      <a:r>
                        <a:rPr lang="en-US" altLang="zh-CN" sz="1600">
                          <a:solidFill>
                            <a:schemeClr val="bg1"/>
                          </a:solidFill>
                        </a:rPr>
                        <a:t>(</a:t>
                      </a:r>
                      <a:r>
                        <a:rPr lang="en-US" sz="1600">
                          <a:solidFill>
                            <a:schemeClr val="bg1"/>
                          </a:solidFill>
                        </a:rPr>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600">
                          <a:solidFill>
                            <a:schemeClr val="bg1"/>
                          </a:solidFill>
                        </a:rPr>
                        <a:t>Kanban </a:t>
                      </a:r>
                      <a:r>
                        <a:rPr lang="zh-CN" altLang="en-US" sz="1600">
                          <a:solidFill>
                            <a:schemeClr val="bg1"/>
                          </a:solidFill>
                        </a:rPr>
                        <a:t>看板</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持续流动 </a:t>
                      </a:r>
                      <a:r>
                        <a:rPr lang="en-US" altLang="zh-CN" sz="1600">
                          <a:solidFill>
                            <a:schemeClr val="bg1"/>
                          </a:solidFill>
                        </a:rPr>
                        <a:t>(</a:t>
                      </a:r>
                      <a:r>
                        <a:rPr lang="zh-CN" altLang="en-US" sz="1600">
                          <a:solidFill>
                            <a:schemeClr val="bg1"/>
                          </a:solidFill>
                        </a:rPr>
                        <a:t>无固定周期</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无特定角色</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600">
                          <a:solidFill>
                            <a:schemeClr val="bg1"/>
                          </a:solidFill>
                        </a:rPr>
                        <a:t>XP </a:t>
                      </a:r>
                      <a:r>
                        <a:rPr lang="zh-CN" altLang="en-US" sz="1600">
                          <a:solidFill>
                            <a:schemeClr val="bg1"/>
                          </a:solidFill>
                        </a:rPr>
                        <a:t>极限编程</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通常配合 </a:t>
                      </a:r>
                      <a:r>
                        <a:rPr lang="en-US" sz="1600">
                          <a:solidFill>
                            <a:schemeClr val="bg1"/>
                          </a:solidFill>
                        </a:rPr>
                        <a:t>Scrum </a:t>
                      </a:r>
                      <a:r>
                        <a:rPr lang="zh-CN" altLang="en-US" sz="1600">
                          <a:solidFill>
                            <a:schemeClr val="bg1"/>
                          </a:solidFill>
                        </a:rPr>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 </a:t>
                      </a:r>
                      <a:r>
                        <a:rPr lang="en-US" altLang="zh-CN" sz="1600">
                          <a:solidFill>
                            <a:schemeClr val="bg1"/>
                          </a:solidFill>
                        </a:rPr>
                        <a:t>(</a:t>
                      </a:r>
                      <a:r>
                        <a:rPr lang="zh-CN" altLang="en-US" sz="1600">
                          <a:solidFill>
                            <a:schemeClr val="bg1"/>
                          </a:solidFill>
                        </a:rPr>
                        <a:t>强调结对</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600">
                          <a:solidFill>
                            <a:schemeClr val="bg1"/>
                          </a:solidFill>
                        </a:rPr>
                        <a:t>FDD </a:t>
                      </a:r>
                      <a:r>
                        <a:rPr lang="zh-CN" altLang="en-US" sz="1600">
                          <a:solidFill>
                            <a:schemeClr val="bg1"/>
                          </a:solidFill>
                        </a:rPr>
                        <a:t>特性驱动</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较正式 </a:t>
                      </a:r>
                      <a:r>
                        <a:rPr lang="en-US" altLang="zh-CN" sz="1600">
                          <a:solidFill>
                            <a:schemeClr val="bg1"/>
                          </a:solidFill>
                        </a:rPr>
                        <a:t>(</a:t>
                      </a:r>
                      <a:r>
                        <a:rPr lang="zh-CN" altLang="en-US" sz="1600">
                          <a:solidFill>
                            <a:schemeClr val="bg1"/>
                          </a:solidFill>
                        </a:rPr>
                        <a:t>首席程序员等</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600">
                          <a:solidFill>
                            <a:schemeClr val="bg1"/>
                          </a:solidFill>
                        </a:rPr>
                        <a:t>Crystal </a:t>
                      </a:r>
                      <a:r>
                        <a:rPr lang="zh-CN" altLang="en-US" sz="1600">
                          <a:solidFill>
                            <a:schemeClr val="bg1"/>
                          </a:solidFill>
                        </a:rPr>
                        <a:t>水晶</a:t>
                      </a:r>
                      <a:endParaRPr 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a:prstGeom prst="rect">
            <a:avLst/>
          </a:prstGeo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a:t>
            </a:r>
            <a:r>
              <a:rPr lang="zh-CN" altLang="en-US">
                <a:solidFill>
                  <a:srgbClr val="FFFF00"/>
                </a:solidFill>
              </a:rPr>
              <a:t>管理制造过程</a:t>
            </a:r>
            <a:r>
              <a:rPr lang="zh-CN" altLang="en-US"/>
              <a:t>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idx="4294967295"/>
          </p:nvPr>
        </p:nvSpPr>
        <p:spPr>
          <a:xfrm>
            <a:off x="0" y="360363"/>
            <a:ext cx="6376988" cy="428625"/>
          </a:xfrm>
        </p:spPr>
        <p:txBody>
          <a:bodyPr/>
          <a:lstStyle/>
          <a:p>
            <a:r>
              <a:rPr lang="en-US" altLang="zh-CN"/>
              <a:t>2.5.4.2 </a:t>
            </a:r>
            <a:r>
              <a:rPr lang="zh-CN" altLang="en-US"/>
              <a:t>看板</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4294967295"/>
          </p:nvPr>
        </p:nvSpPr>
        <p:spPr>
          <a:xfrm>
            <a:off x="7767638" y="449263"/>
            <a:ext cx="4424362" cy="338137"/>
          </a:xfrm>
        </p:spPr>
        <p:txBody>
          <a:bodyPr>
            <a:normAutofit fontScale="92500" lnSpcReduction="20000"/>
          </a:bodyPr>
          <a:lstStyle/>
          <a:p>
            <a:r>
              <a:rPr lang="en-US" altLang="zh-CN"/>
              <a:t>Kanban</a:t>
            </a:r>
            <a:endParaRPr lang="zh-CN" altLang="en-US"/>
          </a:p>
        </p:txBody>
      </p:sp>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991704868"/>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600">
                          <a:solidFill>
                            <a:schemeClr val="bg1"/>
                          </a:solidFill>
                        </a:rPr>
                        <a:t>Column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Icon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Role</a:t>
                      </a:r>
                      <a:endParaRPr lang="zh-CN" altLang="en-US" sz="160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161160263"/>
                  </a:ext>
                </a:extLst>
              </a:tr>
              <a:tr h="857250">
                <a:tc>
                  <a:txBody>
                    <a:bodyPr/>
                    <a:lstStyle/>
                    <a:p>
                      <a:pPr>
                        <a:buNone/>
                      </a:pPr>
                      <a:r>
                        <a:rPr lang="en-US" sz="1600">
                          <a:solidFill>
                            <a:schemeClr val="bg1"/>
                          </a:solidFill>
                        </a:rPr>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尚未开始的工作项（如用户故事、</a:t>
                      </a:r>
                      <a:r>
                        <a:rPr lang="en-US" altLang="zh-CN" sz="1600">
                          <a:solidFill>
                            <a:schemeClr val="bg1"/>
                          </a:solidFill>
                        </a:rPr>
                        <a:t>Bug</a:t>
                      </a:r>
                      <a:r>
                        <a:rPr lang="zh-CN" altLang="en-US" sz="1600">
                          <a:solidFill>
                            <a:schemeClr val="bg1"/>
                          </a:solidFill>
                        </a:rPr>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600">
                          <a:solidFill>
                            <a:schemeClr val="bg1"/>
                          </a:solidFill>
                        </a:rPr>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600">
                          <a:solidFill>
                            <a:schemeClr val="bg1"/>
                          </a:solidFill>
                        </a:rPr>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架构</a:t>
                      </a:r>
                      <a:r>
                        <a:rPr lang="en-US" altLang="zh-CN" sz="1600">
                          <a:solidFill>
                            <a:schemeClr val="bg1"/>
                          </a:solidFill>
                        </a:rPr>
                        <a:t>/</a:t>
                      </a:r>
                      <a:r>
                        <a:rPr lang="zh-CN" altLang="en-US" sz="1600">
                          <a:solidFill>
                            <a:schemeClr val="bg1"/>
                          </a:solidFill>
                        </a:rPr>
                        <a:t>界面</a:t>
                      </a:r>
                      <a:r>
                        <a:rPr lang="en-US" altLang="zh-CN" sz="1600">
                          <a:solidFill>
                            <a:schemeClr val="bg1"/>
                          </a:solidFill>
                        </a:rPr>
                        <a:t>/</a:t>
                      </a:r>
                      <a:r>
                        <a:rPr lang="zh-CN" altLang="en-US" sz="1600">
                          <a:solidFill>
                            <a:schemeClr val="bg1"/>
                          </a:solidFill>
                        </a:rPr>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600">
                          <a:solidFill>
                            <a:schemeClr val="bg1"/>
                          </a:solidFill>
                        </a:rPr>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核心价值创造环节，通常 </a:t>
                      </a:r>
                      <a:r>
                        <a:rPr lang="en-US" altLang="zh-CN" sz="1600">
                          <a:solidFill>
                            <a:schemeClr val="bg1"/>
                          </a:solidFill>
                        </a:rPr>
                        <a:t>WIP </a:t>
                      </a:r>
                      <a:r>
                        <a:rPr lang="zh-CN" altLang="en-US" sz="1600">
                          <a:solidFill>
                            <a:schemeClr val="bg1"/>
                          </a:solidFill>
                        </a:rPr>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600">
                          <a:solidFill>
                            <a:schemeClr val="bg1"/>
                          </a:solidFill>
                        </a:rPr>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a:solidFill>
                            <a:schemeClr val="bg1"/>
                          </a:solidFill>
                        </a:rPr>
                        <a:t>QA </a:t>
                      </a:r>
                      <a:r>
                        <a:rPr lang="zh-CN" altLang="en-US" sz="1600">
                          <a:solidFill>
                            <a:schemeClr val="bg1"/>
                          </a:solidFill>
                        </a:rPr>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600">
                          <a:solidFill>
                            <a:schemeClr val="bg1"/>
                          </a:solidFill>
                        </a:rPr>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用户</a:t>
                      </a:r>
                      <a:r>
                        <a:rPr lang="en-US" altLang="zh-CN" sz="1600">
                          <a:solidFill>
                            <a:schemeClr val="bg1"/>
                          </a:solidFill>
                        </a:rPr>
                        <a:t>/</a:t>
                      </a:r>
                      <a:r>
                        <a:rPr lang="en-US" sz="1600">
                          <a:solidFill>
                            <a:schemeClr val="bg1"/>
                          </a:solidFill>
                        </a:rPr>
                        <a:t>PO </a:t>
                      </a:r>
                      <a:r>
                        <a:rPr lang="zh-CN" altLang="en-US" sz="1600">
                          <a:solidFill>
                            <a:schemeClr val="bg1"/>
                          </a:solidFill>
                        </a:rPr>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600">
                          <a:solidFill>
                            <a:schemeClr val="bg1"/>
                          </a:solidFill>
                        </a:rPr>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自动或手动部署到预发</a:t>
                      </a:r>
                      <a:r>
                        <a:rPr lang="en-US" altLang="zh-CN" sz="1600">
                          <a:solidFill>
                            <a:schemeClr val="bg1"/>
                          </a:solidFill>
                        </a:rPr>
                        <a:t>/</a:t>
                      </a:r>
                      <a:r>
                        <a:rPr lang="zh-CN" altLang="en-US" sz="1600">
                          <a:solidFill>
                            <a:schemeClr val="bg1"/>
                          </a:solidFill>
                        </a:rPr>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600">
                          <a:solidFill>
                            <a:schemeClr val="bg1"/>
                          </a:solidFill>
                        </a:rPr>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价值交付终点，也是 </a:t>
                      </a:r>
                      <a:r>
                        <a:rPr lang="en-US" altLang="zh-CN" sz="1600">
                          <a:solidFill>
                            <a:schemeClr val="bg1"/>
                          </a:solidFill>
                        </a:rPr>
                        <a:t>Outcome </a:t>
                      </a:r>
                      <a:r>
                        <a:rPr lang="zh-CN" altLang="en-US" sz="1600">
                          <a:solidFill>
                            <a:schemeClr val="bg1"/>
                          </a:solidFill>
                        </a:rPr>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a:t>
            </a:r>
            <a:r>
              <a:rPr lang="zh-CN" altLang="en-US">
                <a:solidFill>
                  <a:srgbClr val="FFFF00"/>
                </a:solidFill>
              </a:rPr>
              <a:t>有益</a:t>
            </a:r>
            <a:r>
              <a:rPr lang="zh-CN" altLang="en-US"/>
              <a:t>的做法，都做到</a:t>
            </a:r>
            <a:r>
              <a:rPr lang="zh-CN" altLang="en-US">
                <a:solidFill>
                  <a:srgbClr val="FFFF00"/>
                </a:solidFill>
              </a:rPr>
              <a:t>极致</a:t>
            </a:r>
            <a:endParaRPr lang="en-US" altLang="zh-CN">
              <a:solidFill>
                <a:srgbClr val="FFFF00"/>
              </a:solidFill>
            </a:endParaRPr>
          </a:p>
          <a:p>
            <a:r>
              <a:rPr lang="zh-CN" altLang="en-US"/>
              <a:t>适用场景：需求不明确、变化极快、风险高、对</a:t>
            </a:r>
            <a:r>
              <a:rPr lang="zh-CN" altLang="en-US">
                <a:solidFill>
                  <a:srgbClr val="FFFF00"/>
                </a:solidFill>
              </a:rPr>
              <a:t>代码质量</a:t>
            </a:r>
            <a:r>
              <a:rPr lang="zh-CN" altLang="en-US"/>
              <a:t>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solidFill>
                  <a:srgbClr val="FFFF00"/>
                </a:solidFill>
              </a:rPr>
              <a:t>特性</a:t>
            </a:r>
            <a:r>
              <a:rPr lang="zh-CN" altLang="en-US"/>
              <a:t>不是模糊的需求，而是一个小的、客户可见的、有价值的功能单元</a:t>
            </a:r>
            <a:endParaRPr lang="en-US" altLang="zh-CN"/>
          </a:p>
          <a:p>
            <a:r>
              <a:rPr lang="zh-CN" altLang="en-US"/>
              <a:t>不是“模块”，不是任务，更不是技术实现，而是</a:t>
            </a:r>
            <a:r>
              <a:rPr lang="zh-CN" altLang="en-US" b="1"/>
              <a:t>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a:solidFill>
                  <a:srgbClr val="FFFF00"/>
                </a:solidFill>
              </a:rPr>
              <a:t>&lt;</a:t>
            </a:r>
            <a:r>
              <a:rPr lang="zh-CN" altLang="en-US" sz="2400">
                <a:solidFill>
                  <a:srgbClr val="FFFF00"/>
                </a:solidFill>
              </a:rPr>
              <a:t>动作</a:t>
            </a:r>
            <a:r>
              <a:rPr lang="en-US" altLang="zh-CN" sz="2400">
                <a:solidFill>
                  <a:srgbClr val="FFFF00"/>
                </a:solidFill>
              </a:rPr>
              <a:t>&gt; + &lt;</a:t>
            </a:r>
            <a:r>
              <a:rPr lang="zh-CN" altLang="en-US" sz="2400">
                <a:solidFill>
                  <a:srgbClr val="FFFF00"/>
                </a:solidFill>
              </a:rPr>
              <a:t>结果</a:t>
            </a:r>
            <a:r>
              <a:rPr lang="en-US" altLang="zh-CN" sz="2400">
                <a:solidFill>
                  <a:srgbClr val="FFFF00"/>
                </a:solidFill>
              </a:rPr>
              <a:t>&gt; + &lt;</a:t>
            </a:r>
            <a:r>
              <a:rPr lang="zh-CN" altLang="en-US" sz="2400">
                <a:solidFill>
                  <a:srgbClr val="FFFF00"/>
                </a:solidFill>
              </a:rPr>
              <a:t>对象</a:t>
            </a:r>
            <a:r>
              <a:rPr lang="en-US" altLang="zh-CN" sz="2400">
                <a:solidFill>
                  <a:srgbClr val="FFFF00"/>
                </a:solidFill>
              </a:rPr>
              <a:t>&gt;</a:t>
            </a:r>
            <a:br>
              <a:rPr lang="zh-CN" altLang="en-US" sz="2400">
                <a:solidFill>
                  <a:srgbClr val="FFFF00"/>
                </a:solidFill>
              </a:rPr>
            </a:br>
            <a:r>
              <a:rPr lang="en-US" altLang="zh-CN" sz="2400">
                <a:solidFill>
                  <a:srgbClr val="FFFF00"/>
                </a:solidFill>
              </a:rPr>
              <a:t>(Verb-Result-Object)</a:t>
            </a:r>
            <a:endParaRPr lang="zh-CN" altLang="en-US" sz="2400">
              <a:solidFill>
                <a:srgbClr val="FFFF0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4101219854"/>
              </p:ext>
            </p:extLst>
          </p:nvPr>
        </p:nvGraphicFramePr>
        <p:xfrm>
          <a:off x="695325" y="2423160"/>
          <a:ext cx="10801350" cy="201168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60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598881430"/>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600">
                          <a:solidFill>
                            <a:schemeClr val="bg1"/>
                          </a:solidFill>
                        </a:rPr>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编写登录界面的 </a:t>
                      </a:r>
                      <a:r>
                        <a:rPr lang="en-US" altLang="zh-CN" sz="1600">
                          <a:solidFill>
                            <a:schemeClr val="bg1"/>
                          </a:solidFill>
                        </a:rPr>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验证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用户输入的密码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锁定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账户在 </a:t>
                      </a:r>
                      <a:r>
                        <a:rPr lang="en-US" altLang="zh-CN" sz="1600">
                          <a:solidFill>
                            <a:schemeClr val="bg1"/>
                          </a:solidFill>
                        </a:rPr>
                        <a:t>(</a:t>
                      </a:r>
                      <a:r>
                        <a:rPr lang="zh-CN" altLang="en-US" sz="1600">
                          <a:solidFill>
                            <a:schemeClr val="bg1"/>
                          </a:solidFill>
                        </a:rPr>
                        <a:t>结果</a:t>
                      </a:r>
                      <a:r>
                        <a:rPr lang="en-US" altLang="zh-CN" sz="1600">
                          <a:solidFill>
                            <a:schemeClr val="bg1"/>
                          </a:solidFill>
                        </a:rPr>
                        <a:t>) 5 </a:t>
                      </a:r>
                      <a:r>
                        <a:rPr lang="zh-CN" altLang="en-US" sz="1600">
                          <a:solidFill>
                            <a:schemeClr val="bg1"/>
                          </a:solidFill>
                        </a:rPr>
                        <a:t>次失败尝试后 </a:t>
                      </a:r>
                      <a:r>
                        <a:rPr lang="en-US" altLang="zh-CN" sz="1600">
                          <a:solidFill>
                            <a:schemeClr val="bg1"/>
                          </a:solidFill>
                        </a:rPr>
                        <a:t>(</a:t>
                      </a:r>
                      <a:r>
                        <a:rPr lang="zh-CN" altLang="en-US" sz="1600">
                          <a:solidFill>
                            <a:schemeClr val="bg1"/>
                          </a:solidFill>
                        </a:rPr>
                        <a:t>对象</a:t>
                      </a:r>
                      <a:r>
                        <a:rPr lang="en-US" altLang="zh-CN" sz="1600">
                          <a:solidFill>
                            <a:schemeClr val="bg1"/>
                          </a:solidFill>
                        </a:rPr>
                        <a:t>/</a:t>
                      </a:r>
                      <a:r>
                        <a:rPr lang="zh-CN" altLang="en-US" sz="1600">
                          <a:solidFill>
                            <a:schemeClr val="bg1"/>
                          </a:solidFill>
                        </a:rPr>
                        <a:t>条件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600">
                          <a:solidFill>
                            <a:schemeClr val="bg1"/>
                          </a:solidFill>
                        </a:rPr>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生成 </a:t>
                      </a:r>
                      <a:r>
                        <a:rPr lang="en-US" altLang="zh-CN" sz="1600">
                          <a:solidFill>
                            <a:schemeClr val="bg1"/>
                          </a:solidFill>
                        </a:rPr>
                        <a:t>(</a:t>
                      </a:r>
                      <a:r>
                        <a:rPr lang="zh-CN" altLang="en-US" sz="1600">
                          <a:solidFill>
                            <a:schemeClr val="bg1"/>
                          </a:solidFill>
                        </a:rPr>
                        <a:t>动作</a:t>
                      </a:r>
                      <a:r>
                        <a:rPr lang="en-US" altLang="zh-CN" sz="1600">
                          <a:solidFill>
                            <a:schemeClr val="bg1"/>
                          </a:solidFill>
                        </a:rPr>
                        <a:t>) </a:t>
                      </a:r>
                      <a:r>
                        <a:rPr lang="zh-CN" altLang="en-US" sz="1600">
                          <a:solidFill>
                            <a:schemeClr val="bg1"/>
                          </a:solidFill>
                        </a:rPr>
                        <a:t>临时登录会话令牌 </a:t>
                      </a:r>
                      <a:r>
                        <a:rPr lang="en-US" altLang="zh-CN" sz="1600">
                          <a:solidFill>
                            <a:schemeClr val="bg1"/>
                          </a:solidFill>
                        </a:rPr>
                        <a:t>(</a:t>
                      </a:r>
                      <a:r>
                        <a:rPr lang="zh-CN" altLang="en-US" sz="1600">
                          <a:solidFill>
                            <a:schemeClr val="bg1"/>
                          </a:solidFill>
                        </a:rPr>
                        <a:t>结果</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1388611509"/>
              </p:ext>
            </p:extLst>
          </p:nvPr>
        </p:nvGraphicFramePr>
        <p:xfrm>
          <a:off x="695326" y="2987380"/>
          <a:ext cx="10801348" cy="327689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60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关键性 </a:t>
                      </a:r>
                      <a:r>
                        <a:rPr lang="en-US" sz="160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966257271"/>
                  </a:ext>
                </a:extLst>
              </a:tr>
              <a:tr h="480873">
                <a:tc>
                  <a:txBody>
                    <a:bodyPr/>
                    <a:lstStyle/>
                    <a:p>
                      <a:pPr algn="l">
                        <a:buNone/>
                      </a:pPr>
                      <a:r>
                        <a:rPr lang="en-US" sz="1600">
                          <a:solidFill>
                            <a:schemeClr val="bg1"/>
                          </a:solidFill>
                        </a:rPr>
                        <a:t>Crystal Clear</a:t>
                      </a:r>
                      <a:br>
                        <a:rPr lang="en-US" sz="1600">
                          <a:solidFill>
                            <a:schemeClr val="bg1"/>
                          </a:solidFill>
                        </a:rPr>
                      </a:br>
                      <a:r>
                        <a:rPr lang="zh-CN" altLang="en-US" sz="1600">
                          <a:solidFill>
                            <a:schemeClr val="bg1"/>
                          </a:solidFill>
                        </a:rPr>
                        <a:t>透明水晶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 8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舒适型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最轻量级。几乎不需要文档，靠面对面沟通</a:t>
                      </a:r>
                      <a:endParaRPr lang="en-US" altLang="zh-CN" sz="1600">
                        <a:solidFill>
                          <a:schemeClr val="bg1"/>
                        </a:solidFill>
                      </a:endParaRPr>
                    </a:p>
                    <a:p>
                      <a:pPr algn="l">
                        <a:buNone/>
                      </a:pPr>
                      <a:r>
                        <a:rPr lang="zh-CN" altLang="en-US" sz="1600">
                          <a:solidFill>
                            <a:schemeClr val="bg1"/>
                          </a:solidFill>
                        </a:rPr>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600">
                          <a:solidFill>
                            <a:schemeClr val="bg1"/>
                          </a:solidFill>
                        </a:rPr>
                        <a:t>Crystal Yellow</a:t>
                      </a:r>
                      <a:br>
                        <a:rPr lang="en-US" sz="1600">
                          <a:solidFill>
                            <a:schemeClr val="bg1"/>
                          </a:solidFill>
                        </a:rPr>
                      </a:br>
                      <a:r>
                        <a:rPr lang="zh-CN" altLang="en-US" sz="1600">
                          <a:solidFill>
                            <a:schemeClr val="bg1"/>
                          </a:solidFill>
                        </a:rPr>
                        <a:t>黄水晶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10 ~ 20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 </a:t>
                      </a:r>
                      <a:r>
                        <a:rPr lang="en-US" altLang="zh-CN" sz="1600">
                          <a:solidFill>
                            <a:schemeClr val="bg1"/>
                          </a:solidFill>
                        </a:rPr>
                        <a:t>(</a:t>
                      </a:r>
                      <a:r>
                        <a:rPr lang="zh-CN" altLang="en-US" sz="1600">
                          <a:solidFill>
                            <a:schemeClr val="bg1"/>
                          </a:solidFill>
                        </a:rPr>
                        <a:t>重要型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需要少量的文档和定期的里程碑检查</a:t>
                      </a:r>
                      <a:endParaRPr lang="en-US" altLang="zh-CN" sz="1600">
                        <a:solidFill>
                          <a:schemeClr val="bg1"/>
                        </a:solidFill>
                      </a:endParaRPr>
                    </a:p>
                    <a:p>
                      <a:pPr algn="l">
                        <a:buNone/>
                      </a:pPr>
                      <a:r>
                        <a:rPr lang="zh-CN" altLang="en-US" sz="1600">
                          <a:solidFill>
                            <a:schemeClr val="bg1"/>
                          </a:solidFill>
                        </a:rPr>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600">
                          <a:solidFill>
                            <a:schemeClr val="bg1"/>
                          </a:solidFill>
                        </a:rPr>
                        <a:t>Crystal Orange</a:t>
                      </a:r>
                      <a:br>
                        <a:rPr lang="en-US" sz="1600">
                          <a:solidFill>
                            <a:schemeClr val="bg1"/>
                          </a:solidFill>
                        </a:rPr>
                      </a:br>
                      <a:r>
                        <a:rPr lang="zh-CN" altLang="en-US" sz="1600">
                          <a:solidFill>
                            <a:schemeClr val="bg1"/>
                          </a:solidFill>
                        </a:rPr>
                        <a:t>橙水晶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20 ~ 50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高 </a:t>
                      </a:r>
                      <a:r>
                        <a:rPr lang="en-US" altLang="zh-CN" sz="1600">
                          <a:solidFill>
                            <a:schemeClr val="bg1"/>
                          </a:solidFill>
                        </a:rPr>
                        <a:t>(</a:t>
                      </a:r>
                      <a:r>
                        <a:rPr lang="zh-CN" altLang="en-US" sz="1600">
                          <a:solidFill>
                            <a:schemeClr val="bg1"/>
                          </a:solidFill>
                        </a:rPr>
                        <a:t>关键型</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需要更正式的架构设计、详细的文档和严格的测试</a:t>
                      </a:r>
                      <a:endParaRPr lang="en-US" altLang="zh-CN" sz="1600">
                        <a:solidFill>
                          <a:schemeClr val="bg1"/>
                        </a:solidFill>
                      </a:endParaRPr>
                    </a:p>
                    <a:p>
                      <a:pPr algn="l">
                        <a:buNone/>
                      </a:pPr>
                      <a:r>
                        <a:rPr lang="zh-CN" altLang="en-US" sz="1600">
                          <a:solidFill>
                            <a:schemeClr val="bg1"/>
                          </a:solidFill>
                        </a:rPr>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600">
                          <a:solidFill>
                            <a:schemeClr val="bg1"/>
                          </a:solidFill>
                        </a:rPr>
                        <a:t>Crystal Red</a:t>
                      </a:r>
                      <a:br>
                        <a:rPr lang="en-US" sz="1600">
                          <a:solidFill>
                            <a:schemeClr val="bg1"/>
                          </a:solidFill>
                        </a:rPr>
                      </a:br>
                      <a:r>
                        <a:rPr lang="zh-CN" altLang="en-US" sz="1600">
                          <a:solidFill>
                            <a:schemeClr val="bg1"/>
                          </a:solidFill>
                        </a:rPr>
                        <a:t>红水晶</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50 ~ 100 </a:t>
                      </a:r>
                      <a:r>
                        <a:rPr lang="zh-CN" altLang="en-US" sz="1600">
                          <a:solidFill>
                            <a:schemeClr val="bg1"/>
                          </a:solidFill>
                        </a:rPr>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生命攸关</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非常严格，接近传统瀑布模型的严谨性，但保留敏捷迭代</a:t>
                      </a:r>
                      <a:endParaRPr lang="en-US" altLang="zh-CN" sz="1600">
                        <a:solidFill>
                          <a:schemeClr val="bg1"/>
                        </a:solidFill>
                      </a:endParaRPr>
                    </a:p>
                    <a:p>
                      <a:pPr algn="l">
                        <a:buNone/>
                      </a:pPr>
                      <a:r>
                        <a:rPr lang="zh-CN" altLang="en-US" sz="1600">
                          <a:solidFill>
                            <a:schemeClr val="bg1"/>
                          </a:solidFill>
                        </a:rPr>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还有 </a:t>
                      </a:r>
                      <a:r>
                        <a:rPr lang="en-US" altLang="zh-CN" sz="1600">
                          <a:solidFill>
                            <a:schemeClr val="bg1"/>
                          </a:solidFill>
                        </a:rPr>
                        <a:t>Diamond (</a:t>
                      </a:r>
                      <a:r>
                        <a:rPr lang="zh-CN" altLang="en-US" sz="1600">
                          <a:solidFill>
                            <a:schemeClr val="bg1"/>
                          </a:solidFill>
                        </a:rPr>
                        <a:t>钻石</a:t>
                      </a:r>
                      <a:r>
                        <a:rPr lang="en-US" altLang="zh-CN" sz="1600">
                          <a:solidFill>
                            <a:schemeClr val="bg1"/>
                          </a:solidFill>
                        </a:rPr>
                        <a:t>) </a:t>
                      </a:r>
                      <a:r>
                        <a:rPr lang="zh-CN" altLang="en-US" sz="1600">
                          <a:solidFill>
                            <a:schemeClr val="bg1"/>
                          </a:solidFill>
                        </a:rPr>
                        <a:t>等更重的变体</a:t>
                      </a:r>
                      <a:endParaRPr lang="en-US" altLang="zh-CN" sz="1600">
                        <a:solidFill>
                          <a:schemeClr val="bg1"/>
                        </a:solidFill>
                      </a:endParaRPr>
                    </a:p>
                    <a:p>
                      <a:pPr algn="l">
                        <a:buNone/>
                      </a:pPr>
                      <a:r>
                        <a:rPr lang="zh-CN" altLang="en-US" sz="1600">
                          <a:solidFill>
                            <a:schemeClr val="bg1"/>
                          </a:solidFill>
                        </a:rPr>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806641664"/>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XP</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en-US" sz="1600">
                          <a:solidFill>
                            <a:schemeClr val="bg1"/>
                          </a:solidFill>
                        </a:rPr>
                        <a:t>Crystal</a:t>
                      </a:r>
                      <a:endParaRPr lang="en-US" altLang="zh-CN"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632227031"/>
                  </a:ext>
                </a:extLst>
              </a:tr>
              <a:tr h="640080">
                <a:tc>
                  <a:txBody>
                    <a:bodyPr/>
                    <a:lstStyle/>
                    <a:p>
                      <a:pPr algn="l">
                        <a:buNone/>
                      </a:pPr>
                      <a:r>
                        <a:rPr lang="zh-CN" altLang="en-US" sz="160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流程框架 </a:t>
                      </a:r>
                      <a:r>
                        <a:rPr lang="en-US" altLang="zh-CN" sz="1600">
                          <a:solidFill>
                            <a:schemeClr val="bg1"/>
                          </a:solidFill>
                        </a:rPr>
                        <a:t>(</a:t>
                      </a:r>
                      <a:r>
                        <a:rPr lang="zh-CN" altLang="en-US" sz="1600">
                          <a:solidFill>
                            <a:schemeClr val="bg1"/>
                          </a:solidFill>
                        </a:rPr>
                        <a:t>角色、会议、工件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工程实践 </a:t>
                      </a:r>
                      <a:r>
                        <a:rPr lang="en-US" altLang="zh-CN" sz="1600">
                          <a:solidFill>
                            <a:schemeClr val="bg1"/>
                          </a:solidFill>
                        </a:rPr>
                        <a:t>(</a:t>
                      </a:r>
                      <a:r>
                        <a:rPr lang="zh-CN" altLang="en-US" sz="1600">
                          <a:solidFill>
                            <a:schemeClr val="bg1"/>
                          </a:solidFill>
                        </a:rPr>
                        <a:t>结对编程、</a:t>
                      </a:r>
                      <a:r>
                        <a:rPr lang="en-US" altLang="zh-CN" sz="1600">
                          <a:solidFill>
                            <a:schemeClr val="bg1"/>
                          </a:solidFill>
                        </a:rPr>
                        <a:t>TDD</a:t>
                      </a:r>
                      <a:r>
                        <a:rPr lang="zh-CN" altLang="en-US" sz="1600">
                          <a:solidFill>
                            <a:schemeClr val="bg1"/>
                          </a:solidFill>
                        </a:rPr>
                        <a:t>、重构</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人与沟通 </a:t>
                      </a:r>
                      <a:r>
                        <a:rPr lang="en-US" altLang="zh-CN" sz="1600">
                          <a:solidFill>
                            <a:schemeClr val="bg1"/>
                          </a:solidFill>
                        </a:rPr>
                        <a:t>(</a:t>
                      </a:r>
                      <a:r>
                        <a:rPr lang="zh-CN" altLang="en-US" sz="1600">
                          <a:solidFill>
                            <a:schemeClr val="bg1"/>
                          </a:solidFill>
                        </a:rPr>
                        <a:t>根据情境调整</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600">
                          <a:solidFill>
                            <a:schemeClr val="bg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中等 </a:t>
                      </a:r>
                      <a:r>
                        <a:rPr lang="en-US" altLang="zh-CN" sz="1600">
                          <a:solidFill>
                            <a:schemeClr val="bg1"/>
                          </a:solidFill>
                        </a:rPr>
                        <a:t>(</a:t>
                      </a:r>
                      <a:r>
                        <a:rPr lang="zh-CN" altLang="en-US" sz="1600">
                          <a:solidFill>
                            <a:schemeClr val="bg1"/>
                          </a:solidFill>
                        </a:rPr>
                        <a:t>规则相对固定</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必须遵守严格的技术实践</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极高 </a:t>
                      </a:r>
                      <a:r>
                        <a:rPr lang="en-US" altLang="zh-CN" sz="1600">
                          <a:solidFill>
                            <a:schemeClr val="bg1"/>
                          </a:solidFill>
                        </a:rPr>
                        <a:t>(</a:t>
                      </a:r>
                      <a:r>
                        <a:rPr lang="zh-CN" altLang="en-US" sz="1600">
                          <a:solidFill>
                            <a:schemeClr val="bg1"/>
                          </a:solidFill>
                        </a:rPr>
                        <a:t>没有固定规则，按需定制</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600">
                          <a:solidFill>
                            <a:schemeClr val="bg1"/>
                          </a:solidFill>
                        </a:rPr>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600">
                          <a:solidFill>
                            <a:schemeClr val="bg1"/>
                          </a:solidFill>
                        </a:rPr>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适中 </a:t>
                      </a:r>
                      <a:r>
                        <a:rPr lang="en-US" altLang="zh-CN" sz="1600">
                          <a:solidFill>
                            <a:schemeClr val="bg1"/>
                          </a:solidFill>
                        </a:rPr>
                        <a:t>(</a:t>
                      </a:r>
                      <a:r>
                        <a:rPr lang="en-US" sz="1600">
                          <a:solidFill>
                            <a:schemeClr val="bg1"/>
                          </a:solidFill>
                        </a:rPr>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低 </a:t>
                      </a:r>
                      <a:r>
                        <a:rPr lang="en-US" altLang="zh-CN" sz="1600">
                          <a:solidFill>
                            <a:schemeClr val="bg1"/>
                          </a:solidFill>
                        </a:rPr>
                        <a:t>(</a:t>
                      </a:r>
                      <a:r>
                        <a:rPr lang="zh-CN" altLang="en-US" sz="1600">
                          <a:solidFill>
                            <a:schemeClr val="bg1"/>
                          </a:solidFill>
                        </a:rPr>
                        <a:t>代码即文档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动态调整 </a:t>
                      </a:r>
                      <a:r>
                        <a:rPr lang="en-US" altLang="zh-CN" sz="1600">
                          <a:solidFill>
                            <a:schemeClr val="bg1"/>
                          </a:solidFill>
                        </a:rPr>
                        <a:t>(Clear </a:t>
                      </a:r>
                      <a:r>
                        <a:rPr lang="zh-CN" altLang="en-US" sz="1600">
                          <a:solidFill>
                            <a:schemeClr val="bg1"/>
                          </a:solidFill>
                        </a:rPr>
                        <a:t>几乎无文档，</a:t>
                      </a:r>
                      <a:r>
                        <a:rPr lang="en-US" altLang="zh-CN" sz="1600">
                          <a:solidFill>
                            <a:schemeClr val="bg1"/>
                          </a:solidFill>
                        </a:rPr>
                        <a:t>Red </a:t>
                      </a:r>
                      <a:r>
                        <a:rPr lang="zh-CN" altLang="en-US" sz="1600">
                          <a:solidFill>
                            <a:schemeClr val="bg1"/>
                          </a:solidFill>
                        </a:rPr>
                        <a:t>大量文档</a:t>
                      </a:r>
                      <a:r>
                        <a:rPr lang="en-US" altLang="zh-CN" sz="1600">
                          <a:solidFill>
                            <a:schemeClr val="bg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600">
                          <a:solidFill>
                            <a:schemeClr val="bg1"/>
                          </a:solidFill>
                        </a:rPr>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600">
                          <a:solidFill>
                            <a:schemeClr val="bg1"/>
                          </a:solidFill>
                        </a:rPr>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a:hlinkClick r:id="rId3"/>
              </a:rPr>
              <a:t>https://scrumguides.org</a:t>
            </a:r>
            <a:r>
              <a:rPr lang="en-US" altLang="zh-CN"/>
              <a:t> </a:t>
            </a:r>
          </a:p>
          <a:p>
            <a:r>
              <a:rPr lang="en-US" altLang="zh-CN"/>
              <a:t>Scrum is a lightweight </a:t>
            </a:r>
            <a:r>
              <a:rPr lang="en-US" altLang="zh-CN" b="1">
                <a:solidFill>
                  <a:srgbClr val="FFFF00"/>
                </a:solidFill>
              </a:rPr>
              <a:t>framework</a:t>
            </a:r>
            <a:r>
              <a:rPr lang="en-US" altLang="zh-CN"/>
              <a:t> that helps people, teams and organizations generate value through adaptive solutions for complex problems. </a:t>
            </a:r>
            <a:endParaRPr lang="zh-CN" altLang="en-US"/>
          </a:p>
          <a:p>
            <a:endParaRPr lang="en-US" altLang="zh-CN"/>
          </a:p>
          <a:p>
            <a:r>
              <a:rPr lang="en-US" altLang="zh-CN"/>
              <a:t>Changing the core design or ideas of Scrum</a:t>
            </a:r>
          </a:p>
          <a:p>
            <a:r>
              <a:rPr lang="en-US" altLang="zh-CN"/>
              <a:t>leaving out elements</a:t>
            </a:r>
          </a:p>
          <a:p>
            <a:r>
              <a:rPr lang="en-US" altLang="zh-CN"/>
              <a:t>not following the rules of Scrum</a:t>
            </a:r>
          </a:p>
          <a:p>
            <a:endParaRPr lang="en-US" altLang="zh-CN"/>
          </a:p>
          <a:p>
            <a:r>
              <a:rPr lang="en-US" altLang="zh-CN"/>
              <a:t>covers up problems and limits the benefits of Scrum</a:t>
            </a:r>
          </a:p>
          <a:p>
            <a:r>
              <a:rPr lang="en-US" altLang="zh-CN"/>
              <a:t>potentially even rendering it useless.</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a:t>透明性 </a:t>
            </a:r>
            <a:r>
              <a:rPr lang="en-US" altLang="zh-CN"/>
              <a:t>Transparency</a:t>
            </a:r>
          </a:p>
          <a:p>
            <a:pPr lvl="1"/>
            <a:r>
              <a:rPr lang="en-US" altLang="zh-CN"/>
              <a:t>must be </a:t>
            </a:r>
            <a:r>
              <a:rPr lang="en-US" altLang="zh-CN" b="1">
                <a:solidFill>
                  <a:srgbClr val="FFFF00"/>
                </a:solidFill>
              </a:rPr>
              <a:t>visible</a:t>
            </a:r>
            <a:r>
              <a:rPr lang="en-US" altLang="zh-CN"/>
              <a:t> to those performing the work as well as those receiving the work</a:t>
            </a:r>
          </a:p>
          <a:p>
            <a:pPr lvl="1"/>
            <a:r>
              <a:rPr lang="en-US" altLang="zh-CN"/>
              <a:t>low transparency can lead to decisions that diminish value and increase risk</a:t>
            </a:r>
          </a:p>
          <a:p>
            <a:pPr lvl="1"/>
            <a:r>
              <a:rPr lang="en-US" altLang="zh-CN"/>
              <a:t>Inspection without transparency is misleading and wasteful.</a:t>
            </a:r>
          </a:p>
          <a:p>
            <a:r>
              <a:rPr lang="zh-CN" altLang="en-US"/>
              <a:t>检视 </a:t>
            </a:r>
            <a:r>
              <a:rPr lang="en-US" altLang="zh-CN"/>
              <a:t>Inspection</a:t>
            </a:r>
          </a:p>
          <a:p>
            <a:pPr lvl="1"/>
            <a:r>
              <a:rPr lang="en-US" altLang="zh-CN"/>
              <a:t>must be inspected </a:t>
            </a:r>
            <a:r>
              <a:rPr lang="en-US" altLang="zh-CN" b="1">
                <a:solidFill>
                  <a:srgbClr val="FFFF00"/>
                </a:solidFill>
              </a:rPr>
              <a:t>frequently</a:t>
            </a:r>
            <a:r>
              <a:rPr lang="en-US" altLang="zh-CN"/>
              <a:t> and </a:t>
            </a:r>
            <a:r>
              <a:rPr lang="en-US" altLang="zh-CN" b="1">
                <a:solidFill>
                  <a:srgbClr val="FFFF00"/>
                </a:solidFill>
              </a:rPr>
              <a:t>diligently</a:t>
            </a:r>
            <a:r>
              <a:rPr lang="en-US" altLang="zh-CN"/>
              <a:t> to detect potentially undesirable variances or problems</a:t>
            </a:r>
          </a:p>
          <a:p>
            <a:r>
              <a:rPr lang="zh-CN" altLang="en-US"/>
              <a:t>适应 </a:t>
            </a:r>
            <a:r>
              <a:rPr lang="en-US" altLang="zh-CN"/>
              <a:t>Adaptation</a:t>
            </a:r>
          </a:p>
          <a:p>
            <a:pPr lvl="1"/>
            <a:r>
              <a:rPr lang="en-US" altLang="zh-CN"/>
              <a:t>Case1</a:t>
            </a:r>
            <a:r>
              <a:rPr lang="zh-CN" altLang="en-US"/>
              <a:t>：</a:t>
            </a:r>
            <a:r>
              <a:rPr lang="en-US" altLang="zh-CN"/>
              <a:t>any aspects of a process </a:t>
            </a:r>
            <a:r>
              <a:rPr lang="en-US" altLang="zh-CN" b="1">
                <a:solidFill>
                  <a:srgbClr val="FFFF00"/>
                </a:solidFill>
              </a:rPr>
              <a:t>deviate</a:t>
            </a:r>
            <a:r>
              <a:rPr lang="en-US" altLang="zh-CN"/>
              <a:t> outside acceptable limits</a:t>
            </a:r>
          </a:p>
          <a:p>
            <a:pPr lvl="1"/>
            <a:r>
              <a:rPr lang="en-US" altLang="zh-CN"/>
              <a:t>Case2</a:t>
            </a:r>
            <a:r>
              <a:rPr lang="zh-CN" altLang="en-US"/>
              <a:t>：</a:t>
            </a:r>
            <a:r>
              <a:rPr lang="en-US" altLang="zh-CN"/>
              <a:t>the resulting product is </a:t>
            </a:r>
            <a:r>
              <a:rPr lang="en-US" altLang="zh-CN" b="1">
                <a:solidFill>
                  <a:srgbClr val="FFFF00"/>
                </a:solidFill>
              </a:rPr>
              <a:t>unacceptable</a:t>
            </a:r>
          </a:p>
          <a:p>
            <a:pPr lvl="1"/>
            <a:r>
              <a:rPr lang="en-US" altLang="zh-CN"/>
              <a:t>Case3</a:t>
            </a:r>
            <a:r>
              <a:rPr lang="zh-CN" altLang="en-US"/>
              <a:t>：</a:t>
            </a:r>
            <a:r>
              <a:rPr lang="en-US" altLang="zh-CN"/>
              <a:t>expected to adapt </a:t>
            </a:r>
            <a:r>
              <a:rPr lang="en-US" altLang="zh-CN" b="1">
                <a:solidFill>
                  <a:srgbClr val="FFFF00"/>
                </a:solidFill>
              </a:rPr>
              <a:t>the</a:t>
            </a:r>
            <a:r>
              <a:rPr lang="en-US" altLang="zh-CN"/>
              <a:t> </a:t>
            </a:r>
            <a:r>
              <a:rPr lang="en-US" altLang="zh-CN" b="1">
                <a:solidFill>
                  <a:srgbClr val="FFFF00"/>
                </a:solidFill>
              </a:rPr>
              <a:t>moment</a:t>
            </a:r>
            <a:r>
              <a:rPr lang="en-US" altLang="zh-CN"/>
              <a:t> it learns anything new through inspection</a:t>
            </a:r>
            <a:endParaRPr lang="en-US" altLang="zh-CN" b="1">
              <a:solidFill>
                <a:srgbClr val="FF0000"/>
              </a:solidFill>
            </a:endParaRPr>
          </a:p>
          <a:p>
            <a:pPr lvl="1"/>
            <a:r>
              <a:rPr lang="en-US" altLang="zh-CN"/>
              <a:t>becomes more difficult when the people involved are </a:t>
            </a:r>
            <a:r>
              <a:rPr lang="en-US" altLang="zh-CN" b="1">
                <a:solidFill>
                  <a:srgbClr val="FFFF00"/>
                </a:solidFill>
              </a:rPr>
              <a:t>not</a:t>
            </a:r>
            <a:r>
              <a:rPr lang="en-US" altLang="zh-CN"/>
              <a:t> empowered or self-managing</a:t>
            </a:r>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10" name="内容占位符 9">
            <a:extLst>
              <a:ext uri="{FF2B5EF4-FFF2-40B4-BE49-F238E27FC236}">
                <a16:creationId xmlns:a16="http://schemas.microsoft.com/office/drawing/2014/main" id="{2E77BAD5-2ACC-BBCD-26C2-F4A0C2BDE93A}"/>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所有与过程、工作、进展和挑战相关的信息必须对团队和干系人清晰可见</a:t>
              </a:r>
            </a:p>
            <a:p>
              <a:pPr marL="285750" indent="-285750" algn="just">
                <a:buFont typeface="Arial" panose="020B0604020202020204" pitchFamily="34" charset="0"/>
                <a:buChar char="•"/>
              </a:pPr>
              <a:r>
                <a:rPr lang="zh-CN" altLang="en-US" sz="1600">
                  <a:solidFill>
                    <a:schemeClr val="bg1"/>
                  </a:solidFill>
                </a:rPr>
                <a:t>工作项（如 </a:t>
              </a:r>
              <a:r>
                <a:rPr lang="en-US" altLang="zh-CN" sz="1600">
                  <a:solidFill>
                    <a:schemeClr val="bg1"/>
                  </a:solidFill>
                </a:rPr>
                <a:t>Product Backlog</a:t>
              </a:r>
              <a:r>
                <a:rPr lang="zh-CN" altLang="en-US" sz="1600">
                  <a:solidFill>
                    <a:schemeClr val="bg1"/>
                  </a:solidFill>
                </a:rPr>
                <a:t>）的内容、状态和优先级必须公开</a:t>
              </a:r>
            </a:p>
            <a:p>
              <a:pPr marL="285750" indent="-285750" algn="just">
                <a:buFont typeface="Arial" panose="020B0604020202020204" pitchFamily="34" charset="0"/>
                <a:buChar char="•"/>
              </a:pPr>
              <a:r>
                <a:rPr lang="zh-CN" altLang="en-US" sz="1600">
                  <a:solidFill>
                    <a:schemeClr val="bg1"/>
                  </a:solidFill>
                </a:rPr>
                <a:t>团队使用统一的术语（如完成定义 </a:t>
              </a:r>
              <a:r>
                <a:rPr lang="en-US" altLang="zh-CN" sz="1600">
                  <a:solidFill>
                    <a:schemeClr val="bg1"/>
                  </a:solidFill>
                </a:rPr>
                <a:t>- Definition of Done</a:t>
              </a:r>
              <a:r>
                <a:rPr lang="zh-CN" altLang="en-US" sz="1600">
                  <a:solidFill>
                    <a:schemeClr val="bg1"/>
                  </a:solidFill>
                </a:rPr>
                <a:t>）</a:t>
              </a:r>
            </a:p>
            <a:p>
              <a:pPr marL="285750" indent="-285750" algn="just">
                <a:buFont typeface="Arial" panose="020B0604020202020204" pitchFamily="34" charset="0"/>
                <a:buChar char="•"/>
              </a:pPr>
              <a:r>
                <a:rPr lang="zh-CN" altLang="en-US" sz="1600">
                  <a:solidFill>
                    <a:schemeClr val="bg1"/>
                  </a:solidFill>
                </a:rPr>
                <a:t>进度通过可视化工具（如 </a:t>
              </a:r>
              <a:r>
                <a:rPr lang="en-US" altLang="zh-CN" sz="1600">
                  <a:solidFill>
                    <a:schemeClr val="bg1"/>
                  </a:solidFill>
                </a:rPr>
                <a:t>Sprint Burndown Chart</a:t>
              </a:r>
              <a:r>
                <a:rPr lang="zh-CN" altLang="en-US" sz="1600">
                  <a:solidFill>
                    <a:schemeClr val="bg1"/>
                  </a:solidFill>
                </a:rPr>
                <a:t>、看板）展示</a:t>
              </a:r>
            </a:p>
            <a:p>
              <a:pPr marL="285750" indent="-285750" algn="just">
                <a:buFont typeface="Arial" panose="020B0604020202020204" pitchFamily="34" charset="0"/>
                <a:buChar char="•"/>
              </a:pPr>
              <a:r>
                <a:rPr lang="zh-CN" altLang="en-US" sz="1600">
                  <a:solidFill>
                    <a:schemeClr val="bg1"/>
                  </a:solidFill>
                </a:rPr>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solidFill>
                    <a:schemeClr val="bg1"/>
                  </a:solidFill>
                </a:rPr>
                <a:t>基于检视结果，团队必须迅速调整行为、计划或方法</a:t>
              </a:r>
            </a:p>
            <a:p>
              <a:pPr marL="285750" indent="-285750" algn="just">
                <a:buFont typeface="Arial" panose="020B0604020202020204" pitchFamily="34" charset="0"/>
                <a:buChar char="•"/>
              </a:pPr>
              <a:r>
                <a:rPr lang="zh-CN" altLang="en-US" sz="1600">
                  <a:solidFill>
                    <a:schemeClr val="bg1"/>
                  </a:solidFill>
                </a:rPr>
                <a:t>如果发现产品方向偏离，可在下个 </a:t>
              </a:r>
              <a:r>
                <a:rPr lang="en-US" altLang="zh-CN" sz="1600">
                  <a:solidFill>
                    <a:schemeClr val="bg1"/>
                  </a:solidFill>
                </a:rPr>
                <a:t>Sprint </a:t>
              </a:r>
              <a:r>
                <a:rPr lang="zh-CN" altLang="en-US" sz="1600">
                  <a:solidFill>
                    <a:schemeClr val="bg1"/>
                  </a:solidFill>
                </a:rPr>
                <a:t>调整 </a:t>
              </a:r>
              <a:r>
                <a:rPr lang="en-US" altLang="zh-CN" sz="1600">
                  <a:solidFill>
                    <a:schemeClr val="bg1"/>
                  </a:solidFill>
                </a:rPr>
                <a:t>Backlog</a:t>
              </a:r>
              <a:endParaRPr lang="zh-CN" altLang="en-US" sz="1600">
                <a:solidFill>
                  <a:schemeClr val="bg1"/>
                </a:solidFill>
              </a:endParaRPr>
            </a:p>
            <a:p>
              <a:pPr marL="285750" indent="-285750" algn="just">
                <a:buFont typeface="Arial" panose="020B0604020202020204" pitchFamily="34" charset="0"/>
                <a:buChar char="•"/>
              </a:pPr>
              <a:r>
                <a:rPr lang="zh-CN" altLang="en-US" sz="1600">
                  <a:solidFill>
                    <a:schemeClr val="bg1"/>
                  </a:solidFill>
                </a:rPr>
                <a:t>如果流程效率低，可在 </a:t>
              </a:r>
              <a:r>
                <a:rPr lang="en-US" altLang="zh-CN" sz="1600">
                  <a:solidFill>
                    <a:schemeClr val="bg1"/>
                  </a:solidFill>
                </a:rPr>
                <a:t>Retrospective </a:t>
              </a:r>
              <a:r>
                <a:rPr lang="zh-CN" altLang="en-US" sz="1600">
                  <a:solidFill>
                    <a:schemeClr val="bg1"/>
                  </a:solidFill>
                </a:rPr>
                <a:t>后改进工作方式</a:t>
              </a:r>
            </a:p>
            <a:p>
              <a:pPr marL="285750" indent="-285750" algn="just">
                <a:buFont typeface="Arial" panose="020B0604020202020204" pitchFamily="34" charset="0"/>
                <a:buChar char="•"/>
              </a:pPr>
              <a:r>
                <a:rPr lang="zh-CN" altLang="en-US" sz="1600">
                  <a:solidFill>
                    <a:schemeClr val="bg1"/>
                  </a:solidFill>
                </a:rPr>
                <a:t>适应必须在可接受的时间窗口内发生（通常在下一个 </a:t>
              </a:r>
              <a:r>
                <a:rPr lang="en-US" altLang="zh-CN" sz="1600">
                  <a:solidFill>
                    <a:schemeClr val="bg1"/>
                  </a:solidFill>
                </a:rPr>
                <a:t>Sprint </a:t>
              </a:r>
              <a:r>
                <a:rPr lang="zh-CN" altLang="en-US" sz="1600">
                  <a:solidFill>
                    <a:schemeClr val="bg1"/>
                  </a:solidFill>
                </a:rPr>
                <a:t>开始前）</a:t>
              </a:r>
            </a:p>
            <a:p>
              <a:pPr marL="285750" indent="-285750" algn="just">
                <a:buFont typeface="Arial" panose="020B0604020202020204" pitchFamily="34" charset="0"/>
                <a:buChar char="•"/>
              </a:pPr>
              <a:r>
                <a:rPr lang="zh-CN" altLang="en-US" sz="1600">
                  <a:solidFill>
                    <a:schemeClr val="bg1"/>
                  </a:solidFill>
                </a:rPr>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solidFill>
                    <a:schemeClr val="bg1"/>
                  </a:solidFill>
                </a:rPr>
                <a:t>Scrum </a:t>
              </a:r>
              <a:r>
                <a:rPr lang="zh-CN" altLang="en-US" sz="1600">
                  <a:solidFill>
                    <a:schemeClr val="bg1"/>
                  </a:solidFill>
                </a:rPr>
                <a:t>团队定期检查产品、过程和计划，以识别偏差或改进机会</a:t>
              </a:r>
            </a:p>
            <a:p>
              <a:pPr marL="285750" indent="-285750" algn="just">
                <a:buFont typeface="Arial" panose="020B0604020202020204" pitchFamily="34" charset="0"/>
                <a:buChar char="•"/>
              </a:pPr>
              <a:r>
                <a:rPr lang="zh-CN" altLang="en-US" sz="1600">
                  <a:solidFill>
                    <a:schemeClr val="bg1"/>
                  </a:solidFill>
                </a:rPr>
                <a:t>在固定时间点进行：</a:t>
              </a:r>
            </a:p>
            <a:p>
              <a:pPr marL="285750" indent="-285750" algn="just">
                <a:buFont typeface="Arial" panose="020B0604020202020204" pitchFamily="34" charset="0"/>
                <a:buChar char="•"/>
              </a:pPr>
              <a:r>
                <a:rPr lang="en-US" altLang="zh-CN" sz="1600">
                  <a:solidFill>
                    <a:schemeClr val="bg1"/>
                  </a:solidFill>
                </a:rPr>
                <a:t>Daily Scrum</a:t>
              </a:r>
              <a:r>
                <a:rPr lang="zh-CN" altLang="en-US" sz="1600">
                  <a:solidFill>
                    <a:schemeClr val="bg1"/>
                  </a:solidFill>
                </a:rPr>
                <a:t>：每日检视进度与障碍</a:t>
              </a:r>
            </a:p>
            <a:p>
              <a:pPr marL="285750" indent="-285750" algn="just">
                <a:buFont typeface="Arial" panose="020B0604020202020204" pitchFamily="34" charset="0"/>
                <a:buChar char="•"/>
              </a:pPr>
              <a:r>
                <a:rPr lang="en-US" altLang="zh-CN" sz="1600">
                  <a:solidFill>
                    <a:schemeClr val="bg1"/>
                  </a:solidFill>
                </a:rPr>
                <a:t>Sprint Review</a:t>
              </a:r>
              <a:r>
                <a:rPr lang="zh-CN" altLang="en-US" sz="1600">
                  <a:solidFill>
                    <a:schemeClr val="bg1"/>
                  </a:solidFill>
                </a:rPr>
                <a:t>：检视可交付成果是否满足目标</a:t>
              </a:r>
            </a:p>
            <a:p>
              <a:pPr marL="285750" indent="-285750" algn="just">
                <a:buFont typeface="Arial" panose="020B0604020202020204" pitchFamily="34" charset="0"/>
                <a:buChar char="•"/>
              </a:pPr>
              <a:r>
                <a:rPr lang="en-US" altLang="zh-CN" sz="1600">
                  <a:solidFill>
                    <a:schemeClr val="bg1"/>
                  </a:solidFill>
                </a:rPr>
                <a:t>Sprint Retrospective</a:t>
              </a:r>
              <a:r>
                <a:rPr lang="zh-CN" altLang="en-US" sz="1600">
                  <a:solidFill>
                    <a:schemeClr val="bg1"/>
                  </a:solidFill>
                </a:rPr>
                <a:t>：检视流程与协作方式</a:t>
              </a:r>
            </a:p>
            <a:p>
              <a:pPr marL="285750" indent="-285750" algn="just">
                <a:buFont typeface="Arial" panose="020B0604020202020204" pitchFamily="34" charset="0"/>
                <a:buChar char="•"/>
              </a:pPr>
              <a:r>
                <a:rPr lang="zh-CN" altLang="en-US" sz="1600">
                  <a:solidFill>
                    <a:schemeClr val="bg1"/>
                  </a:solidFill>
                </a:rPr>
                <a:t>检视必须及时（不能等到项目结束），且不影响正常工作流</a:t>
              </a:r>
            </a:p>
            <a:p>
              <a:pPr marL="285750" indent="-285750" algn="just">
                <a:buFont typeface="Arial" panose="020B0604020202020204" pitchFamily="34" charset="0"/>
                <a:buChar char="•"/>
              </a:pPr>
              <a:r>
                <a:rPr lang="zh-CN" altLang="en-US" sz="1600">
                  <a:solidFill>
                    <a:schemeClr val="bg1"/>
                  </a:solidFill>
                </a:rPr>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7" name="内容占位符 6">
            <a:extLst>
              <a:ext uri="{FF2B5EF4-FFF2-40B4-BE49-F238E27FC236}">
                <a16:creationId xmlns:a16="http://schemas.microsoft.com/office/drawing/2014/main" id="{D6091357-22F9-23F7-606C-EACB3E9516F7}"/>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67057156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Items</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r>
                        <a:rPr lang="en-US" altLang="zh-CN" sz="1600">
                          <a:solidFill>
                            <a:schemeClr val="bg1"/>
                          </a:solidFill>
                        </a:rPr>
                        <a:t>Description</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96229957"/>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价值观 </a:t>
                      </a:r>
                      <a:r>
                        <a:rPr lang="en-US" altLang="zh-CN" sz="1600">
                          <a:solidFill>
                            <a:schemeClr val="bg1"/>
                          </a:solidFill>
                        </a:rPr>
                        <a:t>Values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承诺 </a:t>
                      </a:r>
                      <a:r>
                        <a:rPr lang="en-US" altLang="zh-CN" sz="1600">
                          <a:solidFill>
                            <a:schemeClr val="bg1"/>
                          </a:solidFill>
                        </a:rPr>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专注 </a:t>
                      </a:r>
                      <a:r>
                        <a:rPr lang="en-US" altLang="zh-CN" sz="1600">
                          <a:solidFill>
                            <a:schemeClr val="bg1"/>
                          </a:solidFill>
                        </a:rPr>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开放</a:t>
                      </a:r>
                      <a:r>
                        <a:rPr lang="en-US" altLang="zh-CN" sz="1600">
                          <a:solidFill>
                            <a:schemeClr val="bg1"/>
                          </a:solidFill>
                        </a:rPr>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尊重</a:t>
                      </a:r>
                      <a:r>
                        <a:rPr lang="en-US" altLang="zh-CN" sz="1600">
                          <a:solidFill>
                            <a:schemeClr val="bg1"/>
                          </a:solidFill>
                        </a:rPr>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勇气</a:t>
                      </a:r>
                      <a:r>
                        <a:rPr lang="en-US" altLang="zh-CN" sz="1600">
                          <a:solidFill>
                            <a:schemeClr val="bg1"/>
                          </a:solidFill>
                        </a:rPr>
                        <a:t> Courage</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团队 </a:t>
                      </a:r>
                      <a:r>
                        <a:rPr lang="en-US" altLang="zh-CN" sz="1600">
                          <a:solidFill>
                            <a:schemeClr val="bg1"/>
                          </a:solidFill>
                        </a:rPr>
                        <a:t>Team</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开发者 </a:t>
                      </a:r>
                      <a:r>
                        <a:rPr lang="en-US" altLang="zh-CN" sz="1600">
                          <a:solidFill>
                            <a:schemeClr val="bg1"/>
                          </a:solidFill>
                        </a:rPr>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产品负责人 </a:t>
                      </a:r>
                      <a:r>
                        <a:rPr lang="en-US" altLang="zh-CN" sz="1600">
                          <a:solidFill>
                            <a:schemeClr val="bg1"/>
                          </a:solidFill>
                        </a:rPr>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敏捷教练 </a:t>
                      </a:r>
                      <a:r>
                        <a:rPr lang="en-US" altLang="zh-CN" sz="1600">
                          <a:solidFill>
                            <a:schemeClr val="bg1"/>
                          </a:solidFill>
                        </a:rPr>
                        <a:t>Scrum Master</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solidFill>
                            <a:schemeClr val="bg1"/>
                          </a:solidFill>
                        </a:rPr>
                        <a:t>5</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事件 </a:t>
                      </a:r>
                      <a:r>
                        <a:rPr lang="en-US" altLang="zh-CN" sz="1600">
                          <a:solidFill>
                            <a:schemeClr val="bg1"/>
                          </a:solidFill>
                        </a:rPr>
                        <a:t>Events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 </a:t>
                      </a:r>
                      <a:r>
                        <a:rPr lang="en-US" altLang="zh-CN" sz="1600" b="0" i="0" u="none" strike="noStrike" kern="1200">
                          <a:solidFill>
                            <a:schemeClr val="bg1"/>
                          </a:solidFill>
                          <a:effectLst/>
                          <a:latin typeface="+mn-lt"/>
                          <a:ea typeface="+mn-ea"/>
                          <a:cs typeface="+mn-cs"/>
                        </a:rPr>
                        <a:t>The Sprint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冲刺规划 </a:t>
                      </a:r>
                      <a:r>
                        <a:rPr lang="en-US" altLang="zh-CN" sz="1600" b="0" i="0" u="none" strike="noStrike" kern="1200">
                          <a:solidFill>
                            <a:schemeClr val="bg1"/>
                          </a:solidFill>
                          <a:effectLst/>
                          <a:latin typeface="+mn-lt"/>
                          <a:ea typeface="+mn-ea"/>
                          <a:cs typeface="+mn-cs"/>
                        </a:rPr>
                        <a:t>Sprint Planning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每日站会 </a:t>
                      </a:r>
                      <a:r>
                        <a:rPr lang="en-US" altLang="zh-CN" sz="1600" b="0" i="0" u="none" strike="noStrike" kern="1200">
                          <a:solidFill>
                            <a:schemeClr val="bg1"/>
                          </a:solidFill>
                          <a:effectLst/>
                          <a:latin typeface="+mn-lt"/>
                          <a:ea typeface="+mn-ea"/>
                          <a:cs typeface="+mn-cs"/>
                        </a:rPr>
                        <a:t>Daily Scrum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冲刺评审 </a:t>
                      </a:r>
                      <a:r>
                        <a:rPr lang="en-US" altLang="zh-CN" sz="1600" b="0" i="0" u="none" strike="noStrike" kern="1200">
                          <a:solidFill>
                            <a:schemeClr val="bg1"/>
                          </a:solidFill>
                          <a:effectLst/>
                          <a:latin typeface="+mn-lt"/>
                          <a:ea typeface="+mn-ea"/>
                          <a:cs typeface="+mn-cs"/>
                        </a:rPr>
                        <a:t>Sprint Review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冲刺回顾 </a:t>
                      </a:r>
                      <a:r>
                        <a:rPr lang="en-US" altLang="zh-CN" sz="1600" b="0" i="0" u="none" strike="noStrike" kern="1200">
                          <a:solidFill>
                            <a:schemeClr val="bg1"/>
                          </a:solidFill>
                          <a:effectLst/>
                          <a:latin typeface="+mn-lt"/>
                          <a:ea typeface="+mn-ea"/>
                          <a:cs typeface="+mn-cs"/>
                        </a:rPr>
                        <a:t>Sprint Retrospective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solidFill>
                            <a:schemeClr val="bg1"/>
                          </a:solidFill>
                        </a:rPr>
                        <a:t>3</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solidFill>
                            <a:schemeClr val="bg1"/>
                          </a:solidFill>
                        </a:rPr>
                        <a:t>工件 </a:t>
                      </a:r>
                      <a:r>
                        <a:rPr lang="en-US" altLang="zh-CN" sz="1600">
                          <a:solidFill>
                            <a:schemeClr val="bg1"/>
                          </a:solidFill>
                        </a:rPr>
                        <a:t>Aircrafts</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产品待办事项 </a:t>
                      </a:r>
                      <a:r>
                        <a:rPr lang="en-US" altLang="zh-CN" sz="1600" b="0" i="0" u="none" strike="noStrike" kern="1200">
                          <a:solidFill>
                            <a:schemeClr val="bg1"/>
                          </a:solidFill>
                          <a:effectLst/>
                          <a:latin typeface="+mn-lt"/>
                          <a:ea typeface="+mn-ea"/>
                          <a:cs typeface="+mn-cs"/>
                        </a:rPr>
                        <a:t>Product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迭代待办列表 </a:t>
                      </a:r>
                      <a:r>
                        <a:rPr lang="en-US" altLang="zh-CN" sz="1600" b="0" i="0" u="none" strike="noStrike" kern="1200">
                          <a:solidFill>
                            <a:schemeClr val="bg1"/>
                          </a:solidFill>
                          <a:effectLst/>
                          <a:latin typeface="+mn-lt"/>
                          <a:ea typeface="+mn-ea"/>
                          <a:cs typeface="+mn-cs"/>
                        </a:rPr>
                        <a:t>Sprint Backlog </a:t>
                      </a:r>
                      <a:endParaRPr lang="zh-CN" altLang="en-US" sz="1600" b="0" i="0" u="none" strike="noStrike" kern="1200">
                        <a:solidFill>
                          <a:schemeClr val="bg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u="none" strike="noStrike" kern="1200">
                          <a:solidFill>
                            <a:schemeClr val="bg1"/>
                          </a:solidFill>
                          <a:effectLst/>
                          <a:latin typeface="+mn-lt"/>
                          <a:ea typeface="+mn-ea"/>
                          <a:cs typeface="+mn-cs"/>
                        </a:rPr>
                        <a:t>增加 </a:t>
                      </a:r>
                      <a:r>
                        <a:rPr lang="en-US" altLang="zh-CN" sz="1600" b="0" i="0" u="none" strike="noStrike" kern="1200">
                          <a:solidFill>
                            <a:schemeClr val="bg1"/>
                          </a:solidFill>
                          <a:effectLst/>
                          <a:latin typeface="+mn-lt"/>
                          <a:ea typeface="+mn-ea"/>
                          <a:cs typeface="+mn-cs"/>
                        </a:rPr>
                        <a:t>Increment </a:t>
                      </a:r>
                      <a:endParaRPr lang="zh-CN" altLang="en-US" sz="160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513399" y="5825192"/>
            <a:ext cx="1912703" cy="338554"/>
          </a:xfrm>
          <a:prstGeom prst="rect">
            <a:avLst/>
          </a:prstGeom>
          <a:noFill/>
        </p:spPr>
        <p:txBody>
          <a:bodyPr wrap="none" rtlCol="0">
            <a:spAutoFit/>
          </a:bodyPr>
          <a:lstStyle/>
          <a:p>
            <a:pPr algn="ctr"/>
            <a:r>
              <a:rPr lang="en-US" altLang="zh-CN" sz="1600" u="sng">
                <a:solidFill>
                  <a:srgbClr val="FFFF00"/>
                </a:solidFill>
              </a:rPr>
              <a:t>Product Backlog</a:t>
            </a:r>
            <a:endParaRPr lang="zh-CN" altLang="en-US" sz="1600" u="sng">
              <a:solidFill>
                <a:srgbClr val="FFFF00"/>
              </a:solidFill>
            </a:endParaRPr>
          </a:p>
        </p:txBody>
      </p:sp>
      <p:sp>
        <p:nvSpPr>
          <p:cNvPr id="16" name="文本框 15">
            <a:extLst>
              <a:ext uri="{FF2B5EF4-FFF2-40B4-BE49-F238E27FC236}">
                <a16:creationId xmlns:a16="http://schemas.microsoft.com/office/drawing/2014/main" id="{4262DDDD-FE14-AFB9-5B56-9B47A1F90D75}"/>
              </a:ext>
            </a:extLst>
          </p:cNvPr>
          <p:cNvSpPr txBox="1"/>
          <p:nvPr/>
        </p:nvSpPr>
        <p:spPr>
          <a:xfrm>
            <a:off x="3189754" y="5825192"/>
            <a:ext cx="1704313" cy="338554"/>
          </a:xfrm>
          <a:prstGeom prst="rect">
            <a:avLst/>
          </a:prstGeom>
          <a:noFill/>
        </p:spPr>
        <p:txBody>
          <a:bodyPr wrap="none" rtlCol="0">
            <a:spAutoFit/>
          </a:bodyPr>
          <a:lstStyle/>
          <a:p>
            <a:pPr algn="ctr"/>
            <a:r>
              <a:rPr lang="en-US" altLang="zh-CN" sz="1600" u="sng">
                <a:solidFill>
                  <a:srgbClr val="FFFF00"/>
                </a:solidFill>
              </a:rPr>
              <a:t>Sprint Backlog</a:t>
            </a:r>
            <a:endParaRPr lang="zh-CN" altLang="en-US" sz="1600" u="sng">
              <a:solidFill>
                <a:srgbClr val="FFFF00"/>
              </a:solidFill>
            </a:endParaRPr>
          </a:p>
        </p:txBody>
      </p:sp>
      <p:sp>
        <p:nvSpPr>
          <p:cNvPr id="19" name="文本框 18">
            <a:extLst>
              <a:ext uri="{FF2B5EF4-FFF2-40B4-BE49-F238E27FC236}">
                <a16:creationId xmlns:a16="http://schemas.microsoft.com/office/drawing/2014/main" id="{51C05E4B-16AF-EB18-51CD-5143A0C4944C}"/>
              </a:ext>
            </a:extLst>
          </p:cNvPr>
          <p:cNvSpPr txBox="1"/>
          <p:nvPr/>
        </p:nvSpPr>
        <p:spPr>
          <a:xfrm>
            <a:off x="7605565" y="5825192"/>
            <a:ext cx="1271502" cy="338554"/>
          </a:xfrm>
          <a:prstGeom prst="rect">
            <a:avLst/>
          </a:prstGeom>
          <a:noFill/>
        </p:spPr>
        <p:txBody>
          <a:bodyPr wrap="none" rtlCol="0">
            <a:spAutoFit/>
          </a:bodyPr>
          <a:lstStyle/>
          <a:p>
            <a:pPr algn="ctr"/>
            <a:r>
              <a:rPr lang="en-US" altLang="zh-CN" sz="1600" u="sng">
                <a:solidFill>
                  <a:srgbClr val="FFFF00"/>
                </a:solidFill>
              </a:rPr>
              <a:t>Increment</a:t>
            </a:r>
            <a:endParaRPr lang="zh-CN" altLang="en-US" sz="1600" u="sng">
              <a:solidFill>
                <a:srgbClr val="FFFF00"/>
              </a:solidFill>
            </a:endParaRPr>
          </a:p>
        </p:txBody>
      </p:sp>
      <p:sp>
        <p:nvSpPr>
          <p:cNvPr id="28" name="文本框 27">
            <a:extLst>
              <a:ext uri="{FF2B5EF4-FFF2-40B4-BE49-F238E27FC236}">
                <a16:creationId xmlns:a16="http://schemas.microsoft.com/office/drawing/2014/main" id="{5EA054E3-2D8B-30EB-1FB9-D427AB4834B5}"/>
              </a:ext>
            </a:extLst>
          </p:cNvPr>
          <p:cNvSpPr txBox="1"/>
          <p:nvPr/>
        </p:nvSpPr>
        <p:spPr>
          <a:xfrm>
            <a:off x="2002483" y="4433319"/>
            <a:ext cx="1760417" cy="338554"/>
          </a:xfrm>
          <a:prstGeom prst="rect">
            <a:avLst/>
          </a:prstGeom>
          <a:noFill/>
        </p:spPr>
        <p:txBody>
          <a:bodyPr wrap="none" rtlCol="0">
            <a:spAutoFit/>
          </a:bodyPr>
          <a:lstStyle/>
          <a:p>
            <a:pPr algn="ctr"/>
            <a:r>
              <a:rPr lang="en-US" altLang="zh-CN" sz="1600" b="1">
                <a:solidFill>
                  <a:schemeClr val="bg1"/>
                </a:solidFill>
              </a:rPr>
              <a:t>Sprint planning</a:t>
            </a:r>
            <a:endParaRPr lang="zh-CN" altLang="en-US" sz="1600" b="1">
              <a:solidFill>
                <a:schemeClr val="bg1"/>
              </a:solidFill>
            </a:endParaRPr>
          </a:p>
        </p:txBody>
      </p:sp>
      <p:sp>
        <p:nvSpPr>
          <p:cNvPr id="29" name="文本框 28">
            <a:extLst>
              <a:ext uri="{FF2B5EF4-FFF2-40B4-BE49-F238E27FC236}">
                <a16:creationId xmlns:a16="http://schemas.microsoft.com/office/drawing/2014/main" id="{A99EDA19-CDB9-E837-B15A-D53478C112FE}"/>
              </a:ext>
            </a:extLst>
          </p:cNvPr>
          <p:cNvSpPr txBox="1"/>
          <p:nvPr/>
        </p:nvSpPr>
        <p:spPr>
          <a:xfrm>
            <a:off x="9200481" y="5320601"/>
            <a:ext cx="926857" cy="338554"/>
          </a:xfrm>
          <a:prstGeom prst="rect">
            <a:avLst/>
          </a:prstGeom>
          <a:noFill/>
        </p:spPr>
        <p:txBody>
          <a:bodyPr wrap="none" rtlCol="0">
            <a:spAutoFit/>
          </a:bodyPr>
          <a:lstStyle/>
          <a:p>
            <a:pPr algn="ctr"/>
            <a:r>
              <a:rPr lang="en-US" altLang="zh-CN" sz="1600" b="1">
                <a:solidFill>
                  <a:schemeClr val="bg1"/>
                </a:solidFill>
              </a:rPr>
              <a:t>Review</a:t>
            </a:r>
            <a:endParaRPr lang="zh-CN" altLang="en-US" sz="1600" b="1">
              <a:solidFill>
                <a:schemeClr val="bg1"/>
              </a:solidFill>
            </a:endParaRPr>
          </a:p>
        </p:txBody>
      </p:sp>
      <p:sp>
        <p:nvSpPr>
          <p:cNvPr id="54" name="文本框 53">
            <a:extLst>
              <a:ext uri="{FF2B5EF4-FFF2-40B4-BE49-F238E27FC236}">
                <a16:creationId xmlns:a16="http://schemas.microsoft.com/office/drawing/2014/main" id="{8CB15623-04C7-DD26-E5DC-1D79846BF18D}"/>
              </a:ext>
            </a:extLst>
          </p:cNvPr>
          <p:cNvSpPr txBox="1"/>
          <p:nvPr/>
        </p:nvSpPr>
        <p:spPr>
          <a:xfrm>
            <a:off x="5125125" y="3507896"/>
            <a:ext cx="1465466" cy="584775"/>
          </a:xfrm>
          <a:prstGeom prst="rect">
            <a:avLst/>
          </a:prstGeom>
          <a:noFill/>
        </p:spPr>
        <p:txBody>
          <a:bodyPr wrap="none" rtlCol="0">
            <a:spAutoFit/>
          </a:bodyPr>
          <a:lstStyle/>
          <a:p>
            <a:pPr algn="ctr"/>
            <a:r>
              <a:rPr lang="en-US" altLang="zh-CN" sz="1600" b="1">
                <a:solidFill>
                  <a:schemeClr val="bg1"/>
                </a:solidFill>
              </a:rPr>
              <a:t>Sprint</a:t>
            </a:r>
          </a:p>
          <a:p>
            <a:pPr algn="ctr"/>
            <a:r>
              <a:rPr lang="en-US" altLang="zh-CN" sz="1600">
                <a:solidFill>
                  <a:schemeClr val="bg1"/>
                </a:solidFill>
              </a:rPr>
              <a:t>2 to 4 weeks</a:t>
            </a:r>
            <a:endParaRPr lang="zh-CN" altLang="en-US" sz="1600">
              <a:solidFill>
                <a:schemeClr val="bg1"/>
              </a:solidFill>
            </a:endParaRPr>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90903" y="2514197"/>
            <a:ext cx="785793" cy="338554"/>
          </a:xfrm>
          <a:prstGeom prst="rect">
            <a:avLst/>
          </a:prstGeom>
          <a:noFill/>
        </p:spPr>
        <p:txBody>
          <a:bodyPr wrap="none" rtlCol="0">
            <a:spAutoFit/>
          </a:bodyPr>
          <a:lstStyle/>
          <a:p>
            <a:pPr algn="ctr"/>
            <a:r>
              <a:rPr lang="en-US" altLang="zh-CN" sz="1600">
                <a:solidFill>
                  <a:schemeClr val="bg1"/>
                </a:solidFill>
              </a:rPr>
              <a:t>15min</a:t>
            </a:r>
            <a:endParaRPr lang="zh-CN" altLang="en-US" sz="1600">
              <a:solidFill>
                <a:schemeClr val="bg1"/>
              </a:solidFill>
            </a:endParaRPr>
          </a:p>
        </p:txBody>
      </p:sp>
      <p:sp>
        <p:nvSpPr>
          <p:cNvPr id="17" name="文本框 16">
            <a:extLst>
              <a:ext uri="{FF2B5EF4-FFF2-40B4-BE49-F238E27FC236}">
                <a16:creationId xmlns:a16="http://schemas.microsoft.com/office/drawing/2014/main" id="{563A674A-A145-FECB-1FF2-11714DBBF3F7}"/>
              </a:ext>
            </a:extLst>
          </p:cNvPr>
          <p:cNvSpPr txBox="1"/>
          <p:nvPr/>
        </p:nvSpPr>
        <p:spPr>
          <a:xfrm>
            <a:off x="10478382" y="5320601"/>
            <a:ext cx="1601721" cy="338554"/>
          </a:xfrm>
          <a:prstGeom prst="rect">
            <a:avLst/>
          </a:prstGeom>
          <a:noFill/>
        </p:spPr>
        <p:txBody>
          <a:bodyPr wrap="none" rtlCol="0">
            <a:spAutoFit/>
          </a:bodyPr>
          <a:lstStyle/>
          <a:p>
            <a:pPr algn="ctr"/>
            <a:r>
              <a:rPr lang="en-US" altLang="zh-CN" sz="1600" b="1">
                <a:solidFill>
                  <a:schemeClr val="bg1"/>
                </a:solidFill>
              </a:rPr>
              <a:t>Retrospective</a:t>
            </a:r>
            <a:endParaRPr lang="zh-CN" altLang="en-US" sz="1600" b="1">
              <a:solidFill>
                <a:schemeClr val="bg1"/>
              </a:solidFill>
            </a:endParaRPr>
          </a:p>
        </p:txBody>
      </p:sp>
      <p:sp>
        <p:nvSpPr>
          <p:cNvPr id="32" name="文本框 31">
            <a:extLst>
              <a:ext uri="{FF2B5EF4-FFF2-40B4-BE49-F238E27FC236}">
                <a16:creationId xmlns:a16="http://schemas.microsoft.com/office/drawing/2014/main" id="{95F543A5-685E-23F0-388A-B0E3AC76F149}"/>
              </a:ext>
            </a:extLst>
          </p:cNvPr>
          <p:cNvSpPr txBox="1"/>
          <p:nvPr/>
        </p:nvSpPr>
        <p:spPr>
          <a:xfrm>
            <a:off x="5282496" y="1734851"/>
            <a:ext cx="1404552" cy="338554"/>
          </a:xfrm>
          <a:prstGeom prst="rect">
            <a:avLst/>
          </a:prstGeom>
          <a:noFill/>
        </p:spPr>
        <p:txBody>
          <a:bodyPr wrap="none" rtlCol="0">
            <a:spAutoFit/>
          </a:bodyPr>
          <a:lstStyle/>
          <a:p>
            <a:pPr algn="ctr"/>
            <a:r>
              <a:rPr lang="en-US" altLang="zh-CN" sz="1600" b="1">
                <a:solidFill>
                  <a:schemeClr val="bg1"/>
                </a:solidFill>
              </a:rPr>
              <a:t>Daily scrum</a:t>
            </a:r>
            <a:endParaRPr lang="zh-CN" altLang="en-US" sz="1600" b="1">
              <a:solidFill>
                <a:schemeClr val="bg1"/>
              </a:solidFill>
            </a:endParaRPr>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222202" y="2297887"/>
            <a:ext cx="918842" cy="338554"/>
          </a:xfrm>
          <a:prstGeom prst="rect">
            <a:avLst/>
          </a:prstGeom>
          <a:noFill/>
        </p:spPr>
        <p:txBody>
          <a:bodyPr wrap="none" rtlCol="0">
            <a:spAutoFit/>
          </a:bodyPr>
          <a:lstStyle/>
          <a:p>
            <a:pPr algn="ctr"/>
            <a:r>
              <a:rPr lang="en-US" altLang="zh-CN" sz="1600">
                <a:solidFill>
                  <a:schemeClr val="bg1"/>
                </a:solidFill>
              </a:rPr>
              <a:t>SM/PM</a:t>
            </a:r>
            <a:endParaRPr lang="zh-CN" altLang="en-US" sz="1600">
              <a:solidFill>
                <a:schemeClr val="bg1"/>
              </a:solidFill>
            </a:endParaRPr>
          </a:p>
        </p:txBody>
      </p:sp>
      <p:sp>
        <p:nvSpPr>
          <p:cNvPr id="51" name="文本框 50">
            <a:extLst>
              <a:ext uri="{FF2B5EF4-FFF2-40B4-BE49-F238E27FC236}">
                <a16:creationId xmlns:a16="http://schemas.microsoft.com/office/drawing/2014/main" id="{A29F0030-8404-5B6F-5078-F5171BA0A0BA}"/>
              </a:ext>
            </a:extLst>
          </p:cNvPr>
          <p:cNvSpPr txBox="1"/>
          <p:nvPr/>
        </p:nvSpPr>
        <p:spPr>
          <a:xfrm>
            <a:off x="339093" y="5368433"/>
            <a:ext cx="503664" cy="338554"/>
          </a:xfrm>
          <a:prstGeom prst="rect">
            <a:avLst/>
          </a:prstGeom>
          <a:noFill/>
        </p:spPr>
        <p:txBody>
          <a:bodyPr wrap="none" rtlCol="0">
            <a:spAutoFit/>
          </a:bodyPr>
          <a:lstStyle/>
          <a:p>
            <a:pPr algn="ctr"/>
            <a:r>
              <a:rPr lang="en-US" altLang="zh-CN" sz="1600">
                <a:solidFill>
                  <a:schemeClr val="bg1"/>
                </a:solidFill>
              </a:rPr>
              <a:t>PO</a:t>
            </a:r>
            <a:endParaRPr lang="zh-CN" altLang="en-US" sz="1600">
              <a:solidFill>
                <a:schemeClr val="bg1"/>
              </a:solidFill>
            </a:endParaRPr>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77365" y="5092484"/>
            <a:ext cx="1239442" cy="338554"/>
          </a:xfrm>
          <a:prstGeom prst="rect">
            <a:avLst/>
          </a:prstGeom>
          <a:noFill/>
        </p:spPr>
        <p:txBody>
          <a:bodyPr wrap="none" rtlCol="0">
            <a:spAutoFit/>
          </a:bodyPr>
          <a:lstStyle/>
          <a:p>
            <a:pPr algn="ctr"/>
            <a:r>
              <a:rPr lang="en-US" altLang="zh-CN" sz="1600">
                <a:solidFill>
                  <a:schemeClr val="bg1"/>
                </a:solidFill>
              </a:rPr>
              <a:t>Developer</a:t>
            </a:r>
            <a:endParaRPr lang="zh-CN" altLang="en-US" sz="1600">
              <a:solidFill>
                <a:schemeClr val="bg1"/>
              </a:solidFill>
            </a:endParaRPr>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96068" y="2909736"/>
              <a:ext cx="1598515" cy="584775"/>
            </a:xfrm>
            <a:prstGeom prst="rect">
              <a:avLst/>
            </a:prstGeom>
            <a:noFill/>
          </p:spPr>
          <p:txBody>
            <a:bodyPr wrap="none" rtlCol="0">
              <a:spAutoFit/>
            </a:bodyPr>
            <a:lstStyle/>
            <a:p>
              <a:pPr algn="ctr"/>
              <a:r>
                <a:rPr lang="en-US" altLang="zh-CN" sz="1600" b="1">
                  <a:solidFill>
                    <a:schemeClr val="bg1"/>
                  </a:solidFill>
                </a:rPr>
                <a:t>Commitment</a:t>
              </a:r>
            </a:p>
            <a:p>
              <a:pPr algn="ctr"/>
              <a:r>
                <a:rPr lang="zh-CN" altLang="en-US" sz="1600">
                  <a:solidFill>
                    <a:schemeClr val="bg1"/>
                  </a:solidFill>
                </a:rPr>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1</a:t>
              </a:r>
              <a:endParaRPr lang="zh-CN" altLang="en-US">
                <a:solidFill>
                  <a:schemeClr val="bg1"/>
                </a:solidFill>
              </a:endParaRPr>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96819" y="2909736"/>
              <a:ext cx="797013" cy="584775"/>
            </a:xfrm>
            <a:prstGeom prst="rect">
              <a:avLst/>
            </a:prstGeom>
            <a:noFill/>
          </p:spPr>
          <p:txBody>
            <a:bodyPr wrap="none" rtlCol="0">
              <a:spAutoFit/>
            </a:bodyPr>
            <a:lstStyle/>
            <a:p>
              <a:pPr algn="ctr"/>
              <a:r>
                <a:rPr lang="en-US" altLang="zh-CN" sz="1600" b="1">
                  <a:solidFill>
                    <a:schemeClr val="bg1"/>
                  </a:solidFill>
                </a:rPr>
                <a:t>Focus</a:t>
              </a:r>
            </a:p>
            <a:p>
              <a:pPr algn="ctr"/>
              <a:r>
                <a:rPr lang="zh-CN" altLang="en-US" sz="1600">
                  <a:solidFill>
                    <a:schemeClr val="bg1"/>
                  </a:solidFill>
                </a:rPr>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2</a:t>
              </a:r>
              <a:endParaRPr lang="zh-CN" altLang="en-US">
                <a:solidFill>
                  <a:schemeClr val="bg1"/>
                </a:solidFill>
              </a:endParaRPr>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83620" y="2909736"/>
              <a:ext cx="1223412" cy="584775"/>
            </a:xfrm>
            <a:prstGeom prst="rect">
              <a:avLst/>
            </a:prstGeom>
            <a:noFill/>
          </p:spPr>
          <p:txBody>
            <a:bodyPr wrap="none" rtlCol="0">
              <a:spAutoFit/>
            </a:bodyPr>
            <a:lstStyle/>
            <a:p>
              <a:pPr algn="ctr"/>
              <a:r>
                <a:rPr lang="en-US" altLang="zh-CN" sz="1600" b="1">
                  <a:solidFill>
                    <a:schemeClr val="bg1"/>
                  </a:solidFill>
                </a:rPr>
                <a:t>Openness</a:t>
              </a:r>
            </a:p>
            <a:p>
              <a:pPr algn="ctr"/>
              <a:r>
                <a:rPr lang="zh-CN" altLang="en-US" sz="1600">
                  <a:solidFill>
                    <a:schemeClr val="bg1"/>
                  </a:solidFill>
                </a:rPr>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3</a:t>
              </a:r>
              <a:endParaRPr lang="zh-CN" altLang="en-US">
                <a:solidFill>
                  <a:schemeClr val="bg1"/>
                </a:solidFill>
              </a:endParaRPr>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85410" y="2909736"/>
              <a:ext cx="1019830" cy="584775"/>
            </a:xfrm>
            <a:prstGeom prst="rect">
              <a:avLst/>
            </a:prstGeom>
            <a:noFill/>
          </p:spPr>
          <p:txBody>
            <a:bodyPr wrap="none" rtlCol="0">
              <a:spAutoFit/>
            </a:bodyPr>
            <a:lstStyle/>
            <a:p>
              <a:pPr algn="ctr"/>
              <a:r>
                <a:rPr lang="en-US" altLang="zh-CN" sz="1600" b="1">
                  <a:solidFill>
                    <a:schemeClr val="bg1"/>
                  </a:solidFill>
                </a:rPr>
                <a:t>Respect</a:t>
              </a:r>
            </a:p>
            <a:p>
              <a:pPr algn="ctr"/>
              <a:r>
                <a:rPr lang="zh-CN" altLang="en-US" sz="1600">
                  <a:solidFill>
                    <a:schemeClr val="bg1"/>
                  </a:solidFill>
                </a:rPr>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4</a:t>
              </a:r>
              <a:endParaRPr lang="zh-CN" altLang="en-US">
                <a:solidFill>
                  <a:schemeClr val="bg1"/>
                </a:solidFill>
              </a:endParaRPr>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62166" y="2909736"/>
              <a:ext cx="1066318" cy="584775"/>
            </a:xfrm>
            <a:prstGeom prst="rect">
              <a:avLst/>
            </a:prstGeom>
            <a:noFill/>
          </p:spPr>
          <p:txBody>
            <a:bodyPr wrap="none" rtlCol="0">
              <a:spAutoFit/>
            </a:bodyPr>
            <a:lstStyle/>
            <a:p>
              <a:pPr algn="ctr"/>
              <a:r>
                <a:rPr lang="en-US" altLang="zh-CN" sz="1600" b="1">
                  <a:solidFill>
                    <a:schemeClr val="bg1"/>
                  </a:solidFill>
                </a:rPr>
                <a:t>Courage</a:t>
              </a:r>
              <a:endParaRPr lang="zh-CN" altLang="en-US" sz="1600" b="1">
                <a:solidFill>
                  <a:schemeClr val="bg1"/>
                </a:solidFill>
              </a:endParaRPr>
            </a:p>
            <a:p>
              <a:pPr algn="ctr"/>
              <a:r>
                <a:rPr lang="zh-CN" altLang="en-US" sz="1600">
                  <a:solidFill>
                    <a:schemeClr val="bg1"/>
                  </a:solidFill>
                </a:rPr>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bg1"/>
                </a:solidFill>
              </a:endParaRPr>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solidFill>
                    <a:schemeClr val="bg1"/>
                  </a:solidFill>
                </a:rPr>
                <a:t>5</a:t>
              </a:r>
              <a:endParaRPr lang="zh-CN" altLang="en-US">
                <a:solidFill>
                  <a:schemeClr val="bg1"/>
                </a:solidFill>
              </a:endParaRPr>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bg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bg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a:t>
            </a:r>
            <a:r>
              <a:rPr lang="en-US" altLang="zh-CN" b="1">
                <a:solidFill>
                  <a:srgbClr val="FFFF00"/>
                </a:solidFill>
              </a:rPr>
              <a:t>Definition of Done</a:t>
            </a:r>
            <a:r>
              <a:rPr lang="zh-CN" altLang="en-US" b="1">
                <a:solidFill>
                  <a:srgbClr val="FFFF00"/>
                </a:solidFill>
              </a:rPr>
              <a:t>（</a:t>
            </a:r>
            <a:r>
              <a:rPr lang="en-US" altLang="zh-CN" b="1">
                <a:solidFill>
                  <a:srgbClr val="FFFF00"/>
                </a:solidFill>
              </a:rPr>
              <a:t>DOD</a:t>
            </a:r>
            <a:r>
              <a:rPr lang="zh-CN" altLang="en-US" b="1">
                <a:solidFill>
                  <a:srgbClr val="FFFF00"/>
                </a:solidFill>
              </a:rPr>
              <a:t>）</a:t>
            </a:r>
            <a:endParaRPr lang="en-US" altLang="zh-CN" b="1">
              <a:solidFill>
                <a:srgbClr val="FFFF00"/>
              </a:solidFill>
            </a:endParaRPr>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b="1">
                <a:solidFill>
                  <a:srgbClr val="FFFF00"/>
                </a:solidFill>
              </a:rPr>
              <a:t>Developing</a:t>
            </a:r>
            <a:r>
              <a:rPr lang="en-US" altLang="zh-CN"/>
              <a:t> and </a:t>
            </a:r>
            <a:r>
              <a:rPr lang="en-US" altLang="zh-CN" b="1">
                <a:solidFill>
                  <a:srgbClr val="FFFF00"/>
                </a:solidFill>
              </a:rPr>
              <a:t>explicitly</a:t>
            </a:r>
            <a:r>
              <a:rPr lang="en-US" altLang="zh-CN">
                <a:solidFill>
                  <a:srgbClr val="FFFF00"/>
                </a:solidFill>
              </a:rPr>
              <a:t> </a:t>
            </a:r>
            <a:r>
              <a:rPr lang="en-US" altLang="zh-CN" b="1">
                <a:solidFill>
                  <a:srgbClr val="FFFF00"/>
                </a:solidFill>
              </a:rPr>
              <a:t>communicating</a:t>
            </a:r>
            <a:r>
              <a:rPr lang="en-US" altLang="zh-CN"/>
              <a:t> the Product Goal</a:t>
            </a:r>
          </a:p>
          <a:p>
            <a:r>
              <a:rPr lang="zh-CN" altLang="en-US"/>
              <a:t>创建并清晰地传达产品代办事项</a:t>
            </a:r>
            <a:endParaRPr lang="en-US" altLang="zh-CN"/>
          </a:p>
          <a:p>
            <a:pPr lvl="1"/>
            <a:r>
              <a:rPr lang="en-US" altLang="zh-CN"/>
              <a:t>Creating and </a:t>
            </a:r>
            <a:r>
              <a:rPr lang="en-US" altLang="zh-CN" b="1">
                <a:solidFill>
                  <a:srgbClr val="FFFF00"/>
                </a:solidFill>
              </a:rPr>
              <a:t>clearly</a:t>
            </a:r>
            <a:r>
              <a:rPr lang="en-US" altLang="zh-CN"/>
              <a:t>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FFFF0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b="1">
                <a:solidFill>
                  <a:srgbClr val="FFFF00"/>
                </a:solidFill>
              </a:rPr>
              <a:t>Coaching</a:t>
            </a:r>
            <a:r>
              <a:rPr lang="en-US" altLang="zh-CN"/>
              <a:t>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b="1">
                <a:solidFill>
                  <a:srgbClr val="FFFF00"/>
                </a:solidFill>
              </a:rPr>
              <a:t>Causing</a:t>
            </a:r>
            <a:r>
              <a:rPr lang="en-US" altLang="zh-CN"/>
              <a:t> the removal of </a:t>
            </a:r>
            <a:r>
              <a:rPr lang="en-US" altLang="zh-CN" b="1">
                <a:solidFill>
                  <a:srgbClr val="FFFF00"/>
                </a:solidFill>
              </a:rPr>
              <a:t>impediments</a:t>
            </a:r>
            <a:r>
              <a:rPr lang="en-US" altLang="zh-CN"/>
              <a:t>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Scrum Team</a:t>
            </a:r>
            <a:endParaRPr lang="zh-CN" altLang="en-US">
              <a:solidFill>
                <a:schemeClr val="bg1"/>
              </a:solidFill>
            </a:endParaRPr>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Product Owner</a:t>
            </a:r>
            <a:endParaRPr lang="zh-CN" altLang="en-US">
              <a:solidFill>
                <a:schemeClr val="bg1"/>
              </a:solidFill>
            </a:endParaRPr>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带领、培训和作为教练辅导组织采纳 </a:t>
            </a:r>
            <a:r>
              <a:rPr lang="en-US" altLang="zh-CN"/>
              <a:t>Scrum </a:t>
            </a:r>
          </a:p>
          <a:p>
            <a:pPr lvl="1"/>
            <a:r>
              <a:rPr lang="en-US" altLang="zh-CN"/>
              <a:t>Leading, training, and coaching the organization in its Scrum adoption</a:t>
            </a:r>
          </a:p>
          <a:p>
            <a:r>
              <a:rPr lang="zh-CN" altLang="en-US"/>
              <a:t>在组织范围内规划并建议 </a:t>
            </a:r>
            <a:r>
              <a:rPr lang="en-US" altLang="zh-CN"/>
              <a:t>Scrum </a:t>
            </a:r>
            <a:r>
              <a:rPr lang="zh-CN" altLang="en-US"/>
              <a:t>的实施</a:t>
            </a:r>
            <a:endParaRPr lang="en-US" altLang="zh-CN"/>
          </a:p>
          <a:p>
            <a:pPr lvl="1"/>
            <a:r>
              <a:rPr lang="en-US" altLang="zh-CN"/>
              <a:t>Planning and advising Scrum implementations within the organization</a:t>
            </a:r>
          </a:p>
          <a:p>
            <a:r>
              <a:rPr lang="zh-CN" altLang="en-US"/>
              <a:t>帮助员工和干系人理解并实施针对复杂工作的经验主义方法</a:t>
            </a:r>
            <a:endParaRPr lang="en-US" altLang="zh-CN"/>
          </a:p>
          <a:p>
            <a:pPr lvl="1"/>
            <a:r>
              <a:rPr lang="en-US" altLang="zh-CN"/>
              <a:t>Helping employees and stakeholders understand and </a:t>
            </a:r>
            <a:r>
              <a:rPr lang="en-US" altLang="zh-CN" b="1"/>
              <a:t>enact</a:t>
            </a:r>
            <a:r>
              <a:rPr lang="en-US" altLang="zh-CN"/>
              <a:t> an empirical approach for complex work</a:t>
            </a:r>
          </a:p>
          <a:p>
            <a:r>
              <a:rPr lang="zh-CN" altLang="en-US"/>
              <a:t>消除干系人和团队之间的隔阂</a:t>
            </a:r>
            <a:endParaRPr lang="en-US" altLang="zh-CN"/>
          </a:p>
          <a:p>
            <a:pPr lvl="1"/>
            <a:r>
              <a:rPr lang="en-US" altLang="zh-CN"/>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a:solidFill>
                  <a:schemeClr val="bg1"/>
                </a:solidFill>
              </a:rPr>
              <a:t>- </a:t>
            </a:r>
            <a:r>
              <a:rPr lang="zh-CN" altLang="en-US">
                <a:solidFill>
                  <a:schemeClr val="bg1"/>
                </a:solidFill>
              </a:rPr>
              <a:t>服务 </a:t>
            </a:r>
            <a:r>
              <a:rPr lang="en-US" altLang="zh-CN">
                <a:solidFill>
                  <a:schemeClr val="bg1"/>
                </a:solidFill>
              </a:rPr>
              <a:t>organization</a:t>
            </a:r>
            <a:endParaRPr lang="zh-CN" altLang="en-US">
              <a:solidFill>
                <a:schemeClr val="bg1"/>
              </a:solidFill>
            </a:endParaRPr>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solidFill>
                  <a:schemeClr val="bg1"/>
                </a:solidFill>
              </a:rPr>
              <a:t>形成</a:t>
            </a:r>
            <a:endParaRPr lang="en-US" altLang="zh-CN">
              <a:solidFill>
                <a:schemeClr val="bg1"/>
              </a:solidFill>
            </a:endParaRPr>
          </a:p>
          <a:p>
            <a:r>
              <a:rPr lang="en-US" altLang="zh-CN">
                <a:solidFill>
                  <a:schemeClr val="bg1"/>
                </a:solidFill>
              </a:rPr>
              <a:t>Forming</a:t>
            </a:r>
            <a:endParaRPr lang="zh-CN" altLang="en-US">
              <a:solidFill>
                <a:schemeClr val="bg1"/>
              </a:solidFill>
            </a:endParaRPr>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solidFill>
                  <a:schemeClr val="bg1"/>
                </a:solidFill>
              </a:rPr>
              <a:t>指导</a:t>
            </a:r>
            <a:endParaRPr lang="en-US" altLang="zh-CN">
              <a:solidFill>
                <a:schemeClr val="bg1"/>
              </a:solidFill>
            </a:endParaRPr>
          </a:p>
          <a:p>
            <a:r>
              <a:rPr lang="en-US" altLang="zh-CN">
                <a:solidFill>
                  <a:schemeClr val="bg1"/>
                </a:solidFill>
              </a:rPr>
              <a:t>Guiding</a:t>
            </a:r>
            <a:endParaRPr lang="zh-CN" altLang="en-US">
              <a:solidFill>
                <a:schemeClr val="bg1"/>
              </a:solidFill>
            </a:endParaRPr>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solidFill>
                  <a:schemeClr val="bg1"/>
                </a:solidFill>
              </a:rPr>
              <a:t>震荡</a:t>
            </a:r>
            <a:endParaRPr lang="en-US" altLang="zh-CN">
              <a:solidFill>
                <a:schemeClr val="bg1"/>
              </a:solidFill>
            </a:endParaRPr>
          </a:p>
          <a:p>
            <a:r>
              <a:rPr lang="en-US" altLang="zh-CN">
                <a:solidFill>
                  <a:schemeClr val="bg1"/>
                </a:solidFill>
              </a:rPr>
              <a:t>Storming</a:t>
            </a:r>
            <a:endParaRPr lang="zh-CN" altLang="en-US">
              <a:solidFill>
                <a:schemeClr val="bg1"/>
              </a:solidFill>
            </a:endParaRPr>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solidFill>
                  <a:schemeClr val="bg1"/>
                </a:solidFill>
              </a:rPr>
              <a:t>教练</a:t>
            </a:r>
            <a:endParaRPr lang="en-US" altLang="zh-CN">
              <a:solidFill>
                <a:schemeClr val="bg1"/>
              </a:solidFill>
            </a:endParaRPr>
          </a:p>
          <a:p>
            <a:r>
              <a:rPr lang="en-US" altLang="zh-CN">
                <a:solidFill>
                  <a:schemeClr val="bg1"/>
                </a:solidFill>
              </a:rPr>
              <a:t>Coaching</a:t>
            </a:r>
            <a:endParaRPr lang="zh-CN" altLang="en-US">
              <a:solidFill>
                <a:schemeClr val="bg1"/>
              </a:solidFill>
            </a:endParaRPr>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solidFill>
                  <a:schemeClr val="bg1"/>
                </a:solidFill>
              </a:rPr>
              <a:t>规范</a:t>
            </a:r>
            <a:endParaRPr lang="en-US" altLang="zh-CN">
              <a:solidFill>
                <a:schemeClr val="bg1"/>
              </a:solidFill>
            </a:endParaRPr>
          </a:p>
          <a:p>
            <a:r>
              <a:rPr lang="en-US" altLang="zh-CN">
                <a:solidFill>
                  <a:schemeClr val="bg1"/>
                </a:solidFill>
              </a:rPr>
              <a:t>Norming</a:t>
            </a:r>
            <a:endParaRPr lang="zh-CN" altLang="en-US">
              <a:solidFill>
                <a:schemeClr val="bg1"/>
              </a:solidFill>
            </a:endParaRPr>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solidFill>
                  <a:schemeClr val="bg1"/>
                </a:solidFill>
              </a:rPr>
              <a:t>参与</a:t>
            </a:r>
            <a:endParaRPr lang="en-US" altLang="zh-CN">
              <a:solidFill>
                <a:schemeClr val="bg1"/>
              </a:solidFill>
            </a:endParaRPr>
          </a:p>
          <a:p>
            <a:r>
              <a:rPr lang="en-US" altLang="zh-CN">
                <a:solidFill>
                  <a:schemeClr val="bg1"/>
                </a:solidFill>
              </a:rPr>
              <a:t>Participating </a:t>
            </a:r>
            <a:endParaRPr lang="zh-CN" altLang="en-US">
              <a:solidFill>
                <a:schemeClr val="bg1"/>
              </a:solidFill>
            </a:endParaRPr>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solidFill>
                  <a:schemeClr val="bg1"/>
                </a:solidFill>
              </a:rPr>
              <a:t>成熟</a:t>
            </a:r>
            <a:endParaRPr lang="en-US" altLang="zh-CN">
              <a:solidFill>
                <a:schemeClr val="bg1"/>
              </a:solidFill>
            </a:endParaRPr>
          </a:p>
          <a:p>
            <a:r>
              <a:rPr lang="en-US" altLang="zh-CN">
                <a:solidFill>
                  <a:schemeClr val="bg1"/>
                </a:solidFill>
              </a:rPr>
              <a:t>Performing</a:t>
            </a:r>
            <a:endParaRPr lang="zh-CN" altLang="en-US">
              <a:solidFill>
                <a:schemeClr val="bg1"/>
              </a:solidFill>
            </a:endParaRPr>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solidFill>
                  <a:schemeClr val="bg1"/>
                </a:solidFill>
              </a:rPr>
              <a:t>授权</a:t>
            </a:r>
            <a:endParaRPr lang="en-US" altLang="zh-CN">
              <a:solidFill>
                <a:schemeClr val="bg1"/>
              </a:solidFill>
            </a:endParaRPr>
          </a:p>
          <a:p>
            <a:r>
              <a:rPr lang="en-US" altLang="zh-CN">
                <a:solidFill>
                  <a:schemeClr val="bg1"/>
                </a:solidFill>
              </a:rPr>
              <a:t>Empowering</a:t>
            </a:r>
            <a:endParaRPr lang="zh-CN" altLang="en-US">
              <a:solidFill>
                <a:schemeClr val="bg1"/>
              </a:solidFill>
            </a:endParaRPr>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solidFill>
                  <a:schemeClr val="bg1"/>
                </a:solidFill>
              </a:rPr>
              <a:t>解散</a:t>
            </a:r>
            <a:endParaRPr lang="en-US" altLang="zh-CN">
              <a:solidFill>
                <a:schemeClr val="bg1"/>
              </a:solidFill>
            </a:endParaRPr>
          </a:p>
          <a:p>
            <a:r>
              <a:rPr lang="en-US" altLang="zh-CN">
                <a:solidFill>
                  <a:schemeClr val="bg1"/>
                </a:solidFill>
              </a:rPr>
              <a:t>Adjourning</a:t>
            </a:r>
            <a:endParaRPr lang="zh-CN" altLang="en-US">
              <a:solidFill>
                <a:schemeClr val="bg1"/>
              </a:solidFill>
            </a:endParaRPr>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5325" y="863600"/>
            <a:ext cx="10801350" cy="5400675"/>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Sprint</a:t>
            </a:r>
            <a:endParaRPr lang="zh-CN" altLang="en-US" sz="1600" kern="12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冲刺</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容器</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时间盒 </a:t>
            </a:r>
            <a:r>
              <a:rPr lang="en-US" altLang="zh-CN" sz="1400" kern="1200">
                <a:solidFill>
                  <a:schemeClr val="bg1"/>
                </a:solidFill>
              </a:rPr>
              <a:t>Time-box</a:t>
            </a:r>
          </a:p>
          <a:p>
            <a:pPr defTabSz="711200">
              <a:lnSpc>
                <a:spcPct val="90000"/>
              </a:lnSpc>
              <a:spcBef>
                <a:spcPct val="0"/>
              </a:spcBef>
              <a:spcAft>
                <a:spcPct val="35000"/>
              </a:spcAft>
            </a:pPr>
            <a:r>
              <a:rPr lang="en-US" altLang="zh-CN" sz="1400">
                <a:solidFill>
                  <a:schemeClr val="bg1"/>
                </a:solidFill>
              </a:rPr>
              <a:t>PO </a:t>
            </a:r>
            <a:r>
              <a:rPr lang="zh-CN" altLang="en-US" sz="1400">
                <a:solidFill>
                  <a:schemeClr val="bg1"/>
                </a:solidFill>
              </a:rPr>
              <a:t>可以取消冲刺</a:t>
            </a:r>
          </a:p>
          <a:p>
            <a:pPr marL="0" lvl="0" indent="0" algn="l" defTabSz="711200">
              <a:lnSpc>
                <a:spcPct val="90000"/>
              </a:lnSpc>
              <a:spcBef>
                <a:spcPct val="0"/>
              </a:spcBef>
              <a:spcAft>
                <a:spcPct val="35000"/>
              </a:spcAft>
              <a:buNone/>
            </a:pPr>
            <a:r>
              <a:rPr lang="en-US" altLang="zh-CN" sz="1400">
                <a:solidFill>
                  <a:schemeClr val="bg1"/>
                </a:solidFill>
              </a:rPr>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Spring Planning</a:t>
            </a:r>
            <a:endParaRPr lang="zh-CN" altLang="en-US" sz="1600" kern="12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规划</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会议</a:t>
            </a:r>
            <a:endParaRPr lang="en-US" altLang="zh-CN" sz="1400" kern="1200">
              <a:solidFill>
                <a:schemeClr val="bg1"/>
              </a:solidFill>
            </a:endParaRPr>
          </a:p>
          <a:p>
            <a:pPr lvl="0" defTabSz="711200">
              <a:lnSpc>
                <a:spcPct val="90000"/>
              </a:lnSpc>
              <a:spcBef>
                <a:spcPct val="0"/>
              </a:spcBef>
              <a:spcAft>
                <a:spcPct val="35000"/>
              </a:spcAft>
            </a:pPr>
            <a:r>
              <a:rPr lang="zh-CN" altLang="en-US" sz="1400">
                <a:solidFill>
                  <a:schemeClr val="bg1"/>
                </a:solidFill>
              </a:rPr>
              <a:t>第一个事件</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Why </a:t>
            </a:r>
            <a:r>
              <a:rPr lang="zh-CN" altLang="en-US" sz="1400">
                <a:solidFill>
                  <a:schemeClr val="bg1"/>
                </a:solidFill>
              </a:rPr>
              <a:t>为什么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What </a:t>
            </a:r>
            <a:r>
              <a:rPr lang="zh-CN" altLang="en-US" sz="1400">
                <a:solidFill>
                  <a:schemeClr val="bg1"/>
                </a:solidFill>
              </a:rPr>
              <a:t>做什么</a:t>
            </a:r>
            <a:endParaRPr lang="en-US" altLang="zh-CN" sz="1400">
              <a:solidFill>
                <a:schemeClr val="bg1"/>
              </a:solidFill>
            </a:endParaRPr>
          </a:p>
          <a:p>
            <a:pPr lvl="0" defTabSz="711200">
              <a:lnSpc>
                <a:spcPct val="90000"/>
              </a:lnSpc>
              <a:spcBef>
                <a:spcPct val="0"/>
              </a:spcBef>
              <a:spcAft>
                <a:spcPct val="35000"/>
              </a:spcAft>
            </a:pPr>
            <a:r>
              <a:rPr lang="en-US" altLang="zh-CN" sz="1400">
                <a:solidFill>
                  <a:schemeClr val="bg1"/>
                </a:solidFill>
              </a:rPr>
              <a:t>How </a:t>
            </a:r>
            <a:r>
              <a:rPr lang="zh-CN" altLang="en-US" sz="1400">
                <a:solidFill>
                  <a:schemeClr val="bg1"/>
                </a:solidFill>
              </a:rPr>
              <a:t>如何做</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kern="1200">
                <a:solidFill>
                  <a:schemeClr val="bg1"/>
                </a:solidFill>
              </a:rPr>
              <a:t>8h</a:t>
            </a:r>
          </a:p>
          <a:p>
            <a:pPr marL="0" lvl="0" indent="0" algn="l" defTabSz="711200">
              <a:lnSpc>
                <a:spcPct val="90000"/>
              </a:lnSpc>
              <a:spcBef>
                <a:spcPct val="0"/>
              </a:spcBef>
              <a:spcAft>
                <a:spcPct val="35000"/>
              </a:spcAft>
              <a:buNone/>
            </a:pPr>
            <a:endParaRPr lang="en-US" altLang="zh-CN" sz="1400">
              <a:solidFill>
                <a:schemeClr val="bg1"/>
              </a:solidFill>
            </a:endParaRPr>
          </a:p>
          <a:p>
            <a:pPr marL="0" lvl="0" indent="0" algn="l" defTabSz="711200">
              <a:lnSpc>
                <a:spcPct val="90000"/>
              </a:lnSpc>
              <a:spcBef>
                <a:spcPct val="0"/>
              </a:spcBef>
              <a:spcAft>
                <a:spcPct val="35000"/>
              </a:spcAft>
              <a:buNone/>
            </a:pPr>
            <a:endParaRPr lang="zh-CN" altLang="en-US" sz="1400" kern="1200">
              <a:solidFill>
                <a:schemeClr val="bg1"/>
              </a:solidFill>
            </a:endParaRPr>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Daily Scrum</a:t>
            </a:r>
            <a:endParaRPr lang="zh-CN" altLang="en-US" sz="1600" kern="12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每日站会</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固定时间和地点</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检查进度</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同步信息</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调整计划及工作</a:t>
            </a:r>
          </a:p>
          <a:p>
            <a:pPr marL="0" lvl="0" indent="0" algn="l" defTabSz="711200">
              <a:lnSpc>
                <a:spcPct val="90000"/>
              </a:lnSpc>
              <a:spcBef>
                <a:spcPct val="0"/>
              </a:spcBef>
              <a:spcAft>
                <a:spcPct val="35000"/>
              </a:spcAft>
              <a:buNone/>
            </a:pPr>
            <a:r>
              <a:rPr lang="en-US" altLang="zh-CN" sz="1400" kern="1200">
                <a:solidFill>
                  <a:schemeClr val="bg1"/>
                </a:solidFill>
              </a:rPr>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Review</a:t>
            </a:r>
            <a:endParaRPr lang="zh-CN" altLang="en-US" sz="1600" kern="12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评审</a:t>
            </a:r>
            <a:endParaRPr lang="en-US" altLang="zh-CN" sz="1600" b="1" kern="12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监视冲刺成果</a:t>
            </a:r>
            <a:endParaRPr lang="en-US" altLang="zh-CN" sz="1400" kern="12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搜集反馈</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a:solidFill>
                  <a:schemeClr val="bg1"/>
                </a:solidFill>
              </a:rPr>
              <a:t>调整方向</a:t>
            </a:r>
            <a:endParaRPr lang="en-US" altLang="zh-CN" sz="1400">
              <a:solidFill>
                <a:schemeClr val="bg1"/>
              </a:solidFill>
            </a:endParaRPr>
          </a:p>
          <a:p>
            <a:pPr marL="0" lvl="0" indent="0" algn="l" defTabSz="711200">
              <a:lnSpc>
                <a:spcPct val="90000"/>
              </a:lnSpc>
              <a:spcBef>
                <a:spcPct val="0"/>
              </a:spcBef>
              <a:spcAft>
                <a:spcPct val="35000"/>
              </a:spcAft>
              <a:buNone/>
            </a:pPr>
            <a:r>
              <a:rPr lang="zh-CN" altLang="en-US" sz="1400" kern="1200">
                <a:solidFill>
                  <a:schemeClr val="bg1"/>
                </a:solidFill>
              </a:rPr>
              <a:t>促进协作和透明</a:t>
            </a:r>
            <a:endParaRPr lang="en-US" altLang="zh-CN" sz="1400" kern="1200">
              <a:solidFill>
                <a:schemeClr val="bg1"/>
              </a:solidFill>
            </a:endParaRPr>
          </a:p>
          <a:p>
            <a:pPr defTabSz="711200">
              <a:lnSpc>
                <a:spcPct val="90000"/>
              </a:lnSpc>
              <a:spcBef>
                <a:spcPct val="0"/>
              </a:spcBef>
              <a:spcAft>
                <a:spcPct val="35000"/>
              </a:spcAft>
            </a:pPr>
            <a:r>
              <a:rPr lang="zh-CN" altLang="en-US" sz="1400">
                <a:solidFill>
                  <a:schemeClr val="bg1"/>
                </a:solidFill>
              </a:rPr>
              <a:t>非仅仅展示</a:t>
            </a:r>
          </a:p>
          <a:p>
            <a:pPr marL="0" lvl="0" indent="0" algn="l" defTabSz="711200">
              <a:lnSpc>
                <a:spcPct val="90000"/>
              </a:lnSpc>
              <a:spcBef>
                <a:spcPct val="0"/>
              </a:spcBef>
              <a:spcAft>
                <a:spcPct val="35000"/>
              </a:spcAft>
              <a:buNone/>
            </a:pPr>
            <a:r>
              <a:rPr lang="en-US" altLang="zh-CN" sz="1400" kern="1200">
                <a:solidFill>
                  <a:schemeClr val="bg1"/>
                </a:solidFill>
              </a:rPr>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kern="1200"/>
              <a:t>Retrospective</a:t>
            </a:r>
            <a:endParaRPr lang="zh-CN" altLang="en-US" sz="1600" kern="12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b="1" kern="1200">
                <a:solidFill>
                  <a:schemeClr val="bg1"/>
                </a:solidFill>
              </a:rPr>
              <a:t>回顾</a:t>
            </a:r>
            <a:endParaRPr lang="en-US" altLang="zh-CN" sz="1600" b="1" kern="1200">
              <a:solidFill>
                <a:schemeClr val="bg1"/>
              </a:solidFill>
            </a:endParaRPr>
          </a:p>
          <a:p>
            <a:pPr lvl="0" defTabSz="711200">
              <a:lnSpc>
                <a:spcPct val="90000"/>
              </a:lnSpc>
              <a:spcBef>
                <a:spcPct val="0"/>
              </a:spcBef>
              <a:spcAft>
                <a:spcPct val="35000"/>
              </a:spcAft>
            </a:pPr>
            <a:r>
              <a:rPr lang="zh-CN" altLang="en-US" sz="1400">
                <a:solidFill>
                  <a:schemeClr val="bg1"/>
                </a:solidFill>
              </a:rPr>
              <a:t>最后一个事件</a:t>
            </a:r>
            <a:endParaRPr lang="en-US" altLang="zh-CN" sz="1400">
              <a:solidFill>
                <a:schemeClr val="bg1"/>
              </a:solidFill>
            </a:endParaRPr>
          </a:p>
          <a:p>
            <a:pPr lvl="0" defTabSz="711200">
              <a:lnSpc>
                <a:spcPct val="90000"/>
              </a:lnSpc>
              <a:spcBef>
                <a:spcPct val="0"/>
              </a:spcBef>
              <a:spcAft>
                <a:spcPct val="35000"/>
              </a:spcAft>
            </a:pPr>
            <a:r>
              <a:rPr lang="zh-CN" altLang="en-US" sz="1400">
                <a:solidFill>
                  <a:schemeClr val="bg1"/>
                </a:solidFill>
              </a:rPr>
              <a:t>监视整个 </a:t>
            </a:r>
            <a:r>
              <a:rPr lang="en-US" altLang="zh-CN" sz="1400">
                <a:solidFill>
                  <a:schemeClr val="bg1"/>
                </a:solidFill>
              </a:rPr>
              <a:t>Sprint</a:t>
            </a:r>
          </a:p>
          <a:p>
            <a:pPr lvl="0" defTabSz="711200">
              <a:lnSpc>
                <a:spcPct val="90000"/>
              </a:lnSpc>
              <a:spcBef>
                <a:spcPct val="0"/>
              </a:spcBef>
              <a:spcAft>
                <a:spcPct val="35000"/>
              </a:spcAft>
            </a:pPr>
            <a:r>
              <a:rPr lang="zh-CN" altLang="en-US" sz="1400">
                <a:solidFill>
                  <a:schemeClr val="bg1"/>
                </a:solidFill>
              </a:rPr>
              <a:t>仅团队成员参加</a:t>
            </a:r>
            <a:endParaRPr lang="en-US" altLang="zh-CN" sz="1400">
              <a:solidFill>
                <a:schemeClr val="bg1"/>
              </a:solidFill>
            </a:endParaRPr>
          </a:p>
          <a:p>
            <a:pPr marL="0" lvl="0" indent="0" algn="l" defTabSz="711200">
              <a:lnSpc>
                <a:spcPct val="90000"/>
              </a:lnSpc>
              <a:spcBef>
                <a:spcPct val="0"/>
              </a:spcBef>
              <a:spcAft>
                <a:spcPct val="35000"/>
              </a:spcAft>
              <a:buNone/>
            </a:pPr>
            <a:r>
              <a:rPr lang="en-US" altLang="zh-CN" sz="1400">
                <a:solidFill>
                  <a:schemeClr val="bg1"/>
                </a:solidFill>
              </a:rPr>
              <a:t>3h</a:t>
            </a:r>
          </a:p>
        </p:txBody>
      </p:sp>
    </p:spTree>
    <p:extLst>
      <p:ext uri="{BB962C8B-B14F-4D97-AF65-F5344CB8AC3E}">
        <p14:creationId xmlns:p14="http://schemas.microsoft.com/office/powerpoint/2010/main" val="259632493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a:t>
            </a:r>
            <a:r>
              <a:rPr lang="en-US" altLang="zh-CN" b="1">
                <a:solidFill>
                  <a:srgbClr val="FFFF00"/>
                </a:solidFill>
              </a:rPr>
              <a:t>Sprint</a:t>
            </a:r>
            <a:r>
              <a:rPr lang="en-US" altLang="zh-CN" b="1">
                <a:solidFill>
                  <a:srgbClr val="FF0000"/>
                </a:solidFill>
              </a:rPr>
              <a:t> </a:t>
            </a:r>
            <a:r>
              <a:rPr lang="en-US" altLang="zh-CN" b="1">
                <a:solidFill>
                  <a:srgbClr val="FFFF00"/>
                </a:solidFill>
              </a:rPr>
              <a:t>Goal</a:t>
            </a:r>
          </a:p>
          <a:p>
            <a:r>
              <a:rPr lang="en-US" altLang="zh-CN"/>
              <a:t>Quality does not decrease</a:t>
            </a:r>
          </a:p>
          <a:p>
            <a:r>
              <a:rPr lang="en-US" altLang="zh-CN"/>
              <a:t>The Product Backlog is </a:t>
            </a:r>
            <a:r>
              <a:rPr lang="en-US" altLang="zh-CN" b="1">
                <a:solidFill>
                  <a:srgbClr val="FFFF00"/>
                </a:solidFill>
              </a:rPr>
              <a:t>refined</a:t>
            </a:r>
            <a:r>
              <a:rPr lang="en-US" altLang="zh-CN"/>
              <a:t> as needed</a:t>
            </a:r>
          </a:p>
          <a:p>
            <a:r>
              <a:rPr lang="en-US" altLang="zh-CN"/>
              <a:t>Scope may be clarified and renegotiated with the Product Owner as more is learned</a:t>
            </a:r>
          </a:p>
          <a:p>
            <a:endParaRPr lang="en-US" altLang="zh-CN"/>
          </a:p>
          <a:p>
            <a:r>
              <a:rPr lang="en-US" altLang="zh-CN"/>
              <a:t>A Sprint could be cancelled if the Sprint Goal becomes </a:t>
            </a:r>
            <a:r>
              <a:rPr lang="en-US" altLang="zh-CN" b="1">
                <a:solidFill>
                  <a:srgbClr val="FFFF00"/>
                </a:solidFill>
              </a:rPr>
              <a:t>obsolete</a:t>
            </a:r>
            <a:endParaRPr lang="en-US" altLang="zh-CN">
              <a:solidFill>
                <a:srgbClr val="FFFF00"/>
              </a:solidFill>
            </a:endParaRP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p:txBody>
          <a:bodyPr/>
          <a:lstStyle/>
          <a:p>
            <a:r>
              <a:rPr lang="en-US" altLang="zh-CN"/>
              <a:t>Topics</a:t>
            </a:r>
            <a:r>
              <a:rPr lang="zh-CN" altLang="en-US"/>
              <a:t>：</a:t>
            </a:r>
            <a:endParaRPr lang="en-US" altLang="zh-CN"/>
          </a:p>
          <a:p>
            <a:pPr lvl="1"/>
            <a:r>
              <a:rPr lang="en-US" altLang="zh-CN"/>
              <a:t>Topic One: </a:t>
            </a:r>
            <a:r>
              <a:rPr lang="en-US" altLang="zh-CN" b="1">
                <a:solidFill>
                  <a:srgbClr val="FFFF00"/>
                </a:solidFill>
              </a:rPr>
              <a:t>Why</a:t>
            </a:r>
            <a:r>
              <a:rPr lang="en-US" altLang="zh-CN"/>
              <a:t> is this Sprint valuable?</a:t>
            </a:r>
          </a:p>
          <a:p>
            <a:pPr lvl="1"/>
            <a:r>
              <a:rPr lang="en-US" altLang="zh-CN"/>
              <a:t>Topic Two: </a:t>
            </a:r>
            <a:r>
              <a:rPr lang="en-US" altLang="zh-CN" b="1">
                <a:solidFill>
                  <a:srgbClr val="FFFF00"/>
                </a:solidFill>
              </a:rPr>
              <a:t>What</a:t>
            </a:r>
            <a:r>
              <a:rPr lang="en-US" altLang="zh-CN"/>
              <a:t> can be Done this Sprint?</a:t>
            </a:r>
          </a:p>
          <a:p>
            <a:pPr lvl="1"/>
            <a:r>
              <a:rPr lang="en-US" altLang="zh-CN"/>
              <a:t>Topic Three: </a:t>
            </a:r>
            <a:r>
              <a:rPr lang="en-US" altLang="zh-CN" b="1">
                <a:solidFill>
                  <a:srgbClr val="FFFF00"/>
                </a:solidFill>
              </a:rPr>
              <a:t>How</a:t>
            </a:r>
            <a:r>
              <a:rPr lang="en-US" altLang="zh-CN"/>
              <a:t> will the chosen work get done?</a:t>
            </a:r>
          </a:p>
          <a:p>
            <a:r>
              <a:rPr lang="en-US" altLang="zh-CN"/>
              <a:t>is timeboxed to a </a:t>
            </a:r>
            <a:r>
              <a:rPr lang="en-US" altLang="zh-CN" b="1">
                <a:solidFill>
                  <a:srgbClr val="FFFF00"/>
                </a:solidFill>
              </a:rPr>
              <a:t>maximum</a:t>
            </a:r>
            <a:r>
              <a:rPr lang="en-US" altLang="zh-CN"/>
              <a:t>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solidFill>
                  <a:srgbClr val="FFFF00"/>
                </a:solidFill>
              </a:rPr>
              <a:t>improve</a:t>
            </a:r>
            <a:r>
              <a:rPr lang="en-US" altLang="zh-CN"/>
              <a:t> communications, </a:t>
            </a:r>
            <a:r>
              <a:rPr lang="en-US" altLang="zh-CN">
                <a:solidFill>
                  <a:srgbClr val="FFFF00"/>
                </a:solidFill>
              </a:rPr>
              <a:t>identify</a:t>
            </a:r>
            <a:r>
              <a:rPr lang="en-US" altLang="zh-CN"/>
              <a:t> impediments, </a:t>
            </a:r>
            <a:r>
              <a:rPr lang="en-US" altLang="zh-CN">
                <a:solidFill>
                  <a:srgbClr val="FFFF00"/>
                </a:solidFill>
              </a:rPr>
              <a:t>promote</a:t>
            </a:r>
            <a:r>
              <a:rPr lang="en-US" altLang="zh-CN"/>
              <a:t> quick decision-making, and consequently </a:t>
            </a:r>
            <a:r>
              <a:rPr lang="en-US" altLang="zh-CN">
                <a:solidFill>
                  <a:srgbClr val="FFFF00"/>
                </a:solidFill>
              </a:rPr>
              <a:t>eliminate</a:t>
            </a:r>
            <a:r>
              <a:rPr lang="en-US" altLang="zh-CN"/>
              <a:t>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a:t>
            </a:r>
            <a:r>
              <a:rPr lang="en-US" altLang="zh-CN" b="1">
                <a:solidFill>
                  <a:srgbClr val="FFFF00"/>
                </a:solidFill>
              </a:rPr>
              <a:t>outcome</a:t>
            </a:r>
            <a:r>
              <a:rPr lang="en-US" altLang="zh-CN"/>
              <a:t> of the Sprint and determine future </a:t>
            </a:r>
            <a:r>
              <a:rPr lang="en-US" altLang="zh-CN">
                <a:solidFill>
                  <a:srgbClr val="FFFF00"/>
                </a:solidFill>
              </a:rPr>
              <a:t>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b="1">
                <a:solidFill>
                  <a:srgbClr val="FFFF00"/>
                </a:solidFill>
              </a:rPr>
              <a:t>avoid</a:t>
            </a:r>
            <a:r>
              <a:rPr lang="en-US" altLang="zh-CN"/>
              <a:t>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a:t>
            </a:r>
            <a:r>
              <a:rPr lang="en-US" altLang="zh-CN" b="1">
                <a:solidFill>
                  <a:srgbClr val="FFFF00"/>
                </a:solidFill>
              </a:rPr>
              <a:t>concludes</a:t>
            </a:r>
            <a:r>
              <a:rPr lang="en-US" altLang="zh-CN"/>
              <a:t> the Sprint</a:t>
            </a:r>
          </a:p>
          <a:p>
            <a:r>
              <a:rPr lang="en-US" altLang="zh-CN" b="1">
                <a:solidFill>
                  <a:srgbClr val="FFFF00"/>
                </a:solidFill>
              </a:rPr>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b="1">
                <a:solidFill>
                  <a:srgbClr val="FFFF00"/>
                </a:solidFill>
              </a:rPr>
              <a:t>identifies</a:t>
            </a:r>
            <a:r>
              <a:rPr lang="en-US" altLang="zh-CN"/>
              <a:t>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1624593725"/>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946093" cy="276999"/>
          </a:xfrm>
          <a:prstGeom prst="rect">
            <a:avLst/>
          </a:prstGeom>
          <a:noFill/>
        </p:spPr>
        <p:txBody>
          <a:bodyPr wrap="none" rtlCol="0">
            <a:spAutoFit/>
          </a:bodyPr>
          <a:lstStyle/>
          <a:p>
            <a:r>
              <a:rPr lang="en-US" altLang="zh-CN" sz="1200">
                <a:solidFill>
                  <a:schemeClr val="bg1"/>
                </a:solidFill>
              </a:rPr>
              <a:t>To do lists</a:t>
            </a:r>
            <a:endParaRPr lang="zh-CN" altLang="en-US" sz="1200">
              <a:solidFill>
                <a:schemeClr val="bg1"/>
              </a:solidFill>
            </a:endParaRPr>
          </a:p>
        </p:txBody>
      </p:sp>
    </p:spTree>
    <p:extLst>
      <p:ext uri="{BB962C8B-B14F-4D97-AF65-F5344CB8AC3E}">
        <p14:creationId xmlns:p14="http://schemas.microsoft.com/office/powerpoint/2010/main" val="175382507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5325" y="863600"/>
            <a:ext cx="10801350" cy="5400675"/>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solidFill>
                  <a:srgbClr val="FFFF00"/>
                </a:solidFill>
              </a:rPr>
              <a:t>Emergent</a:t>
            </a:r>
            <a:r>
              <a:rPr lang="zh-CN" altLang="en-US"/>
              <a:t>，随着项目深入而逐渐清晰</a:t>
            </a:r>
          </a:p>
          <a:p>
            <a:pPr lvl="1"/>
            <a:r>
              <a:rPr lang="zh-CN" altLang="en-US"/>
              <a:t>有序清单 </a:t>
            </a:r>
            <a:r>
              <a:rPr lang="en-US" altLang="zh-CN">
                <a:solidFill>
                  <a:srgbClr val="FFFF00"/>
                </a:solidFill>
              </a:rPr>
              <a:t>ordered</a:t>
            </a:r>
            <a:r>
              <a:rPr lang="zh-CN" altLang="en-US"/>
              <a:t>，通常按价值、风险、必要性排序</a:t>
            </a:r>
            <a:endParaRPr lang="en-US" altLang="zh-CN"/>
          </a:p>
          <a:p>
            <a:pPr lvl="1"/>
            <a:r>
              <a:rPr lang="en-US" altLang="zh-CN"/>
              <a:t>Team </a:t>
            </a:r>
            <a:r>
              <a:rPr lang="zh-CN" altLang="en-US"/>
              <a:t>工作的单一 </a:t>
            </a:r>
            <a:r>
              <a:rPr lang="en-US" altLang="zh-CN" b="1"/>
              <a:t>single</a:t>
            </a:r>
            <a:r>
              <a:rPr lang="en-US" altLang="zh-CN"/>
              <a:t>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b="1"/>
              <a:t>Size</a:t>
            </a:r>
            <a:endParaRPr lang="en-US" altLang="zh-CN"/>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列举 </a:t>
            </a:r>
            <a:r>
              <a:rPr lang="en-US" altLang="zh-CN" sz="1400">
                <a:solidFill>
                  <a:schemeClr val="bg1"/>
                </a:solidFill>
              </a:rPr>
              <a:t>items</a:t>
            </a:r>
            <a:endParaRPr lang="zh-CN" altLang="en-US" sz="1400">
              <a:solidFill>
                <a:schemeClr val="bg1"/>
              </a:solidFill>
            </a:endParaRPr>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solidFill>
                  <a:schemeClr val="bg1"/>
                </a:solidFill>
              </a:rPr>
              <a:t>Developer </a:t>
            </a:r>
            <a:r>
              <a:rPr lang="zh-CN" altLang="en-US" sz="1400">
                <a:solidFill>
                  <a:schemeClr val="bg1"/>
                </a:solidFill>
              </a:rPr>
              <a:t>决定 </a:t>
            </a:r>
            <a:r>
              <a:rPr lang="en-US" altLang="zh-CN" sz="1400">
                <a:solidFill>
                  <a:schemeClr val="bg1"/>
                </a:solidFill>
              </a:rPr>
              <a:t>size</a:t>
            </a:r>
            <a:endParaRPr lang="zh-CN" altLang="en-US" sz="1400">
              <a:solidFill>
                <a:schemeClr val="bg1"/>
              </a:solidFill>
            </a:endParaRPr>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solidFill>
                  <a:schemeClr val="bg1"/>
                </a:solidFill>
              </a:rPr>
              <a:t>PO </a:t>
            </a:r>
            <a:r>
              <a:rPr lang="zh-CN" altLang="en-US" sz="1400">
                <a:solidFill>
                  <a:schemeClr val="bg1"/>
                </a:solidFill>
              </a:rPr>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solidFill>
                  <a:schemeClr val="bg1"/>
                </a:solidFill>
              </a:rPr>
              <a:t>Backlog</a:t>
            </a:r>
            <a:endParaRPr lang="zh-CN" altLang="en-US" sz="1400">
              <a:solidFill>
                <a:schemeClr val="bg1"/>
              </a:solidFill>
            </a:endParaRPr>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solidFill>
                  <a:schemeClr val="bg1"/>
                </a:solidFill>
              </a:rPr>
              <a:t>Battle</a:t>
            </a:r>
            <a:endParaRPr lang="zh-CN" altLang="en-US" sz="1400">
              <a:solidFill>
                <a:schemeClr val="bg1"/>
              </a:solidFill>
            </a:endParaRPr>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solidFill>
                  <a:schemeClr val="bg1"/>
                </a:solidFill>
              </a:rPr>
              <a:t>SM</a:t>
            </a:r>
            <a:endParaRPr lang="zh-CN" altLang="en-US" sz="1400">
              <a:solidFill>
                <a:schemeClr val="bg1"/>
              </a:solidFill>
            </a:endParaRPr>
          </a:p>
        </p:txBody>
      </p:sp>
    </p:spTree>
    <p:extLst>
      <p:ext uri="{BB962C8B-B14F-4D97-AF65-F5344CB8AC3E}">
        <p14:creationId xmlns:p14="http://schemas.microsoft.com/office/powerpoint/2010/main" val="29053490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solidFill>
                  <a:srgbClr val="FFFF00"/>
                </a:solidFill>
              </a:rPr>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solidFill>
                  <a:srgbClr val="FFFF00"/>
                </a:solidFill>
              </a:rPr>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solidFill>
                  <a:srgbClr val="FFFF00"/>
                </a:solidFill>
              </a:rPr>
              <a:t>Usable</a:t>
            </a:r>
            <a:r>
              <a:rPr lang="zh-CN" altLang="en-US"/>
              <a:t>，且经过检验 </a:t>
            </a:r>
            <a:r>
              <a:rPr lang="en-US" altLang="zh-CN">
                <a:solidFill>
                  <a:srgbClr val="FFFF00"/>
                </a:solidFill>
              </a:rPr>
              <a:t>Verified</a:t>
            </a:r>
            <a:r>
              <a:rPr lang="zh-CN" altLang="en-US"/>
              <a:t>，价值累加 </a:t>
            </a:r>
            <a:r>
              <a:rPr lang="en-US" altLang="zh-CN">
                <a:solidFill>
                  <a:srgbClr val="FFFF00"/>
                </a:solidFill>
              </a:rPr>
              <a:t>Additive</a:t>
            </a:r>
          </a:p>
          <a:p>
            <a:pPr lvl="0"/>
            <a:r>
              <a:rPr lang="zh-CN" altLang="en-US"/>
              <a:t>确保之前所有的增量能一起工作 </a:t>
            </a:r>
            <a:r>
              <a:rPr lang="en-US" altLang="zh-CN">
                <a:solidFill>
                  <a:srgbClr val="FFFF00"/>
                </a:solidFill>
              </a:rPr>
              <a:t>Work</a:t>
            </a:r>
            <a:r>
              <a:rPr lang="en-US" altLang="zh-CN"/>
              <a:t> </a:t>
            </a:r>
            <a:r>
              <a:rPr lang="en-US" altLang="zh-CN">
                <a:solidFill>
                  <a:srgbClr val="FFFF00"/>
                </a:solidFill>
              </a:rPr>
              <a:t>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a:t>
            </a:r>
            <a:r>
              <a:rPr lang="en-US" altLang="zh-CN">
                <a:solidFill>
                  <a:srgbClr val="FFFF00"/>
                </a:solidFill>
              </a:rPr>
              <a:t>product</a:t>
            </a:r>
            <a:r>
              <a:rPr lang="en-US" altLang="zh-CN"/>
              <a:t> </a:t>
            </a:r>
            <a:r>
              <a:rPr lang="en-US" altLang="zh-CN">
                <a:solidFill>
                  <a:srgbClr val="FFFF00"/>
                </a:solidFill>
              </a:rPr>
              <a:t>backlog</a:t>
            </a:r>
            <a:r>
              <a:rPr lang="en-US" altLang="zh-CN"/>
              <a:t>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a:t>
            </a:r>
            <a:r>
              <a:rPr lang="en-US" altLang="zh-CN">
                <a:solidFill>
                  <a:srgbClr val="FFFF00"/>
                </a:solidFill>
              </a:rPr>
              <a:t>Sprint</a:t>
            </a:r>
            <a:r>
              <a:rPr lang="en-US" altLang="zh-CN"/>
              <a:t> </a:t>
            </a:r>
            <a:r>
              <a:rPr lang="en-US" altLang="zh-CN">
                <a:solidFill>
                  <a:srgbClr val="FFFF00"/>
                </a:solidFill>
              </a:rPr>
              <a:t>backlogs</a:t>
            </a:r>
            <a:r>
              <a:rPr lang="en-US" altLang="zh-CN"/>
              <a:t>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460814071"/>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sz="160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3449365441"/>
                  </a:ext>
                </a:extLst>
              </a:tr>
              <a:tr h="0">
                <a:tc>
                  <a:txBody>
                    <a:bodyPr/>
                    <a:lstStyle/>
                    <a:p>
                      <a:pPr>
                        <a:buNone/>
                      </a:pPr>
                      <a:r>
                        <a:rPr lang="zh-CN" altLang="en-US" sz="1600">
                          <a:solidFill>
                            <a:schemeClr val="bg1"/>
                          </a:solidFill>
                        </a:rPr>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solidFill>
                            <a:schemeClr val="bg1"/>
                          </a:solidFill>
                        </a:rPr>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solidFill>
                            <a:schemeClr val="bg1"/>
                          </a:solidFill>
                        </a:rPr>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solidFill>
                            <a:schemeClr val="bg1"/>
                          </a:solidFill>
                        </a:rPr>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产品经理 </a:t>
                      </a:r>
                      <a:r>
                        <a:rPr lang="en-US" altLang="zh-CN" sz="1600">
                          <a:solidFill>
                            <a:schemeClr val="bg1"/>
                          </a:solidFill>
                        </a:rPr>
                        <a:t>/ </a:t>
                      </a:r>
                      <a:r>
                        <a:rPr lang="en-US" sz="1600">
                          <a:solidFill>
                            <a:schemeClr val="bg1"/>
                          </a:solidFill>
                        </a:rPr>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solidFill>
                            <a:schemeClr val="bg1"/>
                          </a:solidFill>
                        </a:rPr>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持续添加</a:t>
                      </a:r>
                      <a:r>
                        <a:rPr lang="en-US" altLang="zh-CN" sz="1600">
                          <a:solidFill>
                            <a:schemeClr val="bg1"/>
                          </a:solidFill>
                        </a:rPr>
                        <a:t>/</a:t>
                      </a:r>
                      <a:r>
                        <a:rPr lang="zh-CN" altLang="en-US" sz="1600">
                          <a:solidFill>
                            <a:schemeClr val="bg1"/>
                          </a:solidFill>
                        </a:rPr>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solidFill>
                            <a:schemeClr val="bg1"/>
                          </a:solidFill>
                        </a:rPr>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1878882028"/>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特性 </a:t>
                      </a:r>
                      <a:r>
                        <a:rPr lang="en-US" sz="160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增量 </a:t>
                      </a:r>
                      <a:r>
                        <a:rPr lang="en-US" sz="160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62318852"/>
                  </a:ext>
                </a:extLst>
              </a:tr>
              <a:tr h="0">
                <a:tc>
                  <a:txBody>
                    <a:bodyPr/>
                    <a:lstStyle/>
                    <a:p>
                      <a:pPr algn="l">
                        <a:buNone/>
                      </a:pPr>
                      <a:r>
                        <a:rPr lang="zh-CN" altLang="en-US" sz="160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solidFill>
                            <a:schemeClr val="bg1"/>
                          </a:solidFill>
                        </a:rPr>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业务</a:t>
                      </a:r>
                      <a:r>
                        <a:rPr lang="en-US" altLang="zh-CN" sz="1600">
                          <a:solidFill>
                            <a:schemeClr val="bg1"/>
                          </a:solidFill>
                        </a:rPr>
                        <a:t>/</a:t>
                      </a:r>
                      <a:r>
                        <a:rPr lang="zh-CN" altLang="en-US" sz="1600">
                          <a:solidFill>
                            <a:schemeClr val="bg1"/>
                          </a:solidFill>
                        </a:rPr>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产品</a:t>
                      </a:r>
                      <a:r>
                        <a:rPr lang="en-US" altLang="zh-CN" sz="1600">
                          <a:solidFill>
                            <a:schemeClr val="bg1"/>
                          </a:solidFill>
                        </a:rPr>
                        <a:t>/</a:t>
                      </a:r>
                      <a:r>
                        <a:rPr lang="zh-CN" altLang="en-US" sz="1600">
                          <a:solidFill>
                            <a:schemeClr val="bg1"/>
                          </a:solidFill>
                        </a:rPr>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solidFill>
                            <a:schemeClr val="bg1"/>
                          </a:solidFill>
                        </a:rPr>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代码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所有已完成的特性 </a:t>
                      </a:r>
                      <a:r>
                        <a:rPr lang="en-US" altLang="zh-CN" sz="1600">
                          <a:solidFill>
                            <a:schemeClr val="bg1"/>
                          </a:solidFill>
                        </a:rPr>
                        <a:t>+ </a:t>
                      </a:r>
                      <a:r>
                        <a:rPr lang="zh-CN" altLang="en-US" sz="1600">
                          <a:solidFill>
                            <a:schemeClr val="bg1"/>
                          </a:solidFill>
                        </a:rPr>
                        <a:t>旧功能 </a:t>
                      </a:r>
                      <a:r>
                        <a:rPr lang="en-US" altLang="zh-CN" sz="1600">
                          <a:solidFill>
                            <a:schemeClr val="bg1"/>
                          </a:solidFill>
                        </a:rPr>
                        <a:t>+ </a:t>
                      </a:r>
                      <a:r>
                        <a:rPr lang="zh-CN" altLang="en-US" sz="1600">
                          <a:solidFill>
                            <a:schemeClr val="bg1"/>
                          </a:solidFill>
                        </a:rPr>
                        <a:t>修复的</a:t>
                      </a:r>
                      <a:r>
                        <a:rPr lang="en-US" altLang="zh-CN" sz="1600">
                          <a:solidFill>
                            <a:schemeClr val="bg1"/>
                          </a:solidFill>
                        </a:rPr>
                        <a:t>Bug + </a:t>
                      </a:r>
                      <a:r>
                        <a:rPr lang="zh-CN" altLang="en-US" sz="1600">
                          <a:solidFill>
                            <a:schemeClr val="bg1"/>
                          </a:solidFill>
                        </a:rPr>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solidFill>
                            <a:schemeClr val="bg1"/>
                          </a:solidFill>
                        </a:rPr>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solidFill>
                            <a:schemeClr val="bg1"/>
                          </a:solidFill>
                        </a:rPr>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强累积（</a:t>
                      </a:r>
                      <a:r>
                        <a:rPr lang="en-US" sz="1600">
                          <a:solidFill>
                            <a:schemeClr val="bg1"/>
                          </a:solidFill>
                        </a:rPr>
                        <a:t>Increment 2 = Increment 1 + </a:t>
                      </a:r>
                      <a:r>
                        <a:rPr lang="zh-CN" altLang="en-US" sz="1600">
                          <a:solidFill>
                            <a:schemeClr val="bg1"/>
                          </a:solidFill>
                        </a:rPr>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solidFill>
                            <a:schemeClr val="bg1"/>
                          </a:solidFill>
                        </a:rPr>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较大（通常是一个迭代</a:t>
                      </a:r>
                      <a:r>
                        <a:rPr lang="en-US" altLang="zh-CN" sz="1600">
                          <a:solidFill>
                            <a:schemeClr val="bg1"/>
                          </a:solidFill>
                        </a:rPr>
                        <a:t>/Sprint</a:t>
                      </a:r>
                      <a:r>
                        <a:rPr lang="zh-CN" altLang="en-US" sz="1600">
                          <a:solidFill>
                            <a:schemeClr val="bg1"/>
                          </a:solidFill>
                        </a:rPr>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solidFill>
                            <a:schemeClr val="bg1"/>
                          </a:solidFill>
                        </a:rPr>
                        <a:t>FDD</a:t>
                      </a:r>
                      <a:r>
                        <a:rPr lang="zh-CN" altLang="en-US" sz="1600">
                          <a:solidFill>
                            <a:schemeClr val="bg1"/>
                          </a:solidFill>
                        </a:rPr>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FDD</a:t>
                      </a:r>
                      <a:r>
                        <a:rPr lang="zh-CN" altLang="en-US" sz="1600">
                          <a:solidFill>
                            <a:schemeClr val="bg1"/>
                          </a:solidFill>
                        </a:rPr>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278857"/>
            <a:ext cx="4424219" cy="2300287"/>
          </a:xfrm>
        </p:spPr>
        <p:txBody>
          <a:bodyPr>
            <a:normAutofit lnSpcReduction="10000"/>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2485" y="2998839"/>
            <a:ext cx="432000"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p:spPr>
        <p:txBody>
          <a:bodyPr wrap="none" rtlCol="0">
            <a:spAutoFit/>
          </a:bodyPr>
          <a:lstStyle/>
          <a:p>
            <a:pPr algn="ctr"/>
            <a:r>
              <a:rPr lang="en-US" altLang="zh-CN" sz="1600" dirty="0">
                <a:solidFill>
                  <a:schemeClr val="bg1"/>
                </a:solidFill>
              </a:rPr>
              <a:t>SOW</a:t>
            </a:r>
            <a:endParaRPr lang="zh-CN" altLang="en-US" sz="1600" dirty="0">
              <a:solidFill>
                <a:schemeClr val="bg1"/>
              </a:solidFill>
            </a:endParaRPr>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0" y="2991985"/>
            <a:ext cx="587020" cy="338554"/>
          </a:xfrm>
          <a:prstGeom prst="rect">
            <a:avLst/>
          </a:prstGeom>
          <a:noFill/>
        </p:spPr>
        <p:txBody>
          <a:bodyPr wrap="none" rtlCol="0">
            <a:spAutoFit/>
          </a:bodyPr>
          <a:lstStyle/>
          <a:p>
            <a:pPr algn="ctr"/>
            <a:r>
              <a:rPr lang="en-US" altLang="zh-CN" sz="1600" dirty="0">
                <a:solidFill>
                  <a:schemeClr val="bg1"/>
                </a:solidFill>
              </a:rPr>
              <a:t>SRS</a:t>
            </a:r>
            <a:endParaRPr lang="zh-CN" altLang="en-US" sz="1600" dirty="0">
              <a:solidFill>
                <a:schemeClr val="bg1"/>
              </a:solidFill>
            </a:endParaRPr>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p:spPr>
        <p:txBody>
          <a:bodyPr wrap="none" rtlCol="0">
            <a:spAutoFit/>
          </a:bodyPr>
          <a:lstStyle/>
          <a:p>
            <a:pPr algn="ctr"/>
            <a:r>
              <a:rPr lang="en-US" altLang="zh-CN" sz="1600" dirty="0">
                <a:solidFill>
                  <a:schemeClr val="bg1"/>
                </a:solidFill>
              </a:rPr>
              <a:t>WBS</a:t>
            </a:r>
            <a:endParaRPr lang="zh-CN" altLang="en-US" sz="1600" dirty="0">
              <a:solidFill>
                <a:schemeClr val="bg1"/>
              </a:solidFill>
            </a:endParaRPr>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p:spPr>
        <p:txBody>
          <a:bodyPr wrap="none" rtlCol="0">
            <a:spAutoFit/>
          </a:bodyPr>
          <a:lstStyle/>
          <a:p>
            <a:pPr algn="ctr"/>
            <a:r>
              <a:rPr lang="en-US" altLang="zh-CN" sz="1600" dirty="0">
                <a:solidFill>
                  <a:schemeClr val="bg1"/>
                </a:solidFill>
              </a:rPr>
              <a:t>Package</a:t>
            </a:r>
            <a:endParaRPr lang="zh-CN" altLang="en-US" sz="1600" dirty="0">
              <a:solidFill>
                <a:schemeClr val="bg1"/>
              </a:solidFill>
            </a:endParaRPr>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flipH="1">
            <a:off x="6096000" y="2795061"/>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0" y="3330539"/>
            <a:ext cx="1" cy="19692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p:spPr>
        <p:txBody>
          <a:bodyPr wrap="none" rtlCol="0">
            <a:spAutoFit/>
          </a:bodyPr>
          <a:lstStyle/>
          <a:p>
            <a:r>
              <a:rPr lang="zh-CN" altLang="en-US" sz="1600" dirty="0">
                <a:solidFill>
                  <a:schemeClr val="bg1"/>
                </a:solidFill>
              </a:rPr>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p:spPr>
        <p:txBody>
          <a:bodyPr wrap="none" rtlCol="0">
            <a:spAutoFit/>
          </a:bodyPr>
          <a:lstStyle/>
          <a:p>
            <a:r>
              <a:rPr lang="zh-CN" altLang="en-US" sz="1600" dirty="0">
                <a:solidFill>
                  <a:schemeClr val="bg1"/>
                </a:solidFill>
              </a:rPr>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p:spPr>
        <p:txBody>
          <a:bodyPr wrap="none" rtlCol="0">
            <a:spAutoFit/>
          </a:bodyPr>
          <a:lstStyle/>
          <a:p>
            <a:r>
              <a:rPr lang="zh-CN" altLang="en-US" sz="1600" dirty="0">
                <a:solidFill>
                  <a:schemeClr val="bg1"/>
                </a:solidFill>
              </a:rPr>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p:spPr>
        <p:txBody>
          <a:bodyPr wrap="none" rtlCol="0">
            <a:spAutoFit/>
          </a:bodyPr>
          <a:lstStyle/>
          <a:p>
            <a:r>
              <a:rPr lang="zh-CN" altLang="en-US" sz="1600" dirty="0">
                <a:solidFill>
                  <a:schemeClr val="bg1"/>
                </a:solidFill>
              </a:rPr>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2327829692"/>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a:solidFill>
                            <a:schemeClr val="bg1"/>
                          </a:solidFill>
                        </a:rPr>
                        <a:t>Rank</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English</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Chinese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a:solidFill>
                            <a:schemeClr val="bg1"/>
                          </a:solidFill>
                        </a:rPr>
                        <a:t>Average</a:t>
                      </a:r>
                      <a:endParaRPr lang="zh-CN" altLang="en-US" sz="160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4104703908"/>
                  </a:ext>
                </a:extLst>
              </a:tr>
              <a:tr h="0">
                <a:tc>
                  <a:txBody>
                    <a:bodyPr/>
                    <a:lstStyle/>
                    <a:p>
                      <a:pPr algn="ctr">
                        <a:buNone/>
                      </a:pPr>
                      <a:r>
                        <a:rPr lang="en-US" altLang="zh-CN" sz="1600">
                          <a:solidFill>
                            <a:schemeClr val="bg1"/>
                          </a:solidFill>
                        </a:rPr>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solidFill>
                            <a:schemeClr val="bg1"/>
                          </a:solidFill>
                        </a:rPr>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solidFill>
                            <a:schemeClr val="bg1"/>
                          </a:solidFill>
                        </a:rPr>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solidFill>
                            <a:schemeClr val="bg1"/>
                          </a:solidFill>
                        </a:rPr>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solidFill>
                            <a:schemeClr val="bg1"/>
                          </a:solidFill>
                        </a:rPr>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solidFill>
                            <a:schemeClr val="bg1"/>
                          </a:solidFill>
                        </a:rPr>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solidFill>
                            <a:schemeClr val="bg1"/>
                          </a:solidFill>
                        </a:rPr>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solidFill>
                            <a:schemeClr val="bg1"/>
                          </a:solidFill>
                        </a:rPr>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solidFill>
                            <a:schemeClr val="bg1"/>
                          </a:solidFill>
                        </a:rPr>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solidFill>
                            <a:schemeClr val="bg1"/>
                          </a:solidFill>
                        </a:rPr>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solidFill>
                            <a:schemeClr val="bg1"/>
                          </a:solidFill>
                        </a:rPr>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a:t>
            </a:r>
            <a:r>
              <a:rPr lang="zh-CN" altLang="en-US" dirty="0">
                <a:solidFill>
                  <a:srgbClr val="FFFF00"/>
                </a:solidFill>
              </a:rPr>
              <a:t>用户</a:t>
            </a:r>
            <a:r>
              <a:rPr lang="zh-CN" altLang="en-US" dirty="0"/>
              <a:t>想要什么”与“</a:t>
            </a:r>
            <a:r>
              <a:rPr lang="zh-CN" altLang="en-US" dirty="0">
                <a:solidFill>
                  <a:srgbClr val="FFFF00"/>
                </a:solidFill>
              </a:rPr>
              <a:t>开发团队</a:t>
            </a:r>
            <a:r>
              <a:rPr lang="zh-CN" altLang="en-US" dirty="0"/>
              <a:t>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a:t>
            </a:r>
            <a:r>
              <a:rPr lang="zh-CN" altLang="en-US" dirty="0">
                <a:solidFill>
                  <a:srgbClr val="FFFF00"/>
                </a:solidFill>
              </a:rPr>
              <a:t>功能</a:t>
            </a:r>
            <a:endParaRPr lang="en-US" altLang="zh-CN" dirty="0">
              <a:solidFill>
                <a:srgbClr val="FFFF00"/>
              </a:solidFill>
            </a:endParaRPr>
          </a:p>
          <a:p>
            <a:pPr lvl="1"/>
            <a:r>
              <a:rPr lang="zh-CN" altLang="en-US" dirty="0"/>
              <a:t>达到怎样的</a:t>
            </a:r>
            <a:r>
              <a:rPr lang="zh-CN" altLang="en-US" dirty="0">
                <a:solidFill>
                  <a:srgbClr val="FFFF00"/>
                </a:solidFill>
              </a:rPr>
              <a:t>性能</a:t>
            </a:r>
            <a:endParaRPr lang="en-US" altLang="zh-CN" dirty="0">
              <a:solidFill>
                <a:srgbClr val="FFFF00"/>
              </a:solidFill>
            </a:endParaRPr>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b="1">
                <a:solidFill>
                  <a:schemeClr val="bg1"/>
                </a:solidFill>
              </a:rPr>
              <a:t>背景：某电商公司计划开发一键退货功能。</a:t>
            </a:r>
          </a:p>
          <a:p>
            <a:r>
              <a:rPr lang="zh-CN" altLang="en-US" b="1">
                <a:solidFill>
                  <a:schemeClr val="bg1"/>
                </a:solidFill>
              </a:rPr>
              <a:t>描述</a:t>
            </a:r>
            <a:r>
              <a:rPr lang="en-US" altLang="zh-CN" b="1">
                <a:solidFill>
                  <a:schemeClr val="bg1"/>
                </a:solidFill>
              </a:rPr>
              <a:t>1</a:t>
            </a:r>
            <a:r>
              <a:rPr lang="zh-CN" altLang="en-US">
                <a:solidFill>
                  <a:schemeClr val="bg1"/>
                </a:solidFill>
              </a:rPr>
              <a:t>：为了降低客服人力成本（预计减少</a:t>
            </a:r>
            <a:r>
              <a:rPr lang="en-US" altLang="zh-CN">
                <a:solidFill>
                  <a:schemeClr val="bg1"/>
                </a:solidFill>
              </a:rPr>
              <a:t>30%</a:t>
            </a:r>
            <a:r>
              <a:rPr lang="zh-CN" altLang="en-US">
                <a:solidFill>
                  <a:schemeClr val="bg1"/>
                </a:solidFill>
              </a:rPr>
              <a:t>），并提升客户复购率，公司决定优化售后流程</a:t>
            </a:r>
            <a:br>
              <a:rPr lang="zh-CN" altLang="en-US">
                <a:solidFill>
                  <a:schemeClr val="bg1"/>
                </a:solidFill>
              </a:rPr>
            </a:br>
            <a:endParaRPr lang="en-US" altLang="zh-CN">
              <a:solidFill>
                <a:schemeClr val="bg1"/>
              </a:solidFill>
            </a:endParaRPr>
          </a:p>
          <a:p>
            <a:r>
              <a:rPr lang="zh-CN" altLang="en-US" b="1">
                <a:solidFill>
                  <a:schemeClr val="bg1"/>
                </a:solidFill>
              </a:rPr>
              <a:t>描述</a:t>
            </a:r>
            <a:r>
              <a:rPr lang="en-US" altLang="zh-CN" b="1">
                <a:solidFill>
                  <a:schemeClr val="bg1"/>
                </a:solidFill>
              </a:rPr>
              <a:t>2</a:t>
            </a:r>
            <a:r>
              <a:rPr lang="zh-CN" altLang="en-US">
                <a:solidFill>
                  <a:schemeClr val="bg1"/>
                </a:solidFill>
              </a:rPr>
              <a:t>：</a:t>
            </a:r>
            <a:r>
              <a:rPr lang="zh-CN" altLang="en-US" b="1">
                <a:solidFill>
                  <a:schemeClr val="bg1"/>
                </a:solidFill>
              </a:rPr>
              <a:t>用户反馈</a:t>
            </a:r>
            <a:r>
              <a:rPr lang="zh-CN" altLang="en-US">
                <a:solidFill>
                  <a:schemeClr val="bg1"/>
                </a:solidFill>
              </a:rPr>
              <a:t>希望在收到商品不满意时，不用打电话给客服解释半天，只需要在手机上点一下，快递员就能上门取件，马上退钱</a:t>
            </a:r>
            <a:endParaRPr lang="en-US" altLang="zh-CN">
              <a:solidFill>
                <a:schemeClr val="bg1"/>
              </a:solidFill>
            </a:endParaRPr>
          </a:p>
          <a:p>
            <a:br>
              <a:rPr lang="zh-CN" altLang="en-US">
                <a:solidFill>
                  <a:schemeClr val="bg1"/>
                </a:solidFill>
              </a:rPr>
            </a:br>
            <a:r>
              <a:rPr lang="zh-CN" altLang="en-US" b="1">
                <a:solidFill>
                  <a:schemeClr val="bg1"/>
                </a:solidFill>
              </a:rPr>
              <a:t>描述</a:t>
            </a:r>
            <a:r>
              <a:rPr lang="en-US" altLang="zh-CN" b="1">
                <a:solidFill>
                  <a:schemeClr val="bg1"/>
                </a:solidFill>
              </a:rPr>
              <a:t>3</a:t>
            </a:r>
            <a:r>
              <a:rPr lang="zh-CN" altLang="en-US">
                <a:solidFill>
                  <a:schemeClr val="bg1"/>
                </a:solidFill>
              </a:rPr>
              <a:t>：</a:t>
            </a:r>
            <a:r>
              <a:rPr lang="zh-CN" altLang="en-US" b="1">
                <a:solidFill>
                  <a:schemeClr val="bg1"/>
                </a:solidFill>
              </a:rPr>
              <a:t>系统开发人员设计方案：</a:t>
            </a:r>
            <a:r>
              <a:rPr lang="zh-CN" altLang="en-US">
                <a:solidFill>
                  <a:schemeClr val="bg1"/>
                </a:solidFill>
              </a:rPr>
              <a:t>当用户点击申请退货按钮且订单状态为已签收未满</a:t>
            </a:r>
            <a:r>
              <a:rPr lang="en-US" altLang="zh-CN">
                <a:solidFill>
                  <a:schemeClr val="bg1"/>
                </a:solidFill>
              </a:rPr>
              <a:t>7</a:t>
            </a:r>
            <a:r>
              <a:rPr lang="zh-CN" altLang="en-US">
                <a:solidFill>
                  <a:schemeClr val="bg1"/>
                </a:solidFill>
              </a:rPr>
              <a:t>天时，系统应自动调用物流接口生成取件码，并在数据库中将该订单状态更新为退货中，同时触发财务系统原路退款</a:t>
            </a:r>
            <a:br>
              <a:rPr lang="zh-CN" altLang="en-US">
                <a:solidFill>
                  <a:schemeClr val="bg1"/>
                </a:solidFill>
              </a:rPr>
            </a:br>
            <a:endParaRPr lang="en-US" altLang="zh-CN">
              <a:solidFill>
                <a:schemeClr val="bg1"/>
              </a:solidFill>
            </a:endParaRPr>
          </a:p>
          <a:p>
            <a:r>
              <a:rPr lang="zh-CN" altLang="en-US">
                <a:solidFill>
                  <a:schemeClr val="bg1"/>
                </a:solidFill>
              </a:rPr>
              <a:t>以上描述分别属于哪类需求？</a:t>
            </a:r>
            <a:endParaRPr lang="en-US" altLang="zh-CN">
              <a:solidFill>
                <a:schemeClr val="bg1"/>
              </a:solidFill>
            </a:endParaRPr>
          </a:p>
          <a:p>
            <a:br>
              <a:rPr lang="zh-CN" altLang="en-US">
                <a:solidFill>
                  <a:schemeClr val="bg1"/>
                </a:solidFill>
              </a:rPr>
            </a:br>
            <a:r>
              <a:rPr lang="en-US" altLang="zh-CN">
                <a:solidFill>
                  <a:schemeClr val="bg1"/>
                </a:solidFill>
              </a:rPr>
              <a:t>A. </a:t>
            </a:r>
            <a:r>
              <a:rPr lang="zh-CN" altLang="en-US">
                <a:solidFill>
                  <a:schemeClr val="bg1"/>
                </a:solidFill>
              </a:rPr>
              <a:t>业务需求</a:t>
            </a:r>
            <a:br>
              <a:rPr lang="zh-CN" altLang="en-US">
                <a:solidFill>
                  <a:schemeClr val="bg1"/>
                </a:solidFill>
              </a:rPr>
            </a:br>
            <a:r>
              <a:rPr lang="en-US" altLang="zh-CN">
                <a:solidFill>
                  <a:schemeClr val="bg1"/>
                </a:solidFill>
              </a:rPr>
              <a:t>B. </a:t>
            </a:r>
            <a:r>
              <a:rPr lang="zh-CN" altLang="en-US">
                <a:solidFill>
                  <a:schemeClr val="bg1"/>
                </a:solidFill>
              </a:rPr>
              <a:t>用户需求</a:t>
            </a:r>
            <a:br>
              <a:rPr lang="zh-CN" altLang="en-US">
                <a:solidFill>
                  <a:schemeClr val="bg1"/>
                </a:solidFill>
              </a:rPr>
            </a:br>
            <a:r>
              <a:rPr lang="en-US" altLang="zh-CN">
                <a:solidFill>
                  <a:schemeClr val="bg1"/>
                </a:solidFill>
              </a:rPr>
              <a:t>C. </a:t>
            </a:r>
            <a:r>
              <a:rPr lang="zh-CN" altLang="en-US">
                <a:solidFill>
                  <a:schemeClr val="bg1"/>
                </a:solidFill>
              </a:rPr>
              <a:t>功能需求</a:t>
            </a:r>
            <a:br>
              <a:rPr lang="zh-CN" altLang="en-US">
                <a:solidFill>
                  <a:schemeClr val="bg1"/>
                </a:solidFill>
              </a:rPr>
            </a:br>
            <a:r>
              <a:rPr lang="en-US" altLang="zh-CN">
                <a:solidFill>
                  <a:schemeClr val="bg1"/>
                </a:solidFill>
              </a:rPr>
              <a:t>D. </a:t>
            </a:r>
            <a:r>
              <a:rPr lang="zh-CN" altLang="en-US">
                <a:solidFill>
                  <a:schemeClr val="bg1"/>
                </a:solidFill>
              </a:rPr>
              <a:t>战略目标</a:t>
            </a:r>
          </a:p>
        </p:txBody>
      </p:sp>
    </p:spTree>
    <p:extLst>
      <p:ext uri="{BB962C8B-B14F-4D97-AF65-F5344CB8AC3E}">
        <p14:creationId xmlns:p14="http://schemas.microsoft.com/office/powerpoint/2010/main" val="244364671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grpSp>
        <p:nvGrpSpPr>
          <p:cNvPr id="8" name="组合 7">
            <a:extLst>
              <a:ext uri="{FF2B5EF4-FFF2-40B4-BE49-F238E27FC236}">
                <a16:creationId xmlns:a16="http://schemas.microsoft.com/office/drawing/2014/main" id="{B57589A4-B5D8-C699-97E1-F63CA0CFE14D}"/>
              </a:ext>
            </a:extLst>
          </p:cNvPr>
          <p:cNvGrpSpPr/>
          <p:nvPr/>
        </p:nvGrpSpPr>
        <p:grpSpPr>
          <a:xfrm>
            <a:off x="3395663" y="1796644"/>
            <a:ext cx="5400675" cy="3534587"/>
            <a:chOff x="5322789" y="2320412"/>
            <a:chExt cx="5400675" cy="3534587"/>
          </a:xfrm>
        </p:grpSpPr>
        <p:sp>
          <p:nvSpPr>
            <p:cNvPr id="11" name="矩形: 圆角 10">
              <a:extLst>
                <a:ext uri="{FF2B5EF4-FFF2-40B4-BE49-F238E27FC236}">
                  <a16:creationId xmlns:a16="http://schemas.microsoft.com/office/drawing/2014/main" id="{2CAD1AB7-6284-F323-27D3-37F654FC67D8}"/>
                </a:ext>
              </a:extLst>
            </p:cNvPr>
            <p:cNvSpPr/>
            <p:nvPr/>
          </p:nvSpPr>
          <p:spPr>
            <a:xfrm>
              <a:off x="604331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8265400" y="2654710"/>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8265400" y="3647768"/>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6043310" y="3642233"/>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8265400" y="5098999"/>
              <a:ext cx="1800000" cy="432000"/>
            </a:xfrm>
            <a:prstGeom prst="roundRect">
              <a:avLst>
                <a:gd name="adj" fmla="val 50000"/>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7843310" y="2870710"/>
              <a:ext cx="42209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9165400" y="3086710"/>
              <a:ext cx="0" cy="56105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7843310" y="3858233"/>
              <a:ext cx="422090" cy="553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5322789" y="2320412"/>
              <a:ext cx="5400675" cy="216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5322789" y="4774999"/>
              <a:ext cx="5400675" cy="1080000"/>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5322789" y="4097075"/>
              <a:ext cx="902811" cy="307777"/>
            </a:xfrm>
            <a:prstGeom prst="rect">
              <a:avLst/>
            </a:prstGeom>
            <a:noFill/>
            <a:ln>
              <a:noFill/>
            </a:ln>
          </p:spPr>
          <p:txBody>
            <a:bodyPr wrap="none" rtlCol="0">
              <a:spAutoFit/>
            </a:bodyPr>
            <a:lstStyle/>
            <a:p>
              <a:r>
                <a:rPr lang="zh-CN" altLang="en-US" sz="1400">
                  <a:solidFill>
                    <a:srgbClr val="FFFF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5322789" y="4774999"/>
              <a:ext cx="902811" cy="307777"/>
            </a:xfrm>
            <a:prstGeom prst="rect">
              <a:avLst/>
            </a:prstGeom>
            <a:noFill/>
            <a:ln>
              <a:noFill/>
            </a:ln>
          </p:spPr>
          <p:txBody>
            <a:bodyPr wrap="none" rtlCol="0">
              <a:spAutoFit/>
            </a:bodyPr>
            <a:lstStyle/>
            <a:p>
              <a:r>
                <a:rPr lang="zh-CN" altLang="en-US" sz="1400">
                  <a:solidFill>
                    <a:srgbClr val="FFFF00"/>
                  </a:solidFill>
                </a:rPr>
                <a:t>需求变更</a:t>
              </a:r>
            </a:p>
          </p:txBody>
        </p:sp>
      </p:grpSp>
    </p:spTree>
    <p:extLst>
      <p:ext uri="{BB962C8B-B14F-4D97-AF65-F5344CB8AC3E}">
        <p14:creationId xmlns:p14="http://schemas.microsoft.com/office/powerpoint/2010/main" val="65638254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solidFill>
                  <a:srgbClr val="FFFF00"/>
                </a:solidFill>
              </a:rPr>
              <a:t>战术级</a:t>
            </a:r>
            <a:r>
              <a:rPr lang="zh-CN" altLang="en-US" dirty="0"/>
              <a:t>文档</a:t>
            </a:r>
            <a:endParaRPr lang="en-US" altLang="zh-CN" dirty="0"/>
          </a:p>
          <a:p>
            <a:pPr lvl="1"/>
            <a:r>
              <a:rPr lang="en-US" altLang="zh-CN" dirty="0"/>
              <a:t>An SRS document acts as a guide for the </a:t>
            </a:r>
            <a:r>
              <a:rPr lang="en-US" altLang="zh-CN" dirty="0">
                <a:solidFill>
                  <a:srgbClr val="FFFF00"/>
                </a:solidFill>
              </a:rPr>
              <a:t>development</a:t>
            </a:r>
            <a:r>
              <a:rPr lang="en-US" altLang="zh-CN" dirty="0"/>
              <a:t> </a:t>
            </a:r>
            <a:r>
              <a:rPr lang="en-US" altLang="zh-CN" dirty="0">
                <a:solidFill>
                  <a:srgbClr val="FFFF00"/>
                </a:solidFill>
              </a:rPr>
              <a:t>team</a:t>
            </a:r>
            <a:r>
              <a:rPr lang="en-US" altLang="zh-CN" dirty="0"/>
              <a:t>,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3435024695"/>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a:solidFill>
                            <a:schemeClr val="bg1"/>
                          </a:solidFill>
                        </a:rPr>
                        <a:t>Software Requirement Specification</a:t>
                      </a:r>
                      <a:endParaRPr lang="zh-CN" altLang="en-US">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a:solidFill>
                            <a:schemeClr val="bg1"/>
                          </a:solidFill>
                        </a:rPr>
                        <a:t>1. </a:t>
                      </a:r>
                      <a:r>
                        <a:rPr lang="zh-CN" altLang="en-US">
                          <a:solidFill>
                            <a:schemeClr val="bg1"/>
                          </a:solidFill>
                        </a:rPr>
                        <a:t>引言</a:t>
                      </a:r>
                    </a:p>
                    <a:p>
                      <a:r>
                        <a:rPr lang="zh-CN" altLang="en-US">
                          <a:solidFill>
                            <a:schemeClr val="bg1"/>
                          </a:solidFill>
                        </a:rPr>
                        <a:t>目的、范围、术语定义、参考文献</a:t>
                      </a: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bg1"/>
                          </a:solidFill>
                        </a:rPr>
                        <a:t>2. </a:t>
                      </a:r>
                      <a:r>
                        <a:rPr lang="zh-CN" altLang="en-US">
                          <a:solidFill>
                            <a:schemeClr val="bg1"/>
                          </a:solidFill>
                        </a:rPr>
                        <a:t>总体描述</a:t>
                      </a:r>
                    </a:p>
                    <a:p>
                      <a:r>
                        <a:rPr lang="zh-CN" altLang="en-US">
                          <a:solidFill>
                            <a:schemeClr val="bg1"/>
                          </a:solidFill>
                        </a:rPr>
                        <a:t>产品愿景、用户特征、运行环境、假设与依赖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bg1"/>
                          </a:solidFill>
                        </a:rPr>
                        <a:t>3. </a:t>
                      </a:r>
                      <a:r>
                        <a:rPr lang="zh-CN" altLang="en-US">
                          <a:solidFill>
                            <a:schemeClr val="bg1"/>
                          </a:solidFill>
                        </a:rPr>
                        <a:t>功能需求</a:t>
                      </a:r>
                    </a:p>
                    <a:p>
                      <a:r>
                        <a:rPr lang="zh-CN" altLang="en-US">
                          <a:solidFill>
                            <a:schemeClr val="bg1"/>
                          </a:solidFill>
                        </a:rPr>
                        <a:t>按模块划分，每个功能包含： * 功能编号 * 功能名称 * 描述 * 输入</a:t>
                      </a:r>
                      <a:r>
                        <a:rPr lang="en-US" altLang="zh-CN">
                          <a:solidFill>
                            <a:schemeClr val="bg1"/>
                          </a:solidFill>
                        </a:rPr>
                        <a:t>/</a:t>
                      </a:r>
                      <a:r>
                        <a:rPr lang="zh-CN" altLang="en-US">
                          <a:solidFill>
                            <a:schemeClr val="bg1"/>
                          </a:solidFill>
                        </a:rPr>
                        <a:t>输出 * 处理逻辑 * 异常处理</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bg1"/>
                          </a:solidFill>
                        </a:rPr>
                        <a:t>4. </a:t>
                      </a:r>
                      <a:r>
                        <a:rPr lang="zh-CN" altLang="en-US">
                          <a:solidFill>
                            <a:schemeClr val="bg1"/>
                          </a:solidFill>
                        </a:rPr>
                        <a:t>非功能需求</a:t>
                      </a:r>
                    </a:p>
                    <a:p>
                      <a:r>
                        <a:rPr lang="zh-CN" altLang="en-US">
                          <a:solidFill>
                            <a:schemeClr val="bg1"/>
                          </a:solidFill>
                        </a:rPr>
                        <a:t>性能、安全性、可用性、兼容性、可维护性等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bg1"/>
                          </a:solidFill>
                        </a:rPr>
                        <a:t>5. </a:t>
                      </a:r>
                      <a:r>
                        <a:rPr lang="zh-CN" altLang="en-US">
                          <a:solidFill>
                            <a:schemeClr val="bg1"/>
                          </a:solidFill>
                        </a:rPr>
                        <a:t>数据需求</a:t>
                      </a:r>
                    </a:p>
                    <a:p>
                      <a:r>
                        <a:rPr lang="zh-CN" altLang="en-US">
                          <a:solidFill>
                            <a:schemeClr val="bg1"/>
                          </a:solidFill>
                        </a:rPr>
                        <a:t>数据字典、</a:t>
                      </a:r>
                      <a:r>
                        <a:rPr lang="en-US" altLang="zh-CN">
                          <a:solidFill>
                            <a:schemeClr val="bg1"/>
                          </a:solidFill>
                        </a:rPr>
                        <a:t>E-R </a:t>
                      </a:r>
                      <a:r>
                        <a:rPr lang="zh-CN" altLang="en-US">
                          <a:solidFill>
                            <a:schemeClr val="bg1"/>
                          </a:solidFill>
                        </a:rPr>
                        <a:t>图、数据流图</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bg1"/>
                          </a:solidFill>
                        </a:rPr>
                        <a:t>6. </a:t>
                      </a:r>
                      <a:r>
                        <a:rPr lang="zh-CN" altLang="en-US">
                          <a:solidFill>
                            <a:schemeClr val="bg1"/>
                          </a:solidFill>
                        </a:rPr>
                        <a:t>接口需求</a:t>
                      </a:r>
                    </a:p>
                    <a:p>
                      <a:r>
                        <a:rPr lang="zh-CN" altLang="en-US">
                          <a:solidFill>
                            <a:schemeClr val="bg1"/>
                          </a:solidFill>
                        </a:rPr>
                        <a:t>外部系统接口、硬件接口、通信协议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a:solidFill>
                            <a:schemeClr val="bg1"/>
                          </a:solidFill>
                        </a:rPr>
                        <a:t>7. </a:t>
                      </a:r>
                      <a:r>
                        <a:rPr lang="zh-CN" altLang="en-US">
                          <a:solidFill>
                            <a:schemeClr val="bg1"/>
                          </a:solidFill>
                        </a:rPr>
                        <a:t>附录</a:t>
                      </a:r>
                      <a:endParaRPr lang="en-US" altLang="zh-CN">
                        <a:solidFill>
                          <a:schemeClr val="bg1"/>
                        </a:solidFill>
                      </a:endParaRPr>
                    </a:p>
                    <a:p>
                      <a:r>
                        <a:rPr lang="zh-CN" altLang="en-US">
                          <a:solidFill>
                            <a:schemeClr val="bg1"/>
                          </a:solidFill>
                        </a:rPr>
                        <a:t>用例图、活动图、原型截图、会议纪要等</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2539519583"/>
              </p:ext>
            </p:extLst>
          </p:nvPr>
        </p:nvGraphicFramePr>
        <p:xfrm>
          <a:off x="695325" y="1124907"/>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a:solidFill>
                            <a:schemeClr val="bg1"/>
                          </a:solidFill>
                        </a:rPr>
                        <a:t>Aspect</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Description</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sz="1600">
                          <a:solidFill>
                            <a:schemeClr val="bg1"/>
                          </a:solidFill>
                        </a:rPr>
                        <a:t>Tools</a:t>
                      </a:r>
                      <a:endParaRPr lang="zh-CN" altLang="en-US" sz="160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35777"/>
                  </a:ext>
                </a:extLst>
              </a:tr>
              <a:tr h="129354">
                <a:tc>
                  <a:txBody>
                    <a:bodyPr/>
                    <a:lstStyle/>
                    <a:p>
                      <a:pPr>
                        <a:buNone/>
                      </a:pPr>
                      <a:r>
                        <a:rPr lang="zh-CN" altLang="en-US" sz="1600">
                          <a:solidFill>
                            <a:schemeClr val="bg1"/>
                          </a:solidFill>
                        </a:rPr>
                        <a:t>正确性 </a:t>
                      </a:r>
                      <a:r>
                        <a:rPr lang="en-US" sz="1600">
                          <a:solidFill>
                            <a:schemeClr val="bg1"/>
                          </a:solidFill>
                        </a:rPr>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用户访谈确认、业务流程图比对</a:t>
                      </a:r>
                      <a:br>
                        <a:rPr lang="zh-CN" altLang="en-US" sz="1600">
                          <a:solidFill>
                            <a:schemeClr val="bg1"/>
                          </a:solidFill>
                        </a:rPr>
                      </a:br>
                      <a:r>
                        <a:rPr lang="zh-CN" altLang="en-US" sz="1600">
                          <a:solidFill>
                            <a:schemeClr val="bg1"/>
                          </a:solidFill>
                        </a:rPr>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solidFill>
                            <a:schemeClr val="bg1"/>
                          </a:solidFill>
                        </a:rPr>
                        <a:t>完整性 </a:t>
                      </a:r>
                      <a:r>
                        <a:rPr lang="en-US" sz="1600">
                          <a:solidFill>
                            <a:schemeClr val="bg1"/>
                          </a:solidFill>
                        </a:rPr>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a:t>
                      </a:r>
                      <a:r>
                        <a:rPr lang="en-US" altLang="zh-CN" sz="1600">
                          <a:solidFill>
                            <a:schemeClr val="bg1"/>
                          </a:solidFill>
                        </a:rPr>
                        <a:t>RTM</a:t>
                      </a:r>
                      <a:r>
                        <a:rPr lang="zh-CN" altLang="en-US" sz="1600">
                          <a:solidFill>
                            <a:schemeClr val="bg1"/>
                          </a:solidFill>
                        </a:rPr>
                        <a:t>、用例全覆盖检查</a:t>
                      </a:r>
                      <a:br>
                        <a:rPr lang="zh-CN" altLang="en-US" sz="1600">
                          <a:solidFill>
                            <a:schemeClr val="bg1"/>
                          </a:solidFill>
                        </a:rPr>
                      </a:br>
                      <a:r>
                        <a:rPr lang="en-US" altLang="zh-CN" sz="1600">
                          <a:solidFill>
                            <a:schemeClr val="bg1"/>
                          </a:solidFill>
                        </a:rPr>
                        <a:t>FURPS+ </a:t>
                      </a:r>
                      <a:r>
                        <a:rPr lang="zh-CN" altLang="en-US" sz="1600">
                          <a:solidFill>
                            <a:schemeClr val="bg1"/>
                          </a:solidFill>
                        </a:rPr>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solidFill>
                            <a:schemeClr val="bg1"/>
                          </a:solidFill>
                        </a:rPr>
                        <a:t>一致性 </a:t>
                      </a:r>
                      <a:r>
                        <a:rPr lang="en-US" sz="1600">
                          <a:solidFill>
                            <a:schemeClr val="bg1"/>
                          </a:solidFill>
                        </a:rPr>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需求交叉审查、术语表（</a:t>
                      </a:r>
                      <a:r>
                        <a:rPr lang="en-US" altLang="zh-CN" sz="1600">
                          <a:solidFill>
                            <a:schemeClr val="bg1"/>
                          </a:solidFill>
                        </a:rPr>
                        <a:t>Glossary</a:t>
                      </a:r>
                      <a:r>
                        <a:rPr lang="zh-CN" altLang="en-US" sz="1600">
                          <a:solidFill>
                            <a:schemeClr val="bg1"/>
                          </a:solidFill>
                        </a:rPr>
                        <a:t>）</a:t>
                      </a:r>
                      <a:br>
                        <a:rPr lang="zh-CN" altLang="en-US" sz="1600">
                          <a:solidFill>
                            <a:schemeClr val="bg1"/>
                          </a:solidFill>
                        </a:rPr>
                      </a:br>
                      <a:r>
                        <a:rPr lang="zh-CN" altLang="en-US" sz="1600">
                          <a:solidFill>
                            <a:schemeClr val="bg1"/>
                          </a:solidFill>
                        </a:rPr>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solidFill>
                            <a:schemeClr val="bg1"/>
                          </a:solidFill>
                        </a:rPr>
                        <a:t>可行性 </a:t>
                      </a:r>
                      <a:r>
                        <a:rPr lang="en-US" sz="1600">
                          <a:solidFill>
                            <a:schemeClr val="bg1"/>
                          </a:solidFill>
                        </a:rPr>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技术上能否实现？成本</a:t>
                      </a:r>
                      <a:r>
                        <a:rPr lang="en-US" altLang="zh-CN" sz="1600">
                          <a:solidFill>
                            <a:schemeClr val="bg1"/>
                          </a:solidFill>
                        </a:rPr>
                        <a:t>/</a:t>
                      </a:r>
                      <a:r>
                        <a:rPr lang="zh-CN" altLang="en-US" sz="1600">
                          <a:solidFill>
                            <a:schemeClr val="bg1"/>
                          </a:solidFill>
                        </a:rPr>
                        <a:t>时间是否可控？避免“</a:t>
                      </a:r>
                      <a:r>
                        <a:rPr lang="zh-CN" altLang="en-US" sz="1600">
                          <a:solidFill>
                            <a:srgbClr val="FFFF00"/>
                          </a:solidFill>
                        </a:rPr>
                        <a:t>为了开发而开发</a:t>
                      </a:r>
                      <a:r>
                        <a:rPr lang="zh-CN" altLang="en-US" sz="1600">
                          <a:solidFill>
                            <a:schemeClr val="bg1"/>
                          </a:solidFill>
                        </a:rPr>
                        <a:t>”</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技术预研（</a:t>
                      </a:r>
                      <a:r>
                        <a:rPr lang="en-US" altLang="zh-CN" sz="1600">
                          <a:solidFill>
                            <a:schemeClr val="bg1"/>
                          </a:solidFill>
                        </a:rPr>
                        <a:t>PoC</a:t>
                      </a:r>
                      <a:r>
                        <a:rPr lang="zh-CN" altLang="en-US" sz="1600">
                          <a:solidFill>
                            <a:schemeClr val="bg1"/>
                          </a:solidFill>
                        </a:rPr>
                        <a:t>）、架构师评估</a:t>
                      </a:r>
                      <a:br>
                        <a:rPr lang="zh-CN" altLang="en-US" sz="1600">
                          <a:solidFill>
                            <a:schemeClr val="bg1"/>
                          </a:solidFill>
                        </a:rPr>
                      </a:br>
                      <a:r>
                        <a:rPr lang="en-US" altLang="zh-CN" sz="1600">
                          <a:solidFill>
                            <a:schemeClr val="bg1"/>
                          </a:solidFill>
                        </a:rPr>
                        <a:t>ROI </a:t>
                      </a:r>
                      <a:r>
                        <a:rPr lang="zh-CN" altLang="en-US" sz="1600">
                          <a:solidFill>
                            <a:schemeClr val="bg1"/>
                          </a:solidFill>
                        </a:rPr>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solidFill>
                            <a:schemeClr val="bg1"/>
                          </a:solidFill>
                        </a:rPr>
                        <a:t>必要性 </a:t>
                      </a:r>
                      <a:r>
                        <a:rPr lang="en-US" sz="1600">
                          <a:solidFill>
                            <a:schemeClr val="bg1"/>
                          </a:solidFill>
                        </a:rPr>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该需求是否真正影响核心价值？是否属于 </a:t>
                      </a:r>
                      <a:r>
                        <a:rPr lang="en-US" altLang="zh-CN" sz="1600">
                          <a:solidFill>
                            <a:schemeClr val="bg1"/>
                          </a:solidFill>
                        </a:rPr>
                        <a:t>MVP </a:t>
                      </a:r>
                      <a:r>
                        <a:rPr lang="zh-CN" altLang="en-US" sz="1600">
                          <a:solidFill>
                            <a:schemeClr val="bg1"/>
                          </a:solidFill>
                        </a:rPr>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solidFill>
                            <a:schemeClr val="bg1"/>
                          </a:solidFill>
                        </a:rPr>
                        <a:t>MoSCoW</a:t>
                      </a:r>
                      <a:r>
                        <a:rPr lang="en-US" sz="1600">
                          <a:solidFill>
                            <a:schemeClr val="bg1"/>
                          </a:solidFill>
                        </a:rPr>
                        <a:t> </a:t>
                      </a:r>
                      <a:r>
                        <a:rPr lang="zh-CN" altLang="en-US" sz="1600">
                          <a:solidFill>
                            <a:schemeClr val="bg1"/>
                          </a:solidFill>
                        </a:rPr>
                        <a:t>优先级排序、</a:t>
                      </a:r>
                      <a:r>
                        <a:rPr lang="en-US" sz="1600">
                          <a:solidFill>
                            <a:schemeClr val="bg1"/>
                          </a:solidFill>
                        </a:rPr>
                        <a:t>Kano </a:t>
                      </a:r>
                      <a:r>
                        <a:rPr lang="zh-CN" altLang="en-US" sz="1600">
                          <a:solidFill>
                            <a:schemeClr val="bg1"/>
                          </a:solidFill>
                        </a:rPr>
                        <a:t>模型分析</a:t>
                      </a:r>
                      <a:br>
                        <a:rPr lang="zh-CN" altLang="en-US" sz="1600">
                          <a:solidFill>
                            <a:schemeClr val="bg1"/>
                          </a:solidFill>
                        </a:rPr>
                      </a:br>
                      <a:r>
                        <a:rPr lang="zh-CN" altLang="en-US" sz="1600">
                          <a:solidFill>
                            <a:schemeClr val="bg1"/>
                          </a:solidFill>
                        </a:rPr>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solidFill>
                            <a:schemeClr val="bg1"/>
                          </a:solidFill>
                        </a:rPr>
                        <a:t>可检验性 </a:t>
                      </a:r>
                      <a:r>
                        <a:rPr lang="en-US" sz="1600">
                          <a:solidFill>
                            <a:schemeClr val="bg1"/>
                          </a:solidFill>
                        </a:rPr>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bg1"/>
                          </a:solidFill>
                        </a:rPr>
                        <a:t>Acceptance Criteria </a:t>
                      </a:r>
                      <a:r>
                        <a:rPr lang="zh-CN" altLang="en-US" sz="1600">
                          <a:solidFill>
                            <a:schemeClr val="bg1"/>
                          </a:solidFill>
                        </a:rPr>
                        <a:t>编写、</a:t>
                      </a:r>
                      <a:r>
                        <a:rPr lang="en-US" sz="1600">
                          <a:solidFill>
                            <a:schemeClr val="bg1"/>
                          </a:solidFill>
                        </a:rPr>
                        <a:t>Gherkin </a:t>
                      </a:r>
                      <a:r>
                        <a:rPr lang="zh-CN" altLang="en-US" sz="1600">
                          <a:solidFill>
                            <a:schemeClr val="bg1"/>
                          </a:solidFill>
                        </a:rPr>
                        <a:t>语法</a:t>
                      </a:r>
                      <a:br>
                        <a:rPr lang="en-US" sz="1600">
                          <a:solidFill>
                            <a:schemeClr val="bg1"/>
                          </a:solidFill>
                        </a:rPr>
                      </a:br>
                      <a:r>
                        <a:rPr lang="zh-CN" altLang="en-US" sz="1600">
                          <a:solidFill>
                            <a:schemeClr val="bg1"/>
                          </a:solidFill>
                        </a:rPr>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solidFill>
                            <a:schemeClr val="bg1"/>
                          </a:solidFill>
                        </a:rPr>
                        <a:t>可跟踪性 </a:t>
                      </a:r>
                      <a:r>
                        <a:rPr lang="en-US" sz="1600">
                          <a:solidFill>
                            <a:schemeClr val="bg1"/>
                          </a:solidFill>
                        </a:rPr>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需求能否</a:t>
                      </a:r>
                      <a:r>
                        <a:rPr lang="zh-CN" altLang="en-US" sz="1600">
                          <a:solidFill>
                            <a:srgbClr val="FFFF00"/>
                          </a:solidFill>
                        </a:rPr>
                        <a:t>溯源</a:t>
                      </a:r>
                      <a:r>
                        <a:rPr lang="zh-CN" altLang="en-US" sz="1600">
                          <a:solidFill>
                            <a:schemeClr val="bg1"/>
                          </a:solidFill>
                        </a:rPr>
                        <a:t>，并向下关联设计、代码、测试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需求追踪矩阵 </a:t>
                      </a:r>
                      <a:r>
                        <a:rPr lang="en-US" sz="1600">
                          <a:solidFill>
                            <a:srgbClr val="FFFF00"/>
                          </a:solidFill>
                        </a:rPr>
                        <a:t>RTM</a:t>
                      </a:r>
                      <a:r>
                        <a:rPr lang="zh-CN" altLang="en-US" sz="1600">
                          <a:solidFill>
                            <a:schemeClr val="bg1"/>
                          </a:solidFill>
                        </a:rPr>
                        <a:t>、</a:t>
                      </a:r>
                      <a:r>
                        <a:rPr lang="en-US" altLang="zh-CN" sz="1600">
                          <a:solidFill>
                            <a:schemeClr val="bg1"/>
                          </a:solidFill>
                        </a:rPr>
                        <a:t>Jira/TAPD </a:t>
                      </a:r>
                      <a:r>
                        <a:rPr lang="zh-CN" altLang="en-US" sz="1600">
                          <a:solidFill>
                            <a:schemeClr val="bg1"/>
                          </a:solidFill>
                        </a:rPr>
                        <a:t>等工具链路</a:t>
                      </a:r>
                      <a:br>
                        <a:rPr lang="en-US" sz="1600">
                          <a:solidFill>
                            <a:schemeClr val="bg1"/>
                          </a:solidFill>
                        </a:rPr>
                      </a:br>
                      <a:r>
                        <a:rPr lang="en-US" sz="1600">
                          <a:solidFill>
                            <a:srgbClr val="FFFF00"/>
                          </a:solidFill>
                        </a:rPr>
                        <a:t>Git</a:t>
                      </a:r>
                      <a:r>
                        <a:rPr lang="en-US" sz="1600">
                          <a:solidFill>
                            <a:schemeClr val="bg1"/>
                          </a:solidFill>
                        </a:rPr>
                        <a:t>/</a:t>
                      </a:r>
                      <a:r>
                        <a:rPr lang="en-US" sz="1600">
                          <a:solidFill>
                            <a:srgbClr val="FFFF00"/>
                          </a:solidFill>
                        </a:rPr>
                        <a:t>GitHub</a:t>
                      </a:r>
                      <a:r>
                        <a:rPr lang="en-US" sz="1600">
                          <a:solidFill>
                            <a:schemeClr val="bg1"/>
                          </a:solidFill>
                        </a:rPr>
                        <a:t> </a:t>
                      </a:r>
                      <a:r>
                        <a:rPr lang="zh-CN" altLang="en-US" sz="1600">
                          <a:solidFill>
                            <a:schemeClr val="bg1"/>
                          </a:solidFill>
                        </a:rPr>
                        <a:t>版本控制 </a:t>
                      </a:r>
                      <a:r>
                        <a:rPr lang="en-US" altLang="zh-CN" sz="1600">
                          <a:solidFill>
                            <a:schemeClr val="bg1"/>
                          </a:solidFill>
                        </a:rPr>
                        <a:t>+ </a:t>
                      </a:r>
                      <a:r>
                        <a:rPr lang="en-US" sz="1600">
                          <a:solidFill>
                            <a:schemeClr val="bg1"/>
                          </a:solidFill>
                        </a:rPr>
                        <a:t>Commit Message </a:t>
                      </a:r>
                      <a:r>
                        <a:rPr lang="zh-CN" altLang="en-US" sz="1600">
                          <a:solidFill>
                            <a:schemeClr val="bg1"/>
                          </a:solidFill>
                        </a:rPr>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solidFill>
                            <a:schemeClr val="bg1"/>
                          </a:solidFill>
                        </a:rPr>
                        <a:t>签字确认 </a:t>
                      </a:r>
                      <a:r>
                        <a:rPr lang="en-US" sz="1600">
                          <a:solidFill>
                            <a:schemeClr val="bg1"/>
                          </a:solidFill>
                        </a:rPr>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电子签名系统、会议评审纪要 </a:t>
                      </a:r>
                      <a:r>
                        <a:rPr lang="en-US" altLang="zh-CN" sz="1600">
                          <a:solidFill>
                            <a:schemeClr val="bg1"/>
                          </a:solidFill>
                        </a:rPr>
                        <a:t>+ </a:t>
                      </a:r>
                      <a:r>
                        <a:rPr lang="zh-CN" altLang="en-US" sz="1600">
                          <a:solidFill>
                            <a:schemeClr val="bg1"/>
                          </a:solidFill>
                        </a:rPr>
                        <a:t>邮件确认</a:t>
                      </a:r>
                      <a:br>
                        <a:rPr lang="zh-CN" altLang="en-US" sz="1600">
                          <a:solidFill>
                            <a:schemeClr val="bg1"/>
                          </a:solidFill>
                        </a:rPr>
                      </a:br>
                      <a:r>
                        <a:rPr lang="zh-CN" altLang="en-US" sz="1600">
                          <a:solidFill>
                            <a:schemeClr val="bg1"/>
                          </a:solidFill>
                        </a:rPr>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a:t>客观存在：对事务的认知</a:t>
            </a:r>
            <a:r>
              <a:rPr lang="zh-CN" altLang="en-US">
                <a:solidFill>
                  <a:srgbClr val="FFFF00"/>
                </a:solidFill>
              </a:rPr>
              <a:t>由浅入深</a:t>
            </a:r>
            <a:r>
              <a:rPr lang="zh-CN" altLang="en-US"/>
              <a:t>、</a:t>
            </a:r>
            <a:r>
              <a:rPr lang="zh-CN" altLang="en-US">
                <a:solidFill>
                  <a:srgbClr val="FFFF00"/>
                </a:solidFill>
              </a:rPr>
              <a:t>逐步深入</a:t>
            </a:r>
            <a:r>
              <a:rPr lang="zh-CN" altLang="en-US"/>
              <a:t>、</a:t>
            </a:r>
            <a:r>
              <a:rPr lang="zh-CN" altLang="en-US">
                <a:solidFill>
                  <a:srgbClr val="FFFF00"/>
                </a:solidFill>
              </a:rPr>
              <a:t>逐步明晰</a:t>
            </a:r>
            <a:endParaRPr lang="en-US" altLang="zh-CN">
              <a:solidFill>
                <a:srgbClr val="FFFF00"/>
              </a:solidFill>
            </a:endParaRPr>
          </a:p>
          <a:p>
            <a:r>
              <a:rPr lang="zh-CN" altLang="en-US"/>
              <a:t>正视并接受</a:t>
            </a:r>
            <a:endParaRPr lang="en-US" altLang="zh-CN"/>
          </a:p>
          <a:p>
            <a:r>
              <a:rPr lang="zh-CN" altLang="en-US"/>
              <a:t>由变更控制委员会</a:t>
            </a:r>
            <a:r>
              <a:rPr lang="en-US" altLang="zh-CN"/>
              <a:t>SCCB(Software  Change Control Board)</a:t>
            </a:r>
            <a:r>
              <a:rPr lang="zh-CN" altLang="en-US"/>
              <a:t>审核并确定</a:t>
            </a:r>
            <a:endParaRPr lang="en-US" altLang="zh-CN"/>
          </a:p>
          <a:p>
            <a:r>
              <a:rPr lang="zh-CN" altLang="en-US"/>
              <a:t>主要工作</a:t>
            </a:r>
            <a:endParaRPr lang="en-US" altLang="zh-CN"/>
          </a:p>
          <a:p>
            <a:pPr lvl="1"/>
            <a:r>
              <a:rPr lang="zh-CN" altLang="en-US"/>
              <a:t>建立需求基线 </a:t>
            </a:r>
            <a:r>
              <a:rPr lang="en-US" altLang="zh-CN"/>
              <a:t>Requirement Baseline</a:t>
            </a:r>
          </a:p>
          <a:p>
            <a:pPr lvl="1"/>
            <a:r>
              <a:rPr lang="zh-CN" altLang="en-US"/>
              <a:t>确定需求变更过程</a:t>
            </a:r>
            <a:endParaRPr lang="en-US" altLang="zh-CN"/>
          </a:p>
          <a:p>
            <a:pPr lvl="1"/>
            <a:r>
              <a:rPr lang="zh-CN" altLang="en-US"/>
              <a:t>建立变更控制委员会 </a:t>
            </a:r>
            <a:r>
              <a:rPr lang="en-US" altLang="zh-CN">
                <a:hlinkClick r:id="rId3"/>
              </a:rPr>
              <a:t>SCCB</a:t>
            </a:r>
            <a:endParaRPr lang="en-US" altLang="zh-CN"/>
          </a:p>
          <a:p>
            <a:pPr lvl="1"/>
            <a:r>
              <a:rPr lang="zh-CN" altLang="en-US"/>
              <a:t>进行变更影响分析</a:t>
            </a:r>
            <a:endParaRPr lang="en-US" altLang="zh-CN"/>
          </a:p>
          <a:p>
            <a:pPr lvl="1"/>
            <a:r>
              <a:rPr lang="zh-CN" altLang="en-US"/>
              <a:t>跟踪受影响的部分</a:t>
            </a:r>
            <a:endParaRPr lang="en-US" altLang="zh-CN"/>
          </a:p>
          <a:p>
            <a:pPr lvl="1"/>
            <a:r>
              <a:rPr lang="zh-CN" altLang="en-US"/>
              <a:t>建立变更记录</a:t>
            </a:r>
            <a:endParaRPr lang="en-US" altLang="zh-CN"/>
          </a:p>
          <a:p>
            <a:pPr lvl="1"/>
            <a:r>
              <a:rPr lang="zh-CN" altLang="en-US"/>
              <a:t>跟踪状态衡量稳定</a:t>
            </a:r>
            <a:endParaRPr lang="en-US" altLang="zh-CN"/>
          </a:p>
          <a:p>
            <a:pPr lvl="1"/>
            <a:endParaRPr lang="zh-CN" altLang="en-US"/>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基于</a:t>
            </a:r>
            <a:r>
              <a:rPr lang="en-US" altLang="zh-CN" sz="1400">
                <a:solidFill>
                  <a:schemeClr val="bg1"/>
                </a:solidFill>
              </a:rPr>
              <a:t>UML</a:t>
            </a:r>
            <a:endParaRPr lang="zh-CN" altLang="en-US" sz="1400">
              <a:solidFill>
                <a:schemeClr val="bg1"/>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系统流程图 </a:t>
            </a:r>
            <a:r>
              <a:rPr lang="en-US" altLang="zh-CN" sz="1400">
                <a:solidFill>
                  <a:schemeClr val="bg1"/>
                </a:solidFill>
              </a:rPr>
              <a:t>System Flowchart</a:t>
            </a:r>
            <a:endParaRPr lang="zh-CN" altLang="en-US" sz="1400">
              <a:solidFill>
                <a:schemeClr val="bg1"/>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数据流 </a:t>
            </a:r>
            <a:r>
              <a:rPr lang="en-US" altLang="zh-CN" sz="1400">
                <a:solidFill>
                  <a:schemeClr val="bg1"/>
                </a:solidFill>
              </a:rPr>
              <a:t>Data Flow Diagram</a:t>
            </a:r>
            <a:endParaRPr lang="zh-CN" altLang="en-US" sz="1400">
              <a:solidFill>
                <a:schemeClr val="bg1"/>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p:spPr>
        <p:txBody>
          <a:bodyPr wrap="none" rtlCol="0">
            <a:spAutoFit/>
          </a:bodyPr>
          <a:lstStyle/>
          <a:p>
            <a:r>
              <a:rPr lang="zh-CN" altLang="en-US" sz="1400">
                <a:solidFill>
                  <a:schemeClr val="bg1"/>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用例图 </a:t>
            </a:r>
            <a:r>
              <a:rPr lang="en-US" altLang="zh-CN" sz="1400">
                <a:solidFill>
                  <a:schemeClr val="bg1"/>
                </a:solidFill>
              </a:rPr>
              <a:t>Use Case</a:t>
            </a:r>
            <a:endParaRPr lang="zh-CN" altLang="en-US" sz="1400">
              <a:solidFill>
                <a:schemeClr val="bg1"/>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活动图 </a:t>
            </a:r>
            <a:r>
              <a:rPr lang="en-US" altLang="zh-CN" sz="1400">
                <a:solidFill>
                  <a:schemeClr val="bg1"/>
                </a:solidFill>
              </a:rPr>
              <a:t>Activity</a:t>
            </a:r>
            <a:endParaRPr lang="zh-CN" altLang="en-US" sz="1400">
              <a:solidFill>
                <a:schemeClr val="bg1"/>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1011815" cy="338554"/>
          </a:xfrm>
          <a:prstGeom prst="rect">
            <a:avLst/>
          </a:prstGeom>
          <a:noFill/>
        </p:spPr>
        <p:txBody>
          <a:bodyPr wrap="none" rtlCol="0">
            <a:spAutoFit/>
          </a:bodyPr>
          <a:lstStyle/>
          <a:p>
            <a:pPr algn="l"/>
            <a:r>
              <a:rPr lang="zh-CN" altLang="en-US" sz="1600">
                <a:solidFill>
                  <a:srgbClr val="FFFF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1005403" cy="338554"/>
          </a:xfrm>
          <a:prstGeom prst="rect">
            <a:avLst/>
          </a:prstGeom>
          <a:noFill/>
        </p:spPr>
        <p:txBody>
          <a:bodyPr wrap="none" rtlCol="0">
            <a:spAutoFit/>
          </a:bodyPr>
          <a:lstStyle/>
          <a:p>
            <a:pPr algn="l"/>
            <a:r>
              <a:rPr lang="zh-CN" altLang="en-US" sz="1600">
                <a:solidFill>
                  <a:srgbClr val="FFFF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序列图 </a:t>
            </a:r>
            <a:r>
              <a:rPr lang="en-US" altLang="zh-CN" sz="1400">
                <a:solidFill>
                  <a:schemeClr val="bg1"/>
                </a:solidFill>
              </a:rPr>
              <a:t>Sequence</a:t>
            </a:r>
            <a:endParaRPr lang="zh-CN" altLang="en-US" sz="1400">
              <a:solidFill>
                <a:schemeClr val="bg1"/>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状态图 </a:t>
            </a:r>
            <a:r>
              <a:rPr lang="en-US" altLang="zh-CN" sz="1400">
                <a:solidFill>
                  <a:schemeClr val="bg1"/>
                </a:solidFill>
              </a:rPr>
              <a:t>State Machine</a:t>
            </a:r>
            <a:endParaRPr lang="zh-CN" altLang="en-US" sz="1400">
              <a:solidFill>
                <a:schemeClr val="bg1"/>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影响地图 </a:t>
            </a:r>
            <a:r>
              <a:rPr lang="en-US" altLang="zh-CN" sz="1400">
                <a:solidFill>
                  <a:schemeClr val="bg1"/>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需求池 </a:t>
            </a:r>
            <a:r>
              <a:rPr lang="en-US" altLang="zh-CN" sz="1400">
                <a:solidFill>
                  <a:schemeClr val="bg1"/>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用户故事地图 </a:t>
            </a:r>
            <a:r>
              <a:rPr lang="en-US" altLang="zh-CN" sz="1400">
                <a:solidFill>
                  <a:schemeClr val="bg1"/>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用户故事编写 </a:t>
            </a:r>
            <a:r>
              <a:rPr lang="en-US" altLang="zh-CN" sz="1400">
                <a:solidFill>
                  <a:schemeClr val="bg1"/>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INVEST </a:t>
            </a:r>
            <a:r>
              <a:rPr lang="zh-CN" altLang="en-US" sz="1400">
                <a:solidFill>
                  <a:schemeClr val="bg1"/>
                </a:solidFill>
              </a:rPr>
              <a:t>原则</a:t>
            </a:r>
            <a:endParaRPr lang="en-US" altLang="zh-CN" sz="1400">
              <a:solidFill>
                <a:schemeClr val="bg1"/>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chemeClr val="bg1"/>
                </a:solidFill>
              </a:rPr>
              <a:t>行为驱动开发 </a:t>
            </a:r>
            <a:r>
              <a:rPr lang="en-US" altLang="zh-CN" sz="1400">
                <a:solidFill>
                  <a:schemeClr val="bg1"/>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chemeClr val="bg1"/>
                </a:solidFill>
              </a:rPr>
              <a:t>… …</a:t>
            </a:r>
            <a:endParaRPr lang="zh-CN" altLang="en-US" sz="1400">
              <a:solidFill>
                <a:schemeClr val="bg1"/>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a:t>
            </a:r>
            <a:r>
              <a:rPr lang="zh-CN" altLang="en-US" dirty="0">
                <a:solidFill>
                  <a:srgbClr val="FFFF00"/>
                </a:solidFill>
              </a:rPr>
              <a:t>黑盒子</a:t>
            </a:r>
            <a:r>
              <a:rPr lang="zh-CN" altLang="en-US" dirty="0"/>
              <a:t>”形式描绘系统内部的各个部件（如程序、文件、数据库、人工过程等），并表达信息在这些部件之间的流动情况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Start </a:t>
            </a:r>
            <a:endParaRPr lang="zh-CN" altLang="en-US" sz="1400">
              <a:solidFill>
                <a:schemeClr val="bg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Decide</a:t>
            </a:r>
            <a:endParaRPr lang="zh-CN" altLang="en-US" sz="1400">
              <a:solidFill>
                <a:schemeClr val="bg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Process</a:t>
            </a:r>
            <a:endParaRPr lang="zh-CN" altLang="en-US" sz="1400">
              <a:solidFill>
                <a:schemeClr val="bg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195388134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1935353738"/>
              </p:ext>
            </p:extLst>
          </p:nvPr>
        </p:nvGraphicFramePr>
        <p:xfrm>
          <a:off x="696000" y="1515786"/>
          <a:ext cx="10800000" cy="3826428"/>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60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tc>
                  <a:txBody>
                    <a:bodyPr/>
                    <a:lstStyle/>
                    <a:p>
                      <a:pPr algn="l">
                        <a:buNone/>
                      </a:pPr>
                      <a:r>
                        <a:rPr lang="zh-CN" altLang="en-US" sz="160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7441994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定义符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由</a:t>
                      </a:r>
                      <a:r>
                        <a:rPr lang="en-US" altLang="zh-CN" sz="1600">
                          <a:solidFill>
                            <a:schemeClr val="bg1"/>
                          </a:solidFill>
                        </a:rPr>
                        <a:t>……</a:t>
                      </a:r>
                      <a:r>
                        <a:rPr lang="zh-CN" altLang="en-US" sz="1600">
                          <a:solidFill>
                            <a:schemeClr val="bg1"/>
                          </a:solidFill>
                        </a:rPr>
                        <a:t>组成</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订单</a:t>
                      </a:r>
                      <a:r>
                        <a:rPr lang="en-US" altLang="zh-CN" sz="1600">
                          <a:solidFill>
                            <a:schemeClr val="bg1"/>
                          </a:solidFill>
                          <a:latin typeface="Courier New" panose="02070309020205020404" pitchFamily="49" charset="0"/>
                        </a:rPr>
                        <a:t>ID + </a:t>
                      </a:r>
                      <a:r>
                        <a:rPr lang="zh-CN" altLang="en-US" sz="1600">
                          <a:solidFill>
                            <a:schemeClr val="bg1"/>
                          </a:solidFill>
                          <a:latin typeface="Courier New" panose="02070309020205020404" pitchFamily="49" charset="0"/>
                        </a:rPr>
                        <a:t>客户名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连接符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和 </a:t>
                      </a:r>
                      <a:r>
                        <a:rPr lang="en-US" altLang="zh-CN" sz="1600">
                          <a:solidFill>
                            <a:schemeClr val="bg1"/>
                          </a:solidFill>
                        </a:rPr>
                        <a:t>/ </a:t>
                      </a:r>
                      <a:r>
                        <a:rPr lang="zh-CN" altLang="en-US" sz="1600">
                          <a:solidFill>
                            <a:schemeClr val="bg1"/>
                          </a:solidFill>
                        </a:rPr>
                        <a:t>与</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地址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市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区</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选择符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或 </a:t>
                      </a:r>
                      <a:r>
                        <a:rPr lang="en-US" altLang="zh-CN" sz="1600">
                          <a:solidFill>
                            <a:schemeClr val="bg1"/>
                          </a:solidFill>
                        </a:rPr>
                        <a:t>/ </a:t>
                      </a:r>
                      <a:r>
                        <a:rPr lang="zh-CN" altLang="en-US" sz="1600">
                          <a:solidFill>
                            <a:schemeClr val="bg1"/>
                          </a:solidFill>
                        </a:rPr>
                        <a:t>互斥</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支付方式 </a:t>
                      </a:r>
                      <a:r>
                        <a:rPr lang="en-US" altLang="zh-CN" sz="1600">
                          <a:solidFill>
                            <a:schemeClr val="bg1"/>
                          </a:solidFill>
                        </a:rPr>
                        <a:t>= [</a:t>
                      </a:r>
                      <a:r>
                        <a:rPr lang="zh-CN" altLang="en-US" sz="1600">
                          <a:solidFill>
                            <a:schemeClr val="bg1"/>
                          </a:solidFill>
                        </a:rPr>
                        <a:t>支付宝 </a:t>
                      </a:r>
                      <a:r>
                        <a:rPr lang="en-US" altLang="zh-CN" sz="1600">
                          <a:solidFill>
                            <a:schemeClr val="bg1"/>
                          </a:solidFill>
                        </a:rPr>
                        <a:t>| </a:t>
                      </a:r>
                      <a:r>
                        <a:rPr lang="zh-CN" altLang="en-US" sz="1600">
                          <a:solidFill>
                            <a:schemeClr val="bg1"/>
                          </a:solidFill>
                        </a:rPr>
                        <a:t>微信</a:t>
                      </a:r>
                      <a:r>
                        <a:rPr lang="en-US" altLang="zh-CN" sz="1600">
                          <a:solidFill>
                            <a:schemeClr val="bg1"/>
                          </a:solidFill>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可选</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电话 </a:t>
                      </a:r>
                      <a:r>
                        <a:rPr lang="en-US" altLang="zh-CN" sz="1600">
                          <a:solidFill>
                            <a:schemeClr val="bg1"/>
                          </a:solidFill>
                          <a:latin typeface="Courier New" panose="02070309020205020404" pitchFamily="49" charset="0"/>
                        </a:rPr>
                        <a:t>=(</a:t>
                      </a:r>
                      <a:r>
                        <a:rPr lang="zh-CN" altLang="en-US" sz="1600">
                          <a:solidFill>
                            <a:schemeClr val="bg1"/>
                          </a:solidFill>
                          <a:latin typeface="Courier New" panose="02070309020205020404" pitchFamily="49" charset="0"/>
                        </a:rPr>
                        <a:t>区号</a:t>
                      </a:r>
                      <a:r>
                        <a:rPr lang="en-US" altLang="zh-CN" sz="1600">
                          <a:solidFill>
                            <a:schemeClr val="bg1"/>
                          </a:solidFill>
                          <a:latin typeface="Courier New" panose="02070309020205020404" pitchFamily="49" charset="0"/>
                        </a:rPr>
                        <a:t>) + </a:t>
                      </a:r>
                      <a:r>
                        <a:rPr lang="zh-CN" altLang="en-US" sz="1600">
                          <a:solidFill>
                            <a:schemeClr val="bg1"/>
                          </a:solidFill>
                          <a:latin typeface="Courier New" panose="02070309020205020404" pitchFamily="49" charset="0"/>
                        </a:rPr>
                        <a:t>号码</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600">
                          <a:solidFill>
                            <a:schemeClr val="bg1"/>
                          </a:solidFill>
                        </a:rPr>
                        <a:t>{ }</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订单明细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商品信息</a:t>
                      </a:r>
                      <a:r>
                        <a:rPr lang="en-US" altLang="zh-CN" sz="1600">
                          <a:solidFill>
                            <a:schemeClr val="bg1"/>
                          </a:solidFill>
                          <a:latin typeface="Courier New" panose="02070309020205020404" pitchFamily="49" charset="0"/>
                        </a:rPr>
                        <a:t>}</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表示花括号内的元素可以重复出现（</a:t>
                      </a:r>
                      <a:r>
                        <a:rPr lang="en-US" altLang="zh-CN" sz="1600">
                          <a:solidFill>
                            <a:schemeClr val="bg1"/>
                          </a:solidFill>
                        </a:rPr>
                        <a:t>0</a:t>
                      </a:r>
                      <a:r>
                        <a:rPr lang="zh-CN" altLang="en-US" sz="1600">
                          <a:solidFill>
                            <a:schemeClr val="bg1"/>
                          </a:solidFill>
                        </a:rPr>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600">
                          <a:solidFill>
                            <a:schemeClr val="bg1"/>
                          </a:solidFill>
                        </a:rPr>
                        <a:t>{ }n</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限定重复符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固定次数重复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坐标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数字</a:t>
                      </a:r>
                      <a:r>
                        <a:rPr lang="en-US" altLang="zh-CN" sz="1600">
                          <a:solidFill>
                            <a:schemeClr val="bg1"/>
                          </a:solidFill>
                          <a:latin typeface="Courier New" panose="02070309020205020404" pitchFamily="49" charset="0"/>
                        </a:rPr>
                        <a:t>}2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表示花括号内的元素必须重复 </a:t>
                      </a:r>
                      <a:r>
                        <a:rPr lang="en-US" altLang="zh-CN" sz="1600">
                          <a:solidFill>
                            <a:schemeClr val="bg1"/>
                          </a:solidFill>
                        </a:rPr>
                        <a:t>n </a:t>
                      </a:r>
                      <a:r>
                        <a:rPr lang="zh-CN" altLang="en-US" sz="1600">
                          <a:solidFill>
                            <a:schemeClr val="bg1"/>
                          </a:solidFill>
                        </a:rPr>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600">
                          <a:solidFill>
                            <a:schemeClr val="bg1"/>
                          </a:solidFill>
                        </a:rPr>
                        <a:t>{ }</a:t>
                      </a:r>
                      <a:r>
                        <a:rPr lang="en-US" sz="1600" err="1">
                          <a:solidFill>
                            <a:schemeClr val="bg1"/>
                          </a:solidFill>
                        </a:rPr>
                        <a:t>m,n</a:t>
                      </a:r>
                      <a:endParaRPr 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范围重复</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密码 </a:t>
                      </a:r>
                      <a:r>
                        <a:rPr lang="en-US" altLang="zh-CN" sz="1600">
                          <a:solidFill>
                            <a:schemeClr val="bg1"/>
                          </a:solidFill>
                          <a:latin typeface="Courier New" panose="02070309020205020404" pitchFamily="49" charset="0"/>
                        </a:rPr>
                        <a:t>= {</a:t>
                      </a:r>
                      <a:r>
                        <a:rPr lang="zh-CN" altLang="en-US" sz="1600">
                          <a:solidFill>
                            <a:schemeClr val="bg1"/>
                          </a:solidFill>
                          <a:latin typeface="Courier New" panose="02070309020205020404" pitchFamily="49" charset="0"/>
                        </a:rPr>
                        <a:t>字母或数字</a:t>
                      </a:r>
                      <a:r>
                        <a:rPr lang="en-US" altLang="zh-CN" sz="1600">
                          <a:solidFill>
                            <a:schemeClr val="bg1"/>
                          </a:solidFill>
                          <a:latin typeface="Courier New" panose="02070309020205020404" pitchFamily="49" charset="0"/>
                        </a:rPr>
                        <a:t>}6,12</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表示花括号内的元素重复次数在 </a:t>
                      </a:r>
                      <a:r>
                        <a:rPr lang="en-US" altLang="zh-CN" sz="1600">
                          <a:solidFill>
                            <a:schemeClr val="bg1"/>
                          </a:solidFill>
                        </a:rPr>
                        <a:t>m </a:t>
                      </a:r>
                      <a:r>
                        <a:rPr lang="zh-CN" altLang="en-US" sz="1600">
                          <a:solidFill>
                            <a:schemeClr val="bg1"/>
                          </a:solidFill>
                        </a:rPr>
                        <a:t>到 </a:t>
                      </a:r>
                      <a:r>
                        <a:rPr lang="en-US" altLang="zh-CN" sz="1600">
                          <a:solidFill>
                            <a:schemeClr val="bg1"/>
                          </a:solidFill>
                        </a:rPr>
                        <a:t>n </a:t>
                      </a:r>
                      <a:r>
                        <a:rPr lang="zh-CN" altLang="en-US" sz="1600">
                          <a:solidFill>
                            <a:schemeClr val="bg1"/>
                          </a:solidFill>
                        </a:rPr>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600">
                          <a:solidFill>
                            <a:schemeClr val="bg1"/>
                          </a:solidFill>
                        </a:rPr>
                        <a:t>…</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省略符</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范围</a:t>
                      </a: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latin typeface="Courier New" panose="02070309020205020404" pitchFamily="49" charset="0"/>
                        </a:rPr>
                        <a:t>年龄 </a:t>
                      </a:r>
                      <a:r>
                        <a:rPr lang="en-US" altLang="zh-CN" sz="1600">
                          <a:solidFill>
                            <a:schemeClr val="bg1"/>
                          </a:solidFill>
                          <a:latin typeface="Courier New" panose="02070309020205020404" pitchFamily="49" charset="0"/>
                        </a:rPr>
                        <a:t>= 0…150</a:t>
                      </a:r>
                      <a:endParaRPr lang="zh-CN" altLang="en-US" sz="1600">
                        <a:solidFill>
                          <a:schemeClr val="bg1"/>
                        </a:solidFill>
                      </a:endParaRPr>
                    </a:p>
                  </a:txBody>
                  <a:tcPr marL="72009" marR="72009" marT="36004" marB="36004" anchor="ctr">
                    <a:lnL>
                      <a:noFill/>
                    </a:lnL>
                    <a:lnR>
                      <a:noFill/>
                    </a:lnR>
                    <a:lnT>
                      <a:noFill/>
                    </a:lnT>
                    <a:lnB>
                      <a:noFill/>
                    </a:lnB>
                    <a:noFill/>
                  </a:tcPr>
                </a:tc>
                <a:tc>
                  <a:txBody>
                    <a:bodyPr/>
                    <a:lstStyle/>
                    <a:p>
                      <a:pPr algn="l">
                        <a:buNone/>
                      </a:pPr>
                      <a:r>
                        <a:rPr lang="zh-CN" altLang="en-US" sz="1600">
                          <a:solidFill>
                            <a:schemeClr val="bg1"/>
                          </a:solidFill>
                        </a:rPr>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a:hlinkClick r:id="rId3"/>
              </a:rPr>
              <a:t>影响地图 </a:t>
            </a:r>
            <a:r>
              <a:rPr lang="en-US" altLang="zh-CN">
                <a:hlinkClick r:id="rId3"/>
              </a:rPr>
              <a:t>Impact Mapping</a:t>
            </a:r>
            <a:endParaRPr lang="en-US" altLang="zh-CN"/>
          </a:p>
          <a:p>
            <a:r>
              <a:rPr lang="zh-CN" altLang="en-US"/>
              <a:t>从“业务目标”出发，</a:t>
            </a:r>
            <a:r>
              <a:rPr lang="zh-CN" altLang="en-US">
                <a:solidFill>
                  <a:srgbClr val="FFFF00"/>
                </a:solidFill>
              </a:rPr>
              <a:t>逆向推导</a:t>
            </a:r>
            <a:r>
              <a:rPr lang="zh-CN" altLang="en-US"/>
              <a:t>出“应该做什么功能</a:t>
            </a:r>
            <a:endParaRPr lang="en-US" altLang="zh-CN"/>
          </a:p>
          <a:p>
            <a:r>
              <a:rPr lang="zh-CN" altLang="en-US"/>
              <a:t>从一个明确的业务目标出发，通过识别关键角色、期望的行为改变（影响），最终推导出具体的交付物</a:t>
            </a:r>
            <a:endParaRPr lang="en-US" altLang="zh-CN"/>
          </a:p>
          <a:p>
            <a:pPr lvl="1"/>
            <a:r>
              <a:rPr lang="zh-CN" altLang="en-US"/>
              <a:t>为什么做？（业务目标）</a:t>
            </a:r>
          </a:p>
          <a:p>
            <a:pPr lvl="1"/>
            <a:r>
              <a:rPr lang="zh-CN" altLang="en-US"/>
              <a:t>为谁做？（受影响的角色）</a:t>
            </a:r>
          </a:p>
          <a:p>
            <a:pPr lvl="1"/>
            <a:r>
              <a:rPr lang="zh-CN" altLang="en-US"/>
              <a:t>如何影响他们？（行为改变</a:t>
            </a:r>
            <a:r>
              <a:rPr lang="en-US" altLang="zh-CN"/>
              <a:t>/</a:t>
            </a:r>
            <a:r>
              <a:rPr lang="zh-CN" altLang="en-US"/>
              <a:t>影响）</a:t>
            </a:r>
          </a:p>
          <a:p>
            <a:pPr lvl="1"/>
            <a:r>
              <a:rPr lang="zh-CN" altLang="en-US"/>
              <a:t>做什么来实现？（具体功能项）</a:t>
            </a:r>
          </a:p>
          <a:p>
            <a:endParaRPr lang="zh-CN" altLang="en-US"/>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Goal</a:t>
            </a:r>
            <a:endParaRPr lang="zh-CN" altLang="en-US" sz="1600">
              <a:solidFill>
                <a:schemeClr val="bg1"/>
              </a:solidFill>
            </a:endParaRPr>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solidFill>
                  <a:schemeClr val="bg1"/>
                </a:solidFill>
              </a:rPr>
              <a:t>Delivery</a:t>
            </a:r>
            <a:endParaRPr lang="zh-CN" altLang="en-US" sz="1600">
              <a:solidFill>
                <a:schemeClr val="bg1"/>
              </a:solidFill>
            </a:endParaRPr>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721672" cy="369332"/>
          </a:xfrm>
          <a:prstGeom prst="rect">
            <a:avLst/>
          </a:prstGeom>
          <a:noFill/>
        </p:spPr>
        <p:txBody>
          <a:bodyPr wrap="none" rtlCol="0">
            <a:spAutoFit/>
          </a:bodyPr>
          <a:lstStyle/>
          <a:p>
            <a:r>
              <a:rPr lang="en-US" altLang="zh-CN">
                <a:solidFill>
                  <a:schemeClr val="bg1"/>
                </a:solidFill>
              </a:rPr>
              <a:t>Why</a:t>
            </a:r>
            <a:endParaRPr lang="zh-CN" altLang="en-US">
              <a:solidFill>
                <a:schemeClr val="bg1"/>
              </a:solidFill>
            </a:endParaRPr>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1015021" cy="369332"/>
          </a:xfrm>
          <a:prstGeom prst="rect">
            <a:avLst/>
          </a:prstGeom>
          <a:noFill/>
        </p:spPr>
        <p:txBody>
          <a:bodyPr wrap="none" rtlCol="0">
            <a:spAutoFit/>
          </a:bodyPr>
          <a:lstStyle/>
          <a:p>
            <a:r>
              <a:rPr lang="en-US" altLang="zh-CN">
                <a:solidFill>
                  <a:schemeClr val="bg1"/>
                </a:solidFill>
              </a:rPr>
              <a:t>Impact</a:t>
            </a:r>
            <a:endParaRPr lang="zh-CN" altLang="en-US">
              <a:solidFill>
                <a:schemeClr val="bg1"/>
              </a:solidFill>
            </a:endParaRPr>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740908" cy="369332"/>
          </a:xfrm>
          <a:prstGeom prst="rect">
            <a:avLst/>
          </a:prstGeom>
          <a:noFill/>
        </p:spPr>
        <p:txBody>
          <a:bodyPr wrap="none" rtlCol="0">
            <a:spAutoFit/>
          </a:bodyPr>
          <a:lstStyle/>
          <a:p>
            <a:r>
              <a:rPr lang="en-US" altLang="zh-CN">
                <a:solidFill>
                  <a:schemeClr val="bg1"/>
                </a:solidFill>
              </a:rPr>
              <a:t>Who</a:t>
            </a:r>
            <a:endParaRPr lang="zh-CN" altLang="en-US">
              <a:solidFill>
                <a:schemeClr val="bg1"/>
              </a:solidFill>
            </a:endParaRPr>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720069" cy="369332"/>
          </a:xfrm>
          <a:prstGeom prst="rect">
            <a:avLst/>
          </a:prstGeom>
          <a:noFill/>
        </p:spPr>
        <p:txBody>
          <a:bodyPr wrap="none" rtlCol="0">
            <a:spAutoFit/>
          </a:bodyPr>
          <a:lstStyle/>
          <a:p>
            <a:r>
              <a:rPr lang="en-US" altLang="zh-CN">
                <a:solidFill>
                  <a:schemeClr val="bg1"/>
                </a:solidFill>
              </a:rPr>
              <a:t>How</a:t>
            </a:r>
            <a:endParaRPr lang="zh-CN" altLang="en-US">
              <a:solidFill>
                <a:schemeClr val="bg1"/>
              </a:solidFill>
            </a:endParaRPr>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825867" cy="369332"/>
          </a:xfrm>
          <a:prstGeom prst="rect">
            <a:avLst/>
          </a:prstGeom>
          <a:noFill/>
        </p:spPr>
        <p:txBody>
          <a:bodyPr wrap="none" rtlCol="0">
            <a:spAutoFit/>
          </a:bodyPr>
          <a:lstStyle/>
          <a:p>
            <a:r>
              <a:rPr lang="en-US" altLang="zh-CN">
                <a:solidFill>
                  <a:schemeClr val="bg1"/>
                </a:solidFill>
              </a:rPr>
              <a:t>What</a:t>
            </a:r>
            <a:endParaRPr lang="zh-CN" altLang="en-US">
              <a:solidFill>
                <a:schemeClr val="bg1"/>
              </a:solidFill>
            </a:endParaRPr>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809837" cy="369332"/>
          </a:xfrm>
          <a:prstGeom prst="rect">
            <a:avLst/>
          </a:prstGeom>
          <a:noFill/>
        </p:spPr>
        <p:txBody>
          <a:bodyPr wrap="none" rtlCol="0">
            <a:spAutoFit/>
          </a:bodyPr>
          <a:lstStyle/>
          <a:p>
            <a:r>
              <a:rPr lang="en-US" altLang="zh-CN">
                <a:solidFill>
                  <a:schemeClr val="bg1"/>
                </a:solidFill>
              </a:rPr>
              <a:t>Actor</a:t>
            </a:r>
            <a:endParaRPr lang="zh-CN" altLang="en-US">
              <a:solidFill>
                <a:schemeClr val="bg1"/>
              </a:solidFill>
            </a:endParaRPr>
          </a:p>
        </p:txBody>
      </p:sp>
    </p:spTree>
    <p:extLst>
      <p:ext uri="{BB962C8B-B14F-4D97-AF65-F5344CB8AC3E}">
        <p14:creationId xmlns:p14="http://schemas.microsoft.com/office/powerpoint/2010/main" val="136726951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4033241661"/>
              </p:ext>
            </p:extLst>
          </p:nvPr>
        </p:nvGraphicFramePr>
        <p:xfrm>
          <a:off x="1302775" y="467360"/>
          <a:ext cx="9586450" cy="592328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central of an impact map answers the most important question: </a:t>
                      </a:r>
                      <a:r>
                        <a:rPr lang="en-US" altLang="zh-CN">
                          <a:solidFill>
                            <a:srgbClr val="FFFF00"/>
                          </a:solidFill>
                        </a:rPr>
                        <a:t>Why</a:t>
                      </a:r>
                      <a:r>
                        <a:rPr lang="en-US" altLang="zh-CN">
                          <a:solidFill>
                            <a:schemeClr val="bg1"/>
                          </a:solidFill>
                        </a:rPr>
                        <a:t> are we doing this? This is the goal we are </a:t>
                      </a:r>
                      <a:r>
                        <a:rPr lang="en-US" altLang="zh-CN">
                          <a:solidFill>
                            <a:srgbClr val="FFFF00"/>
                          </a:solidFill>
                        </a:rPr>
                        <a:t>trying to achieve</a:t>
                      </a:r>
                      <a:r>
                        <a:rPr lang="en-US" altLang="zh-CN">
                          <a:solidFill>
                            <a:schemeClr val="bg1"/>
                          </a:solidFill>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2000" dirty="0">
                          <a:solidFill>
                            <a:srgbClr val="FFFF00"/>
                          </a:solidFill>
                        </a:rPr>
                        <a:t>Actors</a:t>
                      </a:r>
                    </a:p>
                    <a:p>
                      <a:pPr algn="just" fontAlgn="base"/>
                      <a:r>
                        <a:rPr lang="en-US" altLang="zh-CN" dirty="0">
                          <a:solidFill>
                            <a:schemeClr val="bg1"/>
                          </a:solidFill>
                        </a:rPr>
                        <a:t>The first branch of an impact map provides answers to the following questions: </a:t>
                      </a:r>
                      <a:r>
                        <a:rPr lang="en-US" altLang="zh-CN" dirty="0">
                          <a:solidFill>
                            <a:srgbClr val="FFFF00"/>
                          </a:solidFill>
                        </a:rPr>
                        <a:t>Who</a:t>
                      </a:r>
                      <a:r>
                        <a:rPr lang="en-US" altLang="zh-CN" dirty="0">
                          <a:solidFill>
                            <a:schemeClr val="bg1"/>
                          </a:solidFill>
                        </a:rPr>
                        <a:t> can produce the desired effect? </a:t>
                      </a:r>
                      <a:r>
                        <a:rPr lang="en-US" altLang="zh-CN" dirty="0">
                          <a:solidFill>
                            <a:srgbClr val="FFFF00"/>
                          </a:solidFill>
                        </a:rPr>
                        <a:t>Who</a:t>
                      </a:r>
                      <a:r>
                        <a:rPr lang="en-US" altLang="zh-CN" dirty="0">
                          <a:solidFill>
                            <a:schemeClr val="bg1"/>
                          </a:solidFill>
                        </a:rPr>
                        <a:t> can obstruct it? </a:t>
                      </a:r>
                      <a:r>
                        <a:rPr lang="en-US" altLang="zh-CN" dirty="0">
                          <a:solidFill>
                            <a:srgbClr val="FFFF00"/>
                          </a:solidFill>
                        </a:rPr>
                        <a:t>Who</a:t>
                      </a:r>
                      <a:r>
                        <a:rPr lang="en-US" altLang="zh-CN" dirty="0">
                          <a:solidFill>
                            <a:schemeClr val="bg1"/>
                          </a:solidFill>
                        </a:rPr>
                        <a:t> are the consumers or users of our product? </a:t>
                      </a:r>
                      <a:r>
                        <a:rPr lang="en-US" altLang="zh-CN" dirty="0">
                          <a:solidFill>
                            <a:srgbClr val="FFFF00"/>
                          </a:solidFill>
                        </a:rPr>
                        <a:t>Who</a:t>
                      </a:r>
                      <a:r>
                        <a:rPr lang="en-US" altLang="zh-CN" dirty="0">
                          <a:solidFill>
                            <a:schemeClr val="bg1"/>
                          </a:solidFill>
                        </a:rPr>
                        <a:t> will be impacted by it? These are the actors who can influence the outcome.</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2000">
                          <a:solidFill>
                            <a:srgbClr val="FFFF00"/>
                          </a:solidFill>
                        </a:rPr>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a:solidFill>
                            <a:schemeClr val="bg1"/>
                          </a:solidFill>
                        </a:rPr>
                        <a:t>The second branch level of an impact map sets the actors in the perspective of our business goal. It answers the following questions: </a:t>
                      </a:r>
                      <a:r>
                        <a:rPr lang="en-US" altLang="zh-CN">
                          <a:solidFill>
                            <a:srgbClr val="FFFF00"/>
                          </a:solidFill>
                        </a:rPr>
                        <a:t>How</a:t>
                      </a:r>
                      <a:r>
                        <a:rPr lang="en-US" altLang="zh-CN">
                          <a:solidFill>
                            <a:schemeClr val="bg1"/>
                          </a:solidFill>
                        </a:rPr>
                        <a:t> should our actors’ behaviors change? </a:t>
                      </a:r>
                      <a:r>
                        <a:rPr lang="en-US" altLang="zh-CN">
                          <a:solidFill>
                            <a:srgbClr val="FFFF00"/>
                          </a:solidFill>
                        </a:rPr>
                        <a:t>How</a:t>
                      </a:r>
                      <a:r>
                        <a:rPr lang="en-US" altLang="zh-CN">
                          <a:solidFill>
                            <a:schemeClr val="bg1"/>
                          </a:solidFill>
                        </a:rPr>
                        <a:t> can they help us to achieve the goal? How can they obstruct or prevent us from succeeding? These are the impacts that we’re trying to create.</a:t>
                      </a:r>
                      <a:endParaRPr lang="zh-CN" altLang="en-US"/>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a:solidFill>
                            <a:srgbClr val="FFFF00"/>
                          </a:solidFill>
                        </a:rPr>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dirty="0">
                          <a:solidFill>
                            <a:schemeClr val="bg1"/>
                          </a:solidFill>
                        </a:rPr>
                        <a:t>Once we have the first three questions answered, we can talk about scope. The third branch level of an impact map answers the following question: </a:t>
                      </a:r>
                      <a:r>
                        <a:rPr lang="en-US" altLang="zh-CN" dirty="0">
                          <a:solidFill>
                            <a:srgbClr val="FFFF00"/>
                          </a:solidFill>
                        </a:rPr>
                        <a:t>What</a:t>
                      </a:r>
                      <a:r>
                        <a:rPr lang="en-US" altLang="zh-CN" dirty="0">
                          <a:solidFill>
                            <a:schemeClr val="bg1"/>
                          </a:solidFill>
                        </a:rPr>
                        <a:t> can we do, as an organization or a delivery team, to support the required impacts? These are the deliverables, software features and organizational activities.</a:t>
                      </a:r>
                      <a:endParaRPr lang="zh-CN" altLang="en-US"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2976906221"/>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a:solidFill>
                            <a:schemeClr val="bg1"/>
                          </a:solidFill>
                        </a:rPr>
                        <a:t>交付物</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作用机制</a:t>
                      </a:r>
                    </a:p>
                  </a:txBody>
                  <a:tcPr anchor="ctr">
                    <a:lnL>
                      <a:noFill/>
                    </a:lnL>
                    <a:lnR>
                      <a:noFill/>
                    </a:lnR>
                    <a:lnT>
                      <a:noFill/>
                    </a:lnT>
                    <a:lnB>
                      <a:noFill/>
                    </a:lnB>
                    <a:solidFill>
                      <a:schemeClr val="accent2"/>
                    </a:solidFill>
                  </a:tcPr>
                </a:tc>
                <a:tc>
                  <a:txBody>
                    <a:bodyPr/>
                    <a:lstStyle/>
                    <a:p>
                      <a:pPr>
                        <a:buNone/>
                      </a:pPr>
                      <a:r>
                        <a:rPr lang="zh-CN" altLang="en-US" sz="1600">
                          <a:solidFill>
                            <a:schemeClr val="bg1"/>
                          </a:solidFill>
                        </a:rPr>
                        <a:t>预期效果</a:t>
                      </a:r>
                    </a:p>
                  </a:txBody>
                  <a:tcPr anchor="ctr">
                    <a:lnL>
                      <a:noFill/>
                    </a:lnL>
                    <a:lnR>
                      <a:noFill/>
                    </a:lnR>
                    <a:lnT>
                      <a:noFill/>
                    </a:lnT>
                    <a:lnB>
                      <a:noFill/>
                    </a:lnB>
                    <a:solidFill>
                      <a:schemeClr val="accent2"/>
                    </a:solidFill>
                  </a:tcPr>
                </a:tc>
                <a:extLst>
                  <a:ext uri="{0D108BD9-81ED-4DB2-BD59-A6C34878D82A}">
                    <a16:rowId xmlns:a16="http://schemas.microsoft.com/office/drawing/2014/main" val="2072298893"/>
                  </a:ext>
                </a:extLst>
              </a:tr>
              <a:tr h="161559">
                <a:tc>
                  <a:txBody>
                    <a:bodyPr/>
                    <a:lstStyle/>
                    <a:p>
                      <a:pPr>
                        <a:buNone/>
                      </a:pPr>
                      <a:r>
                        <a:rPr lang="en-US" sz="1600">
                          <a:solidFill>
                            <a:schemeClr val="bg1"/>
                          </a:solidFill>
                        </a:rPr>
                        <a:t>Push updates on the app</a:t>
                      </a:r>
                      <a:br>
                        <a:rPr lang="en-US" sz="1600">
                          <a:solidFill>
                            <a:schemeClr val="bg1"/>
                          </a:solidFill>
                        </a:rPr>
                      </a:br>
                      <a:r>
                        <a:rPr lang="en-US" sz="1600" err="1">
                          <a:solidFill>
                            <a:schemeClr val="bg1"/>
                          </a:solidFill>
                        </a:rPr>
                        <a:t>App</a:t>
                      </a:r>
                      <a:r>
                        <a:rPr lang="en-US" sz="1600">
                          <a:solidFill>
                            <a:schemeClr val="bg1"/>
                          </a:solidFill>
                        </a:rPr>
                        <a:t> </a:t>
                      </a:r>
                      <a:r>
                        <a:rPr lang="zh-CN" altLang="en-US" sz="1600">
                          <a:solidFill>
                            <a:schemeClr val="bg1"/>
                          </a:solidFill>
                        </a:rPr>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主动提醒用户有新内容</a:t>
                      </a:r>
                      <a:r>
                        <a:rPr lang="en-US" altLang="zh-CN" sz="1600">
                          <a:solidFill>
                            <a:schemeClr val="bg1"/>
                          </a:solidFill>
                        </a:rPr>
                        <a:t>/</a:t>
                      </a:r>
                      <a:r>
                        <a:rPr lang="zh-CN" altLang="en-US" sz="1600">
                          <a:solidFill>
                            <a:schemeClr val="bg1"/>
                          </a:solidFill>
                        </a:rPr>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提高日活</a:t>
                      </a:r>
                      <a:r>
                        <a:rPr lang="en-US" altLang="zh-CN" sz="1600">
                          <a:solidFill>
                            <a:schemeClr val="bg1"/>
                          </a:solidFill>
                        </a:rPr>
                        <a:t>/</a:t>
                      </a:r>
                      <a:r>
                        <a:rPr lang="zh-CN" altLang="en-US" sz="1600">
                          <a:solidFill>
                            <a:schemeClr val="bg1"/>
                          </a:solidFill>
                        </a:rPr>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solidFill>
                            <a:schemeClr val="bg1"/>
                          </a:solidFill>
                        </a:rPr>
                        <a:t>Special offers every month</a:t>
                      </a:r>
                      <a:br>
                        <a:rPr lang="en-US" sz="1600">
                          <a:solidFill>
                            <a:schemeClr val="bg1"/>
                          </a:solidFill>
                        </a:rPr>
                      </a:br>
                      <a:r>
                        <a:rPr lang="zh-CN" altLang="en-US" sz="1600">
                          <a:solidFill>
                            <a:schemeClr val="bg1"/>
                          </a:solidFill>
                        </a:rPr>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solidFill>
                            <a:schemeClr val="bg1"/>
                          </a:solidFill>
                        </a:rPr>
                        <a:t>Better layout when browsing events</a:t>
                      </a:r>
                      <a:br>
                        <a:rPr lang="en-US" sz="1600">
                          <a:solidFill>
                            <a:schemeClr val="bg1"/>
                          </a:solidFill>
                        </a:rPr>
                      </a:br>
                      <a:r>
                        <a:rPr lang="zh-CN" altLang="en-US" sz="1600">
                          <a:solidFill>
                            <a:schemeClr val="bg1"/>
                          </a:solidFill>
                        </a:rPr>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间接支持“</a:t>
                      </a:r>
                      <a:r>
                        <a:rPr lang="en-US" sz="1600">
                          <a:solidFill>
                            <a:schemeClr val="bg1"/>
                          </a:solidFill>
                        </a:rPr>
                        <a:t>Stay longer”</a:t>
                      </a:r>
                      <a:r>
                        <a:rPr lang="zh-CN" altLang="en-US" sz="1600">
                          <a:solidFill>
                            <a:schemeClr val="bg1"/>
                          </a:solidFill>
                        </a:rPr>
                        <a:t>和“</a:t>
                      </a:r>
                      <a:r>
                        <a:rPr lang="en-US" sz="1600">
                          <a:solidFill>
                            <a:schemeClr val="bg1"/>
                          </a:solidFill>
                        </a:rPr>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a:t>需求池 </a:t>
            </a:r>
            <a:r>
              <a:rPr lang="en-US" altLang="zh-CN"/>
              <a:t>Product Backlog</a:t>
            </a:r>
          </a:p>
          <a:p>
            <a:r>
              <a:rPr lang="zh-CN" altLang="en-US"/>
              <a:t>产品代办事项</a:t>
            </a:r>
            <a:endParaRPr lang="en-US" altLang="zh-CN"/>
          </a:p>
          <a:p>
            <a:endParaRPr lang="zh-CN" altLang="en-US"/>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2538515"/>
          </a:xfrm>
          <a:prstGeom prst="rect">
            <a:avLst/>
          </a:prstGeom>
          <a:noFill/>
        </p:spPr>
        <p:txBody>
          <a:bodyPr wrap="square" rtlCol="0">
            <a:spAutoFit/>
          </a:bodyPr>
          <a:lstStyle/>
          <a:p>
            <a:pPr marL="0" lvl="1">
              <a:lnSpc>
                <a:spcPct val="150000"/>
              </a:lnSpc>
            </a:pPr>
            <a:r>
              <a:rPr lang="en-US" altLang="zh-CN">
                <a:solidFill>
                  <a:srgbClr val="FFFF00"/>
                </a:solidFill>
              </a:rPr>
              <a:t>AS A</a:t>
            </a:r>
            <a:r>
              <a:rPr lang="en-US" altLang="zh-CN">
                <a:solidFill>
                  <a:schemeClr val="bg1"/>
                </a:solidFill>
              </a:rPr>
              <a:t> {user | persona | system},</a:t>
            </a:r>
          </a:p>
          <a:p>
            <a:pPr marL="0" lvl="1">
              <a:lnSpc>
                <a:spcPct val="150000"/>
              </a:lnSpc>
            </a:pPr>
            <a:r>
              <a:rPr lang="en-US" altLang="zh-CN">
                <a:solidFill>
                  <a:schemeClr val="bg1"/>
                </a:solidFill>
              </a:rPr>
              <a:t>[INSTEAD OF {current condition}]</a:t>
            </a:r>
          </a:p>
          <a:p>
            <a:pPr marL="0" lvl="1">
              <a:lnSpc>
                <a:spcPct val="150000"/>
              </a:lnSpc>
            </a:pPr>
            <a:r>
              <a:rPr lang="en-US" altLang="zh-CN">
                <a:solidFill>
                  <a:srgbClr val="FFFF00"/>
                </a:solidFill>
              </a:rPr>
              <a:t>I WANT TO </a:t>
            </a:r>
            <a:r>
              <a:rPr lang="en-US" altLang="zh-CN">
                <a:solidFill>
                  <a:schemeClr val="bg1"/>
                </a:solidFill>
              </a:rPr>
              <a:t>{action} [IN {mode} TIME | IN {differentiating performance units} TO {utility performance units}</a:t>
            </a:r>
          </a:p>
          <a:p>
            <a:pPr marL="0" lvl="1">
              <a:lnSpc>
                <a:spcPct val="150000"/>
              </a:lnSpc>
            </a:pPr>
            <a:r>
              <a:rPr lang="en-US" altLang="zh-CN">
                <a:solidFill>
                  <a:schemeClr val="bg1"/>
                </a:solidFill>
              </a:rPr>
              <a:t>[</a:t>
            </a:r>
            <a:r>
              <a:rPr lang="en-US" altLang="zh-CN">
                <a:solidFill>
                  <a:srgbClr val="FFFF00"/>
                </a:solidFill>
              </a:rPr>
              <a:t>SO THAT </a:t>
            </a:r>
            <a:r>
              <a:rPr lang="en-US" altLang="zh-CN">
                <a:solidFill>
                  <a:schemeClr val="bg1"/>
                </a:solidFill>
              </a:rPr>
              <a:t>{value or justification}]</a:t>
            </a:r>
          </a:p>
          <a:p>
            <a:pPr marL="0" lvl="1">
              <a:lnSpc>
                <a:spcPct val="150000"/>
              </a:lnSpc>
            </a:pPr>
            <a:r>
              <a:rPr lang="en-US" altLang="zh-CN">
                <a:solidFill>
                  <a:schemeClr val="bg1"/>
                </a:solidFill>
              </a:rPr>
              <a:t>[</a:t>
            </a:r>
            <a:r>
              <a:rPr lang="en-US" altLang="zh-CN">
                <a:solidFill>
                  <a:srgbClr val="FFFF00"/>
                </a:solidFill>
              </a:rPr>
              <a:t>NO LATER </a:t>
            </a:r>
            <a:r>
              <a:rPr lang="en-US" altLang="zh-CN">
                <a:solidFill>
                  <a:schemeClr val="bg1"/>
                </a:solidFill>
              </a:rPr>
              <a:t>THAN {best by date}]</a:t>
            </a:r>
            <a:endParaRPr lang="zh-CN" altLang="en-US" sz="1600">
              <a:solidFill>
                <a:schemeClr val="bg1"/>
              </a:solidFill>
            </a:endParaRPr>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84651494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a:solidFill>
                            <a:schemeClr val="bg1"/>
                          </a:solidFill>
                        </a:rPr>
                        <a:t>Story name</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Story ID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bg1"/>
                          </a:solidFill>
                        </a:rPr>
                        <a:t>As a …</a:t>
                      </a:r>
                    </a:p>
                    <a:p>
                      <a:pPr>
                        <a:lnSpc>
                          <a:spcPct val="100000"/>
                        </a:lnSpc>
                      </a:pPr>
                      <a:r>
                        <a:rPr lang="en-US" altLang="zh-CN" sz="1600">
                          <a:solidFill>
                            <a:schemeClr val="bg1"/>
                          </a:solidFill>
                        </a:rPr>
                        <a:t>I want to…</a:t>
                      </a:r>
                    </a:p>
                    <a:p>
                      <a:pPr>
                        <a:lnSpc>
                          <a:spcPct val="100000"/>
                        </a:lnSpc>
                      </a:pPr>
                      <a:r>
                        <a:rPr lang="en-US" altLang="zh-CN" sz="1600">
                          <a:solidFill>
                            <a:schemeClr val="bg1"/>
                          </a:solidFill>
                        </a:rPr>
                        <a:t>So that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Priorities </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High 1 2 3 4 5 low</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Iteration number</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a:solidFill>
                            <a:schemeClr val="bg1"/>
                          </a:solidFill>
                        </a:rPr>
                        <a:t>Date started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bg1"/>
                          </a:solidFill>
                        </a:rPr>
                        <a:t>Date</a:t>
                      </a:r>
                      <a:r>
                        <a:rPr lang="zh-CN" altLang="en-US" sz="1600">
                          <a:solidFill>
                            <a:schemeClr val="bg1"/>
                          </a:solidFill>
                        </a:rPr>
                        <a:t> </a:t>
                      </a:r>
                      <a:r>
                        <a:rPr lang="en-US" altLang="zh-CN" sz="1600">
                          <a:solidFill>
                            <a:schemeClr val="bg1"/>
                          </a:solidFill>
                        </a:rPr>
                        <a:t>finished</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383213083"/>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a:solidFill>
                            <a:schemeClr val="bg1"/>
                          </a:solidFill>
                        </a:rPr>
                        <a:t>Acceptance Criteria</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bg1"/>
                          </a:solidFill>
                        </a:rPr>
                        <a:t>Notes:</a:t>
                      </a:r>
                      <a:endParaRPr lang="zh-CN" altLang="en-US" sz="1600">
                        <a:solidFill>
                          <a:schemeClr val="bg1"/>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3853070983"/>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solidFill>
                            <a:schemeClr val="bg1"/>
                          </a:solidFill>
                        </a:rPr>
                        <a:t>优先级</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角色</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marL="76066" marR="76066" marT="38033" marB="38033"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通过关键词搜索商品</a:t>
                      </a:r>
                      <a:br>
                        <a:rPr lang="zh-CN" altLang="en-US" sz="1600">
                          <a:solidFill>
                            <a:schemeClr val="bg1"/>
                          </a:solidFill>
                        </a:rPr>
                      </a:br>
                      <a:r>
                        <a:rPr lang="zh-CN" altLang="en-US" sz="1600">
                          <a:solidFill>
                            <a:srgbClr val="FFFF00"/>
                          </a:solidFill>
                        </a:rPr>
                        <a:t>以便</a:t>
                      </a:r>
                      <a:r>
                        <a:rPr lang="zh-CN" altLang="en-US" sz="1600">
                          <a:solidFill>
                            <a:schemeClr val="bg1"/>
                          </a:solidFill>
                        </a:rPr>
                        <a:t> 快速找到我感兴趣的具体产品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支持模糊匹配</a:t>
                      </a:r>
                      <a:br>
                        <a:rPr lang="zh-CN" altLang="en-US" sz="1600">
                          <a:solidFill>
                            <a:schemeClr val="bg1"/>
                          </a:solidFill>
                        </a:rPr>
                      </a:br>
                      <a:r>
                        <a:rPr lang="en-US" altLang="zh-CN" sz="1600">
                          <a:solidFill>
                            <a:schemeClr val="bg1"/>
                          </a:solidFill>
                        </a:rPr>
                        <a:t>2. </a:t>
                      </a:r>
                      <a:r>
                        <a:rPr lang="zh-CN" altLang="en-US" sz="1600">
                          <a:solidFill>
                            <a:schemeClr val="bg1"/>
                          </a:solidFill>
                        </a:rPr>
                        <a:t>无结果时显示推荐商品</a:t>
                      </a:r>
                    </a:p>
                  </a:txBody>
                  <a:tcPr marL="76066" marR="76066" marT="38033" marB="38033"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查看商品的详细图片和描述</a:t>
                      </a:r>
                      <a:br>
                        <a:rPr lang="zh-CN" altLang="en-US" sz="1600">
                          <a:solidFill>
                            <a:schemeClr val="bg1"/>
                          </a:solidFill>
                        </a:rPr>
                      </a:br>
                      <a:r>
                        <a:rPr lang="zh-CN" altLang="en-US" sz="1600">
                          <a:solidFill>
                            <a:srgbClr val="FFFF00"/>
                          </a:solidFill>
                        </a:rPr>
                        <a:t>以便</a:t>
                      </a:r>
                      <a:r>
                        <a:rPr lang="zh-CN" altLang="en-US" sz="1600">
                          <a:solidFill>
                            <a:schemeClr val="bg1"/>
                          </a:solidFill>
                        </a:rPr>
                        <a:t> 了解产品的具体规格和外观</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图片支持放大查看</a:t>
                      </a:r>
                      <a:br>
                        <a:rPr lang="zh-CN" altLang="en-US" sz="1600">
                          <a:solidFill>
                            <a:schemeClr val="bg1"/>
                          </a:solidFill>
                        </a:rPr>
                      </a:br>
                      <a:r>
                        <a:rPr lang="en-US" altLang="zh-CN" sz="1600">
                          <a:solidFill>
                            <a:schemeClr val="bg1"/>
                          </a:solidFill>
                        </a:rPr>
                        <a:t>2. </a:t>
                      </a:r>
                      <a:r>
                        <a:rPr lang="zh-CN" altLang="en-US" sz="1600">
                          <a:solidFill>
                            <a:schemeClr val="bg1"/>
                          </a:solidFill>
                        </a:rPr>
                        <a:t>显示库存状态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按价格或销量对搜索结果排序</a:t>
                      </a:r>
                      <a:br>
                        <a:rPr lang="zh-CN" altLang="en-US" sz="1600">
                          <a:solidFill>
                            <a:schemeClr val="bg1"/>
                          </a:solidFill>
                        </a:rPr>
                      </a:br>
                      <a:r>
                        <a:rPr lang="zh-CN" altLang="en-US" sz="1600">
                          <a:solidFill>
                            <a:srgbClr val="FFFF00"/>
                          </a:solidFill>
                        </a:rPr>
                        <a:t>以便</a:t>
                      </a:r>
                      <a:r>
                        <a:rPr lang="zh-CN" altLang="en-US" sz="1600">
                          <a:solidFill>
                            <a:schemeClr val="bg1"/>
                          </a:solidFill>
                        </a:rPr>
                        <a:t> 筛选出性价比最高或最热门的商品</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支持升序</a:t>
                      </a:r>
                      <a:r>
                        <a:rPr lang="en-US" altLang="zh-CN" sz="1600">
                          <a:solidFill>
                            <a:schemeClr val="bg1"/>
                          </a:solidFill>
                        </a:rPr>
                        <a:t>/</a:t>
                      </a:r>
                      <a:r>
                        <a:rPr lang="zh-CN" altLang="en-US" sz="1600">
                          <a:solidFill>
                            <a:schemeClr val="bg1"/>
                          </a:solidFill>
                        </a:rPr>
                        <a:t>降序切换</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solidFill>
                            <a:schemeClr val="bg1"/>
                          </a:solidFill>
                        </a:rPr>
                        <a:t>P2 (</a:t>
                      </a:r>
                      <a:r>
                        <a:rPr lang="zh-CN" altLang="en-US" sz="1600">
                          <a:solidFill>
                            <a:schemeClr val="bg1"/>
                          </a:solidFill>
                        </a:rPr>
                        <a:t>低</a:t>
                      </a:r>
                      <a:r>
                        <a:rPr lang="en-US" altLang="zh-CN" sz="1600">
                          <a:solidFill>
                            <a:schemeClr val="bg1"/>
                          </a:solidFill>
                        </a:rPr>
                        <a:t>)</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chemeClr val="bg1"/>
                          </a:solidFill>
                        </a:rPr>
                        <a:t>购物者</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查看其他用户的商品评价</a:t>
                      </a:r>
                      <a:br>
                        <a:rPr lang="zh-CN" altLang="en-US" sz="1600">
                          <a:solidFill>
                            <a:schemeClr val="bg1"/>
                          </a:solidFill>
                        </a:rPr>
                      </a:br>
                      <a:r>
                        <a:rPr lang="zh-CN" altLang="en-US" sz="1600">
                          <a:solidFill>
                            <a:srgbClr val="FFFF00"/>
                          </a:solidFill>
                        </a:rPr>
                        <a:t>以便</a:t>
                      </a:r>
                      <a:r>
                        <a:rPr lang="zh-CN" altLang="en-US" sz="1600">
                          <a:solidFill>
                            <a:schemeClr val="bg1"/>
                          </a:solidFill>
                        </a:rPr>
                        <a:t> 辅助我做出购买决策</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tc>
                  <a:txBody>
                    <a:bodyPr/>
                    <a:lstStyle/>
                    <a:p>
                      <a:pPr algn="l">
                        <a:buNone/>
                      </a:pPr>
                      <a:r>
                        <a:rPr lang="en-US" altLang="zh-CN" sz="1600">
                          <a:solidFill>
                            <a:schemeClr val="bg1"/>
                          </a:solidFill>
                        </a:rPr>
                        <a:t>1. </a:t>
                      </a:r>
                      <a:r>
                        <a:rPr lang="zh-CN" altLang="en-US" sz="1600">
                          <a:solidFill>
                            <a:schemeClr val="bg1"/>
                          </a:solidFill>
                        </a:rPr>
                        <a:t>显示评分星级</a:t>
                      </a:r>
                      <a:br>
                        <a:rPr lang="zh-CN" altLang="en-US" sz="1600">
                          <a:solidFill>
                            <a:schemeClr val="bg1"/>
                          </a:solidFill>
                        </a:rPr>
                      </a:br>
                      <a:r>
                        <a:rPr lang="en-US" altLang="zh-CN" sz="1600">
                          <a:solidFill>
                            <a:schemeClr val="bg1"/>
                          </a:solidFill>
                        </a:rPr>
                        <a:t>2. </a:t>
                      </a:r>
                      <a:r>
                        <a:rPr lang="zh-CN" altLang="en-US" sz="1600">
                          <a:solidFill>
                            <a:schemeClr val="bg1"/>
                          </a:solidFill>
                        </a:rPr>
                        <a:t>支持查看带图评价</a:t>
                      </a:r>
                    </a:p>
                  </a:txBody>
                  <a:tcPr marL="76066" marR="76066" marT="38033" marB="38033"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866428371"/>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solidFill>
                            <a:schemeClr val="bg1"/>
                          </a:solidFill>
                        </a:rPr>
                        <a:t>优先级</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角色</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用户故事 </a:t>
                      </a:r>
                      <a:r>
                        <a:rPr lang="en-US" sz="1600">
                          <a:solidFill>
                            <a:schemeClr val="bg1"/>
                          </a:solidFill>
                        </a:rPr>
                        <a:t>User Story</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验收标准示例 </a:t>
                      </a:r>
                      <a:r>
                        <a:rPr lang="en-US" sz="1600">
                          <a:solidFill>
                            <a:schemeClr val="bg1"/>
                          </a:solidFill>
                        </a:rPr>
                        <a:t>Acceptance Criteria</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购物者</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选择商品的颜色、尺寸等规格</a:t>
                      </a:r>
                      <a:br>
                        <a:rPr lang="zh-CN" altLang="en-US" sz="1600">
                          <a:solidFill>
                            <a:schemeClr val="bg1"/>
                          </a:solidFill>
                        </a:rPr>
                      </a:br>
                      <a:r>
                        <a:rPr lang="zh-CN" altLang="en-US" sz="1600">
                          <a:solidFill>
                            <a:srgbClr val="FFFF00"/>
                          </a:solidFill>
                        </a:rPr>
                        <a:t>以便</a:t>
                      </a:r>
                      <a:r>
                        <a:rPr lang="zh-CN" altLang="en-US" sz="1600">
                          <a:solidFill>
                            <a:schemeClr val="bg1"/>
                          </a:solidFill>
                        </a:rPr>
                        <a:t> 确保买到符合我需求的款式</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solidFill>
                            <a:schemeClr val="bg1"/>
                          </a:solidFill>
                        </a:rPr>
                        <a:t>1. </a:t>
                      </a:r>
                      <a:r>
                        <a:rPr lang="zh-CN" altLang="en-US" sz="1600">
                          <a:solidFill>
                            <a:schemeClr val="bg1"/>
                          </a:solidFill>
                        </a:rPr>
                        <a:t>缺货规格置灰不可选</a:t>
                      </a:r>
                      <a:br>
                        <a:rPr lang="zh-CN" altLang="en-US" sz="1600">
                          <a:solidFill>
                            <a:schemeClr val="bg1"/>
                          </a:solidFill>
                        </a:rPr>
                      </a:br>
                      <a:r>
                        <a:rPr lang="en-US" altLang="zh-CN" sz="1600">
                          <a:solidFill>
                            <a:schemeClr val="bg1"/>
                          </a:solidFill>
                        </a:rPr>
                        <a:t>2. </a:t>
                      </a:r>
                      <a:r>
                        <a:rPr lang="zh-CN" altLang="en-US" sz="1600">
                          <a:solidFill>
                            <a:schemeClr val="bg1"/>
                          </a:solidFill>
                        </a:rPr>
                        <a:t>选择不同规格价格自动更新</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263634368"/>
                  </a:ext>
                </a:extLst>
              </a:tr>
              <a:tr h="353013">
                <a:tc>
                  <a:txBody>
                    <a:bodyPr/>
                    <a:lstStyle/>
                    <a:p>
                      <a:pPr algn="l">
                        <a:buNone/>
                      </a:pPr>
                      <a:r>
                        <a:rPr lang="en-US" sz="1600">
                          <a:solidFill>
                            <a:schemeClr val="bg1"/>
                          </a:solidFill>
                        </a:rPr>
                        <a:t>P0 (</a:t>
                      </a:r>
                      <a:r>
                        <a:rPr lang="zh-CN" altLang="en-US" sz="1600">
                          <a:solidFill>
                            <a:schemeClr val="bg1"/>
                          </a:solidFill>
                        </a:rPr>
                        <a:t>高</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设定购买数量并添加到购物车</a:t>
                      </a:r>
                      <a:br>
                        <a:rPr lang="zh-CN" altLang="en-US" sz="1600">
                          <a:solidFill>
                            <a:schemeClr val="bg1"/>
                          </a:solidFill>
                        </a:rPr>
                      </a:br>
                      <a:r>
                        <a:rPr lang="zh-CN" altLang="en-US" sz="1600">
                          <a:solidFill>
                            <a:srgbClr val="FFFF00"/>
                          </a:solidFill>
                        </a:rPr>
                        <a:t>以便</a:t>
                      </a:r>
                      <a:r>
                        <a:rPr lang="zh-CN" altLang="en-US" sz="1600">
                          <a:solidFill>
                            <a:schemeClr val="bg1"/>
                          </a:solidFill>
                        </a:rPr>
                        <a:t> 暂存商品，稍后统一结算</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数量不能超过库存上限</a:t>
                      </a:r>
                      <a:br>
                        <a:rPr lang="zh-CN" altLang="en-US" sz="1600">
                          <a:solidFill>
                            <a:schemeClr val="bg1"/>
                          </a:solidFill>
                        </a:rPr>
                      </a:br>
                      <a:r>
                        <a:rPr lang="en-US" altLang="zh-CN" sz="1600">
                          <a:solidFill>
                            <a:schemeClr val="bg1"/>
                          </a:solidFill>
                        </a:rPr>
                        <a:t>2. </a:t>
                      </a:r>
                      <a:r>
                        <a:rPr lang="zh-CN" altLang="en-US" sz="1600">
                          <a:solidFill>
                            <a:schemeClr val="bg1"/>
                          </a:solidFill>
                        </a:rPr>
                        <a:t>添加成功后有明确提示</a:t>
                      </a:r>
                    </a:p>
                  </a:txBody>
                  <a:tcPr anchor="ctr">
                    <a:lnL>
                      <a:noFill/>
                    </a:lnL>
                    <a:lnR>
                      <a:noFill/>
                    </a:lnR>
                    <a:lnT>
                      <a:noFill/>
                    </a:lnT>
                    <a:lnB>
                      <a:noFill/>
                    </a:lnB>
                    <a:noFill/>
                  </a:tcPr>
                </a:tc>
                <a:extLst>
                  <a:ext uri="{0D108BD9-81ED-4DB2-BD59-A6C34878D82A}">
                    <a16:rowId xmlns:a16="http://schemas.microsoft.com/office/drawing/2014/main" val="2145583758"/>
                  </a:ext>
                </a:extLst>
              </a:tr>
              <a:tr h="457609">
                <a:tc>
                  <a:txBody>
                    <a:bodyPr/>
                    <a:lstStyle/>
                    <a:p>
                      <a:pPr algn="l">
                        <a:buNone/>
                      </a:pPr>
                      <a:r>
                        <a:rPr lang="en-US" sz="1600">
                          <a:solidFill>
                            <a:schemeClr val="bg1"/>
                          </a:solidFill>
                        </a:rPr>
                        <a:t>P1 (</a:t>
                      </a:r>
                      <a:r>
                        <a:rPr lang="zh-CN" altLang="en-US" sz="1600">
                          <a:solidFill>
                            <a:schemeClr val="bg1"/>
                          </a:solidFill>
                        </a:rPr>
                        <a:t>中</a:t>
                      </a:r>
                      <a:r>
                        <a:rPr lang="en-US" altLang="zh-CN" sz="1600">
                          <a:solidFill>
                            <a:schemeClr val="bg1"/>
                          </a:solidFill>
                        </a:rPr>
                        <a:t>)</a:t>
                      </a:r>
                    </a:p>
                  </a:txBody>
                  <a:tcPr anchor="ctr">
                    <a:lnL>
                      <a:noFill/>
                    </a:lnL>
                    <a:lnR>
                      <a:noFill/>
                    </a:lnR>
                    <a:lnT>
                      <a:noFill/>
                    </a:lnT>
                    <a:lnB>
                      <a:noFill/>
                    </a:lnB>
                    <a:noFill/>
                  </a:tcPr>
                </a:tc>
                <a:tc>
                  <a:txBody>
                    <a:bodyPr/>
                    <a:lstStyle/>
                    <a:p>
                      <a:pPr algn="l">
                        <a:buNone/>
                      </a:pPr>
                      <a:r>
                        <a:rPr lang="zh-CN" altLang="en-US" sz="1600">
                          <a:solidFill>
                            <a:schemeClr val="bg1"/>
                          </a:solidFill>
                        </a:rPr>
                        <a:t>购物者</a:t>
                      </a:r>
                    </a:p>
                  </a:txBody>
                  <a:tcPr anchor="ctr">
                    <a:lnL>
                      <a:noFill/>
                    </a:lnL>
                    <a:lnR>
                      <a:noFill/>
                    </a:lnR>
                    <a:lnT>
                      <a:noFill/>
                    </a:lnT>
                    <a:lnB>
                      <a:noFill/>
                    </a:lnB>
                    <a:noFill/>
                  </a:tcPr>
                </a:tc>
                <a:tc>
                  <a:txBody>
                    <a:bodyPr/>
                    <a:lstStyle/>
                    <a:p>
                      <a:pPr algn="l">
                        <a:buNone/>
                      </a:pPr>
                      <a:r>
                        <a:rPr lang="zh-CN" altLang="en-US" sz="1600">
                          <a:solidFill>
                            <a:srgbClr val="FFFF00"/>
                          </a:solidFill>
                        </a:rPr>
                        <a:t>作为</a:t>
                      </a:r>
                      <a:r>
                        <a:rPr lang="zh-CN" altLang="en-US" sz="1600">
                          <a:solidFill>
                            <a:schemeClr val="bg1"/>
                          </a:solidFill>
                        </a:rPr>
                        <a:t> 购物者</a:t>
                      </a:r>
                      <a:br>
                        <a:rPr lang="zh-CN" altLang="en-US" sz="1600">
                          <a:solidFill>
                            <a:schemeClr val="bg1"/>
                          </a:solidFill>
                        </a:rPr>
                      </a:br>
                      <a:r>
                        <a:rPr lang="zh-CN" altLang="en-US" sz="1600">
                          <a:solidFill>
                            <a:srgbClr val="FFFF00"/>
                          </a:solidFill>
                        </a:rPr>
                        <a:t>我想要</a:t>
                      </a:r>
                      <a:r>
                        <a:rPr lang="zh-CN" altLang="en-US" sz="1600">
                          <a:solidFill>
                            <a:schemeClr val="bg1"/>
                          </a:solidFill>
                        </a:rPr>
                        <a:t> 在购物车修改已选商品数量或删除商品</a:t>
                      </a:r>
                      <a:br>
                        <a:rPr lang="zh-CN" altLang="en-US" sz="1600">
                          <a:solidFill>
                            <a:schemeClr val="bg1"/>
                          </a:solidFill>
                        </a:rPr>
                      </a:br>
                      <a:r>
                        <a:rPr lang="zh-CN" altLang="en-US" sz="1600">
                          <a:solidFill>
                            <a:srgbClr val="FFFF00"/>
                          </a:solidFill>
                        </a:rPr>
                        <a:t>以便</a:t>
                      </a:r>
                      <a:r>
                        <a:rPr lang="zh-CN" altLang="en-US" sz="1600">
                          <a:solidFill>
                            <a:schemeClr val="bg1"/>
                          </a:solidFill>
                        </a:rPr>
                        <a:t> 调整我的购买计划</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删除需二次确认</a:t>
                      </a:r>
                      <a:br>
                        <a:rPr lang="zh-CN" altLang="en-US" sz="1600">
                          <a:solidFill>
                            <a:schemeClr val="bg1"/>
                          </a:solidFill>
                        </a:rPr>
                      </a:br>
                      <a:r>
                        <a:rPr lang="en-US" altLang="zh-CN" sz="1600">
                          <a:solidFill>
                            <a:schemeClr val="bg1"/>
                          </a:solidFill>
                        </a:rPr>
                        <a:t>2. </a:t>
                      </a:r>
                      <a:r>
                        <a:rPr lang="zh-CN" altLang="en-US" sz="1600">
                          <a:solidFill>
                            <a:schemeClr val="bg1"/>
                          </a:solidFill>
                        </a:rPr>
                        <a:t>总价随数量实时计算</a:t>
                      </a:r>
                    </a:p>
                  </a:txBody>
                  <a:tcPr anchor="ctr">
                    <a:lnL>
                      <a:noFill/>
                    </a:lnL>
                    <a:lnR>
                      <a:noFill/>
                    </a:lnR>
                    <a:lnT>
                      <a:noFill/>
                    </a:lnT>
                    <a:lnB>
                      <a:noFill/>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a:t>用户故事地图 </a:t>
            </a:r>
            <a:r>
              <a:rPr lang="en-US" altLang="zh-CN"/>
              <a:t>User Story Mapping</a:t>
            </a:r>
          </a:p>
          <a:p>
            <a:pPr lvl="1"/>
            <a:r>
              <a:rPr lang="zh-CN" altLang="en-US"/>
              <a:t>将 </a:t>
            </a:r>
            <a:r>
              <a:rPr lang="en-US" altLang="zh-CN"/>
              <a:t>backlog </a:t>
            </a:r>
            <a:r>
              <a:rPr lang="zh-CN" altLang="en-US"/>
              <a:t>变成一个二维图</a:t>
            </a:r>
            <a:endParaRPr lang="en-US" altLang="zh-CN"/>
          </a:p>
          <a:p>
            <a:pPr lvl="1"/>
            <a:r>
              <a:rPr lang="zh-CN" altLang="en-US"/>
              <a:t>第</a:t>
            </a:r>
            <a:r>
              <a:rPr lang="en-US" altLang="zh-CN"/>
              <a:t>1</a:t>
            </a:r>
            <a:r>
              <a:rPr lang="zh-CN" altLang="en-US"/>
              <a:t>维度：一系列用户故事</a:t>
            </a:r>
            <a:endParaRPr lang="en-US" altLang="zh-CN"/>
          </a:p>
          <a:p>
            <a:pPr lvl="1"/>
            <a:r>
              <a:rPr lang="zh-CN" altLang="en-US"/>
              <a:t>第</a:t>
            </a:r>
            <a:r>
              <a:rPr lang="en-US" altLang="zh-CN"/>
              <a:t>2</a:t>
            </a:r>
            <a:r>
              <a:rPr lang="zh-CN" altLang="en-US"/>
              <a:t>维度：用户故事的不同功能需求</a:t>
            </a:r>
            <a:endParaRPr lang="en-US" altLang="zh-CN"/>
          </a:p>
          <a:p>
            <a:r>
              <a:rPr lang="zh-CN" altLang="en-US"/>
              <a:t>实现</a:t>
            </a:r>
            <a:endParaRPr lang="en-US" altLang="zh-CN"/>
          </a:p>
          <a:p>
            <a:pPr lvl="1"/>
            <a:r>
              <a:rPr lang="zh-CN" altLang="en-US"/>
              <a:t>用户活动 </a:t>
            </a:r>
            <a:r>
              <a:rPr lang="en-US" altLang="zh-CN"/>
              <a:t>User activities</a:t>
            </a:r>
            <a:r>
              <a:rPr lang="zh-CN" altLang="en-US"/>
              <a:t>：高层级的用户目标或阶段，如注册、浏览商品、下单</a:t>
            </a:r>
          </a:p>
          <a:p>
            <a:pPr lvl="1"/>
            <a:r>
              <a:rPr lang="zh-CN" altLang="en-US"/>
              <a:t>用户任务 </a:t>
            </a:r>
            <a:r>
              <a:rPr lang="en-US" altLang="zh-CN"/>
              <a:t>User task</a:t>
            </a:r>
            <a:r>
              <a:rPr lang="zh-CN" altLang="en-US"/>
              <a:t>：完成该活动所需的具体操作步骤</a:t>
            </a:r>
          </a:p>
          <a:p>
            <a:pPr lvl="1"/>
            <a:r>
              <a:rPr lang="zh-CN" altLang="en-US"/>
              <a:t>功能</a:t>
            </a:r>
            <a:r>
              <a:rPr lang="en-US" altLang="zh-CN"/>
              <a:t>/</a:t>
            </a:r>
            <a:r>
              <a:rPr lang="zh-CN" altLang="en-US"/>
              <a:t>用户故事 </a:t>
            </a:r>
            <a:r>
              <a:rPr lang="en-US" altLang="zh-CN"/>
              <a:t>Features</a:t>
            </a:r>
            <a:r>
              <a:rPr lang="zh-CN" altLang="en-US"/>
              <a:t>：支撑每个任务的具体功能点，通常按优先级纵向排列（上高下低）</a:t>
            </a:r>
            <a:endParaRPr lang="en-US" altLang="zh-CN"/>
          </a:p>
          <a:p>
            <a:pPr lvl="1"/>
            <a:r>
              <a:rPr lang="zh-CN" altLang="en-US">
                <a:solidFill>
                  <a:srgbClr val="FFFF00"/>
                </a:solidFill>
              </a:rPr>
              <a:t>强烈建议指定具体的用户</a:t>
            </a:r>
            <a:r>
              <a:rPr lang="en-US" altLang="zh-CN">
                <a:solidFill>
                  <a:srgbClr val="FFFF00"/>
                </a:solidFill>
              </a:rPr>
              <a:t>*</a:t>
            </a:r>
            <a:endParaRPr lang="zh-CN" altLang="en-US">
              <a:solidFill>
                <a:srgbClr val="FFFF00"/>
              </a:solidFill>
            </a:endParaRPr>
          </a:p>
          <a:p>
            <a:pPr lvl="1"/>
            <a:endParaRPr lang="en-US" altLang="zh-CN"/>
          </a:p>
          <a:p>
            <a:endParaRPr lang="zh-CN" altLang="en-US"/>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3" y="1897920"/>
            <a:ext cx="1433406" cy="307777"/>
          </a:xfrm>
          <a:prstGeom prst="rect">
            <a:avLst/>
          </a:prstGeom>
          <a:noFill/>
        </p:spPr>
        <p:txBody>
          <a:bodyPr wrap="none" rtlCol="0">
            <a:spAutoFit/>
          </a:bodyPr>
          <a:lstStyle/>
          <a:p>
            <a:pPr algn="r"/>
            <a:r>
              <a:rPr lang="en-US" altLang="zh-CN" sz="1400">
                <a:solidFill>
                  <a:schemeClr val="bg1"/>
                </a:solidFill>
              </a:rPr>
              <a:t>User activities</a:t>
            </a:r>
            <a:endParaRPr lang="zh-CN" altLang="en-US" sz="1400">
              <a:solidFill>
                <a:schemeClr val="bg1"/>
              </a:solidFill>
            </a:endParaRPr>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4" y="2335455"/>
            <a:ext cx="1016625" cy="307777"/>
          </a:xfrm>
          <a:prstGeom prst="rect">
            <a:avLst/>
          </a:prstGeom>
          <a:noFill/>
        </p:spPr>
        <p:txBody>
          <a:bodyPr wrap="none" rtlCol="0">
            <a:spAutoFit/>
          </a:bodyPr>
          <a:lstStyle/>
          <a:p>
            <a:pPr algn="r"/>
            <a:r>
              <a:rPr lang="en-US" altLang="zh-CN" sz="1400">
                <a:solidFill>
                  <a:schemeClr val="bg1"/>
                </a:solidFill>
              </a:rPr>
              <a:t>User task</a:t>
            </a:r>
            <a:endParaRPr lang="zh-CN" altLang="en-US" sz="1400">
              <a:solidFill>
                <a:schemeClr val="bg1"/>
              </a:solidFill>
            </a:endParaRPr>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solidFill>
                  <a:schemeClr val="bg1"/>
                </a:solidFill>
              </a:rPr>
              <a:t>Features</a:t>
            </a:r>
            <a:endParaRPr lang="zh-CN" altLang="en-US" sz="1400">
              <a:solidFill>
                <a:schemeClr val="bg1"/>
              </a:solidFill>
            </a:endParaRPr>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a:t>
            </a:r>
            <a:r>
              <a:rPr lang="zh-CN" altLang="en-US" dirty="0">
                <a:solidFill>
                  <a:srgbClr val="FFFF00"/>
                </a:solidFill>
              </a:rPr>
              <a:t>黄金标准</a:t>
            </a:r>
            <a:endParaRPr lang="en-US" altLang="zh-CN" dirty="0">
              <a:solidFill>
                <a:srgbClr val="FFFF00"/>
              </a:solidFill>
            </a:endParaRPr>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60951111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a:solidFill>
                            <a:schemeClr val="bg1"/>
                          </a:solidFill>
                        </a:rPr>
                        <a:t>Independent</a:t>
                      </a:r>
                    </a:p>
                    <a:p>
                      <a:pPr algn="l"/>
                      <a:r>
                        <a:rPr lang="zh-CN" altLang="en-US" sz="1600" b="0">
                          <a:solidFill>
                            <a:schemeClr val="bg1"/>
                          </a:solidFill>
                        </a:rPr>
                        <a:t>独立的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a:solidFill>
                            <a:schemeClr val="bg1"/>
                          </a:solidFill>
                        </a:rPr>
                        <a:t>Negotiable</a:t>
                      </a:r>
                    </a:p>
                    <a:p>
                      <a:pPr algn="l"/>
                      <a:r>
                        <a:rPr lang="zh-CN" altLang="en-US" sz="1600" b="0">
                          <a:solidFill>
                            <a:schemeClr val="bg1"/>
                          </a:solidFill>
                        </a:rPr>
                        <a:t>可协商的</a:t>
                      </a:r>
                      <a:endParaRPr lang="en-US" altLang="zh-CN" sz="1600" b="0">
                        <a:solidFill>
                          <a:schemeClr val="bg1"/>
                        </a:solidFill>
                      </a:endParaRPr>
                    </a:p>
                    <a:p>
                      <a:pPr algn="l"/>
                      <a:endParaRPr lang="en-US" altLang="zh-CN" sz="1600" b="0">
                        <a:solidFill>
                          <a:schemeClr val="bg1"/>
                        </a:solidFill>
                      </a:endParaRPr>
                    </a:p>
                    <a:p>
                      <a:pPr algn="l"/>
                      <a:r>
                        <a:rPr lang="zh-CN" altLang="en-US" sz="1600" b="0">
                          <a:solidFill>
                            <a:schemeClr val="bg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有价值的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可估算的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a:solidFill>
                            <a:schemeClr val="bg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可测试的</a:t>
                      </a: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a:solidFill>
                            <a:schemeClr val="bg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a:t>行为驱动开发 </a:t>
            </a:r>
            <a:r>
              <a:rPr lang="en-US" altLang="zh-CN"/>
              <a:t>BDD</a:t>
            </a:r>
            <a:r>
              <a:rPr lang="zh-CN" altLang="en-US"/>
              <a:t>，</a:t>
            </a:r>
            <a:r>
              <a:rPr lang="en-US" altLang="zh-CN">
                <a:hlinkClick r:id="rId3"/>
              </a:rPr>
              <a:t>Behavior-Driven Development</a:t>
            </a:r>
            <a:endParaRPr lang="en-US" altLang="zh-CN"/>
          </a:p>
          <a:p>
            <a:r>
              <a:rPr lang="zh-CN" altLang="en-US"/>
              <a:t>一个非常重要的实践方法论</a:t>
            </a:r>
            <a:endParaRPr lang="en-US" altLang="zh-CN"/>
          </a:p>
          <a:p>
            <a:r>
              <a:rPr lang="zh-CN" altLang="en-US"/>
              <a:t>起源于测试驱动开发 </a:t>
            </a:r>
            <a:r>
              <a:rPr lang="en-US" altLang="zh-CN"/>
              <a:t>TDD</a:t>
            </a:r>
            <a:r>
              <a:rPr lang="zh-CN" altLang="en-US"/>
              <a:t>，</a:t>
            </a:r>
            <a:r>
              <a:rPr lang="en-US" altLang="zh-CN"/>
              <a:t>Test-Driven Development</a:t>
            </a:r>
          </a:p>
          <a:p>
            <a:r>
              <a:rPr lang="zh-CN" altLang="en-US"/>
              <a:t>以用户行为</a:t>
            </a:r>
            <a:r>
              <a:rPr lang="en-US" altLang="zh-CN"/>
              <a:t>/</a:t>
            </a:r>
            <a:r>
              <a:rPr lang="zh-CN" altLang="en-US"/>
              <a:t>业务期望为中心的软件设计、开发和测试协作方法</a:t>
            </a:r>
            <a:endParaRPr lang="en-US" altLang="zh-CN"/>
          </a:p>
          <a:p>
            <a:r>
              <a:rPr lang="zh-CN" altLang="en-US"/>
              <a:t>不应该只关心代码怎么写，而应该先明确系统应该怎么表现</a:t>
            </a:r>
            <a:r>
              <a:rPr lang="en-US" altLang="zh-CN"/>
              <a:t>/</a:t>
            </a:r>
            <a:r>
              <a:rPr lang="zh-CN" altLang="en-US"/>
              <a:t>行为 </a:t>
            </a:r>
            <a:r>
              <a:rPr lang="en-US" altLang="zh-CN"/>
              <a:t>behave</a:t>
            </a:r>
          </a:p>
          <a:p>
            <a:pPr lvl="1"/>
            <a:r>
              <a:rPr lang="zh-CN" altLang="en-US"/>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2185828886"/>
              </p:ext>
            </p:extLst>
          </p:nvPr>
        </p:nvGraphicFramePr>
        <p:xfrm>
          <a:off x="695325" y="3461683"/>
          <a:ext cx="10801350" cy="228600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a:solidFill>
                            <a:schemeClr val="bg1"/>
                          </a:solidFill>
                        </a:rPr>
                        <a:t>Role</a:t>
                      </a:r>
                      <a:endParaRPr lang="zh-CN" altLang="en-US">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0110509"/>
                  </a:ext>
                </a:extLst>
              </a:tr>
              <a:tr h="0">
                <a:tc>
                  <a:txBody>
                    <a:bodyPr/>
                    <a:lstStyle/>
                    <a:p>
                      <a:pPr>
                        <a:buNone/>
                      </a:pPr>
                      <a:r>
                        <a:rPr lang="en-US">
                          <a:solidFill>
                            <a:schemeClr val="bg1"/>
                          </a:solidFill>
                        </a:rPr>
                        <a:t>Customer / Business</a:t>
                      </a:r>
                    </a:p>
                    <a:p>
                      <a:pPr>
                        <a:buNone/>
                      </a:pPr>
                      <a:r>
                        <a:rPr lang="zh-CN" altLang="en-US">
                          <a:solidFill>
                            <a:schemeClr val="bg1"/>
                          </a:solidFill>
                        </a:rPr>
                        <a:t>客户 </a:t>
                      </a:r>
                      <a:r>
                        <a:rPr lang="en-US" altLang="zh-CN">
                          <a:solidFill>
                            <a:schemeClr val="bg1"/>
                          </a:solidFill>
                        </a:rPr>
                        <a:t>/ </a:t>
                      </a:r>
                      <a:r>
                        <a:rPr lang="zh-CN" altLang="en-US">
                          <a:solidFill>
                            <a:schemeClr val="bg1"/>
                          </a:solidFill>
                        </a:rPr>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a:solidFill>
                            <a:schemeClr val="bg1"/>
                          </a:solidFill>
                        </a:rPr>
                        <a:t>Developer</a:t>
                      </a:r>
                    </a:p>
                    <a:p>
                      <a:pPr>
                        <a:buNone/>
                      </a:pPr>
                      <a:r>
                        <a:rPr lang="zh-CN" altLang="en-US">
                          <a:solidFill>
                            <a:schemeClr val="bg1"/>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a:solidFill>
                            <a:schemeClr val="bg1"/>
                          </a:solidFill>
                        </a:rPr>
                        <a:t>Tester / QA</a:t>
                      </a:r>
                    </a:p>
                    <a:p>
                      <a:pPr>
                        <a:buNone/>
                      </a:pPr>
                      <a:r>
                        <a:rPr lang="zh-CN" altLang="en-US">
                          <a:solidFill>
                            <a:schemeClr val="bg1"/>
                          </a:solidFill>
                        </a:rPr>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5325" y="863600"/>
            <a:ext cx="10801350" cy="5400675"/>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3238066" cy="2160000"/>
            <a:chOff x="2383606" y="1597622"/>
            <a:chExt cx="3238066"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3238066" cy="2139047"/>
            </a:xfrm>
            <a:prstGeom prst="rect">
              <a:avLst/>
            </a:prstGeom>
            <a:noFill/>
          </p:spPr>
          <p:txBody>
            <a:bodyPr wrap="none" rtlCol="0">
              <a:spAutoFit/>
            </a:bodyPr>
            <a:lstStyle/>
            <a:p>
              <a:pPr marL="360000" algn="l">
                <a:spcAft>
                  <a:spcPts val="600"/>
                </a:spcAft>
              </a:pPr>
              <a:r>
                <a:rPr lang="en-US" altLang="zh-CN">
                  <a:solidFill>
                    <a:schemeClr val="bg1"/>
                  </a:solidFill>
                </a:rPr>
                <a:t>Scenario: [ description ]</a:t>
              </a:r>
              <a:endParaRPr lang="zh-CN" altLang="en-US">
                <a:solidFill>
                  <a:schemeClr val="bg1"/>
                </a:solidFill>
              </a:endParaRPr>
            </a:p>
            <a:p>
              <a:pPr marL="720000">
                <a:spcAft>
                  <a:spcPts val="600"/>
                </a:spcAft>
              </a:pPr>
              <a:r>
                <a:rPr lang="en-US" altLang="zh-CN">
                  <a:solidFill>
                    <a:schemeClr val="bg1"/>
                  </a:solidFill>
                </a:rPr>
                <a:t>Given [ context ] </a:t>
              </a:r>
            </a:p>
            <a:p>
              <a:pPr marL="1080000">
                <a:spcAft>
                  <a:spcPts val="600"/>
                </a:spcAft>
              </a:pPr>
              <a:r>
                <a:rPr lang="en-US" altLang="zh-CN">
                  <a:solidFill>
                    <a:schemeClr val="bg1"/>
                  </a:solidFill>
                </a:rPr>
                <a:t>and [context ]</a:t>
              </a:r>
            </a:p>
            <a:p>
              <a:pPr marL="720000" algn="l">
                <a:spcAft>
                  <a:spcPts val="600"/>
                </a:spcAft>
              </a:pPr>
              <a:r>
                <a:rPr lang="en-US" altLang="zh-CN">
                  <a:solidFill>
                    <a:schemeClr val="bg1"/>
                  </a:solidFill>
                </a:rPr>
                <a:t>When [ event ]</a:t>
              </a:r>
              <a:endParaRPr lang="zh-CN" altLang="en-US">
                <a:solidFill>
                  <a:schemeClr val="bg1"/>
                </a:solidFill>
              </a:endParaRPr>
            </a:p>
            <a:p>
              <a:pPr marL="720000" algn="l">
                <a:spcAft>
                  <a:spcPts val="600"/>
                </a:spcAft>
              </a:pPr>
              <a:r>
                <a:rPr lang="en-US" altLang="zh-CN">
                  <a:solidFill>
                    <a:schemeClr val="bg1"/>
                  </a:solidFill>
                </a:rPr>
                <a:t>Then [ result ]</a:t>
              </a:r>
            </a:p>
            <a:p>
              <a:pPr marL="1080000">
                <a:spcAft>
                  <a:spcPts val="600"/>
                </a:spcAft>
              </a:pPr>
              <a:r>
                <a:rPr lang="en-US" altLang="zh-CN">
                  <a:solidFill>
                    <a:schemeClr val="bg1"/>
                  </a:solidFill>
                </a:rPr>
                <a:t>And [ result ]</a:t>
              </a:r>
              <a:endParaRPr lang="zh-CN" altLang="en-US">
                <a:solidFill>
                  <a:schemeClr val="bg1"/>
                </a:solidFill>
              </a:endParaRPr>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539704"/>
          </a:xfrm>
          <a:prstGeom prst="rect">
            <a:avLst/>
          </a:prstGeom>
          <a:noFill/>
        </p:spPr>
        <p:txBody>
          <a:bodyPr wrap="none" rtlCol="0">
            <a:spAutoFit/>
          </a:bodyPr>
          <a:lstStyle/>
          <a:p>
            <a:pPr algn="l">
              <a:spcAft>
                <a:spcPts val="600"/>
              </a:spcAft>
            </a:pPr>
            <a:r>
              <a:rPr lang="en-US" altLang="zh-CN" sz="1600">
                <a:solidFill>
                  <a:schemeClr val="bg1"/>
                </a:solidFill>
              </a:rPr>
              <a:t>Feature: </a:t>
            </a:r>
            <a:r>
              <a:rPr lang="zh-CN" altLang="en-US" sz="1600">
                <a:solidFill>
                  <a:schemeClr val="bg1"/>
                </a:solidFill>
              </a:rPr>
              <a:t>用户登录功能</a:t>
            </a:r>
          </a:p>
          <a:p>
            <a:pPr marL="360000" algn="l">
              <a:spcAft>
                <a:spcPts val="600"/>
              </a:spcAft>
            </a:pPr>
            <a:r>
              <a:rPr lang="zh-CN" altLang="en-US" sz="1600">
                <a:solidFill>
                  <a:schemeClr val="bg1"/>
                </a:solidFill>
              </a:rPr>
              <a:t>作为注册用户</a:t>
            </a:r>
          </a:p>
          <a:p>
            <a:pPr marL="360000" algn="l">
              <a:spcAft>
                <a:spcPts val="600"/>
              </a:spcAft>
            </a:pPr>
            <a:r>
              <a:rPr lang="zh-CN" altLang="en-US" sz="1600">
                <a:solidFill>
                  <a:schemeClr val="bg1"/>
                </a:solidFill>
              </a:rPr>
              <a:t>我希望能够使用邮箱和密码登录系统</a:t>
            </a:r>
          </a:p>
          <a:p>
            <a:pPr marL="360000" algn="l">
              <a:spcAft>
                <a:spcPts val="600"/>
              </a:spcAft>
            </a:pPr>
            <a:r>
              <a:rPr lang="zh-CN" altLang="en-US" sz="1600">
                <a:solidFill>
                  <a:schemeClr val="bg1"/>
                </a:solidFill>
              </a:rPr>
              <a:t>以便访问我的个人账户</a:t>
            </a:r>
          </a:p>
          <a:p>
            <a:pPr marL="360000" algn="l">
              <a:spcAft>
                <a:spcPts val="600"/>
              </a:spcAft>
            </a:pPr>
            <a:endParaRPr lang="zh-CN" altLang="en-US" sz="1600">
              <a:solidFill>
                <a:schemeClr val="bg1"/>
              </a:solidFill>
            </a:endParaRPr>
          </a:p>
          <a:p>
            <a:pPr marL="360000" algn="l">
              <a:spcAft>
                <a:spcPts val="600"/>
              </a:spcAft>
            </a:pPr>
            <a:r>
              <a:rPr lang="en-US" altLang="zh-CN" sz="1600">
                <a:solidFill>
                  <a:schemeClr val="bg1"/>
                </a:solidFill>
              </a:rPr>
              <a:t>Scenario: </a:t>
            </a:r>
            <a:r>
              <a:rPr lang="zh-CN" altLang="en-US" sz="1600">
                <a:solidFill>
                  <a:schemeClr val="bg1"/>
                </a:solidFill>
              </a:rPr>
              <a:t>成功登录</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我在登录页面输入正确的邮箱和密码</a:t>
            </a:r>
          </a:p>
          <a:p>
            <a:pPr marL="720000" algn="l">
              <a:spcAft>
                <a:spcPts val="600"/>
              </a:spcAft>
            </a:pPr>
            <a:r>
              <a:rPr lang="en-US" altLang="zh-CN" sz="1600">
                <a:solidFill>
                  <a:schemeClr val="bg1"/>
                </a:solidFill>
              </a:rPr>
              <a:t>Then </a:t>
            </a:r>
            <a:r>
              <a:rPr lang="zh-CN" altLang="en-US" sz="1600">
                <a:solidFill>
                  <a:schemeClr val="bg1"/>
                </a:solidFill>
              </a:rPr>
              <a:t>我应该看到欢迎页面，并显示“欢迎回来，</a:t>
            </a:r>
            <a:r>
              <a:rPr lang="en-US" altLang="zh-CN" sz="1600">
                <a:solidFill>
                  <a:schemeClr val="bg1"/>
                </a:solidFill>
              </a:rPr>
              <a:t>user</a:t>
            </a:r>
            <a:r>
              <a:rPr lang="zh-CN" altLang="en-US" sz="1600">
                <a:solidFill>
                  <a:schemeClr val="bg1"/>
                </a:solidFill>
              </a:rPr>
              <a:t>！”</a:t>
            </a:r>
          </a:p>
          <a:p>
            <a:pPr marL="360000" algn="l">
              <a:spcAft>
                <a:spcPts val="600"/>
              </a:spcAft>
            </a:pPr>
            <a:endParaRPr lang="zh-CN" altLang="en-US" sz="1600">
              <a:solidFill>
                <a:schemeClr val="bg1"/>
              </a:solidFill>
            </a:endParaRPr>
          </a:p>
          <a:p>
            <a:pPr marL="360000" algn="l">
              <a:spcAft>
                <a:spcPts val="600"/>
              </a:spcAft>
            </a:pPr>
            <a:r>
              <a:rPr lang="zh-CN" altLang="en-US" sz="1600">
                <a:solidFill>
                  <a:schemeClr val="bg1"/>
                </a:solidFill>
              </a:rPr>
              <a:t> </a:t>
            </a:r>
            <a:r>
              <a:rPr lang="en-US" altLang="zh-CN" sz="1600">
                <a:solidFill>
                  <a:schemeClr val="bg1"/>
                </a:solidFill>
              </a:rPr>
              <a:t>Scenario: </a:t>
            </a:r>
            <a:r>
              <a:rPr lang="zh-CN" altLang="en-US" sz="1600">
                <a:solidFill>
                  <a:schemeClr val="bg1"/>
                </a:solidFill>
              </a:rPr>
              <a:t>密码错误时登录失败</a:t>
            </a:r>
          </a:p>
          <a:p>
            <a:pPr marL="720000" algn="l">
              <a:spcAft>
                <a:spcPts val="600"/>
              </a:spcAft>
            </a:pPr>
            <a:r>
              <a:rPr lang="en-US" altLang="zh-CN" sz="1600">
                <a:solidFill>
                  <a:schemeClr val="bg1"/>
                </a:solidFill>
              </a:rPr>
              <a:t>Given </a:t>
            </a:r>
            <a:r>
              <a:rPr lang="zh-CN" altLang="en-US" sz="1600">
                <a:solidFill>
                  <a:schemeClr val="bg1"/>
                </a:solidFill>
              </a:rPr>
              <a:t>我已经注册了一个账号 </a:t>
            </a:r>
            <a:r>
              <a:rPr lang="en-US" altLang="zh-CN" sz="1600">
                <a:solidFill>
                  <a:schemeClr val="bg1"/>
                </a:solidFill>
              </a:rPr>
              <a:t>"user@example.com" </a:t>
            </a:r>
            <a:r>
              <a:rPr lang="zh-CN" altLang="en-US" sz="1600">
                <a:solidFill>
                  <a:schemeClr val="bg1"/>
                </a:solidFill>
              </a:rPr>
              <a:t>和密码 </a:t>
            </a:r>
            <a:r>
              <a:rPr lang="en-US" altLang="zh-CN" sz="1600">
                <a:solidFill>
                  <a:schemeClr val="bg1"/>
                </a:solidFill>
              </a:rPr>
              <a:t>"123456"</a:t>
            </a:r>
          </a:p>
          <a:p>
            <a:pPr marL="720000" algn="l">
              <a:spcAft>
                <a:spcPts val="600"/>
              </a:spcAft>
            </a:pPr>
            <a:r>
              <a:rPr lang="en-US" altLang="zh-CN" sz="1600">
                <a:solidFill>
                  <a:schemeClr val="bg1"/>
                </a:solidFill>
              </a:rPr>
              <a:t>When </a:t>
            </a:r>
            <a:r>
              <a:rPr lang="zh-CN" altLang="en-US" sz="1600">
                <a:solidFill>
                  <a:schemeClr val="bg1"/>
                </a:solidFill>
              </a:rPr>
              <a:t>我在登录页面输入错误的密码 </a:t>
            </a:r>
            <a:r>
              <a:rPr lang="en-US" altLang="zh-CN" sz="1600">
                <a:solidFill>
                  <a:schemeClr val="bg1"/>
                </a:solidFill>
              </a:rPr>
              <a:t>"wrong"</a:t>
            </a:r>
          </a:p>
          <a:p>
            <a:pPr marL="720000" algn="l">
              <a:spcAft>
                <a:spcPts val="600"/>
              </a:spcAft>
            </a:pPr>
            <a:r>
              <a:rPr lang="en-US" altLang="zh-CN" sz="1600">
                <a:solidFill>
                  <a:schemeClr val="bg1"/>
                </a:solidFill>
              </a:rPr>
              <a:t>Then </a:t>
            </a:r>
            <a:r>
              <a:rPr lang="zh-CN" altLang="en-US" sz="1600">
                <a:solidFill>
                  <a:schemeClr val="bg1"/>
                </a:solidFill>
              </a:rPr>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8845691" cy="1477328"/>
          </a:xfrm>
          <a:prstGeom prst="rect">
            <a:avLst/>
          </a:prstGeom>
          <a:noFill/>
        </p:spPr>
        <p:txBody>
          <a:bodyPr wrap="none" rtlCol="0">
            <a:spAutoFit/>
          </a:bodyPr>
          <a:lstStyle/>
          <a:p>
            <a:pPr>
              <a:buNone/>
            </a:pPr>
            <a:r>
              <a:rPr lang="en-US" altLang="zh-CN" dirty="0">
                <a:solidFill>
                  <a:schemeClr val="bg1"/>
                </a:solidFill>
              </a:rPr>
              <a:t>Sc</a:t>
            </a:r>
            <a:r>
              <a:rPr lang="az-Cyrl-AZ" altLang="zh-CN" dirty="0">
                <a:solidFill>
                  <a:schemeClr val="bg1"/>
                </a:solidFill>
              </a:rPr>
              <a:t>е</a:t>
            </a:r>
            <a:r>
              <a:rPr lang="en-US" altLang="zh-CN" dirty="0">
                <a:solidFill>
                  <a:schemeClr val="bg1"/>
                </a:solidFill>
              </a:rPr>
              <a:t>nario 1: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a:t>
            </a:r>
            <a:r>
              <a:rPr lang="en-US" altLang="zh-CN" dirty="0">
                <a:solidFill>
                  <a:schemeClr val="bg1"/>
                </a:solidFill>
              </a:rPr>
              <a:t> Login</a:t>
            </a:r>
          </a:p>
          <a:p>
            <a:pPr>
              <a:buNone/>
            </a:pPr>
            <a:r>
              <a:rPr lang="en-US" altLang="zh-CN" dirty="0">
                <a:solidFill>
                  <a:schemeClr val="bg1"/>
                </a:solidFill>
              </a:rPr>
              <a:t>Giv</a:t>
            </a:r>
            <a:r>
              <a:rPr lang="az-Cyrl-AZ" altLang="zh-CN" dirty="0">
                <a:solidFill>
                  <a:schemeClr val="bg1"/>
                </a:solidFill>
              </a:rPr>
              <a:t>е</a:t>
            </a:r>
            <a:r>
              <a:rPr lang="en-US" altLang="zh-CN" dirty="0">
                <a:solidFill>
                  <a:schemeClr val="bg1"/>
                </a:solidFill>
              </a:rPr>
              <a:t>n that the us</a:t>
            </a:r>
            <a:r>
              <a:rPr lang="az-Cyrl-AZ" altLang="zh-CN" dirty="0">
                <a:solidFill>
                  <a:schemeClr val="bg1"/>
                </a:solidFill>
              </a:rPr>
              <a:t>е</a:t>
            </a:r>
            <a:r>
              <a:rPr lang="en-US" altLang="zh-CN" dirty="0">
                <a:solidFill>
                  <a:schemeClr val="bg1"/>
                </a:solidFill>
              </a:rPr>
              <a:t>r is on the login form </a:t>
            </a:r>
            <a:r>
              <a:rPr lang="en-US" altLang="zh-CN" dirty="0" err="1">
                <a:solidFill>
                  <a:schemeClr val="bg1"/>
                </a:solidFill>
              </a:rPr>
              <a:t>pag</a:t>
            </a:r>
            <a:r>
              <a:rPr lang="az-Cyrl-AZ" altLang="zh-CN" dirty="0">
                <a:solidFill>
                  <a:schemeClr val="bg1"/>
                </a:solidFill>
              </a:rPr>
              <a:t>е,</a:t>
            </a:r>
          </a:p>
          <a:p>
            <a:pPr>
              <a:buNone/>
            </a:pPr>
            <a:r>
              <a:rPr lang="en-US" altLang="zh-CN" dirty="0">
                <a:solidFill>
                  <a:schemeClr val="bg1"/>
                </a:solidFill>
              </a:rPr>
              <a:t>And the 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 valid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llo123",</a:t>
            </a:r>
          </a:p>
          <a:p>
            <a:pPr>
              <a:buNone/>
            </a:pPr>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pPr>
              <a:buNone/>
            </a:pPr>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succ</a:t>
            </a:r>
            <a:r>
              <a:rPr lang="az-Cyrl-AZ" altLang="zh-CN" dirty="0">
                <a:solidFill>
                  <a:schemeClr val="bg1"/>
                </a:solidFill>
              </a:rPr>
              <a:t>е</a:t>
            </a:r>
            <a:r>
              <a:rPr lang="en-US" altLang="zh-CN" dirty="0" err="1">
                <a:solidFill>
                  <a:schemeClr val="bg1"/>
                </a:solidFill>
              </a:rPr>
              <a:t>ssfully</a:t>
            </a:r>
            <a:r>
              <a:rPr lang="en-US" altLang="zh-CN" dirty="0">
                <a:solidFill>
                  <a:schemeClr val="bg1"/>
                </a:solidFill>
              </a:rPr>
              <a:t>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hom</a:t>
            </a:r>
            <a:r>
              <a:rPr lang="az-Cyrl-AZ" altLang="zh-CN" dirty="0">
                <a:solidFill>
                  <a:schemeClr val="bg1"/>
                </a:solidFill>
              </a:rPr>
              <a:t>е</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6388287" cy="1754326"/>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2: Forgot Password</a:t>
            </a: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a:t>
            </a:r>
            <a:r>
              <a:rPr lang="en-US" altLang="zh-CN" dirty="0" err="1">
                <a:solidFill>
                  <a:schemeClr val="bg1"/>
                </a:solidFill>
              </a:rPr>
              <a:t>pag</a:t>
            </a:r>
            <a:r>
              <a:rPr lang="az-Cyrl-AZ" altLang="zh-CN" dirty="0">
                <a:solidFill>
                  <a:schemeClr val="bg1"/>
                </a:solidFill>
              </a:rPr>
              <a:t>е,</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err="1">
                <a:solidFill>
                  <a:schemeClr val="bg1"/>
                </a:solidFill>
              </a:rPr>
              <a:t>rs</a:t>
            </a:r>
            <a:r>
              <a:rPr lang="en-US" altLang="zh-CN" dirty="0">
                <a:solidFill>
                  <a:schemeClr val="bg1"/>
                </a:solidFill>
              </a:rPr>
              <a:t> </a:t>
            </a:r>
            <a:r>
              <a:rPr lang="en-US" altLang="zh-CN" dirty="0" err="1">
                <a:solidFill>
                  <a:schemeClr val="bg1"/>
                </a:solidFill>
              </a:rPr>
              <a:t>th</a:t>
            </a:r>
            <a:r>
              <a:rPr lang="az-Cyrl-AZ" altLang="zh-CN" dirty="0">
                <a:solidFill>
                  <a:schemeClr val="bg1"/>
                </a:solidFill>
              </a:rPr>
              <a:t>е</a:t>
            </a:r>
            <a:r>
              <a:rPr lang="en-US" altLang="zh-CN" dirty="0" err="1">
                <a:solidFill>
                  <a:schemeClr val="bg1"/>
                </a:solidFill>
              </a:rPr>
              <a:t>ir</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Forgot Password" link,</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a:t>
            </a:r>
            <a:r>
              <a:rPr lang="en-US" altLang="zh-CN" dirty="0" err="1">
                <a:solidFill>
                  <a:schemeClr val="bg1"/>
                </a:solidFill>
              </a:rPr>
              <a:t>dir</a:t>
            </a:r>
            <a:r>
              <a:rPr lang="az-Cyrl-AZ" altLang="zh-CN" dirty="0">
                <a:solidFill>
                  <a:schemeClr val="bg1"/>
                </a:solidFill>
              </a:rPr>
              <a:t>е</a:t>
            </a:r>
            <a:r>
              <a:rPr lang="en-US" altLang="zh-CN" dirty="0" err="1">
                <a:solidFill>
                  <a:schemeClr val="bg1"/>
                </a:solidFill>
              </a:rPr>
              <a:t>ct</a:t>
            </a:r>
            <a:r>
              <a:rPr lang="az-Cyrl-AZ" altLang="zh-CN" dirty="0">
                <a:solidFill>
                  <a:schemeClr val="bg1"/>
                </a:solidFill>
              </a:rPr>
              <a:t>е</a:t>
            </a:r>
            <a:r>
              <a:rPr lang="en-US" altLang="zh-CN" dirty="0">
                <a:solidFill>
                  <a:schemeClr val="bg1"/>
                </a:solidFill>
              </a:rPr>
              <a:t>d to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r</a:t>
            </a:r>
            <a:r>
              <a:rPr lang="az-Cyrl-AZ" altLang="zh-CN" dirty="0">
                <a:solidFill>
                  <a:schemeClr val="bg1"/>
                </a:solidFill>
              </a:rPr>
              <a:t>е</a:t>
            </a:r>
            <a:r>
              <a:rPr lang="en-US" altLang="zh-CN" dirty="0">
                <a:solidFill>
                  <a:schemeClr val="bg1"/>
                </a:solidFill>
              </a:rPr>
              <a:t>s</a:t>
            </a:r>
            <a:r>
              <a:rPr lang="az-Cyrl-AZ" altLang="zh-CN" dirty="0">
                <a:solidFill>
                  <a:schemeClr val="bg1"/>
                </a:solidFill>
              </a:rPr>
              <a:t>е</a:t>
            </a:r>
            <a:r>
              <a:rPr lang="en-US" altLang="zh-CN" dirty="0">
                <a:solidFill>
                  <a:schemeClr val="bg1"/>
                </a:solidFill>
              </a:rPr>
              <a:t>t password </a:t>
            </a:r>
            <a:r>
              <a:rPr lang="en-US" altLang="zh-CN" dirty="0" err="1">
                <a:solidFill>
                  <a:schemeClr val="bg1"/>
                </a:solidFill>
              </a:rPr>
              <a:t>pag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9603911" cy="2031325"/>
          </a:xfrm>
          <a:prstGeom prst="rect">
            <a:avLst/>
          </a:prstGeom>
          <a:noFill/>
        </p:spPr>
        <p:txBody>
          <a:bodyPr wrap="none" rtlCol="0">
            <a:spAutoFit/>
          </a:bodyPr>
          <a:lstStyle/>
          <a:p>
            <a:r>
              <a:rPr lang="en-US" altLang="zh-CN" dirty="0">
                <a:solidFill>
                  <a:schemeClr val="bg1"/>
                </a:solidFill>
              </a:rPr>
              <a:t>Sc</a:t>
            </a:r>
            <a:r>
              <a:rPr lang="az-Cyrl-AZ" altLang="zh-CN" dirty="0">
                <a:solidFill>
                  <a:schemeClr val="bg1"/>
                </a:solidFill>
              </a:rPr>
              <a:t>е</a:t>
            </a:r>
            <a:r>
              <a:rPr lang="en-US" altLang="zh-CN" dirty="0">
                <a:solidFill>
                  <a:schemeClr val="bg1"/>
                </a:solidFill>
              </a:rPr>
              <a:t>nario 3: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Login Cr</a:t>
            </a:r>
            <a:r>
              <a:rPr lang="az-Cyrl-AZ" altLang="zh-CN" dirty="0">
                <a:solidFill>
                  <a:schemeClr val="bg1"/>
                </a:solidFill>
              </a:rPr>
              <a:t>е</a:t>
            </a:r>
            <a:r>
              <a:rPr lang="en-US" altLang="zh-CN" dirty="0">
                <a:solidFill>
                  <a:schemeClr val="bg1"/>
                </a:solidFill>
              </a:rPr>
              <a:t>d</a:t>
            </a:r>
            <a:r>
              <a:rPr lang="az-Cyrl-AZ" altLang="zh-CN" dirty="0">
                <a:solidFill>
                  <a:schemeClr val="bg1"/>
                </a:solidFill>
              </a:rPr>
              <a:t>е</a:t>
            </a:r>
            <a:r>
              <a:rPr lang="en-US" altLang="zh-CN" dirty="0" err="1">
                <a:solidFill>
                  <a:schemeClr val="bg1"/>
                </a:solidFill>
              </a:rPr>
              <a:t>ntials</a:t>
            </a:r>
            <a:endParaRPr lang="en-US" altLang="zh-CN" dirty="0">
              <a:solidFill>
                <a:schemeClr val="bg1"/>
              </a:solidFill>
            </a:endParaRPr>
          </a:p>
          <a:p>
            <a:endParaRPr lang="en-US" altLang="zh-CN" dirty="0">
              <a:solidFill>
                <a:schemeClr val="bg1"/>
              </a:solidFill>
            </a:endParaRPr>
          </a:p>
          <a:p>
            <a:r>
              <a:rPr lang="en-US" altLang="zh-CN" dirty="0">
                <a:solidFill>
                  <a:schemeClr val="bg1"/>
                </a:solidFill>
              </a:rPr>
              <a:t>Giv</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is on a </a:t>
            </a:r>
            <a:r>
              <a:rPr lang="en-US" altLang="zh-CN" dirty="0" err="1">
                <a:solidFill>
                  <a:schemeClr val="bg1"/>
                </a:solidFill>
              </a:rPr>
              <a:t>pag</a:t>
            </a:r>
            <a:r>
              <a:rPr lang="az-Cyrl-AZ" altLang="zh-CN" dirty="0">
                <a:solidFill>
                  <a:schemeClr val="bg1"/>
                </a:solidFill>
              </a:rPr>
              <a:t>е </a:t>
            </a:r>
            <a:r>
              <a:rPr lang="en-US" altLang="zh-CN" dirty="0">
                <a:solidFill>
                  <a:schemeClr val="bg1"/>
                </a:solidFill>
              </a:rPr>
              <a:t>with login fi</a:t>
            </a:r>
            <a:r>
              <a:rPr lang="az-Cyrl-AZ" altLang="zh-CN" dirty="0">
                <a:solidFill>
                  <a:schemeClr val="bg1"/>
                </a:solidFill>
              </a:rPr>
              <a:t>е</a:t>
            </a:r>
            <a:r>
              <a:rPr lang="en-US" altLang="zh-CN" dirty="0" err="1">
                <a:solidFill>
                  <a:schemeClr val="bg1"/>
                </a:solidFill>
              </a:rPr>
              <a:t>lds</a:t>
            </a:r>
            <a:r>
              <a:rPr lang="en-US" altLang="zh-CN" dirty="0">
                <a:solidFill>
                  <a:schemeClr val="bg1"/>
                </a:solidFill>
              </a:rPr>
              <a:t>,</a:t>
            </a:r>
          </a:p>
          <a:p>
            <a:r>
              <a:rPr lang="en-US" altLang="zh-CN" dirty="0">
                <a:solidFill>
                  <a:schemeClr val="bg1"/>
                </a:solidFill>
              </a:rPr>
              <a:t>And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has </a:t>
            </a:r>
            <a:r>
              <a:rPr lang="az-Cyrl-AZ" altLang="zh-CN" dirty="0">
                <a:solidFill>
                  <a:schemeClr val="bg1"/>
                </a:solidFill>
              </a:rPr>
              <a:t>е</a:t>
            </a:r>
            <a:r>
              <a:rPr lang="en-US" altLang="zh-CN" dirty="0" err="1">
                <a:solidFill>
                  <a:schemeClr val="bg1"/>
                </a:solidFill>
              </a:rPr>
              <a:t>nt</a:t>
            </a:r>
            <a:r>
              <a:rPr lang="az-Cyrl-AZ" altLang="zh-CN" dirty="0">
                <a:solidFill>
                  <a:schemeClr val="bg1"/>
                </a:solidFill>
              </a:rPr>
              <a:t>е</a:t>
            </a:r>
            <a:r>
              <a:rPr lang="en-US" altLang="zh-CN" dirty="0">
                <a:solidFill>
                  <a:schemeClr val="bg1"/>
                </a:solidFill>
              </a:rPr>
              <a:t>r</a:t>
            </a:r>
            <a:r>
              <a:rPr lang="az-Cyrl-AZ" altLang="zh-CN" dirty="0">
                <a:solidFill>
                  <a:schemeClr val="bg1"/>
                </a:solidFill>
              </a:rPr>
              <a:t>е</a:t>
            </a:r>
            <a:r>
              <a:rPr lang="en-US" altLang="zh-CN" dirty="0">
                <a:solidFill>
                  <a:schemeClr val="bg1"/>
                </a:solidFill>
              </a:rPr>
              <a:t>d </a:t>
            </a:r>
            <a:r>
              <a:rPr lang="en-US" altLang="zh-CN" dirty="0" err="1">
                <a:solidFill>
                  <a:schemeClr val="bg1"/>
                </a:solidFill>
              </a:rPr>
              <a:t>th</a:t>
            </a:r>
            <a:r>
              <a:rPr lang="az-Cyrl-AZ" altLang="zh-CN" dirty="0">
                <a:solidFill>
                  <a:schemeClr val="bg1"/>
                </a:solidFill>
              </a:rPr>
              <a:t>е </a:t>
            </a:r>
            <a:r>
              <a:rPr lang="en-US" altLang="zh-CN" dirty="0" err="1">
                <a:solidFill>
                  <a:schemeClr val="bg1"/>
                </a:solidFill>
              </a:rPr>
              <a:t>incorr</a:t>
            </a:r>
            <a:r>
              <a:rPr lang="az-Cyrl-AZ" altLang="zh-CN" dirty="0">
                <a:solidFill>
                  <a:schemeClr val="bg1"/>
                </a:solidFill>
              </a:rPr>
              <a:t>е</a:t>
            </a:r>
            <a:r>
              <a:rPr lang="en-US" altLang="zh-CN" dirty="0" err="1">
                <a:solidFill>
                  <a:schemeClr val="bg1"/>
                </a:solidFill>
              </a:rPr>
              <a:t>ct</a:t>
            </a:r>
            <a:r>
              <a:rPr lang="en-US" altLang="zh-CN" dirty="0">
                <a:solidFill>
                  <a:schemeClr val="bg1"/>
                </a:solidFill>
              </a:rPr>
              <a:t> 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t</a:t>
            </a:r>
            <a:r>
              <a:rPr lang="az-Cyrl-AZ" altLang="zh-CN" dirty="0">
                <a:solidFill>
                  <a:schemeClr val="bg1"/>
                </a:solidFill>
              </a:rPr>
              <a:t>е</a:t>
            </a:r>
            <a:r>
              <a:rPr lang="en-US" altLang="zh-CN" dirty="0">
                <a:solidFill>
                  <a:schemeClr val="bg1"/>
                </a:solidFill>
              </a:rPr>
              <a:t>st1" and password "H</a:t>
            </a:r>
            <a:r>
              <a:rPr lang="az-Cyrl-AZ" altLang="zh-CN" dirty="0">
                <a:solidFill>
                  <a:schemeClr val="bg1"/>
                </a:solidFill>
              </a:rPr>
              <a:t>е</a:t>
            </a:r>
            <a:r>
              <a:rPr lang="en-US" altLang="zh-CN" dirty="0">
                <a:solidFill>
                  <a:schemeClr val="bg1"/>
                </a:solidFill>
              </a:rPr>
              <a:t>llo321",</a:t>
            </a:r>
          </a:p>
          <a:p>
            <a:r>
              <a:rPr lang="en-US" altLang="zh-CN" dirty="0" err="1">
                <a:solidFill>
                  <a:schemeClr val="bg1"/>
                </a:solidFill>
              </a:rPr>
              <a:t>Wh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a:solidFill>
                  <a:schemeClr val="bg1"/>
                </a:solidFill>
              </a:rPr>
              <a:t>r clicks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button,</a:t>
            </a:r>
          </a:p>
          <a:p>
            <a:r>
              <a:rPr lang="en-US" altLang="zh-CN" dirty="0">
                <a:solidFill>
                  <a:schemeClr val="bg1"/>
                </a:solidFill>
              </a:rPr>
              <a:t>Th</a:t>
            </a:r>
            <a:r>
              <a:rPr lang="az-Cyrl-AZ" altLang="zh-CN" dirty="0">
                <a:solidFill>
                  <a:schemeClr val="bg1"/>
                </a:solidFill>
              </a:rPr>
              <a:t>е</a:t>
            </a:r>
            <a:r>
              <a:rPr lang="en-US" altLang="zh-CN" dirty="0">
                <a:solidFill>
                  <a:schemeClr val="bg1"/>
                </a:solidFill>
              </a:rPr>
              <a:t>n,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login form r</a:t>
            </a:r>
            <a:r>
              <a:rPr lang="az-Cyrl-AZ" altLang="zh-CN" dirty="0">
                <a:solidFill>
                  <a:schemeClr val="bg1"/>
                </a:solidFill>
              </a:rPr>
              <a:t>е</a:t>
            </a:r>
            <a:r>
              <a:rPr lang="en-US" altLang="zh-CN" dirty="0">
                <a:solidFill>
                  <a:schemeClr val="bg1"/>
                </a:solidFill>
              </a:rPr>
              <a:t>app</a:t>
            </a:r>
            <a:r>
              <a:rPr lang="az-Cyrl-AZ" altLang="zh-CN" dirty="0">
                <a:solidFill>
                  <a:schemeClr val="bg1"/>
                </a:solidFill>
              </a:rPr>
              <a:t>е</a:t>
            </a:r>
            <a:r>
              <a:rPr lang="en-US" altLang="zh-CN" dirty="0" err="1">
                <a:solidFill>
                  <a:schemeClr val="bg1"/>
                </a:solidFill>
              </a:rPr>
              <a:t>ars</a:t>
            </a:r>
            <a:r>
              <a:rPr lang="en-US" altLang="zh-CN" dirty="0">
                <a:solidFill>
                  <a:schemeClr val="bg1"/>
                </a:solidFill>
              </a:rPr>
              <a:t> with </a:t>
            </a:r>
            <a:r>
              <a:rPr lang="en-US" altLang="zh-CN" dirty="0" err="1">
                <a:solidFill>
                  <a:schemeClr val="bg1"/>
                </a:solidFill>
              </a:rPr>
              <a:t>th</a:t>
            </a:r>
            <a:r>
              <a:rPr lang="az-Cyrl-AZ" altLang="zh-CN" dirty="0">
                <a:solidFill>
                  <a:schemeClr val="bg1"/>
                </a:solidFill>
              </a:rPr>
              <a:t>е </a:t>
            </a:r>
            <a:r>
              <a:rPr lang="en-US" altLang="zh-CN" dirty="0">
                <a:solidFill>
                  <a:schemeClr val="bg1"/>
                </a:solidFill>
              </a:rPr>
              <a:t>us</a:t>
            </a:r>
            <a:r>
              <a:rPr lang="az-Cyrl-AZ" altLang="zh-CN" dirty="0">
                <a:solidFill>
                  <a:schemeClr val="bg1"/>
                </a:solidFill>
              </a:rPr>
              <a:t>е</a:t>
            </a:r>
            <a:r>
              <a:rPr lang="en-US" altLang="zh-CN" dirty="0" err="1">
                <a:solidFill>
                  <a:schemeClr val="bg1"/>
                </a:solidFill>
              </a:rPr>
              <a:t>rnam</a:t>
            </a:r>
            <a:r>
              <a:rPr lang="az-Cyrl-AZ" altLang="zh-CN" dirty="0">
                <a:solidFill>
                  <a:schemeClr val="bg1"/>
                </a:solidFill>
              </a:rPr>
              <a:t>е </a:t>
            </a:r>
            <a:r>
              <a:rPr lang="en-US" altLang="zh-CN" dirty="0">
                <a:solidFill>
                  <a:schemeClr val="bg1"/>
                </a:solidFill>
              </a:rPr>
              <a:t>still fill</a:t>
            </a:r>
            <a:r>
              <a:rPr lang="az-Cyrl-AZ" altLang="zh-CN" dirty="0">
                <a:solidFill>
                  <a:schemeClr val="bg1"/>
                </a:solidFill>
              </a:rPr>
              <a:t>е</a:t>
            </a:r>
            <a:r>
              <a:rPr lang="en-US" altLang="zh-CN" dirty="0">
                <a:solidFill>
                  <a:schemeClr val="bg1"/>
                </a:solidFill>
              </a:rPr>
              <a:t>d in and displays an </a:t>
            </a:r>
          </a:p>
          <a:p>
            <a:r>
              <a:rPr lang="az-Cyrl-AZ" altLang="zh-CN" dirty="0">
                <a:solidFill>
                  <a:schemeClr val="bg1"/>
                </a:solidFill>
              </a:rPr>
              <a:t>е</a:t>
            </a:r>
            <a:r>
              <a:rPr lang="en-US" altLang="zh-CN" dirty="0" err="1">
                <a:solidFill>
                  <a:schemeClr val="bg1"/>
                </a:solidFill>
              </a:rPr>
              <a:t>rror</a:t>
            </a:r>
            <a:r>
              <a:rPr lang="en-US" altLang="zh-CN" dirty="0">
                <a:solidFill>
                  <a:schemeClr val="bg1"/>
                </a:solidFill>
              </a:rPr>
              <a:t> m</a:t>
            </a:r>
            <a:r>
              <a:rPr lang="az-Cyrl-AZ" altLang="zh-CN" dirty="0">
                <a:solidFill>
                  <a:schemeClr val="bg1"/>
                </a:solidFill>
              </a:rPr>
              <a:t>е</a:t>
            </a:r>
            <a:r>
              <a:rPr lang="en-US" altLang="zh-CN" dirty="0" err="1">
                <a:solidFill>
                  <a:schemeClr val="bg1"/>
                </a:solidFill>
              </a:rPr>
              <a:t>ssag</a:t>
            </a:r>
            <a:r>
              <a:rPr lang="az-Cyrl-AZ" altLang="zh-CN" dirty="0">
                <a:solidFill>
                  <a:schemeClr val="bg1"/>
                </a:solidFill>
              </a:rPr>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FFFF0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45572680"/>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a:solidFill>
                            <a:schemeClr val="bg1"/>
                          </a:solidFill>
                        </a:rPr>
                        <a:t>维度</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TDD (Test-Driven Development)</a:t>
                      </a:r>
                    </a:p>
                  </a:txBody>
                  <a:tcPr anchor="ctr">
                    <a:lnL>
                      <a:noFill/>
                    </a:lnL>
                    <a:lnR>
                      <a:noFill/>
                    </a:lnR>
                    <a:lnT>
                      <a:noFill/>
                    </a:lnT>
                    <a:lnB>
                      <a:noFill/>
                    </a:lnB>
                    <a:solidFill>
                      <a:schemeClr val="accent2"/>
                    </a:solidFill>
                  </a:tcPr>
                </a:tc>
                <a:tc>
                  <a:txBody>
                    <a:bodyPr/>
                    <a:lstStyle/>
                    <a:p>
                      <a:pPr>
                        <a:buNone/>
                      </a:pPr>
                      <a:r>
                        <a:rPr lang="en-US" sz="1600">
                          <a:solidFill>
                            <a:schemeClr val="bg1"/>
                          </a:solidFill>
                        </a:rPr>
                        <a:t>BDD (Behavior-Driven Development)</a:t>
                      </a:r>
                    </a:p>
                  </a:txBody>
                  <a:tcPr anchor="ctr">
                    <a:lnL>
                      <a:noFill/>
                    </a:lnL>
                    <a:lnR>
                      <a:noFill/>
                    </a:lnR>
                    <a:lnT>
                      <a:noFill/>
                    </a:lnT>
                    <a:lnB>
                      <a:noFill/>
                    </a:lnB>
                    <a:solidFill>
                      <a:schemeClr val="accent2"/>
                    </a:solidFill>
                  </a:tcPr>
                </a:tc>
                <a:extLst>
                  <a:ext uri="{0D108BD9-81ED-4DB2-BD59-A6C34878D82A}">
                    <a16:rowId xmlns:a16="http://schemas.microsoft.com/office/drawing/2014/main" val="3878949231"/>
                  </a:ext>
                </a:extLst>
              </a:tr>
              <a:tr h="162339">
                <a:tc>
                  <a:txBody>
                    <a:bodyPr/>
                    <a:lstStyle/>
                    <a:p>
                      <a:pPr>
                        <a:buNone/>
                      </a:pPr>
                      <a:r>
                        <a:rPr lang="zh-CN" altLang="en-US" sz="1600">
                          <a:solidFill>
                            <a:schemeClr val="bg1"/>
                          </a:solidFill>
                        </a:rPr>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用户行为 </a:t>
                      </a:r>
                      <a:r>
                        <a:rPr lang="en-US" altLang="zh-CN" sz="1600">
                          <a:solidFill>
                            <a:schemeClr val="bg1"/>
                          </a:solidFill>
                        </a:rPr>
                        <a:t>/ </a:t>
                      </a:r>
                      <a:r>
                        <a:rPr lang="zh-CN" altLang="en-US" sz="1600">
                          <a:solidFill>
                            <a:schemeClr val="bg1"/>
                          </a:solidFill>
                        </a:rPr>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solidFill>
                            <a:schemeClr val="bg1"/>
                          </a:solidFill>
                        </a:rPr>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单个单元测试（</a:t>
                      </a:r>
                      <a:r>
                        <a:rPr lang="en-US" sz="1600" dirty="0">
                          <a:solidFill>
                            <a:schemeClr val="bg1"/>
                          </a:solidFill>
                        </a:rPr>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验收测试 </a:t>
                      </a:r>
                      <a:r>
                        <a:rPr lang="en-US" altLang="zh-CN" sz="1600">
                          <a:solidFill>
                            <a:schemeClr val="bg1"/>
                          </a:solidFill>
                        </a:rPr>
                        <a:t>/ </a:t>
                      </a:r>
                      <a:r>
                        <a:rPr lang="zh-CN" altLang="en-US" sz="1600">
                          <a:solidFill>
                            <a:schemeClr val="bg1"/>
                          </a:solidFill>
                        </a:rPr>
                        <a:t>集成测试（</a:t>
                      </a:r>
                      <a:r>
                        <a:rPr lang="en-US" sz="1600">
                          <a:solidFill>
                            <a:schemeClr val="bg1"/>
                          </a:solidFill>
                        </a:rPr>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solidFill>
                            <a:schemeClr val="bg1"/>
                          </a:solidFill>
                        </a:rPr>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编程语言（</a:t>
                      </a:r>
                      <a:r>
                        <a:rPr lang="en-US" sz="1600">
                          <a:solidFill>
                            <a:schemeClr val="bg1"/>
                          </a:solidFill>
                        </a:rPr>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自然语言（</a:t>
                      </a:r>
                      <a:r>
                        <a:rPr lang="en-US" sz="1600">
                          <a:solidFill>
                            <a:schemeClr val="bg1"/>
                          </a:solidFill>
                        </a:rPr>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solidFill>
                            <a:schemeClr val="bg1"/>
                          </a:solidFill>
                        </a:rPr>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主要是</a:t>
                      </a:r>
                      <a:r>
                        <a:rPr lang="zh-CN" altLang="en-US" sz="1600" dirty="0">
                          <a:solidFill>
                            <a:srgbClr val="FFFF00"/>
                          </a:solidFill>
                        </a:rPr>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solidFill>
                            <a:schemeClr val="bg1"/>
                          </a:solidFill>
                        </a:rPr>
                        <a:t>开发者 </a:t>
                      </a:r>
                      <a:r>
                        <a:rPr lang="en-US" altLang="zh-CN" sz="1600">
                          <a:solidFill>
                            <a:schemeClr val="bg1"/>
                          </a:solidFill>
                        </a:rPr>
                        <a:t>+ </a:t>
                      </a:r>
                      <a:r>
                        <a:rPr lang="zh-CN" altLang="en-US" sz="1600">
                          <a:solidFill>
                            <a:schemeClr val="bg1"/>
                          </a:solidFill>
                        </a:rPr>
                        <a:t>测试 </a:t>
                      </a:r>
                      <a:r>
                        <a:rPr lang="en-US" altLang="zh-CN" sz="1600">
                          <a:solidFill>
                            <a:schemeClr val="bg1"/>
                          </a:solidFill>
                        </a:rPr>
                        <a:t>+ </a:t>
                      </a:r>
                      <a:r>
                        <a:rPr lang="zh-CN" altLang="en-US" sz="1600">
                          <a:solidFill>
                            <a:schemeClr val="bg1"/>
                          </a:solidFill>
                        </a:rPr>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solidFill>
                            <a:schemeClr val="bg1"/>
                          </a:solidFill>
                        </a:rPr>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solidFill>
                            <a:schemeClr val="bg1"/>
                          </a:solidFill>
                        </a:rPr>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test_add_two_numbers()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solidFill>
                            <a:schemeClr val="bg1"/>
                          </a:solidFill>
                          <a:latin typeface="Courier New" panose="02070309020205020404" pitchFamily="49" charset="0"/>
                        </a:rPr>
                        <a:t>Scenario: User logs in successfully</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a:t>IT Project Scope Creep Example</a:t>
            </a:r>
          </a:p>
          <a:p>
            <a:endParaRPr lang="en-US" altLang="zh-CN"/>
          </a:p>
          <a:p>
            <a:r>
              <a:rPr lang="zh-CN" altLang="en-US"/>
              <a:t>三个月内，一位项目经理负责交付一款新的软件</a:t>
            </a:r>
            <a:endParaRPr lang="en-US" altLang="zh-CN"/>
          </a:p>
          <a:p>
            <a:r>
              <a:rPr lang="zh-CN" altLang="en-US"/>
              <a:t>在规划阶段几周后，项目的赞助商增加了新的功能。</a:t>
            </a:r>
            <a:endParaRPr lang="en-US" altLang="zh-CN"/>
          </a:p>
          <a:p>
            <a:r>
              <a:rPr lang="zh-CN" altLang="en-US"/>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b="1" dirty="0">
                <a:solidFill>
                  <a:srgbClr val="FFFF00"/>
                </a:solidFill>
              </a:rPr>
              <a:t>Scope</a:t>
            </a:r>
            <a:r>
              <a:rPr lang="en-US" altLang="zh-CN" dirty="0"/>
              <a:t> </a:t>
            </a:r>
            <a:r>
              <a:rPr lang="en-US" altLang="zh-CN" b="1" dirty="0">
                <a:solidFill>
                  <a:srgbClr val="FFFF00"/>
                </a:solidFill>
              </a:rPr>
              <a:t>Creep</a:t>
            </a:r>
          </a:p>
          <a:p>
            <a:r>
              <a:rPr lang="zh-CN" altLang="en-US" dirty="0"/>
              <a:t>工作范围旨在</a:t>
            </a:r>
            <a:endParaRPr lang="en-US" altLang="zh-CN" dirty="0"/>
          </a:p>
          <a:p>
            <a:pPr lvl="1"/>
            <a:r>
              <a:rPr lang="zh-CN" altLang="en-US" dirty="0"/>
              <a:t>定义项目可交付成果和边界 </a:t>
            </a:r>
            <a:r>
              <a:rPr lang="en-US" altLang="zh-CN" dirty="0"/>
              <a:t>- Define project </a:t>
            </a:r>
            <a:r>
              <a:rPr lang="en-US" altLang="zh-CN" b="1" dirty="0">
                <a:solidFill>
                  <a:srgbClr val="FFFF00"/>
                </a:solidFill>
              </a:rPr>
              <a:t>deliverables</a:t>
            </a:r>
            <a:r>
              <a:rPr lang="en-US" altLang="zh-CN" dirty="0"/>
              <a:t> and </a:t>
            </a:r>
            <a:r>
              <a:rPr lang="en-US" altLang="zh-CN" b="1" dirty="0">
                <a:solidFill>
                  <a:srgbClr val="FFFF00"/>
                </a:solidFill>
              </a:rPr>
              <a:t>boundaries</a:t>
            </a:r>
            <a:endParaRPr lang="zh-CN" altLang="en-US" b="1" dirty="0">
              <a:solidFill>
                <a:srgbClr val="FFFF00"/>
              </a:solidFill>
            </a:endParaRPr>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a:t>
            </a:r>
            <a:r>
              <a:rPr lang="zh-CN" altLang="en-US" dirty="0">
                <a:solidFill>
                  <a:srgbClr val="FFFF00"/>
                </a:solidFill>
              </a:rPr>
              <a:t>小</a:t>
            </a:r>
            <a:r>
              <a:rPr lang="zh-CN" altLang="en-US" dirty="0"/>
              <a:t>、更易</a:t>
            </a:r>
            <a:r>
              <a:rPr lang="zh-CN" altLang="en-US" dirty="0">
                <a:solidFill>
                  <a:srgbClr val="FFFF00"/>
                </a:solidFill>
              </a:rPr>
              <a:t>管理</a:t>
            </a:r>
            <a:r>
              <a:rPr lang="zh-CN" altLang="en-US" dirty="0"/>
              <a:t>、更易</a:t>
            </a:r>
            <a:r>
              <a:rPr lang="zh-CN" altLang="en-US" dirty="0">
                <a:solidFill>
                  <a:srgbClr val="FFFF00"/>
                </a:solidFill>
              </a:rPr>
              <a:t>操作</a:t>
            </a:r>
            <a:endParaRPr lang="en-US" altLang="zh-CN" dirty="0">
              <a:solidFill>
                <a:srgbClr val="FFFF00"/>
              </a:solidFill>
            </a:endParaRPr>
          </a:p>
          <a:p>
            <a:r>
              <a:rPr lang="zh-CN" altLang="en-US" dirty="0"/>
              <a:t>产出：任务分解结构 </a:t>
            </a:r>
            <a:r>
              <a:rPr lang="en-US" altLang="zh-CN" dirty="0"/>
              <a:t>- Work Breakdown Structure</a:t>
            </a:r>
          </a:p>
          <a:p>
            <a:r>
              <a:rPr lang="en-US" altLang="zh-CN" dirty="0"/>
              <a:t>WBS </a:t>
            </a:r>
            <a:r>
              <a:rPr lang="zh-CN" altLang="en-US" dirty="0"/>
              <a:t>组织并定义整个</a:t>
            </a:r>
            <a:r>
              <a:rPr lang="zh-CN" altLang="en-US" dirty="0">
                <a:solidFill>
                  <a:srgbClr val="FFFF00"/>
                </a:solidFill>
              </a:rPr>
              <a:t>项目范围</a:t>
            </a:r>
            <a:r>
              <a:rPr lang="zh-CN" altLang="en-US" dirty="0"/>
              <a:t>；不在其中的，不是项目的工作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System </a:t>
            </a:r>
            <a:r>
              <a:rPr lang="en-US" altLang="zh-CN" sz="1400" dirty="0">
                <a:solidFill>
                  <a:srgbClr val="FFFF00"/>
                </a:solidFill>
              </a:rPr>
              <a:t>1</a:t>
            </a:r>
            <a:endParaRPr lang="zh-CN" altLang="en-US" sz="1400" dirty="0">
              <a:solidFill>
                <a:srgbClr val="FFFF00"/>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1.1</a:t>
            </a:r>
            <a:endParaRPr lang="zh-CN" altLang="en-US" sz="1400" dirty="0">
              <a:solidFill>
                <a:srgbClr val="FFFF00"/>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1.2</a:t>
            </a:r>
            <a:endParaRPr lang="zh-CN" altLang="en-US" sz="1400" dirty="0">
              <a:solidFill>
                <a:srgbClr val="FFFF00"/>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Sub-system </a:t>
            </a:r>
            <a:r>
              <a:rPr lang="en-US" altLang="zh-CN" sz="1400" dirty="0">
                <a:solidFill>
                  <a:srgbClr val="FFFF00"/>
                </a:solidFill>
              </a:rPr>
              <a:t>1.3</a:t>
            </a:r>
            <a:endParaRPr lang="zh-CN" altLang="en-US" sz="1400" dirty="0">
              <a:solidFill>
                <a:srgbClr val="FFFF00"/>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1.1.1</a:t>
            </a:r>
            <a:endParaRPr lang="zh-CN" altLang="en-US" sz="1400" dirty="0">
              <a:solidFill>
                <a:srgbClr val="FFFF00"/>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1.1.2</a:t>
            </a:r>
            <a:endParaRPr lang="zh-CN" altLang="en-US" sz="1400" dirty="0">
              <a:solidFill>
                <a:srgbClr val="FFFF00"/>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1.1.3</a:t>
            </a:r>
            <a:endParaRPr lang="zh-CN" altLang="en-US" sz="1400" dirty="0">
              <a:solidFill>
                <a:srgbClr val="FFFF00"/>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1.2.1</a:t>
            </a:r>
            <a:endParaRPr lang="zh-CN" altLang="en-US" sz="1400" dirty="0">
              <a:solidFill>
                <a:srgbClr val="FFFF00"/>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1.2.2</a:t>
            </a:r>
            <a:endParaRPr lang="zh-CN" altLang="en-US" sz="1400" dirty="0">
              <a:solidFill>
                <a:srgbClr val="FFFF00"/>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1.3.1</a:t>
            </a:r>
            <a:endParaRPr lang="zh-CN" altLang="en-US" sz="1400" dirty="0">
              <a:solidFill>
                <a:srgbClr val="FFFF00"/>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1.3.2</a:t>
            </a:r>
            <a:endParaRPr lang="zh-CN" altLang="en-US" sz="1400" dirty="0">
              <a:solidFill>
                <a:srgbClr val="FFFF00"/>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Module </a:t>
            </a:r>
            <a:r>
              <a:rPr lang="en-US" altLang="zh-CN" sz="1400" dirty="0">
                <a:solidFill>
                  <a:srgbClr val="FFFF00"/>
                </a:solidFill>
              </a:rPr>
              <a:t>1.3.3</a:t>
            </a:r>
            <a:endParaRPr lang="zh-CN" altLang="en-US" sz="1400" dirty="0">
              <a:solidFill>
                <a:srgbClr val="FFFF00"/>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3177544459"/>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dirty="0">
                          <a:solidFill>
                            <a:schemeClr val="bg1"/>
                          </a:solidFill>
                        </a:rPr>
                        <a:t>[Word]</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目录</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dirty="0">
                          <a:solidFill>
                            <a:schemeClr val="bg1"/>
                          </a:solidFill>
                        </a:rPr>
                        <a:t>[PPT]</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dirty="0">
                          <a:solidFill>
                            <a:schemeClr val="bg1"/>
                          </a:solidFill>
                        </a:rPr>
                        <a:t>组织结构图</a:t>
                      </a:r>
                      <a:endParaRPr lang="zh-CN" altLang="en-US"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03275211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chemeClr val="accent2"/>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chemeClr val="accent2"/>
                    </a:solidFill>
                  </a:tcPr>
                </a:tc>
                <a:extLst>
                  <a:ext uri="{0D108BD9-81ED-4DB2-BD59-A6C34878D82A}">
                    <a16:rowId xmlns:a16="http://schemas.microsoft.com/office/drawing/2014/main" val="2925805395"/>
                  </a:ext>
                </a:extLst>
              </a:tr>
              <a:tr h="0">
                <a:tc>
                  <a:txBody>
                    <a:bodyPr/>
                    <a:lstStyle/>
                    <a:p>
                      <a:pPr algn="dist">
                        <a:buNone/>
                      </a:pPr>
                      <a:r>
                        <a:rPr lang="en-US" sz="1600" dirty="0">
                          <a:solidFill>
                            <a:schemeClr val="bg1"/>
                          </a:solidFill>
                        </a:rPr>
                        <a:t>WBS </a:t>
                      </a:r>
                      <a:r>
                        <a:rPr lang="zh-CN" altLang="en-US" sz="1600" dirty="0">
                          <a:solidFill>
                            <a:schemeClr val="bg1"/>
                          </a:solidFill>
                        </a:rPr>
                        <a:t>编码</a:t>
                      </a:r>
                    </a:p>
                  </a:txBody>
                  <a:tcPr anchor="ctr">
                    <a:lnL>
                      <a:noFill/>
                    </a:lnL>
                    <a:lnR>
                      <a:noFill/>
                    </a:lnR>
                    <a:lnT>
                      <a:noFill/>
                    </a:lnT>
                    <a:lnB>
                      <a:noFill/>
                    </a:lnB>
                    <a:noFill/>
                  </a:tcPr>
                </a:tc>
                <a:tc>
                  <a:txBody>
                    <a:bodyPr/>
                    <a:lstStyle/>
                    <a:p>
                      <a:pPr algn="l">
                        <a:buNone/>
                      </a:pPr>
                      <a:r>
                        <a:rPr lang="en-US" altLang="zh-CN" sz="1600">
                          <a:solidFill>
                            <a:schemeClr val="bg1"/>
                          </a:solidFill>
                        </a:rPr>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dist">
                        <a:buNone/>
                      </a:pPr>
                      <a:r>
                        <a:rPr lang="zh-CN" altLang="en-US" sz="1600" dirty="0">
                          <a:solidFill>
                            <a:schemeClr val="bg1"/>
                          </a:solidFill>
                        </a:rPr>
                        <a:t>工作包名称</a:t>
                      </a:r>
                    </a:p>
                  </a:txBody>
                  <a:tcPr anchor="ctr">
                    <a:lnL>
                      <a:noFill/>
                    </a:lnL>
                    <a:lnR>
                      <a:noFill/>
                    </a:lnR>
                    <a:lnT>
                      <a:noFill/>
                    </a:lnT>
                    <a:lnB>
                      <a:noFill/>
                    </a:lnB>
                    <a:noFill/>
                  </a:tcPr>
                </a:tc>
                <a:tc>
                  <a:txBody>
                    <a:bodyPr/>
                    <a:lstStyle/>
                    <a:p>
                      <a:pPr algn="l">
                        <a:buNone/>
                      </a:pPr>
                      <a:r>
                        <a:rPr lang="zh-CN" altLang="en-US" sz="1600">
                          <a:solidFill>
                            <a:schemeClr val="bg1"/>
                          </a:solidFill>
                        </a:rPr>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dist">
                        <a:buNone/>
                      </a:pPr>
                      <a:r>
                        <a:rPr lang="zh-CN" altLang="en-US" sz="1600" dirty="0">
                          <a:solidFill>
                            <a:schemeClr val="bg1"/>
                          </a:solidFill>
                        </a:rPr>
                        <a:t>负责人</a:t>
                      </a:r>
                    </a:p>
                  </a:txBody>
                  <a:tcPr anchor="ctr">
                    <a:lnL>
                      <a:noFill/>
                    </a:lnL>
                    <a:lnR>
                      <a:noFill/>
                    </a:lnR>
                    <a:lnT>
                      <a:noFill/>
                    </a:lnT>
                    <a:lnB>
                      <a:noFill/>
                    </a:lnB>
                    <a:noFill/>
                  </a:tcPr>
                </a:tc>
                <a:tc>
                  <a:txBody>
                    <a:bodyPr/>
                    <a:lstStyle/>
                    <a:p>
                      <a:pPr algn="l">
                        <a:buNone/>
                      </a:pPr>
                      <a:r>
                        <a:rPr lang="zh-CN" altLang="en-US" sz="1600" dirty="0">
                          <a:solidFill>
                            <a:schemeClr val="bg1"/>
                          </a:solidFill>
                        </a:rPr>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dist">
                        <a:buNone/>
                      </a:pPr>
                      <a:r>
                        <a:rPr lang="zh-CN" altLang="en-US" sz="1600" dirty="0">
                          <a:solidFill>
                            <a:schemeClr val="bg1"/>
                          </a:solidFill>
                        </a:rPr>
                        <a:t>工作描述</a:t>
                      </a:r>
                    </a:p>
                  </a:txBody>
                  <a:tcPr anchor="ctr">
                    <a:lnL>
                      <a:noFill/>
                    </a:lnL>
                    <a:lnR>
                      <a:noFill/>
                    </a:lnR>
                    <a:lnT>
                      <a:noFill/>
                    </a:lnT>
                    <a:lnB>
                      <a:noFill/>
                    </a:lnB>
                    <a:noFill/>
                  </a:tcPr>
                </a:tc>
                <a:tc>
                  <a:txBody>
                    <a:bodyPr/>
                    <a:lstStyle/>
                    <a:p>
                      <a:pPr algn="l">
                        <a:buNone/>
                      </a:pPr>
                      <a:r>
                        <a:rPr lang="zh-CN" altLang="en-US" sz="1600" dirty="0">
                          <a:solidFill>
                            <a:schemeClr val="bg1"/>
                          </a:solidFill>
                        </a:rPr>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dist">
                        <a:buNone/>
                      </a:pPr>
                      <a:r>
                        <a:rPr lang="zh-CN" altLang="en-US" sz="1600" dirty="0">
                          <a:solidFill>
                            <a:schemeClr val="bg1"/>
                          </a:solidFill>
                        </a:rPr>
                        <a:t>可交付成果</a:t>
                      </a:r>
                    </a:p>
                  </a:txBody>
                  <a:tcPr anchor="ctr">
                    <a:lnL>
                      <a:noFill/>
                    </a:lnL>
                    <a:lnR>
                      <a:noFill/>
                    </a:lnR>
                    <a:lnT>
                      <a:noFill/>
                    </a:lnT>
                    <a:lnB>
                      <a:noFill/>
                    </a:lnB>
                    <a:noFill/>
                  </a:tcPr>
                </a:tc>
                <a:tc>
                  <a:txBody>
                    <a:bodyPr/>
                    <a:lstStyle/>
                    <a:p>
                      <a:pPr algn="l">
                        <a:buNone/>
                      </a:pPr>
                      <a:r>
                        <a:rPr lang="en-US" altLang="zh-CN" sz="1600">
                          <a:solidFill>
                            <a:schemeClr val="bg1"/>
                          </a:solidFill>
                        </a:rPr>
                        <a:t>1. </a:t>
                      </a:r>
                      <a:r>
                        <a:rPr lang="zh-CN" altLang="en-US" sz="1600">
                          <a:solidFill>
                            <a:schemeClr val="bg1"/>
                          </a:solidFill>
                        </a:rPr>
                        <a:t>采购清单确认表</a:t>
                      </a:r>
                      <a:br>
                        <a:rPr lang="zh-CN" altLang="en-US" sz="1600">
                          <a:solidFill>
                            <a:schemeClr val="bg1"/>
                          </a:solidFill>
                        </a:rPr>
                      </a:br>
                      <a:r>
                        <a:rPr lang="en-US" altLang="zh-CN" sz="1600">
                          <a:solidFill>
                            <a:schemeClr val="bg1"/>
                          </a:solidFill>
                        </a:rPr>
                        <a:t>2. </a:t>
                      </a:r>
                      <a:r>
                        <a:rPr lang="zh-CN" altLang="en-US" sz="1600">
                          <a:solidFill>
                            <a:schemeClr val="bg1"/>
                          </a:solidFill>
                        </a:rPr>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dist">
                        <a:buNone/>
                      </a:pPr>
                      <a:r>
                        <a:rPr lang="zh-CN" altLang="en-US" sz="1600" dirty="0">
                          <a:solidFill>
                            <a:schemeClr val="bg1"/>
                          </a:solidFill>
                        </a:rPr>
                        <a:t>前置任务</a:t>
                      </a:r>
                    </a:p>
                  </a:txBody>
                  <a:tcPr anchor="ctr">
                    <a:lnL>
                      <a:noFill/>
                    </a:lnL>
                    <a:lnR>
                      <a:noFill/>
                    </a:lnR>
                    <a:lnT>
                      <a:noFill/>
                    </a:lnT>
                    <a:lnB>
                      <a:noFill/>
                    </a:lnB>
                    <a:noFill/>
                  </a:tcPr>
                </a:tc>
                <a:tc>
                  <a:txBody>
                    <a:bodyPr/>
                    <a:lstStyle/>
                    <a:p>
                      <a:pPr algn="l">
                        <a:buNone/>
                      </a:pPr>
                      <a:r>
                        <a:rPr lang="en-US" altLang="zh-CN" sz="1600">
                          <a:solidFill>
                            <a:schemeClr val="bg1"/>
                          </a:solidFill>
                        </a:rPr>
                        <a:t>1.2.1 </a:t>
                      </a:r>
                      <a:r>
                        <a:rPr lang="zh-CN" altLang="en-US" sz="1600">
                          <a:solidFill>
                            <a:schemeClr val="bg1"/>
                          </a:solidFill>
                        </a:rPr>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dist">
                        <a:buNone/>
                      </a:pPr>
                      <a:r>
                        <a:rPr lang="zh-CN" altLang="en-US" sz="1600" dirty="0">
                          <a:solidFill>
                            <a:schemeClr val="bg1"/>
                          </a:solidFill>
                        </a:rPr>
                        <a:t>时间要求</a:t>
                      </a:r>
                    </a:p>
                  </a:txBody>
                  <a:tcPr anchor="ctr">
                    <a:lnL>
                      <a:noFill/>
                    </a:lnL>
                    <a:lnR>
                      <a:noFill/>
                    </a:lnR>
                    <a:lnT>
                      <a:noFill/>
                    </a:lnT>
                    <a:lnB>
                      <a:noFill/>
                    </a:lnB>
                    <a:noFill/>
                  </a:tcPr>
                </a:tc>
                <a:tc>
                  <a:txBody>
                    <a:bodyPr/>
                    <a:lstStyle/>
                    <a:p>
                      <a:pPr algn="l">
                        <a:buNone/>
                      </a:pPr>
                      <a:r>
                        <a:rPr lang="zh-CN" altLang="en-US" sz="1600">
                          <a:solidFill>
                            <a:schemeClr val="bg1"/>
                          </a:solidFill>
                        </a:rPr>
                        <a:t>必须在 </a:t>
                      </a:r>
                      <a:r>
                        <a:rPr lang="en-US" altLang="zh-CN" sz="1600">
                          <a:solidFill>
                            <a:schemeClr val="bg1"/>
                          </a:solidFill>
                        </a:rPr>
                        <a:t>12</a:t>
                      </a:r>
                      <a:r>
                        <a:rPr lang="zh-CN" altLang="en-US" sz="1600">
                          <a:solidFill>
                            <a:schemeClr val="bg1"/>
                          </a:solidFill>
                        </a:rPr>
                        <a:t>月</a:t>
                      </a:r>
                      <a:r>
                        <a:rPr lang="en-US" altLang="zh-CN" sz="1600">
                          <a:solidFill>
                            <a:schemeClr val="bg1"/>
                          </a:solidFill>
                        </a:rPr>
                        <a:t>25</a:t>
                      </a:r>
                      <a:r>
                        <a:rPr lang="zh-CN" altLang="en-US" sz="1600">
                          <a:solidFill>
                            <a:schemeClr val="bg1"/>
                          </a:solidFill>
                        </a:rPr>
                        <a:t>日 </a:t>
                      </a:r>
                      <a:r>
                        <a:rPr lang="en-US" altLang="zh-CN" sz="1600">
                          <a:solidFill>
                            <a:schemeClr val="bg1"/>
                          </a:solidFill>
                        </a:rPr>
                        <a:t>14:00 </a:t>
                      </a:r>
                      <a:r>
                        <a:rPr lang="zh-CN" altLang="en-US" sz="1600">
                          <a:solidFill>
                            <a:schemeClr val="bg1"/>
                          </a:solidFill>
                        </a:rPr>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dist">
                        <a:buNone/>
                      </a:pPr>
                      <a:r>
                        <a:rPr lang="zh-CN" altLang="en-US" sz="1600" dirty="0">
                          <a:solidFill>
                            <a:schemeClr val="bg1"/>
                          </a:solidFill>
                        </a:rPr>
                        <a:t>成本预算</a:t>
                      </a:r>
                    </a:p>
                  </a:txBody>
                  <a:tcPr anchor="ctr">
                    <a:lnL>
                      <a:noFill/>
                    </a:lnL>
                    <a:lnR>
                      <a:noFill/>
                    </a:lnR>
                    <a:lnT>
                      <a:noFill/>
                    </a:lnT>
                    <a:lnB>
                      <a:noFill/>
                    </a:lnB>
                    <a:noFill/>
                  </a:tcPr>
                </a:tc>
                <a:tc>
                  <a:txBody>
                    <a:bodyPr/>
                    <a:lstStyle/>
                    <a:p>
                      <a:pPr algn="l">
                        <a:buNone/>
                      </a:pPr>
                      <a:r>
                        <a:rPr lang="en-US" altLang="zh-CN" sz="1600">
                          <a:solidFill>
                            <a:schemeClr val="bg1"/>
                          </a:solidFill>
                        </a:rPr>
                        <a:t>2,000 - 2,500 </a:t>
                      </a:r>
                      <a:r>
                        <a:rPr lang="zh-CN" altLang="en-US" sz="1600">
                          <a:solidFill>
                            <a:schemeClr val="bg1"/>
                          </a:solidFill>
                        </a:rPr>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dist">
                        <a:buNone/>
                      </a:pPr>
                      <a:r>
                        <a:rPr lang="zh-CN" altLang="en-US" sz="1600" dirty="0">
                          <a:solidFill>
                            <a:schemeClr val="bg1"/>
                          </a:solidFill>
                        </a:rPr>
                        <a:t>质量</a:t>
                      </a:r>
                      <a:r>
                        <a:rPr lang="en-US" altLang="zh-CN" sz="1600" dirty="0">
                          <a:solidFill>
                            <a:schemeClr val="bg1"/>
                          </a:solidFill>
                        </a:rPr>
                        <a:t>/</a:t>
                      </a:r>
                      <a:r>
                        <a:rPr lang="zh-CN" altLang="en-US" sz="1600" dirty="0">
                          <a:solidFill>
                            <a:schemeClr val="bg1"/>
                          </a:solidFill>
                        </a:rPr>
                        <a:t>要求</a:t>
                      </a:r>
                    </a:p>
                  </a:txBody>
                  <a:tcPr anchor="ctr">
                    <a:lnL>
                      <a:noFill/>
                    </a:lnL>
                    <a:lnR>
                      <a:noFill/>
                    </a:lnR>
                    <a:lnT>
                      <a:noFill/>
                    </a:lnT>
                    <a:lnB>
                      <a:noFill/>
                    </a:lnB>
                    <a:noFill/>
                  </a:tcPr>
                </a:tc>
                <a:tc>
                  <a:txBody>
                    <a:bodyPr/>
                    <a:lstStyle/>
                    <a:p>
                      <a:pPr algn="l">
                        <a:buNone/>
                      </a:pPr>
                      <a:r>
                        <a:rPr lang="zh-CN" altLang="en-US" sz="1600" dirty="0">
                          <a:solidFill>
                            <a:schemeClr val="bg1"/>
                          </a:solidFill>
                        </a:rPr>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a:t>
            </a:r>
            <a:r>
              <a:rPr lang="zh-CN" altLang="en-US" dirty="0">
                <a:solidFill>
                  <a:srgbClr val="FFFF00"/>
                </a:solidFill>
              </a:rPr>
              <a:t>总</a:t>
            </a:r>
            <a:r>
              <a:rPr lang="zh-CN" altLang="en-US" dirty="0"/>
              <a:t>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a:t>
            </a:r>
            <a:r>
              <a:rPr lang="zh-CN" altLang="en-US" dirty="0">
                <a:solidFill>
                  <a:srgbClr val="FFFF00"/>
                </a:solidFill>
              </a:rPr>
              <a:t>过细</a:t>
            </a:r>
            <a:endParaRPr lang="en-US" altLang="zh-CN" dirty="0">
              <a:solidFill>
                <a:srgbClr val="FFFF00"/>
              </a:solidFill>
            </a:endParaRPr>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a:t>
            </a:r>
            <a:r>
              <a:rPr lang="zh-CN" altLang="en-US" dirty="0">
                <a:solidFill>
                  <a:srgbClr val="FFFF00"/>
                </a:solidFill>
              </a:rPr>
              <a:t>小时</a:t>
            </a:r>
            <a:endParaRPr lang="en-US" altLang="zh-CN" dirty="0">
              <a:solidFill>
                <a:srgbClr val="FFFF00"/>
              </a:solidFill>
            </a:endParaRPr>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5325" y="863600"/>
            <a:ext cx="10801350" cy="5400675"/>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solidFill>
                  <a:srgbClr val="FFFF00"/>
                </a:solidFill>
              </a:rPr>
              <a:t>INVEST</a:t>
            </a:r>
            <a:r>
              <a:rPr lang="en-US" altLang="zh-CN"/>
              <a: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Epic</a:t>
              </a:r>
              <a:endParaRPr lang="zh-CN" altLang="en-US" sz="1600" kern="120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477328"/>
          </a:xfrm>
          <a:prstGeom prst="rect">
            <a:avLst/>
          </a:prstGeom>
          <a:noFill/>
        </p:spPr>
        <p:txBody>
          <a:bodyPr wrap="square" rtlCol="0">
            <a:spAutoFit/>
          </a:bodyPr>
          <a:lstStyle/>
          <a:p>
            <a:r>
              <a:rPr lang="en-US" altLang="zh-CN" dirty="0">
                <a:solidFill>
                  <a:srgbClr val="FFFF00"/>
                </a:solidFill>
              </a:rPr>
              <a:t>Epic</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save favorites on my mobile weather application</a:t>
            </a:r>
            <a:br>
              <a:rPr lang="en-US" altLang="zh-CN" dirty="0">
                <a:solidFill>
                  <a:schemeClr val="bg1"/>
                </a:solidFill>
              </a:rPr>
            </a:br>
            <a:r>
              <a:rPr lang="en-US" altLang="zh-CN" dirty="0">
                <a:solidFill>
                  <a:schemeClr val="bg1"/>
                </a:solidFill>
              </a:rPr>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200329"/>
          </a:xfrm>
          <a:prstGeom prst="rect">
            <a:avLst/>
          </a:prstGeom>
          <a:noFill/>
        </p:spPr>
        <p:txBody>
          <a:bodyPr wrap="square" rtlCol="0">
            <a:spAutoFit/>
          </a:bodyPr>
          <a:lstStyle/>
          <a:p>
            <a:r>
              <a:rPr lang="en-US" altLang="zh-CN">
                <a:solidFill>
                  <a:srgbClr val="FFFF00"/>
                </a:solidFill>
              </a:rPr>
              <a:t>Break down story 1</a:t>
            </a:r>
          </a:p>
          <a:p>
            <a:r>
              <a:rPr lang="en-US" altLang="zh-CN">
                <a:solidFill>
                  <a:schemeClr val="bg1"/>
                </a:solidFill>
              </a:rPr>
              <a:t>As a busy executive,</a:t>
            </a:r>
            <a:br>
              <a:rPr lang="en-US" altLang="zh-CN">
                <a:solidFill>
                  <a:schemeClr val="bg1"/>
                </a:solidFill>
              </a:rPr>
            </a:br>
            <a:r>
              <a:rPr lang="en-US" altLang="zh-CN">
                <a:solidFill>
                  <a:schemeClr val="bg1"/>
                </a:solidFill>
              </a:rPr>
              <a:t>I want to be able to save a search location to my list of favorites from my mobile device</a:t>
            </a:r>
            <a:br>
              <a:rPr lang="en-US" altLang="zh-CN">
                <a:solidFill>
                  <a:schemeClr val="bg1"/>
                </a:solidFill>
              </a:rPr>
            </a:br>
            <a:r>
              <a:rPr lang="en-US" altLang="zh-CN">
                <a:solidFill>
                  <a:schemeClr val="bg1"/>
                </a:solidFill>
              </a:rPr>
              <a:t>So that I can reuse that search on future visits.</a:t>
            </a:r>
            <a:endParaRPr lang="zh-CN" altLang="en-US">
              <a:solidFill>
                <a:schemeClr val="bg1"/>
              </a:solidFill>
            </a:endParaRPr>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200329"/>
          </a:xfrm>
          <a:prstGeom prst="rect">
            <a:avLst/>
          </a:prstGeom>
          <a:noFill/>
        </p:spPr>
        <p:txBody>
          <a:bodyPr wrap="square" rtlCol="0">
            <a:spAutoFit/>
          </a:bodyPr>
          <a:lstStyle/>
          <a:p>
            <a:r>
              <a:rPr lang="en-US" altLang="zh-CN" dirty="0">
                <a:solidFill>
                  <a:srgbClr val="FFFF00"/>
                </a:solidFill>
              </a:rPr>
              <a:t>Break down story 2</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to be able to name my saved searches from my mobile device</a:t>
            </a:r>
            <a:br>
              <a:rPr lang="en-US" altLang="zh-CN" dirty="0">
                <a:solidFill>
                  <a:schemeClr val="bg1"/>
                </a:solidFill>
              </a:rPr>
            </a:br>
            <a:r>
              <a:rPr lang="en-US" altLang="zh-CN" dirty="0">
                <a:solidFill>
                  <a:schemeClr val="bg1"/>
                </a:solidFill>
              </a:rPr>
              <a:t>so that I know how to access each saved search in the future.</a:t>
            </a:r>
            <a:endParaRPr lang="zh-CN" altLang="en-US" dirty="0">
              <a:solidFill>
                <a:schemeClr val="bg1"/>
              </a:solidFill>
            </a:endParaRPr>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477328"/>
          </a:xfrm>
          <a:prstGeom prst="rect">
            <a:avLst/>
          </a:prstGeom>
          <a:noFill/>
        </p:spPr>
        <p:txBody>
          <a:bodyPr wrap="square" rtlCol="0">
            <a:spAutoFit/>
          </a:bodyPr>
          <a:lstStyle/>
          <a:p>
            <a:r>
              <a:rPr lang="en-US" altLang="zh-CN" dirty="0">
                <a:solidFill>
                  <a:srgbClr val="FFFF00"/>
                </a:solidFill>
              </a:rPr>
              <a:t>Break down story 3</a:t>
            </a:r>
          </a:p>
          <a:p>
            <a:r>
              <a:rPr lang="en-US" altLang="zh-CN" dirty="0">
                <a:solidFill>
                  <a:schemeClr val="bg1"/>
                </a:solidFill>
              </a:rPr>
              <a:t>As a busy executive,</a:t>
            </a:r>
            <a:br>
              <a:rPr lang="en-US" altLang="zh-CN" dirty="0">
                <a:solidFill>
                  <a:schemeClr val="bg1"/>
                </a:solidFill>
              </a:rPr>
            </a:br>
            <a:r>
              <a:rPr lang="en-US" altLang="zh-CN" dirty="0">
                <a:solidFill>
                  <a:schemeClr val="bg1"/>
                </a:solidFill>
              </a:rPr>
              <a:t>I want the name of my saved searches to default to the city name, unless I choose to manually override it</a:t>
            </a:r>
            <a:br>
              <a:rPr lang="en-US" altLang="zh-CN" dirty="0">
                <a:solidFill>
                  <a:schemeClr val="bg1"/>
                </a:solidFill>
              </a:rPr>
            </a:br>
            <a:r>
              <a:rPr lang="en-US" altLang="zh-CN" dirty="0">
                <a:solidFill>
                  <a:schemeClr val="bg1"/>
                </a:solidFill>
              </a:rPr>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754326"/>
          </a:xfrm>
          <a:prstGeom prst="rect">
            <a:avLst/>
          </a:prstGeom>
          <a:noFill/>
        </p:spPr>
        <p:txBody>
          <a:bodyPr wrap="square" rtlCol="0">
            <a:spAutoFit/>
          </a:bodyPr>
          <a:lstStyle/>
          <a:p>
            <a:r>
              <a:rPr lang="en-US" altLang="zh-CN">
                <a:solidFill>
                  <a:srgbClr val="FFFF00"/>
                </a:solidFill>
              </a:rPr>
              <a:t>Break down story 4</a:t>
            </a:r>
          </a:p>
          <a:p>
            <a:r>
              <a:rPr lang="en-US" altLang="zh-CN">
                <a:solidFill>
                  <a:schemeClr val="bg1"/>
                </a:solidFill>
              </a:rPr>
              <a:t>As a busy executive,</a:t>
            </a:r>
            <a:br>
              <a:rPr lang="en-US" altLang="zh-CN">
                <a:solidFill>
                  <a:schemeClr val="bg1"/>
                </a:solidFill>
              </a:rPr>
            </a:br>
            <a:r>
              <a:rPr lang="en-US" altLang="zh-CN">
                <a:solidFill>
                  <a:schemeClr val="bg1"/>
                </a:solidFill>
              </a:rPr>
              <a:t>I want my “saved favorites” option on the user interface to be presented on a mobile device near the “search location”</a:t>
            </a:r>
            <a:br>
              <a:rPr lang="en-US" altLang="zh-CN">
                <a:solidFill>
                  <a:schemeClr val="bg1"/>
                </a:solidFill>
              </a:rPr>
            </a:br>
            <a:r>
              <a:rPr lang="en-US" altLang="zh-CN">
                <a:solidFill>
                  <a:schemeClr val="bg1"/>
                </a:solidFill>
              </a:rPr>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215991"/>
          </a:xfrm>
          <a:prstGeom prst="rect">
            <a:avLst/>
          </a:prstGeom>
          <a:noFill/>
        </p:spPr>
        <p:txBody>
          <a:bodyPr wrap="square" rtlCol="0">
            <a:spAutoFit/>
          </a:bodyPr>
          <a:lstStyle/>
          <a:p>
            <a:pPr>
              <a:spcAft>
                <a:spcPts val="1200"/>
              </a:spcAft>
            </a:pPr>
            <a:r>
              <a:rPr lang="en-US" altLang="zh-CN" dirty="0">
                <a:solidFill>
                  <a:srgbClr val="FFFF00"/>
                </a:solidFill>
              </a:rPr>
              <a:t>Acceptance Criteria</a:t>
            </a:r>
          </a:p>
          <a:p>
            <a:pPr marL="342900" indent="-342900">
              <a:spcAft>
                <a:spcPts val="1200"/>
              </a:spcAft>
              <a:buFont typeface="+mj-lt"/>
              <a:buAutoNum type="arabicPeriod"/>
            </a:pPr>
            <a:r>
              <a:rPr lang="en-US" altLang="zh-CN" dirty="0">
                <a:solidFill>
                  <a:schemeClr val="bg1"/>
                </a:solidFill>
              </a:rPr>
              <a:t>Acceptance Criteria is simply a high-level acceptance test that will be true after the agile user story is complete.</a:t>
            </a:r>
          </a:p>
          <a:p>
            <a:pPr marL="342900" indent="-342900">
              <a:spcAft>
                <a:spcPts val="1200"/>
              </a:spcAft>
              <a:buFont typeface="+mj-lt"/>
              <a:buAutoNum type="arabicPeriod"/>
            </a:pPr>
            <a:r>
              <a:rPr lang="en-US" altLang="zh-CN" dirty="0">
                <a:solidFill>
                  <a:schemeClr val="bg1"/>
                </a:solidFill>
              </a:rPr>
              <a:t>Normally written on the back of the story card.</a:t>
            </a:r>
          </a:p>
          <a:p>
            <a:pPr marL="342900" indent="-342900">
              <a:spcAft>
                <a:spcPts val="1200"/>
              </a:spcAft>
              <a:buFont typeface="+mj-lt"/>
              <a:buAutoNum type="arabicPeriod"/>
            </a:pPr>
            <a:r>
              <a:rPr lang="en-US" altLang="zh-CN" dirty="0">
                <a:solidFill>
                  <a:schemeClr val="bg1"/>
                </a:solidFill>
              </a:rPr>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696000" y="1634185"/>
            <a:ext cx="2465740" cy="369332"/>
          </a:xfrm>
          <a:prstGeom prst="rect">
            <a:avLst/>
          </a:prstGeom>
          <a:noFill/>
        </p:spPr>
        <p:txBody>
          <a:bodyPr wrap="none" rtlCol="0">
            <a:spAutoFit/>
          </a:bodyPr>
          <a:lstStyle/>
          <a:p>
            <a:r>
              <a:rPr lang="zh-CN" altLang="en-US">
                <a:solidFill>
                  <a:schemeClr val="bg1"/>
                </a:solidFill>
              </a:rPr>
              <a:t>课后思考 </a:t>
            </a:r>
            <a:r>
              <a:rPr lang="en-US" altLang="zh-CN">
                <a:solidFill>
                  <a:schemeClr val="bg1"/>
                </a:solidFill>
              </a:rPr>
              <a:t>Homework</a:t>
            </a:r>
            <a:endParaRPr lang="zh-CN" altLang="en-US">
              <a:solidFill>
                <a:schemeClr val="bg1"/>
              </a:solidFill>
            </a:endParaRPr>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696000" y="2003517"/>
            <a:ext cx="6244017" cy="338554"/>
          </a:xfrm>
          <a:prstGeom prst="rect">
            <a:avLst/>
          </a:prstGeom>
          <a:noFill/>
        </p:spPr>
        <p:txBody>
          <a:bodyPr wrap="none" rtlCol="0">
            <a:spAutoFit/>
          </a:bodyPr>
          <a:lstStyle/>
          <a:p>
            <a:r>
              <a:rPr lang="zh-CN" altLang="en-US" sz="1600" dirty="0">
                <a:solidFill>
                  <a:schemeClr val="bg1"/>
                </a:solidFill>
              </a:rPr>
              <a:t>举例并分析：</a:t>
            </a:r>
            <a:r>
              <a:rPr lang="en-US" altLang="zh-CN" sz="1600" dirty="0">
                <a:solidFill>
                  <a:schemeClr val="bg1"/>
                </a:solidFill>
              </a:rPr>
              <a:t>SOW</a:t>
            </a:r>
            <a:r>
              <a:rPr lang="zh-CN" altLang="en-US" sz="1600" dirty="0">
                <a:solidFill>
                  <a:schemeClr val="bg1"/>
                </a:solidFill>
              </a:rPr>
              <a:t>、</a:t>
            </a:r>
            <a:r>
              <a:rPr lang="en-US" altLang="zh-CN" sz="1600" dirty="0">
                <a:solidFill>
                  <a:schemeClr val="bg1"/>
                </a:solidFill>
              </a:rPr>
              <a:t>SRS</a:t>
            </a:r>
            <a:r>
              <a:rPr lang="zh-CN" altLang="en-US" sz="1600" dirty="0">
                <a:solidFill>
                  <a:schemeClr val="bg1"/>
                </a:solidFill>
              </a:rPr>
              <a:t>、</a:t>
            </a:r>
            <a:r>
              <a:rPr lang="en-US" altLang="zh-CN" sz="1600" dirty="0">
                <a:solidFill>
                  <a:schemeClr val="bg1"/>
                </a:solidFill>
              </a:rPr>
              <a:t>WBS</a:t>
            </a:r>
            <a:r>
              <a:rPr lang="zh-CN" altLang="en-US" sz="1600" dirty="0">
                <a:solidFill>
                  <a:schemeClr val="bg1"/>
                </a:solidFill>
              </a:rPr>
              <a:t>、</a:t>
            </a:r>
            <a:r>
              <a:rPr lang="en-US" altLang="zh-CN" sz="1600" dirty="0">
                <a:solidFill>
                  <a:schemeClr val="bg1"/>
                </a:solidFill>
              </a:rPr>
              <a:t>Package</a:t>
            </a:r>
            <a:r>
              <a:rPr lang="zh-CN" altLang="en-US" sz="1600" dirty="0">
                <a:solidFill>
                  <a:schemeClr val="bg1"/>
                </a:solidFill>
              </a:rPr>
              <a:t>和</a:t>
            </a:r>
            <a:r>
              <a:rPr lang="en-US" altLang="zh-CN" sz="1600" dirty="0">
                <a:solidFill>
                  <a:schemeClr val="bg1"/>
                </a:solidFill>
              </a:rPr>
              <a:t>Dictionary</a:t>
            </a:r>
            <a:r>
              <a:rPr lang="zh-CN" altLang="en-US" sz="1600" dirty="0">
                <a:solidFill>
                  <a:schemeClr val="bg1"/>
                </a:solidFill>
              </a:rPr>
              <a:t>的关系</a:t>
            </a:r>
          </a:p>
        </p:txBody>
      </p:sp>
    </p:spTree>
    <p:extLst>
      <p:ext uri="{BB962C8B-B14F-4D97-AF65-F5344CB8AC3E}">
        <p14:creationId xmlns:p14="http://schemas.microsoft.com/office/powerpoint/2010/main" val="1048125161"/>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278857"/>
            <a:ext cx="4424219" cy="2300287"/>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chemeClr val="bg1"/>
                </a:solidFill>
              </a:rPr>
              <a:t>乱</a:t>
            </a:r>
            <a:r>
              <a:rPr lang="zh-CN" altLang="en-US" sz="1600" dirty="0">
                <a:solidFill>
                  <a:schemeClr val="bg1"/>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chemeClr val="bg1"/>
                </a:solidFill>
              </a:rPr>
              <a:t>愁</a:t>
            </a:r>
            <a:r>
              <a:rPr lang="zh-CN" altLang="en-US" sz="1600" dirty="0">
                <a:solidFill>
                  <a:schemeClr val="bg1"/>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chemeClr val="bg1"/>
                </a:solidFill>
              </a:rPr>
              <a:t>难</a:t>
            </a:r>
            <a:r>
              <a:rPr lang="zh-CN" altLang="en-US" sz="1600" dirty="0">
                <a:solidFill>
                  <a:schemeClr val="bg1"/>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chemeClr val="bg1"/>
                </a:solidFill>
              </a:rPr>
              <a:t>扯</a:t>
            </a:r>
            <a:r>
              <a:rPr lang="zh-CN" altLang="en-US" sz="1600" dirty="0">
                <a:solidFill>
                  <a:schemeClr val="bg1"/>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chemeClr val="bg1"/>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贯彻软件的生存期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dirty="0"/>
              <a:t>6.1.2 </a:t>
            </a:r>
            <a:r>
              <a:rPr lang="zh-CN" altLang="en-US" dirty="0"/>
              <a:t>规模、工作量、成本</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48519"/>
            <a:ext cx="4424080" cy="338554"/>
          </a:xfrm>
        </p:spPr>
        <p:txBody>
          <a:bodyPr/>
          <a:lstStyle/>
          <a:p>
            <a:r>
              <a:rPr lang="en-US" altLang="zh-CN"/>
              <a:t>Unit</a:t>
            </a:r>
            <a:endParaRPr lang="zh-CN" altLang="en-US"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2239839373"/>
              </p:ext>
            </p:extLst>
          </p:nvPr>
        </p:nvGraphicFramePr>
        <p:xfrm>
          <a:off x="3396000" y="2758440"/>
          <a:ext cx="5400000" cy="1341120"/>
        </p:xfrm>
        <a:graphic>
          <a:graphicData uri="http://schemas.openxmlformats.org/drawingml/2006/table">
            <a:tbl>
              <a:tblPr firstRow="1" bandRow="1">
                <a:tableStyleId>{5C22544A-7EE6-4342-B048-85BDC9FD1C3A}</a:tableStyleId>
              </a:tblPr>
              <a:tblGrid>
                <a:gridCol w="1260000">
                  <a:extLst>
                    <a:ext uri="{9D8B030D-6E8A-4147-A177-3AD203B41FA5}">
                      <a16:colId xmlns:a16="http://schemas.microsoft.com/office/drawing/2014/main" val="2041386398"/>
                    </a:ext>
                  </a:extLst>
                </a:gridCol>
                <a:gridCol w="2880000">
                  <a:extLst>
                    <a:ext uri="{9D8B030D-6E8A-4147-A177-3AD203B41FA5}">
                      <a16:colId xmlns:a16="http://schemas.microsoft.com/office/drawing/2014/main" val="1771805873"/>
                    </a:ext>
                  </a:extLst>
                </a:gridCol>
                <a:gridCol w="1260000">
                  <a:extLst>
                    <a:ext uri="{9D8B030D-6E8A-4147-A177-3AD203B41FA5}">
                      <a16:colId xmlns:a16="http://schemas.microsoft.com/office/drawing/2014/main" val="3158247597"/>
                    </a:ext>
                  </a:extLst>
                </a:gridCol>
              </a:tblGrid>
              <a:tr h="0">
                <a:tc>
                  <a:txBody>
                    <a:bodyPr/>
                    <a:lstStyle/>
                    <a:p>
                      <a:pPr algn="ctr"/>
                      <a:r>
                        <a:rPr lang="zh-CN" altLang="en-US" sz="1600" b="0" dirty="0">
                          <a:solidFill>
                            <a:schemeClr val="bg1"/>
                          </a:solidFill>
                        </a:rPr>
                        <a:t>工作量</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规模</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成本</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algn="ctr"/>
                      <a:r>
                        <a:rPr lang="zh-CN" altLang="en-US" sz="1600" b="0" dirty="0">
                          <a:solidFill>
                            <a:schemeClr val="bg1"/>
                          </a:solidFill>
                        </a:rPr>
                        <a:t>人天</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代码行 </a:t>
                      </a:r>
                      <a:r>
                        <a:rPr lang="en-US" altLang="zh-CN" sz="1600" b="0" dirty="0">
                          <a:solidFill>
                            <a:schemeClr val="bg1"/>
                          </a:solidFill>
                        </a:rPr>
                        <a:t>Line of Code – LOC</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元</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algn="ctr"/>
                      <a:r>
                        <a:rPr lang="zh-CN" altLang="en-US" sz="1600" b="0" dirty="0">
                          <a:solidFill>
                            <a:schemeClr val="bg1"/>
                          </a:solidFill>
                        </a:rPr>
                        <a:t>人月</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功能点 </a:t>
                      </a:r>
                      <a:r>
                        <a:rPr lang="en-US" altLang="zh-CN" sz="1600" b="0" dirty="0">
                          <a:solidFill>
                            <a:schemeClr val="bg1"/>
                          </a:solidFill>
                        </a:rPr>
                        <a:t>Function Point - FP</a:t>
                      </a: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88584034"/>
                  </a:ext>
                </a:extLst>
              </a:tr>
              <a:tr h="0">
                <a:tc>
                  <a:txBody>
                    <a:bodyPr/>
                    <a:lstStyle/>
                    <a:p>
                      <a:pPr algn="ctr"/>
                      <a:r>
                        <a:rPr lang="zh-CN" altLang="en-US" sz="1600" b="0" dirty="0">
                          <a:solidFill>
                            <a:schemeClr val="bg1"/>
                          </a:solidFill>
                        </a:rPr>
                        <a:t>人年</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613362"/>
                  </a:ext>
                </a:extLst>
              </a:tr>
            </a:tbl>
          </a:graphicData>
        </a:graphic>
      </p:graphicFrame>
    </p:spTree>
    <p:extLst>
      <p:ext uri="{BB962C8B-B14F-4D97-AF65-F5344CB8AC3E}">
        <p14:creationId xmlns:p14="http://schemas.microsoft.com/office/powerpoint/2010/main" val="388413536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圆角 10">
            <a:extLst>
              <a:ext uri="{FF2B5EF4-FFF2-40B4-BE49-F238E27FC236}">
                <a16:creationId xmlns:a16="http://schemas.microsoft.com/office/drawing/2014/main" id="{0DD6A434-91FF-74F3-9876-3BAE5215020C}"/>
              </a:ext>
            </a:extLst>
          </p:cNvPr>
          <p:cNvSpPr/>
          <p:nvPr/>
        </p:nvSpPr>
        <p:spPr>
          <a:xfrm>
            <a:off x="580099" y="3009899"/>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389487" y="2047567"/>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389487" y="3972231"/>
            <a:ext cx="144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020099" y="2263877"/>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020099" y="3226209"/>
            <a:ext cx="369388" cy="962332"/>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198875" y="1494503"/>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198875" y="2600632"/>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829487" y="1710813"/>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829487" y="2263878"/>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198875" y="3419166"/>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198875" y="4525295"/>
            <a:ext cx="1512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829487" y="3635475"/>
            <a:ext cx="369388" cy="55306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829487" y="4188541"/>
            <a:ext cx="369388" cy="553064"/>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5932778" y="1415843"/>
            <a:ext cx="5314275" cy="584775"/>
          </a:xfrm>
          <a:prstGeom prst="rect">
            <a:avLst/>
          </a:prstGeom>
          <a:noFill/>
        </p:spPr>
        <p:txBody>
          <a:bodyPr wrap="none" rtlCol="0">
            <a:spAutoFit/>
          </a:bodyPr>
          <a:lstStyle/>
          <a:p>
            <a:pPr algn="l"/>
            <a:r>
              <a:rPr lang="zh-CN" altLang="en-US" sz="1600" dirty="0">
                <a:solidFill>
                  <a:schemeClr val="bg1"/>
                </a:solidFill>
              </a:rPr>
              <a:t>为完成特定项目而直接投入的人力成本</a:t>
            </a:r>
            <a:endParaRPr lang="en-US" altLang="zh-CN" sz="1600" dirty="0">
              <a:solidFill>
                <a:schemeClr val="bg1"/>
              </a:solidFill>
            </a:endParaRPr>
          </a:p>
          <a:p>
            <a:pPr algn="l"/>
            <a:r>
              <a:rPr lang="zh-CN" altLang="en-US" sz="1600" dirty="0">
                <a:solidFill>
                  <a:schemeClr val="bg1"/>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710875" y="1708231"/>
            <a:ext cx="221903" cy="2582"/>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5932778" y="4449216"/>
            <a:ext cx="5089855" cy="584775"/>
          </a:xfrm>
          <a:prstGeom prst="rect">
            <a:avLst/>
          </a:prstGeom>
          <a:noFill/>
        </p:spPr>
        <p:txBody>
          <a:bodyPr wrap="none" rtlCol="0">
            <a:spAutoFit/>
          </a:bodyPr>
          <a:lstStyle/>
          <a:p>
            <a:pPr algn="l"/>
            <a:r>
              <a:rPr lang="zh-CN" altLang="en-US" sz="1600" dirty="0">
                <a:solidFill>
                  <a:schemeClr val="bg1"/>
                </a:solidFill>
              </a:rPr>
              <a:t>非特定项目，服务于整体</a:t>
            </a:r>
            <a:endParaRPr lang="en-US" altLang="zh-CN" sz="1600" dirty="0">
              <a:solidFill>
                <a:schemeClr val="bg1"/>
              </a:solidFill>
            </a:endParaRPr>
          </a:p>
          <a:p>
            <a:pPr algn="l"/>
            <a:r>
              <a:rPr lang="zh-CN" altLang="en-US" sz="1600" dirty="0">
                <a:solidFill>
                  <a:schemeClr val="bg1"/>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710875" y="4741604"/>
            <a:ext cx="221903" cy="1"/>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5932778" y="3343087"/>
            <a:ext cx="3262432" cy="584775"/>
          </a:xfrm>
          <a:prstGeom prst="rect">
            <a:avLst/>
          </a:prstGeom>
          <a:noFill/>
        </p:spPr>
        <p:txBody>
          <a:bodyPr wrap="none" rtlCol="0">
            <a:spAutoFit/>
          </a:bodyPr>
          <a:lstStyle/>
          <a:p>
            <a:pPr algn="l"/>
            <a:r>
              <a:rPr lang="zh-CN" altLang="en-US" sz="1600" dirty="0">
                <a:solidFill>
                  <a:schemeClr val="bg1"/>
                </a:solidFill>
              </a:rPr>
              <a:t>服务于特定项目</a:t>
            </a:r>
            <a:endParaRPr lang="en-US" altLang="zh-CN" sz="1600" dirty="0">
              <a:solidFill>
                <a:schemeClr val="bg1"/>
              </a:solidFill>
            </a:endParaRPr>
          </a:p>
          <a:p>
            <a:pPr algn="l"/>
            <a:r>
              <a:rPr lang="zh-CN" altLang="en-US" sz="1600" dirty="0">
                <a:solidFill>
                  <a:schemeClr val="bg1"/>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710875" y="3635475"/>
            <a:ext cx="221903" cy="1"/>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5932778" y="2526763"/>
            <a:ext cx="5194051" cy="584775"/>
          </a:xfrm>
          <a:prstGeom prst="rect">
            <a:avLst/>
          </a:prstGeom>
          <a:noFill/>
        </p:spPr>
        <p:txBody>
          <a:bodyPr wrap="none" rtlCol="0">
            <a:spAutoFit/>
          </a:bodyPr>
          <a:lstStyle/>
          <a:p>
            <a:pPr algn="l"/>
            <a:r>
              <a:rPr lang="zh-CN" altLang="en-US" sz="1600" dirty="0">
                <a:solidFill>
                  <a:schemeClr val="bg1"/>
                </a:solidFill>
              </a:rPr>
              <a:t>为支持多个项目或整个组织运营而产生的共同人力成本</a:t>
            </a:r>
            <a:endParaRPr lang="en-US" altLang="zh-CN" sz="1600" dirty="0">
              <a:solidFill>
                <a:schemeClr val="bg1"/>
              </a:solidFill>
            </a:endParaRPr>
          </a:p>
          <a:p>
            <a:pPr algn="l"/>
            <a:r>
              <a:rPr lang="zh-CN" altLang="en-US" sz="1600" dirty="0">
                <a:solidFill>
                  <a:schemeClr val="bg1"/>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710875" y="2816942"/>
            <a:ext cx="221903" cy="2209"/>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6.1.2 </a:t>
            </a:r>
            <a:r>
              <a:rPr lang="zh-CN" altLang="en-US" dirty="0"/>
              <a:t>规模、工作量、成本</a:t>
            </a:r>
          </a:p>
        </p:txBody>
      </p:sp>
      <p:sp>
        <p:nvSpPr>
          <p:cNvPr id="61" name="内容占位符 60">
            <a:extLst>
              <a:ext uri="{FF2B5EF4-FFF2-40B4-BE49-F238E27FC236}">
                <a16:creationId xmlns:a16="http://schemas.microsoft.com/office/drawing/2014/main" id="{9B48A42C-1D17-0DC7-69F8-D011C6B4FEC3}"/>
              </a:ext>
            </a:extLst>
          </p:cNvPr>
          <p:cNvSpPr>
            <a:spLocks noGrp="1"/>
          </p:cNvSpPr>
          <p:nvPr>
            <p:ph idx="1"/>
          </p:nvPr>
        </p:nvSpPr>
        <p:spPr/>
        <p:txBody>
          <a:bodyPr/>
          <a:lstStyle/>
          <a:p>
            <a:endParaRPr lang="zh-CN" altLang="en-US"/>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Tree>
    <p:extLst>
      <p:ext uri="{BB962C8B-B14F-4D97-AF65-F5344CB8AC3E}">
        <p14:creationId xmlns:p14="http://schemas.microsoft.com/office/powerpoint/2010/main" val="35682652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1325710685"/>
              </p:ext>
            </p:extLst>
          </p:nvPr>
        </p:nvGraphicFramePr>
        <p:xfrm>
          <a:off x="3396000" y="2423160"/>
          <a:ext cx="5400000" cy="2011680"/>
        </p:xfrm>
        <a:graphic>
          <a:graphicData uri="http://schemas.openxmlformats.org/drawingml/2006/table">
            <a:tbl>
              <a:tblPr firstRow="1" bandRow="1">
                <a:tableStyleId>{5C22544A-7EE6-4342-B048-85BDC9FD1C3A}</a:tableStyleId>
              </a:tblPr>
              <a:tblGrid>
                <a:gridCol w="2051071">
                  <a:extLst>
                    <a:ext uri="{9D8B030D-6E8A-4147-A177-3AD203B41FA5}">
                      <a16:colId xmlns:a16="http://schemas.microsoft.com/office/drawing/2014/main" val="3641768852"/>
                    </a:ext>
                  </a:extLst>
                </a:gridCol>
                <a:gridCol w="3348929">
                  <a:extLst>
                    <a:ext uri="{9D8B030D-6E8A-4147-A177-3AD203B41FA5}">
                      <a16:colId xmlns:a16="http://schemas.microsoft.com/office/drawing/2014/main" val="1125877973"/>
                    </a:ext>
                  </a:extLst>
                </a:gridCol>
              </a:tblGrid>
              <a:tr h="145599">
                <a:tc>
                  <a:txBody>
                    <a:bodyPr/>
                    <a:lstStyle/>
                    <a:p>
                      <a:r>
                        <a:rPr lang="zh-CN" altLang="en-US" sz="1600" b="0" dirty="0">
                          <a:solidFill>
                            <a:schemeClr val="bg1"/>
                          </a:solidFill>
                        </a:rPr>
                        <a:t>固定成本</a:t>
                      </a:r>
                      <a:endParaRPr lang="en-US" altLang="zh-CN"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Fixed Costs</a:t>
                      </a:r>
                      <a:endParaRPr lang="zh-CN" altLang="en-US" sz="1600" b="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可变成本</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Variable Costs</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b="0" dirty="0">
                          <a:solidFill>
                            <a:schemeClr val="bg1"/>
                          </a:solidFill>
                        </a:rPr>
                        <a:t>直接成本 </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Direct Costs</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b="0" dirty="0">
                          <a:solidFill>
                            <a:schemeClr val="bg1"/>
                          </a:solidFill>
                        </a:rPr>
                        <a:t>间接成本 </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Indirect Costs</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机会成本 </a:t>
                      </a:r>
                      <a:endParaRPr lang="en-US" altLang="zh-CN"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Opportunity Cost</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沉默成本</a:t>
                      </a: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Sunk Cost</a:t>
                      </a:r>
                      <a:endParaRPr lang="zh-CN" altLang="en-US" sz="1600" b="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6.1.3 </a:t>
            </a:r>
            <a:r>
              <a:rPr lang="zh-CN" altLang="en-US" dirty="0"/>
              <a:t>成本估算过程</a:t>
            </a:r>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sp>
        <p:nvSpPr>
          <p:cNvPr id="10" name="内容占位符 9">
            <a:extLst>
              <a:ext uri="{FF2B5EF4-FFF2-40B4-BE49-F238E27FC236}">
                <a16:creationId xmlns:a16="http://schemas.microsoft.com/office/drawing/2014/main" id="{148280F3-95A2-B913-4ABB-F8BC0DEE21C0}"/>
              </a:ext>
            </a:extLst>
          </p:cNvPr>
          <p:cNvSpPr>
            <a:spLocks noGrp="1"/>
          </p:cNvSpPr>
          <p:nvPr>
            <p:ph idx="1"/>
          </p:nvPr>
        </p:nvSpPr>
        <p:spPr>
          <a:xfrm>
            <a:off x="696000" y="864000"/>
            <a:ext cx="10800000" cy="5400000"/>
          </a:xfrm>
        </p:spPr>
        <p:txBody>
          <a:bodyPr/>
          <a:lstStyle/>
          <a:p>
            <a:endParaRPr lang="zh-CN" altLang="en-US"/>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2081892784"/>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347589187"/>
              </p:ext>
            </p:extLst>
          </p:nvPr>
        </p:nvGraphicFramePr>
        <p:xfrm>
          <a:off x="3257215" y="1536477"/>
          <a:ext cx="5677571" cy="37850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13" name="内容占位符 12">
            <a:extLst>
              <a:ext uri="{FF2B5EF4-FFF2-40B4-BE49-F238E27FC236}">
                <a16:creationId xmlns:a16="http://schemas.microsoft.com/office/drawing/2014/main" id="{82B174BF-9B6F-67BF-FDED-CD0E9CEB007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503127672"/>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9677568"/>
                  </a:ext>
                </a:extLst>
              </a:tr>
              <a:tr h="220656">
                <a:tc>
                  <a:txBody>
                    <a:bodyPr/>
                    <a:lstStyle/>
                    <a:p>
                      <a:pPr>
                        <a:buNone/>
                      </a:pPr>
                      <a:r>
                        <a:rPr lang="zh-CN" altLang="en-US" sz="1600" dirty="0">
                          <a:solidFill>
                            <a:schemeClr val="bg1"/>
                          </a:solidFill>
                        </a:rPr>
                        <a:t>代码行估算法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LOC</a:t>
                      </a:r>
                      <a:r>
                        <a:rPr lang="zh-CN" altLang="en-US" sz="1600" dirty="0">
                          <a:solidFill>
                            <a:schemeClr val="bg1"/>
                          </a:solidFill>
                        </a:rPr>
                        <a:t>；</a:t>
                      </a:r>
                      <a:r>
                        <a:rPr lang="en-US" altLang="zh-CN" sz="1600" dirty="0">
                          <a:solidFill>
                            <a:schemeClr val="bg1"/>
                          </a:solidFill>
                        </a:rPr>
                        <a:t>Line of Code</a:t>
                      </a:r>
                      <a:r>
                        <a:rPr lang="zh-CN" altLang="en-US" sz="1600" dirty="0">
                          <a:solidFill>
                            <a:schemeClr val="bg1"/>
                          </a:solidFill>
                        </a:rPr>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功能点估算法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FP</a:t>
                      </a:r>
                      <a:r>
                        <a:rPr lang="zh-CN" altLang="en-US" sz="1600" dirty="0">
                          <a:solidFill>
                            <a:schemeClr val="bg1"/>
                          </a:solidFill>
                        </a:rPr>
                        <a:t>；</a:t>
                      </a:r>
                      <a:r>
                        <a:rPr lang="en-US" altLang="zh-CN" sz="1600" dirty="0">
                          <a:solidFill>
                            <a:schemeClr val="bg1"/>
                          </a:solidFill>
                        </a:rPr>
                        <a:t>Function Point</a:t>
                      </a:r>
                      <a:r>
                        <a:rPr lang="zh-CN" altLang="en-US" sz="1600" dirty="0">
                          <a:solidFill>
                            <a:schemeClr val="bg1"/>
                          </a:solidFill>
                        </a:rPr>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用例点估算法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UCP</a:t>
                      </a:r>
                      <a:r>
                        <a:rPr lang="zh-CN" altLang="en-US" sz="1600" dirty="0">
                          <a:solidFill>
                            <a:schemeClr val="bg1"/>
                          </a:solidFill>
                        </a:rPr>
                        <a:t>；</a:t>
                      </a:r>
                      <a:r>
                        <a:rPr lang="en-US" altLang="zh-CN" sz="1600" dirty="0">
                          <a:solidFill>
                            <a:schemeClr val="bg1"/>
                          </a:solidFill>
                        </a:rPr>
                        <a:t>User Case Point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solidFill>
                            <a:schemeClr val="bg1"/>
                          </a:solidFill>
                        </a:rPr>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Analogy Estimation</a:t>
                      </a:r>
                      <a:r>
                        <a:rPr lang="zh-CN" altLang="en-US" sz="1600" dirty="0">
                          <a:solidFill>
                            <a:schemeClr val="bg1"/>
                          </a:solidFill>
                        </a:rPr>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solidFill>
                            <a:schemeClr val="bg1"/>
                          </a:solidFill>
                        </a:rPr>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solidFill>
                            <a:schemeClr val="bg1"/>
                          </a:solidFill>
                        </a:rPr>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先估算每个工作包或活动的成本</a:t>
                      </a:r>
                      <a:r>
                        <a:rPr lang="en-US" altLang="zh-CN" sz="1600" dirty="0">
                          <a:solidFill>
                            <a:schemeClr val="bg1"/>
                          </a:solidFill>
                        </a:rPr>
                        <a:t>/</a:t>
                      </a:r>
                      <a:r>
                        <a:rPr lang="zh-CN" altLang="en-US" sz="1600" dirty="0">
                          <a:solidFill>
                            <a:schemeClr val="bg1"/>
                          </a:solidFill>
                        </a:rPr>
                        <a:t>工期，再</a:t>
                      </a:r>
                      <a:r>
                        <a:rPr lang="zh-CN" altLang="en-US" sz="1600" dirty="0">
                          <a:solidFill>
                            <a:srgbClr val="FFFF00"/>
                          </a:solidFill>
                        </a:rPr>
                        <a:t>汇总</a:t>
                      </a:r>
                      <a:r>
                        <a:rPr lang="zh-CN" altLang="en-US" sz="1600" dirty="0">
                          <a:solidFill>
                            <a:schemeClr val="bg1"/>
                          </a:solidFill>
                        </a:rPr>
                        <a:t>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solidFill>
                            <a:schemeClr val="bg1"/>
                          </a:solidFill>
                        </a:rPr>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比较多种技术或方案的成本</a:t>
                      </a:r>
                      <a:r>
                        <a:rPr lang="en-US" altLang="zh-CN" sz="1600" dirty="0">
                          <a:solidFill>
                            <a:schemeClr val="bg1"/>
                          </a:solidFill>
                        </a:rPr>
                        <a:t>/</a:t>
                      </a:r>
                      <a:r>
                        <a:rPr lang="zh-CN" altLang="en-US" sz="1600" dirty="0">
                          <a:solidFill>
                            <a:schemeClr val="bg1"/>
                          </a:solidFill>
                        </a:rPr>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solidFill>
                            <a:schemeClr val="bg1"/>
                          </a:solidFill>
                        </a:rPr>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a:solidFill>
                            <a:schemeClr val="bg1"/>
                          </a:solidFill>
                        </a:rPr>
                        <a:t>专家判断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a:solidFill>
                            <a:schemeClr val="bg1"/>
                          </a:solidFill>
                        </a:rPr>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使用乐观</a:t>
                      </a:r>
                      <a:r>
                        <a:rPr lang="en-US" altLang="zh-CN" sz="1600" dirty="0">
                          <a:solidFill>
                            <a:schemeClr val="bg1"/>
                          </a:solidFill>
                        </a:rPr>
                        <a:t>O</a:t>
                      </a:r>
                      <a:r>
                        <a:rPr lang="zh-CN" altLang="en-US" sz="1600" dirty="0">
                          <a:solidFill>
                            <a:schemeClr val="bg1"/>
                          </a:solidFill>
                        </a:rPr>
                        <a:t>、最可能</a:t>
                      </a:r>
                      <a:r>
                        <a:rPr lang="en-US" altLang="zh-CN" sz="1600" dirty="0">
                          <a:solidFill>
                            <a:schemeClr val="bg1"/>
                          </a:solidFill>
                        </a:rPr>
                        <a:t>M</a:t>
                      </a:r>
                      <a:r>
                        <a:rPr lang="zh-CN" altLang="en-US" sz="1600" dirty="0">
                          <a:solidFill>
                            <a:schemeClr val="bg1"/>
                          </a:solidFill>
                        </a:rPr>
                        <a:t>、悲观</a:t>
                      </a:r>
                      <a:r>
                        <a:rPr lang="en-US" altLang="zh-CN" sz="1600" dirty="0">
                          <a:solidFill>
                            <a:schemeClr val="bg1"/>
                          </a:solidFill>
                        </a:rPr>
                        <a:t>P</a:t>
                      </a:r>
                      <a:r>
                        <a:rPr lang="zh-CN" altLang="en-US" sz="1600" dirty="0">
                          <a:solidFill>
                            <a:schemeClr val="bg1"/>
                          </a:solidFill>
                        </a:rPr>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代码行估算法</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a:t>
            </a:r>
            <a:r>
              <a:rPr lang="zh-CN" altLang="en-US" dirty="0">
                <a:solidFill>
                  <a:srgbClr val="FFFF00"/>
                </a:solidFill>
              </a:rPr>
              <a:t>早期</a:t>
            </a:r>
            <a:r>
              <a:rPr lang="zh-CN" altLang="en-US" dirty="0"/>
              <a:t>（需求阶段）进行有效估算，也不便于跨项目对比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功能点估算法</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 name="组合 49">
            <a:extLst>
              <a:ext uri="{FF2B5EF4-FFF2-40B4-BE49-F238E27FC236}">
                <a16:creationId xmlns:a16="http://schemas.microsoft.com/office/drawing/2014/main" id="{F508AF58-D7D3-E18E-B478-977D7F3EE5A4}"/>
              </a:ext>
            </a:extLst>
          </p:cNvPr>
          <p:cNvGrpSpPr/>
          <p:nvPr/>
        </p:nvGrpSpPr>
        <p:grpSpPr>
          <a:xfrm>
            <a:off x="2070850" y="3873911"/>
            <a:ext cx="8050300" cy="1914191"/>
            <a:chOff x="2143779" y="1337186"/>
            <a:chExt cx="8050300" cy="1914191"/>
          </a:xfrm>
        </p:grpSpPr>
        <p:sp>
          <p:nvSpPr>
            <p:cNvPr id="5" name="矩形 4">
              <a:extLst>
                <a:ext uri="{FF2B5EF4-FFF2-40B4-BE49-F238E27FC236}">
                  <a16:creationId xmlns:a16="http://schemas.microsoft.com/office/drawing/2014/main" id="{B1834B05-A36B-61EB-5B1E-904F87122C29}"/>
                </a:ext>
              </a:extLst>
            </p:cNvPr>
            <p:cNvSpPr/>
            <p:nvPr/>
          </p:nvSpPr>
          <p:spPr>
            <a:xfrm>
              <a:off x="4168877" y="2251584"/>
              <a:ext cx="2880000" cy="999793"/>
            </a:xfrm>
            <a:prstGeom prst="rect">
              <a:avLst/>
            </a:prstGeom>
            <a:noFill/>
            <a:ln>
              <a:solidFill>
                <a:schemeClr val="bg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chemeClr val="bg1"/>
                  </a:solidFill>
                </a:rPr>
                <a:t>System</a:t>
              </a:r>
              <a:endParaRPr lang="zh-CN" altLang="en-US" sz="1400" dirty="0">
                <a:solidFill>
                  <a:schemeClr val="bg1"/>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5068877" y="1337186"/>
              <a:ext cx="108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User</a:t>
              </a:r>
              <a:endParaRPr lang="zh-CN" altLang="en-US" sz="1400" dirty="0">
                <a:solidFill>
                  <a:schemeClr val="bg1"/>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143779" y="2535171"/>
              <a:ext cx="1080000" cy="432619"/>
            </a:xfrm>
            <a:prstGeom prst="round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User</a:t>
              </a:r>
              <a:endParaRPr lang="zh-CN" altLang="en-US" sz="1400" dirty="0">
                <a:solidFill>
                  <a:schemeClr val="bg1"/>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80564" y="2240864"/>
              <a:ext cx="431529"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EI</a:t>
              </a:r>
              <a:endParaRPr lang="zh-CN" altLang="en-US" sz="1600" dirty="0">
                <a:solidFill>
                  <a:schemeClr val="bg1"/>
                </a:solidFill>
                <a:latin typeface="Roboto Mono Light" pitchFamily="2" charset="0"/>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480564" y="2912040"/>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EO</a:t>
              </a:r>
              <a:endParaRPr lang="zh-CN" altLang="en-US" sz="1600" dirty="0">
                <a:solidFill>
                  <a:schemeClr val="bg1"/>
                </a:solidFill>
                <a:latin typeface="Roboto Mono Light" pitchFamily="2" charset="0"/>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5018571" y="1841417"/>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EQ</a:t>
              </a:r>
              <a:endParaRPr lang="zh-CN" altLang="en-US" sz="1600" dirty="0">
                <a:solidFill>
                  <a:schemeClr val="bg1"/>
                </a:solidFill>
                <a:latin typeface="Roboto Mono Light" pitchFamily="2" charset="0"/>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608877" y="1769805"/>
              <a:ext cx="0" cy="481779"/>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528877" y="2643632"/>
              <a:ext cx="21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Interior logical file</a:t>
              </a:r>
              <a:endParaRPr lang="zh-CN" altLang="en-US" sz="1400" dirty="0">
                <a:solidFill>
                  <a:schemeClr val="bg1"/>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8034079" y="2535480"/>
              <a:ext cx="2160000" cy="432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External interface file</a:t>
              </a:r>
              <a:endParaRPr lang="zh-CN" altLang="en-US" sz="1400" dirty="0">
                <a:solidFill>
                  <a:schemeClr val="bg1"/>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340872" y="2240863"/>
              <a:ext cx="431528"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EQ</a:t>
              </a:r>
              <a:endParaRPr lang="zh-CN" altLang="en-US" sz="1600" dirty="0">
                <a:solidFill>
                  <a:schemeClr val="bg1"/>
                </a:solidFill>
                <a:latin typeface="Roboto Mono Light" pitchFamily="2" charset="0"/>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55724" y="2912039"/>
              <a:ext cx="801823" cy="338554"/>
            </a:xfrm>
            <a:prstGeom prst="rect">
              <a:avLst/>
            </a:prstGeom>
            <a:noFill/>
          </p:spPr>
          <p:txBody>
            <a:bodyPr wrap="none" rtlCol="0">
              <a:spAutoFit/>
            </a:bodyPr>
            <a:lstStyle/>
            <a:p>
              <a:pPr algn="ctr"/>
              <a:r>
                <a:rPr lang="en-US" altLang="zh-CN" sz="1600" dirty="0">
                  <a:solidFill>
                    <a:schemeClr val="bg1"/>
                  </a:solidFill>
                  <a:latin typeface="Roboto Mono Light" pitchFamily="2" charset="0"/>
                  <a:ea typeface="Roboto Mono Light" pitchFamily="2" charset="0"/>
                </a:rPr>
                <a:t>EI/EO</a:t>
              </a:r>
              <a:endParaRPr lang="zh-CN" altLang="en-US" sz="1600" dirty="0">
                <a:solidFill>
                  <a:schemeClr val="bg1"/>
                </a:solidFill>
                <a:latin typeface="Roboto Mono Light" pitchFamily="2" charset="0"/>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223779" y="2751481"/>
              <a:ext cx="945098"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7048877" y="2751480"/>
              <a:ext cx="985202" cy="1"/>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37" name="表格 36">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3173914893"/>
              </p:ext>
            </p:extLst>
          </p:nvPr>
        </p:nvGraphicFramePr>
        <p:xfrm>
          <a:off x="3396000" y="1519928"/>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EI</a:t>
                      </a:r>
                      <a:endParaRPr lang="zh-CN" altLang="en-US" sz="16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外部输入</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External Inputs</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EO</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外部输出 </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Outputs</a:t>
                      </a:r>
                      <a:endParaRPr lang="zh-CN" altLang="en-US" sz="16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EQ</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外部查询 </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Inquiry</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b="0" dirty="0">
                          <a:solidFill>
                            <a:schemeClr val="bg1"/>
                          </a:solidFill>
                        </a:rPr>
                        <a:t>ILF</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zh-CN" altLang="en-US" sz="1600" b="0" dirty="0">
                          <a:solidFill>
                            <a:schemeClr val="bg1"/>
                          </a:solidFill>
                        </a:rPr>
                        <a:t>内部逻辑文件</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Internal Logical Files</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b="0" dirty="0">
                          <a:solidFill>
                            <a:schemeClr val="bg1"/>
                          </a:solidFill>
                        </a:rPr>
                        <a:t>EIF</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外部接口文件</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lang="en-US" altLang="zh-CN" sz="1600" b="0" dirty="0">
                          <a:solidFill>
                            <a:schemeClr val="bg1"/>
                          </a:solidFill>
                        </a:rPr>
                        <a:t>External Interface Files</a:t>
                      </a:r>
                      <a:endParaRPr lang="zh-CN" altLang="en-US" sz="1600" b="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功能点估算法</a:t>
            </a:r>
          </a:p>
        </p:txBody>
      </p:sp>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lstStyle/>
          <a:p>
            <a:r>
              <a:rPr lang="zh-CN" altLang="en-US" dirty="0"/>
              <a:t>功能点</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49590321"/>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功能点估算法</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solidFill>
                  <a:schemeClr val="bg1"/>
                </a:solidFill>
                <a:uFill>
                  <a:solidFill>
                    <a:srgbClr val="FFFF00"/>
                  </a:solidFill>
                </a:uFill>
              </a:rPr>
              <a:t>IFPUG </a:t>
            </a:r>
            <a:r>
              <a:rPr lang="zh-CN" altLang="en-US" u="heavy" dirty="0">
                <a:solidFill>
                  <a:schemeClr val="bg1"/>
                </a:solidFill>
                <a:uFill>
                  <a:solidFill>
                    <a:srgbClr val="FFFF00"/>
                  </a:solidFill>
                </a:uFill>
              </a:rPr>
              <a:t>计算过程</a:t>
            </a:r>
            <a:endParaRPr lang="zh-CN" altLang="en-US" dirty="0">
              <a:solidFill>
                <a:schemeClr val="bg1"/>
              </a:solidFill>
            </a:endParaRPr>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 </m:t>
                      </m:r>
                    </m:oMath>
                  </m:oMathPara>
                </a14:m>
                <a:endParaRPr lang="zh-CN" altLang="en-US" sz="2000" dirty="0">
                  <a:solidFill>
                    <a:schemeClr val="bg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𝐹𝑃</m:t>
                      </m:r>
                      <m:r>
                        <a:rPr lang="en-US" altLang="zh-CN" sz="2000" b="0" i="1" smtClean="0">
                          <a:solidFill>
                            <a:schemeClr val="bg1"/>
                          </a:solidFill>
                          <a:latin typeface="Cambria Math" panose="02040503050406030204" pitchFamily="18" charset="0"/>
                        </a:rPr>
                        <m:t>=</m:t>
                      </m:r>
                      <m:r>
                        <a:rPr lang="en-US" altLang="zh-CN" sz="2000" b="0" i="1" smtClean="0">
                          <a:solidFill>
                            <a:schemeClr val="bg1"/>
                          </a:solidFill>
                          <a:latin typeface="Cambria Math" panose="02040503050406030204" pitchFamily="18" charset="0"/>
                        </a:rPr>
                        <m:t>𝑈𝐹𝐶</m:t>
                      </m:r>
                      <m:r>
                        <a:rPr lang="en-US" altLang="zh-CN" sz="2000" b="0" i="1" smtClean="0">
                          <a:solidFill>
                            <a:schemeClr val="bg1"/>
                          </a:solidFill>
                          <a:latin typeface="Cambria Math" panose="02040503050406030204" pitchFamily="18" charset="0"/>
                          <a:ea typeface="Cambria Math" panose="02040503050406030204" pitchFamily="18" charset="0"/>
                        </a:rPr>
                        <m:t>×</m:t>
                      </m:r>
                      <m:r>
                        <a:rPr lang="en-US" altLang="zh-CN" sz="2000" b="0" i="1" smtClean="0">
                          <a:solidFill>
                            <a:schemeClr val="bg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bg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solidFill>
                  <a:schemeClr val="bg1"/>
                </a:solidFill>
              </a:rPr>
              <a:t>1. UFC </a:t>
            </a:r>
            <a:r>
              <a:rPr lang="zh-CN" altLang="en-US" sz="1600" dirty="0">
                <a:solidFill>
                  <a:schemeClr val="bg1"/>
                </a:solidFill>
              </a:rPr>
              <a:t>计数</a:t>
            </a:r>
            <a:endParaRPr lang="en-US" altLang="zh-CN" sz="1600" dirty="0">
              <a:solidFill>
                <a:schemeClr val="bg1"/>
              </a:solidFill>
            </a:endParaRPr>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1630575" cy="338554"/>
          </a:xfrm>
          <a:prstGeom prst="rect">
            <a:avLst/>
          </a:prstGeom>
          <a:noFill/>
        </p:spPr>
        <p:txBody>
          <a:bodyPr wrap="none" rtlCol="0">
            <a:spAutoFit/>
          </a:bodyPr>
          <a:lstStyle/>
          <a:p>
            <a:r>
              <a:rPr lang="en-US" altLang="zh-CN" sz="1600" dirty="0">
                <a:solidFill>
                  <a:schemeClr val="bg1"/>
                </a:solidFill>
              </a:rPr>
              <a:t>2. </a:t>
            </a:r>
            <a:r>
              <a:rPr lang="zh-CN" altLang="en-US" sz="1600" dirty="0">
                <a:solidFill>
                  <a:schemeClr val="bg1"/>
                </a:solidFill>
              </a:rPr>
              <a:t>定级：高中低</a:t>
            </a:r>
            <a:endParaRPr lang="en-US" altLang="zh-CN" sz="1600" dirty="0">
              <a:solidFill>
                <a:schemeClr val="bg1"/>
              </a:solidFill>
            </a:endParaRPr>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solidFill>
                  <a:schemeClr val="bg1"/>
                </a:solidFill>
              </a:rPr>
              <a:t>3. TCF </a:t>
            </a:r>
            <a:r>
              <a:rPr lang="zh-CN" altLang="en-US" sz="1600" dirty="0">
                <a:solidFill>
                  <a:schemeClr val="bg1"/>
                </a:solidFill>
              </a:rPr>
              <a:t>调整</a:t>
            </a:r>
            <a:endParaRPr lang="en-US" altLang="zh-CN" sz="1600" dirty="0">
              <a:solidFill>
                <a:schemeClr val="bg1"/>
              </a:solidFill>
            </a:endParaRPr>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solidFill>
                  <a:schemeClr val="bg1"/>
                </a:solidFill>
              </a:rPr>
              <a:t>4. </a:t>
            </a:r>
            <a:r>
              <a:rPr lang="zh-CN" altLang="en-US" sz="1600" dirty="0">
                <a:solidFill>
                  <a:schemeClr val="bg1"/>
                </a:solidFill>
              </a:rPr>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303041" y="3603445"/>
            <a:ext cx="8787746"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bg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solidFill>
                  <a:schemeClr val="bg1"/>
                </a:solidFill>
              </a:rPr>
              <a:t>(F</a:t>
            </a:r>
            <a:r>
              <a:rPr lang="zh-CN" altLang="en-US" sz="1400" i="1" dirty="0">
                <a:solidFill>
                  <a:schemeClr val="bg1"/>
                </a:solidFill>
              </a:rPr>
              <a:t>是每个通用系统特性的影响程度</a:t>
            </a:r>
            <a:r>
              <a:rPr lang="en-US" altLang="zh-CN" sz="1400" i="1" dirty="0">
                <a:solidFill>
                  <a:schemeClr val="bg1"/>
                </a:solidFill>
              </a:rPr>
              <a:t>)</a:t>
            </a:r>
            <a:endParaRPr lang="zh-CN" altLang="en-US" sz="1400" i="1" dirty="0">
              <a:solidFill>
                <a:schemeClr val="bg1"/>
              </a:solidFill>
            </a:endParaRPr>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4252103692"/>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__×3=</a:t>
                      </a:r>
                      <a:r>
                        <a:rPr lang="en-US" altLang="zh-CN" sz="1400" b="0" u="none" dirty="0">
                          <a:solidFill>
                            <a:schemeClr val="bg1"/>
                          </a:solidFill>
                        </a:rPr>
                        <a:t> __</a:t>
                      </a:r>
                      <a:endParaRPr lang="zh-CN" altLang="en-US" sz="1400" b="0" u="sng" baseline="0" dirty="0">
                        <a:solidFill>
                          <a:schemeClr val="bg1"/>
                        </a:solidFill>
                        <a:uFill>
                          <a:solidFill>
                            <a:schemeClr val="bg1"/>
                          </a:solidFill>
                        </a:u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__×6= __</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__×5=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__×3=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__×4=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__×6= __</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__×5=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__×10=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__×7=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__×10=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__×15= __</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527938906"/>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b="0" dirty="0">
                          <a:solidFill>
                            <a:schemeClr val="bg1"/>
                          </a:solidFill>
                        </a:rPr>
                        <a:t>各类计数项</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b="0" dirty="0">
                          <a:solidFill>
                            <a:schemeClr val="bg1"/>
                          </a:solidFill>
                        </a:rPr>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6</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4</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5</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9</a:t>
                      </a: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solidFill>
                  <a:schemeClr val="bg1"/>
                </a:solidFill>
              </a:rPr>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solidFill>
                  <a:schemeClr val="bg1"/>
                </a:solidFill>
              </a:rPr>
              <a:t>假设所有的技术复杂度因子均为</a:t>
            </a:r>
            <a:r>
              <a:rPr lang="en-US" altLang="zh-CN" sz="1600" dirty="0">
                <a:solidFill>
                  <a:schemeClr val="bg1"/>
                </a:solidFill>
              </a:rPr>
              <a:t>3</a:t>
            </a:r>
            <a:r>
              <a:rPr lang="zh-CN" altLang="en-US" sz="1600" dirty="0">
                <a:solidFill>
                  <a:schemeClr val="bg1"/>
                </a:solidFill>
              </a:rPr>
              <a:t>，求 </a:t>
            </a:r>
            <a:r>
              <a:rPr lang="en-US" altLang="zh-CN" sz="1600" dirty="0">
                <a:solidFill>
                  <a:schemeClr val="bg1"/>
                </a:solidFill>
              </a:rPr>
              <a:t>FP</a:t>
            </a:r>
            <a:endParaRPr lang="zh-CN" altLang="en-US" sz="1600" dirty="0">
              <a:solidFill>
                <a:schemeClr val="bg1"/>
              </a:solidFill>
            </a:endParaRPr>
          </a:p>
        </p:txBody>
      </p:sp>
    </p:spTree>
    <p:extLst>
      <p:ext uri="{BB962C8B-B14F-4D97-AF65-F5344CB8AC3E}">
        <p14:creationId xmlns:p14="http://schemas.microsoft.com/office/powerpoint/2010/main" val="4196526438"/>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67540343"/>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b="0" dirty="0">
                          <a:solidFill>
                            <a:schemeClr val="bg1"/>
                          </a:solidFill>
                        </a:rPr>
                        <a:t>各类计数项</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b="0" dirty="0">
                          <a:solidFill>
                            <a:schemeClr val="bg1"/>
                          </a:solidFill>
                        </a:rPr>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6</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7</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4</a:t>
                      </a: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5</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3</a:t>
                      </a:r>
                      <a:endParaRPr lang="zh-CN" altLang="en-US" sz="1400" b="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9</a:t>
                      </a: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0</a:t>
                      </a: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bg1"/>
                          </a:solidFill>
                        </a:rPr>
                        <a:t>2</a:t>
                      </a: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1609460190"/>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solidFill>
                  <a:srgbClr val="FFFF00"/>
                </a:solidFill>
              </a:rPr>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=0.65</m:t>
                      </m:r>
                      <m:r>
                        <a:rPr lang="en-US" altLang="zh-CN" sz="2000" b="0" i="1" smtClean="0">
                          <a:solidFill>
                            <a:schemeClr val="bg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bg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1106788795"/>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solidFill>
                  <a:srgbClr val="FFFF00"/>
                </a:solidFill>
              </a:rPr>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𝑇𝐶𝐹</m:t>
                      </m:r>
                      <m:r>
                        <a:rPr lang="en-US" altLang="zh-CN" sz="2000" b="0" i="1" smtClean="0">
                          <a:solidFill>
                            <a:schemeClr val="bg1"/>
                          </a:solidFill>
                          <a:latin typeface="Cambria Math" panose="02040503050406030204" pitchFamily="18" charset="0"/>
                        </a:rPr>
                        <m:t>=0.65×0.01×</m:t>
                      </m:r>
                      <m:nary>
                        <m:naryPr>
                          <m:chr m:val="∑"/>
                          <m:ctrlPr>
                            <a:rPr lang="en-US" altLang="zh-CN" sz="2000" b="0" i="1" smtClean="0">
                              <a:solidFill>
                                <a:schemeClr val="bg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bg1"/>
                              </a:solidFill>
                              <a:latin typeface="Cambria Math" panose="02040503050406030204" pitchFamily="18" charset="0"/>
                              <a:ea typeface="Cambria Math" panose="02040503050406030204" pitchFamily="18" charset="0"/>
                            </a:rPr>
                            <m:t>i</m:t>
                          </m:r>
                          <m:r>
                            <a:rPr lang="en-US" altLang="zh-CN" sz="2000" b="0" i="1" smtClean="0">
                              <a:solidFill>
                                <a:schemeClr val="bg1"/>
                              </a:solidFill>
                              <a:latin typeface="Cambria Math" panose="02040503050406030204" pitchFamily="18" charset="0"/>
                              <a:ea typeface="Cambria Math" panose="02040503050406030204" pitchFamily="18" charset="0"/>
                            </a:rPr>
                            <m:t>=1</m:t>
                          </m:r>
                        </m:sub>
                        <m:sup>
                          <m:r>
                            <a:rPr lang="en-US" altLang="zh-CN" sz="2000" b="0" i="1" smtClean="0">
                              <a:solidFill>
                                <a:schemeClr val="bg1"/>
                              </a:solidFill>
                              <a:latin typeface="Cambria Math" panose="02040503050406030204" pitchFamily="18" charset="0"/>
                              <a:ea typeface="Cambria Math" panose="02040503050406030204" pitchFamily="18" charset="0"/>
                            </a:rPr>
                            <m:t>14</m:t>
                          </m:r>
                        </m:sup>
                        <m:e>
                          <m:r>
                            <a:rPr lang="en-US" altLang="zh-CN" sz="2000" b="0" i="1" smtClean="0">
                              <a:solidFill>
                                <a:schemeClr val="bg1"/>
                              </a:solidFill>
                              <a:latin typeface="Cambria Math" panose="02040503050406030204" pitchFamily="18" charset="0"/>
                              <a:ea typeface="Cambria Math" panose="02040503050406030204" pitchFamily="18" charset="0"/>
                            </a:rPr>
                            <m:t>𝐹𝑖</m:t>
                          </m:r>
                        </m:e>
                      </m:nary>
                      <m:r>
                        <a:rPr lang="en-US" altLang="zh-CN" sz="2000" b="0" i="1" smtClean="0">
                          <a:solidFill>
                            <a:schemeClr val="bg1"/>
                          </a:solidFill>
                          <a:latin typeface="Cambria Math" panose="02040503050406030204" pitchFamily="18" charset="0"/>
                        </a:rPr>
                        <m:t>=0.65</m:t>
                      </m:r>
                      <m:r>
                        <a:rPr lang="en-US" altLang="zh-CN" sz="2000" b="0" i="1" smtClean="0">
                          <a:solidFill>
                            <a:schemeClr val="bg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bg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solidFill>
                  <a:srgbClr val="FFFF00"/>
                </a:solidFill>
              </a:rPr>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bg1"/>
                          </a:solidFill>
                          <a:latin typeface="Cambria Math" panose="02040503050406030204" pitchFamily="18" charset="0"/>
                        </a:rPr>
                        <m:t>𝐹𝑃</m:t>
                      </m:r>
                      <m:r>
                        <a:rPr lang="en-US" altLang="zh-CN" sz="2000" b="0" i="1" smtClean="0">
                          <a:solidFill>
                            <a:schemeClr val="bg1"/>
                          </a:solidFill>
                          <a:latin typeface="Cambria Math" panose="02040503050406030204" pitchFamily="18" charset="0"/>
                        </a:rPr>
                        <m:t>=</m:t>
                      </m:r>
                      <m:r>
                        <a:rPr lang="en-US" altLang="zh-CN" sz="2000" b="0" i="1" smtClean="0">
                          <a:solidFill>
                            <a:schemeClr val="bg1"/>
                          </a:solidFill>
                          <a:latin typeface="Cambria Math" panose="02040503050406030204" pitchFamily="18" charset="0"/>
                        </a:rPr>
                        <m:t>𝑈𝐹𝐶</m:t>
                      </m:r>
                      <m:r>
                        <a:rPr lang="en-US" altLang="zh-CN" sz="2000" b="0" i="1" smtClean="0">
                          <a:solidFill>
                            <a:schemeClr val="bg1"/>
                          </a:solidFill>
                          <a:latin typeface="Cambria Math" panose="02040503050406030204" pitchFamily="18" charset="0"/>
                          <a:ea typeface="Cambria Math" panose="02040503050406030204" pitchFamily="18" charset="0"/>
                        </a:rPr>
                        <m:t>×</m:t>
                      </m:r>
                      <m:r>
                        <a:rPr lang="en-US" altLang="zh-CN" sz="2000" b="0" i="1" smtClean="0">
                          <a:solidFill>
                            <a:schemeClr val="bg1"/>
                          </a:solidFill>
                          <a:latin typeface="Cambria Math" panose="02040503050406030204" pitchFamily="18" charset="0"/>
                          <a:ea typeface="Cambria Math" panose="02040503050406030204" pitchFamily="18" charset="0"/>
                        </a:rPr>
                        <m:t>𝑇𝐶𝐹</m:t>
                      </m:r>
                      <m:r>
                        <a:rPr lang="en-US" altLang="zh-CN" sz="2000" b="0" i="1" smtClean="0">
                          <a:solidFill>
                            <a:schemeClr val="bg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bg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2324074078"/>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rgbClr val="FFFF00"/>
                          </a:solidFill>
                        </a:rPr>
                        <a:t>1. UFC</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b="0" dirty="0">
                          <a:solidFill>
                            <a:schemeClr val="bg1"/>
                          </a:solidFill>
                        </a:rPr>
                        <a:t>组件类型</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b="0" dirty="0">
                          <a:solidFill>
                            <a:schemeClr val="bg1"/>
                          </a:solidFill>
                        </a:rPr>
                        <a:t>组件复杂度</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简单</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一般</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复杂</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0" dirty="0">
                          <a:solidFill>
                            <a:schemeClr val="bg1"/>
                          </a:solidFill>
                        </a:rPr>
                        <a:t>全部</a:t>
                      </a:r>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b="0" dirty="0">
                          <a:solidFill>
                            <a:schemeClr val="bg1"/>
                          </a:solidFill>
                        </a:rPr>
                        <a:t>外部输入</a:t>
                      </a: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a:t>
                      </a:r>
                      <a:r>
                        <a:rPr lang="en-US" altLang="zh-CN" sz="1400" b="0" dirty="0">
                          <a:solidFill>
                            <a:schemeClr val="bg1"/>
                          </a:solidFill>
                        </a:rPr>
                        <a:t>×3=</a:t>
                      </a:r>
                      <a:r>
                        <a:rPr lang="en-US" altLang="zh-CN" sz="1400" b="0" u="none" dirty="0">
                          <a:solidFill>
                            <a:schemeClr val="bg1"/>
                          </a:solidFill>
                        </a:rPr>
                        <a:t> </a:t>
                      </a:r>
                      <a:r>
                        <a:rPr lang="en-US" altLang="zh-CN" sz="1400" b="0" u="none" dirty="0">
                          <a:solidFill>
                            <a:srgbClr val="FFFF00"/>
                          </a:solidFill>
                        </a:rPr>
                        <a:t>18</a:t>
                      </a:r>
                      <a:endParaRPr lang="zh-CN" altLang="en-US" sz="1400" b="0" u="sng" baseline="0" dirty="0">
                        <a:solidFill>
                          <a:srgbClr val="FFFF00"/>
                        </a:solidFill>
                        <a:uFill>
                          <a:solidFill>
                            <a:schemeClr val="bg1"/>
                          </a:solidFill>
                        </a:u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18</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44</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b="0" dirty="0">
                          <a:solidFill>
                            <a:schemeClr val="bg1"/>
                          </a:solidFill>
                        </a:rPr>
                        <a:t>外部输出</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7</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35</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63</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b="0" dirty="0">
                          <a:solidFill>
                            <a:schemeClr val="bg1"/>
                          </a:solidFill>
                        </a:rPr>
                        <a:t>外部查询</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×3=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×4=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8</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4</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×6=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24</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32</a:t>
                      </a:r>
                      <a:endParaRPr lang="zh-CN" altLang="en-US" sz="14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b="0" dirty="0">
                          <a:solidFill>
                            <a:schemeClr val="bg1"/>
                          </a:solidFill>
                        </a:rPr>
                        <a:t>外部接口文件</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5</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25</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14</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69</a:t>
                      </a:r>
                      <a:endParaRPr lang="zh-CN" altLang="en-US" sz="1400" b="0" dirty="0">
                        <a:solidFill>
                          <a:srgbClr val="FFFF00"/>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b="0" dirty="0">
                          <a:solidFill>
                            <a:schemeClr val="bg1"/>
                          </a:solidFill>
                        </a:rPr>
                        <a:t>内部逻辑文件</a:t>
                      </a: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9</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×7=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63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×10=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2</a:t>
                      </a:r>
                      <a:r>
                        <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rPr>
                        <a:t>×15= </a:t>
                      </a:r>
                      <a:r>
                        <a:rPr kumimoji="0" lang="en-US" altLang="zh-CN" sz="1400" b="0" i="0" u="none" strike="noStrike" kern="1200" cap="none" spc="0" normalizeH="0" baseline="0" noProof="0" dirty="0">
                          <a:ln>
                            <a:noFill/>
                          </a:ln>
                          <a:solidFill>
                            <a:srgbClr val="FFFF00"/>
                          </a:solidFill>
                          <a:effectLst/>
                          <a:uLnTx/>
                          <a:uFillTx/>
                          <a:latin typeface="Montserrat"/>
                          <a:ea typeface="微软雅黑 Light"/>
                          <a:cs typeface="+mn-cs"/>
                        </a:rPr>
                        <a:t>30</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93</a:t>
                      </a:r>
                      <a:endParaRPr lang="zh-CN" altLang="en-US" sz="1400" b="0" dirty="0">
                        <a:solidFill>
                          <a:srgbClr val="FFFF00"/>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zh-CN" altLang="en-US" sz="1400" b="0" dirty="0">
                          <a:solidFill>
                            <a:srgbClr val="FFFF00"/>
                          </a:solidFill>
                        </a:rPr>
                        <a:t>合计</a:t>
                      </a: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altLang="zh-CN" sz="1400" b="0" dirty="0">
                          <a:solidFill>
                            <a:srgbClr val="FFFF00"/>
                          </a:solidFill>
                        </a:rPr>
                        <a:t>301</a:t>
                      </a:r>
                      <a:endParaRPr lang="zh-CN" altLang="en-US" sz="14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a:t>
            </a:r>
            <a:r>
              <a:rPr lang="en-US" altLang="zh-CN" dirty="0"/>
              <a:t>COSMIC</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434505990"/>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IFPUG</a:t>
                      </a:r>
                      <a:endParaRPr lang="zh-CN" altLang="en-US" sz="1600" b="0" dirty="0">
                        <a:solidFill>
                          <a:srgbClr val="FFFF00"/>
                        </a:solidFill>
                      </a:endParaRP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传统权威，适合成熟项目</a:t>
                      </a:r>
                      <a:endParaRPr lang="zh-CN" altLang="en-US" sz="1600" b="0" dirty="0"/>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r>
                        <a:rPr lang="en-US" altLang="zh-CN" sz="1600" b="0" dirty="0">
                          <a:solidFill>
                            <a:srgbClr val="FFFF00"/>
                          </a:solidFill>
                        </a:rPr>
                        <a:t>NESMA</a:t>
                      </a:r>
                      <a:endParaRPr lang="zh-CN" altLang="en-US" sz="1600"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dirty="0">
                          <a:solidFill>
                            <a:schemeClr val="bg1"/>
                          </a:solidFill>
                        </a:rPr>
                        <a:t>IFPUG </a:t>
                      </a:r>
                      <a:r>
                        <a:rPr lang="zh-CN" altLang="en-US" sz="1600" b="0" dirty="0">
                          <a:solidFill>
                            <a:schemeClr val="bg1"/>
                          </a:solidFill>
                        </a:rPr>
                        <a:t>的轻量版，适合快速估算</a:t>
                      </a:r>
                      <a:endParaRPr lang="zh-CN" altLang="en-US" sz="1600" b="0" dirty="0"/>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r>
                        <a:rPr lang="en-US" altLang="zh-CN" sz="1600" b="0" dirty="0">
                          <a:solidFill>
                            <a:srgbClr val="FFFF00"/>
                          </a:solidFill>
                        </a:rPr>
                        <a:t>COSMIC</a:t>
                      </a:r>
                      <a:endParaRPr lang="zh-CN" altLang="en-US" sz="1600"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dirty="0">
                          <a:solidFill>
                            <a:schemeClr val="bg1"/>
                          </a:solidFill>
                        </a:rPr>
                        <a:t>现代通用型，适合复杂或非传统软件</a:t>
                      </a:r>
                      <a:endParaRPr lang="zh-CN" altLang="en-US" sz="1600" b="0" dirty="0"/>
                    </a:p>
                  </a:txBody>
                  <a:tcPr>
                    <a:lnL w="12700" cmpd="sng">
                      <a:noFill/>
                    </a:lnL>
                    <a:lnR w="12700" cmpd="sng">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t>6.2.3 </a:t>
            </a:r>
            <a:r>
              <a:rPr lang="zh-CN" altLang="en-US" dirty="0"/>
              <a:t>用例点估算法</a:t>
            </a:r>
            <a:r>
              <a:rPr lang="en-US" altLang="zh-CN" dirty="0"/>
              <a:t> </a:t>
            </a:r>
            <a:endParaRPr lang="zh-CN" altLang="en-US" dirty="0"/>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359237817"/>
              </p:ext>
            </p:extLst>
          </p:nvPr>
        </p:nvGraphicFramePr>
        <p:xfrm>
          <a:off x="1956000" y="2390457"/>
          <a:ext cx="8280000" cy="2346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600" b="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82248223"/>
                  </a:ext>
                </a:extLst>
              </a:tr>
              <a:tr h="0">
                <a:tc>
                  <a:txBody>
                    <a:bodyPr/>
                    <a:lstStyle/>
                    <a:p>
                      <a:pPr algn="ctr"/>
                      <a:r>
                        <a:rPr lang="en-US" altLang="zh-CN" sz="1600" b="0" dirty="0">
                          <a:solidFill>
                            <a:schemeClr val="bg1"/>
                          </a:solidFill>
                        </a:rPr>
                        <a:t>1</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bg1"/>
                          </a:solidFill>
                        </a:rPr>
                        <a:t>UAW</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未调整的角色加权，</a:t>
                      </a:r>
                      <a:r>
                        <a:rPr lang="en-US" altLang="zh-CN" sz="1600" b="0" dirty="0">
                          <a:solidFill>
                            <a:schemeClr val="bg1"/>
                          </a:solidFill>
                        </a:rPr>
                        <a:t>Unadjusted Actor Weight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UUCW</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未调整的用例加权，</a:t>
                      </a:r>
                      <a:r>
                        <a:rPr lang="en-US" altLang="zh-CN" sz="1600" dirty="0">
                          <a:solidFill>
                            <a:schemeClr val="bg1"/>
                          </a:solidFill>
                        </a:rPr>
                        <a:t>Unadjusted Use Case Weight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UUCP</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未调整的用例点，</a:t>
                      </a:r>
                      <a:r>
                        <a:rPr lang="en-US" altLang="zh-CN" sz="1600" dirty="0">
                          <a:solidFill>
                            <a:schemeClr val="bg1"/>
                          </a:solidFill>
                        </a:rPr>
                        <a:t>Unadjusted Use Case Point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600" b="0" dirty="0">
                          <a:solidFill>
                            <a:schemeClr val="bg1"/>
                          </a:solidFill>
                        </a:rPr>
                        <a:t>4</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TEF</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技术因子和环境因子，</a:t>
                      </a:r>
                      <a:r>
                        <a:rPr lang="en-US" altLang="zh-CN" sz="1600" dirty="0">
                          <a:solidFill>
                            <a:schemeClr val="bg1"/>
                          </a:solidFill>
                        </a:rPr>
                        <a:t>Technical and Environment Fator</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dirty="0">
                          <a:solidFill>
                            <a:schemeClr val="bg1"/>
                          </a:solidFill>
                        </a:rPr>
                        <a:t>UCP</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600" dirty="0">
                          <a:solidFill>
                            <a:schemeClr val="bg1"/>
                          </a:solidFill>
                        </a:rPr>
                        <a:t>用例点</a:t>
                      </a:r>
                      <a:r>
                        <a:rPr lang="en-US" altLang="zh-CN" sz="1600" dirty="0">
                          <a:solidFill>
                            <a:schemeClr val="bg1"/>
                          </a:solidFill>
                        </a:rPr>
                        <a:t> Use Case Point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600" b="0" dirty="0">
                          <a:solidFill>
                            <a:schemeClr val="bg1"/>
                          </a:solidFill>
                        </a:rPr>
                        <a:t>6</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600" b="0" dirty="0">
                          <a:solidFill>
                            <a:schemeClr val="bg1"/>
                          </a:solidFill>
                        </a:rPr>
                        <a:t>Effort</a:t>
                      </a:r>
                      <a:endParaRPr lang="zh-CN" altLang="en-US" sz="1600" b="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bg1"/>
                          </a:solidFill>
                        </a:rPr>
                        <a:t>工作量，配合生成因子 </a:t>
                      </a:r>
                      <a:r>
                        <a:rPr lang="en-US" altLang="zh-CN" sz="1600" b="0" dirty="0">
                          <a:solidFill>
                            <a:schemeClr val="bg1"/>
                          </a:solidFill>
                        </a:rPr>
                        <a:t>Productivity Factor </a:t>
                      </a:r>
                      <a:r>
                        <a:rPr lang="zh-CN" altLang="en-US" sz="1600" b="0" dirty="0">
                          <a:solidFill>
                            <a:schemeClr val="bg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18875809"/>
              </p:ext>
            </p:extLst>
          </p:nvPr>
        </p:nvGraphicFramePr>
        <p:xfrm>
          <a:off x="3216000" y="1406013"/>
          <a:ext cx="5760000" cy="201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1. UAW </a:t>
                      </a:r>
                      <a:r>
                        <a:rPr lang="zh-CN" altLang="en-US" sz="1600" b="0" dirty="0">
                          <a:solidFill>
                            <a:schemeClr val="bg1"/>
                          </a:solidFill>
                        </a:rPr>
                        <a:t>未调整的角色加权</a:t>
                      </a:r>
                      <a:endParaRPr lang="en-US" altLang="zh-CN"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600" b="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UAW</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213852">
                <a:tc>
                  <a:txBody>
                    <a:bodyPr/>
                    <a:lstStyle/>
                    <a:p>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Simple</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1×2</a:t>
                      </a:r>
                      <a:endParaRPr lang="zh-CN" altLang="en-US" sz="16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Average</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4</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2×4</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Complex</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3×5</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600" b="0" dirty="0">
                          <a:solidFill>
                            <a:schemeClr val="bg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25</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4104900559"/>
              </p:ext>
            </p:extLst>
          </p:nvPr>
        </p:nvGraphicFramePr>
        <p:xfrm>
          <a:off x="3216000" y="3741175"/>
          <a:ext cx="5760000" cy="201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2. UUCW </a:t>
                      </a:r>
                      <a:r>
                        <a:rPr lang="zh-CN" altLang="en-US" sz="1600" b="0" dirty="0">
                          <a:solidFill>
                            <a:schemeClr val="bg1"/>
                          </a:solidFill>
                        </a:rPr>
                        <a:t>未调整的用例加权</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600" b="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UUCW</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600" b="0" dirty="0">
                          <a:solidFill>
                            <a:schemeClr val="bg1"/>
                          </a:solidFill>
                        </a:rPr>
                        <a:t>1</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Simple</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5</a:t>
                      </a:r>
                      <a:endParaRPr lang="zh-CN" altLang="en-US" sz="1600" b="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5×5</a:t>
                      </a:r>
                      <a:endParaRPr lang="zh-CN" altLang="en-US" sz="1600" b="0" dirty="0">
                        <a:solidFill>
                          <a:srgbClr val="FFFF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Average</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10</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10×2</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Complex</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3</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15×3</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600" b="0" dirty="0">
                          <a:solidFill>
                            <a:schemeClr val="bg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rgbClr val="FFFF00"/>
                          </a:solidFill>
                        </a:rPr>
                        <a:t>90</a:t>
                      </a: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2988445327"/>
              </p:ext>
            </p:extLst>
          </p:nvPr>
        </p:nvGraphicFramePr>
        <p:xfrm>
          <a:off x="3216000" y="727586"/>
          <a:ext cx="3960000" cy="13411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3. UUCP </a:t>
                      </a:r>
                      <a:r>
                        <a:rPr lang="zh-CN" altLang="en-US" sz="1600" b="0" dirty="0">
                          <a:solidFill>
                            <a:schemeClr val="bg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600" b="0" dirty="0">
                          <a:solidFill>
                            <a:schemeClr val="bg1"/>
                          </a:solidFill>
                        </a:rPr>
                        <a:t>UUCP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UAW</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UUCW</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25</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90</a:t>
                      </a:r>
                      <a:endParaRPr lang="zh-CN" altLang="en-US" sz="1600" b="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115</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3468082853"/>
              </p:ext>
            </p:extLst>
          </p:nvPr>
        </p:nvGraphicFramePr>
        <p:xfrm>
          <a:off x="3216000" y="3598524"/>
          <a:ext cx="5112000" cy="1005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5. UCP </a:t>
                      </a:r>
                      <a:r>
                        <a:rPr lang="zh-CN" altLang="en-US" sz="1600" b="0" dirty="0">
                          <a:solidFill>
                            <a:schemeClr val="bg1"/>
                          </a:solidFill>
                        </a:rPr>
                        <a:t>用例点</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600" b="0" dirty="0">
                          <a:solidFill>
                            <a:schemeClr val="bg1"/>
                          </a:solidFill>
                        </a:rPr>
                        <a:t>UCP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UUCP</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TCF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ECF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3626422057"/>
              </p:ext>
            </p:extLst>
          </p:nvPr>
        </p:nvGraphicFramePr>
        <p:xfrm>
          <a:off x="3216000" y="4866354"/>
          <a:ext cx="3960000" cy="6705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rgbClr val="FFFF00"/>
                          </a:solidFill>
                        </a:rPr>
                        <a:t>6.  Effort </a:t>
                      </a:r>
                      <a:r>
                        <a:rPr lang="zh-CN" altLang="en-US" sz="1600" dirty="0">
                          <a:solidFill>
                            <a:schemeClr val="bg1"/>
                          </a:solidFill>
                        </a:rPr>
                        <a:t>工作量</a:t>
                      </a:r>
                      <a:endParaRPr lang="en-US" altLang="zh-CN" sz="160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600" b="0" dirty="0">
                          <a:solidFill>
                            <a:schemeClr val="bg1"/>
                          </a:solidFill>
                        </a:rPr>
                        <a:t>工作量</a:t>
                      </a:r>
                      <a:r>
                        <a:rPr lang="en-US" altLang="zh-CN" sz="1600" b="0" dirty="0">
                          <a:solidFill>
                            <a:schemeClr val="bg1"/>
                          </a:solidFill>
                        </a:rPr>
                        <a:t>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UCP</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PF</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491995971"/>
              </p:ext>
            </p:extLst>
          </p:nvPr>
        </p:nvGraphicFramePr>
        <p:xfrm>
          <a:off x="3216000" y="2330695"/>
          <a:ext cx="5400000" cy="1005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4. TEF </a:t>
                      </a:r>
                      <a:r>
                        <a:rPr lang="zh-CN" altLang="en-US" sz="1600" b="0" dirty="0">
                          <a:solidFill>
                            <a:schemeClr val="bg1"/>
                          </a:solidFill>
                        </a:rPr>
                        <a:t>技术因子和环境因子</a:t>
                      </a:r>
                      <a:endParaRPr lang="en-US" altLang="zh-CN" sz="1600" b="0" dirty="0">
                        <a:solidFill>
                          <a:srgbClr val="FFFF00"/>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600" b="0" dirty="0">
                          <a:solidFill>
                            <a:schemeClr val="bg1"/>
                          </a:solidFill>
                        </a:rPr>
                        <a:t>TCF </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600" b="0" dirty="0">
                          <a:solidFill>
                            <a:schemeClr val="bg1"/>
                          </a:solidFill>
                        </a:rPr>
                        <a:t>ECF</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600" b="0" dirty="0">
                          <a:solidFill>
                            <a:schemeClr val="bg1"/>
                          </a:solidFill>
                        </a:rPr>
                        <a:t>=</a:t>
                      </a: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600" b="0" dirty="0">
                        <a:solidFill>
                          <a:srgbClr val="FFFF00"/>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类比估算法</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endParaRPr lang="en-US" altLang="zh-CN" dirty="0"/>
          </a:p>
          <a:p>
            <a:pPr lvl="1"/>
            <a:endParaRPr lang="en-US" altLang="zh-CN" dirty="0"/>
          </a:p>
          <a:p>
            <a:endParaRPr lang="zh-CN" altLang="en-US" dirty="0"/>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自下而上估算法</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2426396762"/>
              </p:ext>
            </p:extLst>
          </p:nvPr>
        </p:nvGraphicFramePr>
        <p:xfrm>
          <a:off x="1956000" y="2135953"/>
          <a:ext cx="8280000" cy="258609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600" dirty="0">
                          <a:solidFill>
                            <a:schemeClr val="bg1"/>
                          </a:solidFill>
                        </a:rPr>
                        <a:t>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人力配置</a:t>
                      </a:r>
                      <a:r>
                        <a:rPr lang="en-US" altLang="zh-CN" sz="1600" dirty="0">
                          <a:solidFill>
                            <a:schemeClr val="bg1"/>
                          </a:solidFill>
                        </a:rPr>
                        <a:t>(</a:t>
                      </a:r>
                      <a:r>
                        <a:rPr lang="en-US" sz="1600" dirty="0">
                          <a:solidFill>
                            <a:schemeClr val="bg1"/>
                          </a:solidFill>
                        </a:rPr>
                        <a:t>M:D:Q:S)</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时间 </a:t>
                      </a:r>
                      <a:r>
                        <a:rPr lang="en-US" altLang="zh-CN" sz="1600" dirty="0">
                          <a:solidFill>
                            <a:schemeClr val="bg1"/>
                          </a:solidFill>
                        </a:rPr>
                        <a:t>(</a:t>
                      </a:r>
                      <a:r>
                        <a:rPr lang="zh-CN" altLang="en-US" sz="1600" dirty="0">
                          <a:solidFill>
                            <a:schemeClr val="bg1"/>
                          </a:solidFill>
                        </a:rPr>
                        <a:t>月</a:t>
                      </a: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成本 </a:t>
                      </a:r>
                      <a:r>
                        <a:rPr lang="en-US" altLang="zh-CN" sz="1600" dirty="0">
                          <a:solidFill>
                            <a:schemeClr val="bg1"/>
                          </a:solidFill>
                        </a:rPr>
                        <a:t>(</a:t>
                      </a:r>
                      <a:r>
                        <a:rPr lang="zh-CN" altLang="en-US" sz="1600" dirty="0">
                          <a:solidFill>
                            <a:schemeClr val="bg1"/>
                          </a:solidFill>
                        </a:rPr>
                        <a:t>万</a:t>
                      </a: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zh-CN" altLang="en-US" sz="1600" dirty="0">
                          <a:solidFill>
                            <a:schemeClr val="bg1"/>
                          </a:solidFill>
                        </a:rPr>
                        <a:t>合计</a:t>
                      </a:r>
                      <a:r>
                        <a:rPr lang="en-US" altLang="zh-CN" sz="1600" dirty="0">
                          <a:solidFill>
                            <a:schemeClr val="bg1"/>
                          </a:solidFill>
                        </a:rPr>
                        <a:t>/</a:t>
                      </a:r>
                      <a:r>
                        <a:rPr lang="zh-CN" altLang="en-US" sz="1600" dirty="0">
                          <a:solidFill>
                            <a:schemeClr val="bg1"/>
                          </a:solidFill>
                        </a:rPr>
                        <a:t>万</a:t>
                      </a: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600" dirty="0">
                          <a:solidFill>
                            <a:schemeClr val="bg1"/>
                          </a:solidFill>
                        </a:rPr>
                        <a:t>项目准备阶段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M:2/D:8/Q:1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0.5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16.5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rowSpan="3">
                  <a:txBody>
                    <a:bodyPr/>
                    <a:lstStyle/>
                    <a:p>
                      <a:pPr algn="ctr">
                        <a:buNone/>
                      </a:pPr>
                      <a:r>
                        <a:rPr lang="en-US" altLang="zh-CN" sz="1600" dirty="0">
                          <a:solidFill>
                            <a:schemeClr val="bg1"/>
                          </a:solidFill>
                        </a:rPr>
                        <a:t>145.5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600" dirty="0">
                          <a:solidFill>
                            <a:schemeClr val="bg1"/>
                          </a:solidFill>
                        </a:rPr>
                        <a:t>项目设计阶段</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M:2/D:8/Q:2/S:1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39</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600" dirty="0">
                          <a:solidFill>
                            <a:schemeClr val="bg1"/>
                          </a:solidFill>
                        </a:rPr>
                        <a:t>基础模块开发</a:t>
                      </a:r>
                    </a:p>
                    <a:p>
                      <a:pPr marL="171450" indent="-171450" algn="l">
                        <a:buFont typeface="Arial" panose="020B0604020202020204" pitchFamily="34" charset="0"/>
                        <a:buChar char="•"/>
                      </a:pPr>
                      <a:r>
                        <a:rPr lang="zh-CN" altLang="en-US" sz="1600" dirty="0">
                          <a:solidFill>
                            <a:schemeClr val="bg1"/>
                          </a:solidFill>
                        </a:rPr>
                        <a:t>公共控制子系统</a:t>
                      </a:r>
                    </a:p>
                    <a:p>
                      <a:pPr marL="171450" indent="-171450" algn="l">
                        <a:buFont typeface="Arial" panose="020B0604020202020204" pitchFamily="34" charset="0"/>
                        <a:buChar char="•"/>
                      </a:pPr>
                      <a:r>
                        <a:rPr lang="zh-CN" altLang="en-US" sz="1600" dirty="0">
                          <a:solidFill>
                            <a:schemeClr val="bg1"/>
                          </a:solidFill>
                        </a:rPr>
                        <a:t>中央会计子系统</a:t>
                      </a:r>
                    </a:p>
                    <a:p>
                      <a:pPr marL="171450" indent="-171450" algn="l">
                        <a:buFont typeface="Arial" panose="020B0604020202020204" pitchFamily="34" charset="0"/>
                        <a:buChar char="•"/>
                      </a:pPr>
                      <a:r>
                        <a:rPr lang="zh-CN" altLang="en-US" sz="1600" dirty="0">
                          <a:solidFill>
                            <a:schemeClr val="bg1"/>
                          </a:solidFill>
                        </a:rPr>
                        <a:t>客户信息子系统</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M:2/D:15/Q:2/S:1</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1.5</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90</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600" dirty="0">
                          <a:solidFill>
                            <a:schemeClr val="bg1"/>
                          </a:solidFill>
                        </a:rPr>
                        <a:t>…</a:t>
                      </a:r>
                      <a:endParaRPr lang="zh-CN" altLang="en-US"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600" dirty="0">
                          <a:solidFill>
                            <a:schemeClr val="bg1"/>
                          </a:solidFill>
                        </a:rPr>
                        <a:t>总计</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gridSpan="4">
                  <a:txBody>
                    <a:bodyPr/>
                    <a:lstStyle/>
                    <a:p>
                      <a:pPr algn="ctr">
                        <a:buNone/>
                      </a:pPr>
                      <a:r>
                        <a:rPr lang="en-US" altLang="zh-CN" sz="1600" dirty="0">
                          <a:solidFill>
                            <a:schemeClr val="bg1"/>
                          </a:solidFill>
                        </a:rPr>
                        <a:t>…</a:t>
                      </a: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solidFill>
                  <a:schemeClr val="bg1"/>
                </a:solidFill>
              </a:rPr>
              <a:t>M: Manager</a:t>
            </a:r>
          </a:p>
          <a:p>
            <a:pPr algn="r"/>
            <a:r>
              <a:rPr lang="en-US" altLang="zh-CN" sz="1400" dirty="0">
                <a:solidFill>
                  <a:schemeClr val="bg1"/>
                </a:solidFill>
              </a:rPr>
              <a:t>D: Developer</a:t>
            </a:r>
          </a:p>
          <a:p>
            <a:pPr algn="r"/>
            <a:r>
              <a:rPr lang="en-US" altLang="zh-CN" sz="1400" dirty="0">
                <a:solidFill>
                  <a:schemeClr val="bg1"/>
                </a:solidFill>
              </a:rPr>
              <a:t>Q: Quality Assurance</a:t>
            </a:r>
          </a:p>
          <a:p>
            <a:pPr algn="r"/>
            <a:r>
              <a:rPr lang="en-US" altLang="zh-CN" sz="1400" dirty="0">
                <a:solidFill>
                  <a:schemeClr val="bg1"/>
                </a:solidFill>
              </a:rPr>
              <a:t>S: System Architect / Senior</a:t>
            </a:r>
            <a:endParaRPr lang="zh-CN" altLang="en-US" sz="1400" dirty="0">
              <a:solidFill>
                <a:schemeClr val="bg1"/>
              </a:solidFill>
            </a:endParaRPr>
          </a:p>
        </p:txBody>
      </p:sp>
    </p:spTree>
    <p:extLst>
      <p:ext uri="{BB962C8B-B14F-4D97-AF65-F5344CB8AC3E}">
        <p14:creationId xmlns:p14="http://schemas.microsoft.com/office/powerpoint/2010/main" val="423348802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a:t>6.2.6 </a:t>
            </a:r>
            <a:r>
              <a:rPr lang="zh-CN" altLang="en-US"/>
              <a:t>三点估算</a:t>
            </a:r>
            <a:endParaRPr lang="zh-CN" altLang="en-US" dirty="0"/>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a:t>聚焦项目的不确定性和风险</a:t>
            </a:r>
            <a:endParaRPr lang="en-US" altLang="zh-CN"/>
          </a:p>
          <a:p>
            <a:r>
              <a:rPr lang="zh-CN" altLang="en-US"/>
              <a:t>基于对同一任务在三种不同情景下的成本预测</a:t>
            </a:r>
            <a:endParaRPr lang="en-US" altLang="zh-CN"/>
          </a:p>
          <a:p>
            <a:pPr lvl="1"/>
            <a:r>
              <a:rPr lang="zh-CN" altLang="en-US"/>
              <a:t>最可能成本 </a:t>
            </a:r>
            <a:r>
              <a:rPr lang="en-US" altLang="zh-CN"/>
              <a:t>C</a:t>
            </a:r>
            <a:r>
              <a:rPr lang="en-US" altLang="zh-CN" baseline="-25000"/>
              <a:t>M</a:t>
            </a:r>
            <a:r>
              <a:rPr lang="zh-CN" altLang="en-US"/>
              <a:t>：</a:t>
            </a:r>
            <a:r>
              <a:rPr lang="en-US" altLang="zh-CN"/>
              <a:t>Most Likely</a:t>
            </a:r>
            <a:r>
              <a:rPr lang="zh-CN" altLang="en-US"/>
              <a:t>；比较现实的估算成本；正常、现实条件下的预期成本</a:t>
            </a:r>
          </a:p>
          <a:p>
            <a:pPr lvl="1"/>
            <a:r>
              <a:rPr lang="zh-CN" altLang="en-US"/>
              <a:t>最乐观成本 </a:t>
            </a:r>
            <a:r>
              <a:rPr lang="en-US" altLang="zh-CN"/>
              <a:t>C</a:t>
            </a:r>
            <a:r>
              <a:rPr lang="en-US" altLang="zh-CN" baseline="-25000"/>
              <a:t>O</a:t>
            </a:r>
            <a:r>
              <a:rPr lang="zh-CN" altLang="en-US"/>
              <a:t>：</a:t>
            </a:r>
            <a:r>
              <a:rPr lang="en-US" altLang="zh-CN"/>
              <a:t>Optimistic</a:t>
            </a:r>
            <a:r>
              <a:rPr lang="zh-CN" altLang="en-US"/>
              <a:t>；最好情况的估算成本；一切顺利、无风险情况下的最低成本</a:t>
            </a:r>
          </a:p>
          <a:p>
            <a:pPr lvl="1"/>
            <a:r>
              <a:rPr lang="zh-CN" altLang="en-US"/>
              <a:t>最悲观成本 </a:t>
            </a:r>
            <a:r>
              <a:rPr lang="en-US" altLang="zh-CN"/>
              <a:t>C</a:t>
            </a:r>
            <a:r>
              <a:rPr lang="en-US" altLang="zh-CN" baseline="-25000"/>
              <a:t>P</a:t>
            </a:r>
            <a:r>
              <a:rPr lang="zh-CN" altLang="en-US"/>
              <a:t>：</a:t>
            </a:r>
            <a:r>
              <a:rPr lang="en-US" altLang="zh-CN"/>
              <a:t>Pessimistic</a:t>
            </a:r>
            <a:r>
              <a:rPr lang="zh-CN" altLang="en-US"/>
              <a:t>；最差情况的估算成本；遇到最大困难、风险全发情况下的最高成本</a:t>
            </a:r>
            <a:endParaRPr lang="en-US" altLang="zh-CN"/>
          </a:p>
          <a:p>
            <a:r>
              <a:rPr lang="zh-CN" altLang="en-US"/>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370195842"/>
              </p:ext>
            </p:extLst>
          </p:nvPr>
        </p:nvGraphicFramePr>
        <p:xfrm>
          <a:off x="3080774" y="31657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bg1"/>
                          </a:solidFill>
                        </a:rPr>
                        <a:t>三角分布</a:t>
                      </a:r>
                      <a:endParaRPr lang="zh-CN" altLang="en-US"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pl-PL" altLang="zh-CN" sz="2400" b="0" baseline="-25000" dirty="0">
                          <a:solidFill>
                            <a:schemeClr val="bg1"/>
                          </a:solidFill>
                        </a:rPr>
                        <a:t>E</a:t>
                      </a:r>
                      <a:r>
                        <a:rPr lang="pl-PL"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M</a:t>
                      </a:r>
                      <a:r>
                        <a:rPr lang="pl-PL" altLang="zh-CN" sz="2400" b="0" dirty="0">
                          <a:solidFill>
                            <a:schemeClr val="bg1"/>
                          </a:solidFill>
                        </a:rPr>
                        <a:t> </a:t>
                      </a:r>
                      <a:r>
                        <a:rPr lang="zh-CN" altLang="en-US" sz="2400" b="0" dirty="0">
                          <a:solidFill>
                            <a:schemeClr val="bg1"/>
                          </a:solidFill>
                        </a:rPr>
                        <a:t> </a:t>
                      </a:r>
                      <a:r>
                        <a:rPr lang="pl-PL" altLang="zh-CN"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P</a:t>
                      </a:r>
                      <a:r>
                        <a:rPr lang="pl-PL" altLang="zh-CN" sz="2400" b="0" dirty="0">
                          <a:solidFill>
                            <a:schemeClr val="bg1"/>
                          </a:solidFill>
                        </a:rPr>
                        <a:t>) / 3</a:t>
                      </a:r>
                      <a:endParaRPr lang="zh-CN" altLang="en-US" sz="24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bg1"/>
                          </a:solidFill>
                        </a:rPr>
                        <a:t>贝塔分布</a:t>
                      </a:r>
                      <a:endParaRPr lang="zh-CN" altLang="en-US"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bg1"/>
                          </a:solidFill>
                        </a:rPr>
                        <a:t>C</a:t>
                      </a:r>
                      <a:r>
                        <a:rPr lang="en-US" altLang="zh-CN" sz="2400" b="0" baseline="-25000" dirty="0">
                          <a:solidFill>
                            <a:schemeClr val="bg1"/>
                          </a:solidFill>
                        </a:rPr>
                        <a:t>E</a:t>
                      </a:r>
                      <a:r>
                        <a:rPr lang="en-US" altLang="zh-CN" sz="2400" b="0" dirty="0">
                          <a:solidFill>
                            <a:schemeClr val="bg1"/>
                          </a:solidFill>
                        </a:rPr>
                        <a:t> = (</a:t>
                      </a:r>
                      <a:r>
                        <a:rPr lang="zh-CN" altLang="en-US" sz="2400" b="0" dirty="0">
                          <a:solidFill>
                            <a:schemeClr val="bg1"/>
                          </a:solidFill>
                        </a:rPr>
                        <a:t> </a:t>
                      </a:r>
                      <a:r>
                        <a:rPr lang="en-US" altLang="zh-CN" sz="2400" b="0" dirty="0">
                          <a:solidFill>
                            <a:schemeClr val="bg1"/>
                          </a:solidFill>
                        </a:rPr>
                        <a:t> C</a:t>
                      </a:r>
                      <a:r>
                        <a:rPr lang="en-US" altLang="zh-CN" sz="2400" b="0" baseline="-25000" dirty="0">
                          <a:solidFill>
                            <a:schemeClr val="bg1"/>
                          </a:solidFill>
                        </a:rPr>
                        <a:t>O</a:t>
                      </a:r>
                      <a:r>
                        <a:rPr lang="en-US" altLang="zh-CN" sz="2400" b="0" dirty="0">
                          <a:solidFill>
                            <a:schemeClr val="bg1"/>
                          </a:solidFill>
                        </a:rPr>
                        <a:t> + 4 C</a:t>
                      </a:r>
                      <a:r>
                        <a:rPr lang="en-US" altLang="zh-CN" sz="2400" b="0" baseline="-25000" dirty="0">
                          <a:solidFill>
                            <a:schemeClr val="bg1"/>
                          </a:solidFill>
                        </a:rPr>
                        <a:t>M</a:t>
                      </a:r>
                      <a:r>
                        <a:rPr lang="en-US" altLang="zh-CN" sz="2400" b="0" dirty="0">
                          <a:solidFill>
                            <a:schemeClr val="bg1"/>
                          </a:solidFill>
                        </a:rPr>
                        <a:t> + C</a:t>
                      </a:r>
                      <a:r>
                        <a:rPr lang="en-US" altLang="zh-CN" sz="2400" b="0" baseline="-25000" dirty="0">
                          <a:solidFill>
                            <a:schemeClr val="bg1"/>
                          </a:solidFill>
                        </a:rPr>
                        <a:t>P</a:t>
                      </a:r>
                      <a:r>
                        <a:rPr lang="en-US" altLang="zh-CN" sz="2400" b="0" dirty="0">
                          <a:solidFill>
                            <a:schemeClr val="bg1"/>
                          </a:solidFill>
                        </a:rPr>
                        <a:t>) / 6</a:t>
                      </a:r>
                      <a:endParaRPr lang="zh-CN" altLang="en-US" sz="2400" b="0" dirty="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参数估算法</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专家估算法</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a:t>
            </a:r>
            <a:r>
              <a:rPr lang="zh-CN" altLang="en-US" dirty="0">
                <a:solidFill>
                  <a:srgbClr val="FFFF00"/>
                </a:solidFill>
              </a:rPr>
              <a:t>独立</a:t>
            </a:r>
            <a:r>
              <a:rPr lang="zh-CN" altLang="en-US" dirty="0"/>
              <a:t>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a:t>
            </a:r>
            <a:r>
              <a:rPr lang="zh-CN" altLang="en-US" dirty="0">
                <a:solidFill>
                  <a:srgbClr val="FFFF00"/>
                </a:solidFill>
              </a:rPr>
              <a:t>匿名</a:t>
            </a:r>
            <a:r>
              <a:rPr lang="zh-CN" altLang="en-US" dirty="0"/>
              <a:t>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专家估算法</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104959536"/>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dirty="0">
                          <a:solidFill>
                            <a:srgbClr val="FFFF00"/>
                          </a:solidFill>
                        </a:rPr>
                        <a:t>Round 1</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600" b="0" dirty="0">
                          <a:solidFill>
                            <a:schemeClr val="bg1"/>
                          </a:solidFill>
                        </a:rPr>
                        <a:t>专家</a:t>
                      </a: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O</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M</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b="0" dirty="0">
                          <a:solidFill>
                            <a:schemeClr val="bg1"/>
                          </a:solidFill>
                        </a:rPr>
                        <a:t>C</a:t>
                      </a:r>
                      <a:r>
                        <a:rPr lang="en-US" altLang="zh-CN" sz="1600" b="0" baseline="-25000" dirty="0">
                          <a:solidFill>
                            <a:schemeClr val="bg1"/>
                          </a:solidFill>
                        </a:rPr>
                        <a:t>P</a:t>
                      </a:r>
                      <a:endParaRPr lang="en-US" sz="1600" b="0" baseline="-25000" dirty="0">
                        <a:solidFill>
                          <a:schemeClr val="bg1"/>
                        </a:solidFill>
                      </a:endParaRPr>
                    </a:p>
                  </a:txBody>
                  <a:tcPr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600" b="0" dirty="0">
                          <a:solidFill>
                            <a:schemeClr val="bg1"/>
                          </a:solidFill>
                        </a:rPr>
                        <a:t>专家</a:t>
                      </a:r>
                      <a:r>
                        <a:rPr lang="en-US" altLang="zh-CN" sz="1600" b="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dirty="0">
                          <a:solidFill>
                            <a:schemeClr val="bg1"/>
                          </a:solidFill>
                        </a:rPr>
                        <a:t>600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a:solidFill>
                            <a:schemeClr val="bg1"/>
                          </a:solidFill>
                        </a:rPr>
                        <a:t>800</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b="0">
                          <a:solidFill>
                            <a:schemeClr val="bg1"/>
                          </a:solidFill>
                        </a:rPr>
                        <a:t>1200</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973779920"/>
                  </a:ext>
                </a:extLst>
              </a:tr>
              <a:tr h="365760">
                <a:tc>
                  <a:txBody>
                    <a:bodyPr/>
                    <a:lstStyle/>
                    <a:p>
                      <a:pPr algn="l">
                        <a:buNone/>
                      </a:pPr>
                      <a:r>
                        <a:rPr lang="zh-CN" altLang="en-US" sz="1600" b="0">
                          <a:solidFill>
                            <a:schemeClr val="bg1"/>
                          </a:solidFill>
                        </a:rPr>
                        <a:t>专家</a:t>
                      </a:r>
                      <a:r>
                        <a:rPr lang="en-US" altLang="zh-CN" sz="1600" b="0">
                          <a:solidFill>
                            <a:schemeClr val="bg1"/>
                          </a:solidFill>
                        </a:rPr>
                        <a:t>2</a:t>
                      </a:r>
                    </a:p>
                  </a:txBody>
                  <a:tcPr anchor="ctr">
                    <a:lnL>
                      <a:noFill/>
                    </a:lnL>
                    <a:lnR>
                      <a:noFill/>
                    </a:lnR>
                    <a:lnT>
                      <a:noFill/>
                    </a:lnT>
                    <a:lnB>
                      <a:noFill/>
                    </a:lnB>
                    <a:noFill/>
                  </a:tcPr>
                </a:tc>
                <a:tc>
                  <a:txBody>
                    <a:bodyPr/>
                    <a:lstStyle/>
                    <a:p>
                      <a:pPr algn="l">
                        <a:buNone/>
                      </a:pPr>
                      <a:r>
                        <a:rPr lang="en-US" altLang="zh-CN" sz="1600" b="0">
                          <a:solidFill>
                            <a:schemeClr val="bg1"/>
                          </a:solidFill>
                        </a:rPr>
                        <a:t>700</a:t>
                      </a:r>
                    </a:p>
                  </a:txBody>
                  <a:tcPr anchor="ctr">
                    <a:lnL>
                      <a:noFill/>
                    </a:lnL>
                    <a:lnR>
                      <a:noFill/>
                    </a:lnR>
                    <a:lnT>
                      <a:noFill/>
                    </a:lnT>
                    <a:lnB>
                      <a:noFill/>
                    </a:lnB>
                    <a:noFill/>
                  </a:tcPr>
                </a:tc>
                <a:tc>
                  <a:txBody>
                    <a:bodyPr/>
                    <a:lstStyle/>
                    <a:p>
                      <a:pPr algn="l">
                        <a:buNone/>
                      </a:pPr>
                      <a:r>
                        <a:rPr lang="en-US" altLang="zh-CN" sz="1600" b="0">
                          <a:solidFill>
                            <a:schemeClr val="bg1"/>
                          </a:solidFill>
                        </a:rPr>
                        <a:t>900</a:t>
                      </a:r>
                    </a:p>
                  </a:txBody>
                  <a:tcPr anchor="ctr">
                    <a:lnL>
                      <a:noFill/>
                    </a:lnL>
                    <a:lnR>
                      <a:noFill/>
                    </a:lnR>
                    <a:lnT>
                      <a:noFill/>
                    </a:lnT>
                    <a:lnB>
                      <a:noFill/>
                    </a:lnB>
                    <a:noFill/>
                  </a:tcPr>
                </a:tc>
                <a:tc>
                  <a:txBody>
                    <a:bodyPr/>
                    <a:lstStyle/>
                    <a:p>
                      <a:pPr algn="l">
                        <a:buNone/>
                      </a:pPr>
                      <a:r>
                        <a:rPr lang="en-US" altLang="zh-CN" sz="1600" b="0">
                          <a:solidFill>
                            <a:schemeClr val="bg1"/>
                          </a:solidFill>
                        </a:rPr>
                        <a:t>1500</a:t>
                      </a:r>
                    </a:p>
                  </a:txBody>
                  <a:tcPr anchor="ctr">
                    <a:lnL>
                      <a:noFill/>
                    </a:lnL>
                    <a:lnR>
                      <a:noFill/>
                    </a:lnR>
                    <a:lnT>
                      <a:noFill/>
                    </a:lnT>
                    <a:lnB>
                      <a:noFill/>
                    </a:lnB>
                    <a:noFill/>
                  </a:tcPr>
                </a:tc>
                <a:extLst>
                  <a:ext uri="{0D108BD9-81ED-4DB2-BD59-A6C34878D82A}">
                    <a16:rowId xmlns:a16="http://schemas.microsoft.com/office/drawing/2014/main" val="2005151521"/>
                  </a:ext>
                </a:extLst>
              </a:tr>
              <a:tr h="365760">
                <a:tc>
                  <a:txBody>
                    <a:bodyPr/>
                    <a:lstStyle/>
                    <a:p>
                      <a:pPr algn="l">
                        <a:buNone/>
                      </a:pPr>
                      <a:r>
                        <a:rPr lang="zh-CN" altLang="en-US" sz="1600" b="0">
                          <a:solidFill>
                            <a:schemeClr val="bg1"/>
                          </a:solidFill>
                        </a:rPr>
                        <a:t>专家</a:t>
                      </a:r>
                      <a:r>
                        <a:rPr lang="en-US" altLang="zh-CN" sz="1600" b="0">
                          <a:solidFill>
                            <a:schemeClr val="bg1"/>
                          </a:solidFill>
                        </a:rPr>
                        <a:t>3</a:t>
                      </a:r>
                    </a:p>
                  </a:txBody>
                  <a:tcPr anchor="ctr">
                    <a:lnL>
                      <a:noFill/>
                    </a:lnL>
                    <a:lnR>
                      <a:noFill/>
                    </a:lnR>
                    <a:lnT>
                      <a:noFill/>
                    </a:lnT>
                    <a:lnB>
                      <a:noFill/>
                    </a:lnB>
                    <a:noFill/>
                  </a:tcPr>
                </a:tc>
                <a:tc>
                  <a:txBody>
                    <a:bodyPr/>
                    <a:lstStyle/>
                    <a:p>
                      <a:pPr algn="l">
                        <a:buNone/>
                      </a:pPr>
                      <a:r>
                        <a:rPr lang="en-US" altLang="zh-CN" sz="1600" b="0">
                          <a:solidFill>
                            <a:schemeClr val="bg1"/>
                          </a:solidFill>
                        </a:rPr>
                        <a:t>500</a:t>
                      </a:r>
                    </a:p>
                  </a:txBody>
                  <a:tcPr anchor="ctr">
                    <a:lnL>
                      <a:noFill/>
                    </a:lnL>
                    <a:lnR>
                      <a:noFill/>
                    </a:lnR>
                    <a:lnT>
                      <a:noFill/>
                    </a:lnT>
                    <a:lnB>
                      <a:noFill/>
                    </a:lnB>
                    <a:noFill/>
                  </a:tcPr>
                </a:tc>
                <a:tc>
                  <a:txBody>
                    <a:bodyPr/>
                    <a:lstStyle/>
                    <a:p>
                      <a:pPr algn="l">
                        <a:buNone/>
                      </a:pPr>
                      <a:r>
                        <a:rPr lang="en-US" altLang="zh-CN" sz="1600" b="0">
                          <a:solidFill>
                            <a:schemeClr val="bg1"/>
                          </a:solidFill>
                        </a:rPr>
                        <a:t>700</a:t>
                      </a:r>
                    </a:p>
                  </a:txBody>
                  <a:tcPr anchor="ctr">
                    <a:lnL>
                      <a:noFill/>
                    </a:lnL>
                    <a:lnR>
                      <a:noFill/>
                    </a:lnR>
                    <a:lnT>
                      <a:noFill/>
                    </a:lnT>
                    <a:lnB>
                      <a:noFill/>
                    </a:lnB>
                    <a:noFill/>
                  </a:tcPr>
                </a:tc>
                <a:tc>
                  <a:txBody>
                    <a:bodyPr/>
                    <a:lstStyle/>
                    <a:p>
                      <a:pPr algn="l">
                        <a:buNone/>
                      </a:pPr>
                      <a:r>
                        <a:rPr lang="en-US" altLang="zh-CN" sz="1600" b="0" dirty="0">
                          <a:solidFill>
                            <a:schemeClr val="bg1"/>
                          </a:solidFill>
                        </a:rPr>
                        <a:t>1000</a:t>
                      </a:r>
                    </a:p>
                  </a:txBody>
                  <a:tcPr anchor="ctr">
                    <a:lnL>
                      <a:noFill/>
                    </a:lnL>
                    <a:lnR>
                      <a:noFill/>
                    </a:lnR>
                    <a:lnT>
                      <a:noFill/>
                    </a:lnT>
                    <a:lnB>
                      <a:noFill/>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695998"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a:t>
            </a:r>
            <a:r>
              <a:rPr lang="zh-CN" altLang="en-US" dirty="0">
                <a:solidFill>
                  <a:srgbClr val="FFFF00"/>
                </a:solidFill>
              </a:rPr>
              <a:t>相对</a:t>
            </a:r>
            <a:r>
              <a:rPr lang="zh-CN" altLang="en-US" dirty="0"/>
              <a:t>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a:t>
            </a:r>
            <a:r>
              <a:rPr lang="zh-CN" altLang="en-US" dirty="0"/>
              <a:t>估算为 </a:t>
            </a:r>
            <a:r>
              <a:rPr lang="en-US" altLang="zh-CN" dirty="0"/>
              <a:t>1 </a:t>
            </a:r>
            <a:r>
              <a:rPr lang="zh-CN" altLang="en-US" dirty="0"/>
              <a:t>故事点</a:t>
            </a:r>
            <a:endParaRPr lang="en-US" altLang="zh-CN" dirty="0"/>
          </a:p>
          <a:p>
            <a:pPr lvl="1"/>
            <a:r>
              <a:rPr lang="en-US" altLang="zh-CN" dirty="0"/>
              <a:t>B</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a:t>
            </a:r>
            <a:r>
              <a:rPr lang="en-US" altLang="zh-CN" dirty="0"/>
              <a:t>2</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695998"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常用的标准</a:t>
            </a:r>
            <a:endParaRPr lang="en-US" altLang="zh-CN" dirty="0"/>
          </a:p>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a:t>
            </a:r>
            <a:r>
              <a:rPr lang="zh-CN" altLang="en-US" dirty="0"/>
              <a:t>和</a:t>
            </a:r>
            <a:r>
              <a:rPr lang="en-US" altLang="zh-CN" dirty="0"/>
              <a:t>100</a:t>
            </a:r>
          </a:p>
          <a:p>
            <a:r>
              <a:rPr lang="zh-CN" altLang="en-US" dirty="0"/>
              <a:t>一般不超过 </a:t>
            </a:r>
            <a:r>
              <a:rPr lang="en-US" altLang="zh-CN" dirty="0">
                <a:solidFill>
                  <a:srgbClr val="FFFF00"/>
                </a:solidFill>
              </a:rPr>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31539057"/>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b="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b="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0495986"/>
                  </a:ext>
                </a:extLst>
              </a:tr>
              <a:tr h="370840">
                <a:tc>
                  <a:txBody>
                    <a:bodyPr/>
                    <a:lstStyle/>
                    <a:p>
                      <a:r>
                        <a:rPr lang="en-US" altLang="zh-CN" b="0" dirty="0">
                          <a:solidFill>
                            <a:schemeClr val="bg1"/>
                          </a:solidFill>
                        </a:rPr>
                        <a:t>Fibonacci</a:t>
                      </a:r>
                      <a:endParaRPr lang="zh-CN" altLang="en-US" b="0" dirty="0">
                        <a:solidFill>
                          <a:schemeClr val="bg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b="0" dirty="0">
                          <a:solidFill>
                            <a:schemeClr val="bg1"/>
                          </a:solidFill>
                        </a:rPr>
                        <a:t>0 1 2 3 5 8 </a:t>
                      </a:r>
                      <a:r>
                        <a:rPr lang="en-US" altLang="zh-CN" b="0" dirty="0">
                          <a:solidFill>
                            <a:srgbClr val="FFFF00"/>
                          </a:solidFill>
                        </a:rPr>
                        <a:t>13</a:t>
                      </a:r>
                      <a:endParaRPr lang="zh-CN" altLang="en-US" b="0" dirty="0">
                        <a:solidFill>
                          <a:srgbClr val="FFFF00"/>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b="0" dirty="0">
                          <a:solidFill>
                            <a:schemeClr val="bg1"/>
                          </a:solidFill>
                        </a:rPr>
                        <a:t>2</a:t>
                      </a:r>
                      <a:r>
                        <a:rPr lang="en-US" altLang="zh-CN" b="0" baseline="30000" dirty="0">
                          <a:solidFill>
                            <a:schemeClr val="bg1"/>
                          </a:solidFill>
                        </a:rPr>
                        <a:t>n</a:t>
                      </a:r>
                      <a:endParaRPr lang="zh-CN" altLang="en-US" b="0" baseline="3000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b="0" dirty="0">
                          <a:solidFill>
                            <a:schemeClr val="bg1"/>
                          </a:solidFill>
                        </a:rPr>
                        <a:t>0 1 2 4 8 16 32 64 128 256 512</a:t>
                      </a:r>
                      <a:endParaRPr lang="zh-CN" altLang="en-US"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Start </a:t>
            </a:r>
            <a:endParaRPr lang="zh-CN" altLang="en-US" sz="1400" dirty="0">
              <a:solidFill>
                <a:schemeClr val="bg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选择预估为</a:t>
            </a:r>
            <a:r>
              <a:rPr lang="en-US" altLang="zh-CN" sz="1400" dirty="0">
                <a:solidFill>
                  <a:srgbClr val="FFFF00"/>
                </a:solidFill>
              </a:rPr>
              <a:t>3</a:t>
            </a:r>
            <a:r>
              <a:rPr lang="zh-CN" altLang="en-US" sz="1400" dirty="0">
                <a:solidFill>
                  <a:schemeClr val="bg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5</a:t>
            </a:r>
            <a:endParaRPr lang="zh-CN" altLang="en-US" sz="1400" dirty="0">
              <a:solidFill>
                <a:srgbClr val="FFFF00"/>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2</a:t>
            </a:r>
            <a:endParaRPr lang="zh-CN" altLang="en-US" sz="1400" dirty="0">
              <a:solidFill>
                <a:srgbClr val="FFFF00"/>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p:spPr>
        <p:txBody>
          <a:bodyPr wrap="none" rtlCol="0">
            <a:spAutoFit/>
          </a:bodyPr>
          <a:lstStyle/>
          <a:p>
            <a:pPr algn="l"/>
            <a:r>
              <a:rPr lang="zh-CN" altLang="en-US" sz="1400" dirty="0">
                <a:solidFill>
                  <a:schemeClr val="bg1"/>
                </a:solidFill>
              </a:rPr>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p:spPr>
        <p:txBody>
          <a:bodyPr wrap="none" rtlCol="0">
            <a:spAutoFit/>
          </a:bodyPr>
          <a:lstStyle/>
          <a:p>
            <a:pPr algn="l"/>
            <a:r>
              <a:rPr lang="zh-CN" altLang="en-US" sz="1400" dirty="0">
                <a:solidFill>
                  <a:schemeClr val="bg1"/>
                </a:solidFill>
              </a:rPr>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13</a:t>
            </a:r>
            <a:endParaRPr lang="zh-CN" altLang="en-US" sz="1400" dirty="0">
              <a:solidFill>
                <a:srgbClr val="FFFF00"/>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p:spPr>
        <p:txBody>
          <a:bodyPr wrap="none" rtlCol="0">
            <a:spAutoFit/>
          </a:bodyPr>
          <a:lstStyle/>
          <a:p>
            <a:pPr algn="l"/>
            <a:r>
              <a:rPr lang="zh-CN" altLang="en-US" sz="1400" dirty="0">
                <a:solidFill>
                  <a:schemeClr val="bg1"/>
                </a:solidFill>
              </a:rPr>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0</a:t>
            </a:r>
            <a:endParaRPr lang="zh-CN" altLang="en-US" sz="1400" dirty="0">
              <a:solidFill>
                <a:srgbClr val="FFFF00"/>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p:spPr>
        <p:txBody>
          <a:bodyPr wrap="none" rtlCol="0">
            <a:spAutoFit/>
          </a:bodyPr>
          <a:lstStyle/>
          <a:p>
            <a:pPr algn="l"/>
            <a:r>
              <a:rPr lang="zh-CN" altLang="en-US" sz="1400" dirty="0">
                <a:solidFill>
                  <a:schemeClr val="bg1"/>
                </a:solidFill>
              </a:rPr>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p:spPr>
        <p:txBody>
          <a:bodyPr vert="eaVert" wrap="none" rtlCol="0">
            <a:spAutoFit/>
          </a:bodyPr>
          <a:lstStyle/>
          <a:p>
            <a:pPr algn="l"/>
            <a:r>
              <a:rPr lang="zh-CN" altLang="en-US" sz="1400" dirty="0">
                <a:solidFill>
                  <a:schemeClr val="bg1"/>
                </a:solidFill>
              </a:rPr>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End</a:t>
            </a:r>
            <a:endParaRPr lang="zh-CN" altLang="en-US" sz="1400">
              <a:solidFill>
                <a:schemeClr val="bg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p:spPr>
        <p:txBody>
          <a:bodyPr wrap="none" rtlCol="0">
            <a:spAutoFit/>
          </a:bodyPr>
          <a:lstStyle/>
          <a:p>
            <a:pPr algn="l"/>
            <a:r>
              <a:rPr lang="zh-CN" altLang="en-US" sz="1400" dirty="0">
                <a:solidFill>
                  <a:schemeClr val="bg1"/>
                </a:solidFill>
              </a:rPr>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8</a:t>
            </a:r>
            <a:endParaRPr lang="zh-CN" altLang="en-US" sz="1400" dirty="0">
              <a:solidFill>
                <a:srgbClr val="FFFF00"/>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p:spPr>
        <p:txBody>
          <a:bodyPr wrap="none" rtlCol="0">
            <a:spAutoFit/>
          </a:bodyPr>
          <a:lstStyle/>
          <a:p>
            <a:pPr algn="l"/>
            <a:r>
              <a:rPr lang="zh-CN" altLang="en-US" sz="1400" dirty="0">
                <a:solidFill>
                  <a:schemeClr val="bg1"/>
                </a:solidFill>
              </a:rPr>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rgbClr val="FFFF00"/>
                </a:solidFill>
              </a:rPr>
              <a:t>1</a:t>
            </a:r>
            <a:endParaRPr lang="zh-CN" altLang="en-US" sz="1400" dirty="0">
              <a:solidFill>
                <a:srgbClr val="FFFF00"/>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380882718"/>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bg1"/>
                          </a:solidFill>
                        </a:rPr>
                        <a:t>XS</a:t>
                      </a:r>
                      <a:endParaRPr lang="en-US" sz="1600" dirty="0">
                        <a:solidFill>
                          <a:schemeClr val="bg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很小 </a:t>
                      </a:r>
                      <a:r>
                        <a:rPr lang="en-US" sz="1600" dirty="0">
                          <a:solidFill>
                            <a:schemeClr val="bg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8</a:t>
                      </a:r>
                      <a:r>
                        <a:rPr lang="zh-CN" altLang="en-US" sz="1600" dirty="0">
                          <a:solidFill>
                            <a:schemeClr val="bg1"/>
                          </a:solidFill>
                        </a:rPr>
                        <a:t>小时（</a:t>
                      </a:r>
                      <a:r>
                        <a:rPr lang="en-US" altLang="zh-CN" sz="1600" dirty="0">
                          <a:solidFill>
                            <a:schemeClr val="bg1"/>
                          </a:solidFill>
                        </a:rPr>
                        <a:t>1</a:t>
                      </a:r>
                      <a:r>
                        <a:rPr lang="zh-CN" altLang="en-US" sz="1600" dirty="0">
                          <a:solidFill>
                            <a:schemeClr val="bg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bg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较小 </a:t>
                      </a:r>
                      <a:r>
                        <a:rPr lang="en-US" sz="1600" dirty="0">
                          <a:solidFill>
                            <a:schemeClr val="bg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16</a:t>
                      </a:r>
                      <a:r>
                        <a:rPr lang="zh-CN" altLang="en-US" sz="1600" dirty="0">
                          <a:solidFill>
                            <a:schemeClr val="bg1"/>
                          </a:solidFill>
                        </a:rPr>
                        <a:t>小时（</a:t>
                      </a:r>
                      <a:r>
                        <a:rPr lang="en-US" altLang="zh-CN" sz="1600" dirty="0">
                          <a:solidFill>
                            <a:schemeClr val="bg1"/>
                          </a:solidFill>
                        </a:rPr>
                        <a:t>2</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bg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中等 </a:t>
                      </a:r>
                      <a:r>
                        <a:rPr lang="en-US" sz="1600" dirty="0">
                          <a:solidFill>
                            <a:schemeClr val="bg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24</a:t>
                      </a:r>
                      <a:r>
                        <a:rPr lang="zh-CN" altLang="en-US" sz="1600" dirty="0">
                          <a:solidFill>
                            <a:schemeClr val="bg1"/>
                          </a:solidFill>
                        </a:rPr>
                        <a:t>小时（</a:t>
                      </a:r>
                      <a:r>
                        <a:rPr lang="en-US" altLang="zh-CN" sz="1600" dirty="0">
                          <a:solidFill>
                            <a:schemeClr val="bg1"/>
                          </a:solidFill>
                        </a:rPr>
                        <a:t>3</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bg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较大 </a:t>
                      </a:r>
                      <a:r>
                        <a:rPr lang="en-US" sz="1600" dirty="0">
                          <a:solidFill>
                            <a:schemeClr val="bg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40</a:t>
                      </a:r>
                      <a:r>
                        <a:rPr lang="zh-CN" altLang="en-US" sz="1600" dirty="0">
                          <a:solidFill>
                            <a:schemeClr val="bg1"/>
                          </a:solidFill>
                        </a:rPr>
                        <a:t>小时（</a:t>
                      </a:r>
                      <a:r>
                        <a:rPr lang="en-US" altLang="zh-CN" sz="1600" dirty="0">
                          <a:solidFill>
                            <a:schemeClr val="bg1"/>
                          </a:solidFill>
                        </a:rPr>
                        <a:t>5</a:t>
                      </a:r>
                      <a:r>
                        <a:rPr lang="zh-CN" altLang="en-US" sz="1600" dirty="0">
                          <a:solidFill>
                            <a:schemeClr val="bg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bg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很大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64</a:t>
                      </a:r>
                      <a:r>
                        <a:rPr lang="zh-CN" altLang="en-US" sz="1600" dirty="0">
                          <a:solidFill>
                            <a:schemeClr val="bg1"/>
                          </a:solidFill>
                        </a:rPr>
                        <a:t>小时以上（</a:t>
                      </a:r>
                      <a:r>
                        <a:rPr lang="en-US" altLang="zh-CN" sz="1600" dirty="0">
                          <a:solidFill>
                            <a:schemeClr val="bg1"/>
                          </a:solidFill>
                        </a:rPr>
                        <a:t>8</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bg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bg1"/>
                          </a:solidFill>
                        </a:rPr>
                        <a:t>巨大 </a:t>
                      </a:r>
                      <a:r>
                        <a:rPr lang="en-US" sz="1600" dirty="0">
                          <a:solidFill>
                            <a:schemeClr val="bg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bg1"/>
                          </a:solidFill>
                        </a:rPr>
                        <a:t>104</a:t>
                      </a:r>
                      <a:r>
                        <a:rPr lang="zh-CN" altLang="en-US" sz="1600" dirty="0">
                          <a:solidFill>
                            <a:schemeClr val="bg1"/>
                          </a:solidFill>
                        </a:rPr>
                        <a:t>小时以上（</a:t>
                      </a:r>
                      <a:r>
                        <a:rPr lang="en-US" altLang="zh-CN" sz="1600" dirty="0">
                          <a:solidFill>
                            <a:schemeClr val="bg1"/>
                          </a:solidFill>
                        </a:rPr>
                        <a:t>13</a:t>
                      </a:r>
                      <a:r>
                        <a:rPr lang="zh-CN" altLang="en-US" sz="1600" dirty="0">
                          <a:solidFill>
                            <a:schemeClr val="bg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2158554569"/>
              </p:ext>
            </p:extLst>
          </p:nvPr>
        </p:nvGraphicFramePr>
        <p:xfrm>
          <a:off x="2856000" y="3600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rgbClr val="FFFF00"/>
                          </a:solidFill>
                        </a:rPr>
                        <a:t>Step 0 </a:t>
                      </a:r>
                      <a:r>
                        <a:rPr lang="zh-CN" altLang="en-US" sz="1600" dirty="0">
                          <a:solidFill>
                            <a:schemeClr val="bg1"/>
                          </a:solidFill>
                        </a:rPr>
                        <a:t>准备用户故事</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a:noFill/>
                    </a:lnL>
                    <a:lnR w="635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prstClr val="white"/>
                        </a:solidFill>
                        <a:effectLst/>
                        <a:uLnTx/>
                        <a:uFillTx/>
                        <a:latin typeface="+mn-lt"/>
                        <a:ea typeface="+mn-ea"/>
                        <a:cs typeface="+mn-cs"/>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aphicFrame>
        <p:nvGraphicFramePr>
          <p:cNvPr id="4" name="表格 3">
            <a:extLst>
              <a:ext uri="{FF2B5EF4-FFF2-40B4-BE49-F238E27FC236}">
                <a16:creationId xmlns:a16="http://schemas.microsoft.com/office/drawing/2014/main" id="{917203D5-D59D-47DE-158C-B71D9FAC12AC}"/>
              </a:ext>
            </a:extLst>
          </p:cNvPr>
          <p:cNvGraphicFramePr>
            <a:graphicFrameLocks noGrp="1"/>
          </p:cNvGraphicFramePr>
          <p:nvPr>
            <p:extLst>
              <p:ext uri="{D42A27DB-BD31-4B8C-83A1-F6EECF244321}">
                <p14:modId xmlns:p14="http://schemas.microsoft.com/office/powerpoint/2010/main" val="303098707"/>
              </p:ext>
            </p:extLst>
          </p:nvPr>
        </p:nvGraphicFramePr>
        <p:xfrm>
          <a:off x="2856000" y="32400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rgbClr val="FFFF00"/>
                          </a:solidFill>
                        </a:rPr>
                        <a:t>Step 1 </a:t>
                      </a:r>
                      <a:r>
                        <a:rPr lang="zh-CN" altLang="en-US" sz="1600" dirty="0">
                          <a:solidFill>
                            <a:schemeClr val="bg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6646FF03-6CE7-3159-4A32-3CB3ABE8F19D}"/>
              </a:ext>
            </a:extLst>
          </p:cNvPr>
          <p:cNvSpPr txBox="1"/>
          <p:nvPr/>
        </p:nvSpPr>
        <p:spPr>
          <a:xfrm>
            <a:off x="273562" y="3598609"/>
            <a:ext cx="1806905" cy="307777"/>
          </a:xfrm>
          <a:prstGeom prst="rect">
            <a:avLst/>
          </a:prstGeom>
          <a:noFill/>
        </p:spPr>
        <p:txBody>
          <a:bodyPr wrap="none" rtlCol="0">
            <a:spAutoFit/>
          </a:bodyPr>
          <a:lstStyle/>
          <a:p>
            <a:r>
              <a:rPr lang="en-US" altLang="zh-CN" sz="1400" dirty="0">
                <a:solidFill>
                  <a:schemeClr val="bg1"/>
                </a:solidFill>
              </a:rPr>
              <a:t>Standing-by Area</a:t>
            </a:r>
            <a:endParaRPr lang="zh-CN" altLang="en-US" sz="1400" dirty="0">
              <a:solidFill>
                <a:schemeClr val="bg1"/>
              </a:solidFill>
            </a:endParaRPr>
          </a:p>
        </p:txBody>
      </p:sp>
      <p:sp>
        <p:nvSpPr>
          <p:cNvPr id="15" name="文本框 14">
            <a:extLst>
              <a:ext uri="{FF2B5EF4-FFF2-40B4-BE49-F238E27FC236}">
                <a16:creationId xmlns:a16="http://schemas.microsoft.com/office/drawing/2014/main" id="{E3EAD959-265D-3B5A-862A-CE349E8DBC0A}"/>
              </a:ext>
            </a:extLst>
          </p:cNvPr>
          <p:cNvSpPr txBox="1"/>
          <p:nvPr/>
        </p:nvSpPr>
        <p:spPr>
          <a:xfrm>
            <a:off x="969265" y="4989874"/>
            <a:ext cx="1111202" cy="307777"/>
          </a:xfrm>
          <a:prstGeom prst="rect">
            <a:avLst/>
          </a:prstGeom>
          <a:noFill/>
        </p:spPr>
        <p:txBody>
          <a:bodyPr wrap="none" rtlCol="0">
            <a:spAutoFit/>
          </a:bodyPr>
          <a:lstStyle/>
          <a:p>
            <a:r>
              <a:rPr lang="en-US" altLang="zh-CN" sz="1400" dirty="0">
                <a:solidFill>
                  <a:schemeClr val="bg1"/>
                </a:solidFill>
              </a:rPr>
              <a:t>Story Area</a:t>
            </a:r>
            <a:endParaRPr lang="zh-CN" altLang="en-US" sz="1400" dirty="0">
              <a:solidFill>
                <a:schemeClr val="bg1"/>
              </a:solidFill>
            </a:endParaRPr>
          </a:p>
        </p:txBody>
      </p:sp>
      <p:cxnSp>
        <p:nvCxnSpPr>
          <p:cNvPr id="16" name="直接箭头连接符 15">
            <a:extLst>
              <a:ext uri="{FF2B5EF4-FFF2-40B4-BE49-F238E27FC236}">
                <a16:creationId xmlns:a16="http://schemas.microsoft.com/office/drawing/2014/main" id="{4E4E00C5-2953-0474-2CF2-87ACE5E4BF6A}"/>
              </a:ext>
            </a:extLst>
          </p:cNvPr>
          <p:cNvCxnSpPr>
            <a:cxnSpLocks/>
          </p:cNvCxnSpPr>
          <p:nvPr/>
        </p:nvCxnSpPr>
        <p:spPr>
          <a:xfrm>
            <a:off x="1999282" y="37507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CBEC299F-8177-0042-E1C8-18787D1D86AE}"/>
              </a:ext>
            </a:extLst>
          </p:cNvPr>
          <p:cNvCxnSpPr>
            <a:cxnSpLocks/>
          </p:cNvCxnSpPr>
          <p:nvPr/>
        </p:nvCxnSpPr>
        <p:spPr>
          <a:xfrm>
            <a:off x="1999282" y="51420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1E28C35A-445B-DB80-13AD-269594B1A01A}"/>
              </a:ext>
            </a:extLst>
          </p:cNvPr>
          <p:cNvSpPr txBox="1"/>
          <p:nvPr/>
        </p:nvSpPr>
        <p:spPr>
          <a:xfrm>
            <a:off x="440274" y="4056784"/>
            <a:ext cx="1640193" cy="307777"/>
          </a:xfrm>
          <a:prstGeom prst="rect">
            <a:avLst/>
          </a:prstGeom>
          <a:noFill/>
        </p:spPr>
        <p:txBody>
          <a:bodyPr wrap="none" rtlCol="0">
            <a:spAutoFit/>
          </a:bodyPr>
          <a:lstStyle/>
          <a:p>
            <a:r>
              <a:rPr lang="en-US" altLang="zh-CN" sz="1400" dirty="0">
                <a:solidFill>
                  <a:schemeClr val="bg1"/>
                </a:solidFill>
              </a:rPr>
              <a:t>Story Point Area</a:t>
            </a:r>
            <a:endParaRPr lang="zh-CN" altLang="en-US" sz="1400" dirty="0">
              <a:solidFill>
                <a:schemeClr val="bg1"/>
              </a:solidFill>
            </a:endParaRPr>
          </a:p>
        </p:txBody>
      </p:sp>
      <p:cxnSp>
        <p:nvCxnSpPr>
          <p:cNvPr id="19" name="直接箭头连接符 18">
            <a:extLst>
              <a:ext uri="{FF2B5EF4-FFF2-40B4-BE49-F238E27FC236}">
                <a16:creationId xmlns:a16="http://schemas.microsoft.com/office/drawing/2014/main" id="{BBEB2F51-5D20-AF95-A196-BDF9E257DAF8}"/>
              </a:ext>
            </a:extLst>
          </p:cNvPr>
          <p:cNvCxnSpPr>
            <a:cxnSpLocks/>
          </p:cNvCxnSpPr>
          <p:nvPr/>
        </p:nvCxnSpPr>
        <p:spPr>
          <a:xfrm>
            <a:off x="1999282" y="42089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a:extLst>
              <a:ext uri="{FF2B5EF4-FFF2-40B4-BE49-F238E27FC236}">
                <a16:creationId xmlns:a16="http://schemas.microsoft.com/office/drawing/2014/main" id="{532C8D73-4290-BAD8-11A4-215F77A8731E}"/>
              </a:ext>
            </a:extLst>
          </p:cNvPr>
          <p:cNvGrpSpPr/>
          <p:nvPr/>
        </p:nvGrpSpPr>
        <p:grpSpPr>
          <a:xfrm>
            <a:off x="2952673" y="12786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74149" y="18208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25627" y="22728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23408" y="13689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25214" y="21505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78892" y="18283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57190" y="10516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67254" y="15359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393240" y="12351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51588" y="18146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72407" y="13574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11735" y="21097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52913" y="17003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58E6D35-85A6-43D4-7464-253D9458618E}"/>
              </a:ext>
            </a:extLst>
          </p:cNvPr>
          <p:cNvGraphicFramePr>
            <a:graphicFrameLocks noGrp="1"/>
          </p:cNvGraphicFramePr>
          <p:nvPr>
            <p:extLst>
              <p:ext uri="{D42A27DB-BD31-4B8C-83A1-F6EECF244321}">
                <p14:modId xmlns:p14="http://schemas.microsoft.com/office/powerpoint/2010/main" val="755233854"/>
              </p:ext>
            </p:extLst>
          </p:nvPr>
        </p:nvGraphicFramePr>
        <p:xfrm>
          <a:off x="2856000" y="3240000"/>
          <a:ext cx="7560000" cy="329184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solidFill>
                            <a:srgbClr val="FFFF00"/>
                          </a:solidFill>
                        </a:rPr>
                        <a:t>Step 3 </a:t>
                      </a:r>
                      <a:r>
                        <a:rPr lang="zh-CN" altLang="en-US" sz="1600" dirty="0">
                          <a:solidFill>
                            <a:schemeClr val="bg1"/>
                          </a:solidFill>
                        </a:rPr>
                        <a:t>统计估算；每列的故事点</a:t>
                      </a:r>
                      <a:r>
                        <a:rPr lang="en-US" altLang="zh-CN" sz="1600" dirty="0">
                          <a:solidFill>
                            <a:schemeClr val="bg1"/>
                          </a:solidFill>
                        </a:rPr>
                        <a:t>/</a:t>
                      </a:r>
                      <a:r>
                        <a:rPr lang="zh-CN" altLang="en-US" sz="1600" dirty="0">
                          <a:solidFill>
                            <a:schemeClr val="bg1"/>
                          </a:solidFill>
                        </a:rPr>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183510">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rgbClr val="FFFF00"/>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a:noFill/>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solidFill>
                            <a:schemeClr val="bg1"/>
                          </a:solidFill>
                        </a:rPr>
                        <a:t>1</a:t>
                      </a:r>
                      <a:r>
                        <a:rPr lang="en-US" altLang="zh-CN" sz="1600" dirty="0">
                          <a:solidFill>
                            <a:schemeClr val="bg1"/>
                          </a:solidFill>
                        </a:rPr>
                        <a:t>×1=1</a:t>
                      </a:r>
                      <a:endParaRPr lang="en-US" sz="1600" dirty="0">
                        <a:solidFill>
                          <a:schemeClr val="bg1"/>
                        </a:solidFill>
                      </a:endParaRPr>
                    </a:p>
                  </a:txBody>
                  <a:tcPr anchor="ctr">
                    <a:lnL w="6350" cap="flat" cmpd="sng" algn="ctr">
                      <a:noFill/>
                      <a:prstDash val="solid"/>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solidFill>
                            <a:schemeClr val="bg1"/>
                          </a:solidFill>
                        </a:rPr>
                        <a:t>2</a:t>
                      </a:r>
                      <a:r>
                        <a:rPr lang="en-US" altLang="zh-CN" sz="1600" dirty="0">
                          <a:solidFill>
                            <a:schemeClr val="bg1"/>
                          </a:solidFill>
                        </a:rPr>
                        <a:t>×1=2</a:t>
                      </a:r>
                      <a:endParaRPr 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3×2=6</a:t>
                      </a: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5×1=5</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solidFill>
                            <a:schemeClr val="bg1"/>
                          </a:solidFill>
                        </a:rPr>
                        <a:t>8×2=16</a:t>
                      </a:r>
                    </a:p>
                  </a:txBody>
                  <a:tcPr anchor="ctr">
                    <a:lnL>
                      <a:noFill/>
                    </a:lnL>
                    <a:lnR>
                      <a:noFill/>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13×3=39</a:t>
                      </a:r>
                      <a:endParaRPr lang="zh-CN" altLang="en-US" sz="16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a:noFill/>
                    </a:lnL>
                    <a:lnR w="63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65974928"/>
              </p:ext>
            </p:extLst>
          </p:nvPr>
        </p:nvGraphicFramePr>
        <p:xfrm>
          <a:off x="2856000" y="3600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solidFill>
                            <a:srgbClr val="FFFF00"/>
                          </a:solidFill>
                        </a:rPr>
                        <a:t>Step 2 </a:t>
                      </a:r>
                      <a:r>
                        <a:rPr lang="zh-CN" altLang="en-US" sz="1600" dirty="0">
                          <a:solidFill>
                            <a:schemeClr val="bg1"/>
                          </a:solidFill>
                        </a:rPr>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400" dirty="0">
                          <a:solidFill>
                            <a:schemeClr val="bg1"/>
                          </a:solidFill>
                        </a:rPr>
                        <a:t>XS</a:t>
                      </a: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S</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XL</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rowSpan="2">
                  <a:txBody>
                    <a:bodyPr/>
                    <a:lstStyle/>
                    <a:p>
                      <a:pPr algn="ctr">
                        <a:buNone/>
                      </a:pPr>
                      <a:r>
                        <a:rPr lang="en-US" altLang="zh-CN" sz="1400" dirty="0">
                          <a:solidFill>
                            <a:schemeClr val="bg1"/>
                          </a:solidFill>
                        </a:rPr>
                        <a:t>???</a:t>
                      </a: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708258967"/>
                  </a:ext>
                </a:extLst>
              </a:tr>
              <a:tr h="202401">
                <a:tc>
                  <a:txBody>
                    <a:bodyPr/>
                    <a:lstStyle/>
                    <a:p>
                      <a:pPr algn="ctr">
                        <a:buNone/>
                      </a:pPr>
                      <a:r>
                        <a:rPr lang="en-US" sz="1400" dirty="0">
                          <a:solidFill>
                            <a:schemeClr val="bg1"/>
                          </a:solidFill>
                        </a:rPr>
                        <a:t>1</a:t>
                      </a: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sz="14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a:txBody>
                    <a:bodyPr/>
                    <a:lstStyle/>
                    <a:p>
                      <a:pPr algn="ctr">
                        <a:buNone/>
                      </a:pPr>
                      <a:r>
                        <a:rPr lang="en-US" altLang="zh-CN" sz="14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sp>
        <p:nvSpPr>
          <p:cNvPr id="13" name="文本框 12">
            <a:extLst>
              <a:ext uri="{FF2B5EF4-FFF2-40B4-BE49-F238E27FC236}">
                <a16:creationId xmlns:a16="http://schemas.microsoft.com/office/drawing/2014/main" id="{D01BFB1F-87F8-D087-31CF-ED2A4A5658FE}"/>
              </a:ext>
            </a:extLst>
          </p:cNvPr>
          <p:cNvSpPr txBox="1"/>
          <p:nvPr/>
        </p:nvSpPr>
        <p:spPr>
          <a:xfrm>
            <a:off x="1534674" y="6174174"/>
            <a:ext cx="1167307" cy="338554"/>
          </a:xfrm>
          <a:prstGeom prst="rect">
            <a:avLst/>
          </a:prstGeom>
          <a:noFill/>
        </p:spPr>
        <p:txBody>
          <a:bodyPr wrap="none" rtlCol="0">
            <a:spAutoFit/>
          </a:bodyPr>
          <a:lstStyle/>
          <a:p>
            <a:r>
              <a:rPr lang="en-US" altLang="zh-CN" sz="1600" dirty="0">
                <a:solidFill>
                  <a:srgbClr val="FFFF00"/>
                </a:solidFill>
              </a:rPr>
              <a:t>Total = 69</a:t>
            </a:r>
            <a:endParaRPr lang="zh-CN" altLang="en-US" sz="1600" dirty="0">
              <a:solidFill>
                <a:srgbClr val="FFFF00"/>
              </a:solidFill>
            </a:endParaRPr>
          </a:p>
        </p:txBody>
      </p:sp>
      <p:grpSp>
        <p:nvGrpSpPr>
          <p:cNvPr id="14" name="组合 13">
            <a:extLst>
              <a:ext uri="{FF2B5EF4-FFF2-40B4-BE49-F238E27FC236}">
                <a16:creationId xmlns:a16="http://schemas.microsoft.com/office/drawing/2014/main" id="{7AA5CBF4-6D40-0749-BF5B-1637E41AB61E}"/>
              </a:ext>
            </a:extLst>
          </p:cNvPr>
          <p:cNvGrpSpPr/>
          <p:nvPr/>
        </p:nvGrpSpPr>
        <p:grpSpPr>
          <a:xfrm>
            <a:off x="2942841" y="1996440"/>
            <a:ext cx="858478" cy="552450"/>
            <a:chOff x="1069875" y="1905001"/>
            <a:chExt cx="858478" cy="552450"/>
          </a:xfrm>
        </p:grpSpPr>
        <p:pic>
          <p:nvPicPr>
            <p:cNvPr id="15" name="Picture 4" descr="儿童卡通便利贴标签贴纸记事留言纸条PNG免抠设计元素PS装饰素材">
              <a:extLst>
                <a:ext uri="{FF2B5EF4-FFF2-40B4-BE49-F238E27FC236}">
                  <a16:creationId xmlns:a16="http://schemas.microsoft.com/office/drawing/2014/main" id="{FEB00A1C-0B27-5DE7-3682-B73E2061EB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6" name="文本框 15">
              <a:extLst>
                <a:ext uri="{FF2B5EF4-FFF2-40B4-BE49-F238E27FC236}">
                  <a16:creationId xmlns:a16="http://schemas.microsoft.com/office/drawing/2014/main" id="{59F1280F-703D-E1A0-C556-5D0C9E1F5876}"/>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7" name="组合 16">
            <a:extLst>
              <a:ext uri="{FF2B5EF4-FFF2-40B4-BE49-F238E27FC236}">
                <a16:creationId xmlns:a16="http://schemas.microsoft.com/office/drawing/2014/main" id="{4963D4B1-1CE2-E170-A1E0-AA5A3C6F0FC1}"/>
              </a:ext>
            </a:extLst>
          </p:cNvPr>
          <p:cNvGrpSpPr/>
          <p:nvPr/>
        </p:nvGrpSpPr>
        <p:grpSpPr>
          <a:xfrm>
            <a:off x="4053887" y="1996440"/>
            <a:ext cx="838814" cy="552450"/>
            <a:chOff x="1089539" y="1905001"/>
            <a:chExt cx="838814" cy="552450"/>
          </a:xfrm>
        </p:grpSpPr>
        <p:pic>
          <p:nvPicPr>
            <p:cNvPr id="18" name="Picture 4" descr="儿童卡通便利贴标签贴纸记事留言纸条PNG免抠设计元素PS装饰素材">
              <a:extLst>
                <a:ext uri="{FF2B5EF4-FFF2-40B4-BE49-F238E27FC236}">
                  <a16:creationId xmlns:a16="http://schemas.microsoft.com/office/drawing/2014/main" id="{0EC7EE6E-C880-ECAB-DAB3-C0E134D4C7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32503799-DC14-0C55-F335-03B75E1DA58E}"/>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20" name="组合 19">
            <a:extLst>
              <a:ext uri="{FF2B5EF4-FFF2-40B4-BE49-F238E27FC236}">
                <a16:creationId xmlns:a16="http://schemas.microsoft.com/office/drawing/2014/main" id="{214E88AA-E302-A5E6-AE4D-FD7C42881086}"/>
              </a:ext>
            </a:extLst>
          </p:cNvPr>
          <p:cNvGrpSpPr/>
          <p:nvPr/>
        </p:nvGrpSpPr>
        <p:grpSpPr>
          <a:xfrm>
            <a:off x="5194179" y="1957112"/>
            <a:ext cx="830799" cy="552450"/>
            <a:chOff x="1097554" y="1905001"/>
            <a:chExt cx="830799" cy="552450"/>
          </a:xfrm>
        </p:grpSpPr>
        <p:pic>
          <p:nvPicPr>
            <p:cNvPr id="21" name="Picture 4" descr="儿童卡通便利贴标签贴纸记事留言纸条PNG免抠设计元素PS装饰素材">
              <a:extLst>
                <a:ext uri="{FF2B5EF4-FFF2-40B4-BE49-F238E27FC236}">
                  <a16:creationId xmlns:a16="http://schemas.microsoft.com/office/drawing/2014/main" id="{642552C5-B46D-6975-071D-703512357B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A1E58E68-CDC1-DA5E-341A-FBB85253A48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23" name="组合 22">
            <a:extLst>
              <a:ext uri="{FF2B5EF4-FFF2-40B4-BE49-F238E27FC236}">
                <a16:creationId xmlns:a16="http://schemas.microsoft.com/office/drawing/2014/main" id="{83277A85-1692-8504-EE90-8F4AF9F9EA7F}"/>
              </a:ext>
            </a:extLst>
          </p:cNvPr>
          <p:cNvGrpSpPr/>
          <p:nvPr/>
        </p:nvGrpSpPr>
        <p:grpSpPr>
          <a:xfrm>
            <a:off x="5212240" y="2422217"/>
            <a:ext cx="832402" cy="552450"/>
            <a:chOff x="1095951" y="1905001"/>
            <a:chExt cx="832402" cy="552450"/>
          </a:xfrm>
        </p:grpSpPr>
        <p:pic>
          <p:nvPicPr>
            <p:cNvPr id="24" name="Picture 4" descr="儿童卡通便利贴标签贴纸记事留言纸条PNG免抠设计元素PS装饰素材">
              <a:extLst>
                <a:ext uri="{FF2B5EF4-FFF2-40B4-BE49-F238E27FC236}">
                  <a16:creationId xmlns:a16="http://schemas.microsoft.com/office/drawing/2014/main" id="{F4FF385B-5D4D-C4B3-B628-B6B8410314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5" name="文本框 24">
              <a:extLst>
                <a:ext uri="{FF2B5EF4-FFF2-40B4-BE49-F238E27FC236}">
                  <a16:creationId xmlns:a16="http://schemas.microsoft.com/office/drawing/2014/main" id="{0540AB4F-3A86-953A-7B6B-3835FE02D9FA}"/>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26" name="组合 25">
            <a:extLst>
              <a:ext uri="{FF2B5EF4-FFF2-40B4-BE49-F238E27FC236}">
                <a16:creationId xmlns:a16="http://schemas.microsoft.com/office/drawing/2014/main" id="{DD91EC56-952C-F09A-51BA-B604B871DD62}"/>
              </a:ext>
            </a:extLst>
          </p:cNvPr>
          <p:cNvGrpSpPr/>
          <p:nvPr/>
        </p:nvGrpSpPr>
        <p:grpSpPr>
          <a:xfrm>
            <a:off x="6183339" y="1996440"/>
            <a:ext cx="878767" cy="552450"/>
            <a:chOff x="1057479" y="1905001"/>
            <a:chExt cx="878767" cy="552450"/>
          </a:xfrm>
        </p:grpSpPr>
        <p:pic>
          <p:nvPicPr>
            <p:cNvPr id="27" name="Picture 4" descr="儿童卡通便利贴标签贴纸记事留言纸条PNG免抠设计元素PS装饰素材">
              <a:extLst>
                <a:ext uri="{FF2B5EF4-FFF2-40B4-BE49-F238E27FC236}">
                  <a16:creationId xmlns:a16="http://schemas.microsoft.com/office/drawing/2014/main" id="{3ECE0D58-14A7-1830-A511-6142CDA98B9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8" name="文本框 27">
              <a:extLst>
                <a:ext uri="{FF2B5EF4-FFF2-40B4-BE49-F238E27FC236}">
                  <a16:creationId xmlns:a16="http://schemas.microsoft.com/office/drawing/2014/main" id="{2E9B1419-0E71-E11D-0586-F05465B624D1}"/>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29" name="组合 28">
            <a:extLst>
              <a:ext uri="{FF2B5EF4-FFF2-40B4-BE49-F238E27FC236}">
                <a16:creationId xmlns:a16="http://schemas.microsoft.com/office/drawing/2014/main" id="{307B8195-147C-1D83-F62D-D9DA405985DF}"/>
              </a:ext>
            </a:extLst>
          </p:cNvPr>
          <p:cNvGrpSpPr/>
          <p:nvPr/>
        </p:nvGrpSpPr>
        <p:grpSpPr>
          <a:xfrm>
            <a:off x="7391507" y="1957112"/>
            <a:ext cx="819150" cy="552450"/>
            <a:chOff x="1109203" y="1905001"/>
            <a:chExt cx="819150" cy="552450"/>
          </a:xfrm>
        </p:grpSpPr>
        <p:pic>
          <p:nvPicPr>
            <p:cNvPr id="30" name="Picture 4" descr="儿童卡通便利贴标签贴纸记事留言纸条PNG免抠设计元素PS装饰素材">
              <a:extLst>
                <a:ext uri="{FF2B5EF4-FFF2-40B4-BE49-F238E27FC236}">
                  <a16:creationId xmlns:a16="http://schemas.microsoft.com/office/drawing/2014/main" id="{1C7E522F-A782-C82A-D6BC-A3CCB0B9001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1" name="文本框 30">
              <a:extLst>
                <a:ext uri="{FF2B5EF4-FFF2-40B4-BE49-F238E27FC236}">
                  <a16:creationId xmlns:a16="http://schemas.microsoft.com/office/drawing/2014/main" id="{75B9BE74-FF01-729F-8900-7A01CC6E2057}"/>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32" name="组合 31">
            <a:extLst>
              <a:ext uri="{FF2B5EF4-FFF2-40B4-BE49-F238E27FC236}">
                <a16:creationId xmlns:a16="http://schemas.microsoft.com/office/drawing/2014/main" id="{3ED60018-6A5E-B91C-60D0-8A8FF6714494}"/>
              </a:ext>
            </a:extLst>
          </p:cNvPr>
          <p:cNvGrpSpPr/>
          <p:nvPr/>
        </p:nvGrpSpPr>
        <p:grpSpPr>
          <a:xfrm>
            <a:off x="7368577" y="2417879"/>
            <a:ext cx="829997" cy="552450"/>
            <a:chOff x="1098356" y="1905001"/>
            <a:chExt cx="829997" cy="552450"/>
          </a:xfrm>
        </p:grpSpPr>
        <p:pic>
          <p:nvPicPr>
            <p:cNvPr id="33" name="Picture 4" descr="儿童卡通便利贴标签贴纸记事留言纸条PNG免抠设计元素PS装饰素材">
              <a:extLst>
                <a:ext uri="{FF2B5EF4-FFF2-40B4-BE49-F238E27FC236}">
                  <a16:creationId xmlns:a16="http://schemas.microsoft.com/office/drawing/2014/main" id="{7F7C6947-513A-5D32-978B-043A79D6BEF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4" name="文本框 33">
              <a:extLst>
                <a:ext uri="{FF2B5EF4-FFF2-40B4-BE49-F238E27FC236}">
                  <a16:creationId xmlns:a16="http://schemas.microsoft.com/office/drawing/2014/main" id="{1B1A2F31-EF02-323D-A8CA-F988289AABC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35" name="组合 34">
            <a:extLst>
              <a:ext uri="{FF2B5EF4-FFF2-40B4-BE49-F238E27FC236}">
                <a16:creationId xmlns:a16="http://schemas.microsoft.com/office/drawing/2014/main" id="{F4423782-8FFC-0452-E031-AB06B0EA39E4}"/>
              </a:ext>
            </a:extLst>
          </p:cNvPr>
          <p:cNvGrpSpPr/>
          <p:nvPr/>
        </p:nvGrpSpPr>
        <p:grpSpPr>
          <a:xfrm>
            <a:off x="8426800" y="1957112"/>
            <a:ext cx="829997" cy="552450"/>
            <a:chOff x="1098356" y="1905001"/>
            <a:chExt cx="829997" cy="552450"/>
          </a:xfrm>
        </p:grpSpPr>
        <p:pic>
          <p:nvPicPr>
            <p:cNvPr id="36" name="Picture 4" descr="儿童卡通便利贴标签贴纸记事留言纸条PNG免抠设计元素PS装饰素材">
              <a:extLst>
                <a:ext uri="{FF2B5EF4-FFF2-40B4-BE49-F238E27FC236}">
                  <a16:creationId xmlns:a16="http://schemas.microsoft.com/office/drawing/2014/main" id="{B6B1933E-3387-B649-A268-252AA9ED03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7" name="文本框 36">
              <a:extLst>
                <a:ext uri="{FF2B5EF4-FFF2-40B4-BE49-F238E27FC236}">
                  <a16:creationId xmlns:a16="http://schemas.microsoft.com/office/drawing/2014/main" id="{ADBEF7E7-5D63-C964-6300-CFEFECBEF065}"/>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38" name="组合 37">
            <a:extLst>
              <a:ext uri="{FF2B5EF4-FFF2-40B4-BE49-F238E27FC236}">
                <a16:creationId xmlns:a16="http://schemas.microsoft.com/office/drawing/2014/main" id="{5C64ED90-DA62-60C9-5842-0F6156BFAB73}"/>
              </a:ext>
            </a:extLst>
          </p:cNvPr>
          <p:cNvGrpSpPr/>
          <p:nvPr/>
        </p:nvGrpSpPr>
        <p:grpSpPr>
          <a:xfrm>
            <a:off x="8408305" y="2417879"/>
            <a:ext cx="836409" cy="552450"/>
            <a:chOff x="1091944" y="1905001"/>
            <a:chExt cx="836409" cy="552450"/>
          </a:xfrm>
        </p:grpSpPr>
        <p:pic>
          <p:nvPicPr>
            <p:cNvPr id="39" name="Picture 4" descr="儿童卡通便利贴标签贴纸记事留言纸条PNG免抠设计元素PS装饰素材">
              <a:extLst>
                <a:ext uri="{FF2B5EF4-FFF2-40B4-BE49-F238E27FC236}">
                  <a16:creationId xmlns:a16="http://schemas.microsoft.com/office/drawing/2014/main" id="{C7A46736-AA28-BE0F-492B-B111BB45B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0" name="文本框 39">
              <a:extLst>
                <a:ext uri="{FF2B5EF4-FFF2-40B4-BE49-F238E27FC236}">
                  <a16:creationId xmlns:a16="http://schemas.microsoft.com/office/drawing/2014/main" id="{7BC104EB-3F26-0471-766B-6F10B8E01869}"/>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41" name="组合 40">
            <a:extLst>
              <a:ext uri="{FF2B5EF4-FFF2-40B4-BE49-F238E27FC236}">
                <a16:creationId xmlns:a16="http://schemas.microsoft.com/office/drawing/2014/main" id="{CA561671-BB36-6CC0-9757-88E3C99A191F}"/>
              </a:ext>
            </a:extLst>
          </p:cNvPr>
          <p:cNvGrpSpPr/>
          <p:nvPr/>
        </p:nvGrpSpPr>
        <p:grpSpPr>
          <a:xfrm>
            <a:off x="9471510" y="1987766"/>
            <a:ext cx="834005" cy="552450"/>
            <a:chOff x="1094348" y="1905001"/>
            <a:chExt cx="834005" cy="552450"/>
          </a:xfrm>
        </p:grpSpPr>
        <p:pic>
          <p:nvPicPr>
            <p:cNvPr id="42" name="Picture 4" descr="儿童卡通便利贴标签贴纸记事留言纸条PNG免抠设计元素PS装饰素材">
              <a:extLst>
                <a:ext uri="{FF2B5EF4-FFF2-40B4-BE49-F238E27FC236}">
                  <a16:creationId xmlns:a16="http://schemas.microsoft.com/office/drawing/2014/main" id="{876527E6-21BF-1FDD-7091-D3E6A60C3137}"/>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3" name="文本框 42">
              <a:extLst>
                <a:ext uri="{FF2B5EF4-FFF2-40B4-BE49-F238E27FC236}">
                  <a16:creationId xmlns:a16="http://schemas.microsoft.com/office/drawing/2014/main" id="{953D6AC4-4C61-FFA4-4B2A-587E454B7088}"/>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44" name="组合 43">
            <a:extLst>
              <a:ext uri="{FF2B5EF4-FFF2-40B4-BE49-F238E27FC236}">
                <a16:creationId xmlns:a16="http://schemas.microsoft.com/office/drawing/2014/main" id="{7C466EF0-3DDA-5815-3606-00650BCDC307}"/>
              </a:ext>
            </a:extLst>
          </p:cNvPr>
          <p:cNvGrpSpPr/>
          <p:nvPr/>
        </p:nvGrpSpPr>
        <p:grpSpPr>
          <a:xfrm>
            <a:off x="9498634" y="464738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14CDF073-15D6-EB2A-E8F8-361D2567FDC3}"/>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946A03D9-DAC5-D6B5-C9E5-F20CD4F6299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47" name="组合 46">
            <a:extLst>
              <a:ext uri="{FF2B5EF4-FFF2-40B4-BE49-F238E27FC236}">
                <a16:creationId xmlns:a16="http://schemas.microsoft.com/office/drawing/2014/main" id="{AD81EE82-8745-5A52-FE5A-F717FCFDDFA5}"/>
              </a:ext>
            </a:extLst>
          </p:cNvPr>
          <p:cNvGrpSpPr/>
          <p:nvPr/>
        </p:nvGrpSpPr>
        <p:grpSpPr>
          <a:xfrm>
            <a:off x="2942841" y="462870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7122509-F3A6-B116-5707-C4BC12CD03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1B9619C5-65D3-2A99-C04A-0BB917BFC39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0B6D7135-13AF-CCAE-ADE9-42E9D3576F47}"/>
              </a:ext>
            </a:extLst>
          </p:cNvPr>
          <p:cNvGrpSpPr/>
          <p:nvPr/>
        </p:nvGrpSpPr>
        <p:grpSpPr>
          <a:xfrm>
            <a:off x="4053887" y="462870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4ED78CB0-11CC-B5F9-1D4D-E8ADAF9E99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1952EF77-BFFD-73F7-11DB-D72DB6A939EC}"/>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91754186-5EB2-B350-460D-668524E6C4E7}"/>
              </a:ext>
            </a:extLst>
          </p:cNvPr>
          <p:cNvGrpSpPr/>
          <p:nvPr/>
        </p:nvGrpSpPr>
        <p:grpSpPr>
          <a:xfrm>
            <a:off x="5194179" y="458938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120DBDA6-A15B-FC61-0385-9C5DD1EE30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9F28551E-CA09-FFAF-0D57-C9F69B8F5552}"/>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BC157454-223D-9DC8-94F1-8435F7AFF131}"/>
              </a:ext>
            </a:extLst>
          </p:cNvPr>
          <p:cNvGrpSpPr/>
          <p:nvPr/>
        </p:nvGrpSpPr>
        <p:grpSpPr>
          <a:xfrm>
            <a:off x="5212240" y="505448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5D4D317-F1D8-B2BE-0992-B613A0118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91AE8CEC-0CB1-65E4-B1D4-60E8F2CBB9C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98BFF60E-E413-D674-CAAC-984ABB23A1FE}"/>
              </a:ext>
            </a:extLst>
          </p:cNvPr>
          <p:cNvGrpSpPr/>
          <p:nvPr/>
        </p:nvGrpSpPr>
        <p:grpSpPr>
          <a:xfrm>
            <a:off x="6183339" y="462870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316F8347-801F-6C59-9950-ED9DBB75FA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34C7F6A0-17BC-2B65-8095-FE98A56C3641}"/>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7B9C2E94-5FC2-2590-D0B3-EC7735DAEB1B}"/>
              </a:ext>
            </a:extLst>
          </p:cNvPr>
          <p:cNvGrpSpPr/>
          <p:nvPr/>
        </p:nvGrpSpPr>
        <p:grpSpPr>
          <a:xfrm>
            <a:off x="7391507" y="458938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2C4C11CB-1167-92A6-D480-902E3799A6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22E59397-2058-364A-C15B-70A841D63178}"/>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C14C4284-0999-1E6B-321B-9F5DCF069C1E}"/>
              </a:ext>
            </a:extLst>
          </p:cNvPr>
          <p:cNvGrpSpPr/>
          <p:nvPr/>
        </p:nvGrpSpPr>
        <p:grpSpPr>
          <a:xfrm>
            <a:off x="7368577" y="505014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E50233CC-CA50-78B6-3297-B1478B066D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4A2F994D-6193-5971-9116-ECEAAC2A96A2}"/>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8A0DCA1F-03C9-0C30-8109-9708DF6CF3A9}"/>
              </a:ext>
            </a:extLst>
          </p:cNvPr>
          <p:cNvGrpSpPr/>
          <p:nvPr/>
        </p:nvGrpSpPr>
        <p:grpSpPr>
          <a:xfrm>
            <a:off x="8426800" y="458938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FC0B249C-38A4-58CA-7FD1-7AF5A16C81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32FE7B65-9737-6406-01D7-DC4EC4CCC27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93156B85-D65E-0303-0614-18334D8880F7}"/>
              </a:ext>
            </a:extLst>
          </p:cNvPr>
          <p:cNvGrpSpPr/>
          <p:nvPr/>
        </p:nvGrpSpPr>
        <p:grpSpPr>
          <a:xfrm>
            <a:off x="8408305" y="505014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535B887E-32D4-DB41-C205-CFF7BF6CD1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31D8BCE8-4C85-0808-8EEA-4F648F4EEF4E}"/>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77" name="组合 76">
            <a:extLst>
              <a:ext uri="{FF2B5EF4-FFF2-40B4-BE49-F238E27FC236}">
                <a16:creationId xmlns:a16="http://schemas.microsoft.com/office/drawing/2014/main" id="{FD5BA643-6A5C-E033-34D1-3D5B84315C3D}"/>
              </a:ext>
            </a:extLst>
          </p:cNvPr>
          <p:cNvGrpSpPr/>
          <p:nvPr/>
        </p:nvGrpSpPr>
        <p:grpSpPr>
          <a:xfrm>
            <a:off x="6014063" y="59654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80" name="组合 79">
            <a:extLst>
              <a:ext uri="{FF2B5EF4-FFF2-40B4-BE49-F238E27FC236}">
                <a16:creationId xmlns:a16="http://schemas.microsoft.com/office/drawing/2014/main" id="{04845BC1-E529-02B1-3D35-A391294DB76C}"/>
              </a:ext>
            </a:extLst>
          </p:cNvPr>
          <p:cNvGrpSpPr/>
          <p:nvPr/>
        </p:nvGrpSpPr>
        <p:grpSpPr>
          <a:xfrm>
            <a:off x="8437647" y="553807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EBC39597-BE96-B7CC-419D-B422C0A6BB44}"/>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19972B03-C524-0B4B-DB0D-B95228596C57}"/>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107720587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695998" y="360000"/>
            <a:ext cx="6375921" cy="429413"/>
          </a:xfrm>
        </p:spPr>
        <p:txBody>
          <a:bodyPr/>
          <a:lstStyle/>
          <a:p>
            <a:r>
              <a:rPr lang="en-US" altLang="zh-CN" dirty="0"/>
              <a:t>6.3.3 </a:t>
            </a:r>
            <a:r>
              <a:rPr lang="zh-CN" altLang="en-US" dirty="0"/>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1</a:t>
            </a:r>
          </a:p>
          <a:p>
            <a:pPr algn="ctr"/>
            <a:endParaRPr lang="en-US" altLang="zh-CN" sz="1600" dirty="0">
              <a:solidFill>
                <a:schemeClr val="bg1"/>
              </a:solidFill>
            </a:endParaRPr>
          </a:p>
          <a:p>
            <a:pPr algn="ctr"/>
            <a:r>
              <a:rPr lang="en-US" altLang="zh-CN" sz="1600" dirty="0">
                <a:solidFill>
                  <a:schemeClr val="bg1"/>
                </a:solidFill>
              </a:rPr>
              <a:t>Distribute the Cards</a:t>
            </a:r>
            <a:endParaRPr lang="zh-CN" altLang="en-US" sz="1600" dirty="0">
              <a:solidFill>
                <a:schemeClr val="bg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2</a:t>
            </a:r>
          </a:p>
          <a:p>
            <a:pPr algn="ctr"/>
            <a:endParaRPr lang="en-US" altLang="zh-CN" sz="1600" dirty="0">
              <a:solidFill>
                <a:schemeClr val="bg1"/>
              </a:solidFill>
            </a:endParaRPr>
          </a:p>
          <a:p>
            <a:pPr algn="ctr"/>
            <a:r>
              <a:rPr lang="en-US" altLang="zh-CN" sz="1600" dirty="0">
                <a:solidFill>
                  <a:schemeClr val="bg1"/>
                </a:solidFill>
              </a:rPr>
              <a:t>Present the Story </a:t>
            </a:r>
            <a:endParaRPr lang="zh-CN" altLang="en-US" sz="1600" dirty="0">
              <a:solidFill>
                <a:schemeClr val="bg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3</a:t>
            </a:r>
          </a:p>
          <a:p>
            <a:pPr algn="ctr"/>
            <a:endParaRPr lang="en-US" altLang="zh-CN" sz="1600" dirty="0">
              <a:solidFill>
                <a:schemeClr val="bg1"/>
              </a:solidFill>
            </a:endParaRPr>
          </a:p>
          <a:p>
            <a:pPr algn="ctr"/>
            <a:r>
              <a:rPr lang="en-US" altLang="zh-CN" sz="1600" dirty="0">
                <a:solidFill>
                  <a:schemeClr val="bg1"/>
                </a:solidFill>
              </a:rPr>
              <a:t>Facilitate Discussion</a:t>
            </a:r>
            <a:endParaRPr lang="zh-CN" altLang="en-US" sz="1600" dirty="0">
              <a:solidFill>
                <a:schemeClr val="bg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4</a:t>
            </a:r>
          </a:p>
          <a:p>
            <a:pPr algn="ctr"/>
            <a:endParaRPr lang="en-US" altLang="zh-CN" sz="1600" dirty="0">
              <a:solidFill>
                <a:schemeClr val="bg1"/>
              </a:solidFill>
            </a:endParaRPr>
          </a:p>
          <a:p>
            <a:pPr algn="ctr"/>
            <a:r>
              <a:rPr lang="en-US" altLang="zh-CN" sz="1600" dirty="0">
                <a:solidFill>
                  <a:schemeClr val="bg1"/>
                </a:solidFill>
              </a:rPr>
              <a:t>Estimate and Disclose</a:t>
            </a:r>
            <a:endParaRPr lang="zh-CN" altLang="en-US" sz="1600" dirty="0">
              <a:solidFill>
                <a:schemeClr val="bg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bg1"/>
                </a:solidFill>
              </a:rPr>
              <a:t>Step 5</a:t>
            </a:r>
          </a:p>
          <a:p>
            <a:pPr algn="ctr"/>
            <a:endParaRPr lang="en-US" altLang="zh-CN" sz="1600" dirty="0">
              <a:solidFill>
                <a:schemeClr val="bg1"/>
              </a:solidFill>
            </a:endParaRPr>
          </a:p>
          <a:p>
            <a:pPr algn="ctr"/>
            <a:r>
              <a:rPr lang="en-US" altLang="zh-CN" sz="1600" dirty="0">
                <a:solidFill>
                  <a:schemeClr val="bg1"/>
                </a:solidFill>
              </a:rPr>
              <a:t>Strive for Agreement</a:t>
            </a:r>
            <a:endParaRPr lang="zh-CN" altLang="en-US" sz="1600" dirty="0">
              <a:solidFill>
                <a:schemeClr val="bg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931746121"/>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rgbClr val="FFFF00"/>
                          </a:solidFill>
                        </a:rPr>
                        <a:t>Case 1</a:t>
                      </a:r>
                      <a:r>
                        <a:rPr lang="zh-CN" altLang="en-US" sz="1600" dirty="0">
                          <a:solidFill>
                            <a:schemeClr val="bg1"/>
                          </a:solidFill>
                        </a:rPr>
                        <a:t>：估值分布位于 </a:t>
                      </a:r>
                      <a:r>
                        <a:rPr lang="en-US" altLang="zh-CN" sz="1600" dirty="0">
                          <a:solidFill>
                            <a:schemeClr val="bg1"/>
                          </a:solidFill>
                        </a:rPr>
                        <a:t>3 </a:t>
                      </a:r>
                      <a:r>
                        <a:rPr lang="zh-CN" altLang="en-US" sz="1600" dirty="0">
                          <a:solidFill>
                            <a:schemeClr val="bg1"/>
                          </a:solidFill>
                        </a:rPr>
                        <a:t>个连续区域，则取平均</a:t>
                      </a:r>
                      <a:endParaRPr lang="en-US" altLang="zh-CN" sz="1600" dirty="0">
                        <a:solidFill>
                          <a:schemeClr val="bg1"/>
                        </a:solidFill>
                      </a:endParaRPr>
                    </a:p>
                    <a:p>
                      <a:pPr algn="l">
                        <a:buNone/>
                      </a:pP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mpd="sng">
                      <a:noFill/>
                      <a:prstDash val="soli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prstDash val="soli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bg1"/>
                          </a:solidFill>
                        </a:rPr>
                        <a:t>(3+3+3+5+8)/5=4.4</a:t>
                      </a:r>
                      <a:r>
                        <a:rPr lang="zh-CN" altLang="en-US" sz="1600" dirty="0">
                          <a:solidFill>
                            <a:schemeClr val="bg1"/>
                          </a:solidFill>
                        </a:rPr>
                        <a:t>；取值 </a:t>
                      </a:r>
                      <a:r>
                        <a:rPr lang="en-US" altLang="zh-CN" sz="1600" dirty="0">
                          <a:solidFill>
                            <a:srgbClr val="FFFF00"/>
                          </a:solidFill>
                        </a:rPr>
                        <a:t>5</a:t>
                      </a:r>
                      <a:endParaRPr 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157099606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rgbClr val="FFFF00"/>
                          </a:solidFill>
                        </a:rPr>
                        <a:t>Case 2</a:t>
                      </a:r>
                      <a:r>
                        <a:rPr lang="zh-CN" altLang="en-US" sz="1600" dirty="0">
                          <a:solidFill>
                            <a:schemeClr val="bg1"/>
                          </a:solidFill>
                        </a:rPr>
                        <a:t>：估值分布超过 </a:t>
                      </a:r>
                      <a:r>
                        <a:rPr lang="en-US" altLang="zh-CN" sz="1600" dirty="0">
                          <a:solidFill>
                            <a:schemeClr val="bg1"/>
                          </a:solidFill>
                        </a:rPr>
                        <a:t>3 </a:t>
                      </a:r>
                      <a:r>
                        <a:rPr lang="zh-CN" altLang="en-US" sz="1600" dirty="0">
                          <a:solidFill>
                            <a:schemeClr val="bg1"/>
                          </a:solidFill>
                        </a:rPr>
                        <a:t>个连续区域，最高估值和最低估值应说明原因并重新亮牌；最多可以重复 </a:t>
                      </a:r>
                      <a:r>
                        <a:rPr lang="en-US" altLang="zh-CN" sz="1600" dirty="0">
                          <a:solidFill>
                            <a:schemeClr val="bg1"/>
                          </a:solidFill>
                        </a:rPr>
                        <a:t>2 </a:t>
                      </a:r>
                      <a:r>
                        <a:rPr lang="zh-CN" altLang="en-US" sz="1600" dirty="0">
                          <a:solidFill>
                            <a:schemeClr val="bg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rgbClr val="FFFF00"/>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rgbClr val="FFFF00"/>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496110761"/>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rgbClr val="FFFF00"/>
                          </a:solidFill>
                        </a:rPr>
                        <a:t>Case 3</a:t>
                      </a:r>
                      <a:r>
                        <a:rPr lang="zh-CN" altLang="en-US" sz="1600" dirty="0">
                          <a:solidFill>
                            <a:schemeClr val="bg1"/>
                          </a:solidFill>
                        </a:rPr>
                        <a:t>：第 </a:t>
                      </a:r>
                      <a:r>
                        <a:rPr lang="en-US" altLang="zh-CN" sz="1600" dirty="0">
                          <a:solidFill>
                            <a:schemeClr val="bg1"/>
                          </a:solidFill>
                        </a:rPr>
                        <a:t>3 </a:t>
                      </a:r>
                      <a:r>
                        <a:rPr lang="zh-CN" altLang="en-US" sz="1600" dirty="0">
                          <a:solidFill>
                            <a:schemeClr val="bg1"/>
                          </a:solidFill>
                        </a:rPr>
                        <a:t>次重复亮牌，估值分布依然超过 </a:t>
                      </a:r>
                      <a:r>
                        <a:rPr lang="en-US" altLang="zh-CN" sz="1600" dirty="0">
                          <a:solidFill>
                            <a:schemeClr val="bg1"/>
                          </a:solidFill>
                        </a:rPr>
                        <a:t>3 </a:t>
                      </a:r>
                      <a:r>
                        <a:rPr lang="zh-CN" altLang="en-US" sz="1600" dirty="0">
                          <a:solidFill>
                            <a:schemeClr val="bg1"/>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rgbClr val="FFFF00"/>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rgbClr val="FFFF00"/>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bg1"/>
                          </a:solidFill>
                        </a:rPr>
                        <a:t>√</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prstClr val="white"/>
                        </a:solidFill>
                        <a:effectLst/>
                        <a:uLnTx/>
                        <a:uFillTx/>
                        <a:latin typeface="Montserrat"/>
                        <a:ea typeface="微软雅黑 Light"/>
                        <a:cs typeface="+mn-cs"/>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bg1"/>
                          </a:solidFill>
                        </a:rPr>
                        <a:t>Result</a:t>
                      </a:r>
                      <a:endParaRPr 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(3+3+5)/3</a:t>
                      </a:r>
                      <a:r>
                        <a:rPr lang="zh-CN" altLang="en-US" sz="1600" dirty="0">
                          <a:solidFill>
                            <a:schemeClr val="bg1"/>
                          </a:solidFill>
                        </a:rPr>
                        <a:t>≈</a:t>
                      </a:r>
                      <a:r>
                        <a:rPr lang="en-US" altLang="zh-CN" sz="1600" dirty="0">
                          <a:solidFill>
                            <a:schemeClr val="bg1"/>
                          </a:solidFill>
                        </a:rPr>
                        <a:t>3.67</a:t>
                      </a:r>
                      <a:r>
                        <a:rPr lang="zh-CN" altLang="en-US" sz="1600" dirty="0">
                          <a:solidFill>
                            <a:schemeClr val="bg1"/>
                          </a:solidFill>
                        </a:rPr>
                        <a:t>；取值 </a:t>
                      </a:r>
                      <a:r>
                        <a:rPr lang="en-US" altLang="zh-CN" sz="1600" dirty="0">
                          <a:solidFill>
                            <a:srgbClr val="FFFF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总成本分摊到各个工作包</a:t>
            </a:r>
            <a:endParaRPr lang="en-US" altLang="zh-CN" dirty="0"/>
          </a:p>
          <a:p>
            <a:r>
              <a:rPr lang="zh-CN" altLang="en-US" dirty="0"/>
              <a:t>各个工作包分解到各个活动</a:t>
            </a:r>
            <a:endParaRPr lang="en-US" altLang="zh-CN" dirty="0"/>
          </a:p>
          <a:p>
            <a:r>
              <a:rPr lang="zh-CN" altLang="en-US" dirty="0"/>
              <a:t>成本基线：时间计划和成本预算计划</a:t>
            </a:r>
          </a:p>
        </p:txBody>
      </p:sp>
      <p:sp>
        <p:nvSpPr>
          <p:cNvPr id="8" name="文本占位符 7">
            <a:extLst>
              <a:ext uri="{FF2B5EF4-FFF2-40B4-BE49-F238E27FC236}">
                <a16:creationId xmlns:a16="http://schemas.microsoft.com/office/drawing/2014/main" id="{757E891C-89D9-A947-E6F0-8D435EB6DCAC}"/>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1608654994"/>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a:solidFill>
                            <a:schemeClr val="bg1"/>
                          </a:solidFill>
                        </a:rPr>
                        <a:t>项目预算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管理储备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成本基准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控制账户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应急储备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工作包成本估算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活动应急储备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a:solidFill>
                            <a:schemeClr val="bg1"/>
                          </a:solidFill>
                        </a:rPr>
                        <a:t>活动成本估算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a:t>5. </a:t>
            </a:r>
            <a:r>
              <a:rPr lang="zh-CN" altLang="en-US"/>
              <a:t>成本控制</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40349F33-138F-375A-11E2-C2A4734687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6375921" cy="429413"/>
          </a:xfrm>
        </p:spPr>
        <p:txBody>
          <a:bodyPr>
            <a:normAutofit/>
          </a:bodyPr>
          <a:lstStyle/>
          <a:p>
            <a:r>
              <a:rPr lang="en-US" altLang="zh-CN"/>
              <a:t>5. </a:t>
            </a:r>
            <a:r>
              <a:rPr lang="zh-CN" altLang="en-US"/>
              <a:t>成本控制 </a:t>
            </a:r>
            <a:r>
              <a:rPr lang="en-US" altLang="zh-CN"/>
              <a:t>– </a:t>
            </a:r>
            <a:r>
              <a:rPr lang="zh-CN" altLang="en-US"/>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864000"/>
            <a:ext cx="10800000" cy="5400000"/>
          </a:xfrm>
        </p:spPr>
        <p:txBody>
          <a:bodyPr/>
          <a:lstStyle/>
          <a:p>
            <a:r>
              <a:rPr lang="en-US" altLang="zh-CN"/>
              <a:t>Earned Value Management</a:t>
            </a:r>
          </a:p>
          <a:p>
            <a:r>
              <a:rPr lang="zh-CN" altLang="en-US"/>
              <a:t>要素</a:t>
            </a:r>
            <a:endParaRPr lang="en-US" altLang="zh-CN"/>
          </a:p>
          <a:p>
            <a:pPr lvl="1"/>
            <a:r>
              <a:rPr lang="zh-CN" altLang="en-US"/>
              <a:t>计划价值 </a:t>
            </a:r>
            <a:r>
              <a:rPr lang="en-US" altLang="zh-CN"/>
              <a:t>PV</a:t>
            </a:r>
          </a:p>
          <a:p>
            <a:pPr lvl="1"/>
            <a:r>
              <a:rPr lang="zh-CN" altLang="en-US"/>
              <a:t>挣值 </a:t>
            </a:r>
            <a:r>
              <a:rPr lang="en-US" altLang="zh-CN"/>
              <a:t>EV</a:t>
            </a:r>
          </a:p>
          <a:p>
            <a:pPr lvl="1"/>
            <a:r>
              <a:rPr lang="zh-CN" altLang="en-US"/>
              <a:t>实际成本 </a:t>
            </a:r>
            <a:r>
              <a:rPr lang="en-US" altLang="zh-CN"/>
              <a:t>AC</a:t>
            </a:r>
          </a:p>
          <a:p>
            <a:endParaRPr lang="zh-CN" altLang="en-US"/>
          </a:p>
        </p:txBody>
      </p:sp>
      <p:sp>
        <p:nvSpPr>
          <p:cNvPr id="6" name="文本占位符 5">
            <a:extLst>
              <a:ext uri="{FF2B5EF4-FFF2-40B4-BE49-F238E27FC236}">
                <a16:creationId xmlns:a16="http://schemas.microsoft.com/office/drawing/2014/main" id="{967564CE-F1C9-46AD-7807-D6288517DE9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6375921" cy="429413"/>
          </a:xfrm>
        </p:spPr>
        <p:txBody>
          <a:bodyPr>
            <a:normAutofit/>
          </a:bodyPr>
          <a:lstStyle/>
          <a:p>
            <a:r>
              <a:rPr lang="en-US" altLang="zh-CN"/>
              <a:t>5. </a:t>
            </a:r>
            <a:r>
              <a:rPr lang="zh-CN" altLang="en-US"/>
              <a:t>成本控制 </a:t>
            </a:r>
            <a:r>
              <a:rPr lang="en-US" altLang="zh-CN"/>
              <a:t>– </a:t>
            </a:r>
            <a:r>
              <a:rPr lang="zh-CN" altLang="en-US"/>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4180687569"/>
              </p:ext>
            </p:extLst>
          </p:nvPr>
        </p:nvGraphicFramePr>
        <p:xfrm>
          <a:off x="695325" y="8636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969827951"/>
                  </a:ext>
                </a:extLst>
              </a:tr>
              <a:tr h="0">
                <a:tc>
                  <a:txBody>
                    <a:bodyPr/>
                    <a:lstStyle/>
                    <a:p>
                      <a:pPr>
                        <a:buNone/>
                      </a:pPr>
                      <a:r>
                        <a:rPr lang="en-US">
                          <a:solidFill>
                            <a:schemeClr val="bg1"/>
                          </a:solidFill>
                        </a:rPr>
                        <a:t>PV</a:t>
                      </a:r>
                      <a:r>
                        <a:rPr lang="zh-CN" altLang="en-US">
                          <a:solidFill>
                            <a:schemeClr val="bg1"/>
                          </a:solidFill>
                        </a:rPr>
                        <a:t>，</a:t>
                      </a:r>
                      <a:r>
                        <a:rPr lang="en-US" altLang="zh-CN">
                          <a:solidFill>
                            <a:schemeClr val="bg1"/>
                          </a:solidFill>
                        </a:rPr>
                        <a:t>Planned Value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计划工作量的预算费用，应该花多少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2169119"/>
                  </a:ext>
                </a:extLst>
              </a:tr>
              <a:tr h="0">
                <a:tc>
                  <a:txBody>
                    <a:bodyPr/>
                    <a:lstStyle/>
                    <a:p>
                      <a:pPr>
                        <a:buNone/>
                      </a:pPr>
                      <a:r>
                        <a:rPr lang="en-US">
                          <a:solidFill>
                            <a:schemeClr val="bg1"/>
                          </a:solidFill>
                        </a:rPr>
                        <a:t>EV</a:t>
                      </a:r>
                      <a:r>
                        <a:rPr lang="zh-CN" altLang="en-US">
                          <a:solidFill>
                            <a:schemeClr val="bg1"/>
                          </a:solidFill>
                        </a:rPr>
                        <a:t>，</a:t>
                      </a:r>
                      <a:r>
                        <a:rPr lang="en-US" altLang="zh-CN">
                          <a:solidFill>
                            <a:schemeClr val="bg1"/>
                          </a:solidFill>
                        </a:rPr>
                        <a:t>Earned Value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已完成的实际工作量预算费用</a:t>
                      </a:r>
                      <a:r>
                        <a:rPr lang="en-US" altLang="zh-CN">
                          <a:solidFill>
                            <a:schemeClr val="bg1"/>
                          </a:solidFill>
                        </a:rPr>
                        <a:t>/</a:t>
                      </a:r>
                      <a:r>
                        <a:rPr lang="zh-CN" altLang="en-US">
                          <a:solidFill>
                            <a:schemeClr val="bg1"/>
                          </a:solidFill>
                        </a:rPr>
                        <a:t>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36192706"/>
                  </a:ext>
                </a:extLst>
              </a:tr>
              <a:tr h="0">
                <a:tc>
                  <a:txBody>
                    <a:bodyPr/>
                    <a:lstStyle/>
                    <a:p>
                      <a:pPr>
                        <a:buNone/>
                      </a:pPr>
                      <a:r>
                        <a:rPr lang="en-US">
                          <a:solidFill>
                            <a:schemeClr val="bg1"/>
                          </a:solidFill>
                        </a:rPr>
                        <a:t>AC</a:t>
                      </a:r>
                      <a:r>
                        <a:rPr lang="zh-CN" altLang="en-US">
                          <a:solidFill>
                            <a:schemeClr val="bg1"/>
                          </a:solidFill>
                        </a:rPr>
                        <a:t>，</a:t>
                      </a:r>
                      <a:r>
                        <a:rPr lang="en-US" altLang="zh-CN">
                          <a:solidFill>
                            <a:schemeClr val="bg1"/>
                          </a:solidFill>
                        </a:rPr>
                        <a:t>Actual Cost</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已完成工作量的实际费用，实际花了多少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82583307"/>
                  </a:ext>
                </a:extLst>
              </a:tr>
              <a:tr h="0">
                <a:tc>
                  <a:txBody>
                    <a:bodyPr/>
                    <a:lstStyle/>
                    <a:p>
                      <a:pPr>
                        <a:buNone/>
                      </a:pPr>
                      <a:r>
                        <a:rPr lang="en-US">
                          <a:solidFill>
                            <a:schemeClr val="bg1"/>
                          </a:solidFill>
                        </a:rPr>
                        <a:t>CV</a:t>
                      </a:r>
                      <a:r>
                        <a:rPr lang="zh-CN" altLang="en-US">
                          <a:solidFill>
                            <a:schemeClr val="bg1"/>
                          </a:solidFill>
                        </a:rPr>
                        <a:t>，</a:t>
                      </a:r>
                      <a:r>
                        <a:rPr lang="en-US" altLang="zh-CN">
                          <a:solidFill>
                            <a:schemeClr val="bg1"/>
                          </a:solidFill>
                        </a:rPr>
                        <a:t>Cost Variance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成本偏差 </a:t>
                      </a:r>
                      <a:r>
                        <a:rPr lang="en-US">
                          <a:solidFill>
                            <a:schemeClr val="bg1"/>
                          </a:solidFill>
                        </a:rPr>
                        <a:t>CV = EV - AC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8217352"/>
                  </a:ext>
                </a:extLst>
              </a:tr>
              <a:tr h="0">
                <a:tc>
                  <a:txBody>
                    <a:bodyPr/>
                    <a:lstStyle/>
                    <a:p>
                      <a:pPr>
                        <a:buNone/>
                      </a:pPr>
                      <a:r>
                        <a:rPr lang="en-US">
                          <a:solidFill>
                            <a:schemeClr val="bg1"/>
                          </a:solidFill>
                        </a:rPr>
                        <a:t>SV</a:t>
                      </a:r>
                      <a:r>
                        <a:rPr lang="zh-CN" altLang="en-US">
                          <a:solidFill>
                            <a:schemeClr val="bg1"/>
                          </a:solidFill>
                        </a:rPr>
                        <a:t>，</a:t>
                      </a:r>
                      <a:r>
                        <a:rPr lang="en-US" altLang="zh-CN">
                          <a:solidFill>
                            <a:schemeClr val="bg1"/>
                          </a:solidFill>
                        </a:rPr>
                        <a:t>Schedule Variance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进度偏差 </a:t>
                      </a:r>
                      <a:r>
                        <a:rPr lang="en-US">
                          <a:solidFill>
                            <a:schemeClr val="bg1"/>
                          </a:solidFill>
                        </a:rPr>
                        <a:t>SV = EV - PV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196004"/>
                  </a:ext>
                </a:extLst>
              </a:tr>
              <a:tr h="0">
                <a:tc>
                  <a:txBody>
                    <a:bodyPr/>
                    <a:lstStyle/>
                    <a:p>
                      <a:pPr>
                        <a:buNone/>
                      </a:pPr>
                      <a:r>
                        <a:rPr lang="en-US">
                          <a:solidFill>
                            <a:schemeClr val="bg1"/>
                          </a:solidFill>
                        </a:rPr>
                        <a:t>CPI</a:t>
                      </a:r>
                      <a:r>
                        <a:rPr lang="zh-CN" altLang="en-US">
                          <a:solidFill>
                            <a:schemeClr val="bg1"/>
                          </a:solidFill>
                        </a:rPr>
                        <a:t>，</a:t>
                      </a:r>
                      <a:r>
                        <a:rPr lang="en-US" altLang="zh-CN">
                          <a:solidFill>
                            <a:schemeClr val="bg1"/>
                          </a:solidFill>
                        </a:rPr>
                        <a:t>Cost Performance Index</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成本绩效指数 </a:t>
                      </a:r>
                      <a:r>
                        <a:rPr lang="en-US" altLang="zh-CN">
                          <a:solidFill>
                            <a:schemeClr val="bg1"/>
                          </a:solidFill>
                        </a:rPr>
                        <a:t>CPI = EV / AC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13460754"/>
                  </a:ext>
                </a:extLst>
              </a:tr>
              <a:tr h="0">
                <a:tc>
                  <a:txBody>
                    <a:bodyPr/>
                    <a:lstStyle/>
                    <a:p>
                      <a:pPr>
                        <a:buNone/>
                      </a:pPr>
                      <a:r>
                        <a:rPr lang="en-US">
                          <a:solidFill>
                            <a:schemeClr val="bg1"/>
                          </a:solidFill>
                        </a:rPr>
                        <a:t>SPI</a:t>
                      </a:r>
                      <a:r>
                        <a:rPr lang="zh-CN" altLang="en-US">
                          <a:solidFill>
                            <a:schemeClr val="bg1"/>
                          </a:solidFill>
                        </a:rPr>
                        <a:t>，</a:t>
                      </a:r>
                      <a:r>
                        <a:rPr lang="en-US" altLang="zh-CN">
                          <a:solidFill>
                            <a:schemeClr val="bg1"/>
                          </a:solidFill>
                        </a:rPr>
                        <a:t>Schedule Performance Index</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进度绩效指数 </a:t>
                      </a:r>
                      <a:r>
                        <a:rPr lang="en-US">
                          <a:solidFill>
                            <a:schemeClr val="bg1"/>
                          </a:solidFill>
                        </a:rPr>
                        <a:t>SPI = EV / PV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78365379"/>
                  </a:ext>
                </a:extLst>
              </a:tr>
              <a:tr h="0">
                <a:tc>
                  <a:txBody>
                    <a:bodyPr/>
                    <a:lstStyle/>
                    <a:p>
                      <a:pPr>
                        <a:buNone/>
                      </a:pPr>
                      <a:r>
                        <a:rPr lang="en-US">
                          <a:solidFill>
                            <a:schemeClr val="bg1"/>
                          </a:solidFill>
                        </a:rPr>
                        <a:t>BAC</a:t>
                      </a:r>
                      <a:r>
                        <a:rPr lang="zh-CN" altLang="en-US">
                          <a:solidFill>
                            <a:schemeClr val="bg1"/>
                          </a:solidFill>
                        </a:rPr>
                        <a:t>，</a:t>
                      </a:r>
                      <a:r>
                        <a:rPr lang="en-US" altLang="zh-CN">
                          <a:solidFill>
                            <a:schemeClr val="bg1"/>
                          </a:solidFill>
                        </a:rPr>
                        <a:t>Budget at Completion</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总预算即全部的 </a:t>
                      </a:r>
                      <a:r>
                        <a:rPr lang="en-US" altLang="zh-CN">
                          <a:solidFill>
                            <a:schemeClr val="bg1"/>
                          </a:solidFill>
                        </a:rPr>
                        <a:t>PV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27084754"/>
                  </a:ext>
                </a:extLst>
              </a:tr>
              <a:tr h="0">
                <a:tc>
                  <a:txBody>
                    <a:bodyPr/>
                    <a:lstStyle/>
                    <a:p>
                      <a:pPr>
                        <a:buNone/>
                      </a:pPr>
                      <a:r>
                        <a:rPr lang="en-US">
                          <a:solidFill>
                            <a:schemeClr val="bg1"/>
                          </a:solidFill>
                        </a:rPr>
                        <a:t>ETC</a:t>
                      </a:r>
                      <a:r>
                        <a:rPr lang="zh-CN" altLang="en-US">
                          <a:solidFill>
                            <a:schemeClr val="bg1"/>
                          </a:solidFill>
                        </a:rPr>
                        <a:t>，</a:t>
                      </a:r>
                      <a:r>
                        <a:rPr lang="en-US" altLang="zh-CN">
                          <a:solidFill>
                            <a:schemeClr val="bg1"/>
                          </a:solidFill>
                        </a:rPr>
                        <a:t>Estimate to Complete</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fr-FR">
                          <a:solidFill>
                            <a:schemeClr val="bg1"/>
                          </a:solidFill>
                        </a:rPr>
                        <a:t>完工尚需估算 ETC = EAC - AC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88247586"/>
                  </a:ext>
                </a:extLst>
              </a:tr>
              <a:tr h="0">
                <a:tc>
                  <a:txBody>
                    <a:bodyPr/>
                    <a:lstStyle/>
                    <a:p>
                      <a:pPr>
                        <a:buNone/>
                      </a:pPr>
                      <a:r>
                        <a:rPr lang="en-US">
                          <a:solidFill>
                            <a:schemeClr val="bg1"/>
                          </a:solidFill>
                        </a:rPr>
                        <a:t>EAC</a:t>
                      </a:r>
                      <a:r>
                        <a:rPr lang="zh-CN" altLang="en-US">
                          <a:solidFill>
                            <a:schemeClr val="bg1"/>
                          </a:solidFill>
                        </a:rPr>
                        <a:t>，</a:t>
                      </a:r>
                      <a:r>
                        <a:rPr lang="en-US" altLang="zh-CN">
                          <a:solidFill>
                            <a:schemeClr val="bg1"/>
                          </a:solidFill>
                        </a:rPr>
                        <a:t>Estimate at Completion</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a:solidFill>
                            <a:schemeClr val="bg1"/>
                          </a:solidFill>
                        </a:rPr>
                        <a:t>完工估算：</a:t>
                      </a:r>
                      <a:endParaRPr lang="en-US" altLang="zh-CN">
                        <a:solidFill>
                          <a:schemeClr val="bg1"/>
                        </a:solidFill>
                      </a:endParaRPr>
                    </a:p>
                    <a:p>
                      <a:pPr>
                        <a:buNone/>
                      </a:pPr>
                      <a:r>
                        <a:rPr lang="zh-CN" altLang="en-US">
                          <a:solidFill>
                            <a:schemeClr val="bg1"/>
                          </a:solidFill>
                        </a:rPr>
                        <a:t>非典型偏差 </a:t>
                      </a:r>
                      <a:r>
                        <a:rPr lang="en-US">
                          <a:solidFill>
                            <a:schemeClr val="bg1"/>
                          </a:solidFill>
                        </a:rPr>
                        <a:t>EAC = AC + (BAC - EV)</a:t>
                      </a:r>
                    </a:p>
                    <a:p>
                      <a:pPr>
                        <a:buNone/>
                      </a:pPr>
                      <a:r>
                        <a:rPr lang="zh-CN" altLang="en-US">
                          <a:solidFill>
                            <a:schemeClr val="bg1"/>
                          </a:solidFill>
                        </a:rPr>
                        <a:t>典型偏差 </a:t>
                      </a:r>
                      <a:r>
                        <a:rPr lang="en-US">
                          <a:solidFill>
                            <a:schemeClr val="bg1"/>
                          </a:solidFill>
                        </a:rPr>
                        <a:t>EAC = AC + (BAC - EV)/CPI</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4668408"/>
                  </a:ext>
                </a:extLst>
              </a:tr>
              <a:tr h="0">
                <a:tc>
                  <a:txBody>
                    <a:bodyPr/>
                    <a:lstStyle/>
                    <a:p>
                      <a:pPr>
                        <a:buNone/>
                      </a:pPr>
                      <a:r>
                        <a:rPr lang="en-US">
                          <a:solidFill>
                            <a:schemeClr val="bg1"/>
                          </a:solidFill>
                        </a:rPr>
                        <a:t>VAC</a:t>
                      </a:r>
                      <a:r>
                        <a:rPr lang="zh-CN" altLang="en-US">
                          <a:solidFill>
                            <a:schemeClr val="bg1"/>
                          </a:solidFill>
                        </a:rPr>
                        <a:t>，</a:t>
                      </a:r>
                      <a:r>
                        <a:rPr lang="en-US" altLang="zh-CN">
                          <a:solidFill>
                            <a:schemeClr val="bg1"/>
                          </a:solidFill>
                        </a:rPr>
                        <a:t>Variance at Completion</a:t>
                      </a:r>
                      <a:endParaRPr lang="en-US">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dirty="0">
                          <a:solidFill>
                            <a:schemeClr val="bg1"/>
                          </a:solidFill>
                        </a:rPr>
                        <a:t>完工偏差 </a:t>
                      </a:r>
                      <a:r>
                        <a:rPr lang="en-US" dirty="0">
                          <a:solidFill>
                            <a:schemeClr val="bg1"/>
                          </a:solidFill>
                        </a:rPr>
                        <a:t>VAC = BAC - EAC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8661105"/>
                  </a:ext>
                </a:extLst>
              </a:tr>
            </a:tbl>
          </a:graphicData>
        </a:graphic>
      </p:graphicFrame>
      <p:sp>
        <p:nvSpPr>
          <p:cNvPr id="5" name="文本占位符 4">
            <a:extLst>
              <a:ext uri="{FF2B5EF4-FFF2-40B4-BE49-F238E27FC236}">
                <a16:creationId xmlns:a16="http://schemas.microsoft.com/office/drawing/2014/main" id="{F55FD0EA-06C1-9AEB-6E80-150FBF42AD41}"/>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278857"/>
            <a:ext cx="4424219" cy="2300287"/>
          </a:xfrm>
        </p:spPr>
        <p:txBody>
          <a:bodyPr>
            <a:normAutofit fontScale="92500" lnSpcReduction="20000"/>
          </a:bodyPr>
          <a:lstStyle/>
          <a:p>
            <a:r>
              <a:rPr lang="zh-CN" altLang="en-US"/>
              <a:t>规划进度</a:t>
            </a:r>
          </a:p>
          <a:p>
            <a:r>
              <a:rPr lang="zh-CN" altLang="en-US"/>
              <a:t>定义活动</a:t>
            </a:r>
          </a:p>
          <a:p>
            <a:r>
              <a:rPr lang="zh-CN" altLang="en-US"/>
              <a:t>排列活动顺序</a:t>
            </a:r>
          </a:p>
          <a:p>
            <a:r>
              <a:rPr lang="zh-CN" altLang="en-US"/>
              <a:t>估算活动资源</a:t>
            </a:r>
          </a:p>
          <a:p>
            <a:r>
              <a:rPr lang="zh-CN" altLang="en-US"/>
              <a:t>估算活动持续时间</a:t>
            </a:r>
          </a:p>
          <a:p>
            <a:r>
              <a:rPr lang="zh-CN" altLang="en-US"/>
              <a:t>制定进度计划</a:t>
            </a:r>
          </a:p>
          <a:p>
            <a:r>
              <a:rPr lang="zh-CN" altLang="en-US"/>
              <a:t>控制进度过程</a:t>
            </a:r>
          </a:p>
          <a:p>
            <a:endParaRPr lang="zh-CN" altLang="en-US"/>
          </a:p>
        </p:txBody>
      </p:sp>
    </p:spTree>
    <p:extLst>
      <p:ext uri="{BB962C8B-B14F-4D97-AF65-F5344CB8AC3E}">
        <p14:creationId xmlns:p14="http://schemas.microsoft.com/office/powerpoint/2010/main" val="25724519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a:t>7</a:t>
            </a:r>
            <a:r>
              <a:rPr lang="zh-CN" altLang="en-US"/>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a:t>规划进度</a:t>
            </a:r>
            <a:endParaRPr lang="en-US" altLang="zh-CN"/>
          </a:p>
          <a:p>
            <a:r>
              <a:rPr lang="zh-CN" altLang="en-US"/>
              <a:t>定义活动</a:t>
            </a:r>
            <a:endParaRPr lang="en-US" altLang="zh-CN"/>
          </a:p>
          <a:p>
            <a:r>
              <a:rPr lang="zh-CN" altLang="en-US"/>
              <a:t>排列活动顺序</a:t>
            </a:r>
            <a:endParaRPr lang="en-US" altLang="zh-CN"/>
          </a:p>
          <a:p>
            <a:r>
              <a:rPr lang="zh-CN" altLang="en-US"/>
              <a:t>估算活动资源</a:t>
            </a:r>
            <a:endParaRPr lang="en-US" altLang="zh-CN"/>
          </a:p>
          <a:p>
            <a:r>
              <a:rPr lang="zh-CN" altLang="en-US"/>
              <a:t>估算活动持续时间</a:t>
            </a:r>
            <a:endParaRPr lang="en-US" altLang="zh-CN"/>
          </a:p>
          <a:p>
            <a:r>
              <a:rPr lang="zh-CN" altLang="en-US"/>
              <a:t>制定进度计划</a:t>
            </a:r>
            <a:endParaRPr lang="en-US" altLang="zh-CN"/>
          </a:p>
          <a:p>
            <a:r>
              <a:rPr lang="zh-CN" altLang="en-US"/>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254675968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normAutofit/>
          </a:bodyPr>
          <a:lstStyle/>
          <a:p>
            <a:r>
              <a:rPr lang="zh-CN" altLang="en-US"/>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a:t>要求</a:t>
            </a:r>
            <a:endParaRPr lang="en-US" altLang="zh-CN"/>
          </a:p>
          <a:p>
            <a:pPr lvl="1"/>
            <a:r>
              <a:rPr lang="zh-CN" altLang="en-US"/>
              <a:t>正式或非正式</a:t>
            </a:r>
            <a:endParaRPr lang="en-US" altLang="zh-CN"/>
          </a:p>
          <a:p>
            <a:pPr lvl="1"/>
            <a:r>
              <a:rPr lang="zh-CN" altLang="en-US"/>
              <a:t>详细或概括</a:t>
            </a:r>
            <a:endParaRPr lang="en-US" altLang="zh-CN"/>
          </a:p>
          <a:p>
            <a:r>
              <a:rPr lang="zh-CN" altLang="en-US"/>
              <a:t>产出</a:t>
            </a:r>
            <a:endParaRPr lang="en-US" altLang="zh-CN"/>
          </a:p>
          <a:p>
            <a:pPr lvl="1"/>
            <a:r>
              <a:rPr lang="zh-CN" altLang="en-US"/>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1100009547"/>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a:t>活动 </a:t>
            </a:r>
            <a:r>
              <a:rPr lang="en-US" altLang="zh-CN"/>
              <a:t>Activity</a:t>
            </a:r>
            <a:endParaRPr lang="zh-CN" altLang="en-US"/>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a:t>完成工作包所进行的工作</a:t>
            </a:r>
            <a:endParaRPr lang="en-US" altLang="zh-CN"/>
          </a:p>
          <a:p>
            <a:r>
              <a:rPr lang="zh-CN" altLang="en-US"/>
              <a:t>与工作包</a:t>
            </a:r>
            <a:endParaRPr lang="en-US" altLang="zh-CN"/>
          </a:p>
          <a:p>
            <a:pPr lvl="1"/>
            <a:r>
              <a:rPr lang="en-US" altLang="zh-CN"/>
              <a:t>1</a:t>
            </a:r>
            <a:r>
              <a:rPr lang="zh-CN" altLang="en-US"/>
              <a:t> </a:t>
            </a:r>
            <a:r>
              <a:rPr lang="en-US" altLang="zh-CN"/>
              <a:t>vs 1</a:t>
            </a:r>
          </a:p>
          <a:p>
            <a:pPr lvl="1"/>
            <a:r>
              <a:rPr lang="en-US" altLang="zh-CN"/>
              <a:t>M vs 1</a:t>
            </a:r>
          </a:p>
          <a:p>
            <a:r>
              <a:rPr lang="zh-CN" altLang="en-US"/>
              <a:t>排列活动的工具</a:t>
            </a:r>
            <a:endParaRPr lang="en-US" altLang="zh-CN"/>
          </a:p>
          <a:p>
            <a:pPr lvl="1"/>
            <a:r>
              <a:rPr lang="zh-CN" altLang="en-US"/>
              <a:t>前导图 </a:t>
            </a:r>
            <a:r>
              <a:rPr lang="en-US" altLang="zh-CN"/>
              <a:t>PDM</a:t>
            </a:r>
            <a:r>
              <a:rPr lang="zh-CN" altLang="en-US"/>
              <a:t>，</a:t>
            </a:r>
            <a:r>
              <a:rPr lang="en-US" altLang="zh-CN"/>
              <a:t>Precedence Diagramming Method</a:t>
            </a:r>
            <a:r>
              <a:rPr lang="zh-CN" altLang="en-US"/>
              <a:t>，也叫单代号网络图</a:t>
            </a:r>
            <a:endParaRPr lang="en-US" altLang="zh-CN"/>
          </a:p>
          <a:p>
            <a:pPr lvl="1"/>
            <a:r>
              <a:rPr lang="zh-CN" altLang="en-US"/>
              <a:t>箭线图 </a:t>
            </a:r>
            <a:r>
              <a:rPr lang="en-US" altLang="zh-CN"/>
              <a:t>ADM</a:t>
            </a:r>
            <a:r>
              <a:rPr lang="zh-CN" altLang="en-US"/>
              <a:t>，</a:t>
            </a:r>
            <a:r>
              <a:rPr lang="en-US" altLang="zh-CN"/>
              <a:t>Arrow Diagramming Method,</a:t>
            </a:r>
            <a:r>
              <a:rPr lang="zh-CN" altLang="en-US"/>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149899567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864000"/>
            <a:ext cx="5040000" cy="5400000"/>
          </a:xfrm>
        </p:spPr>
        <p:txBody>
          <a:bodyPr>
            <a:normAutofit/>
          </a:bodyPr>
          <a:lstStyle/>
          <a:p>
            <a:r>
              <a:rPr lang="zh-CN" altLang="en-US"/>
              <a:t>活动：方块表示</a:t>
            </a:r>
            <a:endParaRPr lang="en-US" altLang="zh-CN"/>
          </a:p>
          <a:p>
            <a:r>
              <a:rPr lang="zh-CN" altLang="en-US"/>
              <a:t>紧前活动</a:t>
            </a:r>
            <a:endParaRPr lang="en-US" altLang="zh-CN"/>
          </a:p>
          <a:p>
            <a:pPr lvl="1"/>
            <a:r>
              <a:rPr lang="en-US" altLang="zh-CN"/>
              <a:t>H</a:t>
            </a:r>
            <a:r>
              <a:rPr lang="zh-CN" altLang="en-US"/>
              <a:t>是</a:t>
            </a:r>
            <a:r>
              <a:rPr lang="en-US" altLang="zh-CN"/>
              <a:t>I</a:t>
            </a:r>
            <a:r>
              <a:rPr lang="zh-CN" altLang="en-US"/>
              <a:t>的紧前活动</a:t>
            </a:r>
            <a:endParaRPr lang="en-US" altLang="zh-CN"/>
          </a:p>
          <a:p>
            <a:r>
              <a:rPr lang="zh-CN" altLang="en-US"/>
              <a:t>紧后活动</a:t>
            </a:r>
            <a:endParaRPr lang="en-US" altLang="zh-CN"/>
          </a:p>
          <a:p>
            <a:pPr lvl="1"/>
            <a:r>
              <a:rPr lang="en-US" altLang="zh-CN"/>
              <a:t>I</a:t>
            </a:r>
            <a:r>
              <a:rPr lang="zh-CN" altLang="en-US"/>
              <a:t>是</a:t>
            </a:r>
            <a:r>
              <a:rPr lang="en-US" altLang="zh-CN"/>
              <a:t>H</a:t>
            </a:r>
            <a:r>
              <a:rPr lang="zh-CN" altLang="en-US"/>
              <a:t>的紧后活动</a:t>
            </a:r>
            <a:endParaRPr lang="en-US" altLang="zh-CN"/>
          </a:p>
          <a:p>
            <a:endParaRPr lang="en-US" altLang="zh-CN"/>
          </a:p>
          <a:p>
            <a:endParaRPr lang="en-US" altLang="zh-CN"/>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864000"/>
            <a:ext cx="5400675" cy="5400000"/>
          </a:xfrm>
        </p:spPr>
        <p:txBody>
          <a:bodyPr/>
          <a:lstStyle/>
          <a:p>
            <a:r>
              <a:rPr lang="zh-CN" altLang="en-US"/>
              <a:t>结束 </a:t>
            </a:r>
            <a:r>
              <a:rPr lang="en-US" altLang="zh-CN"/>
              <a:t>Finish </a:t>
            </a:r>
            <a:r>
              <a:rPr lang="zh-CN" altLang="en-US"/>
              <a:t>→ 开始 </a:t>
            </a:r>
            <a:r>
              <a:rPr lang="en-US" altLang="zh-CN"/>
              <a:t>Start</a:t>
            </a:r>
            <a:endParaRPr lang="zh-CN" altLang="en-US"/>
          </a:p>
          <a:p>
            <a:pPr lvl="1"/>
            <a:r>
              <a:rPr lang="en-US" altLang="zh-CN"/>
              <a:t>FS</a:t>
            </a:r>
            <a:r>
              <a:rPr lang="zh-CN" altLang="en-US"/>
              <a:t>：</a:t>
            </a:r>
            <a:r>
              <a:rPr lang="en-US" altLang="zh-CN"/>
              <a:t>H</a:t>
            </a:r>
            <a:r>
              <a:rPr lang="zh-CN" altLang="en-US"/>
              <a:t>结束了，</a:t>
            </a:r>
            <a:r>
              <a:rPr lang="en-US" altLang="zh-CN"/>
              <a:t>I</a:t>
            </a:r>
            <a:r>
              <a:rPr lang="zh-CN" altLang="en-US"/>
              <a:t>才可以开始</a:t>
            </a:r>
            <a:endParaRPr lang="en-US" altLang="zh-CN"/>
          </a:p>
          <a:p>
            <a:r>
              <a:rPr lang="zh-CN" altLang="en-US"/>
              <a:t>开始 </a:t>
            </a:r>
            <a:r>
              <a:rPr lang="en-US" altLang="zh-CN"/>
              <a:t>Start</a:t>
            </a:r>
            <a:r>
              <a:rPr lang="zh-CN" altLang="en-US"/>
              <a:t> → 开始 </a:t>
            </a:r>
            <a:r>
              <a:rPr lang="en-US" altLang="zh-CN"/>
              <a:t>Start</a:t>
            </a:r>
          </a:p>
          <a:p>
            <a:pPr lvl="1"/>
            <a:r>
              <a:rPr lang="en-US" altLang="zh-CN"/>
              <a:t>SS</a:t>
            </a:r>
            <a:r>
              <a:rPr lang="zh-CN" altLang="en-US"/>
              <a:t>：</a:t>
            </a:r>
            <a:r>
              <a:rPr lang="en-US" altLang="zh-CN"/>
              <a:t>A</a:t>
            </a:r>
            <a:r>
              <a:rPr lang="zh-CN" altLang="en-US"/>
              <a:t>开始，</a:t>
            </a:r>
            <a:r>
              <a:rPr lang="en-US" altLang="zh-CN"/>
              <a:t>C</a:t>
            </a:r>
            <a:r>
              <a:rPr lang="zh-CN" altLang="en-US"/>
              <a:t>也开始</a:t>
            </a:r>
            <a:endParaRPr lang="en-US" altLang="zh-CN"/>
          </a:p>
          <a:p>
            <a:r>
              <a:rPr lang="zh-CN" altLang="en-US"/>
              <a:t>开始 </a:t>
            </a:r>
            <a:r>
              <a:rPr lang="en-US" altLang="zh-CN"/>
              <a:t>Start</a:t>
            </a:r>
            <a:r>
              <a:rPr lang="zh-CN" altLang="en-US"/>
              <a:t> → 结束 </a:t>
            </a:r>
            <a:r>
              <a:rPr lang="en-US" altLang="zh-CN"/>
              <a:t>Finish</a:t>
            </a:r>
          </a:p>
          <a:p>
            <a:r>
              <a:rPr lang="zh-CN" altLang="en-US"/>
              <a:t>结束 </a:t>
            </a:r>
            <a:r>
              <a:rPr lang="en-US" altLang="zh-CN"/>
              <a:t>Finish</a:t>
            </a:r>
            <a:r>
              <a:rPr lang="zh-CN" altLang="en-US"/>
              <a:t> → 结束 </a:t>
            </a:r>
            <a:r>
              <a:rPr lang="en-US" altLang="zh-CN"/>
              <a:t>Finish</a:t>
            </a:r>
            <a:endParaRPr lang="zh-CN" altLang="en-US"/>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I</a:t>
            </a:r>
            <a:endParaRPr lang="zh-CN" altLang="en-US" sz="1600">
              <a:solidFill>
                <a:schemeClr val="bg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H</a:t>
            </a:r>
            <a:endParaRPr lang="zh-CN" altLang="en-US" sz="1600">
              <a:solidFill>
                <a:schemeClr val="bg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9413"/>
          </a:xfrm>
        </p:spPr>
        <p:txBody>
          <a:bodyPr>
            <a:normAutofit/>
          </a:bodyPr>
          <a:lstStyle/>
          <a:p>
            <a:r>
              <a:rPr lang="zh-CN" altLang="en-US"/>
              <a:t>前导图 </a:t>
            </a:r>
            <a:r>
              <a:rPr lang="en-US" altLang="zh-CN"/>
              <a:t>PDM</a:t>
            </a:r>
            <a:endParaRPr lang="zh-CN" altLang="en-US"/>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864000"/>
            <a:ext cx="5040000" cy="5400000"/>
          </a:xfrm>
        </p:spPr>
        <p:txBody>
          <a:bodyPr>
            <a:normAutofit/>
          </a:bodyPr>
          <a:lstStyle/>
          <a:p>
            <a:r>
              <a:rPr lang="zh-CN" altLang="en-US"/>
              <a:t>提前量 </a:t>
            </a:r>
            <a:r>
              <a:rPr lang="en-US" altLang="zh-CN"/>
              <a:t>Lead</a:t>
            </a:r>
          </a:p>
          <a:p>
            <a:pPr lvl="1"/>
            <a:r>
              <a:rPr lang="zh-CN" altLang="en-US"/>
              <a:t>紧前活动还没有完成时，紧后活动可以提前开始的时间量</a:t>
            </a:r>
            <a:endParaRPr lang="en-US" altLang="zh-CN"/>
          </a:p>
          <a:p>
            <a:pPr lvl="1"/>
            <a:r>
              <a:rPr lang="zh-CN" altLang="en-US"/>
              <a:t>负值表示</a:t>
            </a:r>
            <a:endParaRPr lang="en-US" altLang="zh-CN"/>
          </a:p>
          <a:p>
            <a:pPr lvl="1"/>
            <a:r>
              <a:rPr lang="en-US" altLang="zh-CN"/>
              <a:t>FS-2</a:t>
            </a:r>
            <a:r>
              <a:rPr lang="zh-CN" altLang="en-US"/>
              <a:t>：完成到开始，提前</a:t>
            </a:r>
            <a:r>
              <a:rPr lang="en-US" altLang="zh-CN"/>
              <a:t>2</a:t>
            </a:r>
            <a:r>
              <a:rPr lang="zh-CN" altLang="en-US"/>
              <a:t>天，表示紧后活动可以在紧前活动完成前</a:t>
            </a:r>
            <a:r>
              <a:rPr lang="en-US" altLang="zh-CN"/>
              <a:t>2</a:t>
            </a:r>
            <a:r>
              <a:rPr lang="zh-CN" altLang="en-US"/>
              <a:t>天开始</a:t>
            </a:r>
            <a:endParaRPr lang="en-US" altLang="zh-CN"/>
          </a:p>
          <a:p>
            <a:pPr lvl="1"/>
            <a:r>
              <a:rPr lang="zh-CN" altLang="en-US"/>
              <a:t>谨慎使用</a:t>
            </a:r>
            <a:endParaRPr lang="en-US" altLang="zh-CN"/>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864000"/>
            <a:ext cx="5400675" cy="5400000"/>
          </a:xfrm>
        </p:spPr>
        <p:txBody>
          <a:bodyPr/>
          <a:lstStyle/>
          <a:p>
            <a:r>
              <a:rPr lang="zh-CN" altLang="en-US"/>
              <a:t>滞后量 </a:t>
            </a:r>
            <a:r>
              <a:rPr lang="en-US" altLang="zh-CN"/>
              <a:t>Lag</a:t>
            </a:r>
          </a:p>
          <a:p>
            <a:pPr lvl="1"/>
            <a:r>
              <a:rPr lang="zh-CN" altLang="en-US"/>
              <a:t>紧前活动完成时，紧后活动需要推迟开始的时间量</a:t>
            </a:r>
            <a:endParaRPr lang="en-US" altLang="zh-CN"/>
          </a:p>
          <a:p>
            <a:pPr lvl="1"/>
            <a:r>
              <a:rPr lang="zh-CN" altLang="en-US"/>
              <a:t>正值表示</a:t>
            </a:r>
            <a:endParaRPr lang="en-US" altLang="zh-CN"/>
          </a:p>
          <a:p>
            <a:pPr lvl="1"/>
            <a:r>
              <a:rPr lang="en-US" altLang="zh-CN"/>
              <a:t>FS+3</a:t>
            </a:r>
            <a:r>
              <a:rPr lang="zh-CN" altLang="en-US"/>
              <a:t>：完成到开始，滞后</a:t>
            </a:r>
            <a:r>
              <a:rPr lang="en-US" altLang="zh-CN"/>
              <a:t>3</a:t>
            </a:r>
            <a:r>
              <a:rPr lang="zh-CN" altLang="en-US"/>
              <a:t>天，表示紧后活动必须在紧前活动完成后</a:t>
            </a:r>
            <a:r>
              <a:rPr lang="en-US" altLang="zh-CN"/>
              <a:t>3</a:t>
            </a:r>
            <a:r>
              <a:rPr lang="zh-CN" altLang="en-US"/>
              <a:t>天才开始</a:t>
            </a:r>
            <a:endParaRPr lang="en-US" altLang="zh-CN"/>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A</a:t>
            </a:r>
            <a:endParaRPr lang="zh-CN" altLang="en-US" sz="1600">
              <a:solidFill>
                <a:schemeClr val="bg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B</a:t>
            </a:r>
            <a:endParaRPr lang="zh-CN" altLang="en-US" sz="1600">
              <a:solidFill>
                <a:schemeClr val="bg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D</a:t>
            </a:r>
            <a:endParaRPr lang="zh-CN" altLang="en-US" sz="1600">
              <a:solidFill>
                <a:schemeClr val="bg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a:t>
            </a:r>
            <a:endParaRPr lang="zh-CN" altLang="en-US" sz="1600">
              <a:solidFill>
                <a:schemeClr val="bg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F</a:t>
            </a:r>
            <a:endParaRPr lang="zh-CN" altLang="en-US" sz="1600">
              <a:solidFill>
                <a:schemeClr val="bg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E</a:t>
            </a:r>
            <a:endParaRPr lang="zh-CN" altLang="en-US" sz="1600">
              <a:solidFill>
                <a:schemeClr val="bg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a:ln>
            <a:solidFill>
              <a:schemeClr val="bg1"/>
            </a:solidFill>
          </a:ln>
        </p:spPr>
        <p:txBody>
          <a:bodyPr wrap="none" rtlCol="0">
            <a:spAutoFit/>
          </a:bodyPr>
          <a:lstStyle/>
          <a:p>
            <a:r>
              <a:rPr lang="en-US" altLang="zh-CN">
                <a:solidFill>
                  <a:schemeClr val="bg1"/>
                </a:solidFill>
              </a:rPr>
              <a:t>FS+3</a:t>
            </a:r>
            <a:endParaRPr lang="zh-CN" altLang="en-US">
              <a:solidFill>
                <a:schemeClr val="bg1"/>
              </a:solidFill>
            </a:endParaRPr>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a:ln>
            <a:solidFill>
              <a:schemeClr val="bg1"/>
            </a:solidFill>
          </a:ln>
        </p:spPr>
        <p:txBody>
          <a:bodyPr wrap="none" rtlCol="0">
            <a:spAutoFit/>
          </a:bodyPr>
          <a:lstStyle/>
          <a:p>
            <a:r>
              <a:rPr lang="en-US" altLang="zh-CN">
                <a:solidFill>
                  <a:schemeClr val="bg1"/>
                </a:solidFill>
              </a:rPr>
              <a:t>FS-2</a:t>
            </a:r>
            <a:endParaRPr lang="zh-CN" altLang="en-US">
              <a:solidFill>
                <a:schemeClr val="bg1"/>
              </a:solidFill>
            </a:endParaRPr>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a:ln>
            <a:solidFill>
              <a:schemeClr val="bg1"/>
            </a:solidFill>
          </a:ln>
        </p:spPr>
        <p:txBody>
          <a:bodyPr wrap="none" rtlCol="0">
            <a:spAutoFit/>
          </a:bodyPr>
          <a:lstStyle/>
          <a:p>
            <a:r>
              <a:rPr lang="en-US" altLang="zh-CN">
                <a:solidFill>
                  <a:schemeClr val="bg1"/>
                </a:solidFill>
              </a:rPr>
              <a:t>SS+2</a:t>
            </a:r>
            <a:endParaRPr lang="zh-CN" altLang="en-US">
              <a:solidFill>
                <a:schemeClr val="bg1"/>
              </a:solidFill>
            </a:endParaRPr>
          </a:p>
        </p:txBody>
      </p:sp>
    </p:spTree>
    <p:extLst>
      <p:ext uri="{BB962C8B-B14F-4D97-AF65-F5344CB8AC3E}">
        <p14:creationId xmlns:p14="http://schemas.microsoft.com/office/powerpoint/2010/main" val="393700264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zh-CN" altLang="en-US"/>
              <a:t>箭线图 </a:t>
            </a:r>
            <a:r>
              <a:rPr lang="en-US" altLang="zh-CN"/>
              <a:t>ADM</a:t>
            </a:r>
            <a:endParaRPr lang="zh-CN" altLang="en-US"/>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zh-CN" altLang="en-US"/>
              <a:t>活动：以字母表示</a:t>
            </a:r>
          </a:p>
          <a:p>
            <a:r>
              <a:rPr lang="zh-CN" altLang="en-US"/>
              <a:t>圆圈：序号，以数值表示</a:t>
            </a:r>
            <a:endParaRPr lang="en-US" altLang="zh-CN"/>
          </a:p>
          <a:p>
            <a:r>
              <a:rPr lang="zh-CN" altLang="en-US"/>
              <a:t>可以使用虚拟活动 </a:t>
            </a:r>
            <a:r>
              <a:rPr lang="en-US" altLang="zh-CN"/>
              <a:t>dummy activity </a:t>
            </a:r>
            <a:r>
              <a:rPr lang="zh-CN" altLang="en-US"/>
              <a:t>表示依赖关系</a:t>
            </a:r>
            <a:endParaRPr lang="en-US" altLang="zh-CN"/>
          </a:p>
          <a:p>
            <a:endParaRPr lang="en-US" altLang="zh-CN"/>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2</a:t>
            </a:r>
            <a:endParaRPr lang="zh-CN" altLang="en-US" sz="1600">
              <a:solidFill>
                <a:schemeClr val="bg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4</a:t>
            </a:r>
            <a:endParaRPr lang="zh-CN" altLang="en-US" sz="1600">
              <a:solidFill>
                <a:schemeClr val="bg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5</a:t>
            </a:r>
            <a:endParaRPr lang="zh-CN" altLang="en-US" sz="1600">
              <a:solidFill>
                <a:schemeClr val="bg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3</a:t>
            </a:r>
            <a:endParaRPr lang="zh-CN" altLang="en-US" sz="1600">
              <a:solidFill>
                <a:schemeClr val="bg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6</a:t>
            </a:r>
            <a:endParaRPr lang="zh-CN" altLang="en-US" sz="1600">
              <a:solidFill>
                <a:schemeClr val="bg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1</a:t>
            </a:r>
            <a:endParaRPr lang="zh-CN" altLang="en-US" sz="1600">
              <a:solidFill>
                <a:schemeClr val="bg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a:solidFill>
                  <a:schemeClr val="bg1"/>
                </a:solidFill>
              </a:rPr>
              <a:t>I</a:t>
            </a:r>
            <a:endParaRPr lang="zh-CN" altLang="en-US">
              <a:solidFill>
                <a:schemeClr val="bg1"/>
              </a:solidFill>
            </a:endParaRPr>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a:solidFill>
                  <a:schemeClr val="bg1"/>
                </a:solidFill>
              </a:rPr>
              <a:t>J</a:t>
            </a:r>
            <a:endParaRPr lang="zh-CN" altLang="en-US">
              <a:solidFill>
                <a:schemeClr val="bg1"/>
              </a:solidFill>
            </a:endParaRPr>
          </a:p>
        </p:txBody>
      </p:sp>
    </p:spTree>
    <p:extLst>
      <p:ext uri="{BB962C8B-B14F-4D97-AF65-F5344CB8AC3E}">
        <p14:creationId xmlns:p14="http://schemas.microsoft.com/office/powerpoint/2010/main" val="265636087"/>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a:t>5. </a:t>
            </a:r>
            <a:r>
              <a:rPr lang="zh-CN" altLang="en-US"/>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a:t>类比估算</a:t>
            </a:r>
            <a:endParaRPr lang="en-US" altLang="zh-CN"/>
          </a:p>
          <a:p>
            <a:r>
              <a:rPr lang="zh-CN" altLang="en-US"/>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a:t>Project Progress</a:t>
            </a:r>
            <a:endParaRPr lang="zh-CN" altLang="en-US"/>
          </a:p>
        </p:txBody>
      </p:sp>
    </p:spTree>
    <p:extLst>
      <p:ext uri="{BB962C8B-B14F-4D97-AF65-F5344CB8AC3E}">
        <p14:creationId xmlns:p14="http://schemas.microsoft.com/office/powerpoint/2010/main" val="3117094639"/>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normAutofit/>
          </a:bodyPr>
          <a:lstStyle/>
          <a:p>
            <a:r>
              <a:rPr lang="zh-CN" altLang="en-US"/>
              <a:t>甘特图 </a:t>
            </a:r>
            <a:r>
              <a:rPr lang="en-US" altLang="zh-CN"/>
              <a:t>Gantt Chart</a:t>
            </a:r>
            <a:endParaRPr lang="zh-CN" altLang="en-US"/>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a:t>甘特图是一种条形图，用于展示项目进度计划以及每个任务的开始时间和结束时间。它帮助团队成员了解项目的时间安排、任务之间的依赖关系以及整个项目的进展情况</a:t>
            </a:r>
            <a:endParaRPr lang="en-US" altLang="zh-CN"/>
          </a:p>
          <a:p>
            <a:r>
              <a:rPr lang="zh-CN" altLang="en-US"/>
              <a:t>组成</a:t>
            </a:r>
          </a:p>
          <a:p>
            <a:pPr lvl="1"/>
            <a:r>
              <a:rPr lang="zh-CN" altLang="en-US"/>
              <a:t>事件号</a:t>
            </a:r>
          </a:p>
          <a:p>
            <a:pPr lvl="1"/>
            <a:r>
              <a:rPr lang="zh-CN" altLang="en-US"/>
              <a:t>最早开始时刻</a:t>
            </a:r>
          </a:p>
          <a:p>
            <a:pPr lvl="1"/>
            <a:r>
              <a:rPr lang="zh-CN" altLang="en-US"/>
              <a:t>最晚开始时刻</a:t>
            </a:r>
          </a:p>
          <a:p>
            <a:pPr lvl="1"/>
            <a:r>
              <a:rPr lang="zh-CN" altLang="en-US"/>
              <a:t>时间持续时间</a:t>
            </a:r>
          </a:p>
          <a:p>
            <a:r>
              <a:rPr lang="zh-CN" altLang="en-US"/>
              <a:t>特点：</a:t>
            </a:r>
          </a:p>
          <a:p>
            <a:pPr lvl="1"/>
            <a:r>
              <a:rPr lang="zh-CN" altLang="en-US"/>
              <a:t>显示每个任务的起止日期 </a:t>
            </a:r>
            <a:r>
              <a:rPr lang="en-US" altLang="zh-CN"/>
              <a:t>- </a:t>
            </a:r>
            <a:r>
              <a:rPr lang="zh-CN" altLang="en-US"/>
              <a:t>进度的安排情况</a:t>
            </a:r>
          </a:p>
          <a:p>
            <a:pPr lvl="1"/>
            <a:r>
              <a:rPr lang="zh-CN" altLang="en-US"/>
              <a:t>可以清晰地看到任务之间的重叠和依赖关系 </a:t>
            </a:r>
            <a:r>
              <a:rPr lang="en-US" altLang="zh-CN"/>
              <a:t>- </a:t>
            </a:r>
            <a:r>
              <a:rPr lang="zh-CN" altLang="en-US"/>
              <a:t>体现并发任务</a:t>
            </a:r>
          </a:p>
          <a:p>
            <a:pPr lvl="1"/>
            <a:r>
              <a:rPr lang="zh-CN" altLang="en-US"/>
              <a:t>帮助项目经理监控项目进度，并根据需要调整资源分配</a:t>
            </a:r>
            <a:endParaRPr lang="en-US" altLang="zh-CN"/>
          </a:p>
          <a:p>
            <a:pPr lvl="1"/>
            <a:r>
              <a:rPr lang="zh-CN" altLang="en-US"/>
              <a:t>前续事件都完成才可以决定当前事件的执行时间</a:t>
            </a:r>
          </a:p>
          <a:p>
            <a:pPr lvl="1"/>
            <a:r>
              <a:rPr lang="zh-CN" altLang="en-US"/>
              <a:t>最后一个的最早时间和最晚时间一样</a:t>
            </a:r>
          </a:p>
          <a:p>
            <a:pPr lvl="1"/>
            <a:r>
              <a:rPr lang="zh-CN" altLang="en-US"/>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a:t>Program Evaluation and Review Technique</a:t>
            </a:r>
          </a:p>
          <a:p>
            <a:r>
              <a:rPr lang="zh-CN" altLang="en-US"/>
              <a:t>在项目时间估算中的应用用于估算活动持续时间的统计工具，适用于不确定性较高的项目</a:t>
            </a:r>
            <a:endParaRPr lang="en-US" altLang="zh-CN"/>
          </a:p>
          <a:p>
            <a:r>
              <a:rPr lang="zh-CN" altLang="en-US"/>
              <a:t>组成：任务开始时间、结束时间、完成所需时间、任务之间的先后关系</a:t>
            </a:r>
          </a:p>
          <a:p>
            <a:r>
              <a:rPr lang="zh-CN" altLang="en-US"/>
              <a:t>特点：不能反映任务之间的并行关系</a:t>
            </a:r>
          </a:p>
          <a:p>
            <a:r>
              <a:rPr lang="zh-CN" altLang="en-US"/>
              <a:t>基于三个时间估计值 </a:t>
            </a:r>
            <a:r>
              <a:rPr lang="en-US" altLang="zh-CN"/>
              <a:t>- </a:t>
            </a:r>
            <a:r>
              <a:rPr lang="zh-CN" altLang="en-US"/>
              <a:t>三点估算：</a:t>
            </a:r>
            <a:endParaRPr lang="en-US" altLang="zh-CN"/>
          </a:p>
          <a:p>
            <a:pPr lvl="1"/>
            <a:r>
              <a:rPr lang="zh-CN" altLang="en-US"/>
              <a:t>乐观时间（</a:t>
            </a:r>
            <a:r>
              <a:rPr lang="en-US" altLang="zh-CN"/>
              <a:t>O</a:t>
            </a:r>
            <a:r>
              <a:rPr lang="zh-CN" altLang="en-US"/>
              <a:t>）：最理想情况下的时间</a:t>
            </a:r>
            <a:endParaRPr lang="en-US" altLang="zh-CN"/>
          </a:p>
          <a:p>
            <a:pPr lvl="1"/>
            <a:r>
              <a:rPr lang="zh-CN" altLang="en-US"/>
              <a:t>悲观时间（</a:t>
            </a:r>
            <a:r>
              <a:rPr lang="en-US" altLang="zh-CN"/>
              <a:t>P</a:t>
            </a:r>
            <a:r>
              <a:rPr lang="zh-CN" altLang="en-US"/>
              <a:t>）：最坏情况下的时间</a:t>
            </a:r>
            <a:endParaRPr lang="en-US" altLang="zh-CN"/>
          </a:p>
          <a:p>
            <a:pPr lvl="1"/>
            <a:r>
              <a:rPr lang="zh-CN" altLang="en-US"/>
              <a:t>最可能时间（</a:t>
            </a:r>
            <a:r>
              <a:rPr lang="en-US" altLang="zh-CN"/>
              <a:t>M</a:t>
            </a:r>
            <a:r>
              <a:rPr lang="zh-CN" altLang="en-US"/>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a:t>Project Progress</a:t>
            </a:r>
            <a:endParaRPr lang="zh-CN" altLang="en-US"/>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m:t>
                      </m:r>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𝑂</m:t>
                          </m:r>
                          <m:r>
                            <a:rPr lang="en-US" altLang="zh-CN" b="0" i="1" smtClean="0">
                              <a:solidFill>
                                <a:schemeClr val="bg1"/>
                              </a:solidFill>
                              <a:latin typeface="Cambria Math" panose="02040503050406030204" pitchFamily="18" charset="0"/>
                            </a:rPr>
                            <m:t>+</m:t>
                          </m:r>
                          <m:r>
                            <a:rPr lang="en-US" altLang="zh-CN" b="0" i="1" smtClean="0">
                              <a:solidFill>
                                <a:schemeClr val="bg1"/>
                              </a:solidFill>
                              <a:latin typeface="Cambria Math" panose="02040503050406030204" pitchFamily="18" charset="0"/>
                            </a:rPr>
                            <m:t>𝑃</m:t>
                          </m:r>
                          <m:r>
                            <a:rPr lang="en-US" altLang="zh-CN" b="0" i="1" smtClean="0">
                              <a:solidFill>
                                <a:schemeClr val="bg1"/>
                              </a:solidFill>
                              <a:latin typeface="Cambria Math" panose="02040503050406030204" pitchFamily="18" charset="0"/>
                            </a:rPr>
                            <m:t>+4</m:t>
                          </m:r>
                          <m:r>
                            <a:rPr lang="en-US" altLang="zh-CN" b="0" i="1" smtClean="0">
                              <a:solidFill>
                                <a:schemeClr val="bg1"/>
                              </a:solidFill>
                              <a:latin typeface="Cambria Math" panose="02040503050406030204" pitchFamily="18" charset="0"/>
                            </a:rPr>
                            <m:t>𝑀</m:t>
                          </m:r>
                        </m:num>
                        <m:den>
                          <m:r>
                            <a:rPr lang="en-US" altLang="zh-CN" b="0" i="1" smtClean="0">
                              <a:solidFill>
                                <a:schemeClr val="bg1"/>
                              </a:solidFill>
                              <a:latin typeface="Cambria Math" panose="02040503050406030204" pitchFamily="18" charset="0"/>
                            </a:rPr>
                            <m:t>6</m:t>
                          </m:r>
                        </m:den>
                      </m:f>
                    </m:oMath>
                  </m:oMathPara>
                </a14:m>
                <a:endParaRPr lang="zh-CN" altLang="en-US">
                  <a:solidFill>
                    <a:schemeClr val="bg1"/>
                  </a:solidFill>
                </a:endParaRPr>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Tree>
    <p:extLst>
      <p:ext uri="{BB962C8B-B14F-4D97-AF65-F5344CB8AC3E}">
        <p14:creationId xmlns:p14="http://schemas.microsoft.com/office/powerpoint/2010/main" val="2540800626"/>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a:t>根据各事件持续时间，推算最早开始时间</a:t>
            </a:r>
            <a:endParaRPr lang="en-US" altLang="zh-CN"/>
          </a:p>
          <a:p>
            <a:r>
              <a:rPr lang="zh-CN" altLang="en-US"/>
              <a:t>汇总事件取最大值</a:t>
            </a:r>
            <a:endParaRPr lang="en-US" altLang="zh-CN"/>
          </a:p>
          <a:p>
            <a:r>
              <a:rPr lang="zh-CN" altLang="en-US"/>
              <a:t>总工期 </a:t>
            </a:r>
            <a:r>
              <a:rPr lang="en-US" altLang="zh-CN"/>
              <a:t>15</a:t>
            </a:r>
          </a:p>
          <a:p>
            <a:r>
              <a:rPr lang="zh-CN" altLang="en-US"/>
              <a:t>最长路径 </a:t>
            </a:r>
            <a:r>
              <a:rPr lang="en-US" altLang="zh-CN"/>
              <a:t>1 </a:t>
            </a:r>
            <a:r>
              <a:rPr lang="zh-CN" altLang="en-US"/>
              <a:t>→ </a:t>
            </a:r>
            <a:r>
              <a:rPr lang="en-US" altLang="zh-CN"/>
              <a:t>2 </a:t>
            </a:r>
            <a:r>
              <a:rPr lang="zh-CN" altLang="en-US"/>
              <a:t>→ </a:t>
            </a:r>
            <a:r>
              <a:rPr lang="en-US" altLang="zh-CN"/>
              <a:t>5 </a:t>
            </a:r>
            <a:r>
              <a:rPr lang="zh-CN" altLang="en-US"/>
              <a:t>→ </a:t>
            </a:r>
            <a:r>
              <a:rPr lang="en-US" altLang="zh-CN"/>
              <a:t>7 </a:t>
            </a:r>
            <a:r>
              <a:rPr lang="zh-CN" altLang="en-US"/>
              <a:t>→ </a:t>
            </a:r>
            <a:r>
              <a:rPr lang="en-US" altLang="zh-CN"/>
              <a:t>9</a:t>
            </a:r>
            <a:endParaRPr lang="zh-CN" altLang="en-US"/>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a:solidFill>
                  <a:srgbClr val="FFFF00"/>
                </a:solidFill>
              </a:rPr>
              <a:t>3</a:t>
            </a:r>
          </a:p>
          <a:p>
            <a:endParaRPr lang="en-US" altLang="zh-CN" sz="1400">
              <a:solidFill>
                <a:srgbClr val="FFFF00"/>
              </a:solidFill>
            </a:endParaRPr>
          </a:p>
          <a:p>
            <a:r>
              <a:rPr lang="en-US" altLang="zh-CN" sz="1400">
                <a:solidFill>
                  <a:srgbClr val="FFFF00"/>
                </a:solidFill>
              </a:rPr>
              <a:t>4</a:t>
            </a:r>
            <a:endParaRPr lang="zh-CN" altLang="en-US" sz="140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a:solidFill>
                  <a:srgbClr val="FFFF00"/>
                </a:solidFill>
              </a:rPr>
              <a:t>9</a:t>
            </a:r>
          </a:p>
          <a:p>
            <a:endParaRPr lang="en-US" altLang="zh-CN" sz="1400">
              <a:solidFill>
                <a:srgbClr val="FFFF00"/>
              </a:solidFill>
            </a:endParaRPr>
          </a:p>
          <a:p>
            <a:r>
              <a:rPr lang="en-US" altLang="zh-CN" sz="1400">
                <a:solidFill>
                  <a:srgbClr val="FFFF00"/>
                </a:solidFill>
              </a:rPr>
              <a:t>5</a:t>
            </a:r>
            <a:endParaRPr lang="zh-CN" altLang="en-US" sz="140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a:solidFill>
                  <a:srgbClr val="FFFF00"/>
                </a:solidFill>
              </a:rPr>
              <a:t>15</a:t>
            </a:r>
          </a:p>
          <a:p>
            <a:endParaRPr lang="en-US" altLang="zh-CN" sz="1400">
              <a:solidFill>
                <a:srgbClr val="FFFF00"/>
              </a:solidFill>
            </a:endParaRPr>
          </a:p>
          <a:p>
            <a:r>
              <a:rPr lang="en-US" altLang="zh-CN" sz="1400">
                <a:solidFill>
                  <a:srgbClr val="FFFF00"/>
                </a:solidFill>
              </a:rPr>
              <a:t>13</a:t>
            </a:r>
            <a:endParaRPr lang="zh-CN" altLang="en-US" sz="1400">
              <a:solidFill>
                <a:srgbClr val="FFFF00"/>
              </a:solidFill>
            </a:endParaRPr>
          </a:p>
        </p:txBody>
      </p:sp>
    </p:spTree>
    <p:extLst>
      <p:ext uri="{BB962C8B-B14F-4D97-AF65-F5344CB8AC3E}">
        <p14:creationId xmlns:p14="http://schemas.microsoft.com/office/powerpoint/2010/main" val="2525448756"/>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a:t>PERT</a:t>
            </a:r>
            <a:endParaRPr lang="zh-CN" altLang="en-US"/>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a:t>根据总工期 </a:t>
            </a:r>
            <a:r>
              <a:rPr lang="en-US" altLang="zh-CN"/>
              <a:t>15</a:t>
            </a:r>
            <a:r>
              <a:rPr lang="zh-CN" altLang="en-US"/>
              <a:t>，反推各事件最晚开始时间</a:t>
            </a:r>
            <a:endParaRPr lang="en-US" altLang="zh-CN"/>
          </a:p>
          <a:p>
            <a:r>
              <a:rPr lang="zh-CN" altLang="en-US"/>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2</a:t>
                  </a:r>
                  <a:endParaRPr lang="zh-CN" altLang="en-US" sz="140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t>1</a:t>
                  </a:r>
                  <a:endParaRPr lang="zh-CN" altLang="en-US" sz="140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t>2</a:t>
                  </a:r>
                  <a:endParaRPr lang="zh-CN" altLang="en-US" sz="140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2</a:t>
                  </a:r>
                  <a:endParaRPr lang="zh-CN" altLang="en-US" sz="140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3</a:t>
                  </a:r>
                  <a:endParaRPr lang="zh-CN" altLang="en-US" sz="140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6</a:t>
                  </a:r>
                  <a:endParaRPr lang="zh-CN" altLang="en-US" sz="140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t>4</a:t>
                  </a:r>
                  <a:endParaRPr lang="zh-CN" altLang="en-US" sz="140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10</a:t>
                  </a:r>
                  <a:endParaRPr lang="zh-CN" altLang="en-US" sz="140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6</a:t>
                  </a:r>
                  <a:endParaRPr lang="zh-CN" altLang="en-US" sz="140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4</a:t>
                  </a:r>
                  <a:endParaRPr lang="zh-CN" altLang="en-US" sz="140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solidFill>
                        <a:srgbClr val="FF0000"/>
                      </a:solidFill>
                    </a:rPr>
                    <a:t>4</a:t>
                  </a:r>
                  <a:endParaRPr lang="zh-CN" altLang="en-US" sz="140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t>5</a:t>
                  </a:r>
                  <a:endParaRPr lang="zh-CN" altLang="en-US" sz="140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t>7</a:t>
                  </a:r>
                  <a:endParaRPr lang="zh-CN" altLang="en-US" sz="140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9</a:t>
                  </a:r>
                  <a:endParaRPr lang="zh-CN" altLang="en-US" sz="140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11</a:t>
                  </a:r>
                  <a:endParaRPr lang="zh-CN" altLang="en-US" sz="140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t>8</a:t>
                  </a:r>
                  <a:endParaRPr lang="zh-CN" altLang="en-US" sz="140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t>15</a:t>
                  </a:r>
                  <a:endParaRPr lang="zh-CN" altLang="en-US" sz="140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a:t>0</a:t>
                  </a:r>
                  <a:endParaRPr lang="zh-CN" altLang="en-US" sz="140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t>9</a:t>
                  </a:r>
                  <a:endParaRPr lang="zh-CN" altLang="en-US" sz="140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a:t>2</a:t>
                </a:r>
                <a:endParaRPr lang="zh-CN" altLang="en-US" sz="140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a:t>5</a:t>
                </a:r>
                <a:endParaRPr lang="zh-CN" altLang="en-US" sz="140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a:t>2</a:t>
                </a:r>
                <a:endParaRPr lang="zh-CN" altLang="en-US" sz="140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a:t>1</a:t>
                </a:r>
                <a:endParaRPr lang="zh-CN" altLang="en-US" sz="140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a:t>4</a:t>
                </a:r>
                <a:endParaRPr lang="zh-CN" altLang="en-US" sz="140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a:t>1</a:t>
                </a:r>
                <a:endParaRPr lang="zh-CN" altLang="en-US" sz="140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a:t>5</a:t>
                </a:r>
                <a:endParaRPr lang="zh-CN" altLang="en-US" sz="140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a:t>6</a:t>
                </a:r>
                <a:endParaRPr lang="zh-CN" altLang="en-US" sz="140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a:t>4</a:t>
                </a:r>
                <a:endParaRPr lang="zh-CN" altLang="en-US" sz="140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a:t>2</a:t>
              </a:r>
              <a:endParaRPr lang="zh-CN" altLang="en-US" sz="140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a:solidFill>
                  <a:srgbClr val="FF0000"/>
                </a:solidFill>
              </a:rPr>
              <a:t>4</a:t>
            </a:r>
          </a:p>
          <a:p>
            <a:endParaRPr lang="en-US" altLang="zh-CN" sz="1400">
              <a:solidFill>
                <a:srgbClr val="FF0000"/>
              </a:solidFill>
            </a:endParaRPr>
          </a:p>
          <a:p>
            <a:r>
              <a:rPr lang="en-US" altLang="zh-CN" sz="1400">
                <a:solidFill>
                  <a:srgbClr val="FF0000"/>
                </a:solidFill>
              </a:rPr>
              <a:t>6</a:t>
            </a:r>
            <a:endParaRPr lang="zh-CN" altLang="en-US" sz="140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a:solidFill>
                  <a:srgbClr val="FF0000"/>
                </a:solidFill>
              </a:rPr>
              <a:t>2</a:t>
            </a:r>
          </a:p>
          <a:p>
            <a:endParaRPr lang="en-US" altLang="zh-CN" sz="1400">
              <a:solidFill>
                <a:srgbClr val="FF0000"/>
              </a:solidFill>
            </a:endParaRPr>
          </a:p>
          <a:p>
            <a:r>
              <a:rPr lang="en-US" altLang="zh-CN" sz="1400">
                <a:solidFill>
                  <a:srgbClr val="FF0000"/>
                </a:solidFill>
              </a:rPr>
              <a:t>7</a:t>
            </a:r>
            <a:endParaRPr lang="zh-CN" altLang="en-US" sz="140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a:t>6. </a:t>
            </a:r>
            <a:r>
              <a:rPr lang="zh-CN" altLang="en-US"/>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normAutofit/>
          </a:bodyPr>
          <a:lstStyle/>
          <a:p>
            <a:r>
              <a:rPr lang="zh-CN" altLang="en-US"/>
              <a:t>关键路径法</a:t>
            </a:r>
            <a:endParaRPr lang="en-US" altLang="zh-CN"/>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a:t>可能不止一条</a:t>
            </a:r>
            <a:endParaRPr lang="en-US" altLang="zh-CN"/>
          </a:p>
          <a:p>
            <a:r>
              <a:rPr lang="zh-CN" altLang="en-US"/>
              <a:t>时间参数</a:t>
            </a:r>
            <a:endParaRPr lang="en-US" altLang="zh-CN"/>
          </a:p>
          <a:p>
            <a:pPr lvl="1"/>
            <a:r>
              <a:rPr lang="zh-CN" altLang="en-US"/>
              <a:t>最早开始时间 </a:t>
            </a:r>
            <a:r>
              <a:rPr lang="en-US" altLang="zh-CN"/>
              <a:t>ES - Earliest Start Time</a:t>
            </a:r>
            <a:endParaRPr lang="zh-CN" altLang="en-US"/>
          </a:p>
          <a:p>
            <a:pPr lvl="1"/>
            <a:r>
              <a:rPr lang="zh-CN" altLang="en-US"/>
              <a:t>最晚开始时间 </a:t>
            </a:r>
            <a:r>
              <a:rPr lang="en-US" altLang="zh-CN"/>
              <a:t>LS - Latest Start Time</a:t>
            </a:r>
            <a:endParaRPr lang="zh-CN" altLang="en-US"/>
          </a:p>
          <a:p>
            <a:pPr lvl="1"/>
            <a:r>
              <a:rPr lang="zh-CN" altLang="en-US"/>
              <a:t>最早完成时间 </a:t>
            </a:r>
            <a:r>
              <a:rPr lang="en-US" altLang="zh-CN"/>
              <a:t>EF - Earliest Finish Time</a:t>
            </a:r>
            <a:endParaRPr lang="zh-CN" altLang="en-US"/>
          </a:p>
          <a:p>
            <a:pPr lvl="1"/>
            <a:r>
              <a:rPr lang="zh-CN" altLang="en-US"/>
              <a:t>最晚完成时间 </a:t>
            </a:r>
            <a:r>
              <a:rPr lang="en-US" altLang="zh-CN"/>
              <a:t>LF - Latest Finish Time</a:t>
            </a:r>
            <a:endParaRPr lang="zh-CN" altLang="en-US"/>
          </a:p>
          <a:p>
            <a:r>
              <a:rPr lang="zh-CN" altLang="en-US"/>
              <a:t>浮动时间 </a:t>
            </a:r>
            <a:r>
              <a:rPr lang="en-US" altLang="zh-CN"/>
              <a:t>Total Float</a:t>
            </a:r>
          </a:p>
          <a:p>
            <a:pPr lvl="1"/>
            <a:r>
              <a:rPr lang="zh-CN" altLang="en-US"/>
              <a:t>总时差</a:t>
            </a:r>
            <a:endParaRPr lang="en-US" altLang="zh-CN"/>
          </a:p>
          <a:p>
            <a:pPr lvl="1"/>
            <a:r>
              <a:rPr lang="en-US" altLang="zh-CN"/>
              <a:t>LS – ES = LF - EF</a:t>
            </a:r>
            <a:endParaRPr lang="zh-CN" altLang="en-US"/>
          </a:p>
          <a:p>
            <a:pPr lvl="1"/>
            <a:r>
              <a:rPr lang="zh-CN" altLang="en-US"/>
              <a:t>关键路径上的任务总浮动时间为 </a:t>
            </a:r>
            <a:r>
              <a:rPr lang="en-US" altLang="zh-CN"/>
              <a:t>0</a:t>
            </a:r>
            <a:endParaRPr lang="zh-CN" altLang="en-US"/>
          </a:p>
          <a:p>
            <a:endParaRPr lang="zh-CN" altLang="en-US"/>
          </a:p>
          <a:p>
            <a:endParaRPr lang="zh-CN" altLang="en-US"/>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541665829"/>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a:solidFill>
                            <a:schemeClr val="bg1"/>
                          </a:solidFill>
                        </a:rPr>
                        <a:t>ES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Duration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Event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a:solidFill>
                            <a:schemeClr val="bg1"/>
                          </a:solidFill>
                        </a:rPr>
                        <a:t>LS</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Total float</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gn="ctr"/>
                      <a:r>
                        <a:rPr lang="en-US" altLang="zh-CN">
                          <a:solidFill>
                            <a:schemeClr val="bg1"/>
                          </a:solidFill>
                        </a:rPr>
                        <a:t>LF</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17284387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a:solidFill>
                            <a:schemeClr val="bg1"/>
                          </a:solidFill>
                        </a:rPr>
                        <a:t>工作代号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紧前工作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计划工作历时</a:t>
                      </a:r>
                      <a:r>
                        <a:rPr lang="en-US" altLang="zh-CN">
                          <a:solidFill>
                            <a:schemeClr val="bg1"/>
                          </a:solidFill>
                        </a:rPr>
                        <a:t>/</a:t>
                      </a:r>
                      <a:r>
                        <a:rPr lang="zh-CN" altLang="en-US">
                          <a:solidFill>
                            <a:schemeClr val="bg1"/>
                          </a:solidFill>
                        </a:rPr>
                        <a:t>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a:solidFill>
                            <a:schemeClr val="bg1"/>
                          </a:solidFill>
                        </a:rPr>
                        <a:t>B</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8</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B, 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a:solidFill>
                            <a:schemeClr val="bg1"/>
                          </a:solidFill>
                        </a:rPr>
                        <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a:solidFill>
                            <a:schemeClr val="bg1"/>
                          </a:solidFill>
                        </a:rPr>
                        <a:t>F</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a:solidFill>
                            <a:schemeClr val="bg1"/>
                          </a:solidFill>
                        </a:rPr>
                        <a:t>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D, 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a:solidFill>
                            <a:schemeClr val="bg1"/>
                          </a:solidFill>
                        </a:rPr>
                        <a:t>H</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F, 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10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a:t>找出项目的关键路径 </a:t>
            </a:r>
            <a:r>
              <a:rPr lang="en-US" altLang="zh-CN"/>
              <a:t>Critical Path</a:t>
            </a:r>
            <a:r>
              <a:rPr lang="zh-CN" altLang="en-US"/>
              <a:t> 和总工期 </a:t>
            </a:r>
            <a:r>
              <a:rPr lang="en-US" altLang="zh-CN"/>
              <a:t>Project Duration</a:t>
            </a:r>
            <a:endParaRPr lang="zh-CN" altLang="en-US"/>
          </a:p>
        </p:txBody>
      </p:sp>
    </p:spTree>
    <p:extLst>
      <p:ext uri="{BB962C8B-B14F-4D97-AF65-F5344CB8AC3E}">
        <p14:creationId xmlns:p14="http://schemas.microsoft.com/office/powerpoint/2010/main" val="4279547965"/>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a:solidFill>
                  <a:schemeClr val="bg1"/>
                </a:solidFill>
              </a:rPr>
              <a:t>A</a:t>
            </a:r>
            <a:endParaRPr lang="zh-CN" altLang="en-US">
              <a:solidFill>
                <a:schemeClr val="bg1"/>
              </a:solidFill>
            </a:endParaRPr>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a:solidFill>
                  <a:schemeClr val="bg1"/>
                </a:solidFill>
              </a:rPr>
              <a:t>B</a:t>
            </a:r>
            <a:endParaRPr lang="zh-CN" altLang="en-US">
              <a:solidFill>
                <a:schemeClr val="bg1"/>
              </a:solidFill>
            </a:endParaRPr>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a:solidFill>
                  <a:schemeClr val="bg1"/>
                </a:solidFill>
              </a:rPr>
              <a:t>C</a:t>
            </a:r>
            <a:endParaRPr lang="zh-CN" altLang="en-US">
              <a:solidFill>
                <a:schemeClr val="bg1"/>
              </a:solidFill>
            </a:endParaRPr>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a:solidFill>
                  <a:schemeClr val="bg1"/>
                </a:solidFill>
              </a:rPr>
              <a:t>D</a:t>
            </a:r>
            <a:endParaRPr lang="zh-CN" altLang="en-US">
              <a:solidFill>
                <a:schemeClr val="bg1"/>
              </a:solidFill>
            </a:endParaRPr>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a:solidFill>
                  <a:schemeClr val="bg1"/>
                </a:solidFill>
              </a:rPr>
              <a:t>2</a:t>
            </a:r>
            <a:endParaRPr lang="zh-CN" altLang="en-US">
              <a:solidFill>
                <a:schemeClr val="bg1"/>
              </a:solidFill>
            </a:endParaRPr>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a:solidFill>
                  <a:schemeClr val="bg1"/>
                </a:solidFill>
              </a:rPr>
              <a:t>8</a:t>
            </a:r>
            <a:endParaRPr lang="zh-CN" altLang="en-US">
              <a:solidFill>
                <a:schemeClr val="bg1"/>
              </a:solidFill>
            </a:endParaRPr>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a:solidFill>
                  <a:schemeClr val="bg1"/>
                </a:solidFill>
              </a:rPr>
              <a:t>E</a:t>
            </a:r>
            <a:endParaRPr lang="zh-CN" altLang="en-US">
              <a:solidFill>
                <a:schemeClr val="bg1"/>
              </a:solidFill>
            </a:endParaRPr>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a:solidFill>
                  <a:schemeClr val="bg1"/>
                </a:solidFill>
              </a:rPr>
              <a:t>F</a:t>
            </a:r>
            <a:endParaRPr lang="zh-CN" altLang="en-US">
              <a:solidFill>
                <a:schemeClr val="bg1"/>
              </a:solidFill>
            </a:endParaRPr>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a:solidFill>
                  <a:schemeClr val="bg1"/>
                </a:solidFill>
              </a:rPr>
              <a:t>5</a:t>
            </a:r>
            <a:endParaRPr lang="zh-CN" altLang="en-US">
              <a:solidFill>
                <a:schemeClr val="bg1"/>
              </a:solidFill>
            </a:endParaRPr>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a:solidFill>
                  <a:schemeClr val="bg1"/>
                </a:solidFill>
              </a:rPr>
              <a:t>G</a:t>
            </a:r>
            <a:endParaRPr lang="zh-CN" altLang="en-US">
              <a:solidFill>
                <a:schemeClr val="bg1"/>
              </a:solidFill>
            </a:endParaRPr>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a:solidFill>
                  <a:schemeClr val="bg1"/>
                </a:solidFill>
              </a:rPr>
              <a:t>H</a:t>
            </a:r>
            <a:endParaRPr lang="zh-CN" altLang="en-US">
              <a:solidFill>
                <a:schemeClr val="bg1"/>
              </a:solidFill>
            </a:endParaRPr>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a:solidFill>
                  <a:schemeClr val="bg1"/>
                </a:solidFill>
              </a:rPr>
              <a:t>11</a:t>
            </a:r>
            <a:endParaRPr lang="zh-CN" altLang="en-US">
              <a:solidFill>
                <a:schemeClr val="bg1"/>
              </a:solidFill>
            </a:endParaRPr>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a:solidFill>
                  <a:schemeClr val="bg1"/>
                </a:solidFill>
              </a:rPr>
              <a:t>10</a:t>
            </a:r>
            <a:endParaRPr lang="zh-CN" altLang="en-US">
              <a:solidFill>
                <a:schemeClr val="bg1"/>
              </a:solidFill>
            </a:endParaRPr>
          </a:p>
        </p:txBody>
      </p:sp>
    </p:spTree>
    <p:extLst>
      <p:ext uri="{BB962C8B-B14F-4D97-AF65-F5344CB8AC3E}">
        <p14:creationId xmlns:p14="http://schemas.microsoft.com/office/powerpoint/2010/main" val="275894016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a:t>资源平衡</a:t>
            </a:r>
            <a:endParaRPr lang="en-US" altLang="zh-CN"/>
          </a:p>
          <a:p>
            <a:pPr lvl="1"/>
            <a:r>
              <a:rPr lang="zh-CN" altLang="en-US"/>
              <a:t>改变关键路径，通常是延长</a:t>
            </a:r>
            <a:endParaRPr lang="en-US" altLang="zh-CN"/>
          </a:p>
          <a:p>
            <a:r>
              <a:rPr lang="zh-CN" altLang="en-US"/>
              <a:t>资源平滑</a:t>
            </a:r>
            <a:endParaRPr lang="en-US" altLang="zh-CN"/>
          </a:p>
          <a:p>
            <a:pPr lvl="1"/>
            <a:r>
              <a:rPr lang="zh-CN" altLang="en-US"/>
              <a:t>不会改变关键路径</a:t>
            </a:r>
            <a:endParaRPr lang="en-US" altLang="zh-CN"/>
          </a:p>
          <a:p>
            <a:pPr lvl="1"/>
            <a:r>
              <a:rPr lang="zh-CN" altLang="en-US"/>
              <a:t>无法实现所有资源优化</a:t>
            </a:r>
            <a:endParaRPr lang="en-US" altLang="zh-CN"/>
          </a:p>
          <a:p>
            <a:endParaRPr lang="zh-CN" altLang="en-US"/>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a:t>赶工 </a:t>
            </a:r>
            <a:r>
              <a:rPr lang="en-US" altLang="zh-CN"/>
              <a:t>Crashing</a:t>
            </a:r>
          </a:p>
          <a:p>
            <a:pPr lvl="1"/>
            <a:r>
              <a:rPr lang="zh-CN" altLang="en-US"/>
              <a:t>加班</a:t>
            </a:r>
            <a:endParaRPr lang="en-US" altLang="zh-CN"/>
          </a:p>
          <a:p>
            <a:r>
              <a:rPr lang="zh-CN" altLang="en-US"/>
              <a:t>快速跟进 </a:t>
            </a:r>
            <a:r>
              <a:rPr lang="en-US" altLang="zh-CN"/>
              <a:t>Fast Tracking</a:t>
            </a:r>
          </a:p>
          <a:p>
            <a:pPr lvl="1"/>
            <a:r>
              <a:rPr lang="zh-CN" altLang="en-US"/>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a:t>7. </a:t>
            </a:r>
            <a:r>
              <a:rPr lang="zh-CN" altLang="en-US"/>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a:t>39</a:t>
            </a:r>
            <a:r>
              <a:rPr lang="zh-CN" altLang="en-US"/>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a:p>
          <a:p>
            <a:endParaRPr lang="zh-CN" altLang="en-US"/>
          </a:p>
          <a:p>
            <a:r>
              <a:rPr lang="en-US" altLang="zh-CN"/>
              <a:t>A. </a:t>
            </a:r>
            <a:r>
              <a:rPr lang="zh-CN" altLang="en-US"/>
              <a:t>赶工 </a:t>
            </a:r>
            <a:r>
              <a:rPr lang="en-US" altLang="zh-CN"/>
              <a:t>Crashing</a:t>
            </a:r>
            <a:endParaRPr lang="zh-CN" altLang="en-US"/>
          </a:p>
          <a:p>
            <a:r>
              <a:rPr lang="en-US" altLang="zh-CN"/>
              <a:t>B. </a:t>
            </a:r>
            <a:r>
              <a:rPr lang="zh-CN" altLang="en-US"/>
              <a:t>并行施工 </a:t>
            </a:r>
            <a:r>
              <a:rPr lang="en-US" altLang="zh-CN"/>
              <a:t>Fast Tracking</a:t>
            </a:r>
            <a:endParaRPr lang="zh-CN" altLang="en-US"/>
          </a:p>
          <a:p>
            <a:r>
              <a:rPr lang="en-US" altLang="zh-CN"/>
              <a:t>C. </a:t>
            </a:r>
            <a:r>
              <a:rPr lang="zh-CN" altLang="en-US"/>
              <a:t>增加资源投入</a:t>
            </a:r>
          </a:p>
          <a:p>
            <a:r>
              <a:rPr lang="en-US" altLang="zh-CN"/>
              <a:t>D. </a:t>
            </a:r>
            <a:r>
              <a:rPr lang="zh-CN" altLang="en-US"/>
              <a:t>缩小项目范围</a:t>
            </a:r>
          </a:p>
        </p:txBody>
      </p:sp>
    </p:spTree>
    <p:extLst>
      <p:ext uri="{BB962C8B-B14F-4D97-AF65-F5344CB8AC3E}">
        <p14:creationId xmlns:p14="http://schemas.microsoft.com/office/powerpoint/2010/main" val="1256559890"/>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a:t>六大质量特性 </a:t>
            </a:r>
            <a:r>
              <a:rPr lang="en-US" altLang="zh-CN"/>
              <a:t>Quality Characteristics</a:t>
            </a:r>
            <a:endParaRPr lang="zh-CN" altLang="en-US"/>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a:t>功能性 </a:t>
            </a:r>
            <a:r>
              <a:rPr lang="en-US" altLang="zh-CN"/>
              <a:t>Functionality</a:t>
            </a:r>
            <a:endParaRPr lang="zh-CN" altLang="en-US"/>
          </a:p>
          <a:p>
            <a:r>
              <a:rPr lang="zh-CN" altLang="en-US"/>
              <a:t>可靠性 </a:t>
            </a:r>
            <a:r>
              <a:rPr lang="en-US" altLang="zh-CN"/>
              <a:t>Reliability</a:t>
            </a:r>
            <a:endParaRPr lang="zh-CN" altLang="en-US"/>
          </a:p>
          <a:p>
            <a:r>
              <a:rPr lang="zh-CN" altLang="en-US"/>
              <a:t>易用性 </a:t>
            </a:r>
            <a:r>
              <a:rPr lang="en-US" altLang="zh-CN"/>
              <a:t>Usability</a:t>
            </a:r>
            <a:endParaRPr lang="zh-CN" altLang="en-US"/>
          </a:p>
          <a:p>
            <a:r>
              <a:rPr lang="zh-CN" altLang="en-US"/>
              <a:t>效率 </a:t>
            </a:r>
            <a:r>
              <a:rPr lang="en-US" altLang="zh-CN"/>
              <a:t>Efficiency</a:t>
            </a:r>
            <a:endParaRPr lang="zh-CN" altLang="en-US"/>
          </a:p>
          <a:p>
            <a:r>
              <a:rPr lang="zh-CN" altLang="en-US"/>
              <a:t>可维护性 </a:t>
            </a:r>
            <a:r>
              <a:rPr lang="en-US" altLang="zh-CN"/>
              <a:t>Maintainability</a:t>
            </a:r>
            <a:endParaRPr lang="zh-CN" altLang="en-US"/>
          </a:p>
          <a:p>
            <a:r>
              <a:rPr lang="zh-CN" altLang="en-US"/>
              <a:t>可移植性 </a:t>
            </a:r>
            <a:r>
              <a:rPr lang="en-US" altLang="zh-CN"/>
              <a:t>Portability</a:t>
            </a:r>
            <a:endParaRPr lang="zh-CN" altLang="en-US"/>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a:t>可靠性 </a:t>
            </a:r>
            <a:r>
              <a:rPr lang="en-US" altLang="zh-CN"/>
              <a:t>Reliability</a:t>
            </a:r>
            <a:endParaRPr lang="zh-CN" altLang="en-US"/>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1731369967"/>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a:solidFill>
                            <a:schemeClr val="bg1"/>
                          </a:solidFill>
                        </a:rPr>
                        <a:t>子特性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a:solidFill>
                            <a:schemeClr val="bg1"/>
                          </a:solidFill>
                        </a:rPr>
                        <a:t>成熟性 </a:t>
                      </a:r>
                      <a:r>
                        <a:rPr lang="en-US">
                          <a:solidFill>
                            <a:schemeClr val="bg1"/>
                          </a:solidFill>
                        </a:rPr>
                        <a:t>Maturity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软件避免由于错误而导致失效的能力。即软件运行稳定，不崩溃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72620879"/>
                  </a:ext>
                </a:extLst>
              </a:tr>
              <a:tr h="0">
                <a:tc>
                  <a:txBody>
                    <a:bodyPr/>
                    <a:lstStyle/>
                    <a:p>
                      <a:pPr>
                        <a:buNone/>
                      </a:pPr>
                      <a:r>
                        <a:rPr lang="zh-CN" altLang="en-US">
                          <a:solidFill>
                            <a:schemeClr val="bg1"/>
                          </a:solidFill>
                        </a:rPr>
                        <a:t>容错性 </a:t>
                      </a:r>
                      <a:r>
                        <a:rPr lang="en-US">
                          <a:solidFill>
                            <a:schemeClr val="bg1"/>
                          </a:solidFill>
                        </a:rPr>
                        <a:t>Fault Tolerance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软件在发生故障时，仍能保持功能或自动恢复的能力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10707642"/>
                  </a:ext>
                </a:extLst>
              </a:tr>
              <a:tr h="0">
                <a:tc>
                  <a:txBody>
                    <a:bodyPr/>
                    <a:lstStyle/>
                    <a:p>
                      <a:pPr>
                        <a:buNone/>
                      </a:pPr>
                      <a:r>
                        <a:rPr lang="en-US" err="1">
                          <a:solidFill>
                            <a:schemeClr val="bg1"/>
                          </a:solidFill>
                        </a:rPr>
                        <a:t>易恢复性</a:t>
                      </a:r>
                      <a:r>
                        <a:rPr lang="en-US">
                          <a:solidFill>
                            <a:schemeClr val="bg1"/>
                          </a:solidFill>
                        </a:rPr>
                        <a:t> Recoverability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软件在发生故障后，能够快速恢复到正常状态的能力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a:t>在</a:t>
            </a:r>
            <a:r>
              <a:rPr lang="en-US" altLang="zh-CN"/>
              <a:t>ISO/IEC 9126</a:t>
            </a:r>
            <a:r>
              <a:rPr lang="zh-CN" altLang="en-US"/>
              <a:t>软件质量模型中，可靠性质量特性是指在规定的一段时间内和规定的条件下，软件维持在其性能水平有关的能力，其质量子特性不包括（ ）。</a:t>
            </a:r>
          </a:p>
          <a:p>
            <a:endParaRPr lang="zh-CN" altLang="en-US"/>
          </a:p>
          <a:p>
            <a:r>
              <a:rPr lang="en-US" altLang="zh-CN"/>
              <a:t>A. </a:t>
            </a:r>
            <a:r>
              <a:rPr lang="zh-CN" altLang="en-US"/>
              <a:t>安全性</a:t>
            </a:r>
          </a:p>
          <a:p>
            <a:r>
              <a:rPr lang="en-US" altLang="zh-CN"/>
              <a:t>B. </a:t>
            </a:r>
            <a:r>
              <a:rPr lang="zh-CN" altLang="en-US"/>
              <a:t>成熟性</a:t>
            </a:r>
          </a:p>
          <a:p>
            <a:r>
              <a:rPr lang="en-US" altLang="zh-CN"/>
              <a:t>C. </a:t>
            </a:r>
            <a:r>
              <a:rPr lang="zh-CN" altLang="en-US"/>
              <a:t>容错性</a:t>
            </a:r>
          </a:p>
          <a:p>
            <a:r>
              <a:rPr lang="en-US" altLang="zh-CN"/>
              <a:t>D. </a:t>
            </a:r>
            <a:r>
              <a:rPr lang="zh-CN" altLang="en-US"/>
              <a:t>易恢复性</a:t>
            </a:r>
          </a:p>
        </p:txBody>
      </p:sp>
    </p:spTree>
    <p:extLst>
      <p:ext uri="{BB962C8B-B14F-4D97-AF65-F5344CB8AC3E}">
        <p14:creationId xmlns:p14="http://schemas.microsoft.com/office/powerpoint/2010/main" val="121876382"/>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493987538"/>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a:solidFill>
                            <a:schemeClr val="bg1"/>
                          </a:solidFill>
                        </a:rPr>
                        <a:t>质量规划 </a:t>
                      </a:r>
                      <a:r>
                        <a:rPr lang="en-US">
                          <a:solidFill>
                            <a:schemeClr val="bg1"/>
                          </a:solidFill>
                        </a:rPr>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a:solidFill>
                            <a:schemeClr val="bg1"/>
                          </a:solidFill>
                        </a:rPr>
                        <a:t>质量保证 </a:t>
                      </a:r>
                      <a:r>
                        <a:rPr lang="en-US">
                          <a:solidFill>
                            <a:schemeClr val="bg1"/>
                          </a:solidFill>
                        </a:rPr>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a:solidFill>
                            <a:schemeClr val="bg1"/>
                          </a:solidFill>
                        </a:rPr>
                        <a:t>质量控制 </a:t>
                      </a:r>
                      <a:r>
                        <a:rPr lang="en-US">
                          <a:solidFill>
                            <a:schemeClr val="bg1"/>
                          </a:solidFill>
                        </a:rPr>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a:solidFill>
                            <a:schemeClr val="bg1"/>
                          </a:solidFill>
                        </a:rPr>
                        <a:t>质量改进 </a:t>
                      </a:r>
                      <a:r>
                        <a:rPr lang="en-US">
                          <a:solidFill>
                            <a:schemeClr val="bg1"/>
                          </a:solidFill>
                        </a:rPr>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a:t>流</a:t>
            </a:r>
            <a:endParaRPr lang="en-US" altLang="zh-CN"/>
          </a:p>
          <a:p>
            <a:r>
              <a:rPr lang="zh-CN" altLang="en-US"/>
              <a:t>因果图</a:t>
            </a:r>
            <a:endParaRPr lang="en-US" altLang="zh-CN"/>
          </a:p>
          <a:p>
            <a:r>
              <a:rPr lang="zh-CN" altLang="en-US"/>
              <a:t>直方图 </a:t>
            </a:r>
            <a:r>
              <a:rPr lang="en-US" altLang="zh-CN"/>
              <a:t>Histogram</a:t>
            </a:r>
          </a:p>
          <a:p>
            <a:pPr lvl="1"/>
            <a:r>
              <a:rPr lang="zh-CN" altLang="en-US"/>
              <a:t>数据在不同数值区间内出现的频率或次数</a:t>
            </a:r>
            <a:endParaRPr lang="en-US" altLang="zh-CN"/>
          </a:p>
          <a:p>
            <a:r>
              <a:rPr lang="zh-CN" altLang="en-US"/>
              <a:t>散点图</a:t>
            </a:r>
            <a:endParaRPr lang="en-US" altLang="zh-CN"/>
          </a:p>
          <a:p>
            <a:r>
              <a:rPr lang="zh-CN" altLang="en-US"/>
              <a:t>帕累托定律 </a:t>
            </a:r>
            <a:r>
              <a:rPr lang="en-US" altLang="zh-CN"/>
              <a:t>Pareto Principle</a:t>
            </a:r>
          </a:p>
          <a:p>
            <a:pPr lvl="1"/>
            <a:r>
              <a:rPr lang="zh-CN" altLang="en-US"/>
              <a:t>又称 </a:t>
            </a:r>
            <a:r>
              <a:rPr lang="en-US" altLang="zh-CN"/>
              <a:t>80/20 </a:t>
            </a:r>
            <a:r>
              <a:rPr lang="zh-CN" altLang="en-US"/>
              <a:t>法则：大约</a:t>
            </a:r>
            <a:r>
              <a:rPr lang="en-US" altLang="zh-CN"/>
              <a:t>80%</a:t>
            </a:r>
            <a:r>
              <a:rPr lang="zh-CN" altLang="en-US"/>
              <a:t>的结果来自</a:t>
            </a:r>
            <a:r>
              <a:rPr lang="en-US" altLang="zh-CN"/>
              <a:t>20%</a:t>
            </a:r>
            <a:r>
              <a:rPr lang="zh-CN" altLang="en-US"/>
              <a:t>的原因</a:t>
            </a:r>
            <a:endParaRPr lang="en-US" altLang="zh-CN"/>
          </a:p>
          <a:p>
            <a:r>
              <a:rPr lang="zh-CN" altLang="en-US"/>
              <a:t>控制图</a:t>
            </a:r>
            <a:endParaRPr lang="en-US" altLang="zh-CN"/>
          </a:p>
          <a:p>
            <a:r>
              <a:rPr lang="zh-CN" altLang="en-US"/>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a:t>Section 7 Project Configuration</a:t>
            </a:r>
            <a:endParaRPr lang="zh-CN" altLang="en-US"/>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269321635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a:t>小张是软件研发和项目经理，负责的某项目已进入实施阶段，此时用户提出要增加一项新的功能，小张应该（ ）</a:t>
            </a:r>
            <a:endParaRPr lang="en-US" altLang="zh-CN"/>
          </a:p>
          <a:p>
            <a:endParaRPr lang="zh-CN" altLang="en-US"/>
          </a:p>
          <a:p>
            <a:r>
              <a:rPr lang="en-US" altLang="zh-CN"/>
              <a:t>A</a:t>
            </a:r>
            <a:r>
              <a:rPr lang="zh-CN" altLang="en-US"/>
              <a:t>、拒绝该变更</a:t>
            </a:r>
          </a:p>
          <a:p>
            <a:r>
              <a:rPr lang="en-US" altLang="zh-CN"/>
              <a:t>B</a:t>
            </a:r>
            <a:r>
              <a:rPr lang="zh-CN" altLang="en-US"/>
              <a:t>、通过变更控制流程进行处理</a:t>
            </a:r>
          </a:p>
          <a:p>
            <a:r>
              <a:rPr lang="en-US" altLang="zh-CN"/>
              <a:t>C</a:t>
            </a:r>
            <a:r>
              <a:rPr lang="zh-CN" altLang="en-US"/>
              <a:t>、立即实现该变更</a:t>
            </a:r>
          </a:p>
          <a:p>
            <a:r>
              <a:rPr lang="en-US" altLang="zh-CN"/>
              <a:t>D</a:t>
            </a:r>
            <a:r>
              <a:rPr lang="zh-CN" altLang="en-US"/>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a:t>项目整体变更控制管理的流程是：变更请求 →（ ）</a:t>
            </a:r>
            <a:endParaRPr lang="en-US" altLang="zh-CN"/>
          </a:p>
          <a:p>
            <a:endParaRPr lang="zh-CN" altLang="en-US"/>
          </a:p>
          <a:p>
            <a:r>
              <a:rPr lang="en-US" altLang="zh-CN"/>
              <a:t>A</a:t>
            </a:r>
            <a:r>
              <a:rPr lang="zh-CN" altLang="en-US"/>
              <a:t>、同意或否决变更 → 变更影响评估 → 执行</a:t>
            </a:r>
          </a:p>
          <a:p>
            <a:r>
              <a:rPr lang="en-US" altLang="zh-CN"/>
              <a:t>B</a:t>
            </a:r>
            <a:r>
              <a:rPr lang="zh-CN" altLang="en-US"/>
              <a:t>、执行变更 → 变更影响评估 → 同意或否决变更</a:t>
            </a:r>
          </a:p>
          <a:p>
            <a:r>
              <a:rPr lang="en-US" altLang="zh-CN"/>
              <a:t>C</a:t>
            </a:r>
            <a:r>
              <a:rPr lang="zh-CN" altLang="en-US"/>
              <a:t>、变更影响评估 → 同意或否决变更 → 执行</a:t>
            </a:r>
          </a:p>
          <a:p>
            <a:r>
              <a:rPr lang="en-US" altLang="zh-CN"/>
              <a:t>D</a:t>
            </a:r>
            <a:r>
              <a:rPr lang="zh-CN" altLang="en-US"/>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zh-CN" altLang="en-US"/>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lstStyle/>
          <a:p>
            <a:r>
              <a:rPr lang="en-US" altLang="zh-CN"/>
              <a:t>Software Configuration Management</a:t>
            </a:r>
          </a:p>
          <a:p>
            <a:r>
              <a:rPr lang="zh-CN" altLang="en-US"/>
              <a:t>是项目管理、系统工程和软件工程中的一个关键过程</a:t>
            </a:r>
            <a:endParaRPr lang="en-US" altLang="zh-CN"/>
          </a:p>
          <a:p>
            <a:r>
              <a:rPr lang="zh-CN" altLang="en-US"/>
              <a:t>旨在系统化地识别、控制、记录和审计产品、服务或系统在其生命周期内的功能特性和物理特性，以确保其性能、功能和实体属性与需求、设计和操作信息保持一致</a:t>
            </a:r>
            <a:endParaRPr lang="en-US" altLang="zh-CN"/>
          </a:p>
          <a:p>
            <a:pPr lvl="1"/>
            <a:r>
              <a:rPr lang="zh-CN" altLang="en-US"/>
              <a:t>确保产品完整性、可追溯性、一致性和可控性</a:t>
            </a:r>
            <a:endParaRPr lang="en-US" altLang="zh-CN"/>
          </a:p>
          <a:p>
            <a:pPr lvl="1"/>
            <a:r>
              <a:rPr lang="zh-CN" altLang="en-US"/>
              <a:t>也称变更管理</a:t>
            </a:r>
            <a:endParaRPr lang="en-US" altLang="zh-CN"/>
          </a:p>
          <a:p>
            <a:r>
              <a:rPr lang="zh-CN" altLang="en-US"/>
              <a:t>目标：</a:t>
            </a:r>
            <a:endParaRPr lang="en-US" altLang="zh-CN"/>
          </a:p>
          <a:p>
            <a:pPr lvl="1"/>
            <a:r>
              <a:rPr lang="zh-CN" altLang="en-US"/>
              <a:t>保证所有交付物版本可控</a:t>
            </a:r>
          </a:p>
          <a:p>
            <a:pPr lvl="1"/>
            <a:r>
              <a:rPr lang="zh-CN" altLang="en-US"/>
              <a:t>支持并行开发协作</a:t>
            </a:r>
          </a:p>
          <a:p>
            <a:pPr lvl="1"/>
            <a:r>
              <a:rPr lang="zh-CN" altLang="en-US"/>
              <a:t>快速定位问题根源</a:t>
            </a:r>
          </a:p>
          <a:p>
            <a:pPr lvl="1"/>
            <a:r>
              <a:rPr lang="zh-CN" altLang="en-US"/>
              <a:t>满足审计与合规要求</a:t>
            </a:r>
          </a:p>
          <a:p>
            <a:endParaRPr lang="zh-CN" altLang="en-US"/>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a:t>SCM</a:t>
            </a:r>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a:t>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a:t>新的业务或市场</a:t>
            </a:r>
            <a:endParaRPr lang="en-US" altLang="zh-CN"/>
          </a:p>
          <a:p>
            <a:r>
              <a:rPr lang="zh-CN" altLang="en-US"/>
              <a:t>新的客户需求</a:t>
            </a:r>
            <a:endParaRPr lang="en-US" altLang="zh-CN"/>
          </a:p>
          <a:p>
            <a:r>
              <a:rPr lang="zh-CN" altLang="en-US"/>
              <a:t>企业改组或规模调整</a:t>
            </a:r>
            <a:endParaRPr lang="en-US" altLang="zh-CN"/>
          </a:p>
          <a:p>
            <a:r>
              <a:rPr lang="zh-CN" altLang="en-US"/>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spTree>
    <p:extLst>
      <p:ext uri="{BB962C8B-B14F-4D97-AF65-F5344CB8AC3E}">
        <p14:creationId xmlns:p14="http://schemas.microsoft.com/office/powerpoint/2010/main" val="76996731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3129325332"/>
              </p:ext>
            </p:extLst>
          </p:nvPr>
        </p:nvGraphicFramePr>
        <p:xfrm>
          <a:off x="695325" y="2009457"/>
          <a:ext cx="10801350" cy="2316480"/>
        </p:xfrm>
        <a:graphic>
          <a:graphicData uri="http://schemas.openxmlformats.org/drawingml/2006/table">
            <a:tbl>
              <a:tblPr/>
              <a:tblGrid>
                <a:gridCol w="2962275">
                  <a:extLst>
                    <a:ext uri="{9D8B030D-6E8A-4147-A177-3AD203B41FA5}">
                      <a16:colId xmlns:a16="http://schemas.microsoft.com/office/drawing/2014/main" val="161237699"/>
                    </a:ext>
                  </a:extLst>
                </a:gridCol>
                <a:gridCol w="3746090">
                  <a:extLst>
                    <a:ext uri="{9D8B030D-6E8A-4147-A177-3AD203B41FA5}">
                      <a16:colId xmlns:a16="http://schemas.microsoft.com/office/drawing/2014/main" val="1070831843"/>
                    </a:ext>
                  </a:extLst>
                </a:gridCol>
                <a:gridCol w="4092985">
                  <a:extLst>
                    <a:ext uri="{9D8B030D-6E8A-4147-A177-3AD203B41FA5}">
                      <a16:colId xmlns:a16="http://schemas.microsoft.com/office/drawing/2014/main" val="2463009145"/>
                    </a:ext>
                  </a:extLst>
                </a:gridCol>
              </a:tblGrid>
              <a:tr h="0">
                <a:tc>
                  <a:txBody>
                    <a:bodyPr/>
                    <a:lstStyle/>
                    <a:p>
                      <a:pPr algn="l">
                        <a:buNone/>
                      </a:pPr>
                      <a:r>
                        <a:rPr lang="zh-CN" altLang="en-US" sz="1600">
                          <a:solidFill>
                            <a:schemeClr val="bg1"/>
                          </a:solidFill>
                        </a:rPr>
                        <a:t>特征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解释</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a:solidFill>
                            <a:schemeClr val="bg1"/>
                          </a:solidFill>
                        </a:rPr>
                        <a:t>为什么重要？</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2073324"/>
                  </a:ext>
                </a:extLst>
              </a:tr>
              <a:tr h="0">
                <a:tc>
                  <a:txBody>
                    <a:bodyPr/>
                    <a:lstStyle/>
                    <a:p>
                      <a:pPr algn="l">
                        <a:buNone/>
                      </a:pPr>
                      <a:r>
                        <a:rPr lang="zh-CN" altLang="en-US" sz="1600">
                          <a:solidFill>
                            <a:schemeClr val="bg1"/>
                          </a:solidFill>
                        </a:rPr>
                        <a:t>稳定性 </a:t>
                      </a:r>
                      <a:r>
                        <a:rPr lang="en-US" sz="1600">
                          <a:solidFill>
                            <a:schemeClr val="bg1"/>
                          </a:solidFill>
                        </a:rPr>
                        <a:t>Stability</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基线一旦建立，内容在逻辑上是固定的，不会随随便便变动</a:t>
                      </a:r>
                    </a:p>
                  </a:txBody>
                  <a:tcPr anchor="ctr">
                    <a:lnL>
                      <a:noFill/>
                    </a:lnL>
                    <a:lnR>
                      <a:noFill/>
                    </a:lnR>
                    <a:lnT w="1270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solidFill>
                            <a:schemeClr val="bg1"/>
                          </a:solidFill>
                        </a:rPr>
                        <a:t>给开发和测试团队一个稳定的工作目标，避免“边做边改”导致的返工</a:t>
                      </a:r>
                    </a:p>
                  </a:txBody>
                  <a:tcPr anchor="ctr">
                    <a:lnL>
                      <a:noFill/>
                    </a:lnL>
                    <a:lnR>
                      <a:noFill/>
                    </a:lnR>
                    <a:lnT w="1270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a:solidFill>
                            <a:schemeClr val="bg1"/>
                          </a:solidFill>
                        </a:rPr>
                        <a:t>权威性 </a:t>
                      </a:r>
                      <a:r>
                        <a:rPr lang="en-US" altLang="zh-CN" sz="1600">
                          <a:solidFill>
                            <a:schemeClr val="bg1"/>
                          </a:solidFill>
                        </a:rPr>
                        <a:t>(</a:t>
                      </a:r>
                      <a:r>
                        <a:rPr lang="en-US" sz="1600">
                          <a:solidFill>
                            <a:schemeClr val="bg1"/>
                          </a:solidFill>
                        </a:rPr>
                        <a:t>Authority</a:t>
                      </a:r>
                    </a:p>
                  </a:txBody>
                  <a:tcPr anchor="ctr">
                    <a:lnL>
                      <a:noFill/>
                    </a:lnL>
                    <a:lnR>
                      <a:noFill/>
                    </a:lnR>
                    <a:lnT>
                      <a:noFill/>
                    </a:lnT>
                    <a:lnB>
                      <a:noFill/>
                    </a:lnB>
                    <a:noFill/>
                  </a:tcPr>
                </a:tc>
                <a:tc>
                  <a:txBody>
                    <a:bodyPr/>
                    <a:lstStyle/>
                    <a:p>
                      <a:pPr algn="l">
                        <a:buNone/>
                      </a:pPr>
                      <a:r>
                        <a:rPr lang="zh-CN" altLang="en-US" sz="1600">
                          <a:solidFill>
                            <a:schemeClr val="bg1"/>
                          </a:solidFill>
                        </a:rPr>
                        <a:t>它是经过正式评审（</a:t>
                      </a:r>
                      <a:r>
                        <a:rPr lang="en-US" altLang="zh-CN" sz="1600">
                          <a:solidFill>
                            <a:schemeClr val="bg1"/>
                          </a:solidFill>
                        </a:rPr>
                        <a:t>Review</a:t>
                      </a:r>
                      <a:r>
                        <a:rPr lang="zh-CN" altLang="en-US" sz="1600">
                          <a:solidFill>
                            <a:schemeClr val="bg1"/>
                          </a:solidFill>
                        </a:rPr>
                        <a:t>）和签字批准的，具有“法律效力”</a:t>
                      </a:r>
                    </a:p>
                  </a:txBody>
                  <a:tcPr anchor="ctr">
                    <a:lnL>
                      <a:noFill/>
                    </a:lnL>
                    <a:lnR>
                      <a:noFill/>
                    </a:lnR>
                    <a:lnT>
                      <a:noFill/>
                    </a:lnT>
                    <a:lnB>
                      <a:noFill/>
                    </a:lnB>
                    <a:noFill/>
                  </a:tcPr>
                </a:tc>
                <a:tc>
                  <a:txBody>
                    <a:bodyPr/>
                    <a:lstStyle/>
                    <a:p>
                      <a:pPr algn="l">
                        <a:buNone/>
                      </a:pPr>
                      <a:r>
                        <a:rPr lang="zh-CN" altLang="en-US" sz="1600">
                          <a:solidFill>
                            <a:schemeClr val="bg1"/>
                          </a:solidFill>
                        </a:rPr>
                        <a:t>它是验收的标准。如果做出来的东西和基线不一致，就是缺陷（</a:t>
                      </a:r>
                      <a:r>
                        <a:rPr lang="en-US" altLang="zh-CN" sz="1600">
                          <a:solidFill>
                            <a:schemeClr val="bg1"/>
                          </a:solidFill>
                        </a:rPr>
                        <a:t>Bug</a:t>
                      </a:r>
                      <a:r>
                        <a:rPr lang="zh-CN" altLang="en-US" sz="1600">
                          <a:solidFill>
                            <a:schemeClr val="bg1"/>
                          </a:solidFill>
                        </a:rPr>
                        <a:t>）</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a:solidFill>
                            <a:schemeClr val="bg1"/>
                          </a:solidFill>
                        </a:rPr>
                        <a:t>可追溯性 </a:t>
                      </a:r>
                      <a:r>
                        <a:rPr lang="en-US" sz="1600">
                          <a:solidFill>
                            <a:schemeClr val="bg1"/>
                          </a:solidFill>
                        </a:rPr>
                        <a:t>Traceability</a:t>
                      </a:r>
                    </a:p>
                  </a:txBody>
                  <a:tcPr anchor="ctr">
                    <a:lnL>
                      <a:noFill/>
                    </a:lnL>
                    <a:lnR>
                      <a:noFill/>
                    </a:lnR>
                    <a:lnT>
                      <a:noFill/>
                    </a:lnT>
                    <a:lnB>
                      <a:noFill/>
                    </a:lnB>
                    <a:noFill/>
                  </a:tcPr>
                </a:tc>
                <a:tc>
                  <a:txBody>
                    <a:bodyPr/>
                    <a:lstStyle/>
                    <a:p>
                      <a:pPr algn="l">
                        <a:buNone/>
                      </a:pPr>
                      <a:r>
                        <a:rPr lang="zh-CN" altLang="en-US" sz="1600">
                          <a:solidFill>
                            <a:schemeClr val="bg1"/>
                          </a:solidFill>
                        </a:rPr>
                        <a:t>基线有明确的版本号（如 </a:t>
                      </a:r>
                      <a:r>
                        <a:rPr lang="en-US" altLang="zh-CN" sz="1600">
                          <a:solidFill>
                            <a:schemeClr val="bg1"/>
                          </a:solidFill>
                        </a:rPr>
                        <a:t>v1.0</a:t>
                      </a:r>
                      <a:r>
                        <a:rPr lang="zh-CN" altLang="en-US" sz="1600">
                          <a:solidFill>
                            <a:schemeClr val="bg1"/>
                          </a:solidFill>
                        </a:rPr>
                        <a:t>），任何后续修改都会生成新版本（</a:t>
                      </a:r>
                      <a:r>
                        <a:rPr lang="en-US" altLang="zh-CN" sz="1600">
                          <a:solidFill>
                            <a:schemeClr val="bg1"/>
                          </a:solidFill>
                        </a:rPr>
                        <a:t>v1.1</a:t>
                      </a:r>
                      <a:r>
                        <a:rPr lang="zh-CN" altLang="en-US" sz="1600">
                          <a:solidFill>
                            <a:schemeClr val="bg1"/>
                          </a:solidFill>
                        </a:rPr>
                        <a:t>），且保留旧版本记录</a:t>
                      </a:r>
                    </a:p>
                  </a:txBody>
                  <a:tcPr anchor="ctr">
                    <a:lnL>
                      <a:noFill/>
                    </a:lnL>
                    <a:lnR>
                      <a:noFill/>
                    </a:lnR>
                    <a:lnT>
                      <a:noFill/>
                    </a:lnT>
                    <a:lnB>
                      <a:noFill/>
                    </a:lnB>
                    <a:noFill/>
                  </a:tcPr>
                </a:tc>
                <a:tc>
                  <a:txBody>
                    <a:bodyPr/>
                    <a:lstStyle/>
                    <a:p>
                      <a:pPr algn="l">
                        <a:buNone/>
                      </a:pPr>
                      <a:r>
                        <a:rPr lang="zh-CN" altLang="en-US" sz="1600">
                          <a:solidFill>
                            <a:schemeClr val="bg1"/>
                          </a:solidFill>
                        </a:rPr>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spTree>
    <p:extLst>
      <p:ext uri="{BB962C8B-B14F-4D97-AF65-F5344CB8AC3E}">
        <p14:creationId xmlns:p14="http://schemas.microsoft.com/office/powerpoint/2010/main" val="164183533"/>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p:txBody>
          <a:bodyPr/>
          <a:lstStyle/>
          <a:p>
            <a:r>
              <a:rPr lang="zh-CN" altLang="en-US"/>
              <a:t>概念</a:t>
            </a:r>
          </a:p>
        </p:txBody>
      </p:sp>
      <p:sp>
        <p:nvSpPr>
          <p:cNvPr id="3" name="内容占位符 2">
            <a:extLst>
              <a:ext uri="{FF2B5EF4-FFF2-40B4-BE49-F238E27FC236}">
                <a16:creationId xmlns:a16="http://schemas.microsoft.com/office/drawing/2014/main" id="{B823C20A-E20C-18A0-C6AD-F93ECE400298}"/>
              </a:ext>
            </a:extLst>
          </p:cNvPr>
          <p:cNvSpPr>
            <a:spLocks noGrp="1"/>
          </p:cNvSpPr>
          <p:nvPr>
            <p:ph idx="1"/>
          </p:nvPr>
        </p:nvSpPr>
        <p:spPr/>
        <p:txBody>
          <a:bodyPr/>
          <a:lstStyle/>
          <a:p>
            <a:r>
              <a:rPr lang="zh-CN" altLang="en-US"/>
              <a:t>基线</a:t>
            </a:r>
            <a:endParaRPr lang="en-US" altLang="zh-CN"/>
          </a:p>
          <a:p>
            <a:r>
              <a:rPr lang="zh-CN" altLang="en-US"/>
              <a:t>软件配置项 </a:t>
            </a:r>
            <a:r>
              <a:rPr lang="en-US" altLang="zh-CN"/>
              <a:t>configuration item</a:t>
            </a:r>
            <a:endParaRPr lang="zh-CN" altLang="en-US"/>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p:txBody>
          <a:bodyPr/>
          <a:lstStyle/>
          <a:p>
            <a:r>
              <a:rPr lang="en-US" altLang="zh-CN"/>
              <a:t>Concepts</a:t>
            </a:r>
            <a:endParaRPr lang="zh-CN" altLang="en-US"/>
          </a:p>
        </p:txBody>
      </p:sp>
    </p:spTree>
    <p:extLst>
      <p:ext uri="{BB962C8B-B14F-4D97-AF65-F5344CB8AC3E}">
        <p14:creationId xmlns:p14="http://schemas.microsoft.com/office/powerpoint/2010/main" val="1635739793"/>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zh-CN" altLang="en-US"/>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a:xfrm>
            <a:off x="696000" y="864000"/>
            <a:ext cx="10800000" cy="5400000"/>
          </a:xfrm>
        </p:spPr>
        <p:txBody>
          <a:bodyPr/>
          <a:lstStyle/>
          <a:p>
            <a:endParaRPr lang="zh-CN" altLang="en-US"/>
          </a:p>
        </p:txBody>
      </p:sp>
      <p:sp>
        <p:nvSpPr>
          <p:cNvPr id="7" name="文本占位符 6">
            <a:extLst>
              <a:ext uri="{FF2B5EF4-FFF2-40B4-BE49-F238E27FC236}">
                <a16:creationId xmlns:a16="http://schemas.microsoft.com/office/drawing/2014/main" id="{795E1505-16E0-2B93-B29E-EF9E018D3AAA}"/>
              </a:ext>
            </a:extLst>
          </p:cNvPr>
          <p:cNvSpPr>
            <a:spLocks noGrp="1"/>
          </p:cNvSpPr>
          <p:nvPr>
            <p:ph type="body" sz="quarter" idx="10"/>
          </p:nvPr>
        </p:nvSpPr>
        <p:spPr/>
        <p:txBody>
          <a:bodyPr/>
          <a:lstStyle/>
          <a:p>
            <a:endParaRPr lang="zh-CN" altLang="en-US"/>
          </a:p>
        </p:txBody>
      </p:sp>
      <p:graphicFrame>
        <p:nvGraphicFramePr>
          <p:cNvPr id="8" name="表格 7">
            <a:extLst>
              <a:ext uri="{FF2B5EF4-FFF2-40B4-BE49-F238E27FC236}">
                <a16:creationId xmlns:a16="http://schemas.microsoft.com/office/drawing/2014/main" id="{3761D626-33A1-F3D8-D519-7F903D3CF5C8}"/>
              </a:ext>
            </a:extLst>
          </p:cNvPr>
          <p:cNvGraphicFramePr>
            <a:graphicFrameLocks noGrp="1"/>
          </p:cNvGraphicFramePr>
          <p:nvPr>
            <p:extLst>
              <p:ext uri="{D42A27DB-BD31-4B8C-83A1-F6EECF244321}">
                <p14:modId xmlns:p14="http://schemas.microsoft.com/office/powerpoint/2010/main" val="2078013217"/>
              </p:ext>
            </p:extLst>
          </p:nvPr>
        </p:nvGraphicFramePr>
        <p:xfrm>
          <a:off x="695325" y="2100897"/>
          <a:ext cx="10801350" cy="3230880"/>
        </p:xfrm>
        <a:graphic>
          <a:graphicData uri="http://schemas.openxmlformats.org/drawingml/2006/table">
            <a:tbl>
              <a:tblPr/>
              <a:tblGrid>
                <a:gridCol w="4043823">
                  <a:extLst>
                    <a:ext uri="{9D8B030D-6E8A-4147-A177-3AD203B41FA5}">
                      <a16:colId xmlns:a16="http://schemas.microsoft.com/office/drawing/2014/main" val="2867934318"/>
                    </a:ext>
                  </a:extLst>
                </a:gridCol>
                <a:gridCol w="6757527">
                  <a:extLst>
                    <a:ext uri="{9D8B030D-6E8A-4147-A177-3AD203B41FA5}">
                      <a16:colId xmlns:a16="http://schemas.microsoft.com/office/drawing/2014/main" val="3324239611"/>
                    </a:ext>
                  </a:extLst>
                </a:gridCol>
              </a:tblGrid>
              <a:tr h="0">
                <a:tc>
                  <a:txBody>
                    <a:bodyPr/>
                    <a:lstStyle/>
                    <a:p>
                      <a:pPr>
                        <a:buNone/>
                      </a:pPr>
                      <a:r>
                        <a:rPr lang="zh-CN" altLang="en-US" sz="160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buNone/>
                      </a:pPr>
                      <a:r>
                        <a:rPr lang="zh-CN" altLang="en-US" sz="160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632968330"/>
                  </a:ext>
                </a:extLst>
              </a:tr>
              <a:tr h="0">
                <a:tc>
                  <a:txBody>
                    <a:bodyPr/>
                    <a:lstStyle/>
                    <a:p>
                      <a:pPr>
                        <a:buNone/>
                      </a:pPr>
                      <a:r>
                        <a:rPr lang="zh-CN" altLang="en-US" sz="1600">
                          <a:solidFill>
                            <a:schemeClr val="bg1"/>
                          </a:solidFill>
                        </a:rPr>
                        <a:t>制定配置管理计划 </a:t>
                      </a:r>
                      <a:r>
                        <a:rPr lang="en-US" altLang="zh-CN" sz="1600">
                          <a:solidFill>
                            <a:schemeClr val="bg1"/>
                          </a:solidFill>
                        </a:rPr>
                        <a:t>CMP</a:t>
                      </a:r>
                    </a:p>
                    <a:p>
                      <a:pPr>
                        <a:buNone/>
                      </a:pPr>
                      <a:r>
                        <a:rPr lang="en-US" sz="1600">
                          <a:solidFill>
                            <a:schemeClr val="bg1"/>
                          </a:solidFill>
                        </a:rPr>
                        <a:t>Configuration Management Plan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为整个项目定义如何实施配置管理的策略、流程、工具与职责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0179228"/>
                  </a:ext>
                </a:extLst>
              </a:tr>
              <a:tr h="0">
                <a:tc>
                  <a:txBody>
                    <a:bodyPr/>
                    <a:lstStyle/>
                    <a:p>
                      <a:pPr>
                        <a:buNone/>
                      </a:pPr>
                      <a:r>
                        <a:rPr lang="zh-CN" altLang="en-US" sz="1600">
                          <a:solidFill>
                            <a:schemeClr val="bg1"/>
                          </a:solidFill>
                        </a:rPr>
                        <a:t>配置标识 </a:t>
                      </a:r>
                      <a:r>
                        <a:rPr lang="en-US" altLang="zh-CN" sz="1600">
                          <a:solidFill>
                            <a:schemeClr val="bg1"/>
                          </a:solidFill>
                        </a:rPr>
                        <a:t>CI</a:t>
                      </a:r>
                    </a:p>
                    <a:p>
                      <a:pPr>
                        <a:buNone/>
                      </a:pPr>
                      <a:r>
                        <a:rPr lang="en-US" altLang="zh-CN" sz="1600">
                          <a:solidFill>
                            <a:schemeClr val="bg1"/>
                          </a:solidFill>
                        </a:rPr>
                        <a:t>Configuration </a:t>
                      </a:r>
                      <a:r>
                        <a:rPr lang="en-US" sz="1600">
                          <a:solidFill>
                            <a:schemeClr val="bg1"/>
                          </a:solidFill>
                        </a:rPr>
                        <a:t>Identification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确定哪些工件需要被管理（如代码、文档、测试用例），并赋予唯一标识符（如版本号、基线名）</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490626"/>
                  </a:ext>
                </a:extLst>
              </a:tr>
              <a:tr h="0">
                <a:tc>
                  <a:txBody>
                    <a:bodyPr/>
                    <a:lstStyle/>
                    <a:p>
                      <a:pPr>
                        <a:buNone/>
                      </a:pPr>
                      <a:r>
                        <a:rPr lang="it-IT" sz="1600">
                          <a:solidFill>
                            <a:schemeClr val="bg1"/>
                          </a:solidFill>
                        </a:rPr>
                        <a:t>配置控制</a:t>
                      </a:r>
                    </a:p>
                    <a:p>
                      <a:pPr>
                        <a:buNone/>
                      </a:pPr>
                      <a:r>
                        <a:rPr lang="it-IT" sz="1600">
                          <a:solidFill>
                            <a:schemeClr val="bg1"/>
                          </a:solidFill>
                        </a:rPr>
                        <a:t>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建立变更请求流程（</a:t>
                      </a:r>
                      <a:r>
                        <a:rPr lang="en-US" altLang="zh-CN" sz="1600">
                          <a:solidFill>
                            <a:schemeClr val="bg1"/>
                          </a:solidFill>
                        </a:rPr>
                        <a:t>CR</a:t>
                      </a:r>
                      <a:r>
                        <a:rPr lang="zh-CN" altLang="en-US" sz="1600">
                          <a:solidFill>
                            <a:schemeClr val="bg1"/>
                          </a:solidFill>
                        </a:rPr>
                        <a:t>）、审批机制、影响分析、实施与验证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557815"/>
                  </a:ext>
                </a:extLst>
              </a:tr>
              <a:tr h="0">
                <a:tc>
                  <a:txBody>
                    <a:bodyPr/>
                    <a:lstStyle/>
                    <a:p>
                      <a:pPr>
                        <a:buNone/>
                      </a:pPr>
                      <a:r>
                        <a:rPr lang="zh-CN" altLang="en-US" sz="1600">
                          <a:solidFill>
                            <a:schemeClr val="bg1"/>
                          </a:solidFill>
                        </a:rPr>
                        <a:t>状态记账</a:t>
                      </a:r>
                      <a:endParaRPr lang="en-US" altLang="zh-CN" sz="1600">
                        <a:solidFill>
                          <a:schemeClr val="bg1"/>
                        </a:solidFill>
                      </a:endParaRPr>
                    </a:p>
                    <a:p>
                      <a:pPr>
                        <a:buNone/>
                      </a:pPr>
                      <a:r>
                        <a:rPr lang="en-US" sz="1600">
                          <a:solidFill>
                            <a:schemeClr val="bg1"/>
                          </a:solidFill>
                        </a:rPr>
                        <a:t>Status Accounting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记录每个配置项的状态（如草稿、评审中、已批准、已发布）、历史变更记录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979687"/>
                  </a:ext>
                </a:extLst>
              </a:tr>
              <a:tr h="0">
                <a:tc>
                  <a:txBody>
                    <a:bodyPr/>
                    <a:lstStyle/>
                    <a:p>
                      <a:pPr>
                        <a:buNone/>
                      </a:pPr>
                      <a:r>
                        <a:rPr lang="zh-CN" altLang="en-US" sz="1600">
                          <a:solidFill>
                            <a:schemeClr val="bg1"/>
                          </a:solidFill>
                        </a:rPr>
                        <a:t>配置审计</a:t>
                      </a:r>
                      <a:endParaRPr lang="en-US" altLang="zh-CN" sz="1600">
                        <a:solidFill>
                          <a:schemeClr val="bg1"/>
                        </a:solidFill>
                      </a:endParaRPr>
                    </a:p>
                    <a:p>
                      <a:pPr>
                        <a:buNone/>
                      </a:pPr>
                      <a:r>
                        <a:rPr lang="en-US" altLang="zh-CN" sz="1600">
                          <a:solidFill>
                            <a:schemeClr val="bg1"/>
                          </a:solidFill>
                        </a:rPr>
                        <a:t>Audit</a:t>
                      </a:r>
                      <a:endParaRPr lang="zh-CN" altLang="en-US" sz="160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bg1"/>
                          </a:solidFill>
                        </a:rPr>
                        <a:t>功能审计（是否满足需求）</a:t>
                      </a:r>
                      <a:r>
                        <a:rPr lang="en-US" altLang="zh-CN" sz="1600">
                          <a:solidFill>
                            <a:schemeClr val="bg1"/>
                          </a:solidFill>
                        </a:rPr>
                        <a:t>+ </a:t>
                      </a:r>
                      <a:r>
                        <a:rPr lang="zh-CN" altLang="en-US" sz="1600">
                          <a:solidFill>
                            <a:schemeClr val="bg1"/>
                          </a:solidFill>
                        </a:rPr>
                        <a:t>物理审计（实际交付物是否与记录一致）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7190558"/>
                  </a:ext>
                </a:extLst>
              </a:tr>
            </a:tbl>
          </a:graphicData>
        </a:graphic>
      </p:graphicFrame>
    </p:spTree>
    <p:extLst>
      <p:ext uri="{BB962C8B-B14F-4D97-AF65-F5344CB8AC3E}">
        <p14:creationId xmlns:p14="http://schemas.microsoft.com/office/powerpoint/2010/main" val="1978100626"/>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zh-CN" altLang="en-US"/>
              <a:t>项目变更</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lstStyle/>
          <a:p>
            <a:r>
              <a:rPr lang="zh-CN" altLang="en-US"/>
              <a:t>涉及的主体</a:t>
            </a:r>
            <a:endParaRPr lang="en-US" altLang="zh-CN"/>
          </a:p>
          <a:p>
            <a:pPr lvl="1"/>
            <a:r>
              <a:rPr lang="zh-CN" altLang="en-US"/>
              <a:t>任何干系人 </a:t>
            </a:r>
            <a:r>
              <a:rPr lang="en-US" altLang="zh-CN"/>
              <a:t>Stakeholder</a:t>
            </a:r>
            <a:r>
              <a:rPr lang="zh-CN" altLang="en-US"/>
              <a:t>：提出变更申请</a:t>
            </a:r>
          </a:p>
          <a:p>
            <a:pPr lvl="1"/>
            <a:r>
              <a:rPr lang="zh-CN" altLang="en-US"/>
              <a:t>项目经理 </a:t>
            </a:r>
            <a:r>
              <a:rPr lang="en-US" altLang="zh-CN"/>
              <a:t>Project Manager</a:t>
            </a:r>
            <a:r>
              <a:rPr lang="zh-CN" altLang="en-US"/>
              <a:t>：影响分析；召开变更委员会会议、实施变更</a:t>
            </a:r>
          </a:p>
          <a:p>
            <a:pPr lvl="1"/>
            <a:r>
              <a:rPr lang="zh-CN" altLang="en-US"/>
              <a:t>变更控制委员会 </a:t>
            </a:r>
            <a:r>
              <a:rPr lang="en-US" altLang="zh-CN">
                <a:hlinkClick r:id="rId2"/>
              </a:rPr>
              <a:t>CCB</a:t>
            </a:r>
            <a:r>
              <a:rPr lang="zh-CN" altLang="en-US"/>
              <a:t>，</a:t>
            </a:r>
            <a:r>
              <a:rPr lang="en-US" altLang="zh-CN"/>
              <a:t>Change Control Board</a:t>
            </a:r>
            <a:r>
              <a:rPr lang="zh-CN" altLang="en-US"/>
              <a:t>：决策机构；双方决策人；审查、评价、批准</a:t>
            </a:r>
          </a:p>
          <a:p>
            <a:r>
              <a:rPr lang="zh-CN" altLang="en-US"/>
              <a:t>基本过程</a:t>
            </a:r>
            <a:endParaRPr lang="en-US" altLang="zh-CN"/>
          </a:p>
          <a:p>
            <a:pPr lvl="1"/>
            <a:r>
              <a:rPr lang="zh-CN" altLang="en-US"/>
              <a:t>提交变更请求</a:t>
            </a:r>
          </a:p>
          <a:p>
            <a:pPr lvl="1"/>
            <a:r>
              <a:rPr lang="zh-CN" altLang="en-US"/>
              <a:t>进行变更影响评估（由项目经理组织团队分析对范围、进度、成本、质量等的影响）</a:t>
            </a:r>
          </a:p>
          <a:p>
            <a:pPr lvl="1"/>
            <a:r>
              <a:rPr lang="zh-CN" altLang="en-US"/>
              <a:t>提交变更控制委员会（</a:t>
            </a:r>
            <a:r>
              <a:rPr lang="en-US" altLang="zh-CN"/>
              <a:t>CCB, </a:t>
            </a:r>
            <a:r>
              <a:rPr lang="zh-CN" altLang="en-US"/>
              <a:t>）审批 → 同意或否决变更</a:t>
            </a:r>
          </a:p>
          <a:p>
            <a:pPr lvl="1"/>
            <a:r>
              <a:rPr lang="zh-CN" altLang="en-US"/>
              <a:t>若批准，则执行变更；若拒绝，则通知申请人并归档</a:t>
            </a:r>
          </a:p>
          <a:p>
            <a:pPr lvl="1"/>
            <a:r>
              <a:rPr lang="zh-CN" altLang="en-US"/>
              <a:t>更新基线与文档，关闭变更请求</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a:t>Project Change</a:t>
            </a:r>
            <a:endParaRPr lang="zh-CN" altLang="en-US"/>
          </a:p>
        </p:txBody>
      </p:sp>
    </p:spTree>
    <p:extLst>
      <p:ext uri="{BB962C8B-B14F-4D97-AF65-F5344CB8AC3E}">
        <p14:creationId xmlns:p14="http://schemas.microsoft.com/office/powerpoint/2010/main" val="60234605"/>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F85B1D-3F75-37F8-A2B4-F14716F242D2}"/>
              </a:ext>
            </a:extLst>
          </p:cNvPr>
          <p:cNvSpPr>
            <a:spLocks noGrp="1"/>
          </p:cNvSpPr>
          <p:nvPr>
            <p:ph type="title"/>
          </p:nvPr>
        </p:nvSpPr>
        <p:spPr>
          <a:xfrm>
            <a:off x="695998" y="360000"/>
            <a:ext cx="6375921" cy="429413"/>
          </a:xfrm>
        </p:spPr>
        <p:txBody>
          <a:bodyPr/>
          <a:lstStyle/>
          <a:p>
            <a:r>
              <a:rPr lang="zh-CN" altLang="en-US"/>
              <a:t>变更控制委员会</a:t>
            </a:r>
          </a:p>
        </p:txBody>
      </p:sp>
      <p:sp>
        <p:nvSpPr>
          <p:cNvPr id="7" name="内容占位符 6">
            <a:extLst>
              <a:ext uri="{FF2B5EF4-FFF2-40B4-BE49-F238E27FC236}">
                <a16:creationId xmlns:a16="http://schemas.microsoft.com/office/drawing/2014/main" id="{3B2C8851-7D5E-DEE6-4CCF-B200139CB5B6}"/>
              </a:ext>
            </a:extLst>
          </p:cNvPr>
          <p:cNvSpPr>
            <a:spLocks noGrp="1"/>
          </p:cNvSpPr>
          <p:nvPr>
            <p:ph idx="1"/>
          </p:nvPr>
        </p:nvSpPr>
        <p:spPr>
          <a:xfrm>
            <a:off x="696000" y="864000"/>
            <a:ext cx="10800000" cy="5400000"/>
          </a:xfrm>
        </p:spPr>
        <p:txBody>
          <a:bodyPr/>
          <a:lstStyle/>
          <a:p>
            <a:r>
              <a:rPr lang="en-US" altLang="zh-CN"/>
              <a:t>the development manager,</a:t>
            </a:r>
          </a:p>
          <a:p>
            <a:r>
              <a:rPr lang="en-US" altLang="zh-CN"/>
              <a:t>a test manager,</a:t>
            </a:r>
          </a:p>
          <a:p>
            <a:r>
              <a:rPr lang="en-US" altLang="zh-CN"/>
              <a:t>a product manager</a:t>
            </a:r>
          </a:p>
          <a:p>
            <a:r>
              <a:rPr lang="en-US" altLang="zh-CN"/>
              <a:t>and the project manager.</a:t>
            </a:r>
          </a:p>
          <a:p>
            <a:r>
              <a:rPr lang="en-US" altLang="zh-CN"/>
              <a:t>In some cases, stakeholders are also involved.</a:t>
            </a:r>
            <a:endParaRPr lang="zh-CN" altLang="en-US"/>
          </a:p>
          <a:p>
            <a:endParaRPr lang="zh-CN" altLang="en-US"/>
          </a:p>
        </p:txBody>
      </p:sp>
      <p:sp>
        <p:nvSpPr>
          <p:cNvPr id="4" name="文本占位符 3">
            <a:extLst>
              <a:ext uri="{FF2B5EF4-FFF2-40B4-BE49-F238E27FC236}">
                <a16:creationId xmlns:a16="http://schemas.microsoft.com/office/drawing/2014/main" id="{658DA847-1583-5220-8500-4F539B8FD5D0}"/>
              </a:ext>
            </a:extLst>
          </p:cNvPr>
          <p:cNvSpPr>
            <a:spLocks noGrp="1"/>
          </p:cNvSpPr>
          <p:nvPr>
            <p:ph type="body" sz="quarter" idx="10"/>
          </p:nvPr>
        </p:nvSpPr>
        <p:spPr>
          <a:xfrm>
            <a:off x="7071919" y="448519"/>
            <a:ext cx="4424080" cy="338554"/>
          </a:xfrm>
        </p:spPr>
        <p:txBody>
          <a:bodyPr/>
          <a:lstStyle/>
          <a:p>
            <a:r>
              <a:rPr lang="en-US" altLang="zh-CN"/>
              <a:t>CCB</a:t>
            </a:r>
            <a:endParaRPr lang="zh-CN" altLang="en-US"/>
          </a:p>
        </p:txBody>
      </p:sp>
    </p:spTree>
    <p:extLst>
      <p:ext uri="{BB962C8B-B14F-4D97-AF65-F5344CB8AC3E}">
        <p14:creationId xmlns:p14="http://schemas.microsoft.com/office/powerpoint/2010/main" val="1074014852"/>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492482860"/>
              </p:ext>
            </p:extLst>
          </p:nvPr>
        </p:nvGraphicFramePr>
        <p:xfrm>
          <a:off x="2522297" y="1249680"/>
          <a:ext cx="7147406"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32000">
                  <a:extLst>
                    <a:ext uri="{9D8B030D-6E8A-4147-A177-3AD203B41FA5}">
                      <a16:colId xmlns:a16="http://schemas.microsoft.com/office/drawing/2014/main" val="716357521"/>
                    </a:ext>
                  </a:extLst>
                </a:gridCol>
              </a:tblGrid>
              <a:tr h="0">
                <a:tc>
                  <a:txBody>
                    <a:bodyPr/>
                    <a:lstStyle/>
                    <a:p>
                      <a:pPr algn="dist"/>
                      <a:r>
                        <a:rPr lang="zh-CN" altLang="en-US" sz="1600">
                          <a:solidFill>
                            <a:schemeClr val="bg1"/>
                          </a:solidFill>
                        </a:rPr>
                        <a:t>变更号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64235506"/>
                  </a:ext>
                </a:extLst>
              </a:tr>
              <a:tr h="0">
                <a:tc>
                  <a:txBody>
                    <a:bodyPr/>
                    <a:lstStyle/>
                    <a:p>
                      <a:pPr algn="dist"/>
                      <a:r>
                        <a:rPr lang="zh-CN" altLang="en-US" sz="1600">
                          <a:solidFill>
                            <a:schemeClr val="bg1"/>
                          </a:solidFill>
                        </a:rPr>
                        <a:t>提出人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22811592"/>
                  </a:ext>
                </a:extLst>
              </a:tr>
              <a:tr h="0">
                <a:tc>
                  <a:txBody>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lang="zh-CN" altLang="en-US" sz="1600">
                          <a:solidFill>
                            <a:schemeClr val="bg1"/>
                          </a:solidFill>
                        </a:rPr>
                        <a:t>变更原因</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用户需求变化 </a:t>
                      </a:r>
                      <a:r>
                        <a:rPr lang="zh-CN" altLang="en-US" sz="1600">
                          <a:solidFill>
                            <a:schemeClr val="bg1"/>
                          </a:solidFill>
                          <a:sym typeface="Wingdings" panose="05000000000000000000" pitchFamily="2" charset="2"/>
                        </a:rPr>
                        <a:t> </a:t>
                      </a:r>
                      <a:r>
                        <a:rPr lang="zh-CN" altLang="en-US" sz="1600">
                          <a:solidFill>
                            <a:schemeClr val="bg1"/>
                          </a:solidFill>
                        </a:rPr>
                        <a:t>技术限制 </a:t>
                      </a:r>
                      <a:r>
                        <a:rPr lang="zh-CN" altLang="en-US" sz="1600">
                          <a:solidFill>
                            <a:schemeClr val="bg1"/>
                          </a:solidFill>
                          <a:sym typeface="Wingdings" panose="05000000000000000000" pitchFamily="2" charset="2"/>
                        </a:rPr>
                        <a:t> </a:t>
                      </a:r>
                      <a:r>
                        <a:rPr lang="zh-CN" altLang="en-US" sz="1600">
                          <a:solidFill>
                            <a:schemeClr val="bg1"/>
                          </a:solidFill>
                        </a:rPr>
                        <a:t>法律法规 </a:t>
                      </a:r>
                      <a:r>
                        <a:rPr lang="zh-CN" altLang="en-US" sz="1600">
                          <a:solidFill>
                            <a:schemeClr val="bg1"/>
                          </a:solidFill>
                          <a:sym typeface="Wingdings" panose="05000000000000000000" pitchFamily="2" charset="2"/>
                        </a:rPr>
                        <a:t> </a:t>
                      </a:r>
                      <a:r>
                        <a:rPr lang="zh-CN" altLang="en-US" sz="1600">
                          <a:solidFill>
                            <a:schemeClr val="bg1"/>
                          </a:solidFill>
                        </a:rPr>
                        <a:t>缺陷修复 </a:t>
                      </a:r>
                      <a:r>
                        <a:rPr lang="zh-CN" altLang="en-US" sz="1600">
                          <a:solidFill>
                            <a:schemeClr val="bg1"/>
                          </a:solidFill>
                          <a:sym typeface="Wingdings" panose="05000000000000000000" pitchFamily="2" charset="2"/>
                        </a:rPr>
                        <a:t> </a:t>
                      </a:r>
                      <a:r>
                        <a:rPr lang="zh-CN" altLang="en-US" sz="1600">
                          <a:solidFill>
                            <a:schemeClr val="bg1"/>
                          </a:solidFill>
                        </a:rPr>
                        <a:t>其它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dist"/>
                      <a:r>
                        <a:rPr lang="zh-CN" altLang="en-US" sz="1600">
                          <a:solidFill>
                            <a:schemeClr val="bg1"/>
                          </a:solidFill>
                        </a:rPr>
                        <a:t>原需求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dist"/>
                      <a:r>
                        <a:rPr lang="zh-CN" altLang="en-US" sz="1600">
                          <a:solidFill>
                            <a:schemeClr val="bg1"/>
                          </a:solidFill>
                        </a:rPr>
                        <a:t>新需求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dist"/>
                      <a:r>
                        <a:rPr lang="zh-CN" altLang="en-US" sz="1600">
                          <a:solidFill>
                            <a:schemeClr val="bg1"/>
                          </a:solidFill>
                        </a:rPr>
                        <a:t>影响模块</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dist"/>
                      <a:r>
                        <a:rPr lang="zh-CN" altLang="en-US" sz="1600">
                          <a:solidFill>
                            <a:schemeClr val="bg1"/>
                          </a:solidFill>
                        </a:rPr>
                        <a:t>预计工作量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dist"/>
                      <a:r>
                        <a:rPr lang="zh-CN" altLang="en-US" sz="1600">
                          <a:solidFill>
                            <a:schemeClr val="bg1"/>
                          </a:solidFill>
                        </a:rPr>
                        <a:t>风险等级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高  中  低</a:t>
                      </a: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82999761"/>
                  </a:ext>
                </a:extLst>
              </a:tr>
              <a:tr h="0">
                <a:tc>
                  <a:txBody>
                    <a:bodyPr/>
                    <a:lstStyle/>
                    <a:p>
                      <a:pPr algn="dist"/>
                      <a:r>
                        <a:rPr lang="zh-CN" altLang="en-US" sz="1600">
                          <a:solidFill>
                            <a:schemeClr val="bg1"/>
                          </a:solidFill>
                        </a:rPr>
                        <a:t>建议优先级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31747142"/>
                  </a:ext>
                </a:extLst>
              </a:tr>
              <a:tr h="0">
                <a:tc>
                  <a:txBody>
                    <a:bodyPr/>
                    <a:lstStyle/>
                    <a:p>
                      <a:pPr algn="dist"/>
                      <a:r>
                        <a:rPr lang="zh-CN" altLang="en-US" sz="1600">
                          <a:solidFill>
                            <a:schemeClr val="bg1"/>
                          </a:solidFill>
                        </a:rPr>
                        <a:t>审批意见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l"/>
                      <a:r>
                        <a:rPr lang="zh-CN" altLang="en-US" sz="1600">
                          <a:solidFill>
                            <a:schemeClr val="bg1"/>
                          </a:solidFill>
                          <a:sym typeface="Wingdings" panose="05000000000000000000" pitchFamily="2" charset="2"/>
                        </a:rPr>
                        <a:t> </a:t>
                      </a:r>
                      <a:r>
                        <a:rPr lang="zh-CN" altLang="en-US" sz="1600">
                          <a:solidFill>
                            <a:schemeClr val="bg1"/>
                          </a:solidFill>
                        </a:rPr>
                        <a:t>批准 </a:t>
                      </a:r>
                      <a:r>
                        <a:rPr lang="zh-CN" altLang="en-US" sz="1600">
                          <a:solidFill>
                            <a:schemeClr val="bg1"/>
                          </a:solidFill>
                          <a:sym typeface="Wingdings" panose="05000000000000000000" pitchFamily="2" charset="2"/>
                        </a:rPr>
                        <a:t> </a:t>
                      </a:r>
                      <a:r>
                        <a:rPr lang="zh-CN" altLang="en-US" sz="1600">
                          <a:solidFill>
                            <a:schemeClr val="bg1"/>
                          </a:solidFill>
                        </a:rPr>
                        <a:t>拒绝 </a:t>
                      </a:r>
                      <a:r>
                        <a:rPr lang="zh-CN" altLang="en-US" sz="1600">
                          <a:solidFill>
                            <a:schemeClr val="bg1"/>
                          </a:solidFill>
                          <a:sym typeface="Wingdings" panose="05000000000000000000" pitchFamily="2" charset="2"/>
                        </a:rPr>
                        <a:t> </a:t>
                      </a:r>
                      <a:r>
                        <a:rPr lang="zh-CN" altLang="en-US" sz="1600">
                          <a:solidFill>
                            <a:schemeClr val="bg1"/>
                          </a:solidFill>
                        </a:rPr>
                        <a:t>延期 </a:t>
                      </a:r>
                      <a:r>
                        <a:rPr lang="zh-CN" altLang="en-US" sz="1600">
                          <a:solidFill>
                            <a:schemeClr val="bg1"/>
                          </a:solidFill>
                          <a:sym typeface="Wingdings" panose="05000000000000000000" pitchFamily="2" charset="2"/>
                        </a:rPr>
                        <a:t> </a:t>
                      </a:r>
                      <a:r>
                        <a:rPr lang="zh-CN" altLang="en-US" sz="1600">
                          <a:solidFill>
                            <a:schemeClr val="bg1"/>
                          </a:solidFill>
                        </a:rPr>
                        <a:t>需补充材料</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dist"/>
                      <a:r>
                        <a:rPr lang="zh-CN" altLang="en-US" sz="1600">
                          <a:solidFill>
                            <a:schemeClr val="bg1"/>
                          </a:solidFill>
                        </a:rPr>
                        <a:t>审批人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sz="1600">
                          <a:solidFill>
                            <a:schemeClr val="bg1"/>
                          </a:solidFill>
                        </a:rPr>
                        <a:t>日期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1214444"/>
                  </a:ext>
                </a:extLst>
              </a:tr>
              <a:tr h="0">
                <a:tc>
                  <a:txBody>
                    <a:bodyPr/>
                    <a:lstStyle/>
                    <a:p>
                      <a:pPr algn="dist"/>
                      <a:r>
                        <a:rPr lang="zh-CN" altLang="en-US" sz="1600">
                          <a:solidFill>
                            <a:schemeClr val="bg1"/>
                          </a:solidFill>
                        </a:rPr>
                        <a:t>备注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gridSpan="3">
                  <a:txBody>
                    <a:bodyPr/>
                    <a:lstStyle/>
                    <a:p>
                      <a:pPr algn="ctr"/>
                      <a:endParaRPr lang="zh-CN" altLang="en-US" sz="160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7FAC11-BADB-4759-CE2E-89BFD2396607}"/>
              </a:ext>
            </a:extLst>
          </p:cNvPr>
          <p:cNvSpPr>
            <a:spLocks noGrp="1"/>
          </p:cNvSpPr>
          <p:nvPr>
            <p:ph type="title"/>
          </p:nvPr>
        </p:nvSpPr>
        <p:spPr>
          <a:xfrm>
            <a:off x="695998" y="360000"/>
            <a:ext cx="6375921" cy="429413"/>
          </a:xfrm>
        </p:spPr>
        <p:txBody>
          <a:bodyPr/>
          <a:lstStyle/>
          <a:p>
            <a:r>
              <a:rPr lang="zh-CN" altLang="en-US"/>
              <a:t>配置管理系统</a:t>
            </a:r>
          </a:p>
        </p:txBody>
      </p:sp>
      <p:sp>
        <p:nvSpPr>
          <p:cNvPr id="6" name="内容占位符 5">
            <a:extLst>
              <a:ext uri="{FF2B5EF4-FFF2-40B4-BE49-F238E27FC236}">
                <a16:creationId xmlns:a16="http://schemas.microsoft.com/office/drawing/2014/main" id="{6C557D3E-86C1-C25F-9E5B-09DE9CA870F0}"/>
              </a:ext>
            </a:extLst>
          </p:cNvPr>
          <p:cNvSpPr>
            <a:spLocks noGrp="1"/>
          </p:cNvSpPr>
          <p:nvPr>
            <p:ph idx="1"/>
          </p:nvPr>
        </p:nvSpPr>
        <p:spPr/>
        <p:txBody>
          <a:bodyPr/>
          <a:lstStyle/>
          <a:p>
            <a:endParaRPr lang="zh-CN" altLang="en-US"/>
          </a:p>
        </p:txBody>
      </p:sp>
      <p:sp>
        <p:nvSpPr>
          <p:cNvPr id="7" name="文本占位符 6">
            <a:extLst>
              <a:ext uri="{FF2B5EF4-FFF2-40B4-BE49-F238E27FC236}">
                <a16:creationId xmlns:a16="http://schemas.microsoft.com/office/drawing/2014/main" id="{3245875D-CA61-6CC0-FB41-CE7901F426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41514905"/>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a:xfrm>
            <a:off x="695998" y="360000"/>
            <a:ext cx="6375921" cy="429413"/>
          </a:xfrm>
        </p:spPr>
        <p:txBody>
          <a:bodyPr/>
          <a:lstStyle/>
          <a:p>
            <a:r>
              <a:rPr lang="zh-CN" altLang="en-US"/>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864000"/>
            <a:ext cx="10800000" cy="5400000"/>
          </a:xfrm>
        </p:spPr>
        <p:txBody>
          <a:bodyPr/>
          <a:lstStyle/>
          <a:p>
            <a:r>
              <a:rPr lang="zh-CN" altLang="en-US"/>
              <a:t>主版本号 </a:t>
            </a:r>
            <a:r>
              <a:rPr lang="en-US" altLang="zh-CN"/>
              <a:t>Major</a:t>
            </a:r>
            <a:r>
              <a:rPr lang="zh-CN" altLang="en-US"/>
              <a:t>：重大变更、架构调整、不兼容升级</a:t>
            </a:r>
          </a:p>
          <a:p>
            <a:r>
              <a:rPr lang="zh-CN" altLang="en-US"/>
              <a:t>次版本号 </a:t>
            </a:r>
            <a:r>
              <a:rPr lang="en-US" altLang="zh-CN"/>
              <a:t>Minor</a:t>
            </a:r>
            <a:r>
              <a:rPr lang="zh-CN" altLang="en-US"/>
              <a:t>：新增功能、小幅改进</a:t>
            </a:r>
          </a:p>
          <a:p>
            <a:r>
              <a:rPr lang="zh-CN" altLang="en-US"/>
              <a:t>修订号 </a:t>
            </a:r>
            <a:r>
              <a:rPr lang="en-US" altLang="zh-CN"/>
              <a:t>Patch</a:t>
            </a:r>
            <a:r>
              <a:rPr lang="zh-CN" altLang="en-US"/>
              <a:t>：</a:t>
            </a:r>
            <a:r>
              <a:rPr lang="en-US" altLang="zh-CN"/>
              <a:t>Bug</a:t>
            </a:r>
            <a:r>
              <a:rPr lang="zh-CN" altLang="en-US"/>
              <a:t>修复、小调整</a:t>
            </a:r>
            <a:endParaRPr lang="en-US" altLang="zh-CN"/>
          </a:p>
          <a:p>
            <a:endParaRPr lang="en-US" altLang="zh-CN"/>
          </a:p>
        </p:txBody>
      </p:sp>
      <p:sp>
        <p:nvSpPr>
          <p:cNvPr id="7" name="文本占位符 6">
            <a:extLst>
              <a:ext uri="{FF2B5EF4-FFF2-40B4-BE49-F238E27FC236}">
                <a16:creationId xmlns:a16="http://schemas.microsoft.com/office/drawing/2014/main" id="{63D59409-3CBD-2D2F-1E39-36F3A88580B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2098415879"/>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solidFill>
                            <a:schemeClr val="bg1"/>
                          </a:solidFill>
                        </a:rPr>
                        <a:t>状态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版本号格式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16052283"/>
                  </a:ext>
                </a:extLst>
              </a:tr>
              <a:tr h="0">
                <a:tc>
                  <a:txBody>
                    <a:bodyPr/>
                    <a:lstStyle/>
                    <a:p>
                      <a:pPr>
                        <a:buNone/>
                      </a:pPr>
                      <a:r>
                        <a:rPr lang="zh-CN" altLang="en-US">
                          <a:solidFill>
                            <a:schemeClr val="bg1"/>
                          </a:solidFill>
                        </a:rPr>
                        <a:t>草稿 </a:t>
                      </a:r>
                      <a:r>
                        <a:rPr lang="en-US">
                          <a:solidFill>
                            <a:schemeClr val="bg1"/>
                          </a:solidFill>
                        </a:rPr>
                        <a:t>Draft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s-ES">
                          <a:solidFill>
                            <a:schemeClr val="bg1"/>
                          </a:solidFill>
                          <a:latin typeface="Courier New" panose="02070309020205020404" pitchFamily="49" charset="0"/>
                        </a:rPr>
                        <a:t>0.Y</a:t>
                      </a:r>
                      <a:r>
                        <a:rPr lang="es-ES">
                          <a:solidFill>
                            <a:schemeClr val="bg1"/>
                          </a:solidFill>
                        </a:rPr>
                        <a:t> 或 </a:t>
                      </a:r>
                      <a:r>
                        <a:rPr lang="es-ES">
                          <a:solidFill>
                            <a:schemeClr val="bg1"/>
                          </a:solidFill>
                          <a:latin typeface="Courier New" panose="02070309020205020404" pitchFamily="49" charset="0"/>
                        </a:rPr>
                        <a:t>0.YZ</a:t>
                      </a:r>
                      <a:endParaRPr lang="es-E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初始编写阶段，尚未评审通过</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26911041"/>
                  </a:ext>
                </a:extLst>
              </a:tr>
              <a:tr h="0">
                <a:tc>
                  <a:txBody>
                    <a:bodyPr/>
                    <a:lstStyle/>
                    <a:p>
                      <a:pPr>
                        <a:buNone/>
                      </a:pPr>
                      <a:r>
                        <a:rPr lang="zh-CN" altLang="en-US">
                          <a:solidFill>
                            <a:schemeClr val="bg1"/>
                          </a:solidFill>
                        </a:rPr>
                        <a:t>正式 </a:t>
                      </a:r>
                      <a:r>
                        <a:rPr lang="en-US">
                          <a:solidFill>
                            <a:schemeClr val="bg1"/>
                          </a:solidFill>
                        </a:rPr>
                        <a:t>Formal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fr-FR">
                          <a:solidFill>
                            <a:schemeClr val="bg1"/>
                          </a:solidFill>
                          <a:latin typeface="Courier New" panose="02070309020205020404" pitchFamily="49" charset="0"/>
                        </a:rPr>
                        <a:t>1.X</a:t>
                      </a:r>
                      <a:r>
                        <a:rPr lang="fr-FR">
                          <a:solidFill>
                            <a:schemeClr val="bg1"/>
                          </a:solidFill>
                        </a:rPr>
                        <a:t> 或 </a:t>
                      </a:r>
                      <a:r>
                        <a:rPr lang="fr-FR">
                          <a:solidFill>
                            <a:schemeClr val="bg1"/>
                          </a:solidFill>
                          <a:latin typeface="Courier New" panose="02070309020205020404" pitchFamily="49" charset="0"/>
                        </a:rPr>
                        <a:t>X.Y</a:t>
                      </a:r>
                      <a:endParaRPr lang="fr-FR">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经过评审、批准后发布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10376463"/>
                  </a:ext>
                </a:extLst>
              </a:tr>
              <a:tr h="0">
                <a:tc>
                  <a:txBody>
                    <a:bodyPr/>
                    <a:lstStyle/>
                    <a:p>
                      <a:pPr>
                        <a:buNone/>
                      </a:pPr>
                      <a:r>
                        <a:rPr lang="zh-CN" altLang="en-US">
                          <a:solidFill>
                            <a:schemeClr val="bg1"/>
                          </a:solidFill>
                        </a:rPr>
                        <a:t>修改 </a:t>
                      </a:r>
                      <a:r>
                        <a:rPr lang="en-US">
                          <a:solidFill>
                            <a:schemeClr val="bg1"/>
                          </a:solidFill>
                        </a:rPr>
                        <a:t>Modified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在原基础上递增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如从 </a:t>
                      </a:r>
                      <a:r>
                        <a:rPr lang="en-US" altLang="zh-CN">
                          <a:solidFill>
                            <a:schemeClr val="bg1"/>
                          </a:solidFill>
                        </a:rPr>
                        <a:t>1.0 → 1.1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6375921" cy="429413"/>
          </a:xfrm>
        </p:spPr>
        <p:txBody>
          <a:bodyPr>
            <a:normAutofit/>
          </a:bodyPr>
          <a:lstStyle/>
          <a:p>
            <a:r>
              <a:rPr lang="zh-CN" altLang="en-US"/>
              <a:t>配置库</a:t>
            </a:r>
          </a:p>
        </p:txBody>
      </p:sp>
      <p:sp>
        <p:nvSpPr>
          <p:cNvPr id="7" name="内容占位符 6">
            <a:extLst>
              <a:ext uri="{FF2B5EF4-FFF2-40B4-BE49-F238E27FC236}">
                <a16:creationId xmlns:a16="http://schemas.microsoft.com/office/drawing/2014/main" id="{859E2E68-567F-ED32-2ABD-14B0145A5BFC}"/>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6BB7B779-EFD5-8646-A1A1-CA038C8A330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130191335"/>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98119768"/>
                  </a:ext>
                </a:extLst>
              </a:tr>
              <a:tr h="0">
                <a:tc>
                  <a:txBody>
                    <a:bodyPr/>
                    <a:lstStyle/>
                    <a:p>
                      <a:pPr>
                        <a:buNone/>
                      </a:pPr>
                      <a:r>
                        <a:rPr lang="zh-CN" altLang="en-US">
                          <a:solidFill>
                            <a:schemeClr val="bg1"/>
                          </a:solidFill>
                        </a:rPr>
                        <a:t>开发库（</a:t>
                      </a:r>
                      <a:r>
                        <a:rPr lang="en-US">
                          <a:solidFill>
                            <a:schemeClr val="bg1"/>
                          </a:solidFill>
                        </a:rPr>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个人或团队工作空间</a:t>
                      </a:r>
                      <a:br>
                        <a:rPr lang="zh-CN" altLang="en-US">
                          <a:solidFill>
                            <a:schemeClr val="bg1"/>
                          </a:solidFill>
                        </a:rPr>
                      </a:br>
                      <a:r>
                        <a:rPr lang="en-US" altLang="zh-CN">
                          <a:solidFill>
                            <a:schemeClr val="bg1"/>
                          </a:solidFill>
                        </a:rPr>
                        <a:t>- </a:t>
                      </a:r>
                      <a:r>
                        <a:rPr lang="zh-CN" altLang="en-US">
                          <a:solidFill>
                            <a:schemeClr val="bg1"/>
                          </a:solidFill>
                        </a:rPr>
                        <a:t>无严格版本控制</a:t>
                      </a:r>
                      <a:br>
                        <a:rPr lang="zh-CN" altLang="en-US">
                          <a:solidFill>
                            <a:schemeClr val="bg1"/>
                          </a:solidFill>
                        </a:rPr>
                      </a:br>
                      <a:r>
                        <a:rPr lang="en-US" altLang="zh-CN">
                          <a:solidFill>
                            <a:schemeClr val="bg1"/>
                          </a:solidFill>
                        </a:rPr>
                        <a:t>- </a:t>
                      </a:r>
                      <a:r>
                        <a:rPr lang="zh-CN" altLang="en-US">
                          <a:solidFill>
                            <a:schemeClr val="bg1"/>
                          </a:solidFill>
                        </a:rPr>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a:solidFill>
                            <a:schemeClr val="bg1"/>
                          </a:solidFill>
                        </a:rPr>
                        <a:t>受控库（</a:t>
                      </a:r>
                      <a:r>
                        <a:rPr lang="en-US">
                          <a:solidFill>
                            <a:schemeClr val="bg1"/>
                          </a:solidFill>
                        </a:rPr>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经审批后才能修改</a:t>
                      </a:r>
                      <a:br>
                        <a:rPr lang="zh-CN" altLang="en-US">
                          <a:solidFill>
                            <a:schemeClr val="bg1"/>
                          </a:solidFill>
                        </a:rPr>
                      </a:br>
                      <a:r>
                        <a:rPr lang="en-US" altLang="zh-CN">
                          <a:solidFill>
                            <a:schemeClr val="bg1"/>
                          </a:solidFill>
                        </a:rPr>
                        <a:t>- </a:t>
                      </a:r>
                      <a:r>
                        <a:rPr lang="zh-CN" altLang="en-US">
                          <a:solidFill>
                            <a:schemeClr val="bg1"/>
                          </a:solidFill>
                        </a:rPr>
                        <a:t>用于集成、测试</a:t>
                      </a:r>
                      <a:br>
                        <a:rPr lang="zh-CN" altLang="en-US">
                          <a:solidFill>
                            <a:schemeClr val="bg1"/>
                          </a:solidFill>
                        </a:rPr>
                      </a:br>
                      <a:r>
                        <a:rPr lang="en-US" altLang="zh-CN">
                          <a:solidFill>
                            <a:schemeClr val="bg1"/>
                          </a:solidFill>
                        </a:rPr>
                        <a:t>- </a:t>
                      </a:r>
                      <a:r>
                        <a:rPr lang="zh-CN" altLang="en-US">
                          <a:solidFill>
                            <a:schemeClr val="bg1"/>
                          </a:solidFill>
                        </a:rPr>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a:solidFill>
                            <a:schemeClr val="bg1"/>
                          </a:solidFill>
                        </a:rPr>
                        <a:t>产品库（</a:t>
                      </a:r>
                      <a:r>
                        <a:rPr lang="en-US">
                          <a:solidFill>
                            <a:schemeClr val="bg1"/>
                          </a:solidFill>
                        </a:rPr>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a:solidFill>
                            <a:schemeClr val="bg1"/>
                          </a:solidFill>
                        </a:rPr>
                        <a:t>- </a:t>
                      </a:r>
                      <a:r>
                        <a:rPr lang="zh-CN" altLang="en-US">
                          <a:solidFill>
                            <a:schemeClr val="bg1"/>
                          </a:solidFill>
                        </a:rPr>
                        <a:t>最终版本</a:t>
                      </a:r>
                      <a:br>
                        <a:rPr lang="zh-CN" altLang="en-US">
                          <a:solidFill>
                            <a:schemeClr val="bg1"/>
                          </a:solidFill>
                        </a:rPr>
                      </a:br>
                      <a:r>
                        <a:rPr lang="en-US" altLang="zh-CN">
                          <a:solidFill>
                            <a:schemeClr val="bg1"/>
                          </a:solidFill>
                        </a:rPr>
                        <a:t>- </a:t>
                      </a:r>
                      <a:r>
                        <a:rPr lang="zh-CN" altLang="en-US">
                          <a:solidFill>
                            <a:schemeClr val="bg1"/>
                          </a:solidFill>
                        </a:rPr>
                        <a:t>不可随意修改</a:t>
                      </a:r>
                      <a:br>
                        <a:rPr lang="zh-CN" altLang="en-US">
                          <a:solidFill>
                            <a:schemeClr val="bg1"/>
                          </a:solidFill>
                        </a:rPr>
                      </a:br>
                      <a:r>
                        <a:rPr lang="en-US" altLang="zh-CN">
                          <a:solidFill>
                            <a:schemeClr val="bg1"/>
                          </a:solidFill>
                        </a:rPr>
                        <a:t>- </a:t>
                      </a:r>
                      <a:r>
                        <a:rPr lang="zh-CN" altLang="en-US">
                          <a:solidFill>
                            <a:schemeClr val="bg1"/>
                          </a:solidFill>
                        </a:rPr>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6375921" cy="429413"/>
          </a:xfrm>
        </p:spPr>
        <p:txBody>
          <a:bodyPr>
            <a:normAutofit/>
          </a:bodyPr>
          <a:lstStyle/>
          <a:p>
            <a:r>
              <a:rPr lang="zh-CN" altLang="en-US"/>
              <a:t>发布管理和交付</a:t>
            </a:r>
          </a:p>
        </p:txBody>
      </p:sp>
      <p:sp>
        <p:nvSpPr>
          <p:cNvPr id="7" name="内容占位符 6">
            <a:extLst>
              <a:ext uri="{FF2B5EF4-FFF2-40B4-BE49-F238E27FC236}">
                <a16:creationId xmlns:a16="http://schemas.microsoft.com/office/drawing/2014/main" id="{3DF03DC4-C917-6F2B-73AE-DF6832175447}"/>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AEE779BD-DDB3-F165-4749-5BBB8590AD7E}"/>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3874212858"/>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solidFill>
                            <a:schemeClr val="bg1"/>
                          </a:solidFill>
                        </a:rPr>
                        <a:t>活动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4290677"/>
                  </a:ext>
                </a:extLst>
              </a:tr>
              <a:tr h="0">
                <a:tc>
                  <a:txBody>
                    <a:bodyPr/>
                    <a:lstStyle/>
                    <a:p>
                      <a:pPr>
                        <a:buNone/>
                      </a:pPr>
                      <a:r>
                        <a:rPr lang="zh-CN" altLang="en-US">
                          <a:solidFill>
                            <a:schemeClr val="bg1"/>
                          </a:solidFill>
                        </a:rPr>
                        <a:t>打包 </a:t>
                      </a:r>
                      <a:r>
                        <a:rPr lang="en-US">
                          <a:solidFill>
                            <a:schemeClr val="bg1"/>
                          </a:solidFill>
                        </a:rPr>
                        <a:t>Packaging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将多个配置项（如代码、文档、配置文件）组合成一个可发布的单元（如安装包、镜像）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6428169"/>
                  </a:ext>
                </a:extLst>
              </a:tr>
              <a:tr h="0">
                <a:tc>
                  <a:txBody>
                    <a:bodyPr/>
                    <a:lstStyle/>
                    <a:p>
                      <a:pPr>
                        <a:buNone/>
                      </a:pPr>
                      <a:r>
                        <a:rPr lang="zh-CN" altLang="en-US">
                          <a:solidFill>
                            <a:schemeClr val="bg1"/>
                          </a:solidFill>
                        </a:rPr>
                        <a:t>复制 </a:t>
                      </a:r>
                      <a:r>
                        <a:rPr lang="en-US">
                          <a:solidFill>
                            <a:schemeClr val="bg1"/>
                          </a:solidFill>
                        </a:rPr>
                        <a:t>Replication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将发布版本复制到目标环境（如测试、生产、客户）</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81879113"/>
                  </a:ext>
                </a:extLst>
              </a:tr>
              <a:tr h="0">
                <a:tc>
                  <a:txBody>
                    <a:bodyPr/>
                    <a:lstStyle/>
                    <a:p>
                      <a:pPr>
                        <a:buNone/>
                      </a:pPr>
                      <a:r>
                        <a:rPr lang="zh-CN" altLang="en-US">
                          <a:solidFill>
                            <a:schemeClr val="bg1"/>
                          </a:solidFill>
                        </a:rPr>
                        <a:t>存储 </a:t>
                      </a:r>
                      <a:r>
                        <a:rPr lang="en-US">
                          <a:solidFill>
                            <a:schemeClr val="bg1"/>
                          </a:solidFill>
                        </a:rPr>
                        <a:t>Storage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将发布版本存放在产品库或发布服务器中，供后续使用或回滚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35302203"/>
                  </a:ext>
                </a:extLst>
              </a:tr>
              <a:tr h="0">
                <a:tc>
                  <a:txBody>
                    <a:bodyPr/>
                    <a:lstStyle/>
                    <a:p>
                      <a:pPr>
                        <a:buNone/>
                      </a:pPr>
                      <a:r>
                        <a:rPr lang="zh-CN" altLang="en-US">
                          <a:solidFill>
                            <a:schemeClr val="bg1"/>
                          </a:solidFill>
                        </a:rPr>
                        <a:t>分发 </a:t>
                      </a:r>
                      <a:r>
                        <a:rPr lang="en-US">
                          <a:solidFill>
                            <a:schemeClr val="bg1"/>
                          </a:solidFill>
                        </a:rPr>
                        <a:t>Distribution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向用户或运维团队提供发布包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0829072"/>
                  </a:ext>
                </a:extLst>
              </a:tr>
              <a:tr h="0">
                <a:tc>
                  <a:txBody>
                    <a:bodyPr/>
                    <a:lstStyle/>
                    <a:p>
                      <a:pPr>
                        <a:buNone/>
                      </a:pPr>
                      <a:r>
                        <a:rPr lang="zh-CN" altLang="en-US">
                          <a:solidFill>
                            <a:schemeClr val="bg1"/>
                          </a:solidFill>
                        </a:rPr>
                        <a:t>部署 </a:t>
                      </a:r>
                      <a:r>
                        <a:rPr lang="en-US">
                          <a:solidFill>
                            <a:schemeClr val="bg1"/>
                          </a:solidFill>
                        </a:rPr>
                        <a:t>Deployment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在目标环境中安装和运行发布包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657808287"/>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5" name="文本占位符 4">
            <a:extLst>
              <a:ext uri="{FF2B5EF4-FFF2-40B4-BE49-F238E27FC236}">
                <a16:creationId xmlns:a16="http://schemas.microsoft.com/office/drawing/2014/main" id="{61472ABF-54B5-61A6-F31E-E6F2728516FF}"/>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685887968"/>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a:solidFill>
                            <a:schemeClr val="bg1"/>
                          </a:solidFill>
                        </a:rPr>
                        <a:t>Item</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buNone/>
                      </a:pPr>
                      <a:r>
                        <a:rPr lang="en-US" altLang="zh-CN">
                          <a:solidFill>
                            <a:schemeClr val="bg1"/>
                          </a:solidFill>
                        </a:rPr>
                        <a:t>Description</a:t>
                      </a:r>
                      <a:endParaRPr lang="zh-CN" alt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4294107049"/>
                  </a:ext>
                </a:extLst>
              </a:tr>
              <a:tr h="0">
                <a:tc>
                  <a:txBody>
                    <a:bodyPr/>
                    <a:lstStyle/>
                    <a:p>
                      <a:pPr>
                        <a:buNone/>
                      </a:pPr>
                      <a:r>
                        <a:rPr lang="en-US">
                          <a:solidFill>
                            <a:schemeClr val="bg1"/>
                          </a:solidFill>
                        </a:rPr>
                        <a:t>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形成期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a:solidFill>
                            <a:schemeClr val="bg1"/>
                          </a:solidFill>
                        </a:rPr>
                        <a:t>Storming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震荡期或磨合期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a:solidFill>
                            <a:schemeClr val="bg1"/>
                          </a:solidFill>
                        </a:rPr>
                        <a:t>Norming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a:solidFill>
                            <a:schemeClr val="bg1"/>
                          </a:solidFill>
                        </a:rPr>
                        <a:t>Performing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表现期 </a:t>
                      </a:r>
                      <a:r>
                        <a:rPr lang="en-US" altLang="zh-CN">
                          <a:solidFill>
                            <a:schemeClr val="bg1"/>
                          </a:solidFill>
                        </a:rPr>
                        <a:t>/ </a:t>
                      </a:r>
                      <a:r>
                        <a:rPr lang="zh-CN" altLang="en-US">
                          <a:solidFill>
                            <a:schemeClr val="bg1"/>
                          </a:solidFill>
                        </a:rPr>
                        <a:t>执行期 </a:t>
                      </a:r>
                      <a:r>
                        <a:rPr lang="en-US" altLang="zh-CN">
                          <a:solidFill>
                            <a:schemeClr val="bg1"/>
                          </a:solidFill>
                        </a:rPr>
                        <a:t>/ </a:t>
                      </a:r>
                      <a:r>
                        <a:rPr lang="zh-CN" altLang="en-US">
                          <a:solidFill>
                            <a:schemeClr val="bg1"/>
                          </a:solidFill>
                        </a:rPr>
                        <a:t>高绩效期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a:solidFill>
                            <a:schemeClr val="bg1"/>
                          </a:solidFill>
                        </a:rPr>
                        <a:t>Adjourning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结束期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6375921" cy="429413"/>
          </a:xfrm>
        </p:spPr>
        <p:txBody>
          <a:bodyPr>
            <a:normAutofit/>
          </a:bodyPr>
          <a:lstStyle/>
          <a:p>
            <a:r>
              <a:rPr lang="zh-CN" altLang="en-US"/>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864000"/>
            <a:ext cx="10800000" cy="5400000"/>
          </a:xfrm>
        </p:spPr>
        <p:txBody>
          <a:bodyPr/>
          <a:lstStyle/>
          <a:p>
            <a:r>
              <a:rPr lang="zh-CN" altLang="en-US"/>
              <a:t>编制</a:t>
            </a:r>
            <a:endParaRPr lang="en-US" altLang="zh-CN"/>
          </a:p>
          <a:p>
            <a:r>
              <a:rPr lang="zh-CN" altLang="en-US"/>
              <a:t>组建</a:t>
            </a:r>
            <a:endParaRPr lang="en-US" altLang="zh-CN"/>
          </a:p>
          <a:p>
            <a:r>
              <a:rPr lang="zh-CN" altLang="en-US"/>
              <a:t>建设</a:t>
            </a:r>
            <a:endParaRPr lang="en-US" altLang="zh-CN"/>
          </a:p>
          <a:p>
            <a:r>
              <a:rPr lang="zh-CN" altLang="en-US"/>
              <a:t>管理</a:t>
            </a:r>
          </a:p>
        </p:txBody>
      </p:sp>
      <p:sp>
        <p:nvSpPr>
          <p:cNvPr id="6" name="文本占位符 5">
            <a:extLst>
              <a:ext uri="{FF2B5EF4-FFF2-40B4-BE49-F238E27FC236}">
                <a16:creationId xmlns:a16="http://schemas.microsoft.com/office/drawing/2014/main" id="{32D4F82D-BEE5-7358-FBD3-8423C494A33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zh-CN" altLang="en-US"/>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4059632314"/>
              </p:ext>
            </p:extLst>
          </p:nvPr>
        </p:nvGraphicFramePr>
        <p:xfrm>
          <a:off x="695325" y="8636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人员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需求定义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张三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李四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王五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赵六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系统设计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系统开发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测试</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zh-CN" altLang="en-US" baseline="0">
                          <a:solidFill>
                            <a:schemeClr val="bg1"/>
                          </a:solidFill>
                          <a:latin typeface="Montserrat" panose="00000500000000000000" pitchFamily="2" charset="0"/>
                          <a:ea typeface="微软雅黑 Light" panose="020B0502040204020203" pitchFamily="34" charset="-122"/>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endParaRPr lang="zh-CN" altLang="en-US" baseline="0">
                        <a:solidFill>
                          <a:schemeClr val="bg1"/>
                        </a:solidFill>
                        <a:latin typeface="Montserrat" panose="00000500000000000000" pitchFamily="2" charset="0"/>
                        <a:ea typeface="微软雅黑 Light" panose="020B0502040204020203" pitchFamily="34" charset="-122"/>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
        <p:nvSpPr>
          <p:cNvPr id="6" name="文本占位符 5">
            <a:extLst>
              <a:ext uri="{FF2B5EF4-FFF2-40B4-BE49-F238E27FC236}">
                <a16:creationId xmlns:a16="http://schemas.microsoft.com/office/drawing/2014/main" id="{3C2771CF-5E35-E161-74AF-B9C648A506D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6375921" cy="429413"/>
          </a:xfrm>
        </p:spPr>
        <p:txBody>
          <a:bodyPr>
            <a:normAutofit/>
          </a:bodyPr>
          <a:lstStyle/>
          <a:p>
            <a:r>
              <a:rPr lang="zh-CN" altLang="en-US"/>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801849561"/>
              </p:ext>
            </p:extLst>
          </p:nvPr>
        </p:nvGraphicFramePr>
        <p:xfrm>
          <a:off x="695325" y="8636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a:solidFill>
                            <a:schemeClr val="bg1"/>
                          </a:solidFill>
                        </a:rPr>
                        <a:t>回避</a:t>
                      </a:r>
                      <a:r>
                        <a:rPr lang="en-US" altLang="zh-CN">
                          <a:solidFill>
                            <a:schemeClr val="bg1"/>
                          </a:solidFill>
                        </a:rPr>
                        <a:t>/</a:t>
                      </a:r>
                      <a:r>
                        <a:rPr lang="zh-CN" altLang="en-US">
                          <a:solidFill>
                            <a:schemeClr val="bg1"/>
                          </a:solidFill>
                        </a:rPr>
                        <a:t>撤退 </a:t>
                      </a:r>
                      <a:r>
                        <a:rPr lang="en-US">
                          <a:solidFill>
                            <a:schemeClr val="bg1"/>
                          </a:solidFill>
                        </a:rPr>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a:solidFill>
                            <a:schemeClr val="bg1"/>
                          </a:solidFill>
                        </a:rPr>
                        <a:t>安抚</a:t>
                      </a:r>
                      <a:r>
                        <a:rPr lang="en-US" altLang="zh-CN">
                          <a:solidFill>
                            <a:schemeClr val="bg1"/>
                          </a:solidFill>
                        </a:rPr>
                        <a:t>/</a:t>
                      </a:r>
                      <a:r>
                        <a:rPr lang="zh-CN" altLang="en-US">
                          <a:solidFill>
                            <a:schemeClr val="bg1"/>
                          </a:solidFill>
                        </a:rPr>
                        <a:t>迁就 </a:t>
                      </a:r>
                      <a:r>
                        <a:rPr lang="en-US">
                          <a:solidFill>
                            <a:schemeClr val="bg1"/>
                          </a:solidFill>
                        </a:rPr>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a:solidFill>
                            <a:schemeClr val="bg1"/>
                          </a:solidFill>
                        </a:rPr>
                        <a:t>妥协 </a:t>
                      </a:r>
                      <a:r>
                        <a:rPr lang="en-US">
                          <a:solidFill>
                            <a:schemeClr val="bg1"/>
                          </a:solidFill>
                        </a:rPr>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a:solidFill>
                            <a:schemeClr val="bg1"/>
                          </a:solidFill>
                        </a:rPr>
                        <a:t>强制 </a:t>
                      </a:r>
                      <a:r>
                        <a:rPr lang="en-US">
                          <a:solidFill>
                            <a:schemeClr val="bg1"/>
                          </a:solidFill>
                        </a:rPr>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a:solidFill>
                            <a:schemeClr val="bg1"/>
                          </a:solidFill>
                        </a:rPr>
                        <a:t>合作</a:t>
                      </a:r>
                      <a:r>
                        <a:rPr lang="en-US" altLang="zh-CN">
                          <a:solidFill>
                            <a:schemeClr val="bg1"/>
                          </a:solidFill>
                        </a:rPr>
                        <a:t>/</a:t>
                      </a:r>
                      <a:r>
                        <a:rPr lang="zh-CN" altLang="en-US">
                          <a:solidFill>
                            <a:schemeClr val="bg1"/>
                          </a:solidFill>
                        </a:rPr>
                        <a:t>解决问题 </a:t>
                      </a:r>
                      <a:r>
                        <a:rPr lang="en-US">
                          <a:solidFill>
                            <a:schemeClr val="bg1"/>
                          </a:solidFill>
                        </a:rPr>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5" name="文本占位符 4">
            <a:extLst>
              <a:ext uri="{FF2B5EF4-FFF2-40B4-BE49-F238E27FC236}">
                <a16:creationId xmlns:a16="http://schemas.microsoft.com/office/drawing/2014/main" id="{02E25227-3B79-C11B-379B-DF53170DCED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6375921" cy="429413"/>
          </a:xfrm>
        </p:spPr>
        <p:txBody>
          <a:bodyPr>
            <a:normAutofit/>
          </a:bodyPr>
          <a:lstStyle/>
          <a:p>
            <a:r>
              <a:rPr lang="zh-CN" altLang="en-US"/>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71125211"/>
              </p:ext>
            </p:extLst>
          </p:nvPr>
        </p:nvGraphicFramePr>
        <p:xfrm>
          <a:off x="695325" y="8636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solidFill>
                            <a:schemeClr val="bg1"/>
                          </a:solidFill>
                        </a:rPr>
                        <a:t>层次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名称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典型表现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1168794"/>
                  </a:ext>
                </a:extLst>
              </a:tr>
              <a:tr h="0">
                <a:tc>
                  <a:txBody>
                    <a:bodyPr/>
                    <a:lstStyle/>
                    <a:p>
                      <a:pPr>
                        <a:buNone/>
                      </a:pPr>
                      <a:r>
                        <a:rPr lang="en-US" altLang="zh-CN">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生理需求（</a:t>
                      </a:r>
                      <a:r>
                        <a:rPr lang="en-US" altLang="zh-CN">
                          <a:solidFill>
                            <a:schemeClr val="bg1"/>
                          </a:solidFill>
                        </a:rPr>
                        <a:t>Physiological</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饮食、睡眠、休息等基本生存需求</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90555722"/>
                  </a:ext>
                </a:extLst>
              </a:tr>
              <a:tr h="0">
                <a:tc>
                  <a:txBody>
                    <a:bodyPr/>
                    <a:lstStyle/>
                    <a:p>
                      <a:pPr>
                        <a:buNone/>
                      </a:pPr>
                      <a:r>
                        <a:rPr lang="en-US" altLang="zh-CN">
                          <a:solidFill>
                            <a:schemeClr val="bg1"/>
                          </a:solidFill>
                        </a:rPr>
                        <a:t>2</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安全需求（</a:t>
                      </a:r>
                      <a:r>
                        <a:rPr lang="en-US" altLang="zh-CN">
                          <a:solidFill>
                            <a:schemeClr val="bg1"/>
                          </a:solidFill>
                        </a:rPr>
                        <a:t>Safety</a:t>
                      </a:r>
                      <a:r>
                        <a:rPr lang="en-US">
                          <a:solidFill>
                            <a:schemeClr val="bg1"/>
                          </a:solidFill>
                        </a:rPr>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工作稳定、健康保障、职业安全等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31442999"/>
                  </a:ext>
                </a:extLst>
              </a:tr>
              <a:tr h="0">
                <a:tc>
                  <a:txBody>
                    <a:bodyPr/>
                    <a:lstStyle/>
                    <a:p>
                      <a:pPr>
                        <a:buNone/>
                      </a:pPr>
                      <a:r>
                        <a:rPr lang="en-US" altLang="zh-CN">
                          <a:solidFill>
                            <a:schemeClr val="bg1"/>
                          </a:solidFill>
                        </a:rPr>
                        <a:t>3</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社会交往需求（</a:t>
                      </a:r>
                      <a:r>
                        <a:rPr lang="en-US">
                          <a:solidFill>
                            <a:schemeClr val="bg1"/>
                          </a:solidFill>
                        </a:rPr>
                        <a:t>Love/Belonging）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友谊、爱情、团队归属、被接纳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703633182"/>
                  </a:ext>
                </a:extLst>
              </a:tr>
              <a:tr h="0">
                <a:tc>
                  <a:txBody>
                    <a:bodyPr/>
                    <a:lstStyle/>
                    <a:p>
                      <a:pPr>
                        <a:buNone/>
                      </a:pPr>
                      <a:r>
                        <a:rPr lang="en-US" altLang="zh-CN">
                          <a:solidFill>
                            <a:schemeClr val="bg1"/>
                          </a:solidFill>
                        </a:rPr>
                        <a:t>4</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自尊需求（</a:t>
                      </a:r>
                      <a:r>
                        <a:rPr lang="en-US">
                          <a:solidFill>
                            <a:schemeClr val="bg1"/>
                          </a:solidFill>
                        </a:rPr>
                        <a:t>Esteem）</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获得尊重、认可、成就感、地位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7657656"/>
                  </a:ext>
                </a:extLst>
              </a:tr>
              <a:tr h="0">
                <a:tc>
                  <a:txBody>
                    <a:bodyPr/>
                    <a:lstStyle/>
                    <a:p>
                      <a:pPr>
                        <a:buNone/>
                      </a:pPr>
                      <a:r>
                        <a:rPr lang="en-US" altLang="zh-CN">
                          <a:solidFill>
                            <a:schemeClr val="bg1"/>
                          </a:solidFill>
                        </a:rPr>
                        <a:t>5</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自我实现（</a:t>
                      </a:r>
                      <a:r>
                        <a:rPr lang="en-US">
                          <a:solidFill>
                            <a:schemeClr val="bg1"/>
                          </a:solidFill>
                        </a:rPr>
                        <a:t>Self-actualization）</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实现潜能、追求理想、创造性发挥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90960172"/>
                  </a:ext>
                </a:extLst>
              </a:tr>
            </a:tbl>
          </a:graphicData>
        </a:graphic>
      </p:graphicFrame>
      <p:sp>
        <p:nvSpPr>
          <p:cNvPr id="9" name="文本占位符 8">
            <a:extLst>
              <a:ext uri="{FF2B5EF4-FFF2-40B4-BE49-F238E27FC236}">
                <a16:creationId xmlns:a16="http://schemas.microsoft.com/office/drawing/2014/main" id="{BF40FB67-02B3-C99F-47BA-89556E1962EF}"/>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6375921" cy="429413"/>
          </a:xfrm>
        </p:spPr>
        <p:txBody>
          <a:bodyPr>
            <a:normAutofit/>
          </a:bodyPr>
          <a:lstStyle/>
          <a:p>
            <a:r>
              <a:rPr lang="zh-CN" altLang="en-US"/>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864000"/>
            <a:ext cx="10800000" cy="5400000"/>
          </a:xfrm>
        </p:spPr>
        <p:txBody>
          <a:bodyPr>
            <a:normAutofit fontScale="92500" lnSpcReduction="10000"/>
          </a:bodyPr>
          <a:lstStyle/>
          <a:p>
            <a:r>
              <a:rPr lang="zh-CN" altLang="en-US"/>
              <a:t>由美国心理学家弗雷德里克</a:t>
            </a:r>
            <a:r>
              <a:rPr lang="en-US" altLang="zh-CN"/>
              <a:t>·</a:t>
            </a:r>
            <a:r>
              <a:rPr lang="zh-CN" altLang="en-US"/>
              <a:t>赫茨伯格（</a:t>
            </a:r>
            <a:r>
              <a:rPr lang="en-US" altLang="zh-CN"/>
              <a:t>Frederick Herzberg</a:t>
            </a:r>
            <a:r>
              <a:rPr lang="zh-CN" altLang="en-US"/>
              <a:t>）于</a:t>
            </a:r>
            <a:r>
              <a:rPr lang="en-US" altLang="zh-CN"/>
              <a:t>20</a:t>
            </a:r>
            <a:r>
              <a:rPr lang="zh-CN" altLang="en-US"/>
              <a:t>世纪</a:t>
            </a:r>
            <a:r>
              <a:rPr lang="en-US" altLang="zh-CN"/>
              <a:t>50</a:t>
            </a:r>
            <a:r>
              <a:rPr lang="zh-CN" altLang="en-US"/>
              <a:t>年代末提出的一种关于工作动机和员工满意度的重要理论</a:t>
            </a:r>
            <a:endParaRPr lang="en-US" altLang="zh-CN"/>
          </a:p>
          <a:p>
            <a:r>
              <a:rPr lang="zh-CN" altLang="en-US"/>
              <a:t>激励因素 </a:t>
            </a:r>
            <a:r>
              <a:rPr lang="en-US" altLang="zh-CN"/>
              <a:t>Motivators</a:t>
            </a:r>
            <a:r>
              <a:rPr lang="zh-CN" altLang="en-US"/>
              <a:t> </a:t>
            </a:r>
            <a:r>
              <a:rPr lang="en-US" altLang="zh-CN"/>
              <a:t>- </a:t>
            </a:r>
            <a:r>
              <a:rPr lang="zh-CN" altLang="en-US"/>
              <a:t>提升积极性</a:t>
            </a:r>
          </a:p>
          <a:p>
            <a:pPr lvl="1"/>
            <a:r>
              <a:rPr lang="zh-CN" altLang="en-US"/>
              <a:t>成就感（</a:t>
            </a:r>
            <a:r>
              <a:rPr lang="en-US" altLang="zh-CN"/>
              <a:t>Achievement</a:t>
            </a:r>
            <a:r>
              <a:rPr lang="zh-CN" altLang="en-US"/>
              <a:t>）</a:t>
            </a:r>
          </a:p>
          <a:p>
            <a:pPr lvl="1"/>
            <a:r>
              <a:rPr lang="zh-CN" altLang="en-US"/>
              <a:t>认可</a:t>
            </a:r>
            <a:r>
              <a:rPr lang="en-US" altLang="zh-CN"/>
              <a:t>/</a:t>
            </a:r>
            <a:r>
              <a:rPr lang="zh-CN" altLang="en-US"/>
              <a:t>赞赏（</a:t>
            </a:r>
            <a:r>
              <a:rPr lang="en-US" altLang="zh-CN"/>
              <a:t>Recognition</a:t>
            </a:r>
            <a:r>
              <a:rPr lang="zh-CN" altLang="en-US"/>
              <a:t>）</a:t>
            </a:r>
          </a:p>
          <a:p>
            <a:pPr lvl="1"/>
            <a:r>
              <a:rPr lang="zh-CN" altLang="en-US"/>
              <a:t>工作本身（</a:t>
            </a:r>
            <a:r>
              <a:rPr lang="en-US" altLang="zh-CN"/>
              <a:t>The work itself</a:t>
            </a:r>
            <a:r>
              <a:rPr lang="zh-CN" altLang="en-US"/>
              <a:t>）</a:t>
            </a:r>
          </a:p>
          <a:p>
            <a:pPr lvl="1"/>
            <a:r>
              <a:rPr lang="zh-CN" altLang="en-US"/>
              <a:t>责任感（</a:t>
            </a:r>
            <a:r>
              <a:rPr lang="en-US" altLang="zh-CN"/>
              <a:t>Responsibility</a:t>
            </a:r>
            <a:r>
              <a:rPr lang="zh-CN" altLang="en-US"/>
              <a:t>）</a:t>
            </a:r>
          </a:p>
          <a:p>
            <a:pPr lvl="1"/>
            <a:r>
              <a:rPr lang="zh-CN" altLang="en-US"/>
              <a:t>晋升机会（</a:t>
            </a:r>
            <a:r>
              <a:rPr lang="en-US" altLang="zh-CN"/>
              <a:t>Advancement</a:t>
            </a:r>
            <a:r>
              <a:rPr lang="zh-CN" altLang="en-US"/>
              <a:t>）</a:t>
            </a:r>
          </a:p>
          <a:p>
            <a:pPr lvl="1"/>
            <a:r>
              <a:rPr lang="zh-CN" altLang="en-US"/>
              <a:t>成长与发展（</a:t>
            </a:r>
            <a:r>
              <a:rPr lang="en-US" altLang="zh-CN"/>
              <a:t>Growth</a:t>
            </a:r>
            <a:r>
              <a:rPr lang="zh-CN" altLang="en-US"/>
              <a:t>）</a:t>
            </a:r>
            <a:endParaRPr lang="en-US" altLang="zh-CN"/>
          </a:p>
          <a:p>
            <a:r>
              <a:rPr lang="zh-CN" altLang="en-US"/>
              <a:t>保健因素 </a:t>
            </a:r>
            <a:r>
              <a:rPr lang="en-US" altLang="zh-CN"/>
              <a:t>Hygiene Factors</a:t>
            </a:r>
            <a:r>
              <a:rPr lang="zh-CN" altLang="en-US"/>
              <a:t> </a:t>
            </a:r>
            <a:r>
              <a:rPr lang="en-US" altLang="zh-CN"/>
              <a:t>-</a:t>
            </a:r>
            <a:r>
              <a:rPr lang="zh-CN" altLang="en-US"/>
              <a:t> 避免不满</a:t>
            </a:r>
          </a:p>
          <a:p>
            <a:pPr lvl="1"/>
            <a:r>
              <a:rPr lang="zh-CN" altLang="en-US"/>
              <a:t>公司政策与管理（</a:t>
            </a:r>
            <a:r>
              <a:rPr lang="en-US" altLang="zh-CN"/>
              <a:t>Company policy</a:t>
            </a:r>
            <a:r>
              <a:rPr lang="zh-CN" altLang="en-US"/>
              <a:t>）</a:t>
            </a:r>
          </a:p>
          <a:p>
            <a:pPr lvl="1"/>
            <a:r>
              <a:rPr lang="zh-CN" altLang="en-US"/>
              <a:t>监督方式（</a:t>
            </a:r>
            <a:r>
              <a:rPr lang="en-US" altLang="zh-CN"/>
              <a:t>Supervision</a:t>
            </a:r>
            <a:r>
              <a:rPr lang="zh-CN" altLang="en-US"/>
              <a:t>）</a:t>
            </a:r>
          </a:p>
          <a:p>
            <a:pPr lvl="1"/>
            <a:r>
              <a:rPr lang="zh-CN" altLang="en-US"/>
              <a:t>工作条件（</a:t>
            </a:r>
            <a:r>
              <a:rPr lang="en-US" altLang="zh-CN"/>
              <a:t>Working conditions</a:t>
            </a:r>
            <a:r>
              <a:rPr lang="zh-CN" altLang="en-US"/>
              <a:t>）</a:t>
            </a:r>
          </a:p>
          <a:p>
            <a:pPr lvl="1"/>
            <a:r>
              <a:rPr lang="zh-CN" altLang="en-US"/>
              <a:t>薪资待遇（</a:t>
            </a:r>
            <a:r>
              <a:rPr lang="en-US" altLang="zh-CN"/>
              <a:t>Salary</a:t>
            </a:r>
            <a:r>
              <a:rPr lang="zh-CN" altLang="en-US"/>
              <a:t>）</a:t>
            </a:r>
          </a:p>
          <a:p>
            <a:pPr lvl="1"/>
            <a:r>
              <a:rPr lang="zh-CN" altLang="en-US"/>
              <a:t>同事关系（</a:t>
            </a:r>
            <a:r>
              <a:rPr lang="en-US" altLang="zh-CN"/>
              <a:t>Interpersonal relations</a:t>
            </a:r>
            <a:r>
              <a:rPr lang="zh-CN" altLang="en-US"/>
              <a:t>）</a:t>
            </a:r>
          </a:p>
          <a:p>
            <a:pPr lvl="1"/>
            <a:r>
              <a:rPr lang="zh-CN" altLang="en-US"/>
              <a:t>地位（</a:t>
            </a:r>
            <a:r>
              <a:rPr lang="en-US" altLang="zh-CN"/>
              <a:t>Status</a:t>
            </a:r>
            <a:r>
              <a:rPr lang="zh-CN" altLang="en-US"/>
              <a:t>）</a:t>
            </a:r>
          </a:p>
          <a:p>
            <a:pPr lvl="1"/>
            <a:r>
              <a:rPr lang="zh-CN" altLang="en-US"/>
              <a:t>工作安全感（</a:t>
            </a:r>
            <a:r>
              <a:rPr lang="en-US" altLang="zh-CN"/>
              <a:t>Job security</a:t>
            </a:r>
            <a:r>
              <a:rPr lang="zh-CN" altLang="en-US"/>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a:xfrm>
            <a:off x="7071919" y="448519"/>
            <a:ext cx="4424080" cy="338554"/>
          </a:xfrm>
        </p:spPr>
        <p:txBody>
          <a:bodyPr/>
          <a:lstStyle/>
          <a:p>
            <a:r>
              <a:rPr lang="en-US" altLang="zh-CN"/>
              <a:t>Herzberg's Motivation-Hygiene Theory</a:t>
            </a:r>
          </a:p>
        </p:txBody>
      </p:sp>
    </p:spTree>
    <p:extLst>
      <p:ext uri="{BB962C8B-B14F-4D97-AF65-F5344CB8AC3E}">
        <p14:creationId xmlns:p14="http://schemas.microsoft.com/office/powerpoint/2010/main" val="2786837647"/>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zh-CN" altLang="en-US"/>
              <a:t>沟通管理</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a:t>规划管理过程</a:t>
            </a:r>
            <a:endParaRPr lang="en-US" altLang="zh-CN"/>
          </a:p>
          <a:p>
            <a:r>
              <a:rPr lang="zh-CN" altLang="en-US"/>
              <a:t>管理沟通</a:t>
            </a:r>
            <a:endParaRPr lang="en-US" altLang="zh-CN"/>
          </a:p>
          <a:p>
            <a:r>
              <a:rPr lang="zh-CN" altLang="en-US"/>
              <a:t>控制管理过程</a:t>
            </a:r>
            <a:endParaRPr lang="en-US" altLang="zh-CN"/>
          </a:p>
          <a:p>
            <a:pPr lvl="1"/>
            <a:r>
              <a:rPr lang="zh-CN" altLang="en-US"/>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257567925"/>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solidFill>
                            <a:schemeClr val="bg1"/>
                          </a:solidFill>
                        </a:rPr>
                        <a:t>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定义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4886506"/>
                  </a:ext>
                </a:extLst>
              </a:tr>
              <a:tr h="0">
                <a:tc>
                  <a:txBody>
                    <a:bodyPr/>
                    <a:lstStyle/>
                    <a:p>
                      <a:pPr>
                        <a:buNone/>
                      </a:pPr>
                      <a:r>
                        <a:rPr lang="en-US">
                          <a:solidFill>
                            <a:schemeClr val="bg1"/>
                          </a:solidFill>
                        </a:rPr>
                        <a:t>A. </a:t>
                      </a:r>
                      <a:r>
                        <a:rPr lang="zh-CN" altLang="en-US">
                          <a:solidFill>
                            <a:schemeClr val="bg1"/>
                          </a:solidFill>
                        </a:rPr>
                        <a:t>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通过组织结构、书面文件、会议等正规渠道进行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规范、有记录、可控性强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95844813"/>
                  </a:ext>
                </a:extLst>
              </a:tr>
              <a:tr h="0">
                <a:tc>
                  <a:txBody>
                    <a:bodyPr/>
                    <a:lstStyle/>
                    <a:p>
                      <a:pPr>
                        <a:buNone/>
                      </a:pPr>
                      <a:r>
                        <a:rPr lang="en-US">
                          <a:solidFill>
                            <a:schemeClr val="bg1"/>
                          </a:solidFill>
                        </a:rPr>
                        <a:t>B. </a:t>
                      </a:r>
                      <a:r>
                        <a:rPr lang="zh-CN" altLang="en-US">
                          <a:solidFill>
                            <a:schemeClr val="bg1"/>
                          </a:solidFill>
                        </a:rPr>
                        <a:t>非正式沟通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口头交流、闲聊、社交互动等非官方形式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灵活、快速、但可能失真</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65573547"/>
                  </a:ext>
                </a:extLst>
              </a:tr>
              <a:tr h="0">
                <a:tc>
                  <a:txBody>
                    <a:bodyPr/>
                    <a:lstStyle/>
                    <a:p>
                      <a:pPr>
                        <a:buNone/>
                      </a:pPr>
                      <a:r>
                        <a:rPr lang="en-US">
                          <a:solidFill>
                            <a:schemeClr val="bg1"/>
                          </a:solidFill>
                        </a:rPr>
                        <a:t>C. </a:t>
                      </a:r>
                      <a:r>
                        <a:rPr lang="zh-CN" altLang="en-US">
                          <a:solidFill>
                            <a:schemeClr val="bg1"/>
                          </a:solidFill>
                        </a:rPr>
                        <a:t>垂直沟通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上下级之间的沟通（如项目经理与下属）</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权责明确，流程清晰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305166"/>
                  </a:ext>
                </a:extLst>
              </a:tr>
              <a:tr h="0">
                <a:tc>
                  <a:txBody>
                    <a:bodyPr/>
                    <a:lstStyle/>
                    <a:p>
                      <a:pPr>
                        <a:buNone/>
                      </a:pPr>
                      <a:r>
                        <a:rPr lang="en-US">
                          <a:solidFill>
                            <a:schemeClr val="bg1"/>
                          </a:solidFill>
                        </a:rPr>
                        <a:t>D. </a:t>
                      </a:r>
                      <a:r>
                        <a:rPr lang="zh-CN" altLang="en-US">
                          <a:solidFill>
                            <a:schemeClr val="bg1"/>
                          </a:solidFill>
                        </a:rPr>
                        <a:t>水平沟通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同级之间或跨部门之间的沟通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协调难度大，易受多方影响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zh-CN" altLang="en-US"/>
              <a:t>干系人管理</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a:t>典型流程：</a:t>
            </a:r>
          </a:p>
          <a:p>
            <a:pPr lvl="1"/>
            <a:r>
              <a:rPr lang="zh-CN" altLang="en-US"/>
              <a:t>识别干系人 </a:t>
            </a:r>
            <a:r>
              <a:rPr lang="en-US" altLang="zh-CN"/>
              <a:t>Identify Stakeholders</a:t>
            </a:r>
            <a:r>
              <a:rPr lang="zh-CN" altLang="en-US"/>
              <a:t> </a:t>
            </a:r>
            <a:r>
              <a:rPr lang="en-US" altLang="zh-CN"/>
              <a:t>-</a:t>
            </a:r>
            <a:r>
              <a:rPr lang="zh-CN" altLang="en-US"/>
              <a:t> 找出谁是干系人，并收集基本信息（如姓名、角色、部门）</a:t>
            </a:r>
          </a:p>
          <a:p>
            <a:pPr lvl="1"/>
            <a:r>
              <a:rPr lang="zh-CN" altLang="en-US"/>
              <a:t>评估干系人 </a:t>
            </a:r>
            <a:r>
              <a:rPr lang="en-US" altLang="zh-CN"/>
              <a:t>Analyze Stakeholders</a:t>
            </a:r>
            <a:r>
              <a:rPr lang="zh-CN" altLang="en-US"/>
              <a:t> </a:t>
            </a:r>
            <a:r>
              <a:rPr lang="en-US" altLang="zh-CN"/>
              <a:t>-</a:t>
            </a:r>
            <a:r>
              <a:rPr lang="zh-CN" altLang="en-US"/>
              <a:t> 分析他们的诉求、期望、影响力、权力等</a:t>
            </a:r>
          </a:p>
          <a:p>
            <a:pPr lvl="1"/>
            <a:r>
              <a:rPr lang="zh-CN" altLang="en-US"/>
              <a:t>对干系人分类 </a:t>
            </a:r>
            <a:r>
              <a:rPr lang="en-US" altLang="zh-CN"/>
              <a:t>Categorize Stakeholders</a:t>
            </a:r>
            <a:r>
              <a:rPr lang="zh-CN" altLang="en-US"/>
              <a:t> </a:t>
            </a:r>
            <a:r>
              <a:rPr lang="en-US" altLang="zh-CN"/>
              <a:t>-</a:t>
            </a:r>
            <a:r>
              <a:rPr lang="zh-CN" altLang="en-US"/>
              <a:t> 使用方格模型（如权利</a:t>
            </a:r>
            <a:r>
              <a:rPr lang="en-US" altLang="zh-CN"/>
              <a:t>/</a:t>
            </a:r>
            <a:r>
              <a:rPr lang="zh-CN" altLang="en-US"/>
              <a:t>利益方格）进行归类</a:t>
            </a:r>
          </a:p>
          <a:p>
            <a:pPr lvl="1"/>
            <a:r>
              <a:rPr lang="zh-CN" altLang="en-US"/>
              <a:t>制定干系人管理计划 </a:t>
            </a:r>
            <a:r>
              <a:rPr lang="en-US" altLang="zh-CN"/>
              <a:t>Develop Stakeholder Management Plan</a:t>
            </a:r>
            <a:r>
              <a:rPr lang="zh-CN" altLang="en-US"/>
              <a:t> </a:t>
            </a:r>
            <a:r>
              <a:rPr lang="en-US" altLang="zh-CN"/>
              <a:t>-</a:t>
            </a:r>
            <a:r>
              <a:rPr lang="zh-CN" altLang="en-US"/>
              <a:t> 根据分类结果，制定沟通策略、管理方式等</a:t>
            </a:r>
          </a:p>
          <a:p>
            <a:pPr lvl="1"/>
            <a:endParaRPr lang="zh-CN" altLang="en-US"/>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241047111"/>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a:solidFill>
                            <a:schemeClr val="bg1"/>
                          </a:solidFill>
                        </a:rPr>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a:solidFill>
                            <a:schemeClr val="bg1"/>
                          </a:solidFill>
                        </a:rPr>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a:solidFill>
                            <a:schemeClr val="bg1"/>
                          </a:solidFill>
                        </a:rPr>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a:solidFill>
                            <a:schemeClr val="bg1"/>
                          </a:solidFill>
                        </a:rPr>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6375921" cy="429413"/>
          </a:xfrm>
        </p:spPr>
        <p:txBody>
          <a:bodyPr>
            <a:normAutofit/>
          </a:bodyPr>
          <a:lstStyle/>
          <a:p>
            <a:r>
              <a:rPr lang="zh-CN" altLang="en-US"/>
              <a:t>凸显模型</a:t>
            </a:r>
          </a:p>
        </p:txBody>
      </p:sp>
      <p:sp>
        <p:nvSpPr>
          <p:cNvPr id="5" name="内容占位符 4">
            <a:extLst>
              <a:ext uri="{FF2B5EF4-FFF2-40B4-BE49-F238E27FC236}">
                <a16:creationId xmlns:a16="http://schemas.microsoft.com/office/drawing/2014/main" id="{4EC3EEB4-120A-ABA9-F634-FFC69AB14466}"/>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a:xfrm>
            <a:off x="7071919" y="448519"/>
            <a:ext cx="4424080" cy="338554"/>
          </a:xfrm>
        </p:spPr>
        <p:txBody>
          <a:bodyPr/>
          <a:lstStyle/>
          <a:p>
            <a:r>
              <a:rPr lang="en-US" altLang="zh-CN"/>
              <a:t>Salience Model</a:t>
            </a:r>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extLst>
              <p:ext uri="{D42A27DB-BD31-4B8C-83A1-F6EECF244321}">
                <p14:modId xmlns:p14="http://schemas.microsoft.com/office/powerpoint/2010/main" val="3251992994"/>
              </p:ext>
            </p:extLst>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a:solidFill>
                            <a:schemeClr val="bg1"/>
                          </a:solidFill>
                        </a:rPr>
                        <a:t>维度</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a:solidFill>
                            <a:schemeClr val="bg1"/>
                          </a:solidFill>
                        </a:rPr>
                        <a:t>权力 </a:t>
                      </a:r>
                      <a:r>
                        <a:rPr lang="en-US" sz="160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是否有能力影响项目决策或资源分配？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a:solidFill>
                            <a:schemeClr val="bg1"/>
                          </a:solidFill>
                        </a:rPr>
                        <a:t>合法性 </a:t>
                      </a:r>
                      <a:r>
                        <a:rPr lang="en-US" sz="1600">
                          <a:solidFill>
                            <a:schemeClr val="bg1"/>
                          </a:solidFill>
                        </a:rPr>
                        <a:t>Legitimacy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其参与是否符合规则、道德或社会期望？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a:solidFill>
                            <a:schemeClr val="bg1"/>
                          </a:solidFill>
                        </a:rPr>
                        <a:t>紧迫性 </a:t>
                      </a:r>
                      <a:r>
                        <a:rPr lang="en-US" sz="1600">
                          <a:solidFill>
                            <a:schemeClr val="bg1"/>
                          </a:solidFill>
                        </a:rPr>
                        <a:t>Urgency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是否需要立即响应？是否有时间压力？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6375921" cy="429413"/>
          </a:xfrm>
        </p:spPr>
        <p:txBody>
          <a:bodyPr>
            <a:normAutofit/>
          </a:bodyPr>
          <a:lstStyle/>
          <a:p>
            <a:r>
              <a:rPr lang="zh-CN" altLang="en-US"/>
              <a:t>干系人</a:t>
            </a:r>
          </a:p>
        </p:txBody>
      </p:sp>
      <p:sp>
        <p:nvSpPr>
          <p:cNvPr id="7" name="内容占位符 6">
            <a:extLst>
              <a:ext uri="{FF2B5EF4-FFF2-40B4-BE49-F238E27FC236}">
                <a16:creationId xmlns:a16="http://schemas.microsoft.com/office/drawing/2014/main" id="{49D20EC9-7695-DAC8-C504-5A1C69830A14}"/>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a:xfrm>
            <a:off x="7071919" y="448519"/>
            <a:ext cx="4424080" cy="338554"/>
          </a:xfrm>
        </p:spPr>
        <p:txBody>
          <a:bodyPr/>
          <a:lstStyle/>
          <a:p>
            <a:r>
              <a:rPr lang="en-US" altLang="zh-CN"/>
              <a:t>Stakeholders</a:t>
            </a:r>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1777558749"/>
              </p:ext>
            </p:extLst>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tc>
                  <a:txBody>
                    <a:bodyPr/>
                    <a:lstStyle/>
                    <a:p>
                      <a:pPr>
                        <a:lnSpc>
                          <a:spcPct val="150000"/>
                        </a:lnSpc>
                        <a:buNone/>
                      </a:pPr>
                      <a:r>
                        <a:rPr lang="zh-CN" altLang="en-US" sz="160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solidFill>
                            <a:schemeClr val="bg1"/>
                          </a:solidFill>
                        </a:rPr>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solidFill>
                            <a:schemeClr val="bg1"/>
                          </a:solidFill>
                        </a:rPr>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solidFill>
                            <a:schemeClr val="bg1"/>
                          </a:solidFill>
                        </a:rPr>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solidFill>
                            <a:schemeClr val="bg1"/>
                          </a:solidFill>
                        </a:rPr>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solidFill>
                            <a:schemeClr val="bg1"/>
                          </a:solidFill>
                        </a:rPr>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solidFill>
                            <a:schemeClr val="bg1"/>
                          </a:solidFill>
                        </a:rPr>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solidFill>
                            <a:schemeClr val="bg1"/>
                          </a:solidFill>
                        </a:rPr>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solidFill>
                            <a:schemeClr val="bg1"/>
                          </a:solidFill>
                        </a:rPr>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solidFill>
                            <a:schemeClr val="bg1"/>
                          </a:solidFill>
                        </a:rPr>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a:t>干系人 </a:t>
            </a:r>
            <a:r>
              <a:rPr lang="en-US" altLang="zh-CN"/>
              <a:t>Stakeholders</a:t>
            </a:r>
            <a:endParaRPr lang="zh-CN" altLang="en-US"/>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a:t>利益方格 </a:t>
            </a:r>
            <a:r>
              <a:rPr lang="en-US" altLang="zh-CN"/>
              <a:t>Power/Interest Grid</a:t>
            </a:r>
          </a:p>
          <a:p>
            <a:pPr lvl="1"/>
            <a:r>
              <a:rPr lang="en-US" altLang="zh-CN"/>
              <a:t>Manage closely</a:t>
            </a:r>
            <a:endParaRPr lang="zh-CN" altLang="en-US"/>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2939707391"/>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a:solidFill>
                            <a:schemeClr val="bg1"/>
                          </a:solidFill>
                        </a:rPr>
                        <a:t>权力 </a:t>
                      </a:r>
                      <a:r>
                        <a:rPr lang="en-US">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利益 </a:t>
                      </a:r>
                      <a:r>
                        <a:rPr lang="en-US">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09978989"/>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重点管理 </a:t>
                      </a:r>
                      <a:r>
                        <a:rPr lang="en-US">
                          <a:solidFill>
                            <a:schemeClr val="bg1"/>
                          </a:solidFill>
                        </a:rPr>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监督 </a:t>
                      </a:r>
                      <a:r>
                        <a:rPr lang="en-US">
                          <a:solidFill>
                            <a:schemeClr val="bg1"/>
                          </a:solidFill>
                        </a:rPr>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随时告知 </a:t>
                      </a:r>
                      <a:r>
                        <a:rPr lang="en-US">
                          <a:solidFill>
                            <a:schemeClr val="bg1"/>
                          </a:solidFill>
                        </a:rPr>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令其满意 </a:t>
                      </a:r>
                      <a:r>
                        <a:rPr lang="en-US">
                          <a:solidFill>
                            <a:schemeClr val="bg1"/>
                          </a:solidFill>
                        </a:rPr>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278857"/>
            <a:ext cx="4424219" cy="2300287"/>
          </a:xfrm>
        </p:spPr>
        <p:txBody>
          <a:bodyPr/>
          <a:lstStyle/>
          <a:p>
            <a:r>
              <a:rPr lang="zh-CN" altLang="en-US"/>
              <a:t>类型</a:t>
            </a:r>
            <a:endParaRPr lang="en-US" altLang="zh-CN"/>
          </a:p>
          <a:p>
            <a:r>
              <a:rPr lang="en-US" altLang="zh-CN"/>
              <a:t>3</a:t>
            </a:r>
            <a:r>
              <a:rPr lang="zh-CN" altLang="en-US"/>
              <a:t>要素</a:t>
            </a:r>
            <a:endParaRPr lang="en-US" altLang="zh-CN"/>
          </a:p>
          <a:p>
            <a:r>
              <a:rPr lang="en-US" altLang="zh-CN"/>
              <a:t>4</a:t>
            </a:r>
            <a:r>
              <a:rPr lang="zh-CN" altLang="en-US"/>
              <a:t>过程</a:t>
            </a:r>
          </a:p>
        </p:txBody>
      </p:sp>
    </p:spTree>
    <p:extLst>
      <p:ext uri="{BB962C8B-B14F-4D97-AF65-F5344CB8AC3E}">
        <p14:creationId xmlns:p14="http://schemas.microsoft.com/office/powerpoint/2010/main" val="727486452"/>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a:t>风险</a:t>
            </a:r>
            <a:r>
              <a:rPr lang="en-US" altLang="zh-CN"/>
              <a:t>3</a:t>
            </a:r>
            <a:r>
              <a:rPr lang="zh-CN" altLang="en-US"/>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a:t>风险</a:t>
            </a:r>
            <a:r>
              <a:rPr lang="en-US" altLang="zh-CN"/>
              <a:t>4</a:t>
            </a:r>
            <a:r>
              <a:rPr lang="zh-CN" altLang="en-US"/>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2958351577"/>
              </p:ext>
            </p:extLst>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78355106"/>
                  </a:ext>
                </a:extLst>
              </a:tr>
              <a:tr h="0">
                <a:tc>
                  <a:txBody>
                    <a:bodyPr/>
                    <a:lstStyle/>
                    <a:p>
                      <a:pPr>
                        <a:buNone/>
                      </a:pPr>
                      <a:r>
                        <a:rPr lang="en-US">
                          <a:solidFill>
                            <a:schemeClr val="bg1"/>
                          </a:solidFill>
                        </a:rPr>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Strengths（</a:t>
                      </a:r>
                      <a:r>
                        <a:rPr lang="zh-CN" altLang="en-US">
                          <a:solidFill>
                            <a:schemeClr val="bg1"/>
                          </a:solidFill>
                        </a:rPr>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a:solidFill>
                            <a:schemeClr val="bg1"/>
                          </a:solidFill>
                        </a:rPr>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Weaknesses（</a:t>
                      </a:r>
                      <a:r>
                        <a:rPr lang="zh-CN" altLang="en-US">
                          <a:solidFill>
                            <a:schemeClr val="bg1"/>
                          </a:solidFill>
                        </a:rPr>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a:solidFill>
                            <a:schemeClr val="bg1"/>
                          </a:solidFill>
                        </a:rPr>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Opportunities（</a:t>
                      </a:r>
                      <a:r>
                        <a:rPr lang="zh-CN" altLang="en-US">
                          <a:solidFill>
                            <a:schemeClr val="bg1"/>
                          </a:solidFill>
                        </a:rPr>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a:solidFill>
                            <a:schemeClr val="bg1"/>
                          </a:solidFill>
                        </a:rPr>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solidFill>
                            <a:schemeClr val="bg1"/>
                          </a:solidFill>
                        </a:rPr>
                        <a:t>Threats（</a:t>
                      </a:r>
                      <a:r>
                        <a:rPr lang="zh-CN" altLang="en-US">
                          <a:solidFill>
                            <a:schemeClr val="bg1"/>
                          </a:solidFill>
                        </a:rPr>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278857"/>
            <a:ext cx="4424219" cy="2300287"/>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1411665114"/>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a:solidFill>
                            <a:schemeClr val="bg1"/>
                          </a:solidFill>
                        </a:rPr>
                        <a:t>总价合同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a:solidFill>
                            <a:schemeClr val="bg1"/>
                          </a:solidFill>
                        </a:rPr>
                        <a:t>成本补偿合同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支付实际成本</a:t>
                      </a:r>
                      <a:r>
                        <a:rPr lang="en-US" altLang="zh-CN">
                          <a:solidFill>
                            <a:schemeClr val="bg1"/>
                          </a:solidFill>
                        </a:rPr>
                        <a:t>+</a:t>
                      </a:r>
                      <a:r>
                        <a:rPr lang="zh-CN" altLang="en-US">
                          <a:solidFill>
                            <a:schemeClr val="bg1"/>
                          </a:solidFill>
                        </a:rPr>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a:solidFill>
                            <a:schemeClr val="bg1"/>
                          </a:solidFill>
                        </a:rPr>
                        <a:t>工料合同</a:t>
                      </a:r>
                      <a:endParaRPr lang="en-US">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a:solidFill>
                            <a:schemeClr val="bg1"/>
                          </a:solidFill>
                        </a:rPr>
                        <a:t>采购单合同 </a:t>
                      </a:r>
                      <a:r>
                        <a:rPr lang="en-US">
                          <a:solidFill>
                            <a:schemeClr val="bg1"/>
                          </a:solidFill>
                        </a:rPr>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简单采购订单，用于一次性商品</a:t>
                      </a:r>
                      <a:r>
                        <a:rPr lang="en-US" altLang="zh-CN">
                          <a:solidFill>
                            <a:schemeClr val="bg1"/>
                          </a:solidFill>
                        </a:rPr>
                        <a:t>/</a:t>
                      </a:r>
                      <a:r>
                        <a:rPr lang="zh-CN" altLang="en-US">
                          <a:solidFill>
                            <a:schemeClr val="bg1"/>
                          </a:solidFill>
                        </a:rPr>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a:solidFill>
                            <a:schemeClr val="bg1"/>
                          </a:solidFill>
                        </a:rPr>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6" name="文本占位符 5">
            <a:extLst>
              <a:ext uri="{FF2B5EF4-FFF2-40B4-BE49-F238E27FC236}">
                <a16:creationId xmlns:a16="http://schemas.microsoft.com/office/drawing/2014/main" id="{3DC2B38E-C50C-E802-C257-B724B944AB8C}"/>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46D5E1D2-1925-5ACB-4C8E-D0A4DED3B5E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52BBC8EB-E652-22DE-9621-B0A1FD6CB1FB}"/>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10" name="文本占位符 9">
            <a:extLst>
              <a:ext uri="{FF2B5EF4-FFF2-40B4-BE49-F238E27FC236}">
                <a16:creationId xmlns:a16="http://schemas.microsoft.com/office/drawing/2014/main" id="{844D0099-3093-D1AA-9C64-D19FF4E68BB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23" name="内容占位符 22">
            <a:extLst>
              <a:ext uri="{FF2B5EF4-FFF2-40B4-BE49-F238E27FC236}">
                <a16:creationId xmlns:a16="http://schemas.microsoft.com/office/drawing/2014/main" id="{01496836-6604-07B3-4682-7CFB1C11BAF8}"/>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a:solidFill>
                  <a:schemeClr val="bg1"/>
                </a:solidFill>
              </a:rPr>
              <a:t>The tasks</a:t>
            </a:r>
          </a:p>
          <a:p>
            <a:r>
              <a:rPr lang="en-US" altLang="zh-CN">
                <a:solidFill>
                  <a:schemeClr val="bg1"/>
                </a:solidFill>
              </a:rPr>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solidFill>
                  <a:schemeClr val="bg1"/>
                </a:solidFill>
              </a:rPr>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solidFill>
                  <a:schemeClr val="bg1"/>
                </a:solidFill>
              </a:rPr>
              <a:t>The schedule</a:t>
            </a:r>
          </a:p>
          <a:p>
            <a:r>
              <a:rPr lang="en-US" altLang="zh-CN">
                <a:solidFill>
                  <a:schemeClr val="bg1"/>
                </a:solidFill>
              </a:rPr>
              <a:t>for the project to reach completion</a:t>
            </a:r>
            <a:endParaRPr lang="zh-CN" altLang="en-US">
              <a:solidFill>
                <a:schemeClr val="bg1"/>
              </a:solidFill>
            </a:endParaRPr>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278857"/>
            <a:ext cx="4424219" cy="2300287"/>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58F83B6B-FE72-5203-7BAE-986DE035AE06}"/>
              </a:ext>
            </a:extLst>
          </p:cNvPr>
          <p:cNvSpPr/>
          <p:nvPr/>
        </p:nvSpPr>
        <p:spPr>
          <a:xfrm>
            <a:off x="2454444"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B477B985-73BD-5090-5F5E-573F20709A7F}"/>
              </a:ext>
            </a:extLst>
          </p:cNvPr>
          <p:cNvSpPr/>
          <p:nvPr/>
        </p:nvSpPr>
        <p:spPr>
          <a:xfrm>
            <a:off x="4180548"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05B514E-8462-085C-9F5A-F215DE5F33F7}"/>
              </a:ext>
            </a:extLst>
          </p:cNvPr>
          <p:cNvSpPr/>
          <p:nvPr/>
        </p:nvSpPr>
        <p:spPr>
          <a:xfrm>
            <a:off x="5906652" y="1897626"/>
            <a:ext cx="1800000" cy="360000"/>
          </a:xfrm>
          <a:prstGeom prst="chevr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项目执行控制</a:t>
            </a:r>
          </a:p>
        </p:txBody>
      </p:sp>
      <p:sp>
        <p:nvSpPr>
          <p:cNvPr id="8" name="箭头: V 形 7">
            <a:extLst>
              <a:ext uri="{FF2B5EF4-FFF2-40B4-BE49-F238E27FC236}">
                <a16:creationId xmlns:a16="http://schemas.microsoft.com/office/drawing/2014/main" id="{12C06C3B-F478-29D5-A343-E5DCC93727CD}"/>
              </a:ext>
            </a:extLst>
          </p:cNvPr>
          <p:cNvSpPr/>
          <p:nvPr/>
        </p:nvSpPr>
        <p:spPr>
          <a:xfrm>
            <a:off x="7632755" y="1897626"/>
            <a:ext cx="1800000" cy="360000"/>
          </a:xfrm>
          <a:prstGeom prst="chevron">
            <a:avLst/>
          </a:prstGeom>
          <a:solidFill>
            <a:schemeClr val="accent2"/>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项目结束</a:t>
            </a:r>
          </a:p>
        </p:txBody>
      </p:sp>
      <p:sp>
        <p:nvSpPr>
          <p:cNvPr id="9" name="矩形 8">
            <a:extLst>
              <a:ext uri="{FF2B5EF4-FFF2-40B4-BE49-F238E27FC236}">
                <a16:creationId xmlns:a16="http://schemas.microsoft.com/office/drawing/2014/main" id="{8163AD3A-D079-198F-692B-8805A0754FAC}"/>
              </a:ext>
            </a:extLst>
          </p:cNvPr>
          <p:cNvSpPr/>
          <p:nvPr/>
        </p:nvSpPr>
        <p:spPr>
          <a:xfrm>
            <a:off x="3453041"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1126563F-EFBA-A44C-E0C4-EAD0F44A6A7D}"/>
              </a:ext>
            </a:extLst>
          </p:cNvPr>
          <p:cNvSpPr/>
          <p:nvPr/>
        </p:nvSpPr>
        <p:spPr>
          <a:xfrm>
            <a:off x="414717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AE1CD4FB-43F9-0858-CCF6-C8225CF43C09}"/>
              </a:ext>
            </a:extLst>
          </p:cNvPr>
          <p:cNvSpPr/>
          <p:nvPr/>
        </p:nvSpPr>
        <p:spPr>
          <a:xfrm>
            <a:off x="4840750" y="2998839"/>
            <a:ext cx="430887" cy="21600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A720C152-7020-08D1-6031-68F39909928B}"/>
              </a:ext>
            </a:extLst>
          </p:cNvPr>
          <p:cNvSpPr/>
          <p:nvPr/>
        </p:nvSpPr>
        <p:spPr>
          <a:xfrm>
            <a:off x="5534326"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EAA668BC-18F2-4086-918C-5E40FC72A9A9}"/>
              </a:ext>
            </a:extLst>
          </p:cNvPr>
          <p:cNvSpPr/>
          <p:nvPr/>
        </p:nvSpPr>
        <p:spPr>
          <a:xfrm>
            <a:off x="6227902"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14" name="矩形 13">
            <a:extLst>
              <a:ext uri="{FF2B5EF4-FFF2-40B4-BE49-F238E27FC236}">
                <a16:creationId xmlns:a16="http://schemas.microsoft.com/office/drawing/2014/main" id="{4406620C-95F6-C506-A0EC-C39B4D4FFC3B}"/>
              </a:ext>
            </a:extLst>
          </p:cNvPr>
          <p:cNvSpPr/>
          <p:nvPr/>
        </p:nvSpPr>
        <p:spPr>
          <a:xfrm>
            <a:off x="6921478"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C394A6D5-F639-D1D9-5BC4-C2428725B890}"/>
              </a:ext>
            </a:extLst>
          </p:cNvPr>
          <p:cNvSpPr/>
          <p:nvPr/>
        </p:nvSpPr>
        <p:spPr>
          <a:xfrm>
            <a:off x="7615054"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C519C489-6589-4E62-66EF-DEE216A0E236}"/>
              </a:ext>
            </a:extLst>
          </p:cNvPr>
          <p:cNvSpPr/>
          <p:nvPr/>
        </p:nvSpPr>
        <p:spPr>
          <a:xfrm>
            <a:off x="8308629" y="2998839"/>
            <a:ext cx="430887" cy="21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795F63D4-ACB5-4A39-FF43-A7DB5A961D6D}"/>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2"/>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1942087867"/>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7" name="文本占位符 6">
            <a:extLst>
              <a:ext uri="{FF2B5EF4-FFF2-40B4-BE49-F238E27FC236}">
                <a16:creationId xmlns:a16="http://schemas.microsoft.com/office/drawing/2014/main" id="{65BE9A37-4E79-9CFF-2BCB-9B2D997C786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a:t>验收测试</a:t>
            </a:r>
            <a:endParaRPr lang="en-US" altLang="zh-CN"/>
          </a:p>
          <a:p>
            <a:r>
              <a:rPr lang="zh-CN" altLang="en-US"/>
              <a:t>系统试运行</a:t>
            </a:r>
            <a:endParaRPr lang="en-US" altLang="zh-CN"/>
          </a:p>
          <a:p>
            <a:r>
              <a:rPr lang="zh-CN" altLang="en-US"/>
              <a:t>文档验收</a:t>
            </a:r>
            <a:endParaRPr lang="en-US" altLang="zh-CN"/>
          </a:p>
          <a:p>
            <a:r>
              <a:rPr lang="zh-CN" altLang="en-US"/>
              <a:t>项目终验</a:t>
            </a:r>
          </a:p>
        </p:txBody>
      </p:sp>
      <p:sp>
        <p:nvSpPr>
          <p:cNvPr id="8" name="文本占位符 7">
            <a:extLst>
              <a:ext uri="{FF2B5EF4-FFF2-40B4-BE49-F238E27FC236}">
                <a16:creationId xmlns:a16="http://schemas.microsoft.com/office/drawing/2014/main" id="{95EC2E53-CE46-684E-9B10-860026A56E50}"/>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7" name="文本占位符 6">
            <a:extLst>
              <a:ext uri="{FF2B5EF4-FFF2-40B4-BE49-F238E27FC236}">
                <a16:creationId xmlns:a16="http://schemas.microsoft.com/office/drawing/2014/main" id="{B4164C2E-4A63-A045-248F-F84271FA760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a:t>目标评价</a:t>
            </a:r>
            <a:endParaRPr lang="en-US" altLang="zh-CN"/>
          </a:p>
          <a:p>
            <a:r>
              <a:rPr lang="zh-CN" altLang="en-US"/>
              <a:t>过程评价</a:t>
            </a:r>
            <a:endParaRPr lang="en-US" altLang="zh-CN"/>
          </a:p>
          <a:p>
            <a:r>
              <a:rPr lang="zh-CN" altLang="en-US"/>
              <a:t>效益评价</a:t>
            </a:r>
            <a:endParaRPr lang="en-US" altLang="zh-CN"/>
          </a:p>
          <a:p>
            <a:r>
              <a:rPr lang="zh-CN" altLang="en-US"/>
              <a:t>可持续评价</a:t>
            </a:r>
          </a:p>
        </p:txBody>
      </p:sp>
      <p:sp>
        <p:nvSpPr>
          <p:cNvPr id="8" name="文本占位符 7">
            <a:extLst>
              <a:ext uri="{FF2B5EF4-FFF2-40B4-BE49-F238E27FC236}">
                <a16:creationId xmlns:a16="http://schemas.microsoft.com/office/drawing/2014/main" id="{62DA4E9F-7F7A-FF5C-9A82-95E064AE3A7A}"/>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4" name="文本占位符 3">
            <a:extLst>
              <a:ext uri="{FF2B5EF4-FFF2-40B4-BE49-F238E27FC236}">
                <a16:creationId xmlns:a16="http://schemas.microsoft.com/office/drawing/2014/main" id="{4C483833-AECE-61E3-14A7-275000C6FD1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流程图: 过程 4">
            <a:extLst>
              <a:ext uri="{FF2B5EF4-FFF2-40B4-BE49-F238E27FC236}">
                <a16:creationId xmlns:a16="http://schemas.microsoft.com/office/drawing/2014/main" id="{711AF794-8997-73F5-F137-0DBA3A11B5B3}"/>
              </a:ext>
            </a:extLst>
          </p:cNvPr>
          <p:cNvSpPr/>
          <p:nvPr/>
        </p:nvSpPr>
        <p:spPr>
          <a:xfrm>
            <a:off x="279749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班长</a:t>
            </a:r>
          </a:p>
        </p:txBody>
      </p:sp>
      <p:sp>
        <p:nvSpPr>
          <p:cNvPr id="6" name="流程图: 决策 5">
            <a:extLst>
              <a:ext uri="{FF2B5EF4-FFF2-40B4-BE49-F238E27FC236}">
                <a16:creationId xmlns:a16="http://schemas.microsoft.com/office/drawing/2014/main" id="{2474CCD6-A8B2-2E08-96D2-E8205FAAC43C}"/>
              </a:ext>
            </a:extLst>
          </p:cNvPr>
          <p:cNvSpPr/>
          <p:nvPr/>
        </p:nvSpPr>
        <p:spPr>
          <a:xfrm>
            <a:off x="5427406" y="1243954"/>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管理</a:t>
            </a:r>
          </a:p>
        </p:txBody>
      </p:sp>
      <p:sp>
        <p:nvSpPr>
          <p:cNvPr id="7" name="流程图: 过程 6">
            <a:extLst>
              <a:ext uri="{FF2B5EF4-FFF2-40B4-BE49-F238E27FC236}">
                <a16:creationId xmlns:a16="http://schemas.microsoft.com/office/drawing/2014/main" id="{DC86A98D-933E-4E8C-59D0-4F6BB890CD7A}"/>
              </a:ext>
            </a:extLst>
          </p:cNvPr>
          <p:cNvSpPr/>
          <p:nvPr/>
        </p:nvSpPr>
        <p:spPr>
          <a:xfrm>
            <a:off x="7954510" y="1288509"/>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9" name="直接连接符 8">
            <a:extLst>
              <a:ext uri="{FF2B5EF4-FFF2-40B4-BE49-F238E27FC236}">
                <a16:creationId xmlns:a16="http://schemas.microsoft.com/office/drawing/2014/main" id="{FCF6E865-B8F2-BF32-CE2E-98CFD0BA0EEB}"/>
              </a:ext>
            </a:extLst>
          </p:cNvPr>
          <p:cNvCxnSpPr>
            <a:stCxn id="5" idx="3"/>
            <a:endCxn id="6" idx="1"/>
          </p:cNvCxnSpPr>
          <p:nvPr/>
        </p:nvCxnSpPr>
        <p:spPr>
          <a:xfrm>
            <a:off x="4237490" y="1504509"/>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46E59816-0C97-70F1-77A6-C11109760264}"/>
              </a:ext>
            </a:extLst>
          </p:cNvPr>
          <p:cNvCxnSpPr>
            <a:stCxn id="6" idx="3"/>
            <a:endCxn id="7" idx="1"/>
          </p:cNvCxnSpPr>
          <p:nvPr/>
        </p:nvCxnSpPr>
        <p:spPr>
          <a:xfrm>
            <a:off x="6764593" y="1504509"/>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14" name="流程图: 过程 13">
            <a:extLst>
              <a:ext uri="{FF2B5EF4-FFF2-40B4-BE49-F238E27FC236}">
                <a16:creationId xmlns:a16="http://schemas.microsoft.com/office/drawing/2014/main" id="{3F7BF616-DD80-A42D-A7A5-6AE0EF3BC7B6}"/>
              </a:ext>
            </a:extLst>
          </p:cNvPr>
          <p:cNvSpPr/>
          <p:nvPr/>
        </p:nvSpPr>
        <p:spPr>
          <a:xfrm>
            <a:off x="279749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老师</a:t>
            </a:r>
          </a:p>
        </p:txBody>
      </p:sp>
      <p:sp>
        <p:nvSpPr>
          <p:cNvPr id="15" name="流程图: 决策 14">
            <a:extLst>
              <a:ext uri="{FF2B5EF4-FFF2-40B4-BE49-F238E27FC236}">
                <a16:creationId xmlns:a16="http://schemas.microsoft.com/office/drawing/2014/main" id="{39A3FD63-E50D-0000-128E-4D642D08EC47}"/>
              </a:ext>
            </a:extLst>
          </p:cNvPr>
          <p:cNvSpPr/>
          <p:nvPr/>
        </p:nvSpPr>
        <p:spPr>
          <a:xfrm>
            <a:off x="5427406" y="3746265"/>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讲授</a:t>
            </a:r>
          </a:p>
        </p:txBody>
      </p:sp>
      <p:sp>
        <p:nvSpPr>
          <p:cNvPr id="16" name="流程图: 过程 15">
            <a:extLst>
              <a:ext uri="{FF2B5EF4-FFF2-40B4-BE49-F238E27FC236}">
                <a16:creationId xmlns:a16="http://schemas.microsoft.com/office/drawing/2014/main" id="{864929D1-7A8E-05B6-2E91-3F5F41227CFE}"/>
              </a:ext>
            </a:extLst>
          </p:cNvPr>
          <p:cNvSpPr/>
          <p:nvPr/>
        </p:nvSpPr>
        <p:spPr>
          <a:xfrm>
            <a:off x="7954510" y="3790820"/>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专业课程</a:t>
            </a:r>
          </a:p>
        </p:txBody>
      </p:sp>
      <p:cxnSp>
        <p:nvCxnSpPr>
          <p:cNvPr id="17" name="直接连接符 16">
            <a:extLst>
              <a:ext uri="{FF2B5EF4-FFF2-40B4-BE49-F238E27FC236}">
                <a16:creationId xmlns:a16="http://schemas.microsoft.com/office/drawing/2014/main" id="{EB2C6006-7D2A-2B9A-8EF1-C9DB1C555D09}"/>
              </a:ext>
            </a:extLst>
          </p:cNvPr>
          <p:cNvCxnSpPr>
            <a:stCxn id="14" idx="3"/>
            <a:endCxn id="15" idx="1"/>
          </p:cNvCxnSpPr>
          <p:nvPr/>
        </p:nvCxnSpPr>
        <p:spPr>
          <a:xfrm>
            <a:off x="4237490" y="4006820"/>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A845A51C-93F5-2F8A-8510-2296124BE149}"/>
              </a:ext>
            </a:extLst>
          </p:cNvPr>
          <p:cNvCxnSpPr>
            <a:stCxn id="15" idx="3"/>
            <a:endCxn id="16" idx="1"/>
          </p:cNvCxnSpPr>
          <p:nvPr/>
        </p:nvCxnSpPr>
        <p:spPr>
          <a:xfrm>
            <a:off x="6764593" y="4006820"/>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1" name="流程图: 过程 20">
            <a:extLst>
              <a:ext uri="{FF2B5EF4-FFF2-40B4-BE49-F238E27FC236}">
                <a16:creationId xmlns:a16="http://schemas.microsoft.com/office/drawing/2014/main" id="{0B917CBC-5656-C6CE-701D-3ED87AC4E32F}"/>
              </a:ext>
            </a:extLst>
          </p:cNvPr>
          <p:cNvSpPr/>
          <p:nvPr/>
        </p:nvSpPr>
        <p:spPr>
          <a:xfrm>
            <a:off x="279749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2" name="流程图: 决策 21">
            <a:extLst>
              <a:ext uri="{FF2B5EF4-FFF2-40B4-BE49-F238E27FC236}">
                <a16:creationId xmlns:a16="http://schemas.microsoft.com/office/drawing/2014/main" id="{B4590885-FF8A-1993-C8F6-C1C66A20ACD8}"/>
              </a:ext>
            </a:extLst>
          </p:cNvPr>
          <p:cNvSpPr/>
          <p:nvPr/>
        </p:nvSpPr>
        <p:spPr>
          <a:xfrm>
            <a:off x="5427406" y="5243520"/>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a:t>
            </a:r>
          </a:p>
        </p:txBody>
      </p:sp>
      <p:sp>
        <p:nvSpPr>
          <p:cNvPr id="23" name="流程图: 过程 22">
            <a:extLst>
              <a:ext uri="{FF2B5EF4-FFF2-40B4-BE49-F238E27FC236}">
                <a16:creationId xmlns:a16="http://schemas.microsoft.com/office/drawing/2014/main" id="{D773FBA3-C22D-0086-2AD6-0EDDF310284D}"/>
              </a:ext>
            </a:extLst>
          </p:cNvPr>
          <p:cNvSpPr/>
          <p:nvPr/>
        </p:nvSpPr>
        <p:spPr>
          <a:xfrm>
            <a:off x="7954510" y="5288075"/>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选修课程</a:t>
            </a:r>
          </a:p>
        </p:txBody>
      </p:sp>
      <p:cxnSp>
        <p:nvCxnSpPr>
          <p:cNvPr id="24" name="直接连接符 23">
            <a:extLst>
              <a:ext uri="{FF2B5EF4-FFF2-40B4-BE49-F238E27FC236}">
                <a16:creationId xmlns:a16="http://schemas.microsoft.com/office/drawing/2014/main" id="{E89E8253-AFF8-F8F0-C4B6-67A4A2994E6C}"/>
              </a:ext>
            </a:extLst>
          </p:cNvPr>
          <p:cNvCxnSpPr>
            <a:stCxn id="21" idx="3"/>
            <a:endCxn id="22" idx="1"/>
          </p:cNvCxnSpPr>
          <p:nvPr/>
        </p:nvCxnSpPr>
        <p:spPr>
          <a:xfrm>
            <a:off x="4237490" y="5504075"/>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1545D277-9CB1-45C1-B154-D83C01483AD8}"/>
              </a:ext>
            </a:extLst>
          </p:cNvPr>
          <p:cNvCxnSpPr>
            <a:cxnSpLocks/>
            <a:stCxn id="22" idx="3"/>
            <a:endCxn id="23" idx="1"/>
          </p:cNvCxnSpPr>
          <p:nvPr/>
        </p:nvCxnSpPr>
        <p:spPr>
          <a:xfrm>
            <a:off x="6764593" y="5504075"/>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28" name="流程图: 过程 27">
            <a:extLst>
              <a:ext uri="{FF2B5EF4-FFF2-40B4-BE49-F238E27FC236}">
                <a16:creationId xmlns:a16="http://schemas.microsoft.com/office/drawing/2014/main" id="{105A4B9A-D769-209F-D02E-68EBB991CCA4}"/>
              </a:ext>
            </a:extLst>
          </p:cNvPr>
          <p:cNvSpPr/>
          <p:nvPr/>
        </p:nvSpPr>
        <p:spPr>
          <a:xfrm>
            <a:off x="279749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学生</a:t>
            </a:r>
          </a:p>
        </p:txBody>
      </p:sp>
      <p:sp>
        <p:nvSpPr>
          <p:cNvPr id="29" name="流程图: 决策 28">
            <a:extLst>
              <a:ext uri="{FF2B5EF4-FFF2-40B4-BE49-F238E27FC236}">
                <a16:creationId xmlns:a16="http://schemas.microsoft.com/office/drawing/2014/main" id="{15D4D2FE-EAF6-9192-662E-3D683202333F}"/>
              </a:ext>
            </a:extLst>
          </p:cNvPr>
          <p:cNvSpPr/>
          <p:nvPr/>
        </p:nvSpPr>
        <p:spPr>
          <a:xfrm>
            <a:off x="5427406" y="2332237"/>
            <a:ext cx="1337187" cy="521110"/>
          </a:xfrm>
          <a:prstGeom prst="flowChartDecision">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属于</a:t>
            </a:r>
          </a:p>
        </p:txBody>
      </p:sp>
      <p:sp>
        <p:nvSpPr>
          <p:cNvPr id="30" name="流程图: 过程 29">
            <a:extLst>
              <a:ext uri="{FF2B5EF4-FFF2-40B4-BE49-F238E27FC236}">
                <a16:creationId xmlns:a16="http://schemas.microsoft.com/office/drawing/2014/main" id="{6BF36014-1B37-F75C-239C-06F1A431F52D}"/>
              </a:ext>
            </a:extLst>
          </p:cNvPr>
          <p:cNvSpPr/>
          <p:nvPr/>
        </p:nvSpPr>
        <p:spPr>
          <a:xfrm>
            <a:off x="7954510" y="2376792"/>
            <a:ext cx="1440000" cy="432000"/>
          </a:xfrm>
          <a:prstGeom prst="flowChartProcess">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班级</a:t>
            </a:r>
          </a:p>
        </p:txBody>
      </p:sp>
      <p:cxnSp>
        <p:nvCxnSpPr>
          <p:cNvPr id="31" name="直接连接符 30">
            <a:extLst>
              <a:ext uri="{FF2B5EF4-FFF2-40B4-BE49-F238E27FC236}">
                <a16:creationId xmlns:a16="http://schemas.microsoft.com/office/drawing/2014/main" id="{7C92CD4A-4FBB-490F-F80F-C597033DCB94}"/>
              </a:ext>
            </a:extLst>
          </p:cNvPr>
          <p:cNvCxnSpPr>
            <a:stCxn id="28" idx="3"/>
            <a:endCxn id="29" idx="1"/>
          </p:cNvCxnSpPr>
          <p:nvPr/>
        </p:nvCxnSpPr>
        <p:spPr>
          <a:xfrm>
            <a:off x="4237490" y="2592792"/>
            <a:ext cx="1189916"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BADC58DB-AF99-F4DC-F849-F15FC9ED6872}"/>
              </a:ext>
            </a:extLst>
          </p:cNvPr>
          <p:cNvCxnSpPr>
            <a:stCxn id="29" idx="3"/>
            <a:endCxn id="30" idx="1"/>
          </p:cNvCxnSpPr>
          <p:nvPr/>
        </p:nvCxnSpPr>
        <p:spPr>
          <a:xfrm>
            <a:off x="6764593" y="2592792"/>
            <a:ext cx="118991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36" name="椭圆 35">
            <a:extLst>
              <a:ext uri="{FF2B5EF4-FFF2-40B4-BE49-F238E27FC236}">
                <a16:creationId xmlns:a16="http://schemas.microsoft.com/office/drawing/2014/main" id="{3F7909FB-3E1D-7BC0-54AF-E631BBD1EAE6}"/>
              </a:ext>
            </a:extLst>
          </p:cNvPr>
          <p:cNvSpPr/>
          <p:nvPr/>
        </p:nvSpPr>
        <p:spPr>
          <a:xfrm>
            <a:off x="1568743"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姓名</a:t>
            </a:r>
          </a:p>
        </p:txBody>
      </p:sp>
      <p:sp>
        <p:nvSpPr>
          <p:cNvPr id="37" name="椭圆 36">
            <a:extLst>
              <a:ext uri="{FF2B5EF4-FFF2-40B4-BE49-F238E27FC236}">
                <a16:creationId xmlns:a16="http://schemas.microsoft.com/office/drawing/2014/main" id="{5D91A46A-E30B-023E-3F4E-94313FD93BB7}"/>
              </a:ext>
            </a:extLst>
          </p:cNvPr>
          <p:cNvSpPr/>
          <p:nvPr/>
        </p:nvSpPr>
        <p:spPr>
          <a:xfrm>
            <a:off x="9650362" y="3790820"/>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专业</a:t>
            </a:r>
          </a:p>
        </p:txBody>
      </p:sp>
      <p:sp>
        <p:nvSpPr>
          <p:cNvPr id="38" name="椭圆 37">
            <a:extLst>
              <a:ext uri="{FF2B5EF4-FFF2-40B4-BE49-F238E27FC236}">
                <a16:creationId xmlns:a16="http://schemas.microsoft.com/office/drawing/2014/main" id="{75D492AB-BC04-DF58-36A9-83BE6FECE81E}"/>
              </a:ext>
            </a:extLst>
          </p:cNvPr>
          <p:cNvSpPr/>
          <p:nvPr/>
        </p:nvSpPr>
        <p:spPr>
          <a:xfrm>
            <a:off x="1568743"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39" name="椭圆 38">
            <a:extLst>
              <a:ext uri="{FF2B5EF4-FFF2-40B4-BE49-F238E27FC236}">
                <a16:creationId xmlns:a16="http://schemas.microsoft.com/office/drawing/2014/main" id="{A63AE5DA-E65E-AE28-86B4-6BED5B46AB30}"/>
              </a:ext>
            </a:extLst>
          </p:cNvPr>
          <p:cNvSpPr/>
          <p:nvPr/>
        </p:nvSpPr>
        <p:spPr>
          <a:xfrm>
            <a:off x="1568743"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院别</a:t>
            </a:r>
          </a:p>
        </p:txBody>
      </p:sp>
      <p:cxnSp>
        <p:nvCxnSpPr>
          <p:cNvPr id="41" name="直接连接符 40">
            <a:extLst>
              <a:ext uri="{FF2B5EF4-FFF2-40B4-BE49-F238E27FC236}">
                <a16:creationId xmlns:a16="http://schemas.microsoft.com/office/drawing/2014/main" id="{7C6EAC5F-F370-24AD-98D3-9D79C3260952}"/>
              </a:ext>
            </a:extLst>
          </p:cNvPr>
          <p:cNvCxnSpPr>
            <a:stCxn id="38" idx="6"/>
            <a:endCxn id="14" idx="0"/>
          </p:cNvCxnSpPr>
          <p:nvPr/>
        </p:nvCxnSpPr>
        <p:spPr>
          <a:xfrm>
            <a:off x="2648743" y="3465736"/>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1ADEE950-9048-E1EA-9374-41E241C369C0}"/>
              </a:ext>
            </a:extLst>
          </p:cNvPr>
          <p:cNvCxnSpPr>
            <a:stCxn id="36" idx="6"/>
            <a:endCxn id="14" idx="1"/>
          </p:cNvCxnSpPr>
          <p:nvPr/>
        </p:nvCxnSpPr>
        <p:spPr>
          <a:xfrm>
            <a:off x="2648743" y="4006820"/>
            <a:ext cx="148747"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873C1D36-B4A5-2EBD-2722-7424BA48E021}"/>
              </a:ext>
            </a:extLst>
          </p:cNvPr>
          <p:cNvCxnSpPr>
            <a:stCxn id="39" idx="6"/>
            <a:endCxn id="14" idx="2"/>
          </p:cNvCxnSpPr>
          <p:nvPr/>
        </p:nvCxnSpPr>
        <p:spPr>
          <a:xfrm flipV="1">
            <a:off x="2648743" y="4222820"/>
            <a:ext cx="868747"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sp>
        <p:nvSpPr>
          <p:cNvPr id="46" name="椭圆 45">
            <a:extLst>
              <a:ext uri="{FF2B5EF4-FFF2-40B4-BE49-F238E27FC236}">
                <a16:creationId xmlns:a16="http://schemas.microsoft.com/office/drawing/2014/main" id="{EA74C081-6F69-1C97-5F73-6083F83F8FCD}"/>
              </a:ext>
            </a:extLst>
          </p:cNvPr>
          <p:cNvSpPr/>
          <p:nvPr/>
        </p:nvSpPr>
        <p:spPr>
          <a:xfrm>
            <a:off x="9650362" y="3249736"/>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bg1"/>
                </a:solidFill>
              </a:rPr>
              <a:t>ID</a:t>
            </a:r>
            <a:endParaRPr lang="zh-CN" altLang="en-US" sz="1400">
              <a:solidFill>
                <a:schemeClr val="bg1"/>
              </a:solidFill>
            </a:endParaRPr>
          </a:p>
        </p:txBody>
      </p:sp>
      <p:sp>
        <p:nvSpPr>
          <p:cNvPr id="47" name="椭圆 46">
            <a:extLst>
              <a:ext uri="{FF2B5EF4-FFF2-40B4-BE49-F238E27FC236}">
                <a16:creationId xmlns:a16="http://schemas.microsoft.com/office/drawing/2014/main" id="{5D913AE3-1E94-D977-C225-62B56B616F95}"/>
              </a:ext>
            </a:extLst>
          </p:cNvPr>
          <p:cNvSpPr/>
          <p:nvPr/>
        </p:nvSpPr>
        <p:spPr>
          <a:xfrm>
            <a:off x="9650362" y="4331904"/>
            <a:ext cx="1080000" cy="432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名称</a:t>
            </a:r>
          </a:p>
        </p:txBody>
      </p:sp>
      <p:cxnSp>
        <p:nvCxnSpPr>
          <p:cNvPr id="49" name="直接连接符 48">
            <a:extLst>
              <a:ext uri="{FF2B5EF4-FFF2-40B4-BE49-F238E27FC236}">
                <a16:creationId xmlns:a16="http://schemas.microsoft.com/office/drawing/2014/main" id="{6A69ACA3-2FC2-39CE-A54D-07FC05A86D4A}"/>
              </a:ext>
            </a:extLst>
          </p:cNvPr>
          <p:cNvCxnSpPr>
            <a:stCxn id="16" idx="0"/>
            <a:endCxn id="46" idx="2"/>
          </p:cNvCxnSpPr>
          <p:nvPr/>
        </p:nvCxnSpPr>
        <p:spPr>
          <a:xfrm flipV="1">
            <a:off x="8674510" y="3465736"/>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9608C30-15ED-65A7-83EE-DCACD8396733}"/>
              </a:ext>
            </a:extLst>
          </p:cNvPr>
          <p:cNvCxnSpPr>
            <a:stCxn id="16" idx="2"/>
            <a:endCxn id="47" idx="2"/>
          </p:cNvCxnSpPr>
          <p:nvPr/>
        </p:nvCxnSpPr>
        <p:spPr>
          <a:xfrm>
            <a:off x="8674510" y="4222820"/>
            <a:ext cx="975852" cy="325084"/>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E97E582-2E54-BCA6-CADD-F934859B5BB3}"/>
              </a:ext>
            </a:extLst>
          </p:cNvPr>
          <p:cNvCxnSpPr>
            <a:stCxn id="16" idx="3"/>
            <a:endCxn id="37" idx="2"/>
          </p:cNvCxnSpPr>
          <p:nvPr/>
        </p:nvCxnSpPr>
        <p:spPr>
          <a:xfrm>
            <a:off x="9394510" y="4006820"/>
            <a:ext cx="255852" cy="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C38948E9-CE0B-5E85-EE24-C225C4250989}"/>
              </a:ext>
            </a:extLst>
          </p:cNvPr>
          <p:cNvCxnSpPr>
            <a:cxnSpLocks/>
          </p:cNvCxnSpPr>
          <p:nvPr/>
        </p:nvCxnSpPr>
        <p:spPr>
          <a:xfrm>
            <a:off x="4365246"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063693EA-AC7B-1283-FDA5-69B66A666DB2}"/>
              </a:ext>
            </a:extLst>
          </p:cNvPr>
          <p:cNvCxnSpPr>
            <a:cxnSpLocks/>
          </p:cNvCxnSpPr>
          <p:nvPr/>
        </p:nvCxnSpPr>
        <p:spPr>
          <a:xfrm>
            <a:off x="7840957" y="1396509"/>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46179360-5A39-68BB-3AA4-66C7B1C0A3D2}"/>
              </a:ext>
            </a:extLst>
          </p:cNvPr>
          <p:cNvCxnSpPr>
            <a:cxnSpLocks/>
          </p:cNvCxnSpPr>
          <p:nvPr/>
        </p:nvCxnSpPr>
        <p:spPr>
          <a:xfrm>
            <a:off x="7840957" y="2484792"/>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11FCCA6A-4519-995E-FB69-B8497CA665B5}"/>
              </a:ext>
            </a:extLst>
          </p:cNvPr>
          <p:cNvCxnSpPr>
            <a:cxnSpLocks/>
          </p:cNvCxnSpPr>
          <p:nvPr/>
        </p:nvCxnSpPr>
        <p:spPr>
          <a:xfrm>
            <a:off x="4365246" y="3898820"/>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nvGrpSpPr>
          <p:cNvPr id="64" name="组合 63">
            <a:extLst>
              <a:ext uri="{FF2B5EF4-FFF2-40B4-BE49-F238E27FC236}">
                <a16:creationId xmlns:a16="http://schemas.microsoft.com/office/drawing/2014/main" id="{0BE58772-5890-7A21-EC35-94BCEC5ABEE6}"/>
              </a:ext>
            </a:extLst>
          </p:cNvPr>
          <p:cNvGrpSpPr/>
          <p:nvPr/>
        </p:nvGrpSpPr>
        <p:grpSpPr>
          <a:xfrm flipH="1">
            <a:off x="4227816" y="2538792"/>
            <a:ext cx="216000" cy="108000"/>
            <a:chOff x="4537527" y="2224237"/>
            <a:chExt cx="216000" cy="108000"/>
          </a:xfrm>
        </p:grpSpPr>
        <p:cxnSp>
          <p:nvCxnSpPr>
            <p:cNvPr id="60" name="直接连接符 59">
              <a:extLst>
                <a:ext uri="{FF2B5EF4-FFF2-40B4-BE49-F238E27FC236}">
                  <a16:creationId xmlns:a16="http://schemas.microsoft.com/office/drawing/2014/main" id="{5E8208A1-0676-7B61-C49B-A8C5249F77E1}"/>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A5350DC-F359-5C9C-7B59-AE0D3141774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EC57A04A-7C1E-00A4-9394-28540AA5E8BC}"/>
              </a:ext>
            </a:extLst>
          </p:cNvPr>
          <p:cNvGrpSpPr/>
          <p:nvPr/>
        </p:nvGrpSpPr>
        <p:grpSpPr>
          <a:xfrm>
            <a:off x="7733021" y="3952820"/>
            <a:ext cx="216000" cy="108000"/>
            <a:chOff x="4537527" y="2224237"/>
            <a:chExt cx="216000" cy="108000"/>
          </a:xfrm>
        </p:grpSpPr>
        <p:cxnSp>
          <p:nvCxnSpPr>
            <p:cNvPr id="66" name="直接连接符 65">
              <a:extLst>
                <a:ext uri="{FF2B5EF4-FFF2-40B4-BE49-F238E27FC236}">
                  <a16:creationId xmlns:a16="http://schemas.microsoft.com/office/drawing/2014/main" id="{0BEF07E5-A391-1424-862A-D3B3510EDFD7}"/>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CCCB968-2D33-AFDC-E6A7-6FB902D140CE}"/>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68" name="组合 67">
            <a:extLst>
              <a:ext uri="{FF2B5EF4-FFF2-40B4-BE49-F238E27FC236}">
                <a16:creationId xmlns:a16="http://schemas.microsoft.com/office/drawing/2014/main" id="{18E35633-1C98-4862-C2B9-F2EE3599883C}"/>
              </a:ext>
            </a:extLst>
          </p:cNvPr>
          <p:cNvGrpSpPr/>
          <p:nvPr/>
        </p:nvGrpSpPr>
        <p:grpSpPr>
          <a:xfrm flipH="1">
            <a:off x="4227816" y="5450075"/>
            <a:ext cx="216000" cy="108000"/>
            <a:chOff x="4537527" y="2224237"/>
            <a:chExt cx="216000" cy="108000"/>
          </a:xfrm>
        </p:grpSpPr>
        <p:cxnSp>
          <p:nvCxnSpPr>
            <p:cNvPr id="69" name="直接连接符 68">
              <a:extLst>
                <a:ext uri="{FF2B5EF4-FFF2-40B4-BE49-F238E27FC236}">
                  <a16:creationId xmlns:a16="http://schemas.microsoft.com/office/drawing/2014/main" id="{24395E11-B4E8-6EDE-0A2B-3A62E53EBE05}"/>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0" name="直接连接符 69">
              <a:extLst>
                <a:ext uri="{FF2B5EF4-FFF2-40B4-BE49-F238E27FC236}">
                  <a16:creationId xmlns:a16="http://schemas.microsoft.com/office/drawing/2014/main" id="{B731F3E6-574A-FCA8-26D8-C884C75C3924}"/>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grpSp>
        <p:nvGrpSpPr>
          <p:cNvPr id="71" name="组合 70">
            <a:extLst>
              <a:ext uri="{FF2B5EF4-FFF2-40B4-BE49-F238E27FC236}">
                <a16:creationId xmlns:a16="http://schemas.microsoft.com/office/drawing/2014/main" id="{0B75926B-6B7A-A236-9211-6B2B9D59B18F}"/>
              </a:ext>
            </a:extLst>
          </p:cNvPr>
          <p:cNvGrpSpPr/>
          <p:nvPr/>
        </p:nvGrpSpPr>
        <p:grpSpPr>
          <a:xfrm>
            <a:off x="7733021" y="5450075"/>
            <a:ext cx="216000" cy="108000"/>
            <a:chOff x="4537527" y="2224237"/>
            <a:chExt cx="216000" cy="108000"/>
          </a:xfrm>
        </p:grpSpPr>
        <p:cxnSp>
          <p:nvCxnSpPr>
            <p:cNvPr id="72" name="直接连接符 71">
              <a:extLst>
                <a:ext uri="{FF2B5EF4-FFF2-40B4-BE49-F238E27FC236}">
                  <a16:creationId xmlns:a16="http://schemas.microsoft.com/office/drawing/2014/main" id="{A9AA9D4C-773E-B564-E7C7-55E4CDF728A9}"/>
                </a:ext>
              </a:extLst>
            </p:cNvPr>
            <p:cNvCxnSpPr>
              <a:cxnSpLocks/>
            </p:cNvCxnSpPr>
            <p:nvPr/>
          </p:nvCxnSpPr>
          <p:spPr>
            <a:xfrm rot="3600000">
              <a:off x="4645527" y="2116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C3A92E97-620F-E690-6B15-29993AB0E33C}"/>
                </a:ext>
              </a:extLst>
            </p:cNvPr>
            <p:cNvCxnSpPr>
              <a:cxnSpLocks/>
            </p:cNvCxnSpPr>
            <p:nvPr/>
          </p:nvCxnSpPr>
          <p:spPr>
            <a:xfrm rot="-3600000">
              <a:off x="4645527" y="2224237"/>
              <a:ext cx="0" cy="216000"/>
            </a:xfrm>
            <a:prstGeom prst="line">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grpSp>
      <p:sp useBgFill="1">
        <p:nvSpPr>
          <p:cNvPr id="75" name="椭圆 74">
            <a:extLst>
              <a:ext uri="{FF2B5EF4-FFF2-40B4-BE49-F238E27FC236}">
                <a16:creationId xmlns:a16="http://schemas.microsoft.com/office/drawing/2014/main" id="{DB9DE025-899F-773B-C703-CCA29567D2B3}"/>
              </a:ext>
            </a:extLst>
          </p:cNvPr>
          <p:cNvSpPr/>
          <p:nvPr/>
        </p:nvSpPr>
        <p:spPr>
          <a:xfrm>
            <a:off x="4429347" y="5450075"/>
            <a:ext cx="108000" cy="108000"/>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bg1"/>
              </a:solidFill>
            </a:endParaRPr>
          </a:p>
        </p:txBody>
      </p:sp>
    </p:spTree>
    <p:extLst>
      <p:ext uri="{BB962C8B-B14F-4D97-AF65-F5344CB8AC3E}">
        <p14:creationId xmlns:p14="http://schemas.microsoft.com/office/powerpoint/2010/main" val="3994791139"/>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bg1"/>
          </a:solidFill>
        </a:ln>
      </a:spPr>
      <a:bodyPr rtlCol="0" anchor="ctr"/>
      <a:lstStyle>
        <a:defPPr algn="ctr">
          <a:defRPr sz="1400"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solidFill>
              <a:schemeClr val="bg1"/>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27726</TotalTime>
  <Words>29276</Words>
  <Application>Microsoft Office PowerPoint</Application>
  <PresentationFormat>宽屏</PresentationFormat>
  <Paragraphs>5028</Paragraphs>
  <Slides>330</Slides>
  <Notes>133</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330</vt:i4>
      </vt:variant>
    </vt:vector>
  </HeadingPairs>
  <TitlesOfParts>
    <vt:vector size="340" baseType="lpstr">
      <vt:lpstr>Arial</vt:lpstr>
      <vt:lpstr>等线</vt:lpstr>
      <vt:lpstr>Courier New</vt:lpstr>
      <vt:lpstr>Cambria Math</vt:lpstr>
      <vt:lpstr>Montserrat</vt:lpstr>
      <vt:lpstr>Roboto Mono Light</vt:lpstr>
      <vt:lpstr>Wingdings</vt:lpstr>
      <vt:lpstr>Roboto Mono</vt:lpstr>
      <vt:lpstr>微软雅黑 Light</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2.5.4.2 看板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规模、工作量、成本</vt:lpstr>
      <vt:lpstr>6.1.2 规模、工作量、成本</vt:lpstr>
      <vt:lpstr>PowerPoint 演示文稿</vt:lpstr>
      <vt:lpstr>6.1.3 成本估算过程</vt:lpstr>
      <vt:lpstr>PowerPoint 演示文稿</vt:lpstr>
      <vt:lpstr>6.2 传统项目成本估算方法</vt:lpstr>
      <vt:lpstr>6.2.1 代码行估算法 </vt:lpstr>
      <vt:lpstr>6.2.2 功能点估算法 </vt:lpstr>
      <vt:lpstr>6.2.2 功能点估算法</vt:lpstr>
      <vt:lpstr>6.2.2 功能点估算法 </vt:lpstr>
      <vt:lpstr>6.2.2.1 IFPUG</vt:lpstr>
      <vt:lpstr>PowerPoint 演示文稿</vt:lpstr>
      <vt:lpstr>PowerPoint 演示文稿</vt:lpstr>
      <vt:lpstr>PowerPoint 演示文稿</vt:lpstr>
      <vt:lpstr>PowerPoint 演示文稿</vt:lpstr>
      <vt:lpstr>PowerPoint 演示文稿</vt:lpstr>
      <vt:lpstr>6.2.2.2 NESMA</vt:lpstr>
      <vt:lpstr>COSMIC</vt:lpstr>
      <vt:lpstr>PowerPoint 演示文稿</vt:lpstr>
      <vt:lpstr>6.2.3 用例点估算法 </vt:lpstr>
      <vt:lpstr>PowerPoint 演示文稿</vt:lpstr>
      <vt:lpstr>PowerPoint 演示文稿</vt:lpstr>
      <vt:lpstr>6.2.4 类比估算法</vt:lpstr>
      <vt:lpstr>6.2.5 自下而上估算法</vt:lpstr>
      <vt:lpstr>PowerPoint 演示文稿</vt:lpstr>
      <vt:lpstr>6.2.6 三点估算</vt:lpstr>
      <vt:lpstr>6.2.7 参数估算法</vt:lpstr>
      <vt:lpstr>6.2.8 专家估算法</vt:lpstr>
      <vt:lpstr>6.2.8 专家估算法</vt:lpstr>
      <vt:lpstr>PowerPoint 演示文稿</vt:lpstr>
      <vt:lpstr>6.3 敏捷项目成本估算</vt:lpstr>
      <vt:lpstr>6.3.1 故事点估算</vt:lpstr>
      <vt:lpstr>PowerPoint 演示文稿</vt:lpstr>
      <vt:lpstr>6.3.2 快速故事点估算</vt:lpstr>
      <vt:lpstr>PowerPoint 演示文稿</vt:lpstr>
      <vt:lpstr>PowerPoint 演示文稿</vt:lpstr>
      <vt:lpstr>6.3.3 扑克牌估算</vt:lpstr>
      <vt:lpstr>PowerPoint 演示文稿</vt:lpstr>
      <vt:lpstr>PowerPoint 演示文稿</vt:lpstr>
      <vt:lpstr>PowerPoint 演示文稿</vt:lpstr>
      <vt:lpstr>6.5 成本预算</vt:lpstr>
      <vt:lpstr>5. 成本控制</vt:lpstr>
      <vt:lpstr>5. 成本控制 – 挣值分析</vt:lpstr>
      <vt:lpstr>5. 成本控制 – 挣值分析</vt:lpstr>
      <vt:lpstr>软件项目进度计划</vt:lpstr>
      <vt:lpstr>PowerPoint 演示文稿</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演示文稿</vt:lpstr>
      <vt:lpstr>PowerPoint 演示文稿</vt:lpstr>
      <vt:lpstr>资源优化</vt:lpstr>
      <vt:lpstr>资源压缩</vt:lpstr>
      <vt:lpstr>7. 进度控制</vt:lpstr>
      <vt:lpstr>PowerPoint 演示文稿</vt:lpstr>
      <vt:lpstr>软件项目质量计划</vt:lpstr>
      <vt:lpstr>PowerPoint 演示文稿</vt:lpstr>
      <vt:lpstr>六大质量特性 Quality Characteristics</vt:lpstr>
      <vt:lpstr>可靠性 Reliability</vt:lpstr>
      <vt:lpstr>PowerPoint 演示文稿</vt:lpstr>
      <vt:lpstr>质量管理</vt:lpstr>
      <vt:lpstr>七大质量管理工具</vt:lpstr>
      <vt:lpstr>软件配置管理计划</vt:lpstr>
      <vt:lpstr>PowerPoint 演示文稿</vt:lpstr>
      <vt:lpstr>PowerPoint 演示文稿</vt:lpstr>
      <vt:lpstr>PowerPoint 演示文稿</vt:lpstr>
      <vt:lpstr>软件配置管理</vt:lpstr>
      <vt:lpstr>原因</vt:lpstr>
      <vt:lpstr>PowerPoint 演示文稿</vt:lpstr>
      <vt:lpstr>概念</vt:lpstr>
      <vt:lpstr>六个活动</vt:lpstr>
      <vt:lpstr>项目变更</vt:lpstr>
      <vt:lpstr>变更控制委员会</vt:lpstr>
      <vt:lpstr>PowerPoint 演示文稿</vt:lpstr>
      <vt:lpstr>配置管理系统</vt:lpstr>
      <vt:lpstr>配置项版本管理</vt:lpstr>
      <vt:lpstr>配置库</vt:lpstr>
      <vt:lpstr>发布管理和交付</vt:lpstr>
      <vt:lpstr>软件项目团队计划</vt:lpstr>
      <vt:lpstr>PowerPoint 演示文稿</vt:lpstr>
      <vt:lpstr>团队发展四阶段</vt:lpstr>
      <vt:lpstr>人力资源管理</vt:lpstr>
      <vt:lpstr>责任分配矩阵</vt:lpstr>
      <vt:lpstr>冲突解决</vt:lpstr>
      <vt:lpstr>马斯洛需要层次理论</vt:lpstr>
      <vt:lpstr>赫茨伯格双因素激励理论</vt:lpstr>
      <vt:lpstr>虚拟团队</vt:lpstr>
      <vt:lpstr>PowerPoint 演示文稿</vt:lpstr>
      <vt:lpstr>沟通管理</vt:lpstr>
      <vt:lpstr>干系人管理</vt:lpstr>
      <vt:lpstr>凸显模型</vt:lpstr>
      <vt:lpstr>干系人</vt:lpstr>
      <vt:lpstr>干系人 Stakeholders</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2168</cp:revision>
  <dcterms:created xsi:type="dcterms:W3CDTF">2026-01-24T11:12:04Z</dcterms:created>
  <dcterms:modified xsi:type="dcterms:W3CDTF">2026-04-01T08:52:33Z</dcterms:modified>
</cp:coreProperties>
</file>