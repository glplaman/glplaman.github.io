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33"/>
  </p:handoutMasterIdLst>
  <p:sldIdLst>
    <p:sldId id="993" r:id="rId3"/>
    <p:sldId id="910" r:id="rId4"/>
    <p:sldId id="995" r:id="rId6"/>
    <p:sldId id="999" r:id="rId7"/>
    <p:sldId id="1000" r:id="rId8"/>
    <p:sldId id="1001" r:id="rId9"/>
    <p:sldId id="1002" r:id="rId10"/>
    <p:sldId id="1003" r:id="rId11"/>
    <p:sldId id="1004" r:id="rId12"/>
    <p:sldId id="1005" r:id="rId13"/>
    <p:sldId id="1006" r:id="rId14"/>
    <p:sldId id="1007" r:id="rId15"/>
    <p:sldId id="1008" r:id="rId16"/>
    <p:sldId id="1009" r:id="rId17"/>
    <p:sldId id="1010" r:id="rId18"/>
    <p:sldId id="1011" r:id="rId19"/>
    <p:sldId id="1023" r:id="rId20"/>
    <p:sldId id="1012" r:id="rId21"/>
    <p:sldId id="1013" r:id="rId22"/>
    <p:sldId id="1014" r:id="rId23"/>
    <p:sldId id="1015" r:id="rId24"/>
    <p:sldId id="1016" r:id="rId25"/>
    <p:sldId id="1017" r:id="rId26"/>
    <p:sldId id="1018" r:id="rId27"/>
    <p:sldId id="1019" r:id="rId28"/>
    <p:sldId id="1020" r:id="rId29"/>
    <p:sldId id="1021" r:id="rId30"/>
    <p:sldId id="1022" r:id="rId31"/>
    <p:sldId id="290" r:id="rId32"/>
  </p:sldIdLst>
  <p:sldSz cx="12192000" cy="6858000"/>
  <p:notesSz cx="6797675" cy="9872345"/>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8" userDrawn="1">
          <p15:clr>
            <a:srgbClr val="A4A3A4"/>
          </p15:clr>
        </p15:guide>
        <p15:guide id="2" pos="378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17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10" autoAdjust="0"/>
    <p:restoredTop sz="95026" autoAdjust="0"/>
  </p:normalViewPr>
  <p:slideViewPr>
    <p:cSldViewPr showGuides="1">
      <p:cViewPr varScale="1">
        <p:scale>
          <a:sx n="82" d="100"/>
          <a:sy n="82" d="100"/>
        </p:scale>
        <p:origin x="648" y="91"/>
      </p:cViewPr>
      <p:guideLst>
        <p:guide orient="horz" pos="2228"/>
        <p:guide pos="3781"/>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7" Type="http://schemas.openxmlformats.org/officeDocument/2006/relationships/tags" Target="tags/tag6.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handoutMaster" Target="handoutMasters/handoutMaster1.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534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534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377317"/>
            <a:ext cx="2945659" cy="49534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377317"/>
            <a:ext cx="2945659" cy="49534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363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3633"/>
          </a:xfrm>
          <a:prstGeom prst="rect">
            <a:avLst/>
          </a:prstGeom>
        </p:spPr>
        <p:txBody>
          <a:bodyPr vert="horz" lIns="91440" tIns="45720" rIns="91440" bIns="45720" rtlCol="0"/>
          <a:lstStyle>
            <a:lvl1pPr algn="r">
              <a:defRPr sz="1200"/>
            </a:lvl1pPr>
          </a:lstStyle>
          <a:p>
            <a:fld id="{A5CC7296-58BF-4C15-B087-FCA67F27BC4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07950" y="739775"/>
            <a:ext cx="6581775" cy="3703638"/>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689515"/>
            <a:ext cx="5438140" cy="4442698"/>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377316"/>
            <a:ext cx="2945659" cy="49363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377316"/>
            <a:ext cx="2945659" cy="493633"/>
          </a:xfrm>
          <a:prstGeom prst="rect">
            <a:avLst/>
          </a:prstGeom>
        </p:spPr>
        <p:txBody>
          <a:bodyPr vert="horz" lIns="91440" tIns="45720" rIns="91440" bIns="45720" rtlCol="0" anchor="b"/>
          <a:lstStyle>
            <a:lvl1pPr algn="r">
              <a:defRPr sz="1200"/>
            </a:lvl1pPr>
          </a:lstStyle>
          <a:p>
            <a:fld id="{EDE07243-D479-408A-9F03-AE97E7C1ACB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DE07243-D479-408A-9F03-AE97E7C1ACBB}"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E07243-D479-408A-9F03-AE97E7C1ACB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E07243-D479-408A-9F03-AE97E7C1ACB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421E176-AC7B-46C7-8F20-761035259F1D}"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C5F5FF-180C-4BB6-8622-F4E1931019D5}" type="slidenum">
              <a:rPr lang="zh-CN" altLang="en-US" smtClean="0"/>
            </a:fld>
            <a:endParaRPr lang="zh-CN" altLang="en-US"/>
          </a:p>
        </p:txBody>
      </p:sp>
    </p:spTree>
  </p:cSld>
  <p:clrMapOvr>
    <a:masterClrMapping/>
  </p:clrMapOvr>
  <p:transition spd="slow">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C86064E-DB73-4232-ABC5-41940823AFFA}"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C5F5FF-180C-4BB6-8622-F4E1931019D5}" type="slidenum">
              <a:rPr lang="zh-CN" altLang="en-US" smtClean="0"/>
            </a:fld>
            <a:endParaRPr lang="zh-CN" altLang="en-US"/>
          </a:p>
        </p:txBody>
      </p:sp>
      <p:sp>
        <p:nvSpPr>
          <p:cNvPr id="7" name="文本框 6"/>
          <p:cNvSpPr txBox="1"/>
          <p:nvPr userDrawn="1"/>
        </p:nvSpPr>
        <p:spPr>
          <a:xfrm>
            <a:off x="10948035" y="5249545"/>
            <a:ext cx="1052830" cy="368300"/>
          </a:xfrm>
          <a:prstGeom prst="rect">
            <a:avLst/>
          </a:prstGeom>
          <a:noFill/>
        </p:spPr>
        <p:txBody>
          <a:bodyPr wrap="square" rtlCol="0">
            <a:spAutoFit/>
          </a:bodyPr>
          <a:lstStyle/>
          <a:p>
            <a:r>
              <a:rPr lang="en-US" altLang="zh-CN"/>
              <a:t>12</a:t>
            </a:r>
            <a:endParaRPr lang="en-US" altLang="zh-CN"/>
          </a:p>
        </p:txBody>
      </p:sp>
    </p:spTree>
  </p:cSld>
  <p:clrMapOvr>
    <a:masterClrMapping/>
  </p:clrMapOvr>
  <p:transition spd="slow">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6"/>
          </a:xfrm>
        </p:spPr>
        <p:txBody>
          <a:bodyPr anchor="t"/>
          <a:lstStyle>
            <a:lvl1pPr algn="l">
              <a:defRPr sz="48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400">
                <a:solidFill>
                  <a:schemeClr val="tx1">
                    <a:tint val="7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A736FC5-3054-49D3-AA57-73AE171D3A2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C5F5FF-180C-4BB6-8622-F4E1931019D5}" type="slidenum">
              <a:rPr lang="zh-CN" altLang="en-US" smtClean="0"/>
            </a:fld>
            <a:endParaRPr lang="zh-CN" altLang="en-US"/>
          </a:p>
        </p:txBody>
      </p:sp>
      <p:sp>
        <p:nvSpPr>
          <p:cNvPr id="7" name="文本框 6"/>
          <p:cNvSpPr txBox="1"/>
          <p:nvPr userDrawn="1"/>
        </p:nvSpPr>
        <p:spPr>
          <a:xfrm>
            <a:off x="10903585" y="5920740"/>
            <a:ext cx="1169035" cy="368300"/>
          </a:xfrm>
          <a:prstGeom prst="rect">
            <a:avLst/>
          </a:prstGeom>
          <a:noFill/>
        </p:spPr>
        <p:txBody>
          <a:bodyPr wrap="square" rtlCol="0">
            <a:spAutoFit/>
          </a:bodyPr>
          <a:lstStyle/>
          <a:p>
            <a:r>
              <a:rPr lang="en-US" altLang="zh-CN"/>
              <a:t>1</a:t>
            </a:r>
            <a:endParaRPr lang="en-US" altLang="zh-CN"/>
          </a:p>
        </p:txBody>
      </p:sp>
    </p:spTree>
  </p:cSld>
  <p:clrMapOvr>
    <a:masterClrMapping/>
  </p:clrMapOvr>
  <p:transition spd="slow">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333500"/>
            <a:ext cx="5384800" cy="3771900"/>
          </a:xfrm>
        </p:spPr>
        <p:txBody>
          <a:bodyPr/>
          <a:lstStyle>
            <a:lvl1pPr>
              <a:defRPr sz="3360"/>
            </a:lvl1pPr>
            <a:lvl2pPr>
              <a:defRPr sz="2880"/>
            </a:lvl2pPr>
            <a:lvl3pPr>
              <a:defRPr sz="2400"/>
            </a:lvl3pPr>
            <a:lvl4pPr>
              <a:defRPr sz="2160"/>
            </a:lvl4pPr>
            <a:lvl5pPr>
              <a:defRPr sz="2160"/>
            </a:lvl5pPr>
            <a:lvl6pPr>
              <a:defRPr sz="2160"/>
            </a:lvl6pPr>
            <a:lvl7pPr>
              <a:defRPr sz="2160"/>
            </a:lvl7pPr>
            <a:lvl8pPr>
              <a:defRPr sz="2160"/>
            </a:lvl8pPr>
            <a:lvl9pPr>
              <a:defRPr sz="216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333500"/>
            <a:ext cx="5384800" cy="3771900"/>
          </a:xfrm>
        </p:spPr>
        <p:txBody>
          <a:bodyPr/>
          <a:lstStyle>
            <a:lvl1pPr>
              <a:defRPr sz="3360"/>
            </a:lvl1pPr>
            <a:lvl2pPr>
              <a:defRPr sz="2880"/>
            </a:lvl2pPr>
            <a:lvl3pPr>
              <a:defRPr sz="2400"/>
            </a:lvl3pPr>
            <a:lvl4pPr>
              <a:defRPr sz="2160"/>
            </a:lvl4pPr>
            <a:lvl5pPr>
              <a:defRPr sz="2160"/>
            </a:lvl5pPr>
            <a:lvl6pPr>
              <a:defRPr sz="2160"/>
            </a:lvl6pPr>
            <a:lvl7pPr>
              <a:defRPr sz="2160"/>
            </a:lvl7pPr>
            <a:lvl8pPr>
              <a:defRPr sz="2160"/>
            </a:lvl8pPr>
            <a:lvl9pPr>
              <a:defRPr sz="216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C782EBD4-403A-41AF-A02F-4018A24E2EDB}"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C5F5FF-180C-4BB6-8622-F4E1931019D5}" type="slidenum">
              <a:rPr lang="zh-CN" altLang="en-US" smtClean="0"/>
            </a:fld>
            <a:endParaRPr lang="zh-CN" altLang="en-US"/>
          </a:p>
        </p:txBody>
      </p:sp>
    </p:spTree>
  </p:cSld>
  <p:clrMapOvr>
    <a:masterClrMapping/>
  </p:clrMapOvr>
  <p:transition spd="slow">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880"/>
            </a:lvl1pPr>
            <a:lvl2pPr>
              <a:defRPr sz="2400"/>
            </a:lvl2pPr>
            <a:lvl3pPr>
              <a:defRPr sz="2160"/>
            </a:lvl3pPr>
            <a:lvl4pPr>
              <a:defRPr sz="1920"/>
            </a:lvl4pPr>
            <a:lvl5pPr>
              <a:defRPr sz="1920"/>
            </a:lvl5pPr>
            <a:lvl6pPr>
              <a:defRPr sz="1920"/>
            </a:lvl6pPr>
            <a:lvl7pPr>
              <a:defRPr sz="1920"/>
            </a:lvl7pPr>
            <a:lvl8pPr>
              <a:defRPr sz="1920"/>
            </a:lvl8pPr>
            <a:lvl9pPr>
              <a:defRPr sz="192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880"/>
            </a:lvl1pPr>
            <a:lvl2pPr>
              <a:defRPr sz="2400"/>
            </a:lvl2pPr>
            <a:lvl3pPr>
              <a:defRPr sz="2160"/>
            </a:lvl3pPr>
            <a:lvl4pPr>
              <a:defRPr sz="1920"/>
            </a:lvl4pPr>
            <a:lvl5pPr>
              <a:defRPr sz="1920"/>
            </a:lvl5pPr>
            <a:lvl6pPr>
              <a:defRPr sz="1920"/>
            </a:lvl6pPr>
            <a:lvl7pPr>
              <a:defRPr sz="1920"/>
            </a:lvl7pPr>
            <a:lvl8pPr>
              <a:defRPr sz="1920"/>
            </a:lvl8pPr>
            <a:lvl9pPr>
              <a:defRPr sz="192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97070C93-C163-4C37-AB5F-05E9900AD0E0}"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EC5F5FF-180C-4BB6-8622-F4E1931019D5}" type="slidenum">
              <a:rPr lang="zh-CN" altLang="en-US" smtClean="0"/>
            </a:fld>
            <a:endParaRPr lang="zh-CN" altLang="en-US"/>
          </a:p>
        </p:txBody>
      </p:sp>
    </p:spTree>
  </p:cSld>
  <p:clrMapOvr>
    <a:masterClrMapping/>
  </p:clrMapOvr>
  <p:transition spd="slow">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E85D8A53-3E9A-45A3-836E-A5BF2F0B74BE}"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EC5F5FF-180C-4BB6-8622-F4E1931019D5}" type="slidenum">
              <a:rPr lang="zh-CN" altLang="en-US" smtClean="0"/>
            </a:fld>
            <a:endParaRPr lang="zh-CN" altLang="en-US"/>
          </a:p>
        </p:txBody>
      </p:sp>
    </p:spTree>
  </p:cSld>
  <p:clrMapOvr>
    <a:masterClrMapping/>
  </p:clrMapOvr>
  <p:transition spd="slow">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CBBD1B4-A90E-4F23-8FC0-3A80150AFC21}"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EC5F5FF-180C-4BB6-8622-F4E1931019D5}" type="slidenum">
              <a:rPr lang="zh-CN" altLang="en-US" smtClean="0"/>
            </a:fld>
            <a:endParaRPr lang="zh-CN" altLang="en-US"/>
          </a:p>
        </p:txBody>
      </p:sp>
    </p:spTree>
  </p:cSld>
  <p:clrMapOvr>
    <a:masterClrMapping/>
  </p:clrMapOvr>
  <p:transition spd="slow">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4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0"/>
            <a:ext cx="4011084" cy="4691063"/>
          </a:xfrm>
        </p:spPr>
        <p:txBody>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F15AC3B-9895-424E-AFC4-0E5B6F8A1A4B}"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C5F5FF-180C-4BB6-8622-F4E1931019D5}" type="slidenum">
              <a:rPr lang="zh-CN" altLang="en-US" smtClean="0"/>
            </a:fld>
            <a:endParaRPr lang="zh-CN" altLang="en-US"/>
          </a:p>
        </p:txBody>
      </p:sp>
    </p:spTree>
  </p:cSld>
  <p:clrMapOvr>
    <a:masterClrMapping/>
  </p:clrMapOvr>
  <p:transition spd="slow">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4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BA93730-3F6D-44DA-85ED-47CB0721F2AA}"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C5F5FF-180C-4BB6-8622-F4E1931019D5}" type="slidenum">
              <a:rPr lang="zh-CN" altLang="en-US" smtClean="0"/>
            </a:fld>
            <a:endParaRPr lang="zh-CN" altLang="en-US"/>
          </a:p>
        </p:txBody>
      </p:sp>
    </p:spTree>
  </p:cSld>
  <p:clrMapOvr>
    <a:masterClrMapping/>
  </p:clrMapOvr>
  <p:transition spd="slow">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C6C3671-94FD-4DA9-A069-9EA66A51EBD5}"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C5F5FF-180C-4BB6-8622-F4E1931019D5}" type="slidenum">
              <a:rPr lang="zh-CN" altLang="en-US" smtClean="0"/>
            </a:fld>
            <a:endParaRPr lang="zh-CN" altLang="en-US"/>
          </a:p>
        </p:txBody>
      </p:sp>
    </p:spTree>
  </p:cSld>
  <p:clrMapOvr>
    <a:masterClrMapping/>
  </p:clrMapOvr>
  <p:transition spd="slow">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28600"/>
            <a:ext cx="2743200" cy="48768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28600"/>
            <a:ext cx="8026400" cy="48768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899B011-AC23-442D-A30C-047A150CB768}"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C5F5FF-180C-4BB6-8622-F4E1931019D5}" type="slidenum">
              <a:rPr lang="zh-CN" altLang="en-US" smtClean="0"/>
            </a:fld>
            <a:endParaRPr lang="zh-CN" altLang="en-US"/>
          </a:p>
        </p:txBody>
      </p:sp>
    </p:spTree>
  </p:cSld>
  <p:clrMapOvr>
    <a:masterClrMapping/>
  </p:clrMapOvr>
  <p:transition spd="slow">
    <p:cove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l="-3000" r="-3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440">
                <a:solidFill>
                  <a:schemeClr val="tx1">
                    <a:tint val="75000"/>
                  </a:schemeClr>
                </a:solidFill>
              </a:defRPr>
            </a:lvl1pPr>
          </a:lstStyle>
          <a:p>
            <a:fld id="{73EBD99F-ACB9-4AB9-ADCC-FDB201064A3F}" type="datetime1">
              <a:rPr lang="zh-CN" altLang="en-US" smtClean="0"/>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440">
                <a:solidFill>
                  <a:schemeClr val="tx1">
                    <a:tint val="75000"/>
                  </a:schemeClr>
                </a:solidFill>
              </a:defRPr>
            </a:lvl1pPr>
          </a:lstStyle>
          <a:p>
            <a:fld id="{7EC5F5FF-180C-4BB6-8622-F4E1931019D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cover/>
  </p:transition>
  <p:hf sldNum="0" hdr="0" ftr="0" dt="0"/>
  <p:txStyles>
    <p:titleStyle>
      <a:lvl1pPr algn="ctr" defTabSz="1097280" rtl="0" eaLnBrk="1" latinLnBrk="0" hangingPunct="1">
        <a:spcBef>
          <a:spcPct val="0"/>
        </a:spcBef>
        <a:buNone/>
        <a:defRPr sz="5280" kern="1200">
          <a:solidFill>
            <a:schemeClr val="tx1"/>
          </a:solidFill>
          <a:latin typeface="+mj-lt"/>
          <a:ea typeface="+mj-ea"/>
          <a:cs typeface="+mj-cs"/>
        </a:defRPr>
      </a:lvl1pPr>
    </p:titleStyle>
    <p:bodyStyle>
      <a:lvl1pPr marL="411480" indent="-411480" algn="l" defTabSz="1097280" rtl="0" eaLnBrk="1" latinLnBrk="0" hangingPunct="1">
        <a:spcBef>
          <a:spcPct val="24000"/>
        </a:spcBef>
        <a:buFont typeface="Arial" panose="020B0604020202020204" pitchFamily="34" charset="0"/>
        <a:buChar char="•"/>
        <a:defRPr sz="3840" kern="1200">
          <a:solidFill>
            <a:schemeClr val="tx1"/>
          </a:solidFill>
          <a:latin typeface="+mn-lt"/>
          <a:ea typeface="+mn-ea"/>
          <a:cs typeface="+mn-cs"/>
        </a:defRPr>
      </a:lvl1pPr>
      <a:lvl2pPr marL="891540" indent="-342900" algn="l" defTabSz="1097280" rtl="0" eaLnBrk="1" latinLnBrk="0" hangingPunct="1">
        <a:spcBef>
          <a:spcPct val="24000"/>
        </a:spcBef>
        <a:buFont typeface="Arial" panose="020B0604020202020204" pitchFamily="34" charset="0"/>
        <a:buChar char="–"/>
        <a:defRPr sz="3360" kern="1200">
          <a:solidFill>
            <a:schemeClr val="tx1"/>
          </a:solidFill>
          <a:latin typeface="+mn-lt"/>
          <a:ea typeface="+mn-ea"/>
          <a:cs typeface="+mn-cs"/>
        </a:defRPr>
      </a:lvl2pPr>
      <a:lvl3pPr marL="1371600" indent="-274320" algn="l" defTabSz="1097280" rtl="0" eaLnBrk="1" latinLnBrk="0" hangingPunct="1">
        <a:spcBef>
          <a:spcPct val="24000"/>
        </a:spcBef>
        <a:buFont typeface="Arial" panose="020B0604020202020204" pitchFamily="34" charset="0"/>
        <a:buChar char="•"/>
        <a:defRPr sz="2880" kern="1200">
          <a:solidFill>
            <a:schemeClr val="tx1"/>
          </a:solidFill>
          <a:latin typeface="+mn-lt"/>
          <a:ea typeface="+mn-ea"/>
          <a:cs typeface="+mn-cs"/>
        </a:defRPr>
      </a:lvl3pPr>
      <a:lvl4pPr marL="1920240" indent="-274320" algn="l" defTabSz="1097280" rtl="0" eaLnBrk="1" latinLnBrk="0" hangingPunct="1">
        <a:spcBef>
          <a:spcPct val="24000"/>
        </a:spcBef>
        <a:buFont typeface="Arial" panose="020B0604020202020204" pitchFamily="34" charset="0"/>
        <a:buChar char="–"/>
        <a:defRPr sz="2400" kern="1200">
          <a:solidFill>
            <a:schemeClr val="tx1"/>
          </a:solidFill>
          <a:latin typeface="+mn-lt"/>
          <a:ea typeface="+mn-ea"/>
          <a:cs typeface="+mn-cs"/>
        </a:defRPr>
      </a:lvl4pPr>
      <a:lvl5pPr marL="2468880" indent="-274320" algn="l" defTabSz="1097280" rtl="0" eaLnBrk="1" latinLnBrk="0" hangingPunct="1">
        <a:spcBef>
          <a:spcPct val="24000"/>
        </a:spcBef>
        <a:buFont typeface="Arial" panose="020B0604020202020204" pitchFamily="34" charset="0"/>
        <a:buChar char="»"/>
        <a:defRPr sz="2400" kern="1200">
          <a:solidFill>
            <a:schemeClr val="tx1"/>
          </a:solidFill>
          <a:latin typeface="+mn-lt"/>
          <a:ea typeface="+mn-ea"/>
          <a:cs typeface="+mn-cs"/>
        </a:defRPr>
      </a:lvl5pPr>
      <a:lvl6pPr marL="3017520" indent="-274320" algn="l" defTabSz="1097280" rtl="0" eaLnBrk="1" latinLnBrk="0" hangingPunct="1">
        <a:spcBef>
          <a:spcPct val="24000"/>
        </a:spcBef>
        <a:buFont typeface="Arial" panose="020B0604020202020204" pitchFamily="34" charset="0"/>
        <a:buChar char="•"/>
        <a:defRPr sz="2400" kern="1200">
          <a:solidFill>
            <a:schemeClr val="tx1"/>
          </a:solidFill>
          <a:latin typeface="+mn-lt"/>
          <a:ea typeface="+mn-ea"/>
          <a:cs typeface="+mn-cs"/>
        </a:defRPr>
      </a:lvl6pPr>
      <a:lvl7pPr marL="3566160" indent="-274320" algn="l" defTabSz="1097280" rtl="0" eaLnBrk="1" latinLnBrk="0" hangingPunct="1">
        <a:spcBef>
          <a:spcPct val="24000"/>
        </a:spcBef>
        <a:buFont typeface="Arial" panose="020B0604020202020204" pitchFamily="34" charset="0"/>
        <a:buChar char="•"/>
        <a:defRPr sz="2400" kern="1200">
          <a:solidFill>
            <a:schemeClr val="tx1"/>
          </a:solidFill>
          <a:latin typeface="+mn-lt"/>
          <a:ea typeface="+mn-ea"/>
          <a:cs typeface="+mn-cs"/>
        </a:defRPr>
      </a:lvl7pPr>
      <a:lvl8pPr marL="4114800" indent="-274320" algn="l" defTabSz="1097280" rtl="0" eaLnBrk="1" latinLnBrk="0" hangingPunct="1">
        <a:spcBef>
          <a:spcPct val="24000"/>
        </a:spcBef>
        <a:buFont typeface="Arial" panose="020B0604020202020204" pitchFamily="34" charset="0"/>
        <a:buChar char="•"/>
        <a:defRPr sz="2400" kern="1200">
          <a:solidFill>
            <a:schemeClr val="tx1"/>
          </a:solidFill>
          <a:latin typeface="+mn-lt"/>
          <a:ea typeface="+mn-ea"/>
          <a:cs typeface="+mn-cs"/>
        </a:defRPr>
      </a:lvl8pPr>
      <a:lvl9pPr marL="4663440" indent="-274320" algn="l" defTabSz="1097280" rtl="0" eaLnBrk="1" latinLnBrk="0" hangingPunct="1">
        <a:spcBef>
          <a:spcPct val="24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3.xml"/><Relationship Id="rId5" Type="http://schemas.openxmlformats.org/officeDocument/2006/relationships/image" Target="../media/image4.png"/><Relationship Id="rId4" Type="http://schemas.openxmlformats.org/officeDocument/2006/relationships/tags" Target="../tags/tag2.xml"/><Relationship Id="rId3" Type="http://schemas.openxmlformats.org/officeDocument/2006/relationships/image" Target="../media/image3.png"/><Relationship Id="rId2" Type="http://schemas.openxmlformats.org/officeDocument/2006/relationships/tags" Target="../tags/tag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3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l="-3000" r="-3000"/>
          </a:stretch>
        </a:blipFill>
        <a:effectLst/>
      </p:bgPr>
    </p:bg>
    <p:spTree>
      <p:nvGrpSpPr>
        <p:cNvPr id="1" name=""/>
        <p:cNvGrpSpPr/>
        <p:nvPr/>
      </p:nvGrpSpPr>
      <p:grpSpPr/>
      <p:pic>
        <p:nvPicPr>
          <p:cNvPr id="8" name="图片 7"/>
          <p:cNvPicPr>
            <a:picLocks noChangeAspect="1"/>
          </p:cNvPicPr>
          <p:nvPr>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760095" y="-218440"/>
            <a:ext cx="4769485" cy="1853565"/>
          </a:xfrm>
          <a:prstGeom prst="rect">
            <a:avLst/>
          </a:prstGeom>
        </p:spPr>
      </p:pic>
      <p:pic>
        <p:nvPicPr>
          <p:cNvPr id="12" name="图片 11"/>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415" y="4866005"/>
            <a:ext cx="12192000" cy="2112010"/>
          </a:xfrm>
          <a:prstGeom prst="rect">
            <a:avLst/>
          </a:prstGeom>
        </p:spPr>
      </p:pic>
      <p:sp>
        <p:nvSpPr>
          <p:cNvPr id="3" name="文本框 2"/>
          <p:cNvSpPr txBox="1"/>
          <p:nvPr/>
        </p:nvSpPr>
        <p:spPr>
          <a:xfrm>
            <a:off x="125095" y="896620"/>
            <a:ext cx="12105640" cy="3124835"/>
          </a:xfrm>
          <a:prstGeom prst="rect">
            <a:avLst/>
          </a:prstGeom>
          <a:noFill/>
        </p:spPr>
        <p:txBody>
          <a:bodyPr wrap="square" rtlCol="0">
            <a:noAutofit/>
          </a:bodyPr>
          <a:p>
            <a:pPr algn="ctr">
              <a:lnSpc>
                <a:spcPct val="150000"/>
              </a:lnSpc>
            </a:pPr>
            <a:r>
              <a:rPr lang="zh-CN" altLang="en-US" sz="8000" b="1" dirty="0">
                <a:solidFill>
                  <a:srgbClr val="C00000"/>
                </a:solidFill>
                <a:latin typeface="微软雅黑" panose="020B0503020204020204" pitchFamily="34" charset="-122"/>
                <a:ea typeface="微软雅黑" panose="020B0503020204020204" pitchFamily="34" charset="-122"/>
                <a:cs typeface="宋体" panose="02010600030101010101" pitchFamily="2" charset="-122"/>
                <a:sym typeface="+mn-ea"/>
              </a:rPr>
              <a:t>计算机工程学院</a:t>
            </a:r>
            <a:endParaRPr lang="zh-CN" altLang="en-US" sz="8000" b="1" dirty="0">
              <a:solidFill>
                <a:srgbClr val="C00000"/>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algn="ctr">
              <a:lnSpc>
                <a:spcPct val="150000"/>
              </a:lnSpc>
            </a:pPr>
            <a:r>
              <a:rPr lang="en-US" altLang="zh-CN" sz="8000" b="1" dirty="0">
                <a:solidFill>
                  <a:srgbClr val="C00000"/>
                </a:solidFill>
                <a:latin typeface="微软雅黑" panose="020B0503020204020204" pitchFamily="34" charset="-122"/>
                <a:ea typeface="微软雅黑" panose="020B0503020204020204" pitchFamily="34" charset="-122"/>
                <a:cs typeface="宋体" panose="02010600030101010101" pitchFamily="2" charset="-122"/>
                <a:sym typeface="+mn-ea"/>
              </a:rPr>
              <a:t>2027</a:t>
            </a:r>
            <a:r>
              <a:rPr lang="zh-CN" altLang="en-US" sz="8000" b="1" dirty="0">
                <a:solidFill>
                  <a:srgbClr val="C00000"/>
                </a:solidFill>
                <a:latin typeface="微软雅黑" panose="020B0503020204020204" pitchFamily="34" charset="-122"/>
                <a:ea typeface="微软雅黑" panose="020B0503020204020204" pitchFamily="34" charset="-122"/>
                <a:cs typeface="宋体" panose="02010600030101010101" pitchFamily="2" charset="-122"/>
                <a:sym typeface="+mn-ea"/>
              </a:rPr>
              <a:t>届教师实习动员大会</a:t>
            </a:r>
            <a:endParaRPr lang="zh-CN" altLang="en-US" sz="8000" b="1" dirty="0">
              <a:solidFill>
                <a:srgbClr val="C00000"/>
              </a:solidFill>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文本框 5"/>
          <p:cNvSpPr txBox="1"/>
          <p:nvPr/>
        </p:nvSpPr>
        <p:spPr>
          <a:xfrm>
            <a:off x="3674110" y="4747895"/>
            <a:ext cx="4658995" cy="956945"/>
          </a:xfrm>
          <a:prstGeom prst="rect">
            <a:avLst/>
          </a:prstGeom>
          <a:noFill/>
        </p:spPr>
        <p:txBody>
          <a:bodyPr wrap="square" rtlCol="0">
            <a:noAutofit/>
          </a:bodyPr>
          <a:p>
            <a:pPr algn="ctr">
              <a:lnSpc>
                <a:spcPct val="150000"/>
              </a:lnSpc>
            </a:pPr>
            <a:r>
              <a:rPr lang="en-US" altLang="zh-CN" sz="4000" b="1" dirty="0">
                <a:solidFill>
                  <a:srgbClr val="C00000"/>
                </a:solidFill>
                <a:latin typeface="微软雅黑" panose="020B0503020204020204" pitchFamily="34" charset="-122"/>
                <a:ea typeface="微软雅黑" panose="020B0503020204020204" pitchFamily="34" charset="-122"/>
                <a:cs typeface="宋体" panose="02010600030101010101" pitchFamily="2" charset="-122"/>
                <a:sym typeface="+mn-ea"/>
              </a:rPr>
              <a:t>2026</a:t>
            </a:r>
            <a:r>
              <a:rPr lang="zh-CN" altLang="en-US" sz="4000" b="1" dirty="0">
                <a:solidFill>
                  <a:srgbClr val="C00000"/>
                </a:solidFill>
                <a:latin typeface="微软雅黑" panose="020B0503020204020204" pitchFamily="34" charset="-122"/>
                <a:ea typeface="微软雅黑" panose="020B0503020204020204" pitchFamily="34" charset="-122"/>
                <a:cs typeface="宋体" panose="02010600030101010101" pitchFamily="2" charset="-122"/>
                <a:sym typeface="+mn-ea"/>
              </a:rPr>
              <a:t>年</a:t>
            </a:r>
            <a:r>
              <a:rPr lang="en-US" altLang="zh-CN" sz="4000" b="1" dirty="0">
                <a:solidFill>
                  <a:srgbClr val="C00000"/>
                </a:solidFill>
                <a:latin typeface="微软雅黑" panose="020B0503020204020204" pitchFamily="34" charset="-122"/>
                <a:ea typeface="微软雅黑" panose="020B0503020204020204" pitchFamily="34" charset="-122"/>
                <a:cs typeface="宋体" panose="02010600030101010101" pitchFamily="2" charset="-122"/>
                <a:sym typeface="+mn-ea"/>
              </a:rPr>
              <a:t>4</a:t>
            </a:r>
            <a:r>
              <a:rPr lang="zh-CN" altLang="en-US" sz="4000" b="1" dirty="0">
                <a:solidFill>
                  <a:srgbClr val="C00000"/>
                </a:solidFill>
                <a:latin typeface="微软雅黑" panose="020B0503020204020204" pitchFamily="34" charset="-122"/>
                <a:ea typeface="微软雅黑" panose="020B0503020204020204" pitchFamily="34" charset="-122"/>
                <a:cs typeface="宋体" panose="02010600030101010101" pitchFamily="2" charset="-122"/>
                <a:sym typeface="+mn-ea"/>
              </a:rPr>
              <a:t>月</a:t>
            </a:r>
            <a:endParaRPr lang="zh-CN" altLang="en-US" sz="4000" b="1" dirty="0">
              <a:solidFill>
                <a:srgbClr val="C00000"/>
              </a:solidFill>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ustDataLst>
      <p:tags r:id="rId6"/>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l="-3000" r="-3000"/>
          </a:stretch>
        </a:blipFill>
        <a:effectLst/>
      </p:bgPr>
    </p:bg>
    <p:spTree>
      <p:nvGrpSpPr>
        <p:cNvPr id="1" name=""/>
        <p:cNvGrpSpPr/>
        <p:nvPr/>
      </p:nvGrpSpPr>
      <p:grpSpPr>
        <a:xfrm>
          <a:off x="0" y="0"/>
          <a:ext cx="0" cy="0"/>
          <a:chOff x="0" y="0"/>
          <a:chExt cx="0" cy="0"/>
        </a:xfrm>
      </p:grpSpPr>
      <p:sp>
        <p:nvSpPr>
          <p:cNvPr id="2" name="矩形 1"/>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矩形 2"/>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1617798" y="491074"/>
            <a:ext cx="26468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校外教学实习对象</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p:nvGrpSpPr>
        <p:grpSpPr>
          <a:xfrm>
            <a:off x="986004" y="2838164"/>
            <a:ext cx="4892135" cy="634485"/>
            <a:chOff x="911424" y="318254"/>
            <a:chExt cx="4892135" cy="634485"/>
          </a:xfrm>
        </p:grpSpPr>
        <p:sp>
          <p:nvSpPr>
            <p:cNvPr id="9" name="矩形 8"/>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 name="矩形 10"/>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 name="TextBox 9"/>
            <p:cNvSpPr txBox="1"/>
            <p:nvPr/>
          </p:nvSpPr>
          <p:spPr>
            <a:xfrm>
              <a:off x="1617798" y="491074"/>
              <a:ext cx="418576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校外实习教学时间及学分安排</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sp>
        <p:nvSpPr>
          <p:cNvPr id="17" name="文本框 16"/>
          <p:cNvSpPr txBox="1"/>
          <p:nvPr/>
        </p:nvSpPr>
        <p:spPr>
          <a:xfrm>
            <a:off x="986004" y="923122"/>
            <a:ext cx="10035055" cy="1198880"/>
          </a:xfrm>
          <a:prstGeom prst="rect">
            <a:avLst/>
          </a:prstGeom>
          <a:noFill/>
        </p:spPr>
        <p:txBody>
          <a:bodyPr wrap="square" rtlCol="0">
            <a:spAutoFit/>
          </a:bodyPr>
          <a:lstStyle/>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生产实习对象：</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lang="en-US" altLang="zh-CN" noProof="0" dirty="0">
                <a:ln>
                  <a:noFill/>
                </a:ln>
                <a:solidFill>
                  <a:prstClr val="black"/>
                </a:solidFill>
                <a:effectLst/>
                <a:uLnTx/>
                <a:uFillTx/>
                <a:latin typeface="宋体" panose="02010600030101010101" pitchFamily="2" charset="-122"/>
                <a:ea typeface="宋体" panose="02010600030101010101" pitchFamily="2" charset="-122"/>
                <a:sym typeface="+mn-ea"/>
              </a:rPr>
              <a:t>2027</a:t>
            </a:r>
            <a:r>
              <a:rPr lang="zh-CN" altLang="en-US" noProof="0" dirty="0">
                <a:ln>
                  <a:noFill/>
                </a:ln>
                <a:solidFill>
                  <a:prstClr val="black"/>
                </a:solidFill>
                <a:effectLst/>
                <a:uLnTx/>
                <a:uFillTx/>
                <a:latin typeface="宋体" panose="02010600030101010101" pitchFamily="2" charset="-122"/>
                <a:ea typeface="宋体" panose="02010600030101010101" pitchFamily="2" charset="-122"/>
                <a:sym typeface="+mn-ea"/>
              </a:rPr>
              <a:t>届全校毕业班学生（包括专升本）。</a:t>
            </a:r>
            <a:endParaRPr lang="zh-CN" altLang="en-US" noProof="0" dirty="0">
              <a:ln>
                <a:noFill/>
              </a:ln>
              <a:solidFill>
                <a:prstClr val="black"/>
              </a:solidFill>
              <a:effectLst/>
              <a:uLnTx/>
              <a:uFillTx/>
              <a:latin typeface="宋体" panose="02010600030101010101" pitchFamily="2" charset="-122"/>
              <a:ea typeface="宋体" panose="02010600030101010101" pitchFamily="2" charset="-122"/>
              <a:sym typeface="+mn-ea"/>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毕业实习对象：</a:t>
            </a:r>
            <a:r>
              <a:rPr kumimoji="0" lang="en-US"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2027</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届全校毕业班学生（包括专升本）。</a:t>
            </a:r>
            <a:endPar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19" name="文本框 18"/>
          <p:cNvSpPr txBox="1"/>
          <p:nvPr/>
        </p:nvSpPr>
        <p:spPr>
          <a:xfrm>
            <a:off x="767408" y="3573016"/>
            <a:ext cx="6336703" cy="2168525"/>
          </a:xfrm>
          <a:prstGeom prst="rect">
            <a:avLst/>
          </a:prstGeom>
          <a:noFill/>
        </p:spPr>
        <p:txBody>
          <a:bodyPr wrap="square" rtlCol="0">
            <a:spAutoFit/>
          </a:bodyPr>
          <a:lstStyle/>
          <a:p>
            <a:pPr marL="0" marR="0" lvl="0" indent="304800" algn="l" defTabSz="914400" rtl="0" eaLnBrk="1" fontAlgn="auto" latinLnBrk="0" hangingPunct="1">
              <a:lnSpc>
                <a:spcPct val="150000"/>
              </a:lnSpc>
              <a:spcBef>
                <a:spcPts val="0"/>
              </a:spcBef>
              <a:spcAft>
                <a:spcPts val="0"/>
              </a:spcAft>
              <a:buClrTx/>
              <a:buSzTx/>
              <a:buFontTx/>
              <a:buNone/>
              <a:defRPr/>
            </a:pPr>
            <a:r>
              <a:rPr kumimoji="0" lang="en-US" altLang="zh-CN" sz="1800" b="1"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1.</a:t>
            </a:r>
            <a:r>
              <a:rPr kumimoji="0" lang="zh-CN" altLang="zh-CN" sz="1800" b="1"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时间安排</a:t>
            </a:r>
            <a:r>
              <a:rPr kumimoji="0" lang="zh-CN" altLang="en-US" sz="1800" b="1"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a:t>
            </a:r>
            <a:endPar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304800" algn="l" defTabSz="914400" rtl="0" eaLnBrk="1" fontAlgn="auto" latinLnBrk="0" hangingPunct="1">
              <a:lnSpc>
                <a:spcPct val="150000"/>
              </a:lnSpc>
              <a:spcBef>
                <a:spcPts val="0"/>
              </a:spcBef>
              <a:spcAft>
                <a:spcPts val="0"/>
              </a:spcAft>
              <a:buClrTx/>
              <a:buSzTx/>
              <a:buFontTx/>
              <a:buNone/>
              <a:defRPr/>
            </a:pPr>
            <a:r>
              <a:rPr kumimoji="0" lang="en-US" altLang="zh-CN" sz="1800" b="0" i="0" u="none" strike="noStrike" kern="100" cap="none" spc="0" normalizeH="0" baseline="0" noProof="0" dirty="0">
                <a:ln>
                  <a:noFill/>
                </a:ln>
                <a:solidFill>
                  <a:prstClr val="black"/>
                </a:solidFill>
                <a:effectLst/>
                <a:uLnTx/>
                <a:uFillTx/>
                <a:latin typeface="Yu Gothic" panose="020B0400000000000000" pitchFamily="34" charset="-128"/>
                <a:ea typeface="Yu Gothic" panose="020B0400000000000000" pitchFamily="34" charset="-128"/>
                <a:cs typeface="Times New Roman" panose="02020603050405020304" pitchFamily="18" charset="0"/>
              </a:rPr>
              <a:t>① </a:t>
            </a:r>
            <a:r>
              <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实习</a:t>
            </a: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前</a:t>
            </a:r>
            <a:r>
              <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准备</a:t>
            </a: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工作</a:t>
            </a:r>
            <a:r>
              <a:rPr kumimoji="0" lang="en-US"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:2025-2026</a:t>
            </a:r>
            <a:r>
              <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学年第二学期</a:t>
            </a:r>
            <a:r>
              <a:rPr kumimoji="0" lang="en-US"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4-8</a:t>
            </a:r>
            <a:r>
              <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月</a:t>
            </a:r>
            <a:endPar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304800" algn="l" defTabSz="914400" rtl="0" eaLnBrk="1" fontAlgn="auto" latinLnBrk="0" hangingPunct="1">
              <a:lnSpc>
                <a:spcPct val="150000"/>
              </a:lnSpc>
              <a:spcBef>
                <a:spcPts val="0"/>
              </a:spcBef>
              <a:spcAft>
                <a:spcPts val="0"/>
              </a:spcAft>
              <a:buClrTx/>
              <a:buSzTx/>
              <a:buFontTx/>
              <a:buNone/>
              <a:defRPr/>
            </a:pPr>
            <a:r>
              <a:rPr kumimoji="0" lang="en-US" altLang="zh-CN" sz="1800" b="0" i="0" u="none" strike="noStrike" kern="100" cap="none" spc="0" normalizeH="0" baseline="0" noProof="0" dirty="0">
                <a:ln>
                  <a:noFill/>
                </a:ln>
                <a:solidFill>
                  <a:prstClr val="black"/>
                </a:solidFill>
                <a:effectLst/>
                <a:uLnTx/>
                <a:uFillTx/>
                <a:latin typeface="Yu Gothic" panose="020B0400000000000000" pitchFamily="34" charset="-128"/>
                <a:ea typeface="Yu Gothic" panose="020B0400000000000000" pitchFamily="34" charset="-128"/>
                <a:cs typeface="Times New Roman" panose="02020603050405020304" pitchFamily="18" charset="0"/>
              </a:rPr>
              <a:t>② </a:t>
            </a:r>
            <a:r>
              <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生产实习起止周</a:t>
            </a:r>
            <a:r>
              <a:rPr kumimoji="0" lang="en-US"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:2026-2027</a:t>
            </a:r>
            <a:r>
              <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学年第一学期第</a:t>
            </a:r>
            <a:r>
              <a:rPr kumimoji="0" lang="en-US"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1-20</a:t>
            </a:r>
            <a:r>
              <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周；</a:t>
            </a:r>
            <a:endPar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304800" algn="l" defTabSz="914400" rtl="0" eaLnBrk="1" fontAlgn="auto" latinLnBrk="0" hangingPunct="1">
              <a:lnSpc>
                <a:spcPct val="150000"/>
              </a:lnSpc>
              <a:spcBef>
                <a:spcPts val="0"/>
              </a:spcBef>
              <a:spcAft>
                <a:spcPts val="0"/>
              </a:spcAft>
              <a:buClrTx/>
              <a:buSzTx/>
              <a:buFontTx/>
              <a:buNone/>
              <a:defRPr/>
            </a:pPr>
            <a:r>
              <a:rPr kumimoji="0" lang="en-US" altLang="zh-CN" sz="1800" b="0" i="0" u="none" strike="noStrike" kern="100" cap="none" spc="0" normalizeH="0" baseline="0" noProof="0" dirty="0">
                <a:ln>
                  <a:noFill/>
                </a:ln>
                <a:solidFill>
                  <a:prstClr val="black"/>
                </a:solidFill>
                <a:effectLst/>
                <a:uLnTx/>
                <a:uFillTx/>
                <a:latin typeface="宋体" panose="02010600030101010101" pitchFamily="2" charset="-122"/>
                <a:ea typeface="等线"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毕业实习起止周</a:t>
            </a:r>
            <a:r>
              <a:rPr kumimoji="0" lang="en-US"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a:t>
            </a:r>
            <a:r>
              <a:rPr lang="en-US" altLang="zh-CN" kern="10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sym typeface="+mn-ea"/>
              </a:rPr>
              <a:t>2026-2027</a:t>
            </a:r>
            <a:r>
              <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学年第二学期第</a:t>
            </a:r>
            <a:r>
              <a:rPr kumimoji="0" lang="en-US"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1-4</a:t>
            </a:r>
            <a:r>
              <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周</a:t>
            </a:r>
            <a:r>
              <a:rPr kumimoji="0" lang="en-US"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a:t>
            </a:r>
            <a:endParaRPr kumimoji="0" lang="en-US"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endParaRPr>
          </a:p>
          <a:p>
            <a:pPr marL="0" marR="0" lvl="0" indent="304800" algn="l" defTabSz="914400" rtl="0" eaLnBrk="1" fontAlgn="auto" latinLnBrk="0" hangingPunct="1">
              <a:lnSpc>
                <a:spcPct val="150000"/>
              </a:lnSpc>
              <a:spcBef>
                <a:spcPts val="0"/>
              </a:spcBef>
              <a:spcAft>
                <a:spcPts val="0"/>
              </a:spcAft>
              <a:buClrTx/>
              <a:buSzTx/>
              <a:buFontTx/>
              <a:buNone/>
              <a:defRPr/>
            </a:pPr>
            <a:r>
              <a:rPr lang="en-US" altLang="zh-CN" kern="10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sym typeface="+mn-ea"/>
              </a:rPr>
              <a:t>③</a:t>
            </a:r>
            <a:r>
              <a:rPr kumimoji="0" lang="en-US" altLang="zh-CN" sz="1800" b="0" i="0" u="none" strike="noStrike" kern="100" cap="none" spc="0" normalizeH="0" baseline="0" noProof="0" dirty="0">
                <a:ln>
                  <a:noFill/>
                </a:ln>
                <a:solidFill>
                  <a:prstClr val="black"/>
                </a:solidFill>
                <a:effectLst/>
                <a:uLnTx/>
                <a:uFillTx/>
                <a:latin typeface="Yu Gothic" panose="020B0400000000000000" pitchFamily="34" charset="-128"/>
                <a:ea typeface="Yu Gothic" panose="020B0400000000000000" pitchFamily="34" charset="-128"/>
                <a:cs typeface="Times New Roman" panose="02020603050405020304" pitchFamily="18" charset="0"/>
              </a:rPr>
              <a:t> </a:t>
            </a:r>
            <a:r>
              <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原则上</a:t>
            </a: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寒</a:t>
            </a:r>
            <a:r>
              <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暑假期间不开展学生实习。</a:t>
            </a:r>
            <a:endPar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20" name="文本框 19"/>
          <p:cNvSpPr txBox="1"/>
          <p:nvPr/>
        </p:nvSpPr>
        <p:spPr>
          <a:xfrm>
            <a:off x="6744073" y="3573269"/>
            <a:ext cx="4362712" cy="1891665"/>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学分安排：</a:t>
            </a:r>
            <a:endParaRPr kumimoji="0" lang="en-US" altLang="zh-CN"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① 生产实习</a:t>
            </a:r>
            <a:r>
              <a:rPr kumimoji="0" lang="zh-CN" altLang="en-US" sz="1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en-US" altLang="zh-CN" sz="1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10</a:t>
            </a:r>
            <a:r>
              <a:rPr kumimoji="0" lang="zh-CN" altLang="en-US" sz="1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学分）；</a:t>
            </a:r>
            <a:endParaRPr kumimoji="0" lang="en-US" altLang="zh-CN" sz="1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② 毕业实习</a:t>
            </a:r>
            <a:r>
              <a:rPr kumimoji="0" lang="zh-CN" altLang="en-US" sz="1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en-US" altLang="zh-CN" sz="1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2</a:t>
            </a:r>
            <a:r>
              <a:rPr kumimoji="0" lang="zh-CN" altLang="en-US" sz="1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学分）；</a:t>
            </a:r>
            <a:endParaRPr kumimoji="0" lang="en-US" altLang="zh-CN" sz="1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35" name="思想气泡: 云 34"/>
          <p:cNvSpPr/>
          <p:nvPr/>
        </p:nvSpPr>
        <p:spPr>
          <a:xfrm>
            <a:off x="7518400" y="793750"/>
            <a:ext cx="3838575" cy="2287905"/>
          </a:xfrm>
          <a:prstGeom prst="cloudCallout">
            <a:avLst>
              <a:gd name="adj1" fmla="val -32703"/>
              <a:gd name="adj2" fmla="val 82472"/>
            </a:avLst>
          </a:prstGeom>
          <a:ln w="3175"/>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生产实习和毕业实习均为必修课，要求同学们要认真对待，不得无故（以备考公务员，考研等借口）不参加实习！！！</a:t>
            </a:r>
            <a:endParaRPr kumimoji="0" lang="zh-CN" altLang="en-US" sz="18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endParaRPr>
          </a:p>
        </p:txBody>
      </p:sp>
      <p:pic>
        <p:nvPicPr>
          <p:cNvPr id="34" name="图片 33"/>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rot="19699919">
            <a:off x="7709353" y="3015252"/>
            <a:ext cx="1565479" cy="1046686"/>
          </a:xfrm>
          <a:prstGeom prst="ellipse">
            <a:avLst/>
          </a:prstGeom>
          <a:ln>
            <a:noFill/>
          </a:ln>
          <a:effectLst>
            <a:softEdge rad="112500"/>
          </a:effectLst>
        </p:spPr>
      </p:pic>
      <p:sp>
        <p:nvSpPr>
          <p:cNvPr id="4" name="文本框 3"/>
          <p:cNvSpPr txBox="1"/>
          <p:nvPr/>
        </p:nvSpPr>
        <p:spPr>
          <a:xfrm>
            <a:off x="11203305" y="5493385"/>
            <a:ext cx="4064000" cy="368300"/>
          </a:xfrm>
          <a:prstGeom prst="rect">
            <a:avLst/>
          </a:prstGeom>
          <a:noFill/>
        </p:spPr>
        <p:txBody>
          <a:bodyPr wrap="square" rtlCol="0">
            <a:spAutoFit/>
          </a:bodyPr>
          <a:p>
            <a:endParaRPr lang="zh-CN" altLang="en-US"/>
          </a:p>
        </p:txBody>
      </p:sp>
    </p:spTree>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l="-3000" r="-3000"/>
          </a:stretch>
        </a:blipFill>
        <a:effectLst/>
      </p:bgPr>
    </p:bg>
    <p:spTree>
      <p:nvGrpSpPr>
        <p:cNvPr id="1" name=""/>
        <p:cNvGrpSpPr/>
        <p:nvPr/>
      </p:nvGrpSpPr>
      <p:grpSpPr>
        <a:xfrm>
          <a:off x="0" y="0"/>
          <a:ext cx="0" cy="0"/>
          <a:chOff x="0" y="0"/>
          <a:chExt cx="0" cy="0"/>
        </a:xfrm>
      </p:grpSpPr>
      <p:sp>
        <p:nvSpPr>
          <p:cNvPr id="2" name="矩形 1"/>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p>
        </p:txBody>
      </p:sp>
      <p:sp>
        <p:nvSpPr>
          <p:cNvPr id="3" name="矩形 2"/>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p>
        </p:txBody>
      </p:sp>
      <p:sp>
        <p:nvSpPr>
          <p:cNvPr id="10" name="TextBox 9"/>
          <p:cNvSpPr txBox="1"/>
          <p:nvPr/>
        </p:nvSpPr>
        <p:spPr>
          <a:xfrm>
            <a:off x="1567180" y="274955"/>
            <a:ext cx="9249410" cy="830580"/>
          </a:xfrm>
          <a:prstGeom prst="rect">
            <a:avLst/>
          </a:prstGeom>
          <a:noFill/>
        </p:spPr>
        <p:txBody>
          <a:bodyPr wrap="square" rtlCol="0">
            <a:noAutofit/>
          </a:bodyPr>
          <a:lstStyle/>
          <a:p>
            <a:r>
              <a:rPr lang="zh-CN" altLang="en-US" sz="2400" b="1" dirty="0">
                <a:solidFill>
                  <a:srgbClr val="0070C0"/>
                </a:solidFill>
                <a:latin typeface="微软雅黑" panose="020B0503020204020204" pitchFamily="34" charset="-122"/>
                <a:ea typeface="微软雅黑" panose="020B0503020204020204" pitchFamily="34" charset="-122"/>
              </a:rPr>
              <a:t>生产实习（</a:t>
            </a:r>
            <a:r>
              <a:rPr lang="en-US" altLang="zh-CN" sz="2400" b="1" dirty="0">
                <a:solidFill>
                  <a:srgbClr val="0070C0"/>
                </a:solidFill>
                <a:latin typeface="微软雅黑" panose="020B0503020204020204" pitchFamily="34" charset="-122"/>
                <a:ea typeface="微软雅黑" panose="020B0503020204020204" pitchFamily="34" charset="-122"/>
              </a:rPr>
              <a:t>2026</a:t>
            </a:r>
            <a:r>
              <a:rPr lang="zh-CN" altLang="en-US" sz="2400" b="1" dirty="0">
                <a:solidFill>
                  <a:srgbClr val="0070C0"/>
                </a:solidFill>
                <a:latin typeface="微软雅黑" panose="020B0503020204020204" pitchFamily="34" charset="-122"/>
                <a:ea typeface="微软雅黑" panose="020B0503020204020204" pitchFamily="34" charset="-122"/>
              </a:rPr>
              <a:t>年</a:t>
            </a:r>
            <a:r>
              <a:rPr lang="en-US" altLang="zh-CN" sz="2400" b="1" dirty="0">
                <a:solidFill>
                  <a:srgbClr val="0070C0"/>
                </a:solidFill>
                <a:latin typeface="微软雅黑" panose="020B0503020204020204" pitchFamily="34" charset="-122"/>
                <a:ea typeface="微软雅黑" panose="020B0503020204020204" pitchFamily="34" charset="-122"/>
              </a:rPr>
              <a:t>8</a:t>
            </a:r>
            <a:r>
              <a:rPr lang="zh-CN" altLang="en-US" sz="2400" b="1" dirty="0">
                <a:solidFill>
                  <a:srgbClr val="0070C0"/>
                </a:solidFill>
                <a:latin typeface="微软雅黑" panose="020B0503020204020204" pitchFamily="34" charset="-122"/>
                <a:ea typeface="微软雅黑" panose="020B0503020204020204" pitchFamily="34" charset="-122"/>
              </a:rPr>
              <a:t>月</a:t>
            </a:r>
            <a:r>
              <a:rPr lang="en-US" altLang="zh-CN" sz="2400" b="1" dirty="0">
                <a:solidFill>
                  <a:srgbClr val="0070C0"/>
                </a:solidFill>
                <a:latin typeface="微软雅黑" panose="020B0503020204020204" pitchFamily="34" charset="-122"/>
                <a:ea typeface="微软雅黑" panose="020B0503020204020204" pitchFamily="34" charset="-122"/>
              </a:rPr>
              <a:t>-2026</a:t>
            </a:r>
            <a:r>
              <a:rPr lang="zh-CN" altLang="en-US" sz="2400" b="1" dirty="0">
                <a:solidFill>
                  <a:srgbClr val="0070C0"/>
                </a:solidFill>
                <a:latin typeface="微软雅黑" panose="020B0503020204020204" pitchFamily="34" charset="-122"/>
                <a:ea typeface="微软雅黑" panose="020B0503020204020204" pitchFamily="34" charset="-122"/>
              </a:rPr>
              <a:t>年</a:t>
            </a:r>
            <a:r>
              <a:rPr lang="en-US" altLang="zh-CN" sz="2400" b="1" dirty="0">
                <a:solidFill>
                  <a:srgbClr val="0070C0"/>
                </a:solidFill>
                <a:latin typeface="微软雅黑" panose="020B0503020204020204" pitchFamily="34" charset="-122"/>
                <a:ea typeface="微软雅黑" panose="020B0503020204020204" pitchFamily="34" charset="-122"/>
              </a:rPr>
              <a:t>12</a:t>
            </a:r>
            <a:r>
              <a:rPr lang="zh-CN" altLang="en-US" sz="2400" b="1" dirty="0">
                <a:solidFill>
                  <a:srgbClr val="0070C0"/>
                </a:solidFill>
                <a:latin typeface="微软雅黑" panose="020B0503020204020204" pitchFamily="34" charset="-122"/>
                <a:ea typeface="微软雅黑" panose="020B0503020204020204" pitchFamily="34" charset="-122"/>
              </a:rPr>
              <a:t>月）</a:t>
            </a:r>
            <a:endParaRPr lang="zh-CN" altLang="en-US" sz="2400" b="1" dirty="0">
              <a:solidFill>
                <a:srgbClr val="0070C0"/>
              </a:solidFill>
              <a:latin typeface="微软雅黑" panose="020B0503020204020204" pitchFamily="34" charset="-122"/>
              <a:ea typeface="微软雅黑" panose="020B0503020204020204" pitchFamily="34" charset="-122"/>
            </a:endParaRPr>
          </a:p>
          <a:p>
            <a:r>
              <a:rPr lang="zh-CN" altLang="en-US" sz="2400" b="1" dirty="0">
                <a:solidFill>
                  <a:srgbClr val="0070C0"/>
                </a:solidFill>
                <a:latin typeface="微软雅黑" panose="020B0503020204020204" pitchFamily="34" charset="-122"/>
                <a:ea typeface="微软雅黑" panose="020B0503020204020204" pitchFamily="34" charset="-122"/>
              </a:rPr>
              <a:t>毕业</a:t>
            </a:r>
            <a:r>
              <a:rPr lang="zh-CN" altLang="en-US" sz="2400" b="1" dirty="0">
                <a:solidFill>
                  <a:srgbClr val="0070C0"/>
                </a:solidFill>
                <a:latin typeface="微软雅黑" panose="020B0503020204020204" pitchFamily="34" charset="-122"/>
                <a:ea typeface="微软雅黑" panose="020B0503020204020204" pitchFamily="34" charset="-122"/>
                <a:sym typeface="+mn-ea"/>
              </a:rPr>
              <a:t>实习（</a:t>
            </a:r>
            <a:r>
              <a:rPr lang="en-US" altLang="zh-CN" sz="2400" b="1" dirty="0">
                <a:solidFill>
                  <a:srgbClr val="0070C0"/>
                </a:solidFill>
                <a:latin typeface="微软雅黑" panose="020B0503020204020204" pitchFamily="34" charset="-122"/>
                <a:ea typeface="微软雅黑" panose="020B0503020204020204" pitchFamily="34" charset="-122"/>
                <a:sym typeface="+mn-ea"/>
              </a:rPr>
              <a:t>2027</a:t>
            </a:r>
            <a:r>
              <a:rPr lang="zh-CN" altLang="en-US" sz="2400" b="1" dirty="0">
                <a:solidFill>
                  <a:srgbClr val="0070C0"/>
                </a:solidFill>
                <a:latin typeface="微软雅黑" panose="020B0503020204020204" pitchFamily="34" charset="-122"/>
                <a:ea typeface="微软雅黑" panose="020B0503020204020204" pitchFamily="34" charset="-122"/>
                <a:sym typeface="+mn-ea"/>
              </a:rPr>
              <a:t>年</a:t>
            </a:r>
            <a:r>
              <a:rPr lang="en-US" altLang="zh-CN" sz="2400" b="1" dirty="0">
                <a:solidFill>
                  <a:srgbClr val="0070C0"/>
                </a:solidFill>
                <a:latin typeface="微软雅黑" panose="020B0503020204020204" pitchFamily="34" charset="-122"/>
                <a:ea typeface="微软雅黑" panose="020B0503020204020204" pitchFamily="34" charset="-122"/>
                <a:sym typeface="+mn-ea"/>
              </a:rPr>
              <a:t>3</a:t>
            </a:r>
            <a:r>
              <a:rPr lang="zh-CN" altLang="en-US" sz="2400" b="1" dirty="0">
                <a:solidFill>
                  <a:srgbClr val="0070C0"/>
                </a:solidFill>
                <a:latin typeface="微软雅黑" panose="020B0503020204020204" pitchFamily="34" charset="-122"/>
                <a:ea typeface="微软雅黑" panose="020B0503020204020204" pitchFamily="34" charset="-122"/>
                <a:sym typeface="+mn-ea"/>
              </a:rPr>
              <a:t>月</a:t>
            </a:r>
            <a:r>
              <a:rPr lang="en-US" altLang="zh-CN" sz="2400" b="1" dirty="0">
                <a:solidFill>
                  <a:srgbClr val="0070C0"/>
                </a:solidFill>
                <a:latin typeface="微软雅黑" panose="020B0503020204020204" pitchFamily="34" charset="-122"/>
                <a:ea typeface="微软雅黑" panose="020B0503020204020204" pitchFamily="34" charset="-122"/>
                <a:sym typeface="+mn-ea"/>
              </a:rPr>
              <a:t>-2027</a:t>
            </a:r>
            <a:r>
              <a:rPr lang="zh-CN" altLang="en-US" sz="2400" b="1" dirty="0">
                <a:solidFill>
                  <a:srgbClr val="0070C0"/>
                </a:solidFill>
                <a:latin typeface="微软雅黑" panose="020B0503020204020204" pitchFamily="34" charset="-122"/>
                <a:ea typeface="微软雅黑" panose="020B0503020204020204" pitchFamily="34" charset="-122"/>
                <a:sym typeface="+mn-ea"/>
              </a:rPr>
              <a:t>年</a:t>
            </a:r>
            <a:r>
              <a:rPr lang="en-US" altLang="zh-CN" sz="2400" b="1" dirty="0">
                <a:solidFill>
                  <a:srgbClr val="0070C0"/>
                </a:solidFill>
                <a:latin typeface="微软雅黑" panose="020B0503020204020204" pitchFamily="34" charset="-122"/>
                <a:ea typeface="微软雅黑" panose="020B0503020204020204" pitchFamily="34" charset="-122"/>
                <a:sym typeface="+mn-ea"/>
              </a:rPr>
              <a:t>4</a:t>
            </a:r>
            <a:r>
              <a:rPr lang="zh-CN" altLang="en-US" sz="2400" b="1" dirty="0">
                <a:solidFill>
                  <a:srgbClr val="0070C0"/>
                </a:solidFill>
                <a:latin typeface="微软雅黑" panose="020B0503020204020204" pitchFamily="34" charset="-122"/>
                <a:ea typeface="微软雅黑" panose="020B0503020204020204" pitchFamily="34" charset="-122"/>
                <a:sym typeface="+mn-ea"/>
              </a:rPr>
              <a:t>月）</a:t>
            </a:r>
            <a:endParaRPr lang="zh-CN" altLang="en-US" sz="2400" b="1" dirty="0">
              <a:solidFill>
                <a:srgbClr val="0070C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830788" y="1088096"/>
            <a:ext cx="10441160" cy="646331"/>
          </a:xfrm>
          <a:prstGeom prst="rect">
            <a:avLst/>
          </a:prstGeom>
          <a:noFill/>
        </p:spPr>
        <p:txBody>
          <a:bodyPr wrap="square" rtlCol="0">
            <a:spAutoFit/>
          </a:bodyPr>
          <a:lstStyle/>
          <a:p>
            <a:r>
              <a:rPr lang="zh-CN" altLang="en-US" b="1" dirty="0"/>
              <a:t>一、校外教学管理平台（校友邦）任务</a:t>
            </a:r>
            <a:r>
              <a:rPr lang="en-US" altLang="zh-CN" b="1" dirty="0"/>
              <a:t>【https://www.xybsyw.com/common.html#/</a:t>
            </a:r>
            <a:r>
              <a:rPr lang="en-US" altLang="zh-CN" b="1" dirty="0" err="1"/>
              <a:t>login?paramLoginType</a:t>
            </a:r>
            <a:r>
              <a:rPr lang="en-US" altLang="zh-CN" b="1" dirty="0"/>
              <a:t>=PERSON】</a:t>
            </a:r>
            <a:endParaRPr lang="en-US" altLang="zh-CN" b="1" dirty="0"/>
          </a:p>
        </p:txBody>
      </p:sp>
      <p:sp>
        <p:nvSpPr>
          <p:cNvPr id="9" name="矩形: 圆角 8"/>
          <p:cNvSpPr/>
          <p:nvPr/>
        </p:nvSpPr>
        <p:spPr>
          <a:xfrm>
            <a:off x="842568" y="1942746"/>
            <a:ext cx="3512564" cy="448281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nSpc>
                <a:spcPct val="150000"/>
              </a:lnSpc>
            </a:pPr>
            <a:endParaRPr lang="en-US" altLang="zh-CN" sz="1400" dirty="0">
              <a:latin typeface="+mn-ea"/>
            </a:endParaRPr>
          </a:p>
          <a:p>
            <a:pPr>
              <a:lnSpc>
                <a:spcPct val="150000"/>
              </a:lnSpc>
            </a:pPr>
            <a:endParaRPr lang="en-US" altLang="zh-CN" sz="1400" dirty="0">
              <a:latin typeface="+mn-ea"/>
            </a:endParaRPr>
          </a:p>
          <a:p>
            <a:pPr>
              <a:lnSpc>
                <a:spcPct val="150000"/>
              </a:lnSpc>
            </a:pPr>
            <a:endParaRPr lang="en-US" altLang="zh-CN" sz="1400" dirty="0">
              <a:latin typeface="+mn-ea"/>
            </a:endParaRPr>
          </a:p>
          <a:p>
            <a:pPr>
              <a:lnSpc>
                <a:spcPct val="150000"/>
              </a:lnSpc>
            </a:pPr>
            <a:endParaRPr lang="en-US" altLang="zh-CN" sz="1400" dirty="0">
              <a:latin typeface="+mn-ea"/>
            </a:endParaRPr>
          </a:p>
          <a:p>
            <a:pPr>
              <a:lnSpc>
                <a:spcPct val="150000"/>
              </a:lnSpc>
            </a:pPr>
            <a:endParaRPr lang="en-US" altLang="zh-CN" sz="1400" dirty="0">
              <a:latin typeface="+mn-ea"/>
            </a:endParaRPr>
          </a:p>
          <a:p>
            <a:pPr>
              <a:lnSpc>
                <a:spcPct val="150000"/>
              </a:lnSpc>
            </a:pPr>
            <a:endParaRPr lang="en-US" altLang="zh-CN" sz="1400" dirty="0">
              <a:latin typeface="+mn-ea"/>
            </a:endParaRPr>
          </a:p>
        </p:txBody>
      </p:sp>
      <p:sp>
        <p:nvSpPr>
          <p:cNvPr id="12" name="椭圆 11"/>
          <p:cNvSpPr/>
          <p:nvPr/>
        </p:nvSpPr>
        <p:spPr>
          <a:xfrm>
            <a:off x="1386677" y="1664872"/>
            <a:ext cx="1987420" cy="540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学生</a:t>
            </a:r>
            <a:endParaRPr lang="zh-CN" altLang="en-US" dirty="0"/>
          </a:p>
        </p:txBody>
      </p:sp>
      <p:sp>
        <p:nvSpPr>
          <p:cNvPr id="15" name="矩形: 圆角 14"/>
          <p:cNvSpPr/>
          <p:nvPr/>
        </p:nvSpPr>
        <p:spPr>
          <a:xfrm>
            <a:off x="4447537" y="1898189"/>
            <a:ext cx="6591990" cy="448281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nSpc>
                <a:spcPct val="150000"/>
              </a:lnSpc>
            </a:pPr>
            <a:endParaRPr lang="zh-CN" altLang="en-US" sz="1400" dirty="0">
              <a:latin typeface="+mn-ea"/>
            </a:endParaRPr>
          </a:p>
        </p:txBody>
      </p:sp>
      <p:sp>
        <p:nvSpPr>
          <p:cNvPr id="16" name="椭圆 15"/>
          <p:cNvSpPr/>
          <p:nvPr/>
        </p:nvSpPr>
        <p:spPr>
          <a:xfrm>
            <a:off x="6384032" y="1622402"/>
            <a:ext cx="2251882" cy="564276"/>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校内指导老师</a:t>
            </a:r>
            <a:endParaRPr lang="zh-CN" altLang="en-US" dirty="0"/>
          </a:p>
        </p:txBody>
      </p:sp>
      <p:grpSp>
        <p:nvGrpSpPr>
          <p:cNvPr id="19" name="组合 18"/>
          <p:cNvGrpSpPr/>
          <p:nvPr/>
        </p:nvGrpSpPr>
        <p:grpSpPr>
          <a:xfrm>
            <a:off x="870870" y="2272009"/>
            <a:ext cx="3396974" cy="3466258"/>
            <a:chOff x="870870" y="2272009"/>
            <a:chExt cx="3396974" cy="3466258"/>
          </a:xfrm>
        </p:grpSpPr>
        <p:sp>
          <p:nvSpPr>
            <p:cNvPr id="34" name="矩形 33"/>
            <p:cNvSpPr/>
            <p:nvPr/>
          </p:nvSpPr>
          <p:spPr>
            <a:xfrm>
              <a:off x="883468" y="2272009"/>
              <a:ext cx="3384376" cy="300542"/>
            </a:xfrm>
            <a:prstGeom prst="rect">
              <a:avLst/>
            </a:prstGeom>
            <a:ln w="3175"/>
          </p:spPr>
          <p:style>
            <a:lnRef idx="2">
              <a:schemeClr val="accent1"/>
            </a:lnRef>
            <a:fillRef idx="1">
              <a:schemeClr val="lt1"/>
            </a:fillRef>
            <a:effectRef idx="0">
              <a:schemeClr val="accent1"/>
            </a:effectRef>
            <a:fontRef idx="minor">
              <a:schemeClr val="dk1"/>
            </a:fontRef>
          </p:style>
          <p:txBody>
            <a:bodyPr rtlCol="0" anchor="ctr"/>
            <a:lstStyle/>
            <a:p>
              <a:r>
                <a:rPr lang="en-US" altLang="zh-CN" sz="1600" dirty="0"/>
                <a:t>1.</a:t>
              </a:r>
              <a:r>
                <a:rPr lang="zh-CN" altLang="en-US" sz="1600" dirty="0"/>
                <a:t>注册账号，学籍认证</a:t>
              </a:r>
              <a:endParaRPr lang="zh-CN" altLang="en-US" sz="1600" dirty="0"/>
            </a:p>
          </p:txBody>
        </p:sp>
        <p:sp>
          <p:nvSpPr>
            <p:cNvPr id="36" name="矩形 35"/>
            <p:cNvSpPr/>
            <p:nvPr/>
          </p:nvSpPr>
          <p:spPr>
            <a:xfrm>
              <a:off x="883137" y="2633908"/>
              <a:ext cx="3384376" cy="300542"/>
            </a:xfrm>
            <a:prstGeom prst="rect">
              <a:avLst/>
            </a:prstGeom>
            <a:ln w="3175"/>
          </p:spPr>
          <p:style>
            <a:lnRef idx="2">
              <a:schemeClr val="accent1"/>
            </a:lnRef>
            <a:fillRef idx="1">
              <a:schemeClr val="lt1"/>
            </a:fillRef>
            <a:effectRef idx="0">
              <a:schemeClr val="accent1"/>
            </a:effectRef>
            <a:fontRef idx="minor">
              <a:schemeClr val="dk1"/>
            </a:fontRef>
          </p:style>
          <p:txBody>
            <a:bodyPr rtlCol="0" anchor="ctr"/>
            <a:lstStyle/>
            <a:p>
              <a:r>
                <a:rPr lang="en-US" altLang="zh-CN" sz="1600" dirty="0"/>
                <a:t>2</a:t>
              </a:r>
              <a:r>
                <a:rPr lang="en-US" altLang="zh-CN" sz="1600" dirty="0">
                  <a:solidFill>
                    <a:srgbClr val="FF0000"/>
                  </a:solidFill>
                </a:rPr>
                <a:t>.</a:t>
              </a:r>
              <a:r>
                <a:rPr lang="zh-CN" altLang="en-US" sz="1600" dirty="0">
                  <a:solidFill>
                    <a:srgbClr val="FF0000"/>
                  </a:solidFill>
                  <a:highlight>
                    <a:srgbClr val="FFFF00"/>
                  </a:highlight>
                </a:rPr>
                <a:t>电脑端</a:t>
              </a:r>
              <a:r>
                <a:rPr lang="zh-CN" altLang="en-US" sz="1600" dirty="0"/>
                <a:t>提交预实习报告</a:t>
              </a:r>
              <a:endParaRPr lang="zh-CN" altLang="en-US" sz="1600" dirty="0"/>
            </a:p>
          </p:txBody>
        </p:sp>
        <p:sp>
          <p:nvSpPr>
            <p:cNvPr id="37" name="矩形 36"/>
            <p:cNvSpPr/>
            <p:nvPr/>
          </p:nvSpPr>
          <p:spPr>
            <a:xfrm>
              <a:off x="870870" y="3006998"/>
              <a:ext cx="3384376" cy="300542"/>
            </a:xfrm>
            <a:prstGeom prst="rect">
              <a:avLst/>
            </a:prstGeom>
            <a:ln w="3175"/>
          </p:spPr>
          <p:style>
            <a:lnRef idx="2">
              <a:schemeClr val="accent1"/>
            </a:lnRef>
            <a:fillRef idx="1">
              <a:schemeClr val="lt1"/>
            </a:fillRef>
            <a:effectRef idx="0">
              <a:schemeClr val="accent1"/>
            </a:effectRef>
            <a:fontRef idx="minor">
              <a:schemeClr val="dk1"/>
            </a:fontRef>
          </p:style>
          <p:txBody>
            <a:bodyPr rtlCol="0" anchor="ctr"/>
            <a:lstStyle/>
            <a:p>
              <a:r>
                <a:rPr lang="en-US" altLang="zh-CN" sz="1600" dirty="0"/>
                <a:t>3. </a:t>
              </a:r>
              <a:r>
                <a:rPr lang="zh-CN" altLang="en-US" sz="1600" dirty="0"/>
                <a:t>实习报名</a:t>
              </a:r>
              <a:endParaRPr lang="zh-CN" altLang="en-US" sz="1600" dirty="0"/>
            </a:p>
          </p:txBody>
        </p:sp>
        <p:sp>
          <p:nvSpPr>
            <p:cNvPr id="38" name="矩形 37"/>
            <p:cNvSpPr/>
            <p:nvPr/>
          </p:nvSpPr>
          <p:spPr>
            <a:xfrm>
              <a:off x="870871" y="3352906"/>
              <a:ext cx="3384376" cy="468516"/>
            </a:xfrm>
            <a:prstGeom prst="rect">
              <a:avLst/>
            </a:prstGeom>
            <a:ln w="3175"/>
          </p:spPr>
          <p:style>
            <a:lnRef idx="2">
              <a:schemeClr val="accent1"/>
            </a:lnRef>
            <a:fillRef idx="1">
              <a:schemeClr val="lt1"/>
            </a:fillRef>
            <a:effectRef idx="0">
              <a:schemeClr val="accent1"/>
            </a:effectRef>
            <a:fontRef idx="minor">
              <a:schemeClr val="dk1"/>
            </a:fontRef>
          </p:style>
          <p:txBody>
            <a:bodyPr rtlCol="0" anchor="ctr"/>
            <a:lstStyle/>
            <a:p>
              <a:r>
                <a:rPr lang="en-US" altLang="zh-CN" sz="1400" dirty="0">
                  <a:latin typeface="+mn-ea"/>
                </a:rPr>
                <a:t>4.</a:t>
              </a:r>
              <a:r>
                <a:rPr lang="zh-CN" altLang="en-US" sz="1400" dirty="0">
                  <a:latin typeface="+mn-ea"/>
                </a:rPr>
                <a:t>提交监护人知情同意书</a:t>
              </a:r>
              <a:endParaRPr lang="zh-CN" altLang="en-US" sz="1400" dirty="0">
                <a:latin typeface="+mn-ea"/>
              </a:endParaRPr>
            </a:p>
            <a:p>
              <a:r>
                <a:rPr lang="zh-CN" altLang="en-US" sz="1400" dirty="0">
                  <a:solidFill>
                    <a:srgbClr val="FF0000"/>
                  </a:solidFill>
                  <a:latin typeface="+mn-ea"/>
                </a:rPr>
                <a:t>（监护人签字后，学生将同意书拍照上传）</a:t>
              </a:r>
              <a:endParaRPr lang="zh-CN" altLang="en-US" sz="1400" dirty="0">
                <a:solidFill>
                  <a:srgbClr val="FF0000"/>
                </a:solidFill>
                <a:latin typeface="+mn-ea"/>
              </a:endParaRPr>
            </a:p>
          </p:txBody>
        </p:sp>
        <p:sp>
          <p:nvSpPr>
            <p:cNvPr id="4" name="矩形 3"/>
            <p:cNvSpPr/>
            <p:nvPr/>
          </p:nvSpPr>
          <p:spPr>
            <a:xfrm>
              <a:off x="877735" y="3892257"/>
              <a:ext cx="3384376" cy="454752"/>
            </a:xfrm>
            <a:prstGeom prst="rect">
              <a:avLst/>
            </a:prstGeom>
            <a:ln w="3175"/>
          </p:spPr>
          <p:style>
            <a:lnRef idx="2">
              <a:schemeClr val="accent1"/>
            </a:lnRef>
            <a:fillRef idx="1">
              <a:schemeClr val="lt1"/>
            </a:fillRef>
            <a:effectRef idx="0">
              <a:schemeClr val="accent1"/>
            </a:effectRef>
            <a:fontRef idx="minor">
              <a:schemeClr val="dk1"/>
            </a:fontRef>
          </p:style>
          <p:txBody>
            <a:bodyPr rtlCol="0" anchor="ctr"/>
            <a:lstStyle/>
            <a:p>
              <a:r>
                <a:rPr lang="en-US" altLang="zh-CN" sz="1400" dirty="0">
                  <a:latin typeface="+mn-ea"/>
                </a:rPr>
                <a:t>5.</a:t>
              </a:r>
              <a:r>
                <a:rPr lang="zh-CN" altLang="en-US" sz="1400" dirty="0">
                  <a:latin typeface="+mn-ea"/>
                </a:rPr>
                <a:t>提交三方协议</a:t>
              </a:r>
              <a:endParaRPr lang="zh-CN" altLang="en-US" sz="1400" dirty="0">
                <a:latin typeface="+mn-ea"/>
              </a:endParaRPr>
            </a:p>
            <a:p>
              <a:r>
                <a:rPr lang="zh-CN" altLang="en-US" sz="1400" dirty="0">
                  <a:solidFill>
                    <a:srgbClr val="FF0000"/>
                  </a:solidFill>
                  <a:latin typeface="+mn-ea"/>
                </a:rPr>
                <a:t>（实习单位盖章，学生签名后拍照上传）</a:t>
              </a:r>
              <a:endParaRPr lang="zh-CN" altLang="en-US" sz="1400" dirty="0">
                <a:solidFill>
                  <a:srgbClr val="FF0000"/>
                </a:solidFill>
                <a:latin typeface="+mn-ea"/>
              </a:endParaRPr>
            </a:p>
          </p:txBody>
        </p:sp>
        <p:sp>
          <p:nvSpPr>
            <p:cNvPr id="11" name="矩形 10"/>
            <p:cNvSpPr/>
            <p:nvPr/>
          </p:nvSpPr>
          <p:spPr>
            <a:xfrm>
              <a:off x="870870" y="4389460"/>
              <a:ext cx="3384376" cy="300542"/>
            </a:xfrm>
            <a:prstGeom prst="rect">
              <a:avLst/>
            </a:prstGeom>
            <a:ln w="3175"/>
          </p:spPr>
          <p:style>
            <a:lnRef idx="2">
              <a:schemeClr val="accent1"/>
            </a:lnRef>
            <a:fillRef idx="1">
              <a:schemeClr val="lt1"/>
            </a:fillRef>
            <a:effectRef idx="0">
              <a:schemeClr val="accent1"/>
            </a:effectRef>
            <a:fontRef idx="minor">
              <a:schemeClr val="dk1"/>
            </a:fontRef>
          </p:style>
          <p:txBody>
            <a:bodyPr rtlCol="0" anchor="ctr"/>
            <a:lstStyle/>
            <a:p>
              <a:r>
                <a:rPr lang="en-US" altLang="zh-CN" sz="1600" dirty="0"/>
                <a:t>6. </a:t>
              </a:r>
              <a:r>
                <a:rPr lang="zh-CN" altLang="en-US" sz="1600" dirty="0"/>
                <a:t>签到（实习单位打卡）</a:t>
              </a:r>
              <a:endParaRPr lang="zh-CN" altLang="en-US" sz="1600" dirty="0"/>
            </a:p>
          </p:txBody>
        </p:sp>
        <p:sp>
          <p:nvSpPr>
            <p:cNvPr id="13" name="矩形 12"/>
            <p:cNvSpPr/>
            <p:nvPr/>
          </p:nvSpPr>
          <p:spPr>
            <a:xfrm>
              <a:off x="870870" y="4732453"/>
              <a:ext cx="3384376" cy="300542"/>
            </a:xfrm>
            <a:prstGeom prst="rect">
              <a:avLst/>
            </a:prstGeom>
            <a:ln w="3175"/>
          </p:spPr>
          <p:style>
            <a:lnRef idx="2">
              <a:schemeClr val="accent1"/>
            </a:lnRef>
            <a:fillRef idx="1">
              <a:schemeClr val="lt1"/>
            </a:fillRef>
            <a:effectRef idx="0">
              <a:schemeClr val="accent1"/>
            </a:effectRef>
            <a:fontRef idx="minor">
              <a:schemeClr val="dk1"/>
            </a:fontRef>
          </p:style>
          <p:txBody>
            <a:bodyPr rtlCol="0" anchor="ctr"/>
            <a:lstStyle/>
            <a:p>
              <a:r>
                <a:rPr lang="en-US" altLang="zh-CN" sz="1600" dirty="0"/>
                <a:t>7. </a:t>
              </a:r>
              <a:r>
                <a:rPr lang="zh-CN" altLang="en-US" sz="1600" dirty="0"/>
                <a:t>写周志（</a:t>
              </a:r>
              <a:r>
                <a:rPr lang="en-US" altLang="zh-CN" sz="1600" dirty="0"/>
                <a:t>20</a:t>
              </a:r>
              <a:r>
                <a:rPr lang="zh-CN" altLang="en-US" sz="1600" dirty="0"/>
                <a:t>篇）</a:t>
              </a:r>
              <a:endParaRPr lang="zh-CN" altLang="en-US" sz="1600" dirty="0"/>
            </a:p>
          </p:txBody>
        </p:sp>
        <p:sp>
          <p:nvSpPr>
            <p:cNvPr id="14" name="矩形 13"/>
            <p:cNvSpPr/>
            <p:nvPr/>
          </p:nvSpPr>
          <p:spPr>
            <a:xfrm>
              <a:off x="877735" y="5085089"/>
              <a:ext cx="3384376" cy="300542"/>
            </a:xfrm>
            <a:prstGeom prst="rect">
              <a:avLst/>
            </a:prstGeom>
            <a:ln w="3175"/>
          </p:spPr>
          <p:style>
            <a:lnRef idx="2">
              <a:schemeClr val="accent1"/>
            </a:lnRef>
            <a:fillRef idx="1">
              <a:schemeClr val="lt1"/>
            </a:fillRef>
            <a:effectRef idx="0">
              <a:schemeClr val="accent1"/>
            </a:effectRef>
            <a:fontRef idx="minor">
              <a:schemeClr val="dk1"/>
            </a:fontRef>
          </p:style>
          <p:txBody>
            <a:bodyPr rtlCol="0" anchor="ctr"/>
            <a:lstStyle/>
            <a:p>
              <a:r>
                <a:rPr lang="en-US" altLang="zh-CN" sz="1600" dirty="0"/>
                <a:t>8. </a:t>
              </a:r>
              <a:r>
                <a:rPr lang="zh-CN" altLang="en-US" sz="1600" dirty="0"/>
                <a:t>提交实习评价</a:t>
              </a:r>
              <a:endParaRPr lang="zh-CN" altLang="en-US" sz="1600" dirty="0"/>
            </a:p>
          </p:txBody>
        </p:sp>
        <p:sp>
          <p:nvSpPr>
            <p:cNvPr id="17" name="矩形 16"/>
            <p:cNvSpPr/>
            <p:nvPr/>
          </p:nvSpPr>
          <p:spPr>
            <a:xfrm>
              <a:off x="880827" y="5437725"/>
              <a:ext cx="3384376" cy="300542"/>
            </a:xfrm>
            <a:prstGeom prst="rect">
              <a:avLst/>
            </a:prstGeom>
            <a:ln w="3175"/>
          </p:spPr>
          <p:style>
            <a:lnRef idx="2">
              <a:schemeClr val="accent1"/>
            </a:lnRef>
            <a:fillRef idx="1">
              <a:schemeClr val="lt1"/>
            </a:fillRef>
            <a:effectRef idx="0">
              <a:schemeClr val="accent1"/>
            </a:effectRef>
            <a:fontRef idx="minor">
              <a:schemeClr val="dk1"/>
            </a:fontRef>
          </p:style>
          <p:txBody>
            <a:bodyPr rtlCol="0" anchor="ctr"/>
            <a:lstStyle/>
            <a:p>
              <a:r>
                <a:rPr lang="en-US" altLang="zh-CN" sz="1600" dirty="0"/>
                <a:t>9. </a:t>
              </a:r>
              <a:r>
                <a:rPr lang="zh-CN" altLang="en-US" sz="1600" dirty="0"/>
                <a:t>提交实习作业及报告</a:t>
              </a:r>
              <a:r>
                <a:rPr lang="zh-CN" altLang="en-US" sz="1600" dirty="0">
                  <a:solidFill>
                    <a:srgbClr val="FF0000"/>
                  </a:solidFill>
                  <a:highlight>
                    <a:srgbClr val="FFFF00"/>
                  </a:highlight>
                </a:rPr>
                <a:t>（电脑端）</a:t>
              </a:r>
              <a:endParaRPr lang="zh-CN" altLang="en-US" sz="1600" dirty="0">
                <a:solidFill>
                  <a:srgbClr val="FF0000"/>
                </a:solidFill>
                <a:highlight>
                  <a:srgbClr val="FFFF00"/>
                </a:highlight>
              </a:endParaRPr>
            </a:p>
          </p:txBody>
        </p:sp>
      </p:grpSp>
      <p:sp>
        <p:nvSpPr>
          <p:cNvPr id="18" name="矩形 17"/>
          <p:cNvSpPr/>
          <p:nvPr/>
        </p:nvSpPr>
        <p:spPr>
          <a:xfrm>
            <a:off x="870870" y="5780718"/>
            <a:ext cx="3384376" cy="300542"/>
          </a:xfrm>
          <a:prstGeom prst="rect">
            <a:avLst/>
          </a:prstGeom>
          <a:ln w="3175"/>
        </p:spPr>
        <p:style>
          <a:lnRef idx="2">
            <a:schemeClr val="accent1"/>
          </a:lnRef>
          <a:fillRef idx="1">
            <a:schemeClr val="lt1"/>
          </a:fillRef>
          <a:effectRef idx="0">
            <a:schemeClr val="accent1"/>
          </a:effectRef>
          <a:fontRef idx="minor">
            <a:schemeClr val="dk1"/>
          </a:fontRef>
        </p:style>
        <p:txBody>
          <a:bodyPr rtlCol="0" anchor="ctr"/>
          <a:lstStyle/>
          <a:p>
            <a:r>
              <a:rPr lang="en-US" altLang="zh-CN" sz="1600" dirty="0"/>
              <a:t>10.</a:t>
            </a:r>
            <a:r>
              <a:rPr lang="zh-CN" altLang="en-US" sz="1600" dirty="0"/>
              <a:t>成绩鉴定表</a:t>
            </a:r>
            <a:endParaRPr lang="zh-CN" altLang="en-US" sz="1600" dirty="0"/>
          </a:p>
        </p:txBody>
      </p:sp>
      <p:sp>
        <p:nvSpPr>
          <p:cNvPr id="20" name="矩形 19"/>
          <p:cNvSpPr/>
          <p:nvPr/>
        </p:nvSpPr>
        <p:spPr>
          <a:xfrm>
            <a:off x="4552297" y="2233215"/>
            <a:ext cx="6233579" cy="338988"/>
          </a:xfrm>
          <a:prstGeom prst="rect">
            <a:avLst/>
          </a:prstGeom>
          <a:ln w="6350"/>
        </p:spPr>
        <p:style>
          <a:lnRef idx="2">
            <a:schemeClr val="accent2"/>
          </a:lnRef>
          <a:fillRef idx="1">
            <a:schemeClr val="lt1"/>
          </a:fillRef>
          <a:effectRef idx="0">
            <a:schemeClr val="accent2"/>
          </a:effectRef>
          <a:fontRef idx="minor">
            <a:schemeClr val="dk1"/>
          </a:fontRef>
        </p:style>
        <p:txBody>
          <a:bodyPr rtlCol="0" anchor="ctr"/>
          <a:lstStyle/>
          <a:p>
            <a:r>
              <a:rPr lang="en-US" altLang="zh-CN" sz="1400" dirty="0">
                <a:latin typeface="+mn-ea"/>
              </a:rPr>
              <a:t>1.</a:t>
            </a:r>
            <a:r>
              <a:rPr lang="zh-CN" altLang="en-US" sz="1400" dirty="0">
                <a:latin typeface="+mn-ea"/>
              </a:rPr>
              <a:t>院级管理员将校内指导老师信息导进校友邦</a:t>
            </a:r>
            <a:endParaRPr lang="zh-CN" altLang="en-US" sz="1400" dirty="0">
              <a:solidFill>
                <a:srgbClr val="FF0000"/>
              </a:solidFill>
              <a:latin typeface="+mn-ea"/>
            </a:endParaRPr>
          </a:p>
        </p:txBody>
      </p:sp>
      <p:sp>
        <p:nvSpPr>
          <p:cNvPr id="21" name="矩形 20"/>
          <p:cNvSpPr/>
          <p:nvPr/>
        </p:nvSpPr>
        <p:spPr>
          <a:xfrm>
            <a:off x="4538571" y="2668802"/>
            <a:ext cx="6247305" cy="265648"/>
          </a:xfrm>
          <a:prstGeom prst="rect">
            <a:avLst/>
          </a:prstGeom>
          <a:ln w="6350"/>
        </p:spPr>
        <p:style>
          <a:lnRef idx="2">
            <a:schemeClr val="accent2"/>
          </a:lnRef>
          <a:fillRef idx="1">
            <a:schemeClr val="lt1"/>
          </a:fillRef>
          <a:effectRef idx="0">
            <a:schemeClr val="accent2"/>
          </a:effectRef>
          <a:fontRef idx="minor">
            <a:schemeClr val="dk1"/>
          </a:fontRef>
        </p:style>
        <p:txBody>
          <a:bodyPr rtlCol="0" anchor="ctr"/>
          <a:lstStyle/>
          <a:p>
            <a:r>
              <a:rPr lang="en-US" altLang="zh-CN" sz="1400" dirty="0">
                <a:latin typeface="+mn-ea"/>
              </a:rPr>
              <a:t>2.</a:t>
            </a:r>
            <a:r>
              <a:rPr lang="zh-CN" altLang="en-US" sz="1400" dirty="0">
                <a:latin typeface="+mn-ea"/>
              </a:rPr>
              <a:t>批阅学生提交的预实习报告</a:t>
            </a:r>
            <a:endParaRPr lang="zh-CN" altLang="en-US" sz="1400" dirty="0">
              <a:latin typeface="+mn-ea"/>
            </a:endParaRPr>
          </a:p>
        </p:txBody>
      </p:sp>
      <p:sp>
        <p:nvSpPr>
          <p:cNvPr id="22" name="矩形 21"/>
          <p:cNvSpPr/>
          <p:nvPr/>
        </p:nvSpPr>
        <p:spPr>
          <a:xfrm>
            <a:off x="4538571" y="3018665"/>
            <a:ext cx="6247305" cy="305601"/>
          </a:xfrm>
          <a:prstGeom prst="rect">
            <a:avLst/>
          </a:prstGeom>
          <a:ln w="6350"/>
        </p:spPr>
        <p:style>
          <a:lnRef idx="2">
            <a:schemeClr val="accent2"/>
          </a:lnRef>
          <a:fillRef idx="1">
            <a:schemeClr val="lt1"/>
          </a:fillRef>
          <a:effectRef idx="0">
            <a:schemeClr val="accent2"/>
          </a:effectRef>
          <a:fontRef idx="minor">
            <a:schemeClr val="dk1"/>
          </a:fontRef>
        </p:style>
        <p:txBody>
          <a:bodyPr rtlCol="0" anchor="ctr"/>
          <a:lstStyle/>
          <a:p>
            <a:r>
              <a:rPr lang="en-US" altLang="zh-CN" sz="1400">
                <a:latin typeface="+mn-ea"/>
              </a:rPr>
              <a:t>3.</a:t>
            </a:r>
            <a:r>
              <a:rPr lang="zh-CN" altLang="en-US" sz="1400">
                <a:latin typeface="+mn-ea"/>
              </a:rPr>
              <a:t>报名审核</a:t>
            </a:r>
            <a:endParaRPr lang="zh-CN" altLang="en-US" sz="1400" dirty="0">
              <a:latin typeface="+mn-ea"/>
            </a:endParaRPr>
          </a:p>
        </p:txBody>
      </p:sp>
      <p:sp>
        <p:nvSpPr>
          <p:cNvPr id="23" name="矩形 22"/>
          <p:cNvSpPr/>
          <p:nvPr/>
        </p:nvSpPr>
        <p:spPr>
          <a:xfrm>
            <a:off x="4552297" y="3391416"/>
            <a:ext cx="6254796" cy="391312"/>
          </a:xfrm>
          <a:prstGeom prst="rect">
            <a:avLst/>
          </a:prstGeom>
          <a:ln w="6350"/>
        </p:spPr>
        <p:style>
          <a:lnRef idx="2">
            <a:schemeClr val="accent2"/>
          </a:lnRef>
          <a:fillRef idx="1">
            <a:schemeClr val="lt1"/>
          </a:fillRef>
          <a:effectRef idx="0">
            <a:schemeClr val="accent2"/>
          </a:effectRef>
          <a:fontRef idx="minor">
            <a:schemeClr val="dk1"/>
          </a:fontRef>
        </p:style>
        <p:txBody>
          <a:bodyPr rtlCol="0" anchor="ctr"/>
          <a:lstStyle/>
          <a:p>
            <a:r>
              <a:rPr lang="en-US" altLang="zh-CN" sz="1400" dirty="0">
                <a:latin typeface="+mn-ea"/>
              </a:rPr>
              <a:t>4.</a:t>
            </a:r>
            <a:r>
              <a:rPr lang="zh-CN" altLang="en-US" sz="1400" dirty="0">
                <a:latin typeface="+mn-ea"/>
              </a:rPr>
              <a:t>查看知情同意书</a:t>
            </a:r>
            <a:endParaRPr lang="zh-CN" altLang="en-US" sz="1400" dirty="0">
              <a:latin typeface="+mn-ea"/>
            </a:endParaRPr>
          </a:p>
        </p:txBody>
      </p:sp>
      <p:sp>
        <p:nvSpPr>
          <p:cNvPr id="24" name="矩形 23"/>
          <p:cNvSpPr/>
          <p:nvPr/>
        </p:nvSpPr>
        <p:spPr>
          <a:xfrm>
            <a:off x="4552297" y="3883233"/>
            <a:ext cx="6254796" cy="463775"/>
          </a:xfrm>
          <a:prstGeom prst="rect">
            <a:avLst/>
          </a:prstGeom>
          <a:ln w="6350"/>
        </p:spPr>
        <p:style>
          <a:lnRef idx="2">
            <a:schemeClr val="accent2"/>
          </a:lnRef>
          <a:fillRef idx="1">
            <a:schemeClr val="lt1"/>
          </a:fillRef>
          <a:effectRef idx="0">
            <a:schemeClr val="accent2"/>
          </a:effectRef>
          <a:fontRef idx="minor">
            <a:schemeClr val="dk1"/>
          </a:fontRef>
        </p:style>
        <p:txBody>
          <a:bodyPr rtlCol="0" anchor="ctr"/>
          <a:lstStyle/>
          <a:p>
            <a:r>
              <a:rPr lang="en-US" altLang="zh-CN" sz="1400" dirty="0">
                <a:latin typeface="+mn-ea"/>
              </a:rPr>
              <a:t>5.</a:t>
            </a:r>
            <a:r>
              <a:rPr lang="zh-CN" altLang="en-US" sz="1400" dirty="0">
                <a:latin typeface="+mn-ea"/>
              </a:rPr>
              <a:t>审核三方协议</a:t>
            </a:r>
            <a:endParaRPr lang="zh-CN" altLang="en-US" sz="1400" dirty="0">
              <a:latin typeface="+mn-ea"/>
            </a:endParaRPr>
          </a:p>
        </p:txBody>
      </p:sp>
      <p:sp>
        <p:nvSpPr>
          <p:cNvPr id="25" name="矩形 24"/>
          <p:cNvSpPr/>
          <p:nvPr/>
        </p:nvSpPr>
        <p:spPr>
          <a:xfrm>
            <a:off x="4552297" y="4424541"/>
            <a:ext cx="6254796" cy="239726"/>
          </a:xfrm>
          <a:prstGeom prst="rect">
            <a:avLst/>
          </a:prstGeom>
          <a:ln w="6350"/>
        </p:spPr>
        <p:style>
          <a:lnRef idx="2">
            <a:schemeClr val="accent2"/>
          </a:lnRef>
          <a:fillRef idx="1">
            <a:schemeClr val="lt1"/>
          </a:fillRef>
          <a:effectRef idx="0">
            <a:schemeClr val="accent2"/>
          </a:effectRef>
          <a:fontRef idx="minor">
            <a:schemeClr val="dk1"/>
          </a:fontRef>
        </p:style>
        <p:txBody>
          <a:bodyPr rtlCol="0" anchor="ctr"/>
          <a:lstStyle/>
          <a:p>
            <a:r>
              <a:rPr lang="en-US" altLang="zh-CN" sz="1400">
                <a:latin typeface="+mn-ea"/>
              </a:rPr>
              <a:t>6. </a:t>
            </a:r>
            <a:r>
              <a:rPr lang="zh-CN" altLang="en-US" sz="1400">
                <a:latin typeface="+mn-ea"/>
              </a:rPr>
              <a:t>查看学生签到统计</a:t>
            </a:r>
            <a:endParaRPr lang="zh-CN" altLang="en-US" sz="1400" dirty="0">
              <a:latin typeface="+mn-ea"/>
            </a:endParaRPr>
          </a:p>
        </p:txBody>
      </p:sp>
      <p:sp>
        <p:nvSpPr>
          <p:cNvPr id="26" name="矩形 25"/>
          <p:cNvSpPr/>
          <p:nvPr/>
        </p:nvSpPr>
        <p:spPr>
          <a:xfrm>
            <a:off x="4538571" y="4732454"/>
            <a:ext cx="6268522" cy="201226"/>
          </a:xfrm>
          <a:prstGeom prst="rect">
            <a:avLst/>
          </a:prstGeom>
          <a:ln w="6350"/>
        </p:spPr>
        <p:style>
          <a:lnRef idx="2">
            <a:schemeClr val="accent2"/>
          </a:lnRef>
          <a:fillRef idx="1">
            <a:schemeClr val="lt1"/>
          </a:fillRef>
          <a:effectRef idx="0">
            <a:schemeClr val="accent2"/>
          </a:effectRef>
          <a:fontRef idx="minor">
            <a:schemeClr val="dk1"/>
          </a:fontRef>
        </p:style>
        <p:txBody>
          <a:bodyPr rtlCol="0" anchor="ctr"/>
          <a:lstStyle/>
          <a:p>
            <a:r>
              <a:rPr lang="en-US" altLang="zh-CN" sz="1400">
                <a:latin typeface="+mn-ea"/>
              </a:rPr>
              <a:t>7.</a:t>
            </a:r>
            <a:r>
              <a:rPr lang="zh-CN" altLang="en-US" sz="1400">
                <a:latin typeface="+mn-ea"/>
              </a:rPr>
              <a:t>周志批阅</a:t>
            </a:r>
            <a:endParaRPr lang="zh-CN" altLang="en-US" sz="1400" dirty="0">
              <a:latin typeface="+mn-ea"/>
            </a:endParaRPr>
          </a:p>
        </p:txBody>
      </p:sp>
      <p:sp>
        <p:nvSpPr>
          <p:cNvPr id="27" name="矩形 26"/>
          <p:cNvSpPr/>
          <p:nvPr/>
        </p:nvSpPr>
        <p:spPr>
          <a:xfrm>
            <a:off x="4552297" y="5032995"/>
            <a:ext cx="6268522" cy="332145"/>
          </a:xfrm>
          <a:prstGeom prst="rect">
            <a:avLst/>
          </a:prstGeom>
          <a:ln w="6350"/>
        </p:spPr>
        <p:style>
          <a:lnRef idx="2">
            <a:schemeClr val="accent2"/>
          </a:lnRef>
          <a:fillRef idx="1">
            <a:schemeClr val="lt1"/>
          </a:fillRef>
          <a:effectRef idx="0">
            <a:schemeClr val="accent2"/>
          </a:effectRef>
          <a:fontRef idx="minor">
            <a:schemeClr val="dk1"/>
          </a:fontRef>
        </p:style>
        <p:txBody>
          <a:bodyPr rtlCol="0" anchor="ctr"/>
          <a:lstStyle/>
          <a:p>
            <a:r>
              <a:rPr lang="en-US" altLang="zh-CN" sz="1400" dirty="0">
                <a:latin typeface="+mn-ea"/>
              </a:rPr>
              <a:t>8.</a:t>
            </a:r>
            <a:r>
              <a:rPr lang="zh-CN" altLang="en-US" sz="1400" dirty="0">
                <a:latin typeface="+mn-ea"/>
              </a:rPr>
              <a:t>提醒学生实习评价</a:t>
            </a:r>
            <a:endParaRPr lang="zh-CN" altLang="en-US" sz="1400" dirty="0">
              <a:latin typeface="+mn-ea"/>
            </a:endParaRPr>
          </a:p>
        </p:txBody>
      </p:sp>
      <p:sp>
        <p:nvSpPr>
          <p:cNvPr id="28" name="矩形 27"/>
          <p:cNvSpPr/>
          <p:nvPr/>
        </p:nvSpPr>
        <p:spPr>
          <a:xfrm>
            <a:off x="4552297" y="5461798"/>
            <a:ext cx="6268522" cy="269506"/>
          </a:xfrm>
          <a:prstGeom prst="rect">
            <a:avLst/>
          </a:prstGeom>
          <a:ln w="6350"/>
        </p:spPr>
        <p:style>
          <a:lnRef idx="2">
            <a:schemeClr val="accent2"/>
          </a:lnRef>
          <a:fillRef idx="1">
            <a:schemeClr val="lt1"/>
          </a:fillRef>
          <a:effectRef idx="0">
            <a:schemeClr val="accent2"/>
          </a:effectRef>
          <a:fontRef idx="minor">
            <a:schemeClr val="dk1"/>
          </a:fontRef>
        </p:style>
        <p:txBody>
          <a:bodyPr rtlCol="0" anchor="ctr"/>
          <a:lstStyle/>
          <a:p>
            <a:r>
              <a:rPr lang="en-US" altLang="zh-CN" sz="1400">
                <a:latin typeface="+mn-ea"/>
              </a:rPr>
              <a:t>9.</a:t>
            </a:r>
            <a:r>
              <a:rPr lang="zh-CN" altLang="en-US" sz="1400">
                <a:latin typeface="+mn-ea"/>
              </a:rPr>
              <a:t>报告批阅</a:t>
            </a:r>
            <a:endParaRPr lang="zh-CN" altLang="en-US" sz="1400" dirty="0">
              <a:latin typeface="+mn-ea"/>
            </a:endParaRPr>
          </a:p>
        </p:txBody>
      </p:sp>
      <p:sp>
        <p:nvSpPr>
          <p:cNvPr id="29" name="矩形 28"/>
          <p:cNvSpPr/>
          <p:nvPr/>
        </p:nvSpPr>
        <p:spPr>
          <a:xfrm>
            <a:off x="4552297" y="5769904"/>
            <a:ext cx="6268522" cy="269506"/>
          </a:xfrm>
          <a:prstGeom prst="rect">
            <a:avLst/>
          </a:prstGeom>
          <a:ln w="6350"/>
        </p:spPr>
        <p:style>
          <a:lnRef idx="2">
            <a:schemeClr val="accent2"/>
          </a:lnRef>
          <a:fillRef idx="1">
            <a:schemeClr val="lt1"/>
          </a:fillRef>
          <a:effectRef idx="0">
            <a:schemeClr val="accent2"/>
          </a:effectRef>
          <a:fontRef idx="minor">
            <a:schemeClr val="dk1"/>
          </a:fontRef>
        </p:style>
        <p:txBody>
          <a:bodyPr rtlCol="0" anchor="ctr"/>
          <a:lstStyle/>
          <a:p>
            <a:r>
              <a:rPr lang="en-US" altLang="zh-CN" sz="1400" dirty="0">
                <a:latin typeface="+mn-ea"/>
              </a:rPr>
              <a:t>10.</a:t>
            </a:r>
            <a:r>
              <a:rPr lang="zh-CN" altLang="en-US" sz="1400" dirty="0">
                <a:latin typeface="+mn-ea"/>
              </a:rPr>
              <a:t>实习成绩鉴定</a:t>
            </a:r>
            <a:endParaRPr lang="zh-CN" altLang="en-US" sz="1400" dirty="0">
              <a:latin typeface="+mn-ea"/>
            </a:endParaRPr>
          </a:p>
        </p:txBody>
      </p:sp>
      <p:cxnSp>
        <p:nvCxnSpPr>
          <p:cNvPr id="31" name="直接箭头连接符 30"/>
          <p:cNvCxnSpPr>
            <a:endCxn id="21" idx="1"/>
          </p:cNvCxnSpPr>
          <p:nvPr/>
        </p:nvCxnSpPr>
        <p:spPr>
          <a:xfrm flipV="1">
            <a:off x="4151784" y="2801626"/>
            <a:ext cx="386787" cy="523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endCxn id="22" idx="1"/>
          </p:cNvCxnSpPr>
          <p:nvPr/>
        </p:nvCxnSpPr>
        <p:spPr>
          <a:xfrm flipV="1">
            <a:off x="4151784" y="3171466"/>
            <a:ext cx="386787" cy="1669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flipV="1">
            <a:off x="4151784" y="3560826"/>
            <a:ext cx="400513" cy="1817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flipV="1">
            <a:off x="4176015" y="4124472"/>
            <a:ext cx="400513" cy="1817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endCxn id="25" idx="1"/>
          </p:cNvCxnSpPr>
          <p:nvPr/>
        </p:nvCxnSpPr>
        <p:spPr>
          <a:xfrm flipV="1">
            <a:off x="4151784" y="4544404"/>
            <a:ext cx="400513" cy="2983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flipV="1">
            <a:off x="4165221" y="4848220"/>
            <a:ext cx="400513" cy="1817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flipV="1">
            <a:off x="4174203" y="5294925"/>
            <a:ext cx="400513" cy="1817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flipV="1">
            <a:off x="4178947" y="5595943"/>
            <a:ext cx="400513" cy="1817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flipV="1">
            <a:off x="4176015" y="5943928"/>
            <a:ext cx="400513" cy="1817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flipV="1">
            <a:off x="11167745" y="5836285"/>
            <a:ext cx="4064000" cy="608965"/>
          </a:xfrm>
          <a:prstGeom prst="rect">
            <a:avLst/>
          </a:prstGeom>
          <a:noFill/>
        </p:spPr>
        <p:txBody>
          <a:bodyPr wrap="square" rtlCol="0">
            <a:noAutofit/>
          </a:bodyPr>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6035" y="4055110"/>
            <a:ext cx="12226290" cy="27863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p>
        </p:txBody>
      </p:sp>
      <p:pic>
        <p:nvPicPr>
          <p:cNvPr id="2" name="图片 1"/>
          <p:cNvPicPr>
            <a:picLocks noChangeAspect="1"/>
          </p:cNvPicPr>
          <p:nvPr/>
        </p:nvPicPr>
        <p:blipFill rotWithShape="1">
          <a:blip r:embed="rId1"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a:xfrm>
            <a:off x="609600" y="52180"/>
            <a:ext cx="10972800" cy="4019317"/>
          </a:xfrm>
          <a:prstGeom prst="rect">
            <a:avLst/>
          </a:prstGeom>
        </p:spPr>
      </p:pic>
      <p:sp>
        <p:nvSpPr>
          <p:cNvPr id="5" name="TextBox 4"/>
          <p:cNvSpPr txBox="1"/>
          <p:nvPr/>
        </p:nvSpPr>
        <p:spPr>
          <a:xfrm>
            <a:off x="842010" y="4480560"/>
            <a:ext cx="10485882" cy="607695"/>
          </a:xfrm>
          <a:prstGeom prst="rect">
            <a:avLst/>
          </a:prstGeom>
          <a:noFill/>
        </p:spPr>
        <p:txBody>
          <a:bodyPr wrap="square" rtlCol="0">
            <a:spAutoFit/>
          </a:bodyPr>
          <a:lstStyle/>
          <a:p>
            <a:pPr algn="ctr"/>
            <a:r>
              <a:rPr lang="en-US" altLang="zh-CN" sz="3360" b="1" dirty="0">
                <a:solidFill>
                  <a:schemeClr val="bg1"/>
                </a:solidFill>
                <a:latin typeface="微软雅黑" panose="020B0503020204020204" pitchFamily="34" charset="-122"/>
                <a:ea typeface="微软雅黑" panose="020B0503020204020204" pitchFamily="34" charset="-122"/>
                <a:cs typeface="宋体" panose="02010600030101010101" pitchFamily="2" charset="-122"/>
              </a:rPr>
              <a:t>2027</a:t>
            </a:r>
            <a:r>
              <a:rPr lang="zh-CN" altLang="en-US" sz="3360" b="1" dirty="0">
                <a:solidFill>
                  <a:schemeClr val="bg1"/>
                </a:solidFill>
                <a:latin typeface="微软雅黑" panose="020B0503020204020204" pitchFamily="34" charset="-122"/>
                <a:ea typeface="微软雅黑" panose="020B0503020204020204" pitchFamily="34" charset="-122"/>
                <a:cs typeface="宋体" panose="02010600030101010101" pitchFamily="2" charset="-122"/>
              </a:rPr>
              <a:t>届指导教师指导任务列表及校友邦操作</a:t>
            </a:r>
            <a:r>
              <a:rPr lang="zh-CN" altLang="en-US" sz="3360" b="1" dirty="0">
                <a:solidFill>
                  <a:schemeClr val="bg1"/>
                </a:solidFill>
                <a:latin typeface="微软雅黑" panose="020B0503020204020204" pitchFamily="34" charset="-122"/>
                <a:ea typeface="微软雅黑" panose="020B0503020204020204" pitchFamily="34" charset="-122"/>
                <a:cs typeface="宋体" panose="02010600030101010101" pitchFamily="2" charset="-122"/>
              </a:rPr>
              <a:t>指南</a:t>
            </a:r>
            <a:endParaRPr lang="zh-CN" altLang="en-US" sz="3360" b="1" dirty="0">
              <a:solidFill>
                <a:schemeClr val="bg1"/>
              </a:solidFill>
              <a:latin typeface="微软雅黑" panose="020B0503020204020204" pitchFamily="34" charset="-122"/>
              <a:ea typeface="微软雅黑" panose="020B0503020204020204" pitchFamily="34" charset="-122"/>
              <a:cs typeface="宋体" panose="02010600030101010101" pitchFamily="2" charset="-122"/>
            </a:endParaRPr>
          </a:p>
        </p:txBody>
      </p:sp>
      <p:cxnSp>
        <p:nvCxnSpPr>
          <p:cNvPr id="6" name="直接连接符 5"/>
          <p:cNvCxnSpPr/>
          <p:nvPr/>
        </p:nvCxnSpPr>
        <p:spPr>
          <a:xfrm>
            <a:off x="2293978" y="5664499"/>
            <a:ext cx="76040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图片 7" descr="C:\Users\SNC\Desktop\3、科技楼.jpg3、科技楼"/>
          <p:cNvPicPr>
            <a:picLocks noChangeAspect="1"/>
          </p:cNvPicPr>
          <p:nvPr/>
        </p:nvPicPr>
        <p:blipFill>
          <a:blip r:embed="rId2"/>
          <a:srcRect/>
          <a:stretch>
            <a:fillRect/>
          </a:stretch>
        </p:blipFill>
        <p:spPr>
          <a:xfrm>
            <a:off x="-26035" y="0"/>
            <a:ext cx="12226290" cy="4097020"/>
          </a:xfrm>
          <a:prstGeom prst="rect">
            <a:avLst/>
          </a:prstGeom>
        </p:spPr>
      </p:pic>
      <p:pic>
        <p:nvPicPr>
          <p:cNvPr id="11" name="Picture 5" descr="D:\WXWork\1688851825229386\Cache\Image\2021-11\logo8.png"/>
          <p:cNvPicPr>
            <a:picLocks noChangeAspect="1" noChangeArrowheads="1"/>
          </p:cNvPicPr>
          <p:nvPr/>
        </p:nvPicPr>
        <p:blipFill>
          <a:blip r:embed="rId3">
            <a:duotone>
              <a:prstClr val="black"/>
              <a:srgbClr val="FF0000">
                <a:tint val="45000"/>
                <a:satMod val="400000"/>
              </a:srgbClr>
            </a:duotone>
            <a:extLst>
              <a:ext uri="{28A0092B-C50C-407E-A947-70E740481C1C}">
                <a14:useLocalDpi xmlns:a14="http://schemas.microsoft.com/office/drawing/2010/main" val="0"/>
              </a:ext>
            </a:extLst>
          </a:blip>
          <a:srcRect/>
          <a:stretch>
            <a:fillRect/>
          </a:stretch>
        </p:blipFill>
        <p:spPr bwMode="auto">
          <a:xfrm>
            <a:off x="5303912" y="188640"/>
            <a:ext cx="6771327" cy="100075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 name="矩形 1"/>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矩形 2"/>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1617798" y="491074"/>
            <a:ext cx="695575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学院实习指导老师实习指导任务及校友邦操作指南</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13" name="文本框 12"/>
          <p:cNvSpPr txBox="1"/>
          <p:nvPr/>
        </p:nvSpPr>
        <p:spPr>
          <a:xfrm>
            <a:off x="662940" y="995045"/>
            <a:ext cx="11528425" cy="43053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0" lang="zh-CN" altLang="en-US"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督促自己所带学生在校友邦完成“校外承诺书及家长回执”上传后进行实习报名</a:t>
            </a:r>
            <a:endParaRPr kumimoji="0" lang="zh-CN" altLang="en-US"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1" name="文本框 10"/>
          <p:cNvSpPr txBox="1"/>
          <p:nvPr/>
        </p:nvSpPr>
        <p:spPr>
          <a:xfrm>
            <a:off x="767080" y="1496060"/>
            <a:ext cx="10137775" cy="47244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1</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）查看自己所带学生“校外实习承诺书及家长回执”提交情况</a:t>
            </a:r>
            <a:endPar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endParaRPr>
          </a:p>
        </p:txBody>
      </p:sp>
      <p:pic>
        <p:nvPicPr>
          <p:cNvPr id="4" name="图片 3"/>
          <p:cNvPicPr>
            <a:picLocks noChangeAspect="1"/>
          </p:cNvPicPr>
          <p:nvPr/>
        </p:nvPicPr>
        <p:blipFill>
          <a:blip r:embed="rId1"/>
          <a:stretch>
            <a:fillRect/>
          </a:stretch>
        </p:blipFill>
        <p:spPr>
          <a:xfrm>
            <a:off x="69850" y="2026285"/>
            <a:ext cx="12022455" cy="4886325"/>
          </a:xfrm>
          <a:prstGeom prst="rect">
            <a:avLst/>
          </a:prstGeom>
        </p:spPr>
      </p:pic>
    </p:spTree>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191135" y="45085"/>
            <a:ext cx="5873115" cy="719619"/>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广州华立学院学生校外实习承诺书及家长回执</a:t>
            </a:r>
            <a:endPar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6" name="文本框 45"/>
          <p:cNvSpPr txBox="1"/>
          <p:nvPr/>
        </p:nvSpPr>
        <p:spPr>
          <a:xfrm>
            <a:off x="918522" y="1910260"/>
            <a:ext cx="208113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1" name="文本框 10"/>
          <p:cNvSpPr txBox="1"/>
          <p:nvPr/>
        </p:nvSpPr>
        <p:spPr>
          <a:xfrm>
            <a:off x="191135" y="1231582"/>
            <a:ext cx="4251246" cy="4615815"/>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关于“校外实习承诺书及家长回执”的获得：</a:t>
            </a:r>
            <a:endParaRPr kumimoji="0" lang="zh-CN" altLang="en-US" sz="14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校友邦“校外实习承诺书及家长回执”端口可下载；</a:t>
            </a:r>
            <a:endPar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关于“</a:t>
            </a:r>
            <a:r>
              <a:rPr kumimoji="0" lang="zh-CN" altLang="en-US" sz="14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sym typeface="+mn-ea"/>
              </a:rPr>
              <a:t>校外实习承诺书及家长回执</a:t>
            </a:r>
            <a:r>
              <a:rPr kumimoji="0" lang="zh-CN" altLang="en-US" sz="14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”的填写说明：</a:t>
            </a:r>
            <a:endParaRPr kumimoji="0" lang="zh-CN" altLang="en-US" sz="14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1.</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生产实习校外实习期间应为：</a:t>
            </a: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2026</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年</a:t>
            </a: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8</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月</a:t>
            </a: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17</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日</a:t>
            </a: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-2026</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年</a:t>
            </a: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12</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月</a:t>
            </a: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31</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日。</a:t>
            </a:r>
            <a:endPar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2.</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学生必须在</a:t>
            </a: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2026</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年</a:t>
            </a: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3</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月前告知家长关于自己最后一学年的教学计划和安排。</a:t>
            </a:r>
            <a:endPar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3.</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学生和家长签字必须是手签，联系电话必须为真实可联系的。</a:t>
            </a:r>
            <a:endPar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4.</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家长在了解我校学生校外实习有关工作后将意见和建议手写在回执里。</a:t>
            </a:r>
            <a:endPar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关于“校外实习承诺书及家长回执”的提交：</a:t>
            </a:r>
            <a:endParaRPr kumimoji="0" lang="zh-CN" altLang="en-US" sz="14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完成后拍照上传校友邦“校外实习承诺书及家长回执”端口，</a:t>
            </a:r>
            <a:r>
              <a:rPr kumimoji="0" lang="zh-CN" altLang="en-US" sz="1400"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原件实习结束后交学院实习指导老师。</a:t>
            </a:r>
            <a:endParaRPr kumimoji="0" lang="en-US" altLang="zh-CN" sz="1400"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endParaRPr>
          </a:p>
        </p:txBody>
      </p:sp>
      <p:pic>
        <p:nvPicPr>
          <p:cNvPr id="3" name="图片 2"/>
          <p:cNvPicPr>
            <a:picLocks noChangeAspect="1"/>
          </p:cNvPicPr>
          <p:nvPr/>
        </p:nvPicPr>
        <p:blipFill>
          <a:blip r:embed="rId1"/>
          <a:stretch>
            <a:fillRect/>
          </a:stretch>
        </p:blipFill>
        <p:spPr>
          <a:xfrm>
            <a:off x="4367530" y="620395"/>
            <a:ext cx="7749540" cy="5694045"/>
          </a:xfrm>
          <a:prstGeom prst="rect">
            <a:avLst/>
          </a:prstGeom>
        </p:spPr>
      </p:pic>
    </p:spTree>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 name="矩形 1"/>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矩形 2"/>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1617798" y="491074"/>
            <a:ext cx="695575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学院实习指导老师实习指导任务及校友邦操作指南</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13" name="文本框 12"/>
          <p:cNvSpPr txBox="1"/>
          <p:nvPr/>
        </p:nvSpPr>
        <p:spPr>
          <a:xfrm>
            <a:off x="673735" y="981710"/>
            <a:ext cx="11517630" cy="52578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0" lang="zh-CN" altLang="en-US"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督促自己所带学生在校友邦完成“校外承诺书及家长回执”上传后进行实习报名</a:t>
            </a:r>
            <a:endParaRPr kumimoji="0" lang="en-US" altLang="zh-CN"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endParaRPr kumimoji="0"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4" name="文本框 3"/>
          <p:cNvSpPr txBox="1"/>
          <p:nvPr/>
        </p:nvSpPr>
        <p:spPr>
          <a:xfrm>
            <a:off x="746125" y="1511935"/>
            <a:ext cx="10158730" cy="429895"/>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2</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）实习报名审核：校友邦“过程管理”</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“报名审核”</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“去审核”</a:t>
            </a:r>
            <a:endPar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endParaRPr>
          </a:p>
        </p:txBody>
      </p:sp>
      <p:pic>
        <p:nvPicPr>
          <p:cNvPr id="6" name="图片 5"/>
          <p:cNvPicPr>
            <a:picLocks noChangeAspect="1"/>
          </p:cNvPicPr>
          <p:nvPr/>
        </p:nvPicPr>
        <p:blipFill>
          <a:blip r:embed="rId1"/>
          <a:stretch>
            <a:fillRect/>
          </a:stretch>
        </p:blipFill>
        <p:spPr>
          <a:xfrm>
            <a:off x="119380" y="1948815"/>
            <a:ext cx="11951970" cy="4985385"/>
          </a:xfrm>
          <a:prstGeom prst="rect">
            <a:avLst/>
          </a:prstGeom>
        </p:spPr>
      </p:pic>
    </p:spTree>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1999" cy="6857999"/>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13" name="文本框 12"/>
          <p:cNvSpPr txBox="1"/>
          <p:nvPr/>
        </p:nvSpPr>
        <p:spPr>
          <a:xfrm>
            <a:off x="2495550" y="-171450"/>
            <a:ext cx="490855" cy="37973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endParaRPr kumimoji="0" lang="zh-CN" altLang="en-US" sz="20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graphicFrame>
        <p:nvGraphicFramePr>
          <p:cNvPr id="3" name="表格 2"/>
          <p:cNvGraphicFramePr>
            <a:graphicFrameLocks noGrp="1"/>
          </p:cNvGraphicFramePr>
          <p:nvPr>
            <p:custDataLst>
              <p:tags r:id="rId1"/>
            </p:custDataLst>
          </p:nvPr>
        </p:nvGraphicFramePr>
        <p:xfrm>
          <a:off x="635" y="32385"/>
          <a:ext cx="12191365" cy="6793398"/>
        </p:xfrm>
        <a:graphic>
          <a:graphicData uri="http://schemas.openxmlformats.org/drawingml/2006/table">
            <a:tbl>
              <a:tblPr/>
              <a:tblGrid>
                <a:gridCol w="1414780"/>
                <a:gridCol w="1822450"/>
                <a:gridCol w="8954135"/>
              </a:tblGrid>
              <a:tr h="281276">
                <a:tc gridSpan="3">
                  <a:txBody>
                    <a:bodyPr/>
                    <a:lstStyle/>
                    <a:p>
                      <a:pPr algn="ctr" fontAlgn="ctr"/>
                      <a:r>
                        <a:rPr lang="zh-CN" altLang="en-US" sz="1800" b="1" dirty="0">
                          <a:solidFill>
                            <a:srgbClr val="000000"/>
                          </a:solidFill>
                          <a:effectLst/>
                          <a:latin typeface="宋体" panose="02010600030101010101" pitchFamily="2" charset="-122"/>
                          <a:ea typeface="宋体" panose="02010600030101010101" pitchFamily="2" charset="-122"/>
                          <a:sym typeface="+mn-ea"/>
                        </a:rPr>
                        <a:t>报名生产实习（护理学专业）毕业实习</a:t>
                      </a:r>
                      <a:r>
                        <a:rPr lang="en-US" altLang="zh-CN" sz="1800" b="1" dirty="0">
                          <a:solidFill>
                            <a:srgbClr val="000000"/>
                          </a:solidFill>
                          <a:effectLst/>
                          <a:latin typeface="宋体" panose="02010600030101010101" pitchFamily="2" charset="-122"/>
                          <a:ea typeface="宋体" panose="02010600030101010101" pitchFamily="2" charset="-122"/>
                          <a:sym typeface="+mn-ea"/>
                        </a:rPr>
                        <a:t>--</a:t>
                      </a:r>
                      <a:r>
                        <a:rPr lang="zh-CN" altLang="en-US" sz="1800" b="1" dirty="0">
                          <a:solidFill>
                            <a:srgbClr val="000000"/>
                          </a:solidFill>
                          <a:effectLst/>
                          <a:latin typeface="宋体" panose="02010600030101010101" pitchFamily="2" charset="-122"/>
                          <a:ea typeface="宋体" panose="02010600030101010101" pitchFamily="2" charset="-122"/>
                          <a:sym typeface="+mn-ea"/>
                        </a:rPr>
                        <a:t>岗位信息填写说明</a:t>
                      </a:r>
                      <a:endParaRPr lang="zh-CN" altLang="en-US" sz="1800" b="1" i="0" u="none" strike="noStrike" dirty="0">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cPr/>
                </a:tc>
                <a:tc hMerge="1">
                  <a:tcPr/>
                </a:tc>
              </a:tr>
              <a:tr h="275500">
                <a:tc gridSpan="2">
                  <a:txBody>
                    <a:bodyPr/>
                    <a:lstStyle/>
                    <a:p>
                      <a:pPr algn="ctr" fontAlgn="ctr"/>
                      <a:r>
                        <a:rPr lang="zh-CN" altLang="en-US" sz="1200" b="1" i="0" u="none" strike="noStrike">
                          <a:solidFill>
                            <a:srgbClr val="000000"/>
                          </a:solidFill>
                          <a:effectLst/>
                          <a:latin typeface="宋体" panose="02010600030101010101" pitchFamily="2" charset="-122"/>
                          <a:ea typeface="宋体" panose="02010600030101010101" pitchFamily="2" charset="-122"/>
                        </a:rPr>
                        <a:t>填写项目</a:t>
                      </a:r>
                      <a:endParaRPr lang="zh-CN" altLang="en-US" sz="1200" b="1"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cPr/>
                </a:tc>
                <a:tc>
                  <a:txBody>
                    <a:bodyPr/>
                    <a:lstStyle/>
                    <a:p>
                      <a:pPr algn="ctr" fontAlgn="ctr"/>
                      <a:r>
                        <a:rPr lang="zh-CN" altLang="en-US" sz="1200" b="1" i="0" u="none" strike="noStrike" dirty="0">
                          <a:solidFill>
                            <a:srgbClr val="000000"/>
                          </a:solidFill>
                          <a:effectLst/>
                          <a:latin typeface="宋体" panose="02010600030101010101" pitchFamily="2" charset="-122"/>
                          <a:ea typeface="宋体" panose="02010600030101010101" pitchFamily="2" charset="-122"/>
                        </a:rPr>
                        <a:t>填写要求</a:t>
                      </a:r>
                      <a:endParaRPr lang="zh-CN" altLang="en-US" sz="1200" b="1" i="0" u="none" strike="noStrike" dirty="0">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gridSpan="2">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实习单位来源</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zh-CN" altLang="en-US" sz="1200" b="0" i="0" u="none" strike="noStrike">
                          <a:solidFill>
                            <a:srgbClr val="000000"/>
                          </a:solidFill>
                          <a:effectLst/>
                          <a:latin typeface="宋体" panose="02010600030101010101" pitchFamily="2" charset="-122"/>
                          <a:ea typeface="宋体" panose="02010600030101010101" pitchFamily="2" charset="-122"/>
                        </a:rPr>
                        <a:t>学校推荐或者自行落实（按实际填写）</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rowSpan="6">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单位信息</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单位名称</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zh-CN" altLang="en-US" sz="1200" b="0" i="0" u="none" strike="noStrike">
                          <a:solidFill>
                            <a:srgbClr val="FF0000"/>
                          </a:solidFill>
                          <a:effectLst/>
                          <a:latin typeface="宋体" panose="02010600030101010101" pitchFamily="2" charset="-122"/>
                          <a:ea typeface="宋体" panose="02010600030101010101" pitchFamily="2" charset="-122"/>
                        </a:rPr>
                        <a:t>单位名称写全称，不要写简称</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统一社会信用代码</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dirty="0">
                          <a:solidFill>
                            <a:srgbClr val="000000"/>
                          </a:solidFill>
                          <a:effectLst/>
                          <a:latin typeface="宋体" panose="02010600030101010101" pitchFamily="2" charset="-122"/>
                          <a:ea typeface="宋体" panose="02010600030101010101" pitchFamily="2" charset="-122"/>
                        </a:rPr>
                        <a:t>必填：</a:t>
                      </a:r>
                      <a:r>
                        <a:rPr lang="zh-CN" altLang="en-US" sz="1200" b="0" i="0" u="none" strike="noStrike" dirty="0">
                          <a:solidFill>
                            <a:srgbClr val="FF0000"/>
                          </a:solidFill>
                          <a:effectLst/>
                          <a:latin typeface="宋体" panose="02010600030101010101" pitchFamily="2" charset="-122"/>
                          <a:ea typeface="宋体" panose="02010600030101010101" pitchFamily="2" charset="-122"/>
                        </a:rPr>
                        <a:t>（一般长度为</a:t>
                      </a:r>
                      <a:r>
                        <a:rPr lang="en-US" altLang="zh-CN" sz="1200" b="0" i="0" u="none" strike="noStrike" dirty="0">
                          <a:solidFill>
                            <a:srgbClr val="FF0000"/>
                          </a:solidFill>
                          <a:effectLst/>
                          <a:latin typeface="宋体" panose="02010600030101010101" pitchFamily="2" charset="-122"/>
                          <a:ea typeface="宋体" panose="02010600030101010101" pitchFamily="2" charset="-122"/>
                        </a:rPr>
                        <a:t>18</a:t>
                      </a:r>
                      <a:r>
                        <a:rPr lang="zh-CN" altLang="en-US" sz="1200" b="0" i="0" u="none" strike="noStrike" dirty="0">
                          <a:solidFill>
                            <a:srgbClr val="FF0000"/>
                          </a:solidFill>
                          <a:effectLst/>
                          <a:latin typeface="宋体" panose="02010600030101010101" pitchFamily="2" charset="-122"/>
                          <a:ea typeface="宋体" panose="02010600030101010101" pitchFamily="2" charset="-122"/>
                        </a:rPr>
                        <a:t>位）</a:t>
                      </a:r>
                      <a:r>
                        <a:rPr lang="zh-CN" altLang="en-US" sz="1200" b="0" i="0" u="none" strike="noStrike" dirty="0">
                          <a:solidFill>
                            <a:srgbClr val="000000"/>
                          </a:solidFill>
                          <a:effectLst/>
                          <a:latin typeface="宋体" panose="02010600030101010101" pitchFamily="2" charset="-122"/>
                          <a:ea typeface="宋体" panose="02010600030101010101" pitchFamily="2" charset="-122"/>
                        </a:rPr>
                        <a:t>查不到统一信用代码可通过</a:t>
                      </a:r>
                      <a:r>
                        <a:rPr lang="en-US" altLang="zh-CN" sz="1200" b="0" i="0" u="none" strike="noStrike" dirty="0">
                          <a:solidFill>
                            <a:srgbClr val="000000"/>
                          </a:solidFill>
                          <a:effectLst/>
                          <a:latin typeface="宋体" panose="02010600030101010101" pitchFamily="2" charset="-122"/>
                          <a:ea typeface="宋体" panose="02010600030101010101" pitchFamily="2" charset="-122"/>
                        </a:rPr>
                        <a:t>https://www.cods.org.cn/gscx/ </a:t>
                      </a:r>
                      <a:r>
                        <a:rPr lang="zh-CN" altLang="en-US" sz="1200" b="0" i="0" u="none" strike="noStrike" dirty="0">
                          <a:solidFill>
                            <a:srgbClr val="000000"/>
                          </a:solidFill>
                          <a:effectLst/>
                          <a:latin typeface="宋体" panose="02010600030101010101" pitchFamily="2" charset="-122"/>
                          <a:ea typeface="宋体" panose="02010600030101010101" pitchFamily="2" charset="-122"/>
                        </a:rPr>
                        <a:t>天眼查</a:t>
                      </a:r>
                      <a:r>
                        <a:rPr lang="en-US" altLang="zh-CN" sz="1200" b="0" i="0" u="none" strike="noStrike" dirty="0">
                          <a:solidFill>
                            <a:srgbClr val="000000"/>
                          </a:solidFill>
                          <a:effectLst/>
                          <a:latin typeface="宋体" panose="02010600030101010101" pitchFamily="2" charset="-122"/>
                          <a:ea typeface="宋体" panose="02010600030101010101" pitchFamily="2" charset="-122"/>
                        </a:rPr>
                        <a:t>/</a:t>
                      </a:r>
                      <a:r>
                        <a:rPr lang="zh-CN" altLang="en-US" sz="1200" b="0" i="0" u="none" strike="noStrike" dirty="0">
                          <a:solidFill>
                            <a:srgbClr val="000000"/>
                          </a:solidFill>
                          <a:effectLst/>
                          <a:latin typeface="宋体" panose="02010600030101010101" pitchFamily="2" charset="-122"/>
                          <a:ea typeface="宋体" panose="02010600030101010101" pitchFamily="2" charset="-122"/>
                        </a:rPr>
                        <a:t>爱企查</a:t>
                      </a:r>
                      <a:r>
                        <a:rPr lang="en-US" altLang="zh-CN" sz="1200" b="0" i="0" u="none" strike="noStrike" dirty="0">
                          <a:solidFill>
                            <a:srgbClr val="000000"/>
                          </a:solidFill>
                          <a:effectLst/>
                          <a:latin typeface="宋体" panose="02010600030101010101" pitchFamily="2" charset="-122"/>
                          <a:ea typeface="宋体" panose="02010600030101010101" pitchFamily="2" charset="-122"/>
                        </a:rPr>
                        <a:t>-</a:t>
                      </a:r>
                      <a:r>
                        <a:rPr lang="zh-CN" altLang="en-US" sz="1200" b="0" i="0" u="none" strike="noStrike" dirty="0">
                          <a:solidFill>
                            <a:srgbClr val="000000"/>
                          </a:solidFill>
                          <a:effectLst/>
                          <a:latin typeface="宋体" panose="02010600030101010101" pitchFamily="2" charset="-122"/>
                          <a:ea typeface="宋体" panose="02010600030101010101" pitchFamily="2" charset="-122"/>
                        </a:rPr>
                        <a:t>查询；</a:t>
                      </a:r>
                      <a:endParaRPr lang="zh-CN" altLang="en-US" sz="1200" b="0" i="0" u="none" strike="noStrike" dirty="0">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行业方向</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zh-CN" altLang="en-US" sz="1200" b="0" i="0" u="none" strike="noStrike">
                          <a:solidFill>
                            <a:srgbClr val="000000"/>
                          </a:solidFill>
                          <a:effectLst/>
                          <a:latin typeface="宋体" panose="02010600030101010101" pitchFamily="2" charset="-122"/>
                          <a:ea typeface="宋体" panose="02010600030101010101" pitchFamily="2" charset="-122"/>
                        </a:rPr>
                        <a:t>按照给定范围选择相同或者相近的</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企业联系人</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dirty="0">
                          <a:solidFill>
                            <a:srgbClr val="000000"/>
                          </a:solidFill>
                          <a:effectLst/>
                          <a:latin typeface="宋体" panose="02010600030101010101" pitchFamily="2" charset="-122"/>
                          <a:ea typeface="宋体" panose="02010600030101010101" pitchFamily="2" charset="-122"/>
                        </a:rPr>
                        <a:t>必填：</a:t>
                      </a:r>
                      <a:r>
                        <a:rPr lang="zh-CN" altLang="en-US" sz="1200" b="0" i="0" u="none" strike="noStrike" dirty="0">
                          <a:solidFill>
                            <a:srgbClr val="000000"/>
                          </a:solidFill>
                          <a:effectLst/>
                          <a:latin typeface="宋体" panose="02010600030101010101" pitchFamily="2" charset="-122"/>
                          <a:ea typeface="宋体" panose="02010600030101010101" pitchFamily="2" charset="-122"/>
                        </a:rPr>
                        <a:t>填写熟悉本人实习情况的实习单位的人，</a:t>
                      </a:r>
                      <a:r>
                        <a:rPr lang="zh-CN" altLang="en-US" sz="1200" b="0" i="0" u="none" strike="noStrike" dirty="0">
                          <a:solidFill>
                            <a:srgbClr val="FF0000"/>
                          </a:solidFill>
                          <a:effectLst/>
                          <a:latin typeface="宋体" panose="02010600030101010101" pitchFamily="2" charset="-122"/>
                          <a:ea typeface="宋体" panose="02010600030101010101" pitchFamily="2" charset="-122"/>
                        </a:rPr>
                        <a:t>要求写全名，不能出现</a:t>
                      </a:r>
                      <a:r>
                        <a:rPr lang="en-US" altLang="zh-CN" sz="1200" b="0" i="0" u="none" strike="noStrike" dirty="0">
                          <a:solidFill>
                            <a:srgbClr val="FF0000"/>
                          </a:solidFill>
                          <a:effectLst/>
                          <a:latin typeface="宋体" panose="02010600030101010101" pitchFamily="2" charset="-122"/>
                          <a:ea typeface="宋体" panose="02010600030101010101" pitchFamily="2" charset="-122"/>
                        </a:rPr>
                        <a:t>X</a:t>
                      </a:r>
                      <a:r>
                        <a:rPr lang="zh-CN" altLang="en-US" sz="1200" b="0" i="0" u="none" strike="noStrike" dirty="0">
                          <a:solidFill>
                            <a:srgbClr val="FF0000"/>
                          </a:solidFill>
                          <a:effectLst/>
                          <a:latin typeface="宋体" panose="02010600030101010101" pitchFamily="2" charset="-122"/>
                          <a:ea typeface="宋体" panose="02010600030101010101" pitchFamily="2" charset="-122"/>
                        </a:rPr>
                        <a:t>小姐，</a:t>
                      </a:r>
                      <a:r>
                        <a:rPr lang="en-US" altLang="zh-CN" sz="1200" b="0" i="0" u="none" strike="noStrike" dirty="0">
                          <a:solidFill>
                            <a:srgbClr val="FF0000"/>
                          </a:solidFill>
                          <a:effectLst/>
                          <a:latin typeface="宋体" panose="02010600030101010101" pitchFamily="2" charset="-122"/>
                          <a:ea typeface="宋体" panose="02010600030101010101" pitchFamily="2" charset="-122"/>
                        </a:rPr>
                        <a:t>X</a:t>
                      </a:r>
                      <a:r>
                        <a:rPr lang="zh-CN" altLang="en-US" sz="1200" b="0" i="0" u="none" strike="noStrike" dirty="0">
                          <a:solidFill>
                            <a:srgbClr val="FF0000"/>
                          </a:solidFill>
                          <a:effectLst/>
                          <a:latin typeface="宋体" panose="02010600030101010101" pitchFamily="2" charset="-122"/>
                          <a:ea typeface="宋体" panose="02010600030101010101" pitchFamily="2" charset="-122"/>
                        </a:rPr>
                        <a:t>先生</a:t>
                      </a:r>
                      <a:endParaRPr lang="zh-CN" altLang="en-US" sz="1200" b="0" i="0" u="none" strike="noStrike" dirty="0">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企业电话</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zh-CN" altLang="en-US" sz="1200" b="0" i="0" u="none" strike="noStrike">
                          <a:solidFill>
                            <a:srgbClr val="000000"/>
                          </a:solidFill>
                          <a:effectLst/>
                          <a:latin typeface="宋体" panose="02010600030101010101" pitchFamily="2" charset="-122"/>
                          <a:ea typeface="宋体" panose="02010600030101010101" pitchFamily="2" charset="-122"/>
                        </a:rPr>
                        <a:t>请输入企业</a:t>
                      </a:r>
                      <a:r>
                        <a:rPr lang="en-US" altLang="zh-CN" sz="1200" b="0" i="0" u="none" strike="noStrike">
                          <a:solidFill>
                            <a:srgbClr val="000000"/>
                          </a:solidFill>
                          <a:effectLst/>
                          <a:latin typeface="宋体" panose="02010600030101010101" pitchFamily="2" charset="-122"/>
                          <a:ea typeface="宋体" panose="02010600030101010101" pitchFamily="2" charset="-122"/>
                        </a:rPr>
                        <a:t>HR</a:t>
                      </a:r>
                      <a:r>
                        <a:rPr lang="zh-CN" altLang="en-US" sz="1200" b="0" i="0" u="none" strike="noStrike">
                          <a:solidFill>
                            <a:srgbClr val="000000"/>
                          </a:solidFill>
                          <a:effectLst/>
                          <a:latin typeface="宋体" panose="02010600030101010101" pitchFamily="2" charset="-122"/>
                          <a:ea typeface="宋体" panose="02010600030101010101" pitchFamily="2" charset="-122"/>
                        </a:rPr>
                        <a:t>电话，</a:t>
                      </a:r>
                      <a:r>
                        <a:rPr lang="zh-CN" altLang="en-US" sz="1200" b="0" i="0" u="none" strike="noStrike">
                          <a:solidFill>
                            <a:srgbClr val="FF0000"/>
                          </a:solidFill>
                          <a:effectLst/>
                          <a:latin typeface="宋体" panose="02010600030101010101" pitchFamily="2" charset="-122"/>
                          <a:ea typeface="宋体" panose="02010600030101010101" pitchFamily="2" charset="-122"/>
                        </a:rPr>
                        <a:t>必须保证能够联系上的</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企业邮箱</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选填：</a:t>
                      </a:r>
                      <a:r>
                        <a:rPr lang="zh-CN" altLang="en-US" sz="1200" b="0" i="0" u="none" strike="noStrike">
                          <a:solidFill>
                            <a:srgbClr val="000000"/>
                          </a:solidFill>
                          <a:effectLst/>
                          <a:latin typeface="宋体" panose="02010600030101010101" pitchFamily="2" charset="-122"/>
                          <a:ea typeface="宋体" panose="02010600030101010101" pitchFamily="2" charset="-122"/>
                        </a:rPr>
                        <a:t>填写企业邮箱</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373418">
                <a:tc rowSpan="9">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岗位信息</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岗位名称</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zh-CN" altLang="en-US" sz="1200" b="0" i="0" u="none" strike="noStrike">
                          <a:solidFill>
                            <a:srgbClr val="FF0000"/>
                          </a:solidFill>
                          <a:effectLst/>
                          <a:latin typeface="宋体" panose="02010600030101010101" pitchFamily="2" charset="-122"/>
                          <a:ea typeface="宋体" panose="02010600030101010101" pitchFamily="2" charset="-122"/>
                        </a:rPr>
                        <a:t>要求填写符合大学生身份的岗位（不能出现清洁工，服务员、职员，董事长等），如果实习单位给定岗位不明确可写“</a:t>
                      </a:r>
                      <a:r>
                        <a:rPr lang="en-US" altLang="zh-CN" sz="1200" b="0" i="0" u="none" strike="noStrike">
                          <a:solidFill>
                            <a:srgbClr val="FF0000"/>
                          </a:solidFill>
                          <a:effectLst/>
                          <a:latin typeface="宋体" panose="02010600030101010101" pitchFamily="2" charset="-122"/>
                          <a:ea typeface="宋体" panose="02010600030101010101" pitchFamily="2" charset="-122"/>
                        </a:rPr>
                        <a:t>XX</a:t>
                      </a:r>
                      <a:r>
                        <a:rPr lang="zh-CN" altLang="en-US" sz="1200" b="0" i="0" u="none" strike="noStrike">
                          <a:solidFill>
                            <a:srgbClr val="FF0000"/>
                          </a:solidFill>
                          <a:effectLst/>
                          <a:latin typeface="宋体" panose="02010600030101010101" pitchFamily="2" charset="-122"/>
                          <a:ea typeface="宋体" panose="02010600030101010101" pitchFamily="2" charset="-122"/>
                        </a:rPr>
                        <a:t>部门实习生”</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与所学专业 </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zh-CN" altLang="en-US" sz="1200" b="0" i="0" u="none" strike="noStrike">
                          <a:solidFill>
                            <a:srgbClr val="000000"/>
                          </a:solidFill>
                          <a:effectLst/>
                          <a:latin typeface="宋体" panose="02010600030101010101" pitchFamily="2" charset="-122"/>
                          <a:ea typeface="宋体" panose="02010600030101010101" pitchFamily="2" charset="-122"/>
                        </a:rPr>
                        <a:t>按实际选择填写</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薪资</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dirty="0">
                          <a:solidFill>
                            <a:srgbClr val="000000"/>
                          </a:solidFill>
                          <a:effectLst/>
                          <a:latin typeface="宋体" panose="02010600030101010101" pitchFamily="2" charset="-122"/>
                          <a:ea typeface="宋体" panose="02010600030101010101" pitchFamily="2" charset="-122"/>
                        </a:rPr>
                        <a:t>必填：</a:t>
                      </a:r>
                      <a:r>
                        <a:rPr lang="zh-CN" altLang="en-US" sz="1200" b="0" i="0" u="none" strike="noStrike" dirty="0">
                          <a:solidFill>
                            <a:srgbClr val="000000"/>
                          </a:solidFill>
                          <a:effectLst/>
                          <a:latin typeface="宋体" panose="02010600030101010101" pitchFamily="2" charset="-122"/>
                          <a:ea typeface="宋体" panose="02010600030101010101" pitchFamily="2" charset="-122"/>
                        </a:rPr>
                        <a:t>按实际填写</a:t>
                      </a:r>
                      <a:r>
                        <a:rPr lang="zh-CN" altLang="en-US" sz="1200" b="0" i="0" u="none" strike="noStrike" dirty="0">
                          <a:solidFill>
                            <a:srgbClr val="FF0000"/>
                          </a:solidFill>
                          <a:effectLst/>
                          <a:latin typeface="宋体" panose="02010600030101010101" pitchFamily="2" charset="-122"/>
                          <a:ea typeface="宋体" panose="02010600030101010101" pitchFamily="2" charset="-122"/>
                        </a:rPr>
                        <a:t>（切不可超出实际，胡乱写）</a:t>
                      </a:r>
                      <a:endParaRPr lang="zh-CN" altLang="en-US" sz="1200" b="0" i="0" u="none" strike="noStrike" dirty="0">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实习方式</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zh-CN" altLang="en-US" sz="1200" b="0" i="0" u="none" strike="noStrike">
                          <a:solidFill>
                            <a:srgbClr val="FF0000"/>
                          </a:solidFill>
                          <a:effectLst/>
                          <a:latin typeface="宋体" panose="02010600030101010101" pitchFamily="2" charset="-122"/>
                          <a:ea typeface="宋体" panose="02010600030101010101" pitchFamily="2" charset="-122"/>
                        </a:rPr>
                        <a:t>要求一定为现场实习</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实习时间</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dirty="0">
                          <a:solidFill>
                            <a:srgbClr val="000000"/>
                          </a:solidFill>
                          <a:effectLst/>
                          <a:latin typeface="宋体" panose="02010600030101010101" pitchFamily="2" charset="-122"/>
                          <a:ea typeface="宋体" panose="02010600030101010101" pitchFamily="2" charset="-122"/>
                        </a:rPr>
                        <a:t>必填：</a:t>
                      </a:r>
                      <a:r>
                        <a:rPr lang="zh-CN" altLang="en-US" sz="1200" b="0" i="0" u="none" strike="noStrike" dirty="0">
                          <a:solidFill>
                            <a:srgbClr val="000000"/>
                          </a:solidFill>
                          <a:effectLst/>
                          <a:latin typeface="宋体" panose="02010600030101010101" pitchFamily="2" charset="-122"/>
                          <a:ea typeface="宋体" panose="02010600030101010101" pitchFamily="2" charset="-122"/>
                        </a:rPr>
                        <a:t>原则上为</a:t>
                      </a:r>
                      <a:r>
                        <a:rPr lang="en-US" altLang="zh-CN" sz="1200" b="0" i="0" u="none" strike="noStrike" dirty="0">
                          <a:solidFill>
                            <a:srgbClr val="000000"/>
                          </a:solidFill>
                          <a:effectLst/>
                          <a:latin typeface="宋体" panose="02010600030101010101" pitchFamily="2" charset="-122"/>
                          <a:ea typeface="宋体" panose="02010600030101010101" pitchFamily="2" charset="-122"/>
                        </a:rPr>
                        <a:t>2026.08.17-2026.12.31</a:t>
                      </a:r>
                      <a:r>
                        <a:rPr lang="zh-CN" altLang="en-US" sz="1200" b="0" i="0" u="none" strike="noStrike" dirty="0">
                          <a:solidFill>
                            <a:srgbClr val="000000"/>
                          </a:solidFill>
                          <a:effectLst/>
                          <a:latin typeface="宋体" panose="02010600030101010101" pitchFamily="2" charset="-122"/>
                          <a:ea typeface="宋体" panose="02010600030101010101" pitchFamily="2" charset="-122"/>
                        </a:rPr>
                        <a:t>，</a:t>
                      </a:r>
                      <a:r>
                        <a:rPr lang="zh-CN" altLang="en-US" sz="1200" b="0" i="0" u="none" strike="noStrike" dirty="0">
                          <a:solidFill>
                            <a:srgbClr val="000000"/>
                          </a:solidFill>
                          <a:effectLst/>
                          <a:highlight>
                            <a:srgbClr val="FFFF00"/>
                          </a:highlight>
                          <a:latin typeface="宋体" panose="02010600030101010101" pitchFamily="2" charset="-122"/>
                          <a:ea typeface="宋体" panose="02010600030101010101" pitchFamily="2" charset="-122"/>
                        </a:rPr>
                        <a:t>护理学专业：</a:t>
                      </a:r>
                      <a:r>
                        <a:rPr lang="zh-CN" altLang="en-US" sz="1200" b="0" i="0" u="none" strike="noStrike" dirty="0">
                          <a:solidFill>
                            <a:srgbClr val="FF0000"/>
                          </a:solidFill>
                          <a:effectLst/>
                          <a:latin typeface="宋体" panose="02010600030101010101" pitchFamily="2" charset="-122"/>
                          <a:ea typeface="宋体" panose="02010600030101010101" pitchFamily="2" charset="-122"/>
                        </a:rPr>
                        <a:t>（总实习时间不得少于</a:t>
                      </a:r>
                      <a:r>
                        <a:rPr lang="en-US" altLang="zh-CN" sz="1200" b="0" i="0" u="none" strike="noStrike" dirty="0">
                          <a:solidFill>
                            <a:srgbClr val="FF0000"/>
                          </a:solidFill>
                          <a:effectLst/>
                          <a:latin typeface="宋体" panose="02010600030101010101" pitchFamily="2" charset="-122"/>
                          <a:ea typeface="宋体" panose="02010600030101010101" pitchFamily="2" charset="-122"/>
                        </a:rPr>
                        <a:t>20</a:t>
                      </a:r>
                      <a:r>
                        <a:rPr lang="zh-CN" altLang="en-US" sz="1200" b="0" i="0" u="none" strike="noStrike" dirty="0">
                          <a:solidFill>
                            <a:srgbClr val="FF0000"/>
                          </a:solidFill>
                          <a:effectLst/>
                          <a:latin typeface="宋体" panose="02010600030101010101" pitchFamily="2" charset="-122"/>
                          <a:ea typeface="宋体" panose="02010600030101010101" pitchFamily="2" charset="-122"/>
                        </a:rPr>
                        <a:t>周</a:t>
                      </a:r>
                      <a:r>
                        <a:rPr lang="en-US" altLang="zh-CN" sz="1200" b="0" i="0" u="none" strike="noStrike" dirty="0">
                          <a:solidFill>
                            <a:srgbClr val="FF0000"/>
                          </a:solidFill>
                          <a:effectLst/>
                          <a:latin typeface="宋体" panose="02010600030101010101" pitchFamily="2" charset="-122"/>
                          <a:ea typeface="宋体" panose="02010600030101010101" pitchFamily="2" charset="-122"/>
                        </a:rPr>
                        <a:t>/40</a:t>
                      </a:r>
                      <a:r>
                        <a:rPr lang="zh-CN" altLang="en-US" sz="1200" b="0" i="0" u="none" strike="noStrike" dirty="0">
                          <a:solidFill>
                            <a:srgbClr val="FF0000"/>
                          </a:solidFill>
                          <a:effectLst/>
                          <a:latin typeface="宋体" panose="02010600030101010101" pitchFamily="2" charset="-122"/>
                          <a:ea typeface="宋体" panose="02010600030101010101" pitchFamily="2" charset="-122"/>
                        </a:rPr>
                        <a:t>周）</a:t>
                      </a:r>
                      <a:endParaRPr lang="zh-CN" altLang="en-US" sz="1200" b="0" i="0" u="none" strike="noStrike" dirty="0">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实际实习天数</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zh-CN" altLang="en-US" sz="1200" b="0" i="0" u="none" strike="noStrike">
                          <a:solidFill>
                            <a:srgbClr val="000000"/>
                          </a:solidFill>
                          <a:effectLst/>
                          <a:latin typeface="宋体" panose="02010600030101010101" pitchFamily="2" charset="-122"/>
                          <a:ea typeface="宋体" panose="02010600030101010101" pitchFamily="2" charset="-122"/>
                        </a:rPr>
                        <a:t>没有特殊情况，系统自动帮忙计算</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工作内容</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zh-CN" altLang="en-US" sz="1200" b="0" i="0" u="none" strike="noStrike">
                          <a:solidFill>
                            <a:srgbClr val="000000"/>
                          </a:solidFill>
                          <a:effectLst/>
                          <a:latin typeface="宋体" panose="02010600030101010101" pitchFamily="2" charset="-122"/>
                          <a:ea typeface="宋体" panose="02010600030101010101" pitchFamily="2" charset="-122"/>
                        </a:rPr>
                        <a:t>按实际简单概括填写即可</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企业导师</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zh-CN" altLang="en-US" sz="1200" b="0" i="0" u="none" strike="noStrike">
                          <a:solidFill>
                            <a:srgbClr val="FF0000"/>
                          </a:solidFill>
                          <a:effectLst/>
                          <a:latin typeface="宋体" panose="02010600030101010101" pitchFamily="2" charset="-122"/>
                          <a:ea typeface="宋体" panose="02010600030101010101" pitchFamily="2" charset="-122"/>
                        </a:rPr>
                        <a:t>为学生实习单位熟悉本人实习情况的直属上司，填写要求是企业指导老师全名，不得出现</a:t>
                      </a:r>
                      <a:r>
                        <a:rPr lang="en-US" altLang="zh-CN" sz="1200" b="0" i="0" u="none" strike="noStrike">
                          <a:solidFill>
                            <a:srgbClr val="FF0000"/>
                          </a:solidFill>
                          <a:effectLst/>
                          <a:latin typeface="宋体" panose="02010600030101010101" pitchFamily="2" charset="-122"/>
                          <a:ea typeface="宋体" panose="02010600030101010101" pitchFamily="2" charset="-122"/>
                        </a:rPr>
                        <a:t>X</a:t>
                      </a:r>
                      <a:r>
                        <a:rPr lang="zh-CN" altLang="en-US" sz="1200" b="0" i="0" u="none" strike="noStrike">
                          <a:solidFill>
                            <a:srgbClr val="FF0000"/>
                          </a:solidFill>
                          <a:effectLst/>
                          <a:latin typeface="宋体" panose="02010600030101010101" pitchFamily="2" charset="-122"/>
                          <a:ea typeface="宋体" panose="02010600030101010101" pitchFamily="2" charset="-122"/>
                        </a:rPr>
                        <a:t>小姐，</a:t>
                      </a:r>
                      <a:r>
                        <a:rPr lang="en-US" altLang="zh-CN" sz="1200" b="0" i="0" u="none" strike="noStrike">
                          <a:solidFill>
                            <a:srgbClr val="FF0000"/>
                          </a:solidFill>
                          <a:effectLst/>
                          <a:latin typeface="宋体" panose="02010600030101010101" pitchFamily="2" charset="-122"/>
                          <a:ea typeface="宋体" panose="02010600030101010101" pitchFamily="2" charset="-122"/>
                        </a:rPr>
                        <a:t>X</a:t>
                      </a:r>
                      <a:r>
                        <a:rPr lang="zh-CN" altLang="en-US" sz="1200" b="0" i="0" u="none" strike="noStrike">
                          <a:solidFill>
                            <a:srgbClr val="FF0000"/>
                          </a:solidFill>
                          <a:effectLst/>
                          <a:latin typeface="宋体" panose="02010600030101010101" pitchFamily="2" charset="-122"/>
                          <a:ea typeface="宋体" panose="02010600030101010101" pitchFamily="2" charset="-122"/>
                        </a:rPr>
                        <a:t>先生</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企业导师手机号</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zh-CN" altLang="en-US" sz="1200" b="0" i="0" u="none" strike="noStrike">
                          <a:solidFill>
                            <a:srgbClr val="FF0000"/>
                          </a:solidFill>
                          <a:effectLst/>
                          <a:latin typeface="宋体" panose="02010600030101010101" pitchFamily="2" charset="-122"/>
                          <a:ea typeface="宋体" panose="02010600030101010101" pitchFamily="2" charset="-122"/>
                        </a:rPr>
                        <a:t>输入要正确，必须保证能够联系上的；</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rowSpan="2">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实习地址</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实习地区</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en-US" altLang="zh-CN" sz="1200" b="0" i="0" u="none" strike="noStrike">
                          <a:solidFill>
                            <a:srgbClr val="000000"/>
                          </a:solidFill>
                          <a:effectLst/>
                          <a:latin typeface="宋体" panose="02010600030101010101" pitchFamily="2" charset="-122"/>
                          <a:ea typeface="宋体" panose="02010600030101010101" pitchFamily="2" charset="-122"/>
                        </a:rPr>
                        <a:t>XX</a:t>
                      </a:r>
                      <a:r>
                        <a:rPr lang="zh-CN" altLang="en-US" sz="1200" b="0" i="0" u="none" strike="noStrike">
                          <a:solidFill>
                            <a:srgbClr val="000000"/>
                          </a:solidFill>
                          <a:effectLst/>
                          <a:latin typeface="宋体" panose="02010600030101010101" pitchFamily="2" charset="-122"/>
                          <a:ea typeface="宋体" panose="02010600030101010101" pitchFamily="2" charset="-122"/>
                        </a:rPr>
                        <a:t>省</a:t>
                      </a:r>
                      <a:r>
                        <a:rPr lang="en-US" altLang="zh-CN" sz="1200" b="0" i="0" u="none" strike="noStrike">
                          <a:solidFill>
                            <a:srgbClr val="000000"/>
                          </a:solidFill>
                          <a:effectLst/>
                          <a:latin typeface="宋体" panose="02010600030101010101" pitchFamily="2" charset="-122"/>
                          <a:ea typeface="宋体" panose="02010600030101010101" pitchFamily="2" charset="-122"/>
                        </a:rPr>
                        <a:t>—XX</a:t>
                      </a:r>
                      <a:r>
                        <a:rPr lang="zh-CN" altLang="en-US" sz="1200" b="0" i="0" u="none" strike="noStrike">
                          <a:solidFill>
                            <a:srgbClr val="000000"/>
                          </a:solidFill>
                          <a:effectLst/>
                          <a:latin typeface="宋体" panose="02010600030101010101" pitchFamily="2" charset="-122"/>
                          <a:ea typeface="宋体" panose="02010600030101010101" pitchFamily="2" charset="-122"/>
                        </a:rPr>
                        <a:t>市</a:t>
                      </a:r>
                      <a:r>
                        <a:rPr lang="en-US" altLang="zh-CN" sz="1200" b="0" i="0" u="none" strike="noStrike">
                          <a:solidFill>
                            <a:srgbClr val="000000"/>
                          </a:solidFill>
                          <a:effectLst/>
                          <a:latin typeface="宋体" panose="02010600030101010101" pitchFamily="2" charset="-122"/>
                          <a:ea typeface="宋体" panose="02010600030101010101" pitchFamily="2" charset="-122"/>
                        </a:rPr>
                        <a:t>—XX</a:t>
                      </a:r>
                      <a:r>
                        <a:rPr lang="zh-CN" altLang="en-US" sz="1200" b="0" i="0" u="none" strike="noStrike">
                          <a:solidFill>
                            <a:srgbClr val="000000"/>
                          </a:solidFill>
                          <a:effectLst/>
                          <a:latin typeface="宋体" panose="02010600030101010101" pitchFamily="2" charset="-122"/>
                          <a:ea typeface="宋体" panose="02010600030101010101" pitchFamily="2" charset="-122"/>
                        </a:rPr>
                        <a:t>区</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工作签到地点</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dirty="0">
                          <a:solidFill>
                            <a:srgbClr val="000000"/>
                          </a:solidFill>
                          <a:effectLst/>
                          <a:latin typeface="宋体" panose="02010600030101010101" pitchFamily="2" charset="-122"/>
                          <a:ea typeface="宋体" panose="02010600030101010101" pitchFamily="2" charset="-122"/>
                        </a:rPr>
                        <a:t>必填</a:t>
                      </a:r>
                      <a:r>
                        <a:rPr lang="zh-CN" altLang="en-US" sz="1200" b="1" i="0" u="none" strike="noStrike" dirty="0">
                          <a:solidFill>
                            <a:schemeClr val="tx1"/>
                          </a:solidFill>
                          <a:effectLst/>
                          <a:latin typeface="宋体" panose="02010600030101010101" pitchFamily="2" charset="-122"/>
                          <a:ea typeface="宋体" panose="02010600030101010101" pitchFamily="2" charset="-122"/>
                        </a:rPr>
                        <a:t>：</a:t>
                      </a:r>
                      <a:r>
                        <a:rPr lang="zh-CN" altLang="en-US" sz="1200" b="0" i="0" u="none" strike="noStrike" dirty="0">
                          <a:solidFill>
                            <a:srgbClr val="FF0000"/>
                          </a:solidFill>
                          <a:effectLst/>
                          <a:latin typeface="宋体" panose="02010600030101010101" pitchFamily="2" charset="-122"/>
                          <a:ea typeface="宋体" panose="02010600030101010101" pitchFamily="2" charset="-122"/>
                        </a:rPr>
                        <a:t>直接定位到本人实习单位地点（工作时间签到打卡点），不可出现</a:t>
                      </a:r>
                      <a:r>
                        <a:rPr lang="en-US" altLang="zh-CN" sz="1200" b="0" i="0" u="none" strike="noStrike" dirty="0">
                          <a:solidFill>
                            <a:srgbClr val="FF0000"/>
                          </a:solidFill>
                          <a:effectLst/>
                          <a:latin typeface="宋体" panose="02010600030101010101" pitchFamily="2" charset="-122"/>
                          <a:ea typeface="宋体" panose="02010600030101010101" pitchFamily="2" charset="-122"/>
                        </a:rPr>
                        <a:t>XX</a:t>
                      </a:r>
                      <a:r>
                        <a:rPr lang="zh-CN" altLang="en-US" sz="1200" b="0" i="0" u="none" strike="noStrike" dirty="0">
                          <a:solidFill>
                            <a:srgbClr val="FF0000"/>
                          </a:solidFill>
                          <a:effectLst/>
                          <a:latin typeface="宋体" panose="02010600030101010101" pitchFamily="2" charset="-122"/>
                          <a:ea typeface="宋体" panose="02010600030101010101" pitchFamily="2" charset="-122"/>
                        </a:rPr>
                        <a:t>公交车站，地铁站</a:t>
                      </a:r>
                      <a:endParaRPr lang="zh-CN" altLang="en-US" sz="1200" b="0" i="0" u="none" strike="noStrike" dirty="0">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gridSpan="2">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住宿情况</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选填：</a:t>
                      </a:r>
                      <a:r>
                        <a:rPr lang="zh-CN" altLang="en-US" sz="1200" b="0" i="0" u="none" strike="noStrike">
                          <a:solidFill>
                            <a:srgbClr val="000000"/>
                          </a:solidFill>
                          <a:effectLst/>
                          <a:latin typeface="宋体" panose="02010600030101010101" pitchFamily="2" charset="-122"/>
                          <a:ea typeface="宋体" panose="02010600030101010101" pitchFamily="2" charset="-122"/>
                        </a:rPr>
                        <a:t>单位安排或自行落实（按实际填写）</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rowSpan="2">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监护人信息</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监护人姓名</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en-US" altLang="zh-CN" sz="1200" b="1" i="0" u="none" strike="noStrike">
                          <a:solidFill>
                            <a:srgbClr val="000000"/>
                          </a:solidFill>
                          <a:effectLst/>
                          <a:latin typeface="宋体" panose="02010600030101010101" pitchFamily="2" charset="-122"/>
                          <a:ea typeface="宋体" panose="02010600030101010101" pitchFamily="2" charset="-122"/>
                        </a:rPr>
                        <a:t>:</a:t>
                      </a:r>
                      <a:r>
                        <a:rPr lang="zh-CN" altLang="en-US" sz="1200" b="0" i="0" u="none" strike="noStrike">
                          <a:solidFill>
                            <a:srgbClr val="FF0000"/>
                          </a:solidFill>
                          <a:effectLst/>
                          <a:latin typeface="宋体" panose="02010600030101010101" pitchFamily="2" charset="-122"/>
                          <a:ea typeface="宋体" panose="02010600030101010101" pitchFamily="2" charset="-122"/>
                        </a:rPr>
                        <a:t>学生家长姓名</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监护人手机</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zh-CN" altLang="en-US" sz="1200" b="0" i="0" u="none" strike="noStrike">
                          <a:solidFill>
                            <a:srgbClr val="000000"/>
                          </a:solidFill>
                          <a:effectLst/>
                          <a:latin typeface="宋体" panose="02010600030101010101" pitchFamily="2" charset="-122"/>
                          <a:ea typeface="宋体" panose="02010600030101010101" pitchFamily="2" charset="-122"/>
                        </a:rPr>
                        <a:t>学生家长电话，要求必须保证能够联系上的</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353204">
                <a:tc gridSpan="2">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上传岗位证明</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cPr/>
                </a:tc>
                <a:tc>
                  <a:txBody>
                    <a:bodyPr/>
                    <a:lstStyle/>
                    <a:p>
                      <a:pPr algn="l" fontAlgn="ctr">
                        <a:buClrTx/>
                        <a:buSzTx/>
                        <a:buFontTx/>
                      </a:pPr>
                      <a:r>
                        <a:rPr lang="zh-CN" altLang="en-US" sz="1200" b="1" i="0" u="none" strike="noStrike" dirty="0">
                          <a:solidFill>
                            <a:srgbClr val="000000"/>
                          </a:solidFill>
                          <a:effectLst/>
                          <a:latin typeface="宋体" panose="02010600030101010101" pitchFamily="2" charset="-122"/>
                          <a:ea typeface="宋体" panose="02010600030101010101" pitchFamily="2" charset="-122"/>
                        </a:rPr>
                        <a:t>必填：</a:t>
                      </a:r>
                      <a:r>
                        <a:rPr lang="zh-CN" altLang="en-US" sz="1200" b="0" i="0" u="none" strike="noStrike" dirty="0">
                          <a:solidFill>
                            <a:srgbClr val="FF0000"/>
                          </a:solidFill>
                          <a:effectLst/>
                          <a:latin typeface="宋体" panose="02010600030101010101" pitchFamily="2" charset="-122"/>
                          <a:ea typeface="宋体" panose="02010600030101010101" pitchFamily="2" charset="-122"/>
                        </a:rPr>
                        <a:t>岗位证明</a:t>
                      </a:r>
                      <a:r>
                        <a:rPr lang="en-US" altLang="zh-CN" sz="1200" b="0" i="0" u="none" strike="noStrike" dirty="0">
                          <a:solidFill>
                            <a:srgbClr val="FF0000"/>
                          </a:solidFill>
                          <a:effectLst/>
                          <a:latin typeface="宋体" panose="02010600030101010101" pitchFamily="2" charset="-122"/>
                          <a:ea typeface="宋体" panose="02010600030101010101" pitchFamily="2" charset="-122"/>
                        </a:rPr>
                        <a:t>--</a:t>
                      </a:r>
                      <a:r>
                        <a:rPr lang="zh-CN" altLang="en-US" sz="1200" b="0" i="0" u="none" strike="noStrike" dirty="0">
                          <a:solidFill>
                            <a:srgbClr val="FF0000"/>
                          </a:solidFill>
                          <a:effectLst/>
                          <a:latin typeface="宋体" panose="02010600030101010101" pitchFamily="2" charset="-122"/>
                          <a:ea typeface="宋体" panose="02010600030101010101" pitchFamily="2" charset="-122"/>
                        </a:rPr>
                        <a:t>广州华立学院学生校外实习审批表</a:t>
                      </a:r>
                      <a:r>
                        <a:rPr lang="zh-CN" altLang="en-US" sz="1200" dirty="0">
                          <a:solidFill>
                            <a:srgbClr val="FF0000"/>
                          </a:solidFill>
                          <a:effectLst/>
                          <a:latin typeface="宋体" panose="02010600030101010101" pitchFamily="2" charset="-122"/>
                          <a:ea typeface="宋体" panose="02010600030101010101" pitchFamily="2" charset="-122"/>
                          <a:sym typeface="+mn-ea"/>
                        </a:rPr>
                        <a:t>或者实习接收证明</a:t>
                      </a:r>
                      <a:endParaRPr lang="zh-CN" altLang="en-US" sz="1200" b="0" i="0" u="none" strike="noStrike" dirty="0">
                        <a:solidFill>
                          <a:srgbClr val="FF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bl>
          </a:graphicData>
        </a:graphic>
      </p:graphicFrame>
    </p:spTree>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1999" cy="6857999"/>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grpSp>
        <p:nvGrpSpPr>
          <p:cNvPr id="12" name="组合 11"/>
          <p:cNvGrpSpPr/>
          <p:nvPr/>
        </p:nvGrpSpPr>
        <p:grpSpPr>
          <a:xfrm>
            <a:off x="11395754" y="64591"/>
            <a:ext cx="706423" cy="585558"/>
            <a:chOff x="10646410" y="5830570"/>
            <a:chExt cx="460375" cy="766445"/>
          </a:xfrm>
        </p:grpSpPr>
        <p:sp>
          <p:nvSpPr>
            <p:cNvPr id="6" name="矩形 5"/>
            <p:cNvSpPr/>
            <p:nvPr/>
          </p:nvSpPr>
          <p:spPr>
            <a:xfrm>
              <a:off x="10646410" y="5830570"/>
              <a:ext cx="460375" cy="766445"/>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0667813" y="5896772"/>
              <a:ext cx="436085" cy="6848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fld id="{5DE84415-B5B6-402A-810A-75E0261CEB98}" type="slidenum">
                <a:rPr kumimoji="0" lang="en-US" altLang="zh-CN" sz="2800" b="1" i="0" u="none" strike="noStrike" kern="1200" cap="none" spc="0" normalizeH="0" baseline="0" noProof="0" smtClean="0">
                  <a:ln>
                    <a:noFill/>
                  </a:ln>
                  <a:solidFill>
                    <a:prstClr val="white"/>
                  </a:solidFill>
                  <a:effectLst/>
                  <a:uLnTx/>
                  <a:uFillTx/>
                  <a:latin typeface="Calibri" panose="020F0502020204030204"/>
                  <a:ea typeface="宋体" panose="02010600030101010101" pitchFamily="2" charset="-122"/>
                  <a:cs typeface="+mn-cs"/>
                </a:rPr>
              </a:fld>
              <a:endParaRPr kumimoji="0" lang="en-US" altLang="zh-CN" sz="28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sp>
        <p:nvSpPr>
          <p:cNvPr id="13" name="文本框 12"/>
          <p:cNvSpPr txBox="1"/>
          <p:nvPr/>
        </p:nvSpPr>
        <p:spPr>
          <a:xfrm>
            <a:off x="360136" y="243176"/>
            <a:ext cx="7392048"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广州华立学院学生校外实习审批表或者实习接收证明</a:t>
            </a:r>
            <a:endParaRPr kumimoji="0" lang="zh-CN" altLang="en-US" sz="20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2" name="文本框 1"/>
          <p:cNvSpPr txBox="1"/>
          <p:nvPr/>
        </p:nvSpPr>
        <p:spPr>
          <a:xfrm>
            <a:off x="475615" y="1268730"/>
            <a:ext cx="6628765" cy="4366260"/>
          </a:xfrm>
          <a:prstGeom prst="rect">
            <a:avLst/>
          </a:prstGeom>
          <a:noFill/>
        </p:spPr>
        <p:txBody>
          <a:bodyPr wrap="square" rtlCol="0">
            <a:noAutofit/>
          </a:bodyPr>
          <a:lstStyle/>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学生确定实习单位和实习岗位后按照要求填写完整；</a:t>
            </a:r>
            <a:endPar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生产实习实习起止时间为：</a:t>
            </a:r>
            <a:r>
              <a:rPr kumimoji="0" lang="en-US" altLang="zh-CN"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2026</a:t>
            </a:r>
            <a:r>
              <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年</a:t>
            </a:r>
            <a:r>
              <a:rPr kumimoji="0" lang="en-US" altLang="zh-CN"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8</a:t>
            </a:r>
            <a:r>
              <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月</a:t>
            </a:r>
            <a:r>
              <a:rPr kumimoji="0" lang="en-US" altLang="zh-CN"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17</a:t>
            </a:r>
            <a:r>
              <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日</a:t>
            </a:r>
            <a:r>
              <a:rPr kumimoji="0" lang="en-US" altLang="zh-CN"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-2026</a:t>
            </a:r>
            <a:r>
              <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年</a:t>
            </a:r>
            <a:r>
              <a:rPr kumimoji="0" lang="en-US" altLang="zh-CN"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12</a:t>
            </a:r>
            <a:r>
              <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月</a:t>
            </a:r>
            <a:r>
              <a:rPr kumimoji="0" lang="en-US" altLang="zh-CN"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31</a:t>
            </a:r>
            <a:r>
              <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日；</a:t>
            </a:r>
            <a:endParaRPr kumimoji="0" lang="en-US" altLang="zh-CN"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要求学生签名、家长签名</a:t>
            </a:r>
            <a:r>
              <a:rPr kumimoji="0" lang="zh-CN" altLang="en-US"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手写</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lang="zh-CN" altLang="en-US" noProof="0" dirty="0">
                <a:ln>
                  <a:noFill/>
                </a:ln>
                <a:solidFill>
                  <a:prstClr val="black"/>
                </a:solidFill>
                <a:effectLst/>
                <a:uLnTx/>
                <a:uFillTx/>
                <a:latin typeface="宋体" panose="02010600030101010101" pitchFamily="2" charset="-122"/>
                <a:ea typeface="宋体" panose="02010600030101010101" pitchFamily="2" charset="-122"/>
                <a:sym typeface="+mn-ea"/>
              </a:rPr>
              <a:t>单位盖章可使用公章或合同专用章，企业人事专用章、人力资源部章等部门印章</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endPar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4.</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学生在校友邦进行实习报名时将此表扫描成</a:t>
            </a: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PDF</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（或者拍照）上传至“岗位证明”端口；</a:t>
            </a:r>
            <a:endPar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5.</a:t>
            </a:r>
            <a:r>
              <a:rPr kumimoji="0" lang="zh-CN" altLang="en-US"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原件实习结束后交学院指导老师</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endPar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pic>
        <p:nvPicPr>
          <p:cNvPr id="8" name="图片 7"/>
          <p:cNvPicPr>
            <a:picLocks noChangeAspect="1"/>
          </p:cNvPicPr>
          <p:nvPr/>
        </p:nvPicPr>
        <p:blipFill>
          <a:blip r:embed="rId1"/>
          <a:stretch>
            <a:fillRect/>
          </a:stretch>
        </p:blipFill>
        <p:spPr>
          <a:xfrm>
            <a:off x="7312025" y="650240"/>
            <a:ext cx="4448175" cy="5784850"/>
          </a:xfrm>
          <a:prstGeom prst="rect">
            <a:avLst/>
          </a:prstGeom>
        </p:spPr>
      </p:pic>
    </p:spTree>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 name="矩形 1"/>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矩形 2"/>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1617798" y="491074"/>
            <a:ext cx="695575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学院实习指导老师实习指导任务及校友邦操作指南</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a:off x="10822957" y="312648"/>
            <a:ext cx="74612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fld id="{5DE84415-B5B6-402A-810A-75E0261CEB98}" type="slidenum">
              <a:rPr kumimoji="0" lang="en-US" altLang="zh-CN" sz="2800" b="1" i="0" u="none" strike="noStrike" kern="1200" cap="none" spc="0" normalizeH="0" baseline="0" noProof="0" smtClean="0">
                <a:ln>
                  <a:noFill/>
                </a:ln>
                <a:solidFill>
                  <a:prstClr val="white"/>
                </a:solidFill>
                <a:effectLst/>
                <a:uLnTx/>
                <a:uFillTx/>
                <a:latin typeface="Calibri" panose="020F0502020204030204"/>
                <a:ea typeface="宋体" panose="02010600030101010101" pitchFamily="2" charset="-122"/>
                <a:cs typeface="+mn-cs"/>
              </a:rPr>
            </a:fld>
            <a:endParaRPr kumimoji="0" lang="en-US" altLang="zh-CN" sz="28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3" name="文本框 12"/>
          <p:cNvSpPr txBox="1"/>
          <p:nvPr/>
        </p:nvSpPr>
        <p:spPr>
          <a:xfrm>
            <a:off x="945770" y="1079093"/>
            <a:ext cx="10441160"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2.</a:t>
            </a:r>
            <a:r>
              <a:rPr kumimoji="0" lang="zh-CN" altLang="en-US"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查看学生安全责任书提交情况</a:t>
            </a:r>
            <a:endParaRPr kumimoji="0" lang="zh-CN" altLang="en-US"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pic>
        <p:nvPicPr>
          <p:cNvPr id="4" name="图片 3"/>
          <p:cNvPicPr>
            <a:picLocks noChangeAspect="1"/>
          </p:cNvPicPr>
          <p:nvPr/>
        </p:nvPicPr>
        <p:blipFill>
          <a:blip r:embed="rId1"/>
          <a:stretch>
            <a:fillRect/>
          </a:stretch>
        </p:blipFill>
        <p:spPr>
          <a:xfrm>
            <a:off x="215900" y="1516380"/>
            <a:ext cx="11760200" cy="5358130"/>
          </a:xfrm>
          <a:prstGeom prst="rect">
            <a:avLst/>
          </a:prstGeom>
        </p:spPr>
      </p:pic>
    </p:spTree>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 name="矩形 1"/>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矩形 2"/>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1617798" y="491074"/>
            <a:ext cx="695575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学院实习指导老师实习指导任务及校友邦操作指南</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13" name="文本框 12"/>
          <p:cNvSpPr txBox="1"/>
          <p:nvPr/>
        </p:nvSpPr>
        <p:spPr>
          <a:xfrm>
            <a:off x="945770" y="1079093"/>
            <a:ext cx="10441160"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3.</a:t>
            </a:r>
            <a:r>
              <a:rPr kumimoji="0" lang="zh-CN" altLang="en-US"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审核学生提交的监护人知情同意书</a:t>
            </a:r>
            <a:endParaRPr kumimoji="0" lang="zh-CN" altLang="en-US"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9" name="文本框 8"/>
          <p:cNvSpPr txBox="1"/>
          <p:nvPr/>
        </p:nvSpPr>
        <p:spPr>
          <a:xfrm>
            <a:off x="1113790" y="1539240"/>
            <a:ext cx="6134100" cy="39497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校友邦“过程管理”</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lang="zh-CN" altLang="en-US" sz="2000" b="1" noProof="0" dirty="0">
                <a:ln>
                  <a:noFill/>
                </a:ln>
                <a:solidFill>
                  <a:srgbClr val="7030A0"/>
                </a:solidFill>
                <a:effectLst/>
                <a:uLnTx/>
                <a:uFillTx/>
                <a:latin typeface="Calibri" panose="020F0502020204030204"/>
                <a:ea typeface="宋体" panose="02010600030101010101" pitchFamily="2" charset="-122"/>
                <a:sym typeface="+mn-ea"/>
              </a:rPr>
              <a:t>知情同意书</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“去审核”</a:t>
            </a:r>
            <a:endPar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endParaRPr>
          </a:p>
        </p:txBody>
      </p:sp>
      <p:pic>
        <p:nvPicPr>
          <p:cNvPr id="4" name="图片 3" descr="e18f5ba3e4dcc1f5eb646ae5dcf2d832"/>
          <p:cNvPicPr>
            <a:picLocks noChangeAspect="1"/>
          </p:cNvPicPr>
          <p:nvPr/>
        </p:nvPicPr>
        <p:blipFill>
          <a:blip r:embed="rId1"/>
          <a:stretch>
            <a:fillRect/>
          </a:stretch>
        </p:blipFill>
        <p:spPr>
          <a:xfrm>
            <a:off x="47625" y="1925320"/>
            <a:ext cx="11908155" cy="4932680"/>
          </a:xfrm>
          <a:prstGeom prst="rect">
            <a:avLst/>
          </a:prstGeom>
        </p:spPr>
      </p:pic>
    </p:spTree>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 name="矩形 1"/>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矩形 2"/>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1617798" y="491074"/>
            <a:ext cx="695575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学院实习指导老师实习指导任务及校友邦操作指南</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13" name="文本框 12"/>
          <p:cNvSpPr txBox="1"/>
          <p:nvPr/>
        </p:nvSpPr>
        <p:spPr>
          <a:xfrm>
            <a:off x="945770" y="1079093"/>
            <a:ext cx="10441160"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4.</a:t>
            </a:r>
            <a:r>
              <a:rPr kumimoji="0" lang="zh-CN" altLang="en-US"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审核学生三方协议</a:t>
            </a:r>
            <a:endParaRPr kumimoji="0" lang="zh-CN" altLang="en-US"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9" name="文本框 8"/>
          <p:cNvSpPr txBox="1"/>
          <p:nvPr/>
        </p:nvSpPr>
        <p:spPr>
          <a:xfrm>
            <a:off x="1113790" y="1490345"/>
            <a:ext cx="7447280" cy="52197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校友邦“过程管理”</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“三方协议”</a:t>
            </a:r>
            <a:r>
              <a:rPr lang="en-US" altLang="zh-CN" sz="2000" b="1" noProof="0" dirty="0">
                <a:ln>
                  <a:noFill/>
                </a:ln>
                <a:solidFill>
                  <a:srgbClr val="7030A0"/>
                </a:solidFill>
                <a:effectLst/>
                <a:uLnTx/>
                <a:uFillTx/>
                <a:latin typeface="Calibri" panose="020F0502020204030204"/>
                <a:ea typeface="宋体" panose="02010600030101010101" pitchFamily="2" charset="-122"/>
                <a:sym typeface="+mn-ea"/>
              </a:rPr>
              <a:t>—</a:t>
            </a:r>
            <a:r>
              <a:rPr lang="zh-CN" altLang="en-US" sz="2000" b="1" noProof="0" dirty="0">
                <a:ln>
                  <a:noFill/>
                </a:ln>
                <a:solidFill>
                  <a:srgbClr val="7030A0"/>
                </a:solidFill>
                <a:effectLst/>
                <a:uLnTx/>
                <a:uFillTx/>
                <a:latin typeface="Calibri" panose="020F0502020204030204"/>
                <a:ea typeface="宋体" panose="02010600030101010101" pitchFamily="2" charset="-122"/>
                <a:sym typeface="+mn-ea"/>
              </a:rPr>
              <a:t>“待审核”</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“去审核”</a:t>
            </a:r>
            <a:endPar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endParaRPr>
          </a:p>
        </p:txBody>
      </p:sp>
      <p:pic>
        <p:nvPicPr>
          <p:cNvPr id="4" name="图片 3"/>
          <p:cNvPicPr>
            <a:picLocks noChangeAspect="1"/>
          </p:cNvPicPr>
          <p:nvPr/>
        </p:nvPicPr>
        <p:blipFill>
          <a:blip r:embed="rId1"/>
          <a:stretch>
            <a:fillRect/>
          </a:stretch>
        </p:blipFill>
        <p:spPr>
          <a:xfrm>
            <a:off x="-24765" y="1971040"/>
            <a:ext cx="12192000" cy="4987925"/>
          </a:xfrm>
          <a:prstGeom prst="rect">
            <a:avLst/>
          </a:prstGeom>
        </p:spPr>
      </p:pic>
    </p:spTree>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广州华立学院学生校外实习单位审批表或者实习单位接收证明</a:t>
            </a:r>
            <a:endPar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sp>
        <p:nvSpPr>
          <p:cNvPr id="6" name="矩形 5"/>
          <p:cNvSpPr/>
          <p:nvPr/>
        </p:nvSpPr>
        <p:spPr>
          <a:xfrm>
            <a:off x="10689798" y="191036"/>
            <a:ext cx="746125" cy="766445"/>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3" name="文本框 12"/>
          <p:cNvSpPr txBox="1"/>
          <p:nvPr/>
        </p:nvSpPr>
        <p:spPr>
          <a:xfrm>
            <a:off x="356866" y="191036"/>
            <a:ext cx="6572735"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广州华立学院学生校外实习</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三方协议书</a:t>
            </a:r>
            <a:endParaRPr kumimoji="0" lang="zh-CN" altLang="en-US" sz="1800" b="1"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endParaRPr>
          </a:p>
        </p:txBody>
      </p:sp>
      <p:sp>
        <p:nvSpPr>
          <p:cNvPr id="7" name="文本框 6"/>
          <p:cNvSpPr txBox="1"/>
          <p:nvPr/>
        </p:nvSpPr>
        <p:spPr>
          <a:xfrm>
            <a:off x="10822957" y="312648"/>
            <a:ext cx="74612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fld id="{5DE84415-B5B6-402A-810A-75E0261CEB98}" type="slidenum">
              <a:rPr kumimoji="0" lang="en-US" altLang="zh-CN" sz="2800" b="1" i="0" u="none" strike="noStrike" kern="1200" cap="none" spc="0" normalizeH="0" baseline="0" noProof="0" smtClean="0">
                <a:ln>
                  <a:noFill/>
                </a:ln>
                <a:solidFill>
                  <a:prstClr val="white"/>
                </a:solidFill>
                <a:effectLst/>
                <a:uLnTx/>
                <a:uFillTx/>
                <a:latin typeface="Calibri" panose="020F0502020204030204"/>
                <a:ea typeface="宋体" panose="02010600030101010101" pitchFamily="2" charset="-122"/>
                <a:cs typeface="+mn-cs"/>
              </a:rPr>
            </a:fld>
            <a:endParaRPr kumimoji="0" lang="en-US" altLang="zh-CN" sz="28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2" name="文本框 1"/>
          <p:cNvSpPr txBox="1"/>
          <p:nvPr/>
        </p:nvSpPr>
        <p:spPr>
          <a:xfrm>
            <a:off x="391795" y="1211580"/>
            <a:ext cx="6280150" cy="5538470"/>
          </a:xfrm>
          <a:prstGeom prst="rect">
            <a:avLst/>
          </a:prstGeom>
          <a:noFill/>
        </p:spPr>
        <p:txBody>
          <a:bodyPr wrap="square" rtlCol="0">
            <a:noAutofit/>
          </a:bodyPr>
          <a:lstStyle/>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 </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实习三方协议，学校提供模板（校友邦“三方协议”端口下载），学生尽量按照学校的模板与企业签订。但学校尊重学生和企业的意见，只要学生和企业协商好了，双方没有任何问题，校方只是作为第三方见证人。</a:t>
            </a:r>
            <a:r>
              <a:rPr kumimoji="0" lang="zh-CN" altLang="en-US" sz="16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凡是不按照学校提供的模板，或者对模板有修改的，务必要求学生必须拿给家长和学院把关。</a:t>
            </a:r>
            <a:endParaRPr kumimoji="0" lang="zh-CN" altLang="en-US" sz="16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学校提供的模板可在校友邦“三方协议”端口下载，</a:t>
            </a:r>
            <a:r>
              <a:rPr kumimoji="0" lang="zh-CN" altLang="en-US" sz="16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学生彩色打印</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，相关内容手写填写完整、实习单位盖章清晰</a:t>
            </a:r>
            <a:r>
              <a:rPr lang="zh-CN" altLang="en-US" sz="1600" noProof="0" dirty="0">
                <a:solidFill>
                  <a:prstClr val="black"/>
                </a:solidFill>
                <a:latin typeface="宋体" panose="02010600030101010101" pitchFamily="2" charset="-122"/>
                <a:ea typeface="宋体" panose="02010600030101010101" pitchFamily="2" charset="-122"/>
                <a:sym typeface="+mn-ea"/>
              </a:rPr>
              <a:t>要求为公章、合同专用章和</a:t>
            </a: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企业人事专用章、人力资源部章等部门印章</a:t>
            </a:r>
            <a:r>
              <a:rPr lang="zh-CN" altLang="en-US" sz="1600" noProof="0" dirty="0">
                <a:solidFill>
                  <a:prstClr val="black"/>
                </a:solidFill>
                <a:latin typeface="宋体" panose="02010600030101010101" pitchFamily="2" charset="-122"/>
                <a:ea typeface="宋体" panose="02010600030101010101" pitchFamily="2" charset="-122"/>
                <a:sym typeface="+mn-ea"/>
              </a:rPr>
              <a:t>）和学生签名</a:t>
            </a:r>
            <a:r>
              <a:rPr lang="zh-CN" altLang="en-US" sz="1600" noProof="0" dirty="0">
                <a:solidFill>
                  <a:srgbClr val="FF0000"/>
                </a:solidFill>
                <a:latin typeface="宋体" panose="02010600030101010101" pitchFamily="2" charset="-122"/>
                <a:ea typeface="宋体" panose="02010600030101010101" pitchFamily="2" charset="-122"/>
                <a:sym typeface="+mn-ea"/>
              </a:rPr>
              <a:t>（手写）</a:t>
            </a:r>
            <a:r>
              <a:rPr lang="zh-CN" altLang="en-US" sz="1600" noProof="0" dirty="0">
                <a:solidFill>
                  <a:prstClr val="black"/>
                </a:solidFill>
                <a:latin typeface="宋体" panose="02010600030101010101" pitchFamily="2" charset="-122"/>
                <a:ea typeface="宋体" panose="02010600030101010101" pitchFamily="2" charset="-122"/>
                <a:sym typeface="+mn-ea"/>
              </a:rPr>
              <a:t>。</a:t>
            </a:r>
            <a:endParaRPr kumimoji="0" lang="zh-CN" altLang="en-US" sz="1600" b="0" i="0" kern="1200" cap="none" spc="0" normalizeH="0" baseline="0" noProof="0" dirty="0">
              <a:solidFill>
                <a:prstClr val="black"/>
              </a:solidFill>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督促提醒学生确定实习单位后与实习企业签订后拍照上传校友邦“三方协议”端口，</a:t>
            </a:r>
            <a:r>
              <a:rPr kumimoji="0" lang="zh-CN" altLang="en-US" sz="1600"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原件实习结束后交学院指导老师。</a:t>
            </a:r>
            <a:endParaRPr kumimoji="0" lang="zh-CN" altLang="en-US" sz="1600"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4.</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要求自己所带学生</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100%</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提交。</a:t>
            </a:r>
            <a:endPar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pic>
        <p:nvPicPr>
          <p:cNvPr id="1073742850" name="图片 1073742849"/>
          <p:cNvPicPr>
            <a:picLocks noChangeAspect="1"/>
          </p:cNvPicPr>
          <p:nvPr/>
        </p:nvPicPr>
        <p:blipFill>
          <a:blip r:embed="rId1"/>
          <a:stretch>
            <a:fillRect/>
          </a:stretch>
        </p:blipFill>
        <p:spPr>
          <a:xfrm>
            <a:off x="7104380" y="765175"/>
            <a:ext cx="4583430" cy="5887720"/>
          </a:xfrm>
          <a:prstGeom prst="rect">
            <a:avLst/>
          </a:prstGeom>
          <a:noFill/>
          <a:ln w="9525">
            <a:noFill/>
          </a:ln>
        </p:spPr>
      </p:pic>
    </p:spTree>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6688" y="0"/>
            <a:ext cx="12288688" cy="6858000"/>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 name="矩形 1"/>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矩形 2"/>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1617798" y="491074"/>
            <a:ext cx="695575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学院实习指导老师实习指导任务及校友邦操作指南</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13" name="文本框 12"/>
          <p:cNvSpPr txBox="1"/>
          <p:nvPr/>
        </p:nvSpPr>
        <p:spPr>
          <a:xfrm>
            <a:off x="875665" y="952500"/>
            <a:ext cx="10441305" cy="51943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5.</a:t>
            </a:r>
            <a:r>
              <a:rPr kumimoji="0" lang="zh-CN" altLang="en-US"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检查签到</a:t>
            </a:r>
            <a:endParaRPr kumimoji="0" lang="zh-CN" altLang="en-US"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pic>
        <p:nvPicPr>
          <p:cNvPr id="6" name="图片 5" descr="d1c0322a48598a9f438e94f120b64b20"/>
          <p:cNvPicPr>
            <a:picLocks noChangeAspect="1"/>
          </p:cNvPicPr>
          <p:nvPr/>
        </p:nvPicPr>
        <p:blipFill>
          <a:blip r:embed="rId1"/>
          <a:stretch>
            <a:fillRect/>
          </a:stretch>
        </p:blipFill>
        <p:spPr>
          <a:xfrm>
            <a:off x="-24765" y="1958340"/>
            <a:ext cx="12192000" cy="4899660"/>
          </a:xfrm>
          <a:prstGeom prst="rect">
            <a:avLst/>
          </a:prstGeom>
        </p:spPr>
      </p:pic>
      <p:sp>
        <p:nvSpPr>
          <p:cNvPr id="4" name="对话气泡: 圆角矩形 3"/>
          <p:cNvSpPr/>
          <p:nvPr/>
        </p:nvSpPr>
        <p:spPr>
          <a:xfrm>
            <a:off x="7031990" y="2637155"/>
            <a:ext cx="4984115" cy="1434465"/>
          </a:xfrm>
          <a:prstGeom prst="wedgeRoundRectCallout">
            <a:avLst>
              <a:gd name="adj1" fmla="val -80093"/>
              <a:gd name="adj2" fmla="val -84484"/>
              <a:gd name="adj3" fmla="val 16667"/>
            </a:avLst>
          </a:prstGeom>
          <a:no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w="9525">
                  <a:solidFill>
                    <a:prstClr val="black"/>
                  </a:solidFill>
                </a:ln>
                <a:solidFill>
                  <a:prstClr val="black"/>
                </a:solidFill>
                <a:effectLst/>
                <a:uLnTx/>
                <a:uFillTx/>
                <a:latin typeface="宋体" panose="02010600030101010101" pitchFamily="2" charset="-122"/>
                <a:ea typeface="宋体" panose="02010600030101010101" pitchFamily="2" charset="-122"/>
                <a:cs typeface="+mn-cs"/>
              </a:rPr>
              <a:t>要求</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endPar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1</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）学生每个工作日（以学生所在实习单位工作时间为准）在校友邦完成实习签到打卡；</a:t>
            </a:r>
            <a:endPar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2</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）签到地点为当前实习单位地点，如遇到外派跟进项目，打卡地点为外勤，超过一个星期以上的外勤需要指导老师去了解学生情况，是否有实习单位变动或其他异常情况。</a:t>
            </a:r>
            <a:endPar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
        <p:nvSpPr>
          <p:cNvPr id="8" name="文本框 7"/>
          <p:cNvSpPr txBox="1"/>
          <p:nvPr/>
        </p:nvSpPr>
        <p:spPr>
          <a:xfrm>
            <a:off x="875665" y="1487805"/>
            <a:ext cx="9829165" cy="45085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查看自己所带学生签到情况：校友邦“过程管理”</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签到统计”</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签到汇总统计”</a:t>
            </a:r>
            <a:endPar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endParaRPr>
          </a:p>
        </p:txBody>
      </p:sp>
    </p:spTree>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 name="矩形 1"/>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矩形 2"/>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1617798" y="491074"/>
            <a:ext cx="695575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学院实习指导老师实习指导任务及校友邦操作指南</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a:off x="10822957" y="312648"/>
            <a:ext cx="74612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fld id="{5DE84415-B5B6-402A-810A-75E0261CEB98}" type="slidenum">
              <a:rPr kumimoji="0" lang="en-US" altLang="zh-CN" sz="2800" b="1" i="0" u="none" strike="noStrike" kern="1200" cap="none" spc="0" normalizeH="0" baseline="0" noProof="0" smtClean="0">
                <a:ln>
                  <a:noFill/>
                </a:ln>
                <a:solidFill>
                  <a:prstClr val="white"/>
                </a:solidFill>
                <a:effectLst/>
                <a:uLnTx/>
                <a:uFillTx/>
                <a:latin typeface="Calibri" panose="020F0502020204030204"/>
                <a:ea typeface="宋体" panose="02010600030101010101" pitchFamily="2" charset="-122"/>
                <a:cs typeface="+mn-cs"/>
              </a:rPr>
            </a:fld>
            <a:endParaRPr kumimoji="0" lang="en-US" altLang="zh-CN" sz="28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3" name="文本框 12"/>
          <p:cNvSpPr txBox="1"/>
          <p:nvPr/>
        </p:nvSpPr>
        <p:spPr>
          <a:xfrm>
            <a:off x="875420" y="986261"/>
            <a:ext cx="10441160"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6.</a:t>
            </a:r>
            <a:r>
              <a:rPr kumimoji="0" lang="zh-CN" altLang="en-US"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周志批阅</a:t>
            </a:r>
            <a:endParaRPr kumimoji="0" lang="zh-CN" altLang="en-US"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4" name="文本框 3"/>
          <p:cNvSpPr txBox="1"/>
          <p:nvPr/>
        </p:nvSpPr>
        <p:spPr>
          <a:xfrm>
            <a:off x="875665" y="1532255"/>
            <a:ext cx="10910570"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校友邦“过程管理”</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“周日志批阅”</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“周志”</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“去批阅”</a:t>
            </a:r>
            <a:endPar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endParaRPr>
          </a:p>
        </p:txBody>
      </p:sp>
      <p:pic>
        <p:nvPicPr>
          <p:cNvPr id="6" name="图片 5"/>
          <p:cNvPicPr>
            <a:picLocks noChangeAspect="1"/>
          </p:cNvPicPr>
          <p:nvPr/>
        </p:nvPicPr>
        <p:blipFill>
          <a:blip r:embed="rId1"/>
          <a:stretch>
            <a:fillRect/>
          </a:stretch>
        </p:blipFill>
        <p:spPr>
          <a:xfrm>
            <a:off x="0" y="2008505"/>
            <a:ext cx="12096750" cy="4795520"/>
          </a:xfrm>
          <a:prstGeom prst="rect">
            <a:avLst/>
          </a:prstGeom>
        </p:spPr>
      </p:pic>
    </p:spTree>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广州华立学院学生校外实习单位审批表或者实习单位接收证明</a:t>
            </a:r>
            <a:endPar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sp>
        <p:nvSpPr>
          <p:cNvPr id="6" name="矩形 5"/>
          <p:cNvSpPr/>
          <p:nvPr/>
        </p:nvSpPr>
        <p:spPr>
          <a:xfrm>
            <a:off x="10689798" y="191036"/>
            <a:ext cx="746125" cy="766445"/>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0822957" y="312648"/>
            <a:ext cx="74612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fld id="{5DE84415-B5B6-402A-810A-75E0261CEB98}" type="slidenum">
              <a:rPr kumimoji="0" lang="en-US" altLang="zh-CN" sz="2800" b="1" i="0" u="none" strike="noStrike" kern="1200" cap="none" spc="0" normalizeH="0" baseline="0" noProof="0" smtClean="0">
                <a:ln>
                  <a:noFill/>
                </a:ln>
                <a:solidFill>
                  <a:prstClr val="white"/>
                </a:solidFill>
                <a:effectLst/>
                <a:uLnTx/>
                <a:uFillTx/>
                <a:latin typeface="Calibri" panose="020F0502020204030204"/>
                <a:ea typeface="宋体" panose="02010600030101010101" pitchFamily="2" charset="-122"/>
                <a:cs typeface="+mn-cs"/>
              </a:rPr>
            </a:fld>
            <a:endParaRPr kumimoji="0" lang="en-US" altLang="zh-CN" sz="28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3" name="文本框 12"/>
          <p:cNvSpPr txBox="1"/>
          <p:nvPr/>
        </p:nvSpPr>
        <p:spPr>
          <a:xfrm>
            <a:off x="444500" y="149225"/>
            <a:ext cx="7341235" cy="75946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校外实习工作周小结（</a:t>
            </a:r>
            <a:r>
              <a:rPr kumimoji="0" lang="en-US" altLang="zh-CN"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20</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篇</a:t>
            </a:r>
            <a:r>
              <a:rPr kumimoji="0" lang="en-US" altLang="zh-CN"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护理学专业</a:t>
            </a:r>
            <a:r>
              <a:rPr kumimoji="0" lang="en-US" altLang="zh-CN"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40</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篇）</a:t>
            </a:r>
            <a:endPar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2" name="文本框 1"/>
          <p:cNvSpPr txBox="1"/>
          <p:nvPr/>
        </p:nvSpPr>
        <p:spPr>
          <a:xfrm>
            <a:off x="294005" y="1052830"/>
            <a:ext cx="6723380" cy="5832475"/>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实习学生在实习期间，每周联系学院指导老师一次，根据实习工作在校友邦的“周志”端撰写工作周小结（附表</a:t>
            </a: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en-US" altLang="zh-CN"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300</a:t>
            </a:r>
            <a:r>
              <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字以上，周小结内容包括：本周完成工作、工作过程中存在问题和困惑、与学院指导老师联系情况。</a:t>
            </a:r>
            <a:endParaRPr kumimoji="0" lang="en-US" altLang="zh-CN"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学院实习指导教师在校友邦平台“周日志”</a:t>
            </a: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“周志”端对学生周志做出针对性批阅，能够表现出教师对学生做了哪些针对性的指导、疏导或帮助，</a:t>
            </a:r>
            <a:r>
              <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切不可批阅语过于简单，不可所有学生批阅语一样。</a:t>
            </a:r>
            <a:endPar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要求学生实习期间每周按时提交，</a:t>
            </a:r>
            <a:r>
              <a:rPr kumimoji="0" lang="zh-CN" altLang="en-US"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实习结束后不允许补交。</a:t>
            </a:r>
            <a:endParaRPr kumimoji="0" lang="zh-CN" altLang="en-US"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endParaRPr>
          </a:p>
        </p:txBody>
      </p:sp>
      <p:pic>
        <p:nvPicPr>
          <p:cNvPr id="4" name="图片 1"/>
          <p:cNvPicPr>
            <a:picLocks noChangeAspect="1"/>
          </p:cNvPicPr>
          <p:nvPr/>
        </p:nvPicPr>
        <p:blipFill>
          <a:blip r:embed="rId1"/>
          <a:stretch>
            <a:fillRect/>
          </a:stretch>
        </p:blipFill>
        <p:spPr>
          <a:xfrm>
            <a:off x="7501255" y="956945"/>
            <a:ext cx="4341495" cy="5744210"/>
          </a:xfrm>
          <a:prstGeom prst="rect">
            <a:avLst/>
          </a:prstGeom>
          <a:noFill/>
          <a:ln>
            <a:noFill/>
          </a:ln>
        </p:spPr>
      </p:pic>
    </p:spTree>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 name="矩形 1"/>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矩形 2"/>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1617798" y="491074"/>
            <a:ext cx="695575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学院实习指导老师实习指导任务及校友邦操作指南</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a:off x="10822957" y="312648"/>
            <a:ext cx="74612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fld id="{5DE84415-B5B6-402A-810A-75E0261CEB98}" type="slidenum">
              <a:rPr kumimoji="0" lang="en-US" altLang="zh-CN" sz="2800" b="1" i="0" u="none" strike="noStrike" kern="1200" cap="none" spc="0" normalizeH="0" baseline="0" noProof="0" smtClean="0">
                <a:ln>
                  <a:noFill/>
                </a:ln>
                <a:solidFill>
                  <a:prstClr val="white"/>
                </a:solidFill>
                <a:effectLst/>
                <a:uLnTx/>
                <a:uFillTx/>
                <a:latin typeface="Calibri" panose="020F0502020204030204"/>
                <a:ea typeface="宋体" panose="02010600030101010101" pitchFamily="2" charset="-122"/>
                <a:cs typeface="+mn-cs"/>
              </a:rPr>
            </a:fld>
            <a:endParaRPr kumimoji="0" lang="en-US" altLang="zh-CN" sz="28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3" name="文本框 12"/>
          <p:cNvSpPr txBox="1"/>
          <p:nvPr/>
        </p:nvSpPr>
        <p:spPr>
          <a:xfrm>
            <a:off x="875420" y="986261"/>
            <a:ext cx="10441160"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7.</a:t>
            </a:r>
            <a:r>
              <a:rPr kumimoji="0" lang="zh-CN" altLang="en-US"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学生变更实习单位审批</a:t>
            </a:r>
            <a:endParaRPr kumimoji="0" lang="zh-CN" altLang="en-US"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4" name="文本框 3"/>
          <p:cNvSpPr txBox="1"/>
          <p:nvPr/>
        </p:nvSpPr>
        <p:spPr>
          <a:xfrm>
            <a:off x="875420" y="1532033"/>
            <a:ext cx="6912768"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校友邦“过程管理”</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“实习单位变更”</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“去审核”</a:t>
            </a:r>
            <a:endPar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endParaRPr>
          </a:p>
        </p:txBody>
      </p:sp>
      <p:pic>
        <p:nvPicPr>
          <p:cNvPr id="6" name="图片 5"/>
          <p:cNvPicPr>
            <a:picLocks noChangeAspect="1"/>
          </p:cNvPicPr>
          <p:nvPr/>
        </p:nvPicPr>
        <p:blipFill>
          <a:blip r:embed="rId1"/>
          <a:stretch>
            <a:fillRect/>
          </a:stretch>
        </p:blipFill>
        <p:spPr>
          <a:xfrm>
            <a:off x="16510" y="1901190"/>
            <a:ext cx="12150725" cy="4939030"/>
          </a:xfrm>
          <a:prstGeom prst="rect">
            <a:avLst/>
          </a:prstGeom>
        </p:spPr>
      </p:pic>
    </p:spTree>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广州华立学院学生校外实习单位审批表或者实习单位接收证明</a:t>
            </a:r>
            <a:endPar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sp>
        <p:nvSpPr>
          <p:cNvPr id="6" name="矩形 5"/>
          <p:cNvSpPr/>
          <p:nvPr/>
        </p:nvSpPr>
        <p:spPr>
          <a:xfrm>
            <a:off x="10689798" y="191036"/>
            <a:ext cx="746125" cy="766445"/>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0822957" y="312648"/>
            <a:ext cx="74612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fld id="{5DE84415-B5B6-402A-810A-75E0261CEB98}" type="slidenum">
              <a:rPr kumimoji="0" lang="en-US" altLang="zh-CN" sz="2800" b="1" i="0" u="none" strike="noStrike" kern="1200" cap="none" spc="0" normalizeH="0" baseline="0" noProof="0" smtClean="0">
                <a:ln>
                  <a:noFill/>
                </a:ln>
                <a:solidFill>
                  <a:prstClr val="white"/>
                </a:solidFill>
                <a:effectLst/>
                <a:uLnTx/>
                <a:uFillTx/>
                <a:latin typeface="Calibri" panose="020F0502020204030204"/>
                <a:ea typeface="宋体" panose="02010600030101010101" pitchFamily="2" charset="-122"/>
                <a:cs typeface="+mn-cs"/>
              </a:rPr>
            </a:fld>
            <a:endParaRPr kumimoji="0" lang="en-US" altLang="zh-CN" sz="28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3" name="文本框 12"/>
          <p:cNvSpPr txBox="1"/>
          <p:nvPr/>
        </p:nvSpPr>
        <p:spPr>
          <a:xfrm>
            <a:off x="407368" y="240928"/>
            <a:ext cx="6572735"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校外实习学生变更实习单位审批表</a:t>
            </a:r>
            <a:endPar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2" name="文本框 1"/>
          <p:cNvSpPr txBox="1"/>
          <p:nvPr/>
        </p:nvSpPr>
        <p:spPr>
          <a:xfrm>
            <a:off x="479425" y="1096010"/>
            <a:ext cx="6624955" cy="5671185"/>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要求学生原则上实习期间尽量不要变更实习单位，如果实习期间有变更实习单位的学生需要填写</a:t>
            </a: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附表</a:t>
            </a: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D </a:t>
            </a:r>
            <a:r>
              <a:rPr kumimoji="0" lang="zh-CN" altLang="en-US"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校外实习学生</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变更实习单位审批表</a:t>
            </a: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（变更一次填写一次）。</a:t>
            </a:r>
            <a:endPar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批阅要点：内容填写完整，申请离岗（转实习单位）的理由、落实的新实习单位和实习岗位的具体情况及换岗承诺明确清晰，</a:t>
            </a:r>
            <a:r>
              <a:rPr kumimoji="0" lang="zh-CN" altLang="en-US"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其中学生签名需要手写。</a:t>
            </a:r>
            <a:endParaRPr kumimoji="0" lang="zh-CN" altLang="en-US"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学生</a:t>
            </a:r>
            <a:r>
              <a:rPr kumimoji="0" lang="zh-CN" altLang="en-US"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变更实习单位当周</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拍照上传校友邦“实习单位变更”端口，学院实习指导老师在校友邦“实习单位变更”端口批阅，</a:t>
            </a:r>
            <a:r>
              <a:rPr kumimoji="0" lang="zh-CN" altLang="en-US"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原件实习结束后交学院指导老师。</a:t>
            </a:r>
            <a:endParaRPr kumimoji="0" lang="zh-CN" altLang="en-US"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endParaRPr>
          </a:p>
        </p:txBody>
      </p:sp>
      <p:pic>
        <p:nvPicPr>
          <p:cNvPr id="3" name="图片 1"/>
          <p:cNvPicPr>
            <a:picLocks noChangeAspect="1"/>
          </p:cNvPicPr>
          <p:nvPr/>
        </p:nvPicPr>
        <p:blipFill>
          <a:blip r:embed="rId1"/>
          <a:stretch>
            <a:fillRect/>
          </a:stretch>
        </p:blipFill>
        <p:spPr>
          <a:xfrm>
            <a:off x="7299960" y="885825"/>
            <a:ext cx="4366260" cy="5889625"/>
          </a:xfrm>
          <a:prstGeom prst="rect">
            <a:avLst/>
          </a:prstGeom>
          <a:noFill/>
          <a:ln>
            <a:noFill/>
          </a:ln>
        </p:spPr>
      </p:pic>
    </p:spTree>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 name="矩形 1"/>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矩形 2"/>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1617798" y="491074"/>
            <a:ext cx="695575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学院实习指导老师实习指导任务及校友邦操作指南</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a:off x="10822957" y="312648"/>
            <a:ext cx="74612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fld id="{5DE84415-B5B6-402A-810A-75E0261CEB98}" type="slidenum">
              <a:rPr kumimoji="0" lang="en-US" altLang="zh-CN" sz="2800" b="1" i="0" u="none" strike="noStrike" kern="1200" cap="none" spc="0" normalizeH="0" baseline="0" noProof="0" smtClean="0">
                <a:ln>
                  <a:noFill/>
                </a:ln>
                <a:solidFill>
                  <a:prstClr val="white"/>
                </a:solidFill>
                <a:effectLst/>
                <a:uLnTx/>
                <a:uFillTx/>
                <a:latin typeface="Calibri" panose="020F0502020204030204"/>
                <a:ea typeface="宋体" panose="02010600030101010101" pitchFamily="2" charset="-122"/>
                <a:cs typeface="+mn-cs"/>
              </a:rPr>
            </a:fld>
            <a:endParaRPr kumimoji="0" lang="en-US" altLang="zh-CN" sz="28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3" name="文本框 12"/>
          <p:cNvSpPr txBox="1"/>
          <p:nvPr/>
        </p:nvSpPr>
        <p:spPr>
          <a:xfrm>
            <a:off x="875420" y="1018902"/>
            <a:ext cx="11316580"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8.</a:t>
            </a:r>
            <a:r>
              <a:rPr kumimoji="0" lang="zh-CN" altLang="en-US"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督促学生完成实习评价</a:t>
            </a:r>
            <a:endParaRPr kumimoji="0" lang="zh-CN" altLang="en-US"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4" name="文本框 3"/>
          <p:cNvSpPr txBox="1"/>
          <p:nvPr/>
        </p:nvSpPr>
        <p:spPr>
          <a:xfrm>
            <a:off x="911424" y="1481883"/>
            <a:ext cx="8856984"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督促自己所带学生按照要求完成学生评价：“过程管理”</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“实习评价”</a:t>
            </a:r>
            <a:endPar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endParaRPr>
          </a:p>
        </p:txBody>
      </p:sp>
      <p:pic>
        <p:nvPicPr>
          <p:cNvPr id="6" name="图片 5"/>
          <p:cNvPicPr>
            <a:picLocks noChangeAspect="1"/>
          </p:cNvPicPr>
          <p:nvPr/>
        </p:nvPicPr>
        <p:blipFill>
          <a:blip r:embed="rId1"/>
          <a:stretch>
            <a:fillRect/>
          </a:stretch>
        </p:blipFill>
        <p:spPr>
          <a:xfrm>
            <a:off x="118745" y="1883410"/>
            <a:ext cx="12012930" cy="4916805"/>
          </a:xfrm>
          <a:prstGeom prst="rect">
            <a:avLst/>
          </a:prstGeom>
        </p:spPr>
      </p:pic>
    </p:spTree>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 name="矩形 1"/>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矩形 2"/>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1617798" y="491074"/>
            <a:ext cx="695575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学院实习指导老师实习指导任务及校友邦操作指南</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a:off x="10822957" y="312648"/>
            <a:ext cx="74612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fld id="{5DE84415-B5B6-402A-810A-75E0261CEB98}" type="slidenum">
              <a:rPr kumimoji="0" lang="en-US" altLang="zh-CN" sz="2800" b="1" i="0" u="none" strike="noStrike" kern="1200" cap="none" spc="0" normalizeH="0" baseline="0" noProof="0" smtClean="0">
                <a:ln>
                  <a:noFill/>
                </a:ln>
                <a:solidFill>
                  <a:prstClr val="white"/>
                </a:solidFill>
                <a:effectLst/>
                <a:uLnTx/>
                <a:uFillTx/>
                <a:latin typeface="Calibri" panose="020F0502020204030204"/>
                <a:ea typeface="宋体" panose="02010600030101010101" pitchFamily="2" charset="-122"/>
                <a:cs typeface="+mn-cs"/>
              </a:rPr>
            </a:fld>
            <a:endParaRPr kumimoji="0" lang="en-US" altLang="zh-CN" sz="28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3" name="文本框 12"/>
          <p:cNvSpPr txBox="1"/>
          <p:nvPr/>
        </p:nvSpPr>
        <p:spPr>
          <a:xfrm>
            <a:off x="875420" y="1018902"/>
            <a:ext cx="10441160"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9.</a:t>
            </a:r>
            <a:r>
              <a:rPr kumimoji="0" lang="zh-CN" altLang="en-US"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实习报告批阅</a:t>
            </a:r>
            <a:endParaRPr kumimoji="0" lang="zh-CN" altLang="en-US"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4" name="文本框 3"/>
          <p:cNvSpPr txBox="1"/>
          <p:nvPr/>
        </p:nvSpPr>
        <p:spPr>
          <a:xfrm>
            <a:off x="925830" y="1483995"/>
            <a:ext cx="6177915"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校友邦“过程管理”</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“报告批阅”</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“去批阅”</a:t>
            </a:r>
            <a:endPar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endParaRPr>
          </a:p>
        </p:txBody>
      </p:sp>
      <p:pic>
        <p:nvPicPr>
          <p:cNvPr id="6" name="图片 5"/>
          <p:cNvPicPr>
            <a:picLocks noChangeAspect="1"/>
          </p:cNvPicPr>
          <p:nvPr/>
        </p:nvPicPr>
        <p:blipFill>
          <a:blip r:embed="rId1"/>
          <a:stretch>
            <a:fillRect/>
          </a:stretch>
        </p:blipFill>
        <p:spPr>
          <a:xfrm>
            <a:off x="84455" y="1908810"/>
            <a:ext cx="11950700" cy="4899025"/>
          </a:xfrm>
          <a:prstGeom prst="rect">
            <a:avLst/>
          </a:prstGeom>
        </p:spPr>
      </p:pic>
    </p:spTree>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0822957" y="312648"/>
            <a:ext cx="74612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fld id="{5DE84415-B5B6-402A-810A-75E0261CEB98}" type="slidenum">
              <a:rPr kumimoji="0" lang="en-US" altLang="zh-CN" sz="2800" b="1" i="0" u="none" strike="noStrike" kern="1200" cap="none" spc="0" normalizeH="0" baseline="0" noProof="0" smtClean="0">
                <a:ln>
                  <a:noFill/>
                </a:ln>
                <a:solidFill>
                  <a:prstClr val="white"/>
                </a:solidFill>
                <a:effectLst/>
                <a:uLnTx/>
                <a:uFillTx/>
                <a:latin typeface="Calibri" panose="020F0502020204030204"/>
                <a:ea typeface="宋体" panose="02010600030101010101" pitchFamily="2" charset="-122"/>
                <a:cs typeface="+mn-cs"/>
              </a:rPr>
            </a:fld>
            <a:endParaRPr kumimoji="0" lang="en-US" altLang="zh-CN" sz="28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3" name="文本框 12"/>
          <p:cNvSpPr txBox="1"/>
          <p:nvPr/>
        </p:nvSpPr>
        <p:spPr>
          <a:xfrm>
            <a:off x="407368" y="60125"/>
            <a:ext cx="657273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附表</a:t>
            </a:r>
            <a:r>
              <a:rPr kumimoji="0" lang="en-US" altLang="zh-CN"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C </a:t>
            </a:r>
            <a:r>
              <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广州华立学院生产实习作业</a:t>
            </a:r>
            <a:r>
              <a:rPr kumimoji="0" lang="en-US" altLang="zh-CN"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&amp;</a:t>
            </a:r>
            <a:r>
              <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报告书</a:t>
            </a:r>
            <a:endPar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
        <p:nvSpPr>
          <p:cNvPr id="5" name="矩形 4"/>
          <p:cNvSpPr/>
          <p:nvPr/>
        </p:nvSpPr>
        <p:spPr>
          <a:xfrm>
            <a:off x="0" y="0"/>
            <a:ext cx="12192000" cy="6857365"/>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white"/>
                </a:solidFill>
                <a:effectLst/>
                <a:uLnTx/>
                <a:uFillTx/>
                <a:latin typeface="宋体" panose="02010600030101010101" pitchFamily="2" charset="-122"/>
                <a:ea typeface="宋体" panose="02010600030101010101" pitchFamily="2" charset="-122"/>
                <a:cs typeface="+mn-cs"/>
              </a:rPr>
              <a:t>2.</a:t>
            </a: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督促提醒学生在本学期实习结束前按照要求书写完成</a:t>
            </a:r>
            <a:r>
              <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附表</a:t>
            </a:r>
            <a:r>
              <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C</a:t>
            </a: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广州华立学院生产实习作业</a:t>
            </a:r>
            <a:r>
              <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&amp;</a:t>
            </a: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实习报告书</a:t>
            </a:r>
            <a:r>
              <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上交企业指导教师批阅后，扫描成</a:t>
            </a:r>
            <a:r>
              <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PDF</a:t>
            </a: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（或者拍照）上传到校友邦“实习作业及报告”端口，要求自己所带学生</a:t>
            </a:r>
            <a:r>
              <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100%</a:t>
            </a: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提交，生产实习作业</a:t>
            </a:r>
            <a:r>
              <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&amp;</a:t>
            </a: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实习报告书占生产实习成绩</a:t>
            </a:r>
            <a:r>
              <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14%</a:t>
            </a: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a:t>
            </a:r>
            <a:endPar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pic>
        <p:nvPicPr>
          <p:cNvPr id="6" name="图片 2"/>
          <p:cNvPicPr>
            <a:picLocks noChangeAspect="1"/>
          </p:cNvPicPr>
          <p:nvPr/>
        </p:nvPicPr>
        <p:blipFill>
          <a:blip r:embed="rId1"/>
          <a:stretch>
            <a:fillRect/>
          </a:stretch>
        </p:blipFill>
        <p:spPr>
          <a:xfrm>
            <a:off x="734060" y="898525"/>
            <a:ext cx="8893810" cy="5337810"/>
          </a:xfrm>
          <a:prstGeom prst="rect">
            <a:avLst/>
          </a:prstGeom>
          <a:noFill/>
          <a:ln>
            <a:noFill/>
          </a:ln>
        </p:spPr>
      </p:pic>
      <p:sp>
        <p:nvSpPr>
          <p:cNvPr id="4" name="文本框 3"/>
          <p:cNvSpPr txBox="1"/>
          <p:nvPr/>
        </p:nvSpPr>
        <p:spPr>
          <a:xfrm>
            <a:off x="534670" y="187325"/>
            <a:ext cx="6853555" cy="710565"/>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附表</a:t>
            </a:r>
            <a:r>
              <a:rPr kumimoji="0" lang="en-US" altLang="zh-CN"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B </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广州华立学院生产实习报告书</a:t>
            </a:r>
            <a:endPar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8" name="对话气泡: 圆角矩形 1"/>
          <p:cNvSpPr/>
          <p:nvPr/>
        </p:nvSpPr>
        <p:spPr>
          <a:xfrm>
            <a:off x="9745345" y="1062990"/>
            <a:ext cx="2336800" cy="4979670"/>
          </a:xfrm>
          <a:prstGeom prst="wedgeRoundRectCallout">
            <a:avLst>
              <a:gd name="adj1" fmla="val -146191"/>
              <a:gd name="adj2" fmla="val -6468"/>
              <a:gd name="adj3" fmla="val 16667"/>
            </a:avLst>
          </a:prstGeom>
          <a:noFill/>
          <a:ln w="95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1.</a:t>
            </a:r>
            <a:r>
              <a:rPr kumimoji="0" lang="zh-CN" altLang="en-US"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要求学生在本学期实习结束前按照要求书写完成</a:t>
            </a:r>
            <a:r>
              <a:rPr kumimoji="0" lang="en-US" altLang="zh-CN"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附表</a:t>
            </a:r>
            <a:r>
              <a:rPr kumimoji="0" lang="en-US" altLang="zh-CN"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B </a:t>
            </a:r>
            <a:r>
              <a:rPr kumimoji="0" lang="zh-CN" altLang="en-US"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广州华立学院生产实习报告书</a:t>
            </a:r>
            <a:r>
              <a:rPr kumimoji="0" lang="en-US" altLang="zh-CN"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上交企业指导教师批阅后，扫描成</a:t>
            </a:r>
            <a:r>
              <a:rPr kumimoji="0" lang="en-US" altLang="zh-CN"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PDF</a:t>
            </a:r>
            <a:r>
              <a:rPr kumimoji="0" lang="zh-CN" altLang="en-US"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（或者拍照插入</a:t>
            </a:r>
            <a:r>
              <a:rPr kumimoji="0" lang="en-US" altLang="zh-CN"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Word</a:t>
            </a:r>
            <a:r>
              <a:rPr kumimoji="0" lang="zh-CN" altLang="en-US"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文档）上传到校友邦“实习报告”端口；</a:t>
            </a:r>
            <a:endParaRPr kumimoji="0" lang="en-US" altLang="zh-CN"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2.</a:t>
            </a:r>
            <a:r>
              <a:rPr kumimoji="0" lang="zh-CN" altLang="en-US"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生产实习报告书占生产实习成绩</a:t>
            </a:r>
            <a:r>
              <a:rPr kumimoji="0" lang="en-US" altLang="zh-CN"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14%</a:t>
            </a:r>
            <a:r>
              <a:rPr kumimoji="0" lang="zh-CN" altLang="en-US"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a:t>
            </a:r>
            <a:endParaRPr kumimoji="0" lang="zh-CN" altLang="en-US"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slow">
    <p:cov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广州华立学院学生校外实习单位审批表或者实习单位接收证明</a:t>
            </a:r>
            <a:endPar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sp>
        <p:nvSpPr>
          <p:cNvPr id="13" name="文本框 12"/>
          <p:cNvSpPr txBox="1"/>
          <p:nvPr/>
        </p:nvSpPr>
        <p:spPr>
          <a:xfrm>
            <a:off x="444500" y="66675"/>
            <a:ext cx="6833235" cy="73279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附表</a:t>
            </a:r>
            <a:r>
              <a:rPr kumimoji="0" lang="en-US" altLang="zh-CN"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B </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广州华立学院生产实习报告书</a:t>
            </a:r>
            <a:endPar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pic>
        <p:nvPicPr>
          <p:cNvPr id="2" name="图片 1"/>
          <p:cNvPicPr>
            <a:picLocks noChangeAspect="1"/>
          </p:cNvPicPr>
          <p:nvPr/>
        </p:nvPicPr>
        <p:blipFill>
          <a:blip r:embed="rId1"/>
          <a:stretch>
            <a:fillRect/>
          </a:stretch>
        </p:blipFill>
        <p:spPr>
          <a:xfrm>
            <a:off x="1147445" y="799465"/>
            <a:ext cx="10168255" cy="6120765"/>
          </a:xfrm>
          <a:prstGeom prst="rect">
            <a:avLst/>
          </a:prstGeom>
        </p:spPr>
      </p:pic>
    </p:spTree>
  </p:cSld>
  <p:clrMapOvr>
    <a:masterClrMapping/>
  </p:clrMapOvr>
  <p:transition spd="slow">
    <p:cov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 name="矩形 1"/>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矩形 2"/>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1617798" y="491074"/>
            <a:ext cx="695575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学院实习指导老师实习指导任务及校友邦操作指南</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a:off x="10822957" y="312648"/>
            <a:ext cx="74612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fld id="{5DE84415-B5B6-402A-810A-75E0261CEB98}" type="slidenum">
              <a:rPr kumimoji="0" lang="en-US" altLang="zh-CN" sz="2800" b="1" i="0" u="none" strike="noStrike" kern="1200" cap="none" spc="0" normalizeH="0" baseline="0" noProof="0" smtClean="0">
                <a:ln>
                  <a:noFill/>
                </a:ln>
                <a:solidFill>
                  <a:prstClr val="white"/>
                </a:solidFill>
                <a:effectLst/>
                <a:uLnTx/>
                <a:uFillTx/>
                <a:latin typeface="Calibri" panose="020F0502020204030204"/>
                <a:ea typeface="宋体" panose="02010600030101010101" pitchFamily="2" charset="-122"/>
                <a:cs typeface="+mn-cs"/>
              </a:rPr>
            </a:fld>
            <a:endParaRPr kumimoji="0" lang="en-US" altLang="zh-CN" sz="28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3" name="文本框 12"/>
          <p:cNvSpPr txBox="1"/>
          <p:nvPr/>
        </p:nvSpPr>
        <p:spPr>
          <a:xfrm>
            <a:off x="708660" y="923290"/>
            <a:ext cx="10499090"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10.</a:t>
            </a:r>
            <a:r>
              <a:rPr kumimoji="0" lang="zh-CN" altLang="en-US"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实习成绩鉴定</a:t>
            </a:r>
            <a:endParaRPr kumimoji="0" lang="zh-CN" altLang="en-US"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2" name="箭头: 右 11"/>
          <p:cNvSpPr/>
          <p:nvPr/>
        </p:nvSpPr>
        <p:spPr>
          <a:xfrm>
            <a:off x="7275195" y="4364990"/>
            <a:ext cx="1298575" cy="200025"/>
          </a:xfrm>
          <a:prstGeom prst="right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 name="文本框 3"/>
          <p:cNvSpPr txBox="1"/>
          <p:nvPr/>
        </p:nvSpPr>
        <p:spPr>
          <a:xfrm>
            <a:off x="889635" y="1327150"/>
            <a:ext cx="11186160" cy="7067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校友邦“过程管理”</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“实习成绩鉴定”</a:t>
            </a:r>
            <a:r>
              <a:rPr lang="en-US" altLang="zh-CN" sz="2000" b="1" noProof="0" dirty="0">
                <a:ln>
                  <a:noFill/>
                </a:ln>
                <a:solidFill>
                  <a:srgbClr val="7030A0"/>
                </a:solidFill>
                <a:effectLst/>
                <a:uLnTx/>
                <a:uFillTx/>
                <a:latin typeface="Calibri" panose="020F0502020204030204"/>
                <a:ea typeface="宋体" panose="02010600030101010101" pitchFamily="2" charset="-122"/>
                <a:sym typeface="+mn-ea"/>
              </a:rPr>
              <a:t>—</a:t>
            </a:r>
            <a:r>
              <a:rPr lang="zh-CN" altLang="en-US" sz="2000" b="1" noProof="0" dirty="0">
                <a:ln>
                  <a:noFill/>
                </a:ln>
                <a:solidFill>
                  <a:srgbClr val="7030A0"/>
                </a:solidFill>
                <a:effectLst/>
                <a:uLnTx/>
                <a:uFillTx/>
                <a:latin typeface="Calibri" panose="020F0502020204030204"/>
                <a:ea typeface="宋体" panose="02010600030101010101" pitchFamily="2" charset="-122"/>
                <a:sym typeface="+mn-ea"/>
              </a:rPr>
              <a:t>“待指导老师鉴定”</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“去鉴定”</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“实习单位鉴定</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开始代录入”</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“指导老师鉴定</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开始鉴定”</a:t>
            </a:r>
            <a:endPar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endParaRPr>
          </a:p>
        </p:txBody>
      </p:sp>
      <p:pic>
        <p:nvPicPr>
          <p:cNvPr id="6" name="图片 5"/>
          <p:cNvPicPr>
            <a:picLocks noChangeAspect="1"/>
          </p:cNvPicPr>
          <p:nvPr/>
        </p:nvPicPr>
        <p:blipFill>
          <a:blip r:embed="rId1"/>
          <a:stretch>
            <a:fillRect/>
          </a:stretch>
        </p:blipFill>
        <p:spPr>
          <a:xfrm>
            <a:off x="262890" y="2132965"/>
            <a:ext cx="7900035" cy="4645660"/>
          </a:xfrm>
          <a:prstGeom prst="rect">
            <a:avLst/>
          </a:prstGeom>
        </p:spPr>
      </p:pic>
      <p:sp>
        <p:nvSpPr>
          <p:cNvPr id="9" name="对话气泡: 圆角矩形 8"/>
          <p:cNvSpPr/>
          <p:nvPr/>
        </p:nvSpPr>
        <p:spPr>
          <a:xfrm>
            <a:off x="1991360" y="5805170"/>
            <a:ext cx="5544185" cy="974090"/>
          </a:xfrm>
          <a:prstGeom prst="wedgeRoundRectCallout">
            <a:avLst>
              <a:gd name="adj1" fmla="val 34136"/>
              <a:gd name="adj2" fmla="val -86440"/>
              <a:gd name="adj3" fmla="val 16667"/>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实习成绩鉴定包括四部分：上传的盖章文件</a:t>
            </a:r>
            <a:r>
              <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实习单位鉴定</a:t>
            </a:r>
            <a:r>
              <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指导老师鉴定</a:t>
            </a:r>
            <a:r>
              <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其他成绩鉴定；</a:t>
            </a:r>
            <a:endPar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pic>
        <p:nvPicPr>
          <p:cNvPr id="18" name="图片 17"/>
          <p:cNvPicPr>
            <a:picLocks noChangeAspect="1"/>
          </p:cNvPicPr>
          <p:nvPr/>
        </p:nvPicPr>
        <p:blipFill>
          <a:blip r:embed="rId2"/>
          <a:stretch>
            <a:fillRect/>
          </a:stretch>
        </p:blipFill>
        <p:spPr>
          <a:xfrm>
            <a:off x="8649970" y="2205355"/>
            <a:ext cx="3425190" cy="4644390"/>
          </a:xfrm>
          <a:prstGeom prst="rect">
            <a:avLst/>
          </a:prstGeom>
        </p:spPr>
      </p:pic>
      <p:sp>
        <p:nvSpPr>
          <p:cNvPr id="20" name="圆角矩形标注 19"/>
          <p:cNvSpPr/>
          <p:nvPr/>
        </p:nvSpPr>
        <p:spPr>
          <a:xfrm>
            <a:off x="9912350" y="2420620"/>
            <a:ext cx="2242185" cy="1092835"/>
          </a:xfrm>
          <a:prstGeom prst="wedgeRoundRectCallout">
            <a:avLst>
              <a:gd name="adj1" fmla="val -72458"/>
              <a:gd name="adj2" fmla="val 36577"/>
              <a:gd name="adj3" fmla="val 16667"/>
            </a:avLst>
          </a:prstGeom>
          <a:noFill/>
          <a:ln>
            <a:solidFill>
              <a:schemeClr val="accent1"/>
            </a:solidFill>
          </a:ln>
          <a:extLst>
            <a:ext uri="{909E8E84-426E-40DD-AFC4-6F175D3DCCD1}">
              <a14:hiddenFill xmlns:a14="http://schemas.microsoft.com/office/drawing/2010/main">
                <a:solidFill>
                  <a:srgbClr val="0070C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just"/>
            <a:r>
              <a:rPr lang="zh-CN" altLang="en-US" sz="1200" b="1">
                <a:ln>
                  <a:noFill/>
                </a:ln>
                <a:solidFill>
                  <a:srgbClr val="FF0000"/>
                </a:solidFill>
                <a:sym typeface="+mn-ea"/>
              </a:rPr>
              <a:t>学院实习指导教师根据学生上传的《生产实习成绩鉴定表》中</a:t>
            </a:r>
            <a:r>
              <a:rPr lang="en-US" altLang="zh-CN" sz="1200" b="1">
                <a:ln>
                  <a:noFill/>
                </a:ln>
                <a:solidFill>
                  <a:srgbClr val="FF0000"/>
                </a:solidFill>
                <a:sym typeface="+mn-ea"/>
              </a:rPr>
              <a:t>“</a:t>
            </a:r>
            <a:r>
              <a:rPr lang="zh-CN" altLang="en-US" sz="1200" b="1">
                <a:ln>
                  <a:noFill/>
                </a:ln>
                <a:solidFill>
                  <a:srgbClr val="FF0000"/>
                </a:solidFill>
                <a:sym typeface="+mn-ea"/>
              </a:rPr>
              <a:t>实习单位指导教师评分</a:t>
            </a:r>
            <a:r>
              <a:rPr lang="en-US" altLang="zh-CN" sz="1200" b="1">
                <a:ln>
                  <a:noFill/>
                </a:ln>
                <a:solidFill>
                  <a:srgbClr val="FF0000"/>
                </a:solidFill>
                <a:sym typeface="+mn-ea"/>
              </a:rPr>
              <a:t>”</a:t>
            </a:r>
            <a:r>
              <a:rPr lang="zh-CN" altLang="en-US" sz="1200" b="1">
                <a:ln>
                  <a:noFill/>
                </a:ln>
                <a:solidFill>
                  <a:srgbClr val="FF0000"/>
                </a:solidFill>
                <a:sym typeface="+mn-ea"/>
              </a:rPr>
              <a:t>代替录入校友邦的</a:t>
            </a:r>
            <a:r>
              <a:rPr lang="en-US" altLang="zh-CN" sz="1200" b="1">
                <a:ln>
                  <a:noFill/>
                </a:ln>
                <a:solidFill>
                  <a:srgbClr val="FF0000"/>
                </a:solidFill>
                <a:sym typeface="+mn-ea"/>
              </a:rPr>
              <a:t>“</a:t>
            </a:r>
            <a:r>
              <a:rPr lang="zh-CN" altLang="en-US" sz="1200" b="1">
                <a:ln>
                  <a:noFill/>
                </a:ln>
                <a:solidFill>
                  <a:srgbClr val="FF0000"/>
                </a:solidFill>
                <a:sym typeface="+mn-ea"/>
              </a:rPr>
              <a:t>实习单位鉴定</a:t>
            </a:r>
            <a:r>
              <a:rPr lang="en-US" altLang="zh-CN" sz="1200" b="1">
                <a:ln>
                  <a:noFill/>
                </a:ln>
                <a:solidFill>
                  <a:srgbClr val="FF0000"/>
                </a:solidFill>
                <a:sym typeface="+mn-ea"/>
              </a:rPr>
              <a:t>”</a:t>
            </a:r>
            <a:endParaRPr lang="en-US" altLang="zh-CN" sz="1200" b="1">
              <a:ln>
                <a:noFill/>
              </a:ln>
              <a:solidFill>
                <a:srgbClr val="FF0000"/>
              </a:solidFill>
              <a:sym typeface="+mn-ea"/>
            </a:endParaRPr>
          </a:p>
        </p:txBody>
      </p:sp>
      <p:sp>
        <p:nvSpPr>
          <p:cNvPr id="21" name="圆角矩形标注 20"/>
          <p:cNvSpPr/>
          <p:nvPr/>
        </p:nvSpPr>
        <p:spPr>
          <a:xfrm>
            <a:off x="9552305" y="4149090"/>
            <a:ext cx="2419350" cy="791845"/>
          </a:xfrm>
          <a:prstGeom prst="wedgeRoundRectCallout">
            <a:avLst>
              <a:gd name="adj1" fmla="val -57611"/>
              <a:gd name="adj2" fmla="val 79751"/>
              <a:gd name="adj3" fmla="val 16667"/>
            </a:avLst>
          </a:prstGeom>
          <a:noFill/>
          <a:ln>
            <a:solidFill>
              <a:schemeClr val="accent1"/>
            </a:solidFill>
          </a:ln>
          <a:extLst>
            <a:ext uri="{909E8E84-426E-40DD-AFC4-6F175D3DCCD1}">
              <a14:hiddenFill xmlns:a14="http://schemas.microsoft.com/office/drawing/2010/main">
                <a:solidFill>
                  <a:srgbClr val="0070C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just"/>
            <a:r>
              <a:rPr lang="zh-CN" altLang="en-US" sz="1400" b="1">
                <a:ln>
                  <a:noFill/>
                </a:ln>
                <a:solidFill>
                  <a:srgbClr val="FF0000"/>
                </a:solidFill>
                <a:sym typeface="+mn-ea"/>
              </a:rPr>
              <a:t>学院实习指导教师根据学生整体实习情况对学生做出综合评价。</a:t>
            </a:r>
            <a:endParaRPr lang="zh-CN" altLang="en-US" sz="1400" b="1">
              <a:ln>
                <a:noFill/>
              </a:ln>
              <a:solidFill>
                <a:srgbClr val="FF0000"/>
              </a:solidFill>
              <a:sym typeface="+mn-ea"/>
            </a:endParaRPr>
          </a:p>
        </p:txBody>
      </p:sp>
    </p:spTree>
  </p:cSld>
  <p:clrMapOvr>
    <a:masterClrMapping/>
  </p:clrMapOvr>
  <p:transition spd="slow">
    <p:cove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宋体" panose="02010600030101010101" pitchFamily="2" charset="-122"/>
                <a:ea typeface="宋体" panose="02010600030101010101" pitchFamily="2" charset="-122"/>
                <a:cs typeface="+mn-cs"/>
              </a:rPr>
              <a:t>广州华立学院学生校外实习单位审批表或者实习单位接收证明</a:t>
            </a:r>
            <a:endPar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sp>
        <p:nvSpPr>
          <p:cNvPr id="7" name="文本框 6"/>
          <p:cNvSpPr txBox="1"/>
          <p:nvPr/>
        </p:nvSpPr>
        <p:spPr>
          <a:xfrm>
            <a:off x="10822957" y="312648"/>
            <a:ext cx="74612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fld id="{5DE84415-B5B6-402A-810A-75E0261CEB98}" type="slidenum">
              <a:rPr kumimoji="0" lang="en-US" altLang="zh-CN" sz="2800" b="1" i="0" u="none" strike="noStrike" kern="1200" cap="none" spc="0" normalizeH="0" baseline="0" noProof="0" smtClean="0">
                <a:ln>
                  <a:noFill/>
                </a:ln>
                <a:solidFill>
                  <a:prstClr val="white"/>
                </a:solidFill>
                <a:effectLst/>
                <a:uLnTx/>
                <a:uFillTx/>
                <a:latin typeface="Calibri" panose="020F0502020204030204"/>
                <a:ea typeface="宋体" panose="02010600030101010101" pitchFamily="2" charset="-122"/>
                <a:cs typeface="+mn-cs"/>
              </a:rPr>
            </a:fld>
            <a:endParaRPr kumimoji="0" lang="en-US" altLang="zh-CN" sz="28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3" name="文本框 12"/>
          <p:cNvSpPr txBox="1"/>
          <p:nvPr/>
        </p:nvSpPr>
        <p:spPr>
          <a:xfrm>
            <a:off x="110490" y="146050"/>
            <a:ext cx="6729730" cy="68961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附表</a:t>
            </a:r>
            <a:r>
              <a:rPr kumimoji="0" lang="en-US" altLang="zh-CN"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C  </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广州华立学院生产实习成绩鉴定资料</a:t>
            </a:r>
            <a:endPar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2" name="文本框 1"/>
          <p:cNvSpPr txBox="1"/>
          <p:nvPr/>
        </p:nvSpPr>
        <p:spPr>
          <a:xfrm>
            <a:off x="221615" y="1724660"/>
            <a:ext cx="3929380" cy="4182745"/>
          </a:xfrm>
          <a:prstGeom prst="rect">
            <a:avLst/>
          </a:prstGeom>
          <a:noFill/>
        </p:spPr>
        <p:txBody>
          <a:bodyPr wrap="square" rtlCol="0">
            <a:noAutofit/>
          </a:bodyPr>
          <a:lstStyle/>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学生上传的盖章文件（</a:t>
            </a:r>
            <a:r>
              <a:rPr kumimoji="0" lang="en-US"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en-US"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广州华立学院学生实习质量评价调查表</a:t>
            </a:r>
            <a:r>
              <a:rPr kumimoji="0" lang="en-US"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endParaRPr kumimoji="0" lang="en-US"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zh-CN"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①</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内容填写完整，单位盖章可盖</a:t>
            </a:r>
            <a:r>
              <a:rPr lang="zh-CN" altLang="en-US" noProof="0" dirty="0">
                <a:solidFill>
                  <a:prstClr val="black"/>
                </a:solidFill>
                <a:latin typeface="宋体" panose="02010600030101010101" pitchFamily="2" charset="-122"/>
                <a:ea typeface="宋体" panose="02010600030101010101" pitchFamily="2" charset="-122"/>
                <a:sym typeface="+mn-ea"/>
              </a:rPr>
              <a:t>公章、合同专用章和</a:t>
            </a:r>
            <a:r>
              <a:rPr lang="zh-CN" altLang="en-US" noProof="0" dirty="0">
                <a:ln>
                  <a:noFill/>
                </a:ln>
                <a:solidFill>
                  <a:prstClr val="black"/>
                </a:solidFill>
                <a:effectLst/>
                <a:uLnTx/>
                <a:uFillTx/>
                <a:latin typeface="宋体" panose="02010600030101010101" pitchFamily="2" charset="-122"/>
                <a:ea typeface="宋体" panose="02010600030101010101" pitchFamily="2" charset="-122"/>
                <a:sym typeface="+mn-ea"/>
              </a:rPr>
              <a:t>企业人事专用章、人力资源部章等部门印章</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（盖章要清晰）；</a:t>
            </a:r>
            <a:endParaRPr kumimoji="0" lang="en-US"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zh-CN"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②</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对实习生的综合评价：</a:t>
            </a:r>
            <a:r>
              <a:rPr kumimoji="0" lang="zh-CN" altLang="en-US" sz="1800"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由企业指导教师手写。</a:t>
            </a:r>
            <a:endParaRPr kumimoji="0" lang="zh-CN" altLang="en-US" sz="1800"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endParaRPr>
          </a:p>
        </p:txBody>
      </p:sp>
      <p:pic>
        <p:nvPicPr>
          <p:cNvPr id="4" name="图片 1"/>
          <p:cNvPicPr>
            <a:picLocks noChangeAspect="1"/>
          </p:cNvPicPr>
          <p:nvPr/>
        </p:nvPicPr>
        <p:blipFill>
          <a:blip r:embed="rId1"/>
          <a:stretch>
            <a:fillRect/>
          </a:stretch>
        </p:blipFill>
        <p:spPr>
          <a:xfrm>
            <a:off x="4500245" y="1089025"/>
            <a:ext cx="7449185" cy="5290185"/>
          </a:xfrm>
          <a:prstGeom prst="rect">
            <a:avLst/>
          </a:prstGeom>
          <a:noFill/>
          <a:ln>
            <a:noFill/>
          </a:ln>
        </p:spPr>
      </p:pic>
      <p:sp>
        <p:nvSpPr>
          <p:cNvPr id="8" name="圆角矩形标注 7"/>
          <p:cNvSpPr/>
          <p:nvPr/>
        </p:nvSpPr>
        <p:spPr>
          <a:xfrm>
            <a:off x="11076305" y="1910715"/>
            <a:ext cx="1043305" cy="490220"/>
          </a:xfrm>
          <a:prstGeom prst="wedgeRoundRectCallout">
            <a:avLst>
              <a:gd name="adj1" fmla="val -80797"/>
              <a:gd name="adj2" fmla="val 12305"/>
              <a:gd name="adj3" fmla="val 16667"/>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solidFill>
                  <a:schemeClr val="accent1"/>
                </a:solidFill>
              </a:rPr>
              <a:t>实习单位盖章</a:t>
            </a:r>
            <a:endParaRPr lang="zh-CN" altLang="en-US" sz="1400">
              <a:solidFill>
                <a:schemeClr val="accent1"/>
              </a:solidFill>
            </a:endParaRPr>
          </a:p>
        </p:txBody>
      </p:sp>
      <p:sp>
        <p:nvSpPr>
          <p:cNvPr id="10" name="文本框 9"/>
          <p:cNvSpPr txBox="1"/>
          <p:nvPr/>
        </p:nvSpPr>
        <p:spPr>
          <a:xfrm>
            <a:off x="8157210" y="1089025"/>
            <a:ext cx="1376680" cy="327660"/>
          </a:xfrm>
          <a:prstGeom prst="rect">
            <a:avLst/>
          </a:prstGeom>
          <a:noFill/>
        </p:spPr>
        <p:txBody>
          <a:bodyPr wrap="square" rtlCol="0">
            <a:noAutofit/>
          </a:bodyPr>
          <a:p>
            <a:r>
              <a:rPr lang="zh-CN" altLang="en-US" sz="1600">
                <a:solidFill>
                  <a:srgbClr val="FF0000"/>
                </a:solidFill>
              </a:rPr>
              <a:t>盖章文件（</a:t>
            </a:r>
            <a:r>
              <a:rPr lang="en-US" altLang="zh-CN" sz="1600">
                <a:solidFill>
                  <a:srgbClr val="FF0000"/>
                </a:solidFill>
              </a:rPr>
              <a:t>1</a:t>
            </a:r>
            <a:r>
              <a:rPr lang="zh-CN" altLang="en-US" sz="1600">
                <a:solidFill>
                  <a:srgbClr val="FF0000"/>
                </a:solidFill>
              </a:rPr>
              <a:t>）</a:t>
            </a:r>
            <a:endParaRPr lang="zh-CN" altLang="en-US" sz="1600">
              <a:solidFill>
                <a:srgbClr val="FF0000"/>
              </a:solidFill>
            </a:endParaRPr>
          </a:p>
        </p:txBody>
      </p:sp>
    </p:spTree>
  </p:cSld>
  <p:clrMapOvr>
    <a:masterClrMapping/>
  </p:clrMapOvr>
  <p:transition spd="slow">
    <p:cove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广州华立学院学生校外实习单位审批表或者实习单位接收证明</a:t>
            </a:r>
            <a:endPar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sp>
        <p:nvSpPr>
          <p:cNvPr id="7" name="文本框 6"/>
          <p:cNvSpPr txBox="1"/>
          <p:nvPr/>
        </p:nvSpPr>
        <p:spPr>
          <a:xfrm>
            <a:off x="10822957" y="312648"/>
            <a:ext cx="74612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fld id="{5DE84415-B5B6-402A-810A-75E0261CEB98}" type="slidenum">
              <a:rPr kumimoji="0" lang="en-US" altLang="zh-CN" sz="2800" b="1" i="0" u="none" strike="noStrike" kern="1200" cap="none" spc="0" normalizeH="0" baseline="0" noProof="0" smtClean="0">
                <a:ln>
                  <a:noFill/>
                </a:ln>
                <a:solidFill>
                  <a:prstClr val="white"/>
                </a:solidFill>
                <a:effectLst/>
                <a:uLnTx/>
                <a:uFillTx/>
                <a:latin typeface="Calibri" panose="020F0502020204030204"/>
                <a:ea typeface="宋体" panose="02010600030101010101" pitchFamily="2" charset="-122"/>
                <a:cs typeface="+mn-cs"/>
              </a:rPr>
            </a:fld>
            <a:endParaRPr kumimoji="0" lang="en-US" altLang="zh-CN" sz="28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3" name="文本框 12"/>
          <p:cNvSpPr txBox="1"/>
          <p:nvPr/>
        </p:nvSpPr>
        <p:spPr>
          <a:xfrm>
            <a:off x="444500" y="66675"/>
            <a:ext cx="7991475"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附表</a:t>
            </a:r>
            <a:r>
              <a:rPr kumimoji="0" lang="en-US" altLang="zh-CN"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C  </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广州华立学院生产实习成绩鉴定资料</a:t>
            </a:r>
            <a:endPar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9" name="文本框 8"/>
          <p:cNvSpPr txBox="1"/>
          <p:nvPr/>
        </p:nvSpPr>
        <p:spPr>
          <a:xfrm>
            <a:off x="8256240" y="1340768"/>
            <a:ext cx="3600400" cy="4523105"/>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学生上传的盖章文件（</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生产实习成绩鉴定表</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（企业指导老师评语部分）：内容填写完整，实习单位指导教师</a:t>
            </a:r>
            <a:r>
              <a:rPr kumimoji="0" lang="zh-CN" altLang="en-US" sz="16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手写评语、手写评分</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1600"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指导教师签名要手写</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实习单位（盖章）</a:t>
            </a: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可盖</a:t>
            </a:r>
            <a:r>
              <a:rPr lang="zh-CN" altLang="en-US" sz="1600" noProof="0" dirty="0">
                <a:solidFill>
                  <a:prstClr val="black"/>
                </a:solidFill>
                <a:latin typeface="宋体" panose="02010600030101010101" pitchFamily="2" charset="-122"/>
                <a:ea typeface="宋体" panose="02010600030101010101" pitchFamily="2" charset="-122"/>
                <a:sym typeface="+mn-ea"/>
              </a:rPr>
              <a:t>公章</a:t>
            </a:r>
            <a:r>
              <a:rPr lang="en-US" altLang="zh-CN" sz="1600" noProof="0" dirty="0">
                <a:solidFill>
                  <a:prstClr val="black"/>
                </a:solidFill>
                <a:latin typeface="宋体" panose="02010600030101010101" pitchFamily="2" charset="-122"/>
                <a:ea typeface="宋体" panose="02010600030101010101" pitchFamily="2" charset="-122"/>
                <a:sym typeface="+mn-ea"/>
              </a:rPr>
              <a:t>/</a:t>
            </a:r>
            <a:r>
              <a:rPr lang="zh-CN" altLang="en-US" sz="1600" noProof="0" dirty="0">
                <a:solidFill>
                  <a:prstClr val="black"/>
                </a:solidFill>
                <a:latin typeface="宋体" panose="02010600030101010101" pitchFamily="2" charset="-122"/>
                <a:ea typeface="宋体" panose="02010600030101010101" pitchFamily="2" charset="-122"/>
                <a:sym typeface="+mn-ea"/>
              </a:rPr>
              <a:t>合同专用章</a:t>
            </a:r>
            <a:r>
              <a:rPr lang="en-US" altLang="zh-CN" sz="1600" noProof="0" dirty="0">
                <a:solidFill>
                  <a:prstClr val="black"/>
                </a:solidFill>
                <a:latin typeface="宋体" panose="02010600030101010101" pitchFamily="2" charset="-122"/>
                <a:ea typeface="宋体" panose="02010600030101010101" pitchFamily="2" charset="-122"/>
                <a:sym typeface="+mn-ea"/>
              </a:rPr>
              <a:t>/</a:t>
            </a: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企业人事专用章</a:t>
            </a:r>
            <a:r>
              <a:rPr lang="en-US" altLang="zh-CN" sz="1600" noProof="0" dirty="0">
                <a:ln>
                  <a:noFill/>
                </a:ln>
                <a:solidFill>
                  <a:prstClr val="black"/>
                </a:solidFill>
                <a:effectLst/>
                <a:uLnTx/>
                <a:uFillTx/>
                <a:latin typeface="宋体" panose="02010600030101010101" pitchFamily="2" charset="-122"/>
                <a:ea typeface="宋体" panose="02010600030101010101" pitchFamily="2" charset="-122"/>
                <a:sym typeface="+mn-ea"/>
              </a:rPr>
              <a:t>/</a:t>
            </a: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人力资源部章等部门印章（盖章要清晰）</a:t>
            </a: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a:t>
            </a:r>
            <a:endPar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学院实习指导教师在校友邦“实习成绩鉴定”端口完成学院指导教师评语，评分。</a:t>
            </a:r>
            <a:endPar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4.</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综合评分校友邦系统自动完成。</a:t>
            </a:r>
            <a:endPar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pic>
        <p:nvPicPr>
          <p:cNvPr id="2" name="图片 1"/>
          <p:cNvPicPr>
            <a:picLocks noChangeAspect="1"/>
          </p:cNvPicPr>
          <p:nvPr/>
        </p:nvPicPr>
        <p:blipFill>
          <a:blip r:embed="rId1"/>
          <a:stretch>
            <a:fillRect/>
          </a:stretch>
        </p:blipFill>
        <p:spPr>
          <a:xfrm>
            <a:off x="0" y="1066800"/>
            <a:ext cx="8255635" cy="5791200"/>
          </a:xfrm>
          <a:prstGeom prst="rect">
            <a:avLst/>
          </a:prstGeom>
        </p:spPr>
      </p:pic>
      <p:sp>
        <p:nvSpPr>
          <p:cNvPr id="3" name="文本框 2"/>
          <p:cNvSpPr txBox="1"/>
          <p:nvPr/>
        </p:nvSpPr>
        <p:spPr>
          <a:xfrm>
            <a:off x="254000" y="835660"/>
            <a:ext cx="1711960" cy="368300"/>
          </a:xfrm>
          <a:prstGeom prst="rect">
            <a:avLst/>
          </a:prstGeom>
          <a:noFill/>
        </p:spPr>
        <p:txBody>
          <a:bodyPr wrap="square" rtlCol="0">
            <a:spAutoFit/>
          </a:bodyPr>
          <a:p>
            <a:r>
              <a:rPr lang="zh-CN" altLang="en-US">
                <a:solidFill>
                  <a:srgbClr val="FF0000"/>
                </a:solidFill>
              </a:rPr>
              <a:t>盖章文件（</a:t>
            </a:r>
            <a:r>
              <a:rPr lang="en-US" altLang="zh-CN">
                <a:solidFill>
                  <a:srgbClr val="FF0000"/>
                </a:solidFill>
              </a:rPr>
              <a:t>2</a:t>
            </a:r>
            <a:r>
              <a:rPr lang="zh-CN" altLang="en-US">
                <a:solidFill>
                  <a:srgbClr val="FF0000"/>
                </a:solidFill>
              </a:rPr>
              <a:t>）</a:t>
            </a:r>
            <a:endParaRPr lang="zh-CN" altLang="en-US">
              <a:solidFill>
                <a:srgbClr val="FF0000"/>
              </a:solidFill>
            </a:endParaRPr>
          </a:p>
        </p:txBody>
      </p:sp>
    </p:spTree>
  </p:cSld>
  <p:clrMapOvr>
    <a:masterClrMapping/>
  </p:clrMapOvr>
  <p:transition spd="slow">
    <p:cove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44624"/>
            <a:ext cx="12192000" cy="6813376"/>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 name="矩形 1"/>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矩形 2"/>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1617798" y="491074"/>
            <a:ext cx="634019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学院指导老师实习指导任务及校友邦操作指南</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a:off x="10822957" y="312648"/>
            <a:ext cx="74612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fld id="{5DE84415-B5B6-402A-810A-75E0261CEB98}" type="slidenum">
              <a:rPr kumimoji="0" lang="en-US" altLang="zh-CN" sz="2800" b="1" i="0" u="none" strike="noStrike" kern="1200" cap="none" spc="0" normalizeH="0" baseline="0" noProof="0" smtClean="0">
                <a:ln>
                  <a:noFill/>
                </a:ln>
                <a:solidFill>
                  <a:prstClr val="white"/>
                </a:solidFill>
                <a:effectLst/>
                <a:uLnTx/>
                <a:uFillTx/>
                <a:latin typeface="Calibri" panose="020F0502020204030204"/>
                <a:ea typeface="宋体" panose="02010600030101010101" pitchFamily="2" charset="-122"/>
                <a:cs typeface="+mn-cs"/>
              </a:rPr>
            </a:fld>
            <a:endParaRPr kumimoji="0" lang="en-US" altLang="zh-CN" sz="28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3" name="文本框 12"/>
          <p:cNvSpPr txBox="1"/>
          <p:nvPr/>
        </p:nvSpPr>
        <p:spPr>
          <a:xfrm>
            <a:off x="754859" y="1003081"/>
            <a:ext cx="10441160"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11.</a:t>
            </a:r>
            <a:r>
              <a:rPr kumimoji="0" lang="zh-CN" altLang="en-US"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鉴定成绩统计</a:t>
            </a:r>
            <a:endParaRPr kumimoji="0" lang="zh-CN" altLang="en-US" sz="2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6" name="文本框 15"/>
          <p:cNvSpPr txBox="1"/>
          <p:nvPr/>
        </p:nvSpPr>
        <p:spPr>
          <a:xfrm>
            <a:off x="755015" y="1452245"/>
            <a:ext cx="11101705" cy="47371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校友邦“数据中心”</a:t>
            </a:r>
            <a:r>
              <a:rPr kumimoji="0" lang="en-US" altLang="zh-CN"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统计报表”</a:t>
            </a:r>
            <a:r>
              <a:rPr kumimoji="0" lang="en-US" altLang="zh-CN"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学生鉴定成绩统计”</a:t>
            </a:r>
            <a:r>
              <a:rPr kumimoji="0" lang="en-US" altLang="zh-CN"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“下载”点击批量下载导出</a:t>
            </a:r>
            <a:endParaRPr kumimoji="0" lang="zh-CN" altLang="en-US"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endParaRPr>
          </a:p>
        </p:txBody>
      </p:sp>
      <p:pic>
        <p:nvPicPr>
          <p:cNvPr id="6" name="图片 5"/>
          <p:cNvPicPr>
            <a:picLocks noChangeAspect="1"/>
          </p:cNvPicPr>
          <p:nvPr/>
        </p:nvPicPr>
        <p:blipFill>
          <a:blip r:embed="rId1"/>
          <a:stretch>
            <a:fillRect/>
          </a:stretch>
        </p:blipFill>
        <p:spPr>
          <a:xfrm>
            <a:off x="118745" y="1859280"/>
            <a:ext cx="11890375" cy="4998720"/>
          </a:xfrm>
          <a:prstGeom prst="rect">
            <a:avLst/>
          </a:prstGeom>
        </p:spPr>
      </p:pic>
    </p:spTree>
  </p:cSld>
  <p:clrMapOvr>
    <a:masterClrMapping/>
  </p:clrMapOvr>
  <p:transition spd="slow">
    <p:cove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广州华立学院学生校外实习单位审批表或者实习单位接收证明</a:t>
            </a:r>
            <a:endPar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sp>
        <p:nvSpPr>
          <p:cNvPr id="7" name="文本框 6"/>
          <p:cNvSpPr txBox="1"/>
          <p:nvPr/>
        </p:nvSpPr>
        <p:spPr>
          <a:xfrm>
            <a:off x="10822957" y="312648"/>
            <a:ext cx="74612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fld id="{5DE84415-B5B6-402A-810A-75E0261CEB98}" type="slidenum">
              <a:rPr kumimoji="0" lang="en-US" altLang="zh-CN" sz="2800" b="1" i="0" u="none" strike="noStrike" kern="1200" cap="none" spc="0" normalizeH="0" baseline="0" noProof="0" smtClean="0">
                <a:ln>
                  <a:noFill/>
                </a:ln>
                <a:solidFill>
                  <a:prstClr val="white"/>
                </a:solidFill>
                <a:effectLst/>
                <a:uLnTx/>
                <a:uFillTx/>
                <a:latin typeface="Calibri" panose="020F0502020204030204"/>
                <a:ea typeface="宋体" panose="02010600030101010101" pitchFamily="2" charset="-122"/>
                <a:cs typeface="+mn-cs"/>
              </a:rPr>
            </a:fld>
            <a:endParaRPr kumimoji="0" lang="en-US" altLang="zh-CN" sz="28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3" name="文本框 12"/>
          <p:cNvSpPr txBox="1"/>
          <p:nvPr/>
        </p:nvSpPr>
        <p:spPr>
          <a:xfrm>
            <a:off x="444500" y="66675"/>
            <a:ext cx="6779895" cy="76835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实习鉴定成绩统计</a:t>
            </a:r>
            <a:endParaRPr kumimoji="0" lang="zh-CN" altLang="en-US" sz="2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4" name="文本框 3"/>
          <p:cNvSpPr txBox="1"/>
          <p:nvPr/>
        </p:nvSpPr>
        <p:spPr>
          <a:xfrm>
            <a:off x="263525" y="1124585"/>
            <a:ext cx="11928475" cy="127000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“指导老师姓名</a:t>
            </a:r>
            <a:r>
              <a:rPr kumimoji="0" lang="en-US" altLang="zh-CN"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-2026-2027</a:t>
            </a:r>
            <a:r>
              <a:rPr kumimoji="0" lang="zh-CN" altLang="en-US"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学年 第</a:t>
            </a:r>
            <a:r>
              <a:rPr kumimoji="0" lang="zh-CN" altLang="en-US"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一学期生产实习成绩鉴定统计表”命名发给学院教科办主任汇总，提交一份纸质版（教师签字）给学院教科办主任。（实习鉴定成绩统计表包含下表内容。）</a:t>
            </a:r>
            <a:endParaRPr kumimoji="0" lang="zh-CN" altLang="en-US"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graphicFrame>
        <p:nvGraphicFramePr>
          <p:cNvPr id="3" name="表格 2"/>
          <p:cNvGraphicFramePr/>
          <p:nvPr>
            <p:custDataLst>
              <p:tags r:id="rId1"/>
            </p:custDataLst>
          </p:nvPr>
        </p:nvGraphicFramePr>
        <p:xfrm>
          <a:off x="444500" y="2780665"/>
          <a:ext cx="11633200" cy="3933190"/>
        </p:xfrm>
        <a:graphic>
          <a:graphicData uri="http://schemas.openxmlformats.org/drawingml/2006/table">
            <a:tbl>
              <a:tblPr/>
              <a:tblGrid>
                <a:gridCol w="581660"/>
                <a:gridCol w="581660"/>
                <a:gridCol w="581660"/>
                <a:gridCol w="581660"/>
                <a:gridCol w="581660"/>
                <a:gridCol w="581660"/>
                <a:gridCol w="581660"/>
                <a:gridCol w="581660"/>
                <a:gridCol w="581660"/>
                <a:gridCol w="581660"/>
                <a:gridCol w="581660"/>
                <a:gridCol w="581660"/>
                <a:gridCol w="581660"/>
                <a:gridCol w="581660"/>
                <a:gridCol w="581660"/>
                <a:gridCol w="581660"/>
                <a:gridCol w="581660"/>
                <a:gridCol w="581660"/>
                <a:gridCol w="581660"/>
                <a:gridCol w="581660"/>
              </a:tblGrid>
              <a:tr h="662940">
                <a:tc gridSpan="20">
                  <a:txBody>
                    <a:bodyPr/>
                    <a:p>
                      <a:pPr algn="ctr" fontAlgn="ctr"/>
                      <a:r>
                        <a:rPr lang="zh-CN" altLang="en-US" sz="1400" b="1" i="0">
                          <a:solidFill>
                            <a:srgbClr val="000000"/>
                          </a:solidFill>
                          <a:latin typeface="宋体" panose="02010600030101010101" pitchFamily="2" charset="-122"/>
                          <a:ea typeface="宋体" panose="02010600030101010101" pitchFamily="2" charset="-122"/>
                        </a:rPr>
                        <a:t>实习鉴定成绩统计</a:t>
                      </a:r>
                      <a:endParaRPr lang="zh-CN" altLang="en-US" sz="1400" b="1"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322580">
                <a:tc gridSpan="20">
                  <a:txBody>
                    <a:bodyPr/>
                    <a:p>
                      <a:pPr algn="ctr" fontAlgn="ctr"/>
                      <a:r>
                        <a:rPr lang="zh-CN" altLang="en-US" sz="800" b="1" i="0">
                          <a:solidFill>
                            <a:srgbClr val="000000"/>
                          </a:solidFill>
                          <a:latin typeface="宋体" panose="02010600030101010101" pitchFamily="2" charset="-122"/>
                          <a:ea typeface="宋体" panose="02010600030101010101" pitchFamily="2" charset="-122"/>
                        </a:rPr>
                        <a:t>统计学年：</a:t>
                      </a:r>
                      <a:r>
                        <a:rPr lang="en-US" altLang="zh-CN" sz="800" b="1" i="0">
                          <a:solidFill>
                            <a:srgbClr val="000000"/>
                          </a:solidFill>
                          <a:latin typeface="宋体" panose="02010600030101010101" pitchFamily="2" charset="-122"/>
                          <a:ea typeface="宋体" panose="02010600030101010101" pitchFamily="2" charset="-122"/>
                        </a:rPr>
                        <a:t>2026-2027</a:t>
                      </a:r>
                      <a:r>
                        <a:rPr lang="zh-CN" altLang="en-US" sz="800" b="1" i="0">
                          <a:solidFill>
                            <a:srgbClr val="000000"/>
                          </a:solidFill>
                          <a:latin typeface="宋体" panose="02010600030101010101" pitchFamily="2" charset="-122"/>
                          <a:ea typeface="宋体" panose="02010600030101010101" pitchFamily="2" charset="-122"/>
                        </a:rPr>
                        <a:t>学年  统计学期：第一学期      报表生成时间：</a:t>
                      </a:r>
                      <a:r>
                        <a:rPr lang="en-US" altLang="zh-CN" sz="800" b="1" i="0">
                          <a:solidFill>
                            <a:srgbClr val="000000"/>
                          </a:solidFill>
                          <a:latin typeface="宋体" panose="02010600030101010101" pitchFamily="2" charset="-122"/>
                          <a:ea typeface="宋体" panose="02010600030101010101" pitchFamily="2" charset="-122"/>
                        </a:rPr>
                        <a:t>2026</a:t>
                      </a:r>
                      <a:r>
                        <a:rPr lang="zh-CN" altLang="en-US" sz="800" b="1" i="0">
                          <a:solidFill>
                            <a:srgbClr val="000000"/>
                          </a:solidFill>
                          <a:latin typeface="宋体" panose="02010600030101010101" pitchFamily="2" charset="-122"/>
                          <a:ea typeface="宋体" panose="02010600030101010101" pitchFamily="2" charset="-122"/>
                        </a:rPr>
                        <a:t>年</a:t>
                      </a:r>
                      <a:r>
                        <a:rPr lang="en-US" altLang="zh-CN" sz="800" b="1" i="0">
                          <a:solidFill>
                            <a:srgbClr val="000000"/>
                          </a:solidFill>
                          <a:latin typeface="宋体" panose="02010600030101010101" pitchFamily="2" charset="-122"/>
                          <a:ea typeface="宋体" panose="02010600030101010101" pitchFamily="2" charset="-122"/>
                        </a:rPr>
                        <a:t>04</a:t>
                      </a:r>
                      <a:r>
                        <a:rPr lang="zh-CN" altLang="en-US" sz="800" b="1" i="0">
                          <a:solidFill>
                            <a:srgbClr val="000000"/>
                          </a:solidFill>
                          <a:latin typeface="宋体" panose="02010600030101010101" pitchFamily="2" charset="-122"/>
                          <a:ea typeface="宋体" panose="02010600030101010101" pitchFamily="2" charset="-122"/>
                        </a:rPr>
                        <a:t>月</a:t>
                      </a:r>
                      <a:r>
                        <a:rPr lang="en-US" altLang="zh-CN" sz="800" b="1" i="0">
                          <a:solidFill>
                            <a:srgbClr val="000000"/>
                          </a:solidFill>
                          <a:latin typeface="宋体" panose="02010600030101010101" pitchFamily="2" charset="-122"/>
                          <a:ea typeface="宋体" panose="02010600030101010101" pitchFamily="2" charset="-122"/>
                        </a:rPr>
                        <a:t>12</a:t>
                      </a:r>
                      <a:r>
                        <a:rPr lang="zh-CN" altLang="en-US" sz="800" b="1" i="0">
                          <a:solidFill>
                            <a:srgbClr val="000000"/>
                          </a:solidFill>
                          <a:latin typeface="宋体" panose="02010600030101010101" pitchFamily="2" charset="-122"/>
                          <a:ea typeface="宋体" panose="02010600030101010101" pitchFamily="2" charset="-122"/>
                        </a:rPr>
                        <a:t>日 </a:t>
                      </a:r>
                      <a:r>
                        <a:rPr lang="en-US" altLang="zh-CN" sz="800" b="1" i="0">
                          <a:solidFill>
                            <a:srgbClr val="000000"/>
                          </a:solidFill>
                          <a:latin typeface="宋体" panose="02010600030101010101" pitchFamily="2" charset="-122"/>
                          <a:ea typeface="宋体" panose="02010600030101010101" pitchFamily="2" charset="-122"/>
                        </a:rPr>
                        <a:t>13</a:t>
                      </a:r>
                      <a:r>
                        <a:rPr lang="zh-CN" altLang="en-US" sz="800" b="1" i="0">
                          <a:solidFill>
                            <a:srgbClr val="000000"/>
                          </a:solidFill>
                          <a:latin typeface="宋体" panose="02010600030101010101" pitchFamily="2" charset="-122"/>
                          <a:ea typeface="宋体" panose="02010600030101010101" pitchFamily="2" charset="-122"/>
                        </a:rPr>
                        <a:t>时</a:t>
                      </a:r>
                      <a:r>
                        <a:rPr lang="en-US" altLang="zh-CN" sz="800" b="1" i="0">
                          <a:solidFill>
                            <a:srgbClr val="000000"/>
                          </a:solidFill>
                          <a:latin typeface="宋体" panose="02010600030101010101" pitchFamily="2" charset="-122"/>
                          <a:ea typeface="宋体" panose="02010600030101010101" pitchFamily="2" charset="-122"/>
                        </a:rPr>
                        <a:t>44</a:t>
                      </a:r>
                      <a:r>
                        <a:rPr lang="zh-CN" altLang="en-US" sz="800" b="1" i="0">
                          <a:solidFill>
                            <a:srgbClr val="000000"/>
                          </a:solidFill>
                          <a:latin typeface="宋体" panose="02010600030101010101" pitchFamily="2" charset="-122"/>
                          <a:ea typeface="宋体" panose="02010600030101010101" pitchFamily="2" charset="-122"/>
                        </a:rPr>
                        <a:t>分</a:t>
                      </a:r>
                      <a:r>
                        <a:rPr lang="en-US" altLang="zh-CN" sz="800" b="1" i="0">
                          <a:solidFill>
                            <a:srgbClr val="000000"/>
                          </a:solidFill>
                          <a:latin typeface="宋体" panose="02010600030101010101" pitchFamily="2" charset="-122"/>
                          <a:ea typeface="宋体" panose="02010600030101010101" pitchFamily="2" charset="-122"/>
                        </a:rPr>
                        <a:t>22</a:t>
                      </a:r>
                      <a:r>
                        <a:rPr lang="zh-CN" altLang="en-US" sz="800" b="1" i="0">
                          <a:solidFill>
                            <a:srgbClr val="000000"/>
                          </a:solidFill>
                          <a:latin typeface="宋体" panose="02010600030101010101" pitchFamily="2" charset="-122"/>
                          <a:ea typeface="宋体" panose="02010600030101010101" pitchFamily="2" charset="-122"/>
                        </a:rPr>
                        <a:t>秒</a:t>
                      </a:r>
                      <a:endParaRPr lang="zh-CN" altLang="en-US" sz="800" b="1"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842010">
                <a:tc>
                  <a:txBody>
                    <a:bodyPr/>
                    <a:p>
                      <a:pPr algn="ctr" fontAlgn="ctr"/>
                      <a:r>
                        <a:rPr lang="zh-CN" altLang="en-US" sz="900" b="1" i="0">
                          <a:solidFill>
                            <a:srgbClr val="000000"/>
                          </a:solidFill>
                          <a:latin typeface="宋体" panose="02010600030101010101" pitchFamily="2" charset="-122"/>
                          <a:ea typeface="宋体" panose="02010600030101010101" pitchFamily="2" charset="-122"/>
                        </a:rPr>
                        <a:t>姓名</a:t>
                      </a:r>
                      <a:endParaRPr lang="zh-CN" altLang="en-US" sz="900" b="1"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1" i="0">
                          <a:solidFill>
                            <a:srgbClr val="000000"/>
                          </a:solidFill>
                          <a:latin typeface="宋体" panose="02010600030101010101" pitchFamily="2" charset="-122"/>
                          <a:ea typeface="宋体" panose="02010600030101010101" pitchFamily="2" charset="-122"/>
                        </a:rPr>
                        <a:t>学号</a:t>
                      </a:r>
                      <a:endParaRPr lang="zh-CN" altLang="en-US" sz="900" b="1"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1" i="0">
                          <a:solidFill>
                            <a:srgbClr val="000000"/>
                          </a:solidFill>
                          <a:latin typeface="宋体" panose="02010600030101010101" pitchFamily="2" charset="-122"/>
                          <a:ea typeface="宋体" panose="02010600030101010101" pitchFamily="2" charset="-122"/>
                        </a:rPr>
                        <a:t>院</a:t>
                      </a:r>
                      <a:r>
                        <a:rPr lang="en-US" altLang="zh-CN" sz="900" b="1" i="0">
                          <a:solidFill>
                            <a:srgbClr val="000000"/>
                          </a:solidFill>
                          <a:latin typeface="宋体" panose="02010600030101010101" pitchFamily="2" charset="-122"/>
                          <a:ea typeface="宋体" panose="02010600030101010101" pitchFamily="2" charset="-122"/>
                        </a:rPr>
                        <a:t>(</a:t>
                      </a:r>
                      <a:r>
                        <a:rPr lang="zh-CN" altLang="en-US" sz="900" b="1" i="0">
                          <a:solidFill>
                            <a:srgbClr val="000000"/>
                          </a:solidFill>
                          <a:latin typeface="宋体" panose="02010600030101010101" pitchFamily="2" charset="-122"/>
                          <a:ea typeface="宋体" panose="02010600030101010101" pitchFamily="2" charset="-122"/>
                        </a:rPr>
                        <a:t>系</a:t>
                      </a:r>
                      <a:r>
                        <a:rPr lang="en-US" altLang="zh-CN" sz="900" b="1" i="0">
                          <a:solidFill>
                            <a:srgbClr val="000000"/>
                          </a:solidFill>
                          <a:latin typeface="宋体" panose="02010600030101010101" pitchFamily="2" charset="-122"/>
                          <a:ea typeface="宋体" panose="02010600030101010101" pitchFamily="2" charset="-122"/>
                        </a:rPr>
                        <a:t>)</a:t>
                      </a:r>
                      <a:endParaRPr lang="en-US" altLang="zh-CN" sz="900" b="1"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1" i="0">
                          <a:solidFill>
                            <a:srgbClr val="000000"/>
                          </a:solidFill>
                          <a:latin typeface="宋体" panose="02010600030101010101" pitchFamily="2" charset="-122"/>
                          <a:ea typeface="宋体" panose="02010600030101010101" pitchFamily="2" charset="-122"/>
                        </a:rPr>
                        <a:t>院系代码</a:t>
                      </a:r>
                      <a:endParaRPr lang="zh-CN" altLang="en-US" sz="900" b="1"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1" i="0">
                          <a:solidFill>
                            <a:srgbClr val="000000"/>
                          </a:solidFill>
                          <a:latin typeface="宋体" panose="02010600030101010101" pitchFamily="2" charset="-122"/>
                          <a:ea typeface="宋体" panose="02010600030101010101" pitchFamily="2" charset="-122"/>
                        </a:rPr>
                        <a:t>班级</a:t>
                      </a:r>
                      <a:endParaRPr lang="zh-CN" altLang="en-US" sz="900" b="1"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1" i="0">
                          <a:solidFill>
                            <a:srgbClr val="000000"/>
                          </a:solidFill>
                          <a:latin typeface="宋体" panose="02010600030101010101" pitchFamily="2" charset="-122"/>
                          <a:ea typeface="宋体" panose="02010600030101010101" pitchFamily="2" charset="-122"/>
                        </a:rPr>
                        <a:t>课程名称</a:t>
                      </a:r>
                      <a:endParaRPr lang="zh-CN" altLang="en-US" sz="900" b="1"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1" i="0">
                          <a:solidFill>
                            <a:srgbClr val="000000"/>
                          </a:solidFill>
                          <a:latin typeface="宋体" panose="02010600030101010101" pitchFamily="2" charset="-122"/>
                          <a:ea typeface="宋体" panose="02010600030101010101" pitchFamily="2" charset="-122"/>
                        </a:rPr>
                        <a:t>实习计划</a:t>
                      </a:r>
                      <a:endParaRPr lang="zh-CN" altLang="en-US" sz="900" b="1"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1" i="0">
                          <a:solidFill>
                            <a:srgbClr val="000000"/>
                          </a:solidFill>
                          <a:latin typeface="宋体" panose="02010600030101010101" pitchFamily="2" charset="-122"/>
                          <a:ea typeface="宋体" panose="02010600030101010101" pitchFamily="2" charset="-122"/>
                        </a:rPr>
                        <a:t>实习形式</a:t>
                      </a:r>
                      <a:endParaRPr lang="zh-CN" altLang="en-US" sz="900" b="1"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1" i="0">
                          <a:solidFill>
                            <a:srgbClr val="000000"/>
                          </a:solidFill>
                          <a:latin typeface="宋体" panose="02010600030101010101" pitchFamily="2" charset="-122"/>
                          <a:ea typeface="宋体" panose="02010600030101010101" pitchFamily="2" charset="-122"/>
                        </a:rPr>
                        <a:t>校内指导老师姓名</a:t>
                      </a:r>
                      <a:endParaRPr lang="zh-CN" altLang="en-US" sz="900" b="1"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1" i="0">
                          <a:solidFill>
                            <a:srgbClr val="000000"/>
                          </a:solidFill>
                          <a:latin typeface="宋体" panose="02010600030101010101" pitchFamily="2" charset="-122"/>
                          <a:ea typeface="宋体" panose="02010600030101010101" pitchFamily="2" charset="-122"/>
                        </a:rPr>
                        <a:t>校内指导老师工号</a:t>
                      </a:r>
                      <a:endParaRPr lang="zh-CN" altLang="en-US" sz="900" b="1"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1" i="0">
                          <a:solidFill>
                            <a:srgbClr val="000000"/>
                          </a:solidFill>
                          <a:latin typeface="宋体" panose="02010600030101010101" pitchFamily="2" charset="-122"/>
                          <a:ea typeface="宋体" panose="02010600030101010101" pitchFamily="2" charset="-122"/>
                        </a:rPr>
                        <a:t>实习单位</a:t>
                      </a:r>
                      <a:endParaRPr lang="zh-CN" altLang="en-US" sz="900" b="1"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1" i="0">
                          <a:solidFill>
                            <a:srgbClr val="000000"/>
                          </a:solidFill>
                          <a:latin typeface="宋体" panose="02010600030101010101" pitchFamily="2" charset="-122"/>
                          <a:ea typeface="宋体" panose="02010600030101010101" pitchFamily="2" charset="-122"/>
                        </a:rPr>
                        <a:t>校外指导老师</a:t>
                      </a:r>
                      <a:endParaRPr lang="zh-CN" altLang="en-US" sz="900" b="1"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1" i="0">
                          <a:solidFill>
                            <a:srgbClr val="000000"/>
                          </a:solidFill>
                          <a:latin typeface="宋体" panose="02010600030101010101" pitchFamily="2" charset="-122"/>
                          <a:ea typeface="宋体" panose="02010600030101010101" pitchFamily="2" charset="-122"/>
                        </a:rPr>
                        <a:t>实习状态</a:t>
                      </a:r>
                      <a:endParaRPr lang="zh-CN" altLang="en-US" sz="900" b="1"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1" i="0">
                          <a:solidFill>
                            <a:srgbClr val="000000"/>
                          </a:solidFill>
                          <a:latin typeface="宋体" panose="02010600030101010101" pitchFamily="2" charset="-122"/>
                          <a:ea typeface="宋体" panose="02010600030101010101" pitchFamily="2" charset="-122"/>
                        </a:rPr>
                        <a:t>指导老师鉴定评分</a:t>
                      </a:r>
                      <a:endParaRPr lang="zh-CN" altLang="en-US" sz="900" b="1"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1" i="0">
                          <a:solidFill>
                            <a:srgbClr val="000000"/>
                          </a:solidFill>
                          <a:latin typeface="宋体" panose="02010600030101010101" pitchFamily="2" charset="-122"/>
                          <a:ea typeface="宋体" panose="02010600030101010101" pitchFamily="2" charset="-122"/>
                        </a:rPr>
                        <a:t>实习单位鉴定评分</a:t>
                      </a:r>
                      <a:endParaRPr lang="zh-CN" altLang="en-US" sz="900" b="1"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1" i="0">
                          <a:solidFill>
                            <a:srgbClr val="000000"/>
                          </a:solidFill>
                          <a:latin typeface="宋体" panose="02010600030101010101" pitchFamily="2" charset="-122"/>
                          <a:ea typeface="宋体" panose="02010600030101010101" pitchFamily="2" charset="-122"/>
                        </a:rPr>
                        <a:t>盖章文件</a:t>
                      </a:r>
                      <a:endParaRPr lang="zh-CN" altLang="en-US" sz="900" b="1"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1" i="0">
                          <a:solidFill>
                            <a:srgbClr val="000000"/>
                          </a:solidFill>
                          <a:latin typeface="宋体" panose="02010600030101010101" pitchFamily="2" charset="-122"/>
                          <a:ea typeface="宋体" panose="02010600030101010101" pitchFamily="2" charset="-122"/>
                        </a:rPr>
                        <a:t>周日志平均分评分</a:t>
                      </a:r>
                      <a:endParaRPr lang="zh-CN" altLang="en-US" sz="900" b="1"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1" i="0">
                          <a:solidFill>
                            <a:srgbClr val="000000"/>
                          </a:solidFill>
                          <a:latin typeface="宋体" panose="02010600030101010101" pitchFamily="2" charset="-122"/>
                          <a:ea typeface="宋体" panose="02010600030101010101" pitchFamily="2" charset="-122"/>
                        </a:rPr>
                        <a:t>实习作业及报告分</a:t>
                      </a:r>
                      <a:endParaRPr lang="zh-CN" altLang="en-US" sz="900" b="1"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1" i="0">
                          <a:solidFill>
                            <a:srgbClr val="000000"/>
                          </a:solidFill>
                          <a:latin typeface="宋体" panose="02010600030101010101" pitchFamily="2" charset="-122"/>
                          <a:ea typeface="宋体" panose="02010600030101010101" pitchFamily="2" charset="-122"/>
                        </a:rPr>
                        <a:t>总分</a:t>
                      </a:r>
                      <a:endParaRPr lang="zh-CN" altLang="en-US" sz="900" b="1"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1" i="0">
                          <a:solidFill>
                            <a:srgbClr val="000000"/>
                          </a:solidFill>
                          <a:latin typeface="宋体" panose="02010600030101010101" pitchFamily="2" charset="-122"/>
                          <a:ea typeface="宋体" panose="02010600030101010101" pitchFamily="2" charset="-122"/>
                        </a:rPr>
                        <a:t>五级制成绩</a:t>
                      </a:r>
                      <a:endParaRPr lang="zh-CN" altLang="en-US" sz="900" b="1"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23645">
                <a:tc>
                  <a:txBody>
                    <a:bodyPr/>
                    <a:p>
                      <a:pPr algn="ctr" fontAlgn="ctr"/>
                      <a:r>
                        <a:rPr lang="zh-CN" altLang="en-US" sz="900" b="0" i="0">
                          <a:solidFill>
                            <a:srgbClr val="000000"/>
                          </a:solidFill>
                          <a:latin typeface="宋体" panose="02010600030101010101" pitchFamily="2" charset="-122"/>
                          <a:ea typeface="宋体" panose="02010600030101010101" pitchFamily="2" charset="-122"/>
                        </a:rPr>
                        <a:t>测试</a:t>
                      </a:r>
                      <a:r>
                        <a:rPr lang="en-US" altLang="zh-CN" sz="900" b="0" i="0">
                          <a:solidFill>
                            <a:srgbClr val="000000"/>
                          </a:solidFill>
                          <a:latin typeface="宋体" panose="02010600030101010101" pitchFamily="2" charset="-122"/>
                          <a:ea typeface="宋体" panose="02010600030101010101" pitchFamily="2" charset="-122"/>
                        </a:rPr>
                        <a:t>8</a:t>
                      </a:r>
                      <a:r>
                        <a:rPr lang="zh-CN" altLang="en-US" sz="900" b="0" i="0">
                          <a:solidFill>
                            <a:srgbClr val="000000"/>
                          </a:solidFill>
                          <a:latin typeface="宋体" panose="02010600030101010101" pitchFamily="2" charset="-122"/>
                          <a:ea typeface="宋体" panose="02010600030101010101" pitchFamily="2" charset="-122"/>
                        </a:rPr>
                        <a:t>号</a:t>
                      </a:r>
                      <a:endParaRPr lang="zh-CN" altLang="en-US"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900" b="0" i="0">
                          <a:solidFill>
                            <a:srgbClr val="000000"/>
                          </a:solidFill>
                          <a:latin typeface="宋体" panose="02010600030101010101" pitchFamily="2" charset="-122"/>
                          <a:ea typeface="宋体" panose="02010600030101010101" pitchFamily="2" charset="-122"/>
                        </a:rPr>
                        <a:t>654321</a:t>
                      </a:r>
                      <a:endParaRPr lang="en-US" altLang="zh-CN"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0" i="0">
                          <a:solidFill>
                            <a:srgbClr val="000000"/>
                          </a:solidFill>
                          <a:latin typeface="宋体" panose="02010600030101010101" pitchFamily="2" charset="-122"/>
                          <a:ea typeface="宋体" panose="02010600030101010101" pitchFamily="2" charset="-122"/>
                        </a:rPr>
                        <a:t>商学院</a:t>
                      </a:r>
                      <a:endParaRPr lang="zh-CN" altLang="en-US"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900" b="0" i="0">
                          <a:solidFill>
                            <a:srgbClr val="000000"/>
                          </a:solidFill>
                          <a:latin typeface="宋体" panose="02010600030101010101" pitchFamily="2" charset="-122"/>
                          <a:ea typeface="宋体" panose="02010600030101010101" pitchFamily="2" charset="-122"/>
                        </a:rPr>
                        <a:t>10054</a:t>
                      </a:r>
                      <a:endParaRPr lang="en-US" altLang="zh-CN"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900" b="0" i="0">
                          <a:solidFill>
                            <a:srgbClr val="000000"/>
                          </a:solidFill>
                          <a:latin typeface="宋体" panose="02010600030101010101" pitchFamily="2" charset="-122"/>
                          <a:ea typeface="宋体" panose="02010600030101010101" pitchFamily="2" charset="-122"/>
                        </a:rPr>
                        <a:t>23</a:t>
                      </a:r>
                      <a:r>
                        <a:rPr lang="zh-CN" altLang="en-US" sz="900" b="0" i="0">
                          <a:solidFill>
                            <a:srgbClr val="000000"/>
                          </a:solidFill>
                          <a:latin typeface="宋体" panose="02010600030101010101" pitchFamily="2" charset="-122"/>
                          <a:ea typeface="宋体" panose="02010600030101010101" pitchFamily="2" charset="-122"/>
                        </a:rPr>
                        <a:t>财管</a:t>
                      </a:r>
                      <a:r>
                        <a:rPr lang="en-US" altLang="zh-CN" sz="900" b="0" i="0">
                          <a:solidFill>
                            <a:srgbClr val="000000"/>
                          </a:solidFill>
                          <a:latin typeface="宋体" panose="02010600030101010101" pitchFamily="2" charset="-122"/>
                          <a:ea typeface="宋体" panose="02010600030101010101" pitchFamily="2" charset="-122"/>
                        </a:rPr>
                        <a:t>1</a:t>
                      </a:r>
                      <a:r>
                        <a:rPr lang="zh-CN" altLang="en-US" sz="900" b="0" i="0">
                          <a:solidFill>
                            <a:srgbClr val="000000"/>
                          </a:solidFill>
                          <a:latin typeface="宋体" panose="02010600030101010101" pitchFamily="2" charset="-122"/>
                          <a:ea typeface="宋体" panose="02010600030101010101" pitchFamily="2" charset="-122"/>
                        </a:rPr>
                        <a:t>班</a:t>
                      </a:r>
                      <a:endParaRPr lang="zh-CN" altLang="en-US"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900" b="0" i="0">
                          <a:solidFill>
                            <a:srgbClr val="000000"/>
                          </a:solidFill>
                          <a:latin typeface="宋体" panose="02010600030101010101" pitchFamily="2" charset="-122"/>
                          <a:ea typeface="宋体" panose="02010600030101010101" pitchFamily="2" charset="-122"/>
                        </a:rPr>
                        <a:t>27</a:t>
                      </a:r>
                      <a:r>
                        <a:rPr lang="zh-CN" altLang="en-US" sz="900" b="0" i="0">
                          <a:solidFill>
                            <a:srgbClr val="000000"/>
                          </a:solidFill>
                          <a:latin typeface="宋体" panose="02010600030101010101" pitchFamily="2" charset="-122"/>
                          <a:ea typeface="宋体" panose="02010600030101010101" pitchFamily="2" charset="-122"/>
                        </a:rPr>
                        <a:t>届生产实习</a:t>
                      </a:r>
                      <a:endParaRPr lang="zh-CN" altLang="en-US"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900" b="0" i="0">
                          <a:solidFill>
                            <a:srgbClr val="000000"/>
                          </a:solidFill>
                          <a:latin typeface="宋体" panose="02010600030101010101" pitchFamily="2" charset="-122"/>
                          <a:ea typeface="宋体" panose="02010600030101010101" pitchFamily="2" charset="-122"/>
                        </a:rPr>
                        <a:t>27</a:t>
                      </a:r>
                      <a:r>
                        <a:rPr lang="zh-CN" altLang="en-US" sz="900" b="0" i="0">
                          <a:solidFill>
                            <a:srgbClr val="000000"/>
                          </a:solidFill>
                          <a:latin typeface="宋体" panose="02010600030101010101" pitchFamily="2" charset="-122"/>
                          <a:ea typeface="宋体" panose="02010600030101010101" pitchFamily="2" charset="-122"/>
                        </a:rPr>
                        <a:t>届</a:t>
                      </a:r>
                      <a:r>
                        <a:rPr lang="en-US" altLang="zh-CN" sz="900" b="0" i="0">
                          <a:solidFill>
                            <a:srgbClr val="000000"/>
                          </a:solidFill>
                          <a:latin typeface="宋体" panose="02010600030101010101" pitchFamily="2" charset="-122"/>
                          <a:ea typeface="宋体" panose="02010600030101010101" pitchFamily="2" charset="-122"/>
                        </a:rPr>
                        <a:t>-</a:t>
                      </a:r>
                      <a:r>
                        <a:rPr lang="zh-CN" altLang="en-US" sz="900" b="0" i="0">
                          <a:solidFill>
                            <a:srgbClr val="000000"/>
                          </a:solidFill>
                          <a:latin typeface="宋体" panose="02010600030101010101" pitchFamily="2" charset="-122"/>
                          <a:ea typeface="宋体" panose="02010600030101010101" pitchFamily="2" charset="-122"/>
                        </a:rPr>
                        <a:t>财务管理专业</a:t>
                      </a:r>
                      <a:r>
                        <a:rPr lang="en-US" altLang="zh-CN" sz="900" b="0" i="0">
                          <a:solidFill>
                            <a:srgbClr val="000000"/>
                          </a:solidFill>
                          <a:latin typeface="宋体" panose="02010600030101010101" pitchFamily="2" charset="-122"/>
                          <a:ea typeface="宋体" panose="02010600030101010101" pitchFamily="2" charset="-122"/>
                        </a:rPr>
                        <a:t>-</a:t>
                      </a:r>
                      <a:r>
                        <a:rPr lang="zh-CN" altLang="en-US" sz="900" b="0" i="0">
                          <a:solidFill>
                            <a:srgbClr val="000000"/>
                          </a:solidFill>
                          <a:latin typeface="宋体" panose="02010600030101010101" pitchFamily="2" charset="-122"/>
                          <a:ea typeface="宋体" panose="02010600030101010101" pitchFamily="2" charset="-122"/>
                        </a:rPr>
                        <a:t>生产实习</a:t>
                      </a:r>
                      <a:endParaRPr lang="zh-CN" altLang="en-US"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0" i="0">
                          <a:solidFill>
                            <a:srgbClr val="000000"/>
                          </a:solidFill>
                          <a:latin typeface="宋体" panose="02010600030101010101" pitchFamily="2" charset="-122"/>
                          <a:ea typeface="宋体" panose="02010600030101010101" pitchFamily="2" charset="-122"/>
                        </a:rPr>
                        <a:t>自主实习</a:t>
                      </a:r>
                      <a:endParaRPr lang="zh-CN" altLang="en-US"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0" i="0">
                          <a:solidFill>
                            <a:srgbClr val="000000"/>
                          </a:solidFill>
                          <a:latin typeface="宋体" panose="02010600030101010101" pitchFamily="2" charset="-122"/>
                          <a:ea typeface="宋体" panose="02010600030101010101" pitchFamily="2" charset="-122"/>
                        </a:rPr>
                        <a:t>刘蓉采</a:t>
                      </a:r>
                      <a:endParaRPr lang="zh-CN" altLang="en-US"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900" b="0" i="0">
                          <a:solidFill>
                            <a:srgbClr val="000000"/>
                          </a:solidFill>
                          <a:latin typeface="宋体" panose="02010600030101010101" pitchFamily="2" charset="-122"/>
                          <a:ea typeface="宋体" panose="02010600030101010101" pitchFamily="2" charset="-122"/>
                        </a:rPr>
                        <a:t>04763</a:t>
                      </a:r>
                      <a:endParaRPr lang="en-US" altLang="zh-CN"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0" i="0">
                          <a:solidFill>
                            <a:srgbClr val="000000"/>
                          </a:solidFill>
                          <a:latin typeface="宋体" panose="02010600030101010101" pitchFamily="2" charset="-122"/>
                          <a:ea typeface="宋体" panose="02010600030101010101" pitchFamily="2" charset="-122"/>
                        </a:rPr>
                        <a:t>中兴财光华会计师事务所（特殊普通合伙）深圳分所</a:t>
                      </a:r>
                      <a:endParaRPr lang="zh-CN" altLang="en-US"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0" i="0">
                          <a:solidFill>
                            <a:srgbClr val="000000"/>
                          </a:solidFill>
                          <a:latin typeface="宋体" panose="02010600030101010101" pitchFamily="2" charset="-122"/>
                          <a:ea typeface="宋体" panose="02010600030101010101" pitchFamily="2" charset="-122"/>
                        </a:rPr>
                        <a:t>李</a:t>
                      </a:r>
                      <a:r>
                        <a:rPr lang="en-US" altLang="zh-CN" sz="900" b="0" i="0">
                          <a:solidFill>
                            <a:srgbClr val="000000"/>
                          </a:solidFill>
                          <a:latin typeface="宋体" panose="02010600030101010101" pitchFamily="2" charset="-122"/>
                          <a:ea typeface="宋体" panose="02010600030101010101" pitchFamily="2" charset="-122"/>
                        </a:rPr>
                        <a:t>XX</a:t>
                      </a:r>
                      <a:endParaRPr lang="en-US" altLang="zh-CN"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0" i="0">
                          <a:solidFill>
                            <a:srgbClr val="000000"/>
                          </a:solidFill>
                          <a:latin typeface="宋体" panose="02010600030101010101" pitchFamily="2" charset="-122"/>
                          <a:ea typeface="宋体" panose="02010600030101010101" pitchFamily="2" charset="-122"/>
                        </a:rPr>
                        <a:t>进行中</a:t>
                      </a:r>
                      <a:endParaRPr lang="zh-CN" altLang="en-US"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900" b="0" i="0">
                          <a:solidFill>
                            <a:srgbClr val="000000"/>
                          </a:solidFill>
                          <a:latin typeface="宋体" panose="02010600030101010101" pitchFamily="2" charset="-122"/>
                          <a:ea typeface="宋体" panose="02010600030101010101" pitchFamily="2" charset="-122"/>
                        </a:rPr>
                        <a:t>45.500</a:t>
                      </a:r>
                      <a:endParaRPr lang="en-US" altLang="zh-CN"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900" b="0" i="0">
                          <a:solidFill>
                            <a:srgbClr val="000000"/>
                          </a:solidFill>
                          <a:latin typeface="宋体" panose="02010600030101010101" pitchFamily="2" charset="-122"/>
                          <a:ea typeface="宋体" panose="02010600030101010101" pitchFamily="2" charset="-122"/>
                        </a:rPr>
                        <a:t>27.000</a:t>
                      </a:r>
                      <a:endParaRPr lang="en-US" altLang="zh-CN"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0" i="0">
                          <a:solidFill>
                            <a:srgbClr val="000000"/>
                          </a:solidFill>
                          <a:latin typeface="宋体" panose="02010600030101010101" pitchFamily="2" charset="-122"/>
                          <a:ea typeface="宋体" panose="02010600030101010101" pitchFamily="2" charset="-122"/>
                        </a:rPr>
                        <a:t>已上传</a:t>
                      </a:r>
                      <a:endParaRPr lang="zh-CN" altLang="en-US"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900" b="0" i="0">
                          <a:solidFill>
                            <a:srgbClr val="000000"/>
                          </a:solidFill>
                          <a:latin typeface="宋体" panose="02010600030101010101" pitchFamily="2" charset="-122"/>
                          <a:ea typeface="宋体" panose="02010600030101010101" pitchFamily="2" charset="-122"/>
                        </a:rPr>
                        <a:t>3.33</a:t>
                      </a:r>
                      <a:endParaRPr lang="en-US" altLang="zh-CN"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900" b="0" i="0">
                          <a:solidFill>
                            <a:srgbClr val="000000"/>
                          </a:solidFill>
                          <a:latin typeface="宋体" panose="02010600030101010101" pitchFamily="2" charset="-122"/>
                          <a:ea typeface="宋体" panose="02010600030101010101" pitchFamily="2" charset="-122"/>
                        </a:rPr>
                        <a:t>13.30</a:t>
                      </a:r>
                      <a:endParaRPr lang="en-US" altLang="zh-CN"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900" b="0" i="0">
                          <a:solidFill>
                            <a:srgbClr val="000000"/>
                          </a:solidFill>
                          <a:latin typeface="宋体" panose="02010600030101010101" pitchFamily="2" charset="-122"/>
                          <a:ea typeface="宋体" panose="02010600030101010101" pitchFamily="2" charset="-122"/>
                        </a:rPr>
                        <a:t>89.13</a:t>
                      </a:r>
                      <a:endParaRPr lang="en-US" altLang="zh-CN"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900" b="0" i="0">
                          <a:solidFill>
                            <a:srgbClr val="000000"/>
                          </a:solidFill>
                          <a:latin typeface="宋体" panose="02010600030101010101" pitchFamily="2" charset="-122"/>
                          <a:ea typeface="宋体" panose="02010600030101010101" pitchFamily="2" charset="-122"/>
                        </a:rPr>
                        <a:t>良好</a:t>
                      </a:r>
                      <a:endParaRPr lang="zh-CN" altLang="en-US"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9710">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20345">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21615">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20345">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9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Sld>
  <p:clrMapOvr>
    <a:masterClrMapping/>
  </p:clrMapOvr>
  <p:transition spd="slow">
    <p:cove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7328" y="43919"/>
            <a:ext cx="12097344" cy="6668646"/>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 name="矩形 1"/>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矩形 2"/>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1617798" y="491074"/>
            <a:ext cx="603242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学院实习指导老师期末纸质版资料收集任务</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a:off x="10822957" y="312648"/>
            <a:ext cx="74612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fld id="{5DE84415-B5B6-402A-810A-75E0261CEB98}" type="slidenum">
              <a:rPr kumimoji="0" lang="en-US" altLang="zh-CN" sz="2800" b="1" i="0" u="none" strike="noStrike" kern="1200" cap="none" spc="0" normalizeH="0" baseline="0" noProof="0" smtClean="0">
                <a:ln>
                  <a:noFill/>
                </a:ln>
                <a:solidFill>
                  <a:prstClr val="white"/>
                </a:solidFill>
                <a:effectLst/>
                <a:uLnTx/>
                <a:uFillTx/>
                <a:latin typeface="Calibri" panose="020F0502020204030204"/>
                <a:ea typeface="宋体" panose="02010600030101010101" pitchFamily="2" charset="-122"/>
                <a:cs typeface="+mn-cs"/>
              </a:rPr>
            </a:fld>
            <a:endParaRPr kumimoji="0" lang="en-US" altLang="zh-CN" sz="28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9" name="文本框 8"/>
          <p:cNvSpPr txBox="1"/>
          <p:nvPr/>
        </p:nvSpPr>
        <p:spPr>
          <a:xfrm>
            <a:off x="263525" y="963295"/>
            <a:ext cx="11737340" cy="5671185"/>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学生按照如下顺序装订成册，提交给校内指导老师：</a:t>
            </a:r>
            <a:endPar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1" noProof="0" dirty="0">
                <a:ln>
                  <a:noFill/>
                </a:ln>
                <a:solidFill>
                  <a:srgbClr val="FF0000"/>
                </a:solidFill>
                <a:effectLst/>
                <a:uLnTx/>
                <a:uFillTx/>
                <a:latin typeface="宋体" panose="02010600030101010101" pitchFamily="2" charset="-122"/>
                <a:ea typeface="宋体" panose="02010600030101010101" pitchFamily="2" charset="-122"/>
                <a:sym typeface="+mn-ea"/>
              </a:rPr>
              <a:t>1.</a:t>
            </a:r>
            <a:r>
              <a:rPr lang="zh-CN" altLang="en-US" sz="1600" b="1" noProof="0" dirty="0">
                <a:ln>
                  <a:noFill/>
                </a:ln>
                <a:solidFill>
                  <a:srgbClr val="FF0000"/>
                </a:solidFill>
                <a:effectLst/>
                <a:uLnTx/>
                <a:uFillTx/>
                <a:latin typeface="宋体" panose="02010600030101010101" pitchFamily="2" charset="-122"/>
                <a:ea typeface="宋体" panose="02010600030101010101" pitchFamily="2" charset="-122"/>
                <a:sym typeface="+mn-ea"/>
              </a:rPr>
              <a:t>广州华立学院学生校外实习审批表或者实习接收证明</a:t>
            </a:r>
            <a:r>
              <a:rPr lang="en-US" altLang="zh-CN" sz="1600" noProof="0" dirty="0">
                <a:ln>
                  <a:noFill/>
                </a:ln>
                <a:solidFill>
                  <a:prstClr val="black"/>
                </a:solidFill>
                <a:effectLst/>
                <a:uLnTx/>
                <a:uFillTx/>
                <a:latin typeface="宋体" panose="02010600030101010101" pitchFamily="2" charset="-122"/>
                <a:ea typeface="宋体" panose="02010600030101010101" pitchFamily="2" charset="-122"/>
                <a:sym typeface="+mn-ea"/>
              </a:rPr>
              <a:t>—</a:t>
            </a: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确定实习单位和实习岗位后完成该项资料填写并在校友邦进行生产实习报名时将此表扫描成</a:t>
            </a:r>
            <a:r>
              <a:rPr lang="en-US" altLang="zh-CN" sz="1600" noProof="0" dirty="0">
                <a:ln>
                  <a:noFill/>
                </a:ln>
                <a:solidFill>
                  <a:prstClr val="black"/>
                </a:solidFill>
                <a:effectLst/>
                <a:uLnTx/>
                <a:uFillTx/>
                <a:latin typeface="宋体" panose="02010600030101010101" pitchFamily="2" charset="-122"/>
                <a:ea typeface="宋体" panose="02010600030101010101" pitchFamily="2" charset="-122"/>
                <a:sym typeface="+mn-ea"/>
              </a:rPr>
              <a:t>PDF</a:t>
            </a: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（或者拍照）上传至“岗位证明”端口，</a:t>
            </a:r>
            <a:r>
              <a:rPr lang="zh-CN" altLang="en-US" sz="160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sym typeface="+mn-ea"/>
              </a:rPr>
              <a:t>原件实习结束后交学院指导老师。</a:t>
            </a:r>
            <a:endParaRPr kumimoji="0" lang="zh-CN" altLang="en-US" sz="1600"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1" noProof="0" dirty="0">
                <a:ln>
                  <a:noFill/>
                </a:ln>
                <a:solidFill>
                  <a:srgbClr val="FF0000"/>
                </a:solidFill>
                <a:effectLst/>
                <a:uLnTx/>
                <a:uFillTx/>
                <a:latin typeface="宋体" panose="02010600030101010101" pitchFamily="2" charset="-122"/>
                <a:ea typeface="宋体" panose="02010600030101010101" pitchFamily="2" charset="-122"/>
                <a:sym typeface="+mn-ea"/>
              </a:rPr>
              <a:t>2.</a:t>
            </a:r>
            <a:r>
              <a:rPr lang="zh-CN" altLang="en-US" sz="1600" b="1" noProof="0" dirty="0">
                <a:ln>
                  <a:noFill/>
                </a:ln>
                <a:solidFill>
                  <a:srgbClr val="FF0000"/>
                </a:solidFill>
                <a:effectLst/>
                <a:uLnTx/>
                <a:uFillTx/>
                <a:latin typeface="宋体" panose="02010600030101010101" pitchFamily="2" charset="-122"/>
                <a:ea typeface="宋体" panose="02010600030101010101" pitchFamily="2" charset="-122"/>
                <a:sym typeface="+mn-ea"/>
              </a:rPr>
              <a:t>附表</a:t>
            </a:r>
            <a:r>
              <a:rPr lang="en-US" altLang="zh-CN" sz="1600" b="1" noProof="0" dirty="0">
                <a:ln>
                  <a:noFill/>
                </a:ln>
                <a:solidFill>
                  <a:srgbClr val="FF0000"/>
                </a:solidFill>
                <a:effectLst/>
                <a:uLnTx/>
                <a:uFillTx/>
                <a:latin typeface="宋体" panose="02010600030101010101" pitchFamily="2" charset="-122"/>
                <a:ea typeface="宋体" panose="02010600030101010101" pitchFamily="2" charset="-122"/>
                <a:sym typeface="+mn-ea"/>
              </a:rPr>
              <a:t>A </a:t>
            </a:r>
            <a:r>
              <a:rPr lang="zh-CN" altLang="en-US" sz="1600" b="1" noProof="0" dirty="0">
                <a:ln>
                  <a:noFill/>
                </a:ln>
                <a:solidFill>
                  <a:srgbClr val="FF0000"/>
                </a:solidFill>
                <a:effectLst/>
                <a:uLnTx/>
                <a:uFillTx/>
                <a:latin typeface="宋体" panose="02010600030101010101" pitchFamily="2" charset="-122"/>
                <a:ea typeface="宋体" panose="02010600030101010101" pitchFamily="2" charset="-122"/>
                <a:sym typeface="+mn-ea"/>
              </a:rPr>
              <a:t>校外实习工作周小结（</a:t>
            </a:r>
            <a:r>
              <a:rPr lang="en-US" altLang="zh-CN" sz="1600" b="1" noProof="0" dirty="0">
                <a:ln>
                  <a:noFill/>
                </a:ln>
                <a:solidFill>
                  <a:srgbClr val="FF0000"/>
                </a:solidFill>
                <a:effectLst/>
                <a:uLnTx/>
                <a:uFillTx/>
                <a:latin typeface="宋体" panose="02010600030101010101" pitchFamily="2" charset="-122"/>
                <a:ea typeface="宋体" panose="02010600030101010101" pitchFamily="2" charset="-122"/>
                <a:sym typeface="+mn-ea"/>
              </a:rPr>
              <a:t>20</a:t>
            </a:r>
            <a:r>
              <a:rPr lang="zh-CN" altLang="en-US" sz="1600" b="1" noProof="0" dirty="0">
                <a:ln>
                  <a:noFill/>
                </a:ln>
                <a:solidFill>
                  <a:srgbClr val="FF0000"/>
                </a:solidFill>
                <a:effectLst/>
                <a:uLnTx/>
                <a:uFillTx/>
                <a:latin typeface="宋体" panose="02010600030101010101" pitchFamily="2" charset="-122"/>
                <a:ea typeface="宋体" panose="02010600030101010101" pitchFamily="2" charset="-122"/>
                <a:sym typeface="+mn-ea"/>
              </a:rPr>
              <a:t>篇</a:t>
            </a:r>
            <a:r>
              <a:rPr lang="en-US" altLang="zh-CN" sz="1600" b="1" noProof="0" dirty="0">
                <a:ln>
                  <a:noFill/>
                </a:ln>
                <a:solidFill>
                  <a:srgbClr val="FF0000"/>
                </a:solidFill>
                <a:effectLst/>
                <a:uLnTx/>
                <a:uFillTx/>
                <a:latin typeface="宋体" panose="02010600030101010101" pitchFamily="2" charset="-122"/>
                <a:ea typeface="宋体" panose="02010600030101010101" pitchFamily="2" charset="-122"/>
                <a:sym typeface="+mn-ea"/>
              </a:rPr>
              <a:t>/40</a:t>
            </a:r>
            <a:r>
              <a:rPr lang="zh-CN" altLang="en-US" sz="1600" b="1" noProof="0" dirty="0">
                <a:ln>
                  <a:noFill/>
                </a:ln>
                <a:solidFill>
                  <a:srgbClr val="FF0000"/>
                </a:solidFill>
                <a:effectLst/>
                <a:uLnTx/>
                <a:uFillTx/>
                <a:latin typeface="宋体" panose="02010600030101010101" pitchFamily="2" charset="-122"/>
                <a:ea typeface="宋体" panose="02010600030101010101" pitchFamily="2" charset="-122"/>
                <a:sym typeface="+mn-ea"/>
              </a:rPr>
              <a:t>篇）</a:t>
            </a:r>
            <a:endPar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实习学生在实习期间，每周联系学院指导老师一次，根据实习工作在校友邦的“周志”端口撰写工作周小结（附表</a:t>
            </a:r>
            <a:r>
              <a:rPr lang="en-US" altLang="zh-CN" sz="1600" noProof="0" dirty="0">
                <a:ln>
                  <a:noFill/>
                </a:ln>
                <a:solidFill>
                  <a:prstClr val="black"/>
                </a:solidFill>
                <a:effectLst/>
                <a:uLnTx/>
                <a:uFillTx/>
                <a:latin typeface="宋体" panose="02010600030101010101" pitchFamily="2" charset="-122"/>
                <a:ea typeface="宋体" panose="02010600030101010101" pitchFamily="2" charset="-122"/>
                <a:sym typeface="+mn-ea"/>
              </a:rPr>
              <a:t>A</a:t>
            </a: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），学院指导教师在校友邦平台及时批阅并做针对性指导。 </a:t>
            </a:r>
            <a:endPar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1" noProof="0" dirty="0">
                <a:ln>
                  <a:noFill/>
                </a:ln>
                <a:solidFill>
                  <a:srgbClr val="FF0000"/>
                </a:solidFill>
                <a:effectLst/>
                <a:uLnTx/>
                <a:uFillTx/>
                <a:latin typeface="宋体" panose="02010600030101010101" pitchFamily="2" charset="-122"/>
                <a:ea typeface="宋体" panose="02010600030101010101" pitchFamily="2" charset="-122"/>
                <a:sym typeface="+mn-ea"/>
              </a:rPr>
              <a:t>3.</a:t>
            </a:r>
            <a:r>
              <a:rPr lang="zh-CN" altLang="en-US" sz="1600" b="1" noProof="0" dirty="0">
                <a:ln>
                  <a:noFill/>
                </a:ln>
                <a:solidFill>
                  <a:srgbClr val="FF0000"/>
                </a:solidFill>
                <a:effectLst/>
                <a:uLnTx/>
                <a:uFillTx/>
                <a:latin typeface="宋体" panose="02010600030101010101" pitchFamily="2" charset="-122"/>
                <a:ea typeface="宋体" panose="02010600030101010101" pitchFamily="2" charset="-122"/>
                <a:sym typeface="+mn-ea"/>
              </a:rPr>
              <a:t>附表</a:t>
            </a:r>
            <a:r>
              <a:rPr lang="en-US" altLang="zh-CN" sz="1600" b="1" noProof="0" dirty="0">
                <a:ln>
                  <a:noFill/>
                </a:ln>
                <a:solidFill>
                  <a:srgbClr val="FF0000"/>
                </a:solidFill>
                <a:effectLst/>
                <a:uLnTx/>
                <a:uFillTx/>
                <a:latin typeface="宋体" panose="02010600030101010101" pitchFamily="2" charset="-122"/>
                <a:ea typeface="宋体" panose="02010600030101010101" pitchFamily="2" charset="-122"/>
                <a:sym typeface="+mn-ea"/>
              </a:rPr>
              <a:t>B </a:t>
            </a:r>
            <a:r>
              <a:rPr lang="zh-CN" altLang="en-US" sz="1600" b="1" noProof="0" dirty="0">
                <a:ln>
                  <a:noFill/>
                </a:ln>
                <a:solidFill>
                  <a:srgbClr val="FF0000"/>
                </a:solidFill>
                <a:effectLst/>
                <a:uLnTx/>
                <a:uFillTx/>
                <a:latin typeface="宋体" panose="02010600030101010101" pitchFamily="2" charset="-122"/>
                <a:ea typeface="宋体" panose="02010600030101010101" pitchFamily="2" charset="-122"/>
                <a:sym typeface="+mn-ea"/>
              </a:rPr>
              <a:t>广州华立学院生产实习报告书</a:t>
            </a:r>
            <a:r>
              <a:rPr lang="en-US" altLang="zh-CN" sz="1600" b="1" noProof="0" dirty="0">
                <a:ln>
                  <a:noFill/>
                </a:ln>
                <a:solidFill>
                  <a:srgbClr val="FF0000"/>
                </a:solidFill>
                <a:effectLst/>
                <a:uLnTx/>
                <a:uFillTx/>
                <a:latin typeface="宋体" panose="02010600030101010101" pitchFamily="2" charset="-122"/>
                <a:ea typeface="宋体" panose="02010600030101010101" pitchFamily="2" charset="-122"/>
                <a:sym typeface="+mn-ea"/>
              </a:rPr>
              <a:t>/</a:t>
            </a:r>
            <a:r>
              <a:rPr lang="zh-CN" altLang="en-US" sz="1600" b="1" noProof="0" dirty="0">
                <a:ln>
                  <a:noFill/>
                </a:ln>
                <a:solidFill>
                  <a:srgbClr val="FF0000"/>
                </a:solidFill>
                <a:effectLst/>
                <a:uLnTx/>
                <a:uFillTx/>
                <a:latin typeface="宋体" panose="02010600030101010101" pitchFamily="2" charset="-122"/>
                <a:ea typeface="宋体" panose="02010600030101010101" pitchFamily="2" charset="-122"/>
                <a:sym typeface="+mn-ea"/>
              </a:rPr>
              <a:t>广州华立学院护理学专业实习报告书</a:t>
            </a: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—学生在本学期实习结束前按照要求完成</a:t>
            </a:r>
            <a:r>
              <a:rPr lang="en-US" altLang="zh-CN" sz="1600" noProof="0" dirty="0">
                <a:ln>
                  <a:noFill/>
                </a:ln>
                <a:solidFill>
                  <a:prstClr val="black"/>
                </a:solidFill>
                <a:effectLst/>
                <a:uLnTx/>
                <a:uFillTx/>
                <a:latin typeface="宋体" panose="02010600030101010101" pitchFamily="2" charset="-122"/>
                <a:ea typeface="宋体" panose="02010600030101010101" pitchFamily="2" charset="-122"/>
                <a:sym typeface="+mn-ea"/>
              </a:rPr>
              <a:t>《</a:t>
            </a: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附表B 广州华立学院生产实习报告书/广州华立学院护理学专业实习报告书</a:t>
            </a:r>
            <a:r>
              <a:rPr lang="en-US" altLang="zh-CN" sz="1600" noProof="0" dirty="0">
                <a:ln>
                  <a:noFill/>
                </a:ln>
                <a:solidFill>
                  <a:prstClr val="black"/>
                </a:solidFill>
                <a:effectLst/>
                <a:uLnTx/>
                <a:uFillTx/>
                <a:latin typeface="宋体" panose="02010600030101010101" pitchFamily="2" charset="-122"/>
                <a:ea typeface="宋体" panose="02010600030101010101" pitchFamily="2" charset="-122"/>
                <a:sym typeface="+mn-ea"/>
              </a:rPr>
              <a:t>》</a:t>
            </a: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上交企业指导教师批阅后，扫描成</a:t>
            </a:r>
            <a:r>
              <a:rPr lang="en-US" altLang="zh-CN" sz="1600" noProof="0" dirty="0">
                <a:ln>
                  <a:noFill/>
                </a:ln>
                <a:solidFill>
                  <a:prstClr val="black"/>
                </a:solidFill>
                <a:effectLst/>
                <a:uLnTx/>
                <a:uFillTx/>
                <a:latin typeface="宋体" panose="02010600030101010101" pitchFamily="2" charset="-122"/>
                <a:ea typeface="宋体" panose="02010600030101010101" pitchFamily="2" charset="-122"/>
                <a:sym typeface="+mn-ea"/>
              </a:rPr>
              <a:t>PDF</a:t>
            </a:r>
            <a:r>
              <a:rPr lang="zh-CN" altLang="en-US" sz="1600" b="1" noProof="0" dirty="0">
                <a:ln>
                  <a:noFill/>
                </a:ln>
                <a:solidFill>
                  <a:srgbClr val="7030A0"/>
                </a:solidFill>
                <a:effectLst/>
                <a:uLnTx/>
                <a:uFillTx/>
                <a:latin typeface="宋体" panose="02010600030101010101" pitchFamily="2" charset="-122"/>
                <a:ea typeface="宋体" panose="02010600030101010101" pitchFamily="2" charset="-122"/>
                <a:sym typeface="+mn-ea"/>
              </a:rPr>
              <a:t>（或者拍照放入</a:t>
            </a:r>
            <a:r>
              <a:rPr lang="en-US" altLang="zh-CN" sz="1600" b="1" noProof="0" dirty="0">
                <a:ln>
                  <a:noFill/>
                </a:ln>
                <a:solidFill>
                  <a:srgbClr val="7030A0"/>
                </a:solidFill>
                <a:effectLst/>
                <a:uLnTx/>
                <a:uFillTx/>
                <a:latin typeface="宋体" panose="02010600030101010101" pitchFamily="2" charset="-122"/>
                <a:ea typeface="宋体" panose="02010600030101010101" pitchFamily="2" charset="-122"/>
                <a:sym typeface="+mn-ea"/>
              </a:rPr>
              <a:t>Word</a:t>
            </a:r>
            <a:r>
              <a:rPr lang="zh-CN" altLang="en-US" sz="1600" b="1" noProof="0" dirty="0">
                <a:ln>
                  <a:noFill/>
                </a:ln>
                <a:solidFill>
                  <a:srgbClr val="7030A0"/>
                </a:solidFill>
                <a:effectLst/>
                <a:uLnTx/>
                <a:uFillTx/>
                <a:latin typeface="宋体" panose="02010600030101010101" pitchFamily="2" charset="-122"/>
                <a:ea typeface="宋体" panose="02010600030101010101" pitchFamily="2" charset="-122"/>
                <a:sym typeface="+mn-ea"/>
              </a:rPr>
              <a:t>后上传）</a:t>
            </a: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上传到校友邦“实习报告”端口，学校指导老师在校友邦“报告批阅”端口及时批阅。</a:t>
            </a:r>
            <a:endPar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1" noProof="0" dirty="0">
                <a:ln>
                  <a:noFill/>
                </a:ln>
                <a:solidFill>
                  <a:srgbClr val="FF0000"/>
                </a:solidFill>
                <a:effectLst/>
                <a:uLnTx/>
                <a:uFillTx/>
                <a:latin typeface="宋体" panose="02010600030101010101" pitchFamily="2" charset="-122"/>
                <a:ea typeface="宋体" panose="02010600030101010101" pitchFamily="2" charset="-122"/>
                <a:sym typeface="+mn-ea"/>
              </a:rPr>
              <a:t>4.</a:t>
            </a:r>
            <a:r>
              <a:rPr lang="zh-CN" altLang="en-US" sz="1600" b="1" noProof="0" dirty="0">
                <a:ln>
                  <a:noFill/>
                </a:ln>
                <a:solidFill>
                  <a:srgbClr val="FF0000"/>
                </a:solidFill>
                <a:effectLst/>
                <a:uLnTx/>
                <a:uFillTx/>
                <a:latin typeface="宋体" panose="02010600030101010101" pitchFamily="2" charset="-122"/>
                <a:ea typeface="宋体" panose="02010600030101010101" pitchFamily="2" charset="-122"/>
                <a:sym typeface="+mn-ea"/>
              </a:rPr>
              <a:t>附表</a:t>
            </a:r>
            <a:r>
              <a:rPr lang="en-US" altLang="zh-CN" sz="1600" b="1" noProof="0" dirty="0">
                <a:ln>
                  <a:noFill/>
                </a:ln>
                <a:solidFill>
                  <a:srgbClr val="FF0000"/>
                </a:solidFill>
                <a:effectLst/>
                <a:uLnTx/>
                <a:uFillTx/>
                <a:latin typeface="宋体" panose="02010600030101010101" pitchFamily="2" charset="-122"/>
                <a:ea typeface="宋体" panose="02010600030101010101" pitchFamily="2" charset="-122"/>
                <a:sym typeface="+mn-ea"/>
              </a:rPr>
              <a:t>C </a:t>
            </a:r>
            <a:r>
              <a:rPr lang="zh-CN" altLang="en-US" sz="1600" b="1" noProof="0" dirty="0">
                <a:ln>
                  <a:noFill/>
                </a:ln>
                <a:solidFill>
                  <a:srgbClr val="FF0000"/>
                </a:solidFill>
                <a:effectLst/>
                <a:uLnTx/>
                <a:uFillTx/>
                <a:latin typeface="宋体" panose="02010600030101010101" pitchFamily="2" charset="-122"/>
                <a:ea typeface="宋体" panose="02010600030101010101" pitchFamily="2" charset="-122"/>
                <a:sym typeface="+mn-ea"/>
              </a:rPr>
              <a:t>广州华立学院生产实习成绩鉴定表</a:t>
            </a:r>
            <a:r>
              <a:rPr lang="en-US" altLang="zh-CN" sz="1600" b="1" noProof="0" dirty="0">
                <a:ln>
                  <a:noFill/>
                </a:ln>
                <a:solidFill>
                  <a:srgbClr val="FF0000"/>
                </a:solidFill>
                <a:effectLst/>
                <a:uLnTx/>
                <a:uFillTx/>
                <a:latin typeface="宋体" panose="02010600030101010101" pitchFamily="2" charset="-122"/>
                <a:ea typeface="宋体" panose="02010600030101010101" pitchFamily="2" charset="-122"/>
                <a:sym typeface="+mn-ea"/>
              </a:rPr>
              <a:t>/</a:t>
            </a:r>
            <a:r>
              <a:rPr lang="zh-CN" altLang="en-US" sz="1600" b="1" noProof="0" dirty="0">
                <a:ln>
                  <a:noFill/>
                </a:ln>
                <a:solidFill>
                  <a:srgbClr val="FF0000"/>
                </a:solidFill>
                <a:effectLst/>
                <a:uLnTx/>
                <a:uFillTx/>
                <a:latin typeface="宋体" panose="02010600030101010101" pitchFamily="2" charset="-122"/>
                <a:ea typeface="宋体" panose="02010600030101010101" pitchFamily="2" charset="-122"/>
                <a:sym typeface="+mn-ea"/>
              </a:rPr>
              <a:t>广州华立学院护理学专业毕业实习成绩鉴定表</a:t>
            </a:r>
            <a:endPar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在本学期实习结束后，学生按照要求完成①②后拍照上传至校友邦平台“实习成绩鉴定”端口，学院实习指导教师根据学生上传的</a:t>
            </a:r>
            <a:r>
              <a:rPr lang="en-US" altLang="zh-CN" sz="1600" noProof="0" dirty="0">
                <a:ln>
                  <a:noFill/>
                </a:ln>
                <a:solidFill>
                  <a:prstClr val="black"/>
                </a:solidFill>
                <a:effectLst/>
                <a:uLnTx/>
                <a:uFillTx/>
                <a:latin typeface="宋体" panose="02010600030101010101" pitchFamily="2" charset="-122"/>
                <a:ea typeface="宋体" panose="02010600030101010101" pitchFamily="2" charset="-122"/>
                <a:sym typeface="+mn-ea"/>
              </a:rPr>
              <a:t>《</a:t>
            </a: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生产实习成绩鉴定表</a:t>
            </a:r>
            <a:r>
              <a:rPr lang="en-US" altLang="zh-CN" sz="1600" noProof="0" dirty="0">
                <a:ln>
                  <a:noFill/>
                </a:ln>
                <a:solidFill>
                  <a:prstClr val="black"/>
                </a:solidFill>
                <a:effectLst/>
                <a:uLnTx/>
                <a:uFillTx/>
                <a:latin typeface="宋体" panose="02010600030101010101" pitchFamily="2" charset="-122"/>
                <a:ea typeface="宋体" panose="02010600030101010101" pitchFamily="2" charset="-122"/>
                <a:sym typeface="+mn-ea"/>
              </a:rPr>
              <a:t>》</a:t>
            </a: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中“实习单位指导教师评分”代替录入校友邦的“实习单位鉴定”</a:t>
            </a:r>
            <a:endPar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①广州华立学院学生实习质量评价调查表：实习单位填写并且需要单位盖章； </a:t>
            </a:r>
            <a:endPar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②生产实习成绩鉴定表（企业指导老师评语部分）：学生按照要求填写完成后交企业指导老师评价、实习单位盖章。</a:t>
            </a:r>
            <a:endPar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1" noProof="0" dirty="0">
                <a:ln>
                  <a:noFill/>
                </a:ln>
                <a:solidFill>
                  <a:srgbClr val="FF0000"/>
                </a:solidFill>
                <a:effectLst/>
                <a:uLnTx/>
                <a:uFillTx/>
                <a:latin typeface="宋体" panose="02010600030101010101" pitchFamily="2" charset="-122"/>
                <a:ea typeface="宋体" panose="02010600030101010101" pitchFamily="2" charset="-122"/>
                <a:sym typeface="+mn-ea"/>
              </a:rPr>
              <a:t>5.</a:t>
            </a:r>
            <a:r>
              <a:rPr lang="zh-CN" altLang="en-US" sz="1600" b="1" noProof="0" dirty="0">
                <a:ln>
                  <a:noFill/>
                </a:ln>
                <a:solidFill>
                  <a:srgbClr val="FF0000"/>
                </a:solidFill>
                <a:effectLst/>
                <a:uLnTx/>
                <a:uFillTx/>
                <a:latin typeface="宋体" panose="02010600030101010101" pitchFamily="2" charset="-122"/>
                <a:ea typeface="宋体" panose="02010600030101010101" pitchFamily="2" charset="-122"/>
                <a:sym typeface="+mn-ea"/>
              </a:rPr>
              <a:t>附表</a:t>
            </a:r>
            <a:r>
              <a:rPr lang="en-US" altLang="zh-CN" sz="1600" b="1" noProof="0" dirty="0">
                <a:ln>
                  <a:noFill/>
                </a:ln>
                <a:solidFill>
                  <a:srgbClr val="FF0000"/>
                </a:solidFill>
                <a:effectLst/>
                <a:uLnTx/>
                <a:uFillTx/>
                <a:latin typeface="宋体" panose="02010600030101010101" pitchFamily="2" charset="-122"/>
                <a:ea typeface="宋体" panose="02010600030101010101" pitchFamily="2" charset="-122"/>
                <a:sym typeface="+mn-ea"/>
              </a:rPr>
              <a:t>D </a:t>
            </a:r>
            <a:r>
              <a:rPr lang="zh-CN" altLang="en-US" sz="1600" b="1" noProof="0" dirty="0">
                <a:ln>
                  <a:noFill/>
                </a:ln>
                <a:solidFill>
                  <a:srgbClr val="FF0000"/>
                </a:solidFill>
                <a:effectLst/>
                <a:uLnTx/>
                <a:uFillTx/>
                <a:latin typeface="宋体" panose="02010600030101010101" pitchFamily="2" charset="-122"/>
                <a:ea typeface="宋体" panose="02010600030101010101" pitchFamily="2" charset="-122"/>
                <a:sym typeface="+mn-ea"/>
              </a:rPr>
              <a:t>校外实习学生变更实习单位审批表</a:t>
            </a:r>
            <a:endPar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变更实习单位当周拍照上传校友邦“实习单位变更”端口，学院指导老师在校友邦“实习单位变更” 端口及时审批。</a:t>
            </a:r>
            <a:endPar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noProof="0" dirty="0">
                <a:ln>
                  <a:noFill/>
                </a:ln>
                <a:solidFill>
                  <a:srgbClr val="FF0000"/>
                </a:solidFill>
                <a:effectLst/>
                <a:uLnTx/>
                <a:uFillTx/>
                <a:latin typeface="宋体" panose="02010600030101010101" pitchFamily="2" charset="-122"/>
                <a:ea typeface="宋体" panose="02010600030101010101" pitchFamily="2" charset="-122"/>
                <a:sym typeface="+mn-ea"/>
              </a:rPr>
              <a:t>★实习结束后（学院指导老师完成成绩鉴定后），学生登陆校友邦“实习报告”端口“已通过”维度下一键导出实习手册（即附表</a:t>
            </a:r>
            <a:r>
              <a:rPr lang="en-US" altLang="zh-CN" sz="1600" b="1" noProof="0" dirty="0">
                <a:ln>
                  <a:noFill/>
                </a:ln>
                <a:solidFill>
                  <a:srgbClr val="FF0000"/>
                </a:solidFill>
                <a:effectLst/>
                <a:uLnTx/>
                <a:uFillTx/>
                <a:latin typeface="宋体" panose="02010600030101010101" pitchFamily="2" charset="-122"/>
                <a:ea typeface="宋体" panose="02010600030101010101" pitchFamily="2" charset="-122"/>
                <a:sym typeface="+mn-ea"/>
              </a:rPr>
              <a:t>A</a:t>
            </a:r>
            <a:r>
              <a:rPr lang="zh-CN" altLang="en-US" sz="1600" b="1" noProof="0" dirty="0">
                <a:ln>
                  <a:noFill/>
                </a:ln>
                <a:solidFill>
                  <a:srgbClr val="FF0000"/>
                </a:solidFill>
                <a:effectLst/>
                <a:uLnTx/>
                <a:uFillTx/>
                <a:latin typeface="宋体" panose="02010600030101010101" pitchFamily="2" charset="-122"/>
                <a:ea typeface="宋体" panose="02010600030101010101" pitchFamily="2" charset="-122"/>
                <a:sym typeface="+mn-ea"/>
              </a:rPr>
              <a:t>、</a:t>
            </a:r>
            <a:r>
              <a:rPr lang="en-US" altLang="zh-CN" sz="1600" b="1" noProof="0" dirty="0">
                <a:ln>
                  <a:noFill/>
                </a:ln>
                <a:solidFill>
                  <a:srgbClr val="FF0000"/>
                </a:solidFill>
                <a:effectLst/>
                <a:uLnTx/>
                <a:uFillTx/>
                <a:latin typeface="宋体" panose="02010600030101010101" pitchFamily="2" charset="-122"/>
                <a:ea typeface="宋体" panose="02010600030101010101" pitchFamily="2" charset="-122"/>
                <a:sym typeface="+mn-ea"/>
              </a:rPr>
              <a:t>B</a:t>
            </a:r>
            <a:r>
              <a:rPr lang="zh-CN" altLang="en-US" sz="1600" b="1" noProof="0" dirty="0">
                <a:ln>
                  <a:noFill/>
                </a:ln>
                <a:solidFill>
                  <a:srgbClr val="FF0000"/>
                </a:solidFill>
                <a:effectLst/>
                <a:uLnTx/>
                <a:uFillTx/>
                <a:latin typeface="宋体" panose="02010600030101010101" pitchFamily="2" charset="-122"/>
                <a:ea typeface="宋体" panose="02010600030101010101" pitchFamily="2" charset="-122"/>
                <a:sym typeface="+mn-ea"/>
              </a:rPr>
              <a:t>、</a:t>
            </a:r>
            <a:r>
              <a:rPr lang="en-US" altLang="zh-CN" sz="1600" b="1" noProof="0" dirty="0">
                <a:ln>
                  <a:noFill/>
                </a:ln>
                <a:solidFill>
                  <a:srgbClr val="FF0000"/>
                </a:solidFill>
                <a:effectLst/>
                <a:uLnTx/>
                <a:uFillTx/>
                <a:latin typeface="宋体" panose="02010600030101010101" pitchFamily="2" charset="-122"/>
                <a:ea typeface="宋体" panose="02010600030101010101" pitchFamily="2" charset="-122"/>
                <a:sym typeface="+mn-ea"/>
              </a:rPr>
              <a:t>C</a:t>
            </a:r>
            <a:r>
              <a:rPr lang="zh-CN" altLang="en-US" sz="1600" b="1" noProof="0" dirty="0">
                <a:ln>
                  <a:noFill/>
                </a:ln>
                <a:solidFill>
                  <a:srgbClr val="FF0000"/>
                </a:solidFill>
                <a:effectLst/>
                <a:uLnTx/>
                <a:uFillTx/>
                <a:latin typeface="宋体" panose="02010600030101010101" pitchFamily="2" charset="-122"/>
                <a:ea typeface="宋体" panose="02010600030101010101" pitchFamily="2" charset="-122"/>
                <a:sym typeface="+mn-ea"/>
              </a:rPr>
              <a:t>、</a:t>
            </a:r>
            <a:r>
              <a:rPr lang="en-US" altLang="zh-CN" sz="1600" b="1" noProof="0" dirty="0">
                <a:ln>
                  <a:noFill/>
                </a:ln>
                <a:solidFill>
                  <a:srgbClr val="FF0000"/>
                </a:solidFill>
                <a:effectLst/>
                <a:uLnTx/>
                <a:uFillTx/>
                <a:latin typeface="宋体" panose="02010600030101010101" pitchFamily="2" charset="-122"/>
                <a:ea typeface="宋体" panose="02010600030101010101" pitchFamily="2" charset="-122"/>
                <a:sym typeface="+mn-ea"/>
              </a:rPr>
              <a:t>D</a:t>
            </a:r>
            <a:r>
              <a:rPr lang="zh-CN" altLang="en-US" sz="1600" b="1" noProof="0" dirty="0">
                <a:ln>
                  <a:noFill/>
                </a:ln>
                <a:solidFill>
                  <a:srgbClr val="FF0000"/>
                </a:solidFill>
                <a:effectLst/>
                <a:uLnTx/>
                <a:uFillTx/>
                <a:latin typeface="宋体" panose="02010600030101010101" pitchFamily="2" charset="-122"/>
                <a:ea typeface="宋体" panose="02010600030101010101" pitchFamily="2" charset="-122"/>
                <a:sym typeface="+mn-ea"/>
              </a:rPr>
              <a:t>）打印纸质版</a:t>
            </a:r>
            <a:r>
              <a:rPr lang="zh-CN" altLang="en-US" sz="1600" b="1"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sym typeface="+mn-ea"/>
              </a:rPr>
              <a:t>（盖章部分替换原件）</a:t>
            </a:r>
            <a:r>
              <a:rPr lang="zh-CN" altLang="en-US" sz="1600" b="1" noProof="0" dirty="0">
                <a:ln>
                  <a:noFill/>
                </a:ln>
                <a:solidFill>
                  <a:srgbClr val="FF0000"/>
                </a:solidFill>
                <a:effectLst/>
                <a:uLnTx/>
                <a:uFillTx/>
                <a:latin typeface="宋体" panose="02010600030101010101" pitchFamily="2" charset="-122"/>
                <a:ea typeface="宋体" panose="02010600030101010101" pitchFamily="2" charset="-122"/>
                <a:sym typeface="+mn-ea"/>
              </a:rPr>
              <a:t>提交给学院指导老师。</a:t>
            </a:r>
            <a:endPar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1" noProof="0" dirty="0">
                <a:ln>
                  <a:noFill/>
                </a:ln>
                <a:solidFill>
                  <a:srgbClr val="FF0000"/>
                </a:solidFill>
                <a:effectLst/>
                <a:uLnTx/>
                <a:uFillTx/>
                <a:latin typeface="宋体" panose="02010600030101010101" pitchFamily="2" charset="-122"/>
                <a:ea typeface="宋体" panose="02010600030101010101" pitchFamily="2" charset="-122"/>
                <a:sym typeface="+mn-ea"/>
              </a:rPr>
              <a:t>6.</a:t>
            </a:r>
            <a:r>
              <a:rPr lang="zh-CN" altLang="en-US" sz="1600" b="1" noProof="0" dirty="0">
                <a:ln>
                  <a:noFill/>
                </a:ln>
                <a:solidFill>
                  <a:srgbClr val="FF0000"/>
                </a:solidFill>
                <a:effectLst/>
                <a:uLnTx/>
                <a:uFillTx/>
                <a:latin typeface="宋体" panose="02010600030101010101" pitchFamily="2" charset="-122"/>
                <a:ea typeface="宋体" panose="02010600030101010101" pitchFamily="2" charset="-122"/>
                <a:sym typeface="+mn-ea"/>
              </a:rPr>
              <a:t>附件</a:t>
            </a:r>
            <a:r>
              <a:rPr lang="en-US" altLang="zh-CN" sz="1600" b="1" noProof="0" dirty="0">
                <a:ln>
                  <a:noFill/>
                </a:ln>
                <a:solidFill>
                  <a:srgbClr val="FF0000"/>
                </a:solidFill>
                <a:effectLst/>
                <a:uLnTx/>
                <a:uFillTx/>
                <a:latin typeface="宋体" panose="02010600030101010101" pitchFamily="2" charset="-122"/>
                <a:ea typeface="宋体" panose="02010600030101010101" pitchFamily="2" charset="-122"/>
                <a:sym typeface="+mn-ea"/>
              </a:rPr>
              <a:t>1</a:t>
            </a:r>
            <a:r>
              <a:rPr lang="zh-CN" altLang="en-US" sz="1600" b="1" noProof="0" dirty="0">
                <a:ln>
                  <a:noFill/>
                </a:ln>
                <a:solidFill>
                  <a:srgbClr val="FF0000"/>
                </a:solidFill>
                <a:effectLst/>
                <a:uLnTx/>
                <a:uFillTx/>
                <a:latin typeface="宋体" panose="02010600030101010101" pitchFamily="2" charset="-122"/>
                <a:ea typeface="宋体" panose="02010600030101010101" pitchFamily="2" charset="-122"/>
                <a:sym typeface="+mn-ea"/>
              </a:rPr>
              <a:t>：广州华立学院学生校外实习承诺书</a:t>
            </a:r>
            <a:r>
              <a:rPr lang="en-US" altLang="zh-CN" sz="1600" noProof="0" dirty="0">
                <a:ln>
                  <a:noFill/>
                </a:ln>
                <a:solidFill>
                  <a:prstClr val="black"/>
                </a:solidFill>
                <a:effectLst/>
                <a:uLnTx/>
                <a:uFillTx/>
                <a:latin typeface="宋体" panose="02010600030101010101" pitchFamily="2" charset="-122"/>
                <a:ea typeface="宋体" panose="02010600030101010101" pitchFamily="2" charset="-122"/>
                <a:sym typeface="+mn-ea"/>
              </a:rPr>
              <a:t>—</a:t>
            </a: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落实实习单位前告知家长并签署同意后拍照上传校友邦“校外承诺书及家长回执端口”，</a:t>
            </a:r>
            <a:r>
              <a:rPr lang="zh-CN" altLang="en-US" sz="160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sym typeface="+mn-ea"/>
              </a:rPr>
              <a:t>原件实习结束后交学院指导老师。</a:t>
            </a: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	</a:t>
            </a:r>
            <a:endPar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1" noProof="0" dirty="0">
                <a:ln>
                  <a:noFill/>
                </a:ln>
                <a:solidFill>
                  <a:srgbClr val="FF0000"/>
                </a:solidFill>
                <a:effectLst/>
                <a:uLnTx/>
                <a:uFillTx/>
                <a:latin typeface="宋体" panose="02010600030101010101" pitchFamily="2" charset="-122"/>
                <a:ea typeface="宋体" panose="02010600030101010101" pitchFamily="2" charset="-122"/>
                <a:sym typeface="+mn-ea"/>
              </a:rPr>
              <a:t>7.</a:t>
            </a:r>
            <a:r>
              <a:rPr lang="zh-CN" altLang="en-US" sz="1600" b="1" noProof="0" dirty="0">
                <a:ln>
                  <a:noFill/>
                </a:ln>
                <a:solidFill>
                  <a:srgbClr val="FF0000"/>
                </a:solidFill>
                <a:effectLst/>
                <a:uLnTx/>
                <a:uFillTx/>
                <a:latin typeface="宋体" panose="02010600030101010101" pitchFamily="2" charset="-122"/>
                <a:ea typeface="宋体" panose="02010600030101010101" pitchFamily="2" charset="-122"/>
                <a:sym typeface="+mn-ea"/>
              </a:rPr>
              <a:t>附件</a:t>
            </a:r>
            <a:r>
              <a:rPr lang="en-US" altLang="zh-CN" sz="1600" b="1" noProof="0" dirty="0">
                <a:ln>
                  <a:noFill/>
                </a:ln>
                <a:solidFill>
                  <a:srgbClr val="FF0000"/>
                </a:solidFill>
                <a:effectLst/>
                <a:uLnTx/>
                <a:uFillTx/>
                <a:latin typeface="宋体" panose="02010600030101010101" pitchFamily="2" charset="-122"/>
                <a:ea typeface="宋体" panose="02010600030101010101" pitchFamily="2" charset="-122"/>
                <a:sym typeface="+mn-ea"/>
              </a:rPr>
              <a:t>2</a:t>
            </a:r>
            <a:r>
              <a:rPr lang="zh-CN" altLang="en-US" sz="1600" b="1" noProof="0" dirty="0">
                <a:ln>
                  <a:noFill/>
                </a:ln>
                <a:solidFill>
                  <a:srgbClr val="FF0000"/>
                </a:solidFill>
                <a:effectLst/>
                <a:uLnTx/>
                <a:uFillTx/>
                <a:latin typeface="宋体" panose="02010600030101010101" pitchFamily="2" charset="-122"/>
                <a:ea typeface="宋体" panose="02010600030101010101" pitchFamily="2" charset="-122"/>
                <a:sym typeface="+mn-ea"/>
              </a:rPr>
              <a:t>：广州华立学院学生校外实习三方协议书/广州华立学院（护理学专业）学生校外实习三方协议</a:t>
            </a:r>
            <a:r>
              <a:rPr lang="en-US" altLang="zh-CN" sz="1600" noProof="0" dirty="0">
                <a:ln>
                  <a:noFill/>
                </a:ln>
                <a:solidFill>
                  <a:prstClr val="black"/>
                </a:solidFill>
                <a:effectLst/>
                <a:uLnTx/>
                <a:uFillTx/>
                <a:latin typeface="宋体" panose="02010600030101010101" pitchFamily="2" charset="-122"/>
                <a:ea typeface="宋体" panose="02010600030101010101" pitchFamily="2" charset="-122"/>
                <a:sym typeface="+mn-ea"/>
              </a:rPr>
              <a:t>—</a:t>
            </a: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确定实习单位后与实习企业签订后拍照上传校友邦“三方协议”端口，</a:t>
            </a:r>
            <a:r>
              <a:rPr lang="zh-CN" altLang="en-US" sz="160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sym typeface="+mn-ea"/>
              </a:rPr>
              <a:t>原件实习结束后交学院指导老师。</a:t>
            </a:r>
            <a:endParaRPr kumimoji="0" lang="zh-CN" altLang="en-US" sz="1600"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sym typeface="+mn-ea"/>
            </a:endParaRPr>
          </a:p>
        </p:txBody>
      </p:sp>
    </p:spTree>
  </p:cSld>
  <p:clrMapOvr>
    <a:masterClrMapping/>
  </p:clrMapOvr>
  <p:transition spd="slow">
    <p:cove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城市的风景&#10;&#10;描述已自动生成"/>
          <p:cNvPicPr>
            <a:picLocks noChangeAspect="1"/>
          </p:cNvPicPr>
          <p:nvPr/>
        </p:nvPicPr>
        <p:blipFill rotWithShape="1">
          <a:blip r:embed="rId1">
            <a:extLst>
              <a:ext uri="{28A0092B-C50C-407E-A947-70E740481C1C}">
                <a14:useLocalDpi xmlns:a14="http://schemas.microsoft.com/office/drawing/2010/main" val="0"/>
              </a:ext>
            </a:extLst>
          </a:blip>
          <a:srcRect/>
          <a:stretch>
            <a:fillRect/>
          </a:stretch>
        </p:blipFill>
        <p:spPr>
          <a:xfrm>
            <a:off x="0" y="-179970"/>
            <a:ext cx="12192000" cy="5202146"/>
          </a:xfrm>
          <a:prstGeom prst="rect">
            <a:avLst/>
          </a:prstGeom>
        </p:spPr>
      </p:pic>
      <p:sp>
        <p:nvSpPr>
          <p:cNvPr id="8" name="矩形 7"/>
          <p:cNvSpPr/>
          <p:nvPr/>
        </p:nvSpPr>
        <p:spPr>
          <a:xfrm>
            <a:off x="0" y="4064000"/>
            <a:ext cx="12192000" cy="2794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p>
        </p:txBody>
      </p:sp>
      <p:sp>
        <p:nvSpPr>
          <p:cNvPr id="5" name="TextBox 4"/>
          <p:cNvSpPr txBox="1"/>
          <p:nvPr/>
        </p:nvSpPr>
        <p:spPr>
          <a:xfrm>
            <a:off x="119336" y="4133215"/>
            <a:ext cx="11955903" cy="1027204"/>
          </a:xfrm>
          <a:prstGeom prst="rect">
            <a:avLst/>
          </a:prstGeom>
          <a:noFill/>
        </p:spPr>
        <p:txBody>
          <a:bodyPr wrap="square" rtlCol="0">
            <a:spAutoFit/>
          </a:bodyPr>
          <a:lstStyle/>
          <a:p>
            <a:pPr algn="ctr">
              <a:lnSpc>
                <a:spcPct val="150000"/>
              </a:lnSpc>
            </a:pPr>
            <a:r>
              <a:rPr lang="zh-CN" altLang="en-US" sz="4800" b="1" dirty="0">
                <a:solidFill>
                  <a:schemeClr val="bg1"/>
                </a:solidFill>
                <a:latin typeface="楷体" panose="02010609060101010101" pitchFamily="49" charset="-122"/>
                <a:ea typeface="楷体" panose="02010609060101010101" pitchFamily="49" charset="-122"/>
                <a:cs typeface="宋体" panose="02010600030101010101" pitchFamily="2" charset="-122"/>
              </a:rPr>
              <a:t>谢谢！</a:t>
            </a:r>
            <a:endParaRPr lang="zh-CN" altLang="en-US" sz="4800" b="1" dirty="0">
              <a:solidFill>
                <a:schemeClr val="bg1"/>
              </a:solidFill>
              <a:latin typeface="楷体" panose="02010609060101010101" pitchFamily="49" charset="-122"/>
              <a:ea typeface="楷体" panose="02010609060101010101" pitchFamily="49" charset="-122"/>
              <a:cs typeface="宋体" panose="02010600030101010101" pitchFamily="2" charset="-122"/>
            </a:endParaRPr>
          </a:p>
        </p:txBody>
      </p:sp>
      <p:pic>
        <p:nvPicPr>
          <p:cNvPr id="7" name="Picture 5" descr="D:\WXWork\1688851825229386\Cache\Image\2021-11\logo8.png"/>
          <p:cNvPicPr>
            <a:picLocks noChangeAspect="1" noChangeArrowheads="1"/>
          </p:cNvPicPr>
          <p:nvPr/>
        </p:nvPicPr>
        <p:blipFill>
          <a:blip r:embed="rId2">
            <a:duotone>
              <a:prstClr val="black"/>
              <a:srgbClr val="FF0000">
                <a:tint val="45000"/>
                <a:satMod val="400000"/>
              </a:srgbClr>
            </a:duotone>
            <a:extLst>
              <a:ext uri="{28A0092B-C50C-407E-A947-70E740481C1C}">
                <a14:useLocalDpi xmlns:a14="http://schemas.microsoft.com/office/drawing/2010/main" val="0"/>
              </a:ext>
            </a:extLst>
          </a:blip>
          <a:srcRect/>
          <a:stretch>
            <a:fillRect/>
          </a:stretch>
        </p:blipFill>
        <p:spPr bwMode="auto">
          <a:xfrm>
            <a:off x="5303911" y="12616"/>
            <a:ext cx="6771327" cy="100075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cove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wm#"/>
  <p:tag name="KSO_WM_TEMPLATE_CATEGORY" val="custom"/>
  <p:tag name="KSO_WM_TEMPLATE_INDEX" val="20205081"/>
</p:tagLst>
</file>

<file path=ppt/tags/tag4.xml><?xml version="1.0" encoding="utf-8"?>
<p:tagLst xmlns:p="http://schemas.openxmlformats.org/presentationml/2006/main">
  <p:tag name="TABLE_ENDDRAG_ORIGIN_RECT" val="959*534"/>
  <p:tag name="TABLE_ENDDRAG_RECT" val="0*2*959*534"/>
</p:tagLst>
</file>

<file path=ppt/tags/tag5.xml><?xml version="1.0" encoding="utf-8"?>
<p:tagLst xmlns:p="http://schemas.openxmlformats.org/presentationml/2006/main">
  <p:tag name="TABLE_ENDDRAG_ORIGIN_RECT" val="916*307"/>
  <p:tag name="TABLE_ENDDRAG_RECT" val="30*222*916*307"/>
</p:tagLst>
</file>

<file path=ppt/tags/tag6.xml><?xml version="1.0" encoding="utf-8"?>
<p:tagLst xmlns:p="http://schemas.openxmlformats.org/presentationml/2006/main">
  <p:tag name="KSO_WPP_MARK_KEY" val="5099f18f-b6ed-428d-ac35-b984c5f5a266"/>
  <p:tag name="COMMONDATA" val="eyJoZGlkIjoiYTVjZGVjZjNlYTI1YTZmYmZmYmFlOWFlNWQzOTc5OGMifQ=="/>
  <p:tag name="commondata" val="eyJoZGlkIjoiYzM5NWQ3NTFlMzRjZTI4MjhiMjllZjY4MDdjMTllZW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70C0"/>
        </a:solidFill>
        <a:ln>
          <a:noFill/>
        </a:ln>
      </a:spPr>
      <a:bodyPr rtlCol="0" anchor="ctr"/>
      <a:lstStyle>
        <a:defPPr algn="ctr">
          <a:defRPr lang="zh-CN" altLang="en-US"/>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7432</Words>
  <Application>WPS 演示</Application>
  <PresentationFormat>宽屏</PresentationFormat>
  <Paragraphs>609</Paragraphs>
  <Slides>29</Slides>
  <Notes>67</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29</vt:i4>
      </vt:variant>
    </vt:vector>
  </HeadingPairs>
  <TitlesOfParts>
    <vt:vector size="42" baseType="lpstr">
      <vt:lpstr>Arial</vt:lpstr>
      <vt:lpstr>宋体</vt:lpstr>
      <vt:lpstr>Wingdings</vt:lpstr>
      <vt:lpstr>微软雅黑</vt:lpstr>
      <vt:lpstr>Noto Sans SC</vt:lpstr>
      <vt:lpstr>Segoe Print</vt:lpstr>
      <vt:lpstr>Calibri</vt:lpstr>
      <vt:lpstr>等线</vt:lpstr>
      <vt:lpstr>Times New Roman</vt:lpstr>
      <vt:lpstr>Yu Gothic</vt:lpstr>
      <vt:lpstr>Arial Unicode MS</vt:lpstr>
      <vt:lpstr>楷体</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白日梦想家</cp:lastModifiedBy>
  <cp:revision>809</cp:revision>
  <cp:lastPrinted>2021-01-30T10:07:00Z</cp:lastPrinted>
  <dcterms:created xsi:type="dcterms:W3CDTF">2014-10-09T01:20:00Z</dcterms:created>
  <dcterms:modified xsi:type="dcterms:W3CDTF">2026-05-06T00:59:39Z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A95E4D9C3E7F4764A82FCE8B91513919_12</vt:lpwstr>
  </property>
</Properties>
</file>